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90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34472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8265" tIns="54132" rIns="108265" bIns="5413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8265" tIns="54132" rIns="108265" bIns="54132"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8265" tIns="54132" rIns="108265" bIns="5413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8265" tIns="54132" rIns="108265" bIns="54132"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8265" tIns="54132" rIns="108265" bIns="5413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8265" tIns="54132" rIns="108265" bIns="54132"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8265" tIns="54132" rIns="108265" bIns="5413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8265" tIns="54132" rIns="108265" bIns="54132"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8265" tIns="54132" rIns="108265" bIns="5413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8265" tIns="54132" rIns="108265" bIns="54132"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8265" tIns="54132" rIns="108265" bIns="5413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8265" tIns="54132" rIns="108265" bIns="54132"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8265" tIns="54132" rIns="108265" bIns="5413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8265" tIns="54132" rIns="108265" bIns="54132"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8265" tIns="54132" rIns="108265" bIns="5413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8265" tIns="54132" rIns="108265" bIns="54132"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8265" tIns="54132" rIns="108265" bIns="5413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8265" tIns="54132" rIns="108265" bIns="54132"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163575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24520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674882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836794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726796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761451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963401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052134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691174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903997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626489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90637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6/1/2026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090686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822960"/>
            <a:ext cx="1005840" cy="1005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5544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Fundamentals &amp;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457200" y="21945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DevOps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457200" y="30175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· Repositories · Pushing Code to Azure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4846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 Assessment · Git &amp; Azure DevOps Research Presentation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5029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96696"/>
            <a:ext cx="502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60120" y="103327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Git &amp; Version Control?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194560"/>
            <a:ext cx="5029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231136"/>
            <a:ext cx="502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0120" y="226771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Git Concepts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3429000"/>
            <a:ext cx="5029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3465576"/>
            <a:ext cx="502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60120" y="350215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Workflow Commands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846320" y="960120"/>
            <a:ext cx="5029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996696"/>
            <a:ext cx="502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40680" y="103327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Azure DevOps?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846320" y="2194560"/>
            <a:ext cx="5029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2231136"/>
            <a:ext cx="502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40680" y="226771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Repos vs GitHub vs Local Git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846320" y="3429000"/>
            <a:ext cx="5029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3465576"/>
            <a:ext cx="502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440680" y="350215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Pushing Code to Azure — Full Process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Git?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206240" cy="3474720"/>
          </a:xfrm>
          <a:prstGeom prst="rect">
            <a:avLst/>
          </a:prstGeom>
          <a:solidFill>
            <a:srgbClr val="16205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05156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051560"/>
            <a:ext cx="3977640" cy="502920"/>
          </a:xfrm>
          <a:prstGeom prst="rect">
            <a:avLst/>
          </a:prstGeom>
          <a:noFill/>
          <a:ln/>
        </p:spPr>
        <p:txBody>
          <a:bodyPr wrap="square" lIns="0" tIns="69850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is a distributed version control system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02920" y="1645920"/>
            <a:ext cx="39319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by Linus Torvalds in 2005, Git tracks every change made to files over time. It solves three big problems:</a:t>
            </a:r>
            <a:endParaRPr lang="en-US" sz="13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Overwriting each other's work in a team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record of who changed what or when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safe way to experiment with new features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846320" y="9144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vs Distributed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846320" y="1325880"/>
            <a:ext cx="3931920" cy="1417320"/>
          </a:xfrm>
          <a:prstGeom prst="rect">
            <a:avLst/>
          </a:prstGeom>
          <a:solidFill>
            <a:srgbClr val="2A1A1A"/>
          </a:solidFill>
          <a:ln w="12700">
            <a:solidFill>
              <a:srgbClr val="E0555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937760" y="13716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(e.g. SVN)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937760" y="166420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central server. If it goes down — nobody works. No local history.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846320" y="2834640"/>
            <a:ext cx="3931920" cy="1417320"/>
          </a:xfrm>
          <a:prstGeom prst="rect">
            <a:avLst/>
          </a:prstGeom>
          <a:solidFill>
            <a:srgbClr val="0A2A1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937760" y="28803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(Git) ✓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937760" y="317296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developer has the full history locally. Work offline. Fast branching.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Git Concepts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68680"/>
            <a:ext cx="54864" cy="1188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6012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9418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60120" y="128016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folder + all its history. Everything Git tracks lives here.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54880" y="868680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868680"/>
            <a:ext cx="54864" cy="1188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96012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94960" y="9418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394960" y="128016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saved snapshot with a message. Like hitting Save with a note explaining what you changed.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320040" y="2240280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20040" y="2240280"/>
            <a:ext cx="54864" cy="1188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33172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60120" y="23134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960120" y="265176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independent copy of the code. Experiment freely without touching the main codebase.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754880" y="2240280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754880" y="2240280"/>
            <a:ext cx="54864" cy="1188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2331720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394960" y="23134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5394960" y="265176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changes from one branch into another once a feature is complete.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320040" y="3611880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20040" y="3611880"/>
            <a:ext cx="54864" cy="1188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3703320"/>
            <a:ext cx="411480" cy="41148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60120" y="36850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/ Pull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960120" y="402336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= upload your commits to remote. Pull = download the latest changes from remote.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4754880" y="3611880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4754880" y="3611880"/>
            <a:ext cx="54864" cy="1188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92040" y="3703320"/>
            <a:ext cx="411480" cy="41148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394960" y="36850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5394960" y="402336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Downloads a full copy of a remote repository to your local machine.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Workflow Commands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96112"/>
            <a:ext cx="2788920" cy="1234440"/>
          </a:xfrm>
          <a:prstGeom prst="rect">
            <a:avLst/>
          </a:prstGeom>
          <a:solidFill>
            <a:srgbClr val="16205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96112"/>
            <a:ext cx="278892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32688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init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353312"/>
            <a:ext cx="2606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new empty repo in the current folder. Use when starting a brand new project.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896112"/>
            <a:ext cx="2788920" cy="1234440"/>
          </a:xfrm>
          <a:prstGeom prst="rect">
            <a:avLst/>
          </a:prstGeom>
          <a:solidFill>
            <a:srgbClr val="16205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896112"/>
            <a:ext cx="278892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932688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91840" y="1353312"/>
            <a:ext cx="2606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all changed files — marks them ready to commit. Run after making changes.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896112"/>
            <a:ext cx="2788920" cy="1234440"/>
          </a:xfrm>
          <a:prstGeom prst="rect">
            <a:avLst/>
          </a:prstGeom>
          <a:solidFill>
            <a:srgbClr val="16205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26480" y="896112"/>
            <a:ext cx="278892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932688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"msg"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17920" y="1353312"/>
            <a:ext cx="2606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a snapshot with a description. Run once your changes are working.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286000"/>
            <a:ext cx="2788920" cy="1234440"/>
          </a:xfrm>
          <a:prstGeom prst="rect">
            <a:avLst/>
          </a:prstGeom>
          <a:solidFill>
            <a:srgbClr val="16205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286000"/>
            <a:ext cx="278892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322576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branch name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2743200"/>
            <a:ext cx="2606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new branch. Use when starting a new feature or fix.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0" y="2286000"/>
            <a:ext cx="2788920" cy="1234440"/>
          </a:xfrm>
          <a:prstGeom prst="rect">
            <a:avLst/>
          </a:prstGeom>
          <a:solidFill>
            <a:srgbClr val="16205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2286000"/>
            <a:ext cx="278892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0" y="2322576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name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91840" y="2743200"/>
            <a:ext cx="2606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to a branch. Use when you want to work on a specific branch.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2286000"/>
            <a:ext cx="2788920" cy="1234440"/>
          </a:xfrm>
          <a:prstGeom prst="rect">
            <a:avLst/>
          </a:prstGeom>
          <a:solidFill>
            <a:srgbClr val="16205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26480" y="2286000"/>
            <a:ext cx="278892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2322576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merge name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17920" y="2743200"/>
            <a:ext cx="2606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Brings a branch's changes into your current branch. Use when a feature is done.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3675888"/>
            <a:ext cx="2788920" cy="1234440"/>
          </a:xfrm>
          <a:prstGeom prst="rect">
            <a:avLst/>
          </a:prstGeom>
          <a:solidFill>
            <a:srgbClr val="16205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3675888"/>
            <a:ext cx="278892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71246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remote add origin &lt;url&gt;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65760" y="4133088"/>
            <a:ext cx="2606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your local repo to a remote. Run once when first connecting to GitHub or Azure.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00400" y="3675888"/>
            <a:ext cx="2788920" cy="1234440"/>
          </a:xfrm>
          <a:prstGeom prst="rect">
            <a:avLst/>
          </a:prstGeom>
          <a:solidFill>
            <a:srgbClr val="16205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00400" y="3675888"/>
            <a:ext cx="278892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91840" y="371246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origin main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291840" y="4133088"/>
            <a:ext cx="2606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Uploads your commits to the remote. Run to share your work with the team.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126480" y="3675888"/>
            <a:ext cx="2788920" cy="1234440"/>
          </a:xfrm>
          <a:prstGeom prst="rect">
            <a:avLst/>
          </a:prstGeom>
          <a:solidFill>
            <a:srgbClr val="16205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126480" y="3675888"/>
            <a:ext cx="278892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17920" y="371246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pull origin main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217920" y="4133088"/>
            <a:ext cx="2606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Downloads &amp; merges latest remote changes. Run before starting work each day.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Azure DevOps?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8503920" cy="713232"/>
          </a:xfrm>
          <a:prstGeom prst="rect">
            <a:avLst/>
          </a:prstGeom>
          <a:solidFill>
            <a:srgbClr val="E8EDF7"/>
          </a:solidFill>
          <a:ln w="12700">
            <a:solidFill>
              <a:srgbClr val="E8EDF7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8686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886968"/>
            <a:ext cx="7635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Microsoft's platform for managing the entire software development lifecycle — from planning to deployment.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65760" y="166420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Core Services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20040" y="2103120"/>
            <a:ext cx="1627632" cy="2560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93192" y="2176272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Repos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77240" y="2633472"/>
            <a:ext cx="713232" cy="274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93192" y="2724912"/>
            <a:ext cx="1481328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Git-based source control and code storage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039112" y="2103120"/>
            <a:ext cx="1627632" cy="2560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112264" y="2176272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Pipelines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2496312" y="2633472"/>
            <a:ext cx="713232" cy="274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112264" y="2724912"/>
            <a:ext cx="1481328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build, test, and deploy (CI/CD)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758184" y="2103120"/>
            <a:ext cx="1627632" cy="2560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831336" y="2176272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Boards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215384" y="2633472"/>
            <a:ext cx="713232" cy="274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831336" y="2724912"/>
            <a:ext cx="1481328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and task management (Kanban/Scrum)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477256" y="2103120"/>
            <a:ext cx="1627632" cy="2560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550408" y="2176272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Test Plans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934456" y="2633472"/>
            <a:ext cx="713232" cy="274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550408" y="2724912"/>
            <a:ext cx="1481328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and automated testing tools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7196328" y="2103120"/>
            <a:ext cx="1627632" cy="2560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269480" y="2176272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Artifacts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7653528" y="2633472"/>
            <a:ext cx="713232" cy="274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269480" y="2724912"/>
            <a:ext cx="1481328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management for npm, NuGet, Maven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Git vs GitHub vs Azure Repos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2194560" cy="640080"/>
          </a:xfrm>
          <a:prstGeom prst="rect">
            <a:avLst/>
          </a:prstGeom>
          <a:solidFill>
            <a:srgbClr val="028090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86968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14600" y="841248"/>
            <a:ext cx="2103120" cy="640080"/>
          </a:xfrm>
          <a:prstGeom prst="rect">
            <a:avLst/>
          </a:prstGeom>
          <a:solidFill>
            <a:srgbClr val="028090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06040" y="88696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Git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841248"/>
            <a:ext cx="2103120" cy="640080"/>
          </a:xfrm>
          <a:prstGeom prst="rect">
            <a:avLst/>
          </a:prstGeom>
          <a:solidFill>
            <a:srgbClr val="028090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88696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12280" y="841248"/>
            <a:ext cx="2286000" cy="640080"/>
          </a:xfrm>
          <a:prstGeom prst="rect">
            <a:avLst/>
          </a:prstGeom>
          <a:solidFill>
            <a:srgbClr val="028090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03720" y="886968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Repos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1481328"/>
            <a:ext cx="2194560" cy="640080"/>
          </a:xfrm>
          <a:prstGeom prst="rect">
            <a:avLst/>
          </a:prstGeom>
          <a:solidFill>
            <a:srgbClr val="162050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527048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lives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514600" y="1481328"/>
            <a:ext cx="2103120" cy="640080"/>
          </a:xfrm>
          <a:prstGeom prst="rect">
            <a:avLst/>
          </a:prstGeom>
          <a:solidFill>
            <a:srgbClr val="162050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06040" y="152704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machine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1481328"/>
            <a:ext cx="2103120" cy="640080"/>
          </a:xfrm>
          <a:prstGeom prst="rect">
            <a:avLst/>
          </a:prstGeom>
          <a:solidFill>
            <a:srgbClr val="162050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152704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cloud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12280" y="1481328"/>
            <a:ext cx="2286000" cy="640080"/>
          </a:xfrm>
          <a:prstGeom prst="rect">
            <a:avLst/>
          </a:prstGeom>
          <a:solidFill>
            <a:srgbClr val="162050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03720" y="1527048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Azure cloud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2121408"/>
            <a:ext cx="2194560" cy="640080"/>
          </a:xfrm>
          <a:prstGeom prst="rect">
            <a:avLst/>
          </a:prstGeom>
          <a:solidFill>
            <a:srgbClr val="162050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2167128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514600" y="2121408"/>
            <a:ext cx="2103120" cy="640080"/>
          </a:xfrm>
          <a:prstGeom prst="rect">
            <a:avLst/>
          </a:prstGeom>
          <a:solidFill>
            <a:srgbClr val="1A2A5A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06040" y="216712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/ offline work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663440" y="2121408"/>
            <a:ext cx="2103120" cy="640080"/>
          </a:xfrm>
          <a:prstGeom prst="rect">
            <a:avLst/>
          </a:prstGeom>
          <a:solidFill>
            <a:srgbClr val="1A2A5A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216712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source, community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812280" y="2121408"/>
            <a:ext cx="2286000" cy="640080"/>
          </a:xfrm>
          <a:prstGeom prst="rect">
            <a:avLst/>
          </a:prstGeom>
          <a:solidFill>
            <a:srgbClr val="1A2A5A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03720" y="2167128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Enterprise, Microsoft stack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74320" y="2761488"/>
            <a:ext cx="2194560" cy="640080"/>
          </a:xfrm>
          <a:prstGeom prst="rect">
            <a:avLst/>
          </a:prstGeom>
          <a:solidFill>
            <a:srgbClr val="162050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2807208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built in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514600" y="2761488"/>
            <a:ext cx="2103120" cy="640080"/>
          </a:xfrm>
          <a:prstGeom prst="rect">
            <a:avLst/>
          </a:prstGeom>
          <a:solidFill>
            <a:srgbClr val="162050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06040" y="280720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663440" y="2761488"/>
            <a:ext cx="2103120" cy="640080"/>
          </a:xfrm>
          <a:prstGeom prst="rect">
            <a:avLst/>
          </a:prstGeom>
          <a:solidFill>
            <a:srgbClr val="162050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280720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812280" y="2761488"/>
            <a:ext cx="2286000" cy="640080"/>
          </a:xfrm>
          <a:prstGeom prst="rect">
            <a:avLst/>
          </a:prstGeom>
          <a:solidFill>
            <a:srgbClr val="162050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03720" y="2807208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Pipelines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74320" y="3401568"/>
            <a:ext cx="2194560" cy="640080"/>
          </a:xfrm>
          <a:prstGeom prst="rect">
            <a:avLst/>
          </a:prstGeom>
          <a:solidFill>
            <a:srgbClr val="162050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3447288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2514600" y="3401568"/>
            <a:ext cx="2103120" cy="640080"/>
          </a:xfrm>
          <a:prstGeom prst="rect">
            <a:avLst/>
          </a:prstGeom>
          <a:solidFill>
            <a:srgbClr val="1A2A5A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06040" y="344728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663440" y="3401568"/>
            <a:ext cx="2103120" cy="640080"/>
          </a:xfrm>
          <a:prstGeom prst="rect">
            <a:avLst/>
          </a:prstGeom>
          <a:solidFill>
            <a:srgbClr val="1A2A5A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344728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&amp; org roles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812280" y="3401568"/>
            <a:ext cx="2286000" cy="640080"/>
          </a:xfrm>
          <a:prstGeom prst="rect">
            <a:avLst/>
          </a:prstGeom>
          <a:solidFill>
            <a:srgbClr val="1A2A5A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03720" y="3447288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AD integration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274320" y="4041648"/>
            <a:ext cx="2194560" cy="640080"/>
          </a:xfrm>
          <a:prstGeom prst="rect">
            <a:avLst/>
          </a:prstGeom>
          <a:solidFill>
            <a:srgbClr val="162050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4087368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2514600" y="4041648"/>
            <a:ext cx="2103120" cy="640080"/>
          </a:xfrm>
          <a:prstGeom prst="rect">
            <a:avLst/>
          </a:prstGeom>
          <a:solidFill>
            <a:srgbClr val="162050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606040" y="408736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(always)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663440" y="4041648"/>
            <a:ext cx="2103120" cy="640080"/>
          </a:xfrm>
          <a:prstGeom prst="rect">
            <a:avLst/>
          </a:prstGeom>
          <a:solidFill>
            <a:srgbClr val="162050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54880" y="408736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+ paid tiers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812280" y="4041648"/>
            <a:ext cx="2286000" cy="640080"/>
          </a:xfrm>
          <a:prstGeom prst="rect">
            <a:avLst/>
          </a:prstGeom>
          <a:solidFill>
            <a:srgbClr val="162050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903720" y="4087368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+ paid tiers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Pushing Code to Azure Repos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DevOps (Cloud)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663440" y="80467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Machine (Local)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26280" y="777240"/>
            <a:ext cx="45720" cy="4114800"/>
          </a:xfrm>
          <a:prstGeom prst="rect">
            <a:avLst/>
          </a:prstGeom>
          <a:solidFill>
            <a:srgbClr val="E8EDF7"/>
          </a:solidFill>
          <a:ln w="12700">
            <a:solidFill>
              <a:srgbClr val="E8ED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88720"/>
            <a:ext cx="3977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188720"/>
            <a:ext cx="457200" cy="1234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5727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12801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project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14400" y="1664208"/>
            <a:ext cx="2971800" cy="384048"/>
          </a:xfrm>
          <a:prstGeom prst="rect">
            <a:avLst/>
          </a:prstGeom>
          <a:solidFill>
            <a:srgbClr val="EEF2FF"/>
          </a:solidFill>
          <a:ln w="12700">
            <a:solidFill>
              <a:srgbClr val="E8ED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1682496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dev.azure.com → New Project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606040"/>
            <a:ext cx="3977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606040"/>
            <a:ext cx="457200" cy="1234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9900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14400" y="269748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repository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14400" y="3081528"/>
            <a:ext cx="2971800" cy="384048"/>
          </a:xfrm>
          <a:prstGeom prst="rect">
            <a:avLst/>
          </a:prstGeom>
          <a:solidFill>
            <a:srgbClr val="EEF2FF"/>
          </a:solidFill>
          <a:ln w="12700">
            <a:solidFill>
              <a:srgbClr val="E8ED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3099816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 Repos → New Repository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1188720"/>
            <a:ext cx="4160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1188720"/>
            <a:ext cx="384048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13258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120640" y="1225296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the repo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296912" y="1225296"/>
            <a:ext cx="1417320" cy="310896"/>
          </a:xfrm>
          <a:prstGeom prst="rect">
            <a:avLst/>
          </a:prstGeom>
          <a:solidFill>
            <a:srgbClr val="EEF2FF"/>
          </a:solidFill>
          <a:ln w="12700">
            <a:solidFill>
              <a:srgbClr val="E8ED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42632" y="122529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&lt;azure-repo-url&gt;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63440" y="1947672"/>
            <a:ext cx="4160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1947672"/>
            <a:ext cx="384048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20848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120640" y="198424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changes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296912" y="1984248"/>
            <a:ext cx="1417320" cy="310896"/>
          </a:xfrm>
          <a:prstGeom prst="rect">
            <a:avLst/>
          </a:prstGeom>
          <a:solidFill>
            <a:srgbClr val="EEF2FF"/>
          </a:solidFill>
          <a:ln w="12700">
            <a:solidFill>
              <a:srgbClr val="E8EDF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42632" y="198424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Edit files in your code editor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63440" y="2706624"/>
            <a:ext cx="4160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63440" y="2706624"/>
            <a:ext cx="384048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28437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120640" y="274320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changes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7296912" y="2743200"/>
            <a:ext cx="1417320" cy="310896"/>
          </a:xfrm>
          <a:prstGeom prst="rect">
            <a:avLst/>
          </a:prstGeom>
          <a:solidFill>
            <a:srgbClr val="EEF2FF"/>
          </a:solidFill>
          <a:ln w="12700">
            <a:solidFill>
              <a:srgbClr val="E8EDF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42632" y="274320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663440" y="3465576"/>
            <a:ext cx="4160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663440" y="3465576"/>
            <a:ext cx="384048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63440" y="36027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120640" y="350215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changes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7296912" y="3502152"/>
            <a:ext cx="1417320" cy="310896"/>
          </a:xfrm>
          <a:prstGeom prst="rect">
            <a:avLst/>
          </a:prstGeom>
          <a:solidFill>
            <a:srgbClr val="EEF2FF"/>
          </a:solidFill>
          <a:ln w="12700">
            <a:solidFill>
              <a:srgbClr val="E8EDF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42632" y="350215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"description"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663440" y="4224528"/>
            <a:ext cx="4160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663440" y="4224528"/>
            <a:ext cx="384048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663440" y="43616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5120640" y="4261104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Azure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7296912" y="4261104"/>
            <a:ext cx="1417320" cy="310896"/>
          </a:xfrm>
          <a:prstGeom prst="rect">
            <a:avLst/>
          </a:prstGeom>
          <a:solidFill>
            <a:srgbClr val="EEF2FF"/>
          </a:solidFill>
          <a:ln w="12700">
            <a:solidFill>
              <a:srgbClr val="E8EDF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342632" y="426110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origin main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4160520" cy="1737360"/>
          </a:xfrm>
          <a:prstGeom prst="rect">
            <a:avLst/>
          </a:prstGeom>
          <a:solidFill>
            <a:srgbClr val="16205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68680"/>
            <a:ext cx="416052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23544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solves a real problem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417320"/>
            <a:ext cx="3886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version control gives every developer a full copy of the project history — enabling collaboration without conflict.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868680"/>
            <a:ext cx="4160520" cy="1737360"/>
          </a:xfrm>
          <a:prstGeom prst="rect">
            <a:avLst/>
          </a:prstGeom>
          <a:solidFill>
            <a:srgbClr val="16205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868680"/>
            <a:ext cx="416052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923544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 are your save points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92040" y="1417320"/>
            <a:ext cx="3886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git add → git commit with clear messages to build a clean, traceable record of every change you make.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834640"/>
            <a:ext cx="4160520" cy="1737360"/>
          </a:xfrm>
          <a:prstGeom prst="rect">
            <a:avLst/>
          </a:prstGeom>
          <a:solidFill>
            <a:srgbClr val="16205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834640"/>
            <a:ext cx="416052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89504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 keep work safe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3383280"/>
            <a:ext cx="3886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develop features in a branch. Merge into main only once the feature is tested and complete.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2834640"/>
            <a:ext cx="4160520" cy="1737360"/>
          </a:xfrm>
          <a:prstGeom prst="rect">
            <a:avLst/>
          </a:prstGeom>
          <a:solidFill>
            <a:srgbClr val="16205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2834640"/>
            <a:ext cx="416052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2889504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DevOps = full DevOps platform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3383280"/>
            <a:ext cx="3886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Repos is just one of five services. It uses standard Git commands — the only difference is where the remote is hosted.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828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</TotalTime>
  <Words>789</Words>
  <Application>Microsoft Office PowerPoint</Application>
  <PresentationFormat>On-screen Show (16:9)</PresentationFormat>
  <Paragraphs>141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 Fundamentals &amp; Azure DevOps</dc:title>
  <dc:subject>PptxGenJS Presentation</dc:subject>
  <dc:creator>PptxGenJS</dc:creator>
  <cp:lastModifiedBy>Kamogelo  Sekhaolelo (Lubanzi Automation Academy)</cp:lastModifiedBy>
  <cp:revision>2</cp:revision>
  <dcterms:created xsi:type="dcterms:W3CDTF">2026-05-24T13:52:47Z</dcterms:created>
  <dcterms:modified xsi:type="dcterms:W3CDTF">2026-06-01T09:55:16Z</dcterms:modified>
</cp:coreProperties>
</file>