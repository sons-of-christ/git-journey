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28"/>
  </p:notesMasterIdLst>
  <p:sldIdLst>
    <p:sldId id="281"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27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72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6044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7934884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844829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4214731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6/1/2026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8044970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6/1/2026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7455105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6/1/2026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990096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84869912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7248258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7205239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359921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6/1/2026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7875530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1254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6/1/2026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161084532"/>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744"/>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DEBED76-DC40-139E-D250-12FCACE86558}"/>
              </a:ext>
            </a:extLst>
          </p:cNvPr>
          <p:cNvSpPr/>
          <p:nvPr/>
        </p:nvSpPr>
        <p:spPr>
          <a:xfrm>
            <a:off x="7132320" y="-1097280"/>
            <a:ext cx="4114800" cy="4114800"/>
          </a:xfrm>
          <a:prstGeom prst="ellipse">
            <a:avLst/>
          </a:prstGeom>
          <a:solidFill>
            <a:srgbClr val="028090">
              <a:alpha val="25000"/>
            </a:srgbClr>
          </a:solidFill>
          <a:ln w="12700">
            <a:solidFill>
              <a:srgbClr val="028090">
                <a:alpha val="25000"/>
              </a:srgbClr>
            </a:solidFill>
            <a:prstDash val="solid"/>
          </a:ln>
        </p:spPr>
      </p:sp>
      <p:sp>
        <p:nvSpPr>
          <p:cNvPr id="3" name="Shape 1">
            <a:extLst>
              <a:ext uri="{FF2B5EF4-FFF2-40B4-BE49-F238E27FC236}">
                <a16:creationId xmlns:a16="http://schemas.microsoft.com/office/drawing/2014/main" id="{A4BEC183-27B2-2E43-6206-0C0253916F3C}"/>
              </a:ext>
            </a:extLst>
          </p:cNvPr>
          <p:cNvSpPr/>
          <p:nvPr/>
        </p:nvSpPr>
        <p:spPr>
          <a:xfrm>
            <a:off x="-1371600" y="3200400"/>
            <a:ext cx="3200400" cy="3200400"/>
          </a:xfrm>
          <a:prstGeom prst="ellipse">
            <a:avLst/>
          </a:prstGeom>
          <a:solidFill>
            <a:srgbClr val="02C39A">
              <a:alpha val="20000"/>
            </a:srgbClr>
          </a:solidFill>
          <a:ln w="12700">
            <a:solidFill>
              <a:srgbClr val="02C39A">
                <a:alpha val="20000"/>
              </a:srgbClr>
            </a:solidFill>
            <a:prstDash val="solid"/>
          </a:ln>
        </p:spPr>
      </p:sp>
      <p:sp>
        <p:nvSpPr>
          <p:cNvPr id="4" name="Text 2">
            <a:extLst>
              <a:ext uri="{FF2B5EF4-FFF2-40B4-BE49-F238E27FC236}">
                <a16:creationId xmlns:a16="http://schemas.microsoft.com/office/drawing/2014/main" id="{9D0E4DA3-3D8B-1DED-84AB-D6B104EAA52D}"/>
              </a:ext>
            </a:extLst>
          </p:cNvPr>
          <p:cNvSpPr/>
          <p:nvPr/>
        </p:nvSpPr>
        <p:spPr>
          <a:xfrm>
            <a:off x="548640" y="1463040"/>
            <a:ext cx="8046720" cy="91440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cs typeface="Calibri" pitchFamily="34" charset="-120"/>
              </a:rPr>
              <a:t>KAMOGELO SEKHAOLELO</a:t>
            </a:r>
            <a:endParaRPr lang="en-US" sz="3600" dirty="0"/>
          </a:p>
        </p:txBody>
      </p:sp>
      <p:sp>
        <p:nvSpPr>
          <p:cNvPr id="5" name="Text 3">
            <a:extLst>
              <a:ext uri="{FF2B5EF4-FFF2-40B4-BE49-F238E27FC236}">
                <a16:creationId xmlns:a16="http://schemas.microsoft.com/office/drawing/2014/main" id="{C7A9297F-9F1E-E17A-BCE4-CC34FCABC05D}"/>
              </a:ext>
            </a:extLst>
          </p:cNvPr>
          <p:cNvSpPr/>
          <p:nvPr/>
        </p:nvSpPr>
        <p:spPr>
          <a:xfrm>
            <a:off x="548640" y="2468880"/>
            <a:ext cx="8046720" cy="548640"/>
          </a:xfrm>
          <a:prstGeom prst="rect">
            <a:avLst/>
          </a:prstGeom>
          <a:noFill/>
          <a:ln/>
        </p:spPr>
        <p:txBody>
          <a:bodyPr wrap="square" rtlCol="0" anchor="ctr"/>
          <a:lstStyle/>
          <a:p>
            <a:pPr marL="0" indent="0" algn="ctr">
              <a:buNone/>
            </a:pPr>
            <a:r>
              <a:rPr lang="en-US" sz="1800" b="1" i="1" dirty="0">
                <a:solidFill>
                  <a:srgbClr val="C8DCFC"/>
                </a:solidFill>
                <a:latin typeface="Calibri" pitchFamily="34" charset="0"/>
                <a:cs typeface="Calibri" pitchFamily="34" charset="-120"/>
              </a:rPr>
              <a:t>ASSIGNMENT 2 </a:t>
            </a:r>
            <a:r>
              <a:rPr lang="en-US" b="1" i="1" dirty="0">
                <a:solidFill>
                  <a:srgbClr val="C8DCFC"/>
                </a:solidFill>
                <a:latin typeface="Calibri" pitchFamily="34" charset="0"/>
                <a:cs typeface="Calibri" pitchFamily="34" charset="-120"/>
              </a:rPr>
              <a:t>PRESENTATION</a:t>
            </a:r>
            <a:endParaRPr lang="en-US" sz="1800" b="1" dirty="0"/>
          </a:p>
        </p:txBody>
      </p:sp>
      <p:pic>
        <p:nvPicPr>
          <p:cNvPr id="6" name="Image 0" descr="preencoded.png">
            <a:extLst>
              <a:ext uri="{FF2B5EF4-FFF2-40B4-BE49-F238E27FC236}">
                <a16:creationId xmlns:a16="http://schemas.microsoft.com/office/drawing/2014/main" id="{ABBE5F7F-24E0-8CF1-51A3-F45E996A4679}"/>
              </a:ext>
            </a:extLst>
          </p:cNvPr>
          <p:cNvPicPr>
            <a:picLocks noChangeAspect="1"/>
          </p:cNvPicPr>
          <p:nvPr/>
        </p:nvPicPr>
        <p:blipFill>
          <a:blip r:embed="rId2"/>
          <a:stretch>
            <a:fillRect/>
          </a:stretch>
        </p:blipFill>
        <p:spPr>
          <a:xfrm>
            <a:off x="7132319" y="1362563"/>
            <a:ext cx="1463040" cy="1463040"/>
          </a:xfrm>
          <a:prstGeom prst="rect">
            <a:avLst/>
          </a:prstGeom>
        </p:spPr>
      </p:pic>
      <p:pic>
        <p:nvPicPr>
          <p:cNvPr id="7" name="Image 0" descr="preencoded.png">
            <a:extLst>
              <a:ext uri="{FF2B5EF4-FFF2-40B4-BE49-F238E27FC236}">
                <a16:creationId xmlns:a16="http://schemas.microsoft.com/office/drawing/2014/main" id="{5D16F531-EF54-8781-DE0F-33ADB56D2F00}"/>
              </a:ext>
            </a:extLst>
          </p:cNvPr>
          <p:cNvPicPr>
            <a:picLocks noChangeAspect="1"/>
          </p:cNvPicPr>
          <p:nvPr/>
        </p:nvPicPr>
        <p:blipFill>
          <a:blip r:embed="rId3"/>
          <a:stretch>
            <a:fillRect/>
          </a:stretch>
        </p:blipFill>
        <p:spPr>
          <a:xfrm>
            <a:off x="643270" y="3209925"/>
            <a:ext cx="1463040" cy="1463040"/>
          </a:xfrm>
          <a:prstGeom prst="rect">
            <a:avLst/>
          </a:prstGeom>
        </p:spPr>
      </p:pic>
    </p:spTree>
    <p:extLst>
      <p:ext uri="{BB962C8B-B14F-4D97-AF65-F5344CB8AC3E}">
        <p14:creationId xmlns:p14="http://schemas.microsoft.com/office/powerpoint/2010/main" val="335951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5943600" y="-1645920"/>
            <a:ext cx="5486400" cy="5486400"/>
          </a:xfrm>
          <a:prstGeom prst="ellipse">
            <a:avLst/>
          </a:prstGeom>
          <a:solidFill>
            <a:srgbClr val="028090">
              <a:alpha val="20000"/>
            </a:srgbClr>
          </a:solidFill>
          <a:ln w="12700">
            <a:solidFill>
              <a:srgbClr val="028090">
                <a:alpha val="20000"/>
              </a:srgbClr>
            </a:solidFill>
            <a:prstDash val="solid"/>
          </a:ln>
        </p:spPr>
      </p:sp>
      <p:sp>
        <p:nvSpPr>
          <p:cNvPr id="3" name="Shape 1"/>
          <p:cNvSpPr/>
          <p:nvPr/>
        </p:nvSpPr>
        <p:spPr>
          <a:xfrm>
            <a:off x="-1645920" y="2926080"/>
            <a:ext cx="3657600" cy="3657600"/>
          </a:xfrm>
          <a:prstGeom prst="ellipse">
            <a:avLst/>
          </a:prstGeom>
          <a:solidFill>
            <a:srgbClr val="02C39A">
              <a:alpha val="15000"/>
            </a:srgbClr>
          </a:solidFill>
          <a:ln w="12700">
            <a:solidFill>
              <a:srgbClr val="02C39A">
                <a:alpha val="15000"/>
              </a:srgbClr>
            </a:solidFill>
            <a:prstDash val="solid"/>
          </a:ln>
        </p:spPr>
      </p:sp>
      <p:pic>
        <p:nvPicPr>
          <p:cNvPr id="4" name="Image 0" descr="preencoded.png"/>
          <p:cNvPicPr>
            <a:picLocks noChangeAspect="1"/>
          </p:cNvPicPr>
          <p:nvPr/>
        </p:nvPicPr>
        <p:blipFill>
          <a:blip r:embed="rId3"/>
          <a:stretch>
            <a:fillRect/>
          </a:stretch>
        </p:blipFill>
        <p:spPr>
          <a:xfrm>
            <a:off x="502920" y="640080"/>
            <a:ext cx="1005840" cy="1005840"/>
          </a:xfrm>
          <a:prstGeom prst="rect">
            <a:avLst/>
          </a:prstGeom>
        </p:spPr>
      </p:pic>
      <p:sp>
        <p:nvSpPr>
          <p:cNvPr id="5" name="Text 2"/>
          <p:cNvSpPr/>
          <p:nvPr/>
        </p:nvSpPr>
        <p:spPr>
          <a:xfrm>
            <a:off x="457200" y="1600200"/>
            <a:ext cx="8229600" cy="7772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Git Fundamentals &amp;</a:t>
            </a:r>
            <a:endParaRPr lang="en-US" sz="4000" dirty="0"/>
          </a:p>
        </p:txBody>
      </p:sp>
      <p:sp>
        <p:nvSpPr>
          <p:cNvPr id="6" name="Text 3"/>
          <p:cNvSpPr/>
          <p:nvPr/>
        </p:nvSpPr>
        <p:spPr>
          <a:xfrm>
            <a:off x="457200" y="2331720"/>
            <a:ext cx="8229600" cy="777240"/>
          </a:xfrm>
          <a:prstGeom prst="rect">
            <a:avLst/>
          </a:prstGeom>
          <a:noFill/>
          <a:ln/>
        </p:spPr>
        <p:txBody>
          <a:bodyPr wrap="square" lIns="0" tIns="0" rIns="0" bIns="0" rtlCol="0" anchor="ctr"/>
          <a:lstStyle/>
          <a:p>
            <a:pPr marL="0" indent="0">
              <a:buNone/>
            </a:pPr>
            <a:r>
              <a:rPr lang="en-US" sz="4000" b="1" dirty="0">
                <a:solidFill>
                  <a:srgbClr val="02C39A"/>
                </a:solidFill>
                <a:latin typeface="Calibri" pitchFamily="34" charset="0"/>
                <a:ea typeface="Calibri" pitchFamily="34" charset="-122"/>
                <a:cs typeface="Calibri" pitchFamily="34" charset="-120"/>
              </a:rPr>
              <a:t>Azure DevOps</a:t>
            </a:r>
            <a:endParaRPr lang="en-US" sz="4000" dirty="0"/>
          </a:p>
        </p:txBody>
      </p:sp>
      <p:sp>
        <p:nvSpPr>
          <p:cNvPr id="7" name="Text 4"/>
          <p:cNvSpPr/>
          <p:nvPr/>
        </p:nvSpPr>
        <p:spPr>
          <a:xfrm>
            <a:off x="457200" y="3200400"/>
            <a:ext cx="8229600" cy="411480"/>
          </a:xfrm>
          <a:prstGeom prst="rect">
            <a:avLst/>
          </a:prstGeom>
          <a:noFill/>
          <a:ln/>
        </p:spPr>
        <p:txBody>
          <a:bodyPr wrap="square" rtlCol="0" anchor="ctr"/>
          <a:lstStyle/>
          <a:p>
            <a:pPr marL="0" indent="0">
              <a:buNone/>
            </a:pPr>
            <a:r>
              <a:rPr lang="en-US" sz="1500" i="1" dirty="0">
                <a:solidFill>
                  <a:srgbClr val="C8DCFC"/>
                </a:solidFill>
                <a:latin typeface="Calibri" pitchFamily="34" charset="0"/>
                <a:ea typeface="Calibri" pitchFamily="34" charset="-122"/>
                <a:cs typeface="Calibri" pitchFamily="34" charset="-120"/>
              </a:rPr>
              <a:t>Version Control  ·  Repositories  ·  Pushing Code  ·  Real-World Examples</a:t>
            </a:r>
            <a:endParaRPr lang="en-US" sz="1500" dirty="0"/>
          </a:p>
        </p:txBody>
      </p:sp>
      <p:sp>
        <p:nvSpPr>
          <p:cNvPr id="8" name="Text 5"/>
          <p:cNvSpPr/>
          <p:nvPr/>
        </p:nvSpPr>
        <p:spPr>
          <a:xfrm>
            <a:off x="457200" y="4480560"/>
            <a:ext cx="8229600" cy="320040"/>
          </a:xfrm>
          <a:prstGeom prst="rect">
            <a:avLst/>
          </a:prstGeom>
          <a:noFill/>
          <a:ln/>
        </p:spPr>
        <p:txBody>
          <a:bodyPr wrap="square" rtlCol="0" anchor="ctr"/>
          <a:lstStyle/>
          <a:p>
            <a:pPr marL="0" indent="0">
              <a:buNone/>
            </a:pPr>
            <a:r>
              <a:rPr lang="en-US" sz="1200" i="1" dirty="0">
                <a:solidFill>
                  <a:srgbClr val="6677AA"/>
                </a:solidFill>
                <a:latin typeface="Calibri" pitchFamily="34" charset="0"/>
                <a:ea typeface="Calibri" pitchFamily="34" charset="-122"/>
                <a:cs typeface="Calibri" pitchFamily="34" charset="-120"/>
              </a:rPr>
              <a:t>Intern Assessment — Research Presentation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F8FF"/>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30352"/>
          </a:xfrm>
          <a:prstGeom prst="rect">
            <a:avLst/>
          </a:prstGeom>
          <a:noFill/>
          <a:ln/>
        </p:spPr>
        <p:txBody>
          <a:bodyPr wrap="square" lIns="0" tIns="0" rIns="0" bIns="0" rtlCol="0" anchor="ctr"/>
          <a:lstStyle/>
          <a:p>
            <a:pPr marL="0" indent="0">
              <a:buNone/>
            </a:pPr>
            <a:r>
              <a:rPr lang="en-US" sz="2600" b="1" dirty="0">
                <a:solidFill>
                  <a:srgbClr val="1A2744"/>
                </a:solidFill>
                <a:latin typeface="Calibri" pitchFamily="34" charset="0"/>
                <a:ea typeface="Calibri" pitchFamily="34" charset="-122"/>
                <a:cs typeface="Calibri" pitchFamily="34" charset="-120"/>
              </a:rPr>
              <a:t>What We Will Cover</a:t>
            </a:r>
            <a:endParaRPr lang="en-US" sz="2600" dirty="0"/>
          </a:p>
        </p:txBody>
      </p:sp>
      <p:sp>
        <p:nvSpPr>
          <p:cNvPr id="3" name="Shape 1"/>
          <p:cNvSpPr/>
          <p:nvPr/>
        </p:nvSpPr>
        <p:spPr>
          <a:xfrm>
            <a:off x="411480" y="694944"/>
            <a:ext cx="8321040" cy="27432"/>
          </a:xfrm>
          <a:prstGeom prst="rect">
            <a:avLst/>
          </a:prstGeom>
          <a:solidFill>
            <a:srgbClr val="E4EAF6"/>
          </a:solidFill>
          <a:ln w="12700">
            <a:solidFill>
              <a:srgbClr val="E4EAF6"/>
            </a:solidFill>
            <a:prstDash val="solid"/>
          </a:ln>
        </p:spPr>
      </p:sp>
      <p:sp>
        <p:nvSpPr>
          <p:cNvPr id="4" name="Shape 2"/>
          <p:cNvSpPr/>
          <p:nvPr/>
        </p:nvSpPr>
        <p:spPr>
          <a:xfrm>
            <a:off x="411480" y="960120"/>
            <a:ext cx="4160520" cy="111556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5" name="Shape 3"/>
          <p:cNvSpPr/>
          <p:nvPr/>
        </p:nvSpPr>
        <p:spPr>
          <a:xfrm>
            <a:off x="411480" y="960120"/>
            <a:ext cx="64008" cy="1115568"/>
          </a:xfrm>
          <a:prstGeom prst="rect">
            <a:avLst/>
          </a:prstGeom>
          <a:solidFill>
            <a:srgbClr val="028090"/>
          </a:solidFill>
          <a:ln w="12700">
            <a:solidFill>
              <a:srgbClr val="028090"/>
            </a:solidFill>
            <a:prstDash val="solid"/>
          </a:ln>
        </p:spPr>
      </p:sp>
      <p:pic>
        <p:nvPicPr>
          <p:cNvPr id="6" name="Image 0" descr="preencoded.png"/>
          <p:cNvPicPr>
            <a:picLocks noChangeAspect="1"/>
          </p:cNvPicPr>
          <p:nvPr/>
        </p:nvPicPr>
        <p:blipFill>
          <a:blip r:embed="rId3"/>
          <a:stretch>
            <a:fillRect/>
          </a:stretch>
        </p:blipFill>
        <p:spPr>
          <a:xfrm>
            <a:off x="539496" y="1078992"/>
            <a:ext cx="402336" cy="402336"/>
          </a:xfrm>
          <a:prstGeom prst="rect">
            <a:avLst/>
          </a:prstGeom>
        </p:spPr>
      </p:pic>
      <p:sp>
        <p:nvSpPr>
          <p:cNvPr id="7" name="Shape 4"/>
          <p:cNvSpPr/>
          <p:nvPr/>
        </p:nvSpPr>
        <p:spPr>
          <a:xfrm>
            <a:off x="475488" y="1618488"/>
            <a:ext cx="402336" cy="274320"/>
          </a:xfrm>
          <a:prstGeom prst="rect">
            <a:avLst/>
          </a:prstGeom>
          <a:solidFill>
            <a:srgbClr val="1A2744"/>
          </a:solidFill>
          <a:ln w="12700">
            <a:solidFill>
              <a:srgbClr val="1A2744"/>
            </a:solidFill>
            <a:prstDash val="solid"/>
          </a:ln>
        </p:spPr>
      </p:sp>
      <p:sp>
        <p:nvSpPr>
          <p:cNvPr id="8" name="Text 5"/>
          <p:cNvSpPr/>
          <p:nvPr/>
        </p:nvSpPr>
        <p:spPr>
          <a:xfrm>
            <a:off x="475488" y="1618488"/>
            <a:ext cx="402336" cy="274320"/>
          </a:xfrm>
          <a:prstGeom prst="rect">
            <a:avLst/>
          </a:prstGeom>
          <a:noFill/>
          <a:ln/>
        </p:spPr>
        <p:txBody>
          <a:bodyPr wrap="square" lIns="0" tIns="0" rIns="0" bIns="0" rtlCol="0" anchor="ctr"/>
          <a:lstStyle/>
          <a:p>
            <a:pPr marL="0" indent="0" algn="ctr">
              <a:buNone/>
            </a:pPr>
            <a:r>
              <a:rPr lang="en-US" sz="1100" b="1" dirty="0">
                <a:solidFill>
                  <a:srgbClr val="02C39A"/>
                </a:solidFill>
                <a:latin typeface="Calibri" pitchFamily="34" charset="0"/>
                <a:ea typeface="Calibri" pitchFamily="34" charset="-122"/>
                <a:cs typeface="Calibri" pitchFamily="34" charset="-120"/>
              </a:rPr>
              <a:t>01</a:t>
            </a:r>
            <a:endParaRPr lang="en-US" sz="1100" dirty="0"/>
          </a:p>
        </p:txBody>
      </p:sp>
      <p:sp>
        <p:nvSpPr>
          <p:cNvPr id="9" name="Text 6"/>
          <p:cNvSpPr/>
          <p:nvPr/>
        </p:nvSpPr>
        <p:spPr>
          <a:xfrm>
            <a:off x="978408" y="1088136"/>
            <a:ext cx="3456432" cy="777240"/>
          </a:xfrm>
          <a:prstGeom prst="rect">
            <a:avLst/>
          </a:prstGeom>
          <a:noFill/>
          <a:ln/>
        </p:spPr>
        <p:txBody>
          <a:bodyPr wrap="square" rtlCol="0" anchor="ctr"/>
          <a:lstStyle/>
          <a:p>
            <a:pPr marL="0" indent="0">
              <a:buNone/>
            </a:pPr>
            <a:r>
              <a:rPr lang="en-US" sz="1400" b="1" dirty="0">
                <a:solidFill>
                  <a:srgbClr val="1A2744"/>
                </a:solidFill>
                <a:latin typeface="Calibri" pitchFamily="34" charset="0"/>
                <a:ea typeface="Calibri" pitchFamily="34" charset="-122"/>
                <a:cs typeface="Calibri" pitchFamily="34" charset="-120"/>
              </a:rPr>
              <a:t>What is Git &amp; version control?</a:t>
            </a:r>
            <a:endParaRPr lang="en-US" sz="1400" dirty="0"/>
          </a:p>
        </p:txBody>
      </p:sp>
      <p:sp>
        <p:nvSpPr>
          <p:cNvPr id="10" name="Shape 7"/>
          <p:cNvSpPr/>
          <p:nvPr/>
        </p:nvSpPr>
        <p:spPr>
          <a:xfrm>
            <a:off x="4800600" y="960120"/>
            <a:ext cx="4160520" cy="111556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1" name="Shape 8"/>
          <p:cNvSpPr/>
          <p:nvPr/>
        </p:nvSpPr>
        <p:spPr>
          <a:xfrm>
            <a:off x="4800600" y="960120"/>
            <a:ext cx="64008" cy="1115568"/>
          </a:xfrm>
          <a:prstGeom prst="rect">
            <a:avLst/>
          </a:prstGeom>
          <a:solidFill>
            <a:srgbClr val="028090"/>
          </a:solidFill>
          <a:ln w="12700">
            <a:solidFill>
              <a:srgbClr val="028090"/>
            </a:solidFill>
            <a:prstDash val="solid"/>
          </a:ln>
        </p:spPr>
      </p:sp>
      <p:pic>
        <p:nvPicPr>
          <p:cNvPr id="12" name="Image 1" descr="preencoded.png"/>
          <p:cNvPicPr>
            <a:picLocks noChangeAspect="1"/>
          </p:cNvPicPr>
          <p:nvPr/>
        </p:nvPicPr>
        <p:blipFill>
          <a:blip r:embed="rId4"/>
          <a:stretch>
            <a:fillRect/>
          </a:stretch>
        </p:blipFill>
        <p:spPr>
          <a:xfrm>
            <a:off x="4928616" y="1078992"/>
            <a:ext cx="402336" cy="402336"/>
          </a:xfrm>
          <a:prstGeom prst="rect">
            <a:avLst/>
          </a:prstGeom>
        </p:spPr>
      </p:pic>
      <p:sp>
        <p:nvSpPr>
          <p:cNvPr id="13" name="Shape 9"/>
          <p:cNvSpPr/>
          <p:nvPr/>
        </p:nvSpPr>
        <p:spPr>
          <a:xfrm>
            <a:off x="4864608" y="1618488"/>
            <a:ext cx="402336" cy="274320"/>
          </a:xfrm>
          <a:prstGeom prst="rect">
            <a:avLst/>
          </a:prstGeom>
          <a:solidFill>
            <a:srgbClr val="1A2744"/>
          </a:solidFill>
          <a:ln w="12700">
            <a:solidFill>
              <a:srgbClr val="1A2744"/>
            </a:solidFill>
            <a:prstDash val="solid"/>
          </a:ln>
        </p:spPr>
      </p:sp>
      <p:sp>
        <p:nvSpPr>
          <p:cNvPr id="14" name="Text 10"/>
          <p:cNvSpPr/>
          <p:nvPr/>
        </p:nvSpPr>
        <p:spPr>
          <a:xfrm>
            <a:off x="4864608" y="1618488"/>
            <a:ext cx="402336" cy="274320"/>
          </a:xfrm>
          <a:prstGeom prst="rect">
            <a:avLst/>
          </a:prstGeom>
          <a:noFill/>
          <a:ln/>
        </p:spPr>
        <p:txBody>
          <a:bodyPr wrap="square" lIns="0" tIns="0" rIns="0" bIns="0" rtlCol="0" anchor="ctr"/>
          <a:lstStyle/>
          <a:p>
            <a:pPr marL="0" indent="0" algn="ctr">
              <a:buNone/>
            </a:pPr>
            <a:r>
              <a:rPr lang="en-US" sz="1100" b="1" dirty="0">
                <a:solidFill>
                  <a:srgbClr val="02C39A"/>
                </a:solidFill>
                <a:latin typeface="Calibri" pitchFamily="34" charset="0"/>
                <a:ea typeface="Calibri" pitchFamily="34" charset="-122"/>
                <a:cs typeface="Calibri" pitchFamily="34" charset="-120"/>
              </a:rPr>
              <a:t>02</a:t>
            </a:r>
            <a:endParaRPr lang="en-US" sz="1100" dirty="0"/>
          </a:p>
        </p:txBody>
      </p:sp>
      <p:sp>
        <p:nvSpPr>
          <p:cNvPr id="15" name="Text 11"/>
          <p:cNvSpPr/>
          <p:nvPr/>
        </p:nvSpPr>
        <p:spPr>
          <a:xfrm>
            <a:off x="5367528" y="1088136"/>
            <a:ext cx="3456432" cy="777240"/>
          </a:xfrm>
          <a:prstGeom prst="rect">
            <a:avLst/>
          </a:prstGeom>
          <a:noFill/>
          <a:ln/>
        </p:spPr>
        <p:txBody>
          <a:bodyPr wrap="square" rtlCol="0" anchor="ctr"/>
          <a:lstStyle/>
          <a:p>
            <a:pPr marL="0" indent="0">
              <a:buNone/>
            </a:pPr>
            <a:r>
              <a:rPr lang="en-US" sz="1400" b="1" dirty="0">
                <a:solidFill>
                  <a:srgbClr val="1A2744"/>
                </a:solidFill>
                <a:latin typeface="Calibri" pitchFamily="34" charset="0"/>
                <a:ea typeface="Calibri" pitchFamily="34" charset="-122"/>
                <a:cs typeface="Calibri" pitchFamily="34" charset="-120"/>
              </a:rPr>
              <a:t>Key Git concepts explained simply</a:t>
            </a:r>
            <a:endParaRPr lang="en-US" sz="1400" dirty="0"/>
          </a:p>
        </p:txBody>
      </p:sp>
      <p:sp>
        <p:nvSpPr>
          <p:cNvPr id="16" name="Shape 12"/>
          <p:cNvSpPr/>
          <p:nvPr/>
        </p:nvSpPr>
        <p:spPr>
          <a:xfrm>
            <a:off x="411480" y="2258568"/>
            <a:ext cx="4160520" cy="111556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7" name="Shape 13"/>
          <p:cNvSpPr/>
          <p:nvPr/>
        </p:nvSpPr>
        <p:spPr>
          <a:xfrm>
            <a:off x="411480" y="2258568"/>
            <a:ext cx="64008" cy="1115568"/>
          </a:xfrm>
          <a:prstGeom prst="rect">
            <a:avLst/>
          </a:prstGeom>
          <a:solidFill>
            <a:srgbClr val="028090"/>
          </a:solidFill>
          <a:ln w="12700">
            <a:solidFill>
              <a:srgbClr val="028090"/>
            </a:solidFill>
            <a:prstDash val="solid"/>
          </a:ln>
        </p:spPr>
      </p:sp>
      <p:pic>
        <p:nvPicPr>
          <p:cNvPr id="18" name="Image 2" descr="preencoded.png"/>
          <p:cNvPicPr>
            <a:picLocks noChangeAspect="1"/>
          </p:cNvPicPr>
          <p:nvPr/>
        </p:nvPicPr>
        <p:blipFill>
          <a:blip r:embed="rId5"/>
          <a:stretch>
            <a:fillRect/>
          </a:stretch>
        </p:blipFill>
        <p:spPr>
          <a:xfrm>
            <a:off x="539496" y="2377440"/>
            <a:ext cx="402336" cy="402336"/>
          </a:xfrm>
          <a:prstGeom prst="rect">
            <a:avLst/>
          </a:prstGeom>
        </p:spPr>
      </p:pic>
      <p:sp>
        <p:nvSpPr>
          <p:cNvPr id="19" name="Shape 14"/>
          <p:cNvSpPr/>
          <p:nvPr/>
        </p:nvSpPr>
        <p:spPr>
          <a:xfrm>
            <a:off x="475488" y="2916936"/>
            <a:ext cx="402336" cy="274320"/>
          </a:xfrm>
          <a:prstGeom prst="rect">
            <a:avLst/>
          </a:prstGeom>
          <a:solidFill>
            <a:srgbClr val="1A2744"/>
          </a:solidFill>
          <a:ln w="12700">
            <a:solidFill>
              <a:srgbClr val="1A2744"/>
            </a:solidFill>
            <a:prstDash val="solid"/>
          </a:ln>
        </p:spPr>
      </p:sp>
      <p:sp>
        <p:nvSpPr>
          <p:cNvPr id="20" name="Text 15"/>
          <p:cNvSpPr/>
          <p:nvPr/>
        </p:nvSpPr>
        <p:spPr>
          <a:xfrm>
            <a:off x="475488" y="2916936"/>
            <a:ext cx="402336" cy="274320"/>
          </a:xfrm>
          <a:prstGeom prst="rect">
            <a:avLst/>
          </a:prstGeom>
          <a:noFill/>
          <a:ln/>
        </p:spPr>
        <p:txBody>
          <a:bodyPr wrap="square" lIns="0" tIns="0" rIns="0" bIns="0" rtlCol="0" anchor="ctr"/>
          <a:lstStyle/>
          <a:p>
            <a:pPr marL="0" indent="0" algn="ctr">
              <a:buNone/>
            </a:pPr>
            <a:r>
              <a:rPr lang="en-US" sz="1100" b="1" dirty="0">
                <a:solidFill>
                  <a:srgbClr val="02C39A"/>
                </a:solidFill>
                <a:latin typeface="Calibri" pitchFamily="34" charset="0"/>
                <a:ea typeface="Calibri" pitchFamily="34" charset="-122"/>
                <a:cs typeface="Calibri" pitchFamily="34" charset="-120"/>
              </a:rPr>
              <a:t>03</a:t>
            </a:r>
            <a:endParaRPr lang="en-US" sz="1100" dirty="0"/>
          </a:p>
        </p:txBody>
      </p:sp>
      <p:sp>
        <p:nvSpPr>
          <p:cNvPr id="21" name="Text 16"/>
          <p:cNvSpPr/>
          <p:nvPr/>
        </p:nvSpPr>
        <p:spPr>
          <a:xfrm>
            <a:off x="978408" y="2386584"/>
            <a:ext cx="3456432" cy="777240"/>
          </a:xfrm>
          <a:prstGeom prst="rect">
            <a:avLst/>
          </a:prstGeom>
          <a:noFill/>
          <a:ln/>
        </p:spPr>
        <p:txBody>
          <a:bodyPr wrap="square" rtlCol="0" anchor="ctr"/>
          <a:lstStyle/>
          <a:p>
            <a:pPr marL="0" indent="0">
              <a:buNone/>
            </a:pPr>
            <a:r>
              <a:rPr lang="en-US" sz="1400" b="1" dirty="0">
                <a:solidFill>
                  <a:srgbClr val="1A2744"/>
                </a:solidFill>
                <a:latin typeface="Calibri" pitchFamily="34" charset="0"/>
                <a:ea typeface="Calibri" pitchFamily="34" charset="-122"/>
                <a:cs typeface="Calibri" pitchFamily="34" charset="-120"/>
              </a:rPr>
              <a:t>Git workflow commands (all 9)</a:t>
            </a:r>
            <a:endParaRPr lang="en-US" sz="1400" dirty="0"/>
          </a:p>
        </p:txBody>
      </p:sp>
      <p:sp>
        <p:nvSpPr>
          <p:cNvPr id="22" name="Shape 17"/>
          <p:cNvSpPr/>
          <p:nvPr/>
        </p:nvSpPr>
        <p:spPr>
          <a:xfrm>
            <a:off x="4800600" y="2258568"/>
            <a:ext cx="4160520" cy="111556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23" name="Shape 18"/>
          <p:cNvSpPr/>
          <p:nvPr/>
        </p:nvSpPr>
        <p:spPr>
          <a:xfrm>
            <a:off x="4800600" y="2258568"/>
            <a:ext cx="64008" cy="1115568"/>
          </a:xfrm>
          <a:prstGeom prst="rect">
            <a:avLst/>
          </a:prstGeom>
          <a:solidFill>
            <a:srgbClr val="028090"/>
          </a:solidFill>
          <a:ln w="12700">
            <a:solidFill>
              <a:srgbClr val="028090"/>
            </a:solidFill>
            <a:prstDash val="solid"/>
          </a:ln>
        </p:spPr>
      </p:sp>
      <p:pic>
        <p:nvPicPr>
          <p:cNvPr id="24" name="Image 3" descr="preencoded.png"/>
          <p:cNvPicPr>
            <a:picLocks noChangeAspect="1"/>
          </p:cNvPicPr>
          <p:nvPr/>
        </p:nvPicPr>
        <p:blipFill>
          <a:blip r:embed="rId6"/>
          <a:stretch>
            <a:fillRect/>
          </a:stretch>
        </p:blipFill>
        <p:spPr>
          <a:xfrm>
            <a:off x="4928616" y="2377440"/>
            <a:ext cx="402336" cy="402336"/>
          </a:xfrm>
          <a:prstGeom prst="rect">
            <a:avLst/>
          </a:prstGeom>
        </p:spPr>
      </p:pic>
      <p:sp>
        <p:nvSpPr>
          <p:cNvPr id="25" name="Shape 19"/>
          <p:cNvSpPr/>
          <p:nvPr/>
        </p:nvSpPr>
        <p:spPr>
          <a:xfrm>
            <a:off x="4864608" y="2916936"/>
            <a:ext cx="402336" cy="274320"/>
          </a:xfrm>
          <a:prstGeom prst="rect">
            <a:avLst/>
          </a:prstGeom>
          <a:solidFill>
            <a:srgbClr val="1A2744"/>
          </a:solidFill>
          <a:ln w="12700">
            <a:solidFill>
              <a:srgbClr val="1A2744"/>
            </a:solidFill>
            <a:prstDash val="solid"/>
          </a:ln>
        </p:spPr>
      </p:sp>
      <p:sp>
        <p:nvSpPr>
          <p:cNvPr id="26" name="Text 20"/>
          <p:cNvSpPr/>
          <p:nvPr/>
        </p:nvSpPr>
        <p:spPr>
          <a:xfrm>
            <a:off x="4864608" y="2916936"/>
            <a:ext cx="402336" cy="274320"/>
          </a:xfrm>
          <a:prstGeom prst="rect">
            <a:avLst/>
          </a:prstGeom>
          <a:noFill/>
          <a:ln/>
        </p:spPr>
        <p:txBody>
          <a:bodyPr wrap="square" lIns="0" tIns="0" rIns="0" bIns="0" rtlCol="0" anchor="ctr"/>
          <a:lstStyle/>
          <a:p>
            <a:pPr marL="0" indent="0" algn="ctr">
              <a:buNone/>
            </a:pPr>
            <a:r>
              <a:rPr lang="en-US" sz="1100" b="1" dirty="0">
                <a:solidFill>
                  <a:srgbClr val="02C39A"/>
                </a:solidFill>
                <a:latin typeface="Calibri" pitchFamily="34" charset="0"/>
                <a:ea typeface="Calibri" pitchFamily="34" charset="-122"/>
                <a:cs typeface="Calibri" pitchFamily="34" charset="-120"/>
              </a:rPr>
              <a:t>04</a:t>
            </a:r>
            <a:endParaRPr lang="en-US" sz="1100" dirty="0"/>
          </a:p>
        </p:txBody>
      </p:sp>
      <p:sp>
        <p:nvSpPr>
          <p:cNvPr id="27" name="Text 21"/>
          <p:cNvSpPr/>
          <p:nvPr/>
        </p:nvSpPr>
        <p:spPr>
          <a:xfrm>
            <a:off x="5367528" y="2386584"/>
            <a:ext cx="3456432" cy="777240"/>
          </a:xfrm>
          <a:prstGeom prst="rect">
            <a:avLst/>
          </a:prstGeom>
          <a:noFill/>
          <a:ln/>
        </p:spPr>
        <p:txBody>
          <a:bodyPr wrap="square" rtlCol="0" anchor="ctr"/>
          <a:lstStyle/>
          <a:p>
            <a:pPr marL="0" indent="0">
              <a:buNone/>
            </a:pPr>
            <a:r>
              <a:rPr lang="en-US" sz="1400" b="1" dirty="0">
                <a:solidFill>
                  <a:srgbClr val="1A2744"/>
                </a:solidFill>
                <a:latin typeface="Calibri" pitchFamily="34" charset="0"/>
                <a:ea typeface="Calibri" pitchFamily="34" charset="-122"/>
                <a:cs typeface="Calibri" pitchFamily="34" charset="-120"/>
              </a:rPr>
              <a:t>What is Azure DevOps?</a:t>
            </a:r>
            <a:endParaRPr lang="en-US" sz="1400" dirty="0"/>
          </a:p>
        </p:txBody>
      </p:sp>
      <p:sp>
        <p:nvSpPr>
          <p:cNvPr id="28" name="Shape 22"/>
          <p:cNvSpPr/>
          <p:nvPr/>
        </p:nvSpPr>
        <p:spPr>
          <a:xfrm>
            <a:off x="411480" y="3557016"/>
            <a:ext cx="4160520" cy="111556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29" name="Shape 23"/>
          <p:cNvSpPr/>
          <p:nvPr/>
        </p:nvSpPr>
        <p:spPr>
          <a:xfrm>
            <a:off x="411480" y="3557016"/>
            <a:ext cx="64008" cy="1115568"/>
          </a:xfrm>
          <a:prstGeom prst="rect">
            <a:avLst/>
          </a:prstGeom>
          <a:solidFill>
            <a:srgbClr val="028090"/>
          </a:solidFill>
          <a:ln w="12700">
            <a:solidFill>
              <a:srgbClr val="028090"/>
            </a:solidFill>
            <a:prstDash val="solid"/>
          </a:ln>
        </p:spPr>
      </p:sp>
      <p:pic>
        <p:nvPicPr>
          <p:cNvPr id="30" name="Image 4" descr="preencoded.png"/>
          <p:cNvPicPr>
            <a:picLocks noChangeAspect="1"/>
          </p:cNvPicPr>
          <p:nvPr/>
        </p:nvPicPr>
        <p:blipFill>
          <a:blip r:embed="rId7"/>
          <a:stretch>
            <a:fillRect/>
          </a:stretch>
        </p:blipFill>
        <p:spPr>
          <a:xfrm>
            <a:off x="539496" y="3675888"/>
            <a:ext cx="402336" cy="402336"/>
          </a:xfrm>
          <a:prstGeom prst="rect">
            <a:avLst/>
          </a:prstGeom>
        </p:spPr>
      </p:pic>
      <p:sp>
        <p:nvSpPr>
          <p:cNvPr id="31" name="Shape 24"/>
          <p:cNvSpPr/>
          <p:nvPr/>
        </p:nvSpPr>
        <p:spPr>
          <a:xfrm>
            <a:off x="475488" y="4215384"/>
            <a:ext cx="402336" cy="274320"/>
          </a:xfrm>
          <a:prstGeom prst="rect">
            <a:avLst/>
          </a:prstGeom>
          <a:solidFill>
            <a:srgbClr val="1A2744"/>
          </a:solidFill>
          <a:ln w="12700">
            <a:solidFill>
              <a:srgbClr val="1A2744"/>
            </a:solidFill>
            <a:prstDash val="solid"/>
          </a:ln>
        </p:spPr>
      </p:sp>
      <p:sp>
        <p:nvSpPr>
          <p:cNvPr id="32" name="Text 25"/>
          <p:cNvSpPr/>
          <p:nvPr/>
        </p:nvSpPr>
        <p:spPr>
          <a:xfrm>
            <a:off x="475488" y="4215384"/>
            <a:ext cx="402336" cy="274320"/>
          </a:xfrm>
          <a:prstGeom prst="rect">
            <a:avLst/>
          </a:prstGeom>
          <a:noFill/>
          <a:ln/>
        </p:spPr>
        <p:txBody>
          <a:bodyPr wrap="square" lIns="0" tIns="0" rIns="0" bIns="0" rtlCol="0" anchor="ctr"/>
          <a:lstStyle/>
          <a:p>
            <a:pPr marL="0" indent="0" algn="ctr">
              <a:buNone/>
            </a:pPr>
            <a:r>
              <a:rPr lang="en-US" sz="1100" b="1" dirty="0">
                <a:solidFill>
                  <a:srgbClr val="02C39A"/>
                </a:solidFill>
                <a:latin typeface="Calibri" pitchFamily="34" charset="0"/>
                <a:ea typeface="Calibri" pitchFamily="34" charset="-122"/>
                <a:cs typeface="Calibri" pitchFamily="34" charset="-120"/>
              </a:rPr>
              <a:t>05</a:t>
            </a:r>
            <a:endParaRPr lang="en-US" sz="1100" dirty="0"/>
          </a:p>
        </p:txBody>
      </p:sp>
      <p:sp>
        <p:nvSpPr>
          <p:cNvPr id="33" name="Text 26"/>
          <p:cNvSpPr/>
          <p:nvPr/>
        </p:nvSpPr>
        <p:spPr>
          <a:xfrm>
            <a:off x="978408" y="3685032"/>
            <a:ext cx="3456432" cy="777240"/>
          </a:xfrm>
          <a:prstGeom prst="rect">
            <a:avLst/>
          </a:prstGeom>
          <a:noFill/>
          <a:ln/>
        </p:spPr>
        <p:txBody>
          <a:bodyPr wrap="square" rtlCol="0" anchor="ctr"/>
          <a:lstStyle/>
          <a:p>
            <a:pPr marL="0" indent="0">
              <a:buNone/>
            </a:pPr>
            <a:r>
              <a:rPr lang="en-US" sz="1400" b="1" dirty="0">
                <a:solidFill>
                  <a:srgbClr val="1A2744"/>
                </a:solidFill>
                <a:latin typeface="Calibri" pitchFamily="34" charset="0"/>
                <a:ea typeface="Calibri" pitchFamily="34" charset="-122"/>
                <a:cs typeface="Calibri" pitchFamily="34" charset="-120"/>
              </a:rPr>
              <a:t>GitHub vs Azure Repos vs Local Git</a:t>
            </a:r>
            <a:endParaRPr lang="en-US" sz="1400" dirty="0"/>
          </a:p>
        </p:txBody>
      </p:sp>
      <p:sp>
        <p:nvSpPr>
          <p:cNvPr id="34" name="Shape 27"/>
          <p:cNvSpPr/>
          <p:nvPr/>
        </p:nvSpPr>
        <p:spPr>
          <a:xfrm>
            <a:off x="4800600" y="3557016"/>
            <a:ext cx="4160520" cy="111556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35" name="Shape 28"/>
          <p:cNvSpPr/>
          <p:nvPr/>
        </p:nvSpPr>
        <p:spPr>
          <a:xfrm>
            <a:off x="4800600" y="3557016"/>
            <a:ext cx="64008" cy="1115568"/>
          </a:xfrm>
          <a:prstGeom prst="rect">
            <a:avLst/>
          </a:prstGeom>
          <a:solidFill>
            <a:srgbClr val="028090"/>
          </a:solidFill>
          <a:ln w="12700">
            <a:solidFill>
              <a:srgbClr val="028090"/>
            </a:solidFill>
            <a:prstDash val="solid"/>
          </a:ln>
        </p:spPr>
      </p:sp>
      <p:pic>
        <p:nvPicPr>
          <p:cNvPr id="36" name="Image 5" descr="preencoded.png"/>
          <p:cNvPicPr>
            <a:picLocks noChangeAspect="1"/>
          </p:cNvPicPr>
          <p:nvPr/>
        </p:nvPicPr>
        <p:blipFill>
          <a:blip r:embed="rId8"/>
          <a:stretch>
            <a:fillRect/>
          </a:stretch>
        </p:blipFill>
        <p:spPr>
          <a:xfrm>
            <a:off x="4928616" y="3675888"/>
            <a:ext cx="402336" cy="402336"/>
          </a:xfrm>
          <a:prstGeom prst="rect">
            <a:avLst/>
          </a:prstGeom>
        </p:spPr>
      </p:pic>
      <p:sp>
        <p:nvSpPr>
          <p:cNvPr id="37" name="Shape 29"/>
          <p:cNvSpPr/>
          <p:nvPr/>
        </p:nvSpPr>
        <p:spPr>
          <a:xfrm>
            <a:off x="4864608" y="4215384"/>
            <a:ext cx="402336" cy="274320"/>
          </a:xfrm>
          <a:prstGeom prst="rect">
            <a:avLst/>
          </a:prstGeom>
          <a:solidFill>
            <a:srgbClr val="1A2744"/>
          </a:solidFill>
          <a:ln w="12700">
            <a:solidFill>
              <a:srgbClr val="1A2744"/>
            </a:solidFill>
            <a:prstDash val="solid"/>
          </a:ln>
        </p:spPr>
      </p:sp>
      <p:sp>
        <p:nvSpPr>
          <p:cNvPr id="38" name="Text 30"/>
          <p:cNvSpPr/>
          <p:nvPr/>
        </p:nvSpPr>
        <p:spPr>
          <a:xfrm>
            <a:off x="4864608" y="4215384"/>
            <a:ext cx="402336" cy="274320"/>
          </a:xfrm>
          <a:prstGeom prst="rect">
            <a:avLst/>
          </a:prstGeom>
          <a:noFill/>
          <a:ln/>
        </p:spPr>
        <p:txBody>
          <a:bodyPr wrap="square" lIns="0" tIns="0" rIns="0" bIns="0" rtlCol="0" anchor="ctr"/>
          <a:lstStyle/>
          <a:p>
            <a:pPr marL="0" indent="0" algn="ctr">
              <a:buNone/>
            </a:pPr>
            <a:r>
              <a:rPr lang="en-US" sz="1100" b="1" dirty="0">
                <a:solidFill>
                  <a:srgbClr val="02C39A"/>
                </a:solidFill>
                <a:latin typeface="Calibri" pitchFamily="34" charset="0"/>
                <a:ea typeface="Calibri" pitchFamily="34" charset="-122"/>
                <a:cs typeface="Calibri" pitchFamily="34" charset="-120"/>
              </a:rPr>
              <a:t>06</a:t>
            </a:r>
            <a:endParaRPr lang="en-US" sz="1100" dirty="0"/>
          </a:p>
        </p:txBody>
      </p:sp>
      <p:sp>
        <p:nvSpPr>
          <p:cNvPr id="39" name="Text 31"/>
          <p:cNvSpPr/>
          <p:nvPr/>
        </p:nvSpPr>
        <p:spPr>
          <a:xfrm>
            <a:off x="5367528" y="3685032"/>
            <a:ext cx="3456432" cy="777240"/>
          </a:xfrm>
          <a:prstGeom prst="rect">
            <a:avLst/>
          </a:prstGeom>
          <a:noFill/>
          <a:ln/>
        </p:spPr>
        <p:txBody>
          <a:bodyPr wrap="square" rtlCol="0" anchor="ctr"/>
          <a:lstStyle/>
          <a:p>
            <a:pPr marL="0" indent="0">
              <a:buNone/>
            </a:pPr>
            <a:r>
              <a:rPr lang="en-US" sz="1400" b="1" dirty="0">
                <a:solidFill>
                  <a:srgbClr val="1A2744"/>
                </a:solidFill>
                <a:latin typeface="Calibri" pitchFamily="34" charset="0"/>
                <a:ea typeface="Calibri" pitchFamily="34" charset="-122"/>
                <a:cs typeface="Calibri" pitchFamily="34" charset="-120"/>
              </a:rPr>
              <a:t>Pushing code to Azure — full demo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7132320" y="-1097280"/>
            <a:ext cx="4114800" cy="4114800"/>
          </a:xfrm>
          <a:prstGeom prst="ellipse">
            <a:avLst/>
          </a:prstGeom>
          <a:solidFill>
            <a:srgbClr val="028090">
              <a:alpha val="25000"/>
            </a:srgbClr>
          </a:solidFill>
          <a:ln w="12700">
            <a:solidFill>
              <a:srgbClr val="028090">
                <a:alpha val="25000"/>
              </a:srgbClr>
            </a:solidFill>
            <a:prstDash val="solid"/>
          </a:ln>
        </p:spPr>
      </p:sp>
      <p:sp>
        <p:nvSpPr>
          <p:cNvPr id="3" name="Shape 1"/>
          <p:cNvSpPr/>
          <p:nvPr/>
        </p:nvSpPr>
        <p:spPr>
          <a:xfrm>
            <a:off x="-1371600" y="3200400"/>
            <a:ext cx="3200400" cy="3200400"/>
          </a:xfrm>
          <a:prstGeom prst="ellipse">
            <a:avLst/>
          </a:prstGeom>
          <a:solidFill>
            <a:srgbClr val="02C39A">
              <a:alpha val="20000"/>
            </a:srgbClr>
          </a:solidFill>
          <a:ln w="12700">
            <a:solidFill>
              <a:srgbClr val="02C39A">
                <a:alpha val="20000"/>
              </a:srgbClr>
            </a:solidFill>
            <a:prstDash val="solid"/>
          </a:ln>
        </p:spPr>
      </p:sp>
      <p:sp>
        <p:nvSpPr>
          <p:cNvPr id="4" name="Text 2"/>
          <p:cNvSpPr/>
          <p:nvPr/>
        </p:nvSpPr>
        <p:spPr>
          <a:xfrm>
            <a:off x="548640" y="1463040"/>
            <a:ext cx="8046720" cy="91440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Section 1</a:t>
            </a:r>
            <a:endParaRPr lang="en-US" sz="3800" dirty="0"/>
          </a:p>
        </p:txBody>
      </p:sp>
      <p:sp>
        <p:nvSpPr>
          <p:cNvPr id="5" name="Text 3"/>
          <p:cNvSpPr/>
          <p:nvPr/>
        </p:nvSpPr>
        <p:spPr>
          <a:xfrm>
            <a:off x="548640" y="2468880"/>
            <a:ext cx="8046720" cy="548640"/>
          </a:xfrm>
          <a:prstGeom prst="rect">
            <a:avLst/>
          </a:prstGeom>
          <a:noFill/>
          <a:ln/>
        </p:spPr>
        <p:txBody>
          <a:bodyPr wrap="square" rtlCol="0" anchor="ctr"/>
          <a:lstStyle/>
          <a:p>
            <a:pPr marL="0" indent="0">
              <a:buNone/>
            </a:pPr>
            <a:r>
              <a:rPr lang="en-US" sz="1800" i="1" dirty="0">
                <a:solidFill>
                  <a:srgbClr val="C8DCFC"/>
                </a:solidFill>
                <a:latin typeface="Calibri" pitchFamily="34" charset="0"/>
                <a:ea typeface="Calibri" pitchFamily="34" charset="-122"/>
                <a:cs typeface="Calibri" pitchFamily="34" charset="-120"/>
              </a:rPr>
              <a:t>What is Git &amp; Version Control?</a:t>
            </a:r>
            <a:endParaRPr lang="en-US" sz="1800" dirty="0"/>
          </a:p>
        </p:txBody>
      </p:sp>
      <p:pic>
        <p:nvPicPr>
          <p:cNvPr id="6" name="Image 0" descr="preencoded.png"/>
          <p:cNvPicPr>
            <a:picLocks noChangeAspect="1"/>
          </p:cNvPicPr>
          <p:nvPr/>
        </p:nvPicPr>
        <p:blipFill>
          <a:blip r:embed="rId3"/>
          <a:stretch>
            <a:fillRect/>
          </a:stretch>
        </p:blipFill>
        <p:spPr>
          <a:xfrm>
            <a:off x="7132320" y="1280160"/>
            <a:ext cx="1463040" cy="14630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8FF"/>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30352"/>
          </a:xfrm>
          <a:prstGeom prst="rect">
            <a:avLst/>
          </a:prstGeom>
          <a:noFill/>
          <a:ln/>
        </p:spPr>
        <p:txBody>
          <a:bodyPr wrap="square" lIns="0" tIns="0" rIns="0" bIns="0" rtlCol="0" anchor="ctr"/>
          <a:lstStyle/>
          <a:p>
            <a:pPr marL="0" indent="0">
              <a:buNone/>
            </a:pPr>
            <a:r>
              <a:rPr lang="en-US" sz="2600" b="1" dirty="0">
                <a:solidFill>
                  <a:srgbClr val="1A2744"/>
                </a:solidFill>
                <a:latin typeface="Calibri" pitchFamily="34" charset="0"/>
                <a:ea typeface="Calibri" pitchFamily="34" charset="-122"/>
                <a:cs typeface="Calibri" pitchFamily="34" charset="-120"/>
              </a:rPr>
              <a:t>What is Git?</a:t>
            </a:r>
            <a:endParaRPr lang="en-US" sz="2600" dirty="0"/>
          </a:p>
        </p:txBody>
      </p:sp>
      <p:sp>
        <p:nvSpPr>
          <p:cNvPr id="3" name="Shape 1"/>
          <p:cNvSpPr/>
          <p:nvPr/>
        </p:nvSpPr>
        <p:spPr>
          <a:xfrm>
            <a:off x="411480" y="694944"/>
            <a:ext cx="8321040" cy="27432"/>
          </a:xfrm>
          <a:prstGeom prst="rect">
            <a:avLst/>
          </a:prstGeom>
          <a:solidFill>
            <a:srgbClr val="E4EAF6"/>
          </a:solidFill>
          <a:ln w="12700">
            <a:solidFill>
              <a:srgbClr val="E4EAF6"/>
            </a:solidFill>
            <a:prstDash val="solid"/>
          </a:ln>
        </p:spPr>
      </p:sp>
      <p:sp>
        <p:nvSpPr>
          <p:cNvPr id="4" name="Shape 2"/>
          <p:cNvSpPr/>
          <p:nvPr/>
        </p:nvSpPr>
        <p:spPr>
          <a:xfrm>
            <a:off x="411480" y="850392"/>
            <a:ext cx="8321040" cy="1828800"/>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5" name="Shape 3"/>
          <p:cNvSpPr/>
          <p:nvPr/>
        </p:nvSpPr>
        <p:spPr>
          <a:xfrm>
            <a:off x="411480" y="850392"/>
            <a:ext cx="64008" cy="1828800"/>
          </a:xfrm>
          <a:prstGeom prst="rect">
            <a:avLst/>
          </a:prstGeom>
          <a:solidFill>
            <a:srgbClr val="028090"/>
          </a:solidFill>
          <a:ln w="12700">
            <a:solidFill>
              <a:srgbClr val="028090"/>
            </a:solidFill>
            <a:prstDash val="solid"/>
          </a:ln>
        </p:spPr>
      </p:sp>
      <p:pic>
        <p:nvPicPr>
          <p:cNvPr id="6" name="Image 0" descr="preencoded.png"/>
          <p:cNvPicPr>
            <a:picLocks noChangeAspect="1"/>
          </p:cNvPicPr>
          <p:nvPr/>
        </p:nvPicPr>
        <p:blipFill>
          <a:blip r:embed="rId3"/>
          <a:stretch>
            <a:fillRect/>
          </a:stretch>
        </p:blipFill>
        <p:spPr>
          <a:xfrm>
            <a:off x="566928" y="987552"/>
            <a:ext cx="502920" cy="502920"/>
          </a:xfrm>
          <a:prstGeom prst="rect">
            <a:avLst/>
          </a:prstGeom>
        </p:spPr>
      </p:pic>
      <p:sp>
        <p:nvSpPr>
          <p:cNvPr id="7" name="Text 4"/>
          <p:cNvSpPr/>
          <p:nvPr/>
        </p:nvSpPr>
        <p:spPr>
          <a:xfrm>
            <a:off x="1170432" y="950976"/>
            <a:ext cx="7406640" cy="420624"/>
          </a:xfrm>
          <a:prstGeom prst="rect">
            <a:avLst/>
          </a:prstGeom>
          <a:noFill/>
          <a:ln/>
        </p:spPr>
        <p:txBody>
          <a:bodyPr wrap="square" lIns="0" tIns="0" rIns="0" bIns="0" rtlCol="0" anchor="ctr"/>
          <a:lstStyle/>
          <a:p>
            <a:pPr marL="0" indent="0">
              <a:buNone/>
            </a:pPr>
            <a:r>
              <a:rPr lang="en-US" sz="1700" b="1" dirty="0">
                <a:solidFill>
                  <a:srgbClr val="1A2744"/>
                </a:solidFill>
                <a:latin typeface="Calibri" pitchFamily="34" charset="0"/>
                <a:ea typeface="Calibri" pitchFamily="34" charset="-122"/>
                <a:cs typeface="Calibri" pitchFamily="34" charset="-120"/>
              </a:rPr>
              <a:t>Git is a free, open-source distributed version control system.</a:t>
            </a:r>
            <a:endParaRPr lang="en-US" sz="1700" dirty="0"/>
          </a:p>
        </p:txBody>
      </p:sp>
      <p:sp>
        <p:nvSpPr>
          <p:cNvPr id="8" name="Text 5"/>
          <p:cNvSpPr/>
          <p:nvPr/>
        </p:nvSpPr>
        <p:spPr>
          <a:xfrm>
            <a:off x="566928" y="1444752"/>
            <a:ext cx="7973568" cy="1115568"/>
          </a:xfrm>
          <a:prstGeom prst="rect">
            <a:avLst/>
          </a:prstGeom>
          <a:noFill/>
          <a:ln/>
        </p:spPr>
        <p:txBody>
          <a:bodyPr wrap="square" rtlCol="0" anchor="ctr"/>
          <a:lstStyle/>
          <a:p>
            <a:pPr marL="0" indent="0">
              <a:buNone/>
            </a:pPr>
            <a:r>
              <a:rPr lang="en-US" sz="1300" dirty="0">
                <a:solidFill>
                  <a:srgbClr val="5A6A8A"/>
                </a:solidFill>
                <a:latin typeface="Calibri" pitchFamily="34" charset="0"/>
                <a:ea typeface="Calibri" pitchFamily="34" charset="-122"/>
                <a:cs typeface="Calibri" pitchFamily="34" charset="-120"/>
              </a:rPr>
              <a:t>It was created by Linus Torvalds in 2005 — the same person who created the Linux operating system. Git tracks every change made to every file in your project over time. It records what changed, who changed it, and when. This means you can go back to any previous version of your project at any point.</a:t>
            </a:r>
            <a:endParaRPr lang="en-US" sz="1300" dirty="0"/>
          </a:p>
        </p:txBody>
      </p:sp>
      <p:sp>
        <p:nvSpPr>
          <p:cNvPr id="9" name="Shape 6"/>
          <p:cNvSpPr/>
          <p:nvPr/>
        </p:nvSpPr>
        <p:spPr>
          <a:xfrm>
            <a:off x="411480" y="2816352"/>
            <a:ext cx="2651760" cy="1993392"/>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0" name="Shape 7"/>
          <p:cNvSpPr/>
          <p:nvPr/>
        </p:nvSpPr>
        <p:spPr>
          <a:xfrm>
            <a:off x="411480" y="2816352"/>
            <a:ext cx="64008" cy="1993392"/>
          </a:xfrm>
          <a:prstGeom prst="rect">
            <a:avLst/>
          </a:prstGeom>
          <a:solidFill>
            <a:srgbClr val="02C39A"/>
          </a:solidFill>
          <a:ln w="12700">
            <a:solidFill>
              <a:srgbClr val="02C39A"/>
            </a:solidFill>
            <a:prstDash val="solid"/>
          </a:ln>
        </p:spPr>
      </p:sp>
      <p:pic>
        <p:nvPicPr>
          <p:cNvPr id="11" name="Image 1" descr="preencoded.png"/>
          <p:cNvPicPr>
            <a:picLocks noChangeAspect="1"/>
          </p:cNvPicPr>
          <p:nvPr/>
        </p:nvPicPr>
        <p:blipFill>
          <a:blip r:embed="rId4"/>
          <a:stretch>
            <a:fillRect/>
          </a:stretch>
        </p:blipFill>
        <p:spPr>
          <a:xfrm>
            <a:off x="539496" y="2944368"/>
            <a:ext cx="384048" cy="384048"/>
          </a:xfrm>
          <a:prstGeom prst="rect">
            <a:avLst/>
          </a:prstGeom>
        </p:spPr>
      </p:pic>
      <p:sp>
        <p:nvSpPr>
          <p:cNvPr id="12" name="Text 8"/>
          <p:cNvSpPr/>
          <p:nvPr/>
        </p:nvSpPr>
        <p:spPr>
          <a:xfrm>
            <a:off x="1014984" y="2907792"/>
            <a:ext cx="1920240" cy="384048"/>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Free &amp; Open Source</a:t>
            </a:r>
            <a:endParaRPr lang="en-US" sz="1300" dirty="0"/>
          </a:p>
        </p:txBody>
      </p:sp>
      <p:sp>
        <p:nvSpPr>
          <p:cNvPr id="13" name="Text 9"/>
          <p:cNvSpPr/>
          <p:nvPr/>
        </p:nvSpPr>
        <p:spPr>
          <a:xfrm>
            <a:off x="539496" y="3383280"/>
            <a:ext cx="2395728" cy="1298448"/>
          </a:xfrm>
          <a:prstGeom prst="rect">
            <a:avLst/>
          </a:prstGeom>
          <a:noFill/>
          <a:ln/>
        </p:spPr>
        <p:txBody>
          <a:bodyPr wrap="square" rtlCol="0" anchor="ctr"/>
          <a:lstStyle/>
          <a:p>
            <a:pPr marL="0" indent="0">
              <a:buNone/>
            </a:pPr>
            <a:r>
              <a:rPr lang="en-US" sz="1200" dirty="0">
                <a:solidFill>
                  <a:srgbClr val="5A6A8A"/>
                </a:solidFill>
                <a:latin typeface="Calibri" pitchFamily="34" charset="0"/>
                <a:ea typeface="Calibri" pitchFamily="34" charset="-122"/>
                <a:cs typeface="Calibri" pitchFamily="34" charset="-120"/>
              </a:rPr>
              <a:t>Git costs nothing to use and the source code is publicly available. It runs on Windows, Mac, and Linux.</a:t>
            </a:r>
            <a:endParaRPr lang="en-US" sz="1200" dirty="0"/>
          </a:p>
        </p:txBody>
      </p:sp>
      <p:sp>
        <p:nvSpPr>
          <p:cNvPr id="14" name="Shape 10"/>
          <p:cNvSpPr/>
          <p:nvPr/>
        </p:nvSpPr>
        <p:spPr>
          <a:xfrm>
            <a:off x="3246120" y="2816352"/>
            <a:ext cx="2651760" cy="1993392"/>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txBody>
          <a:bodyPr/>
          <a:lstStyle/>
          <a:p>
            <a:endParaRPr lang="en-US" dirty="0"/>
          </a:p>
        </p:txBody>
      </p:sp>
      <p:sp>
        <p:nvSpPr>
          <p:cNvPr id="15" name="Shape 11"/>
          <p:cNvSpPr/>
          <p:nvPr/>
        </p:nvSpPr>
        <p:spPr>
          <a:xfrm>
            <a:off x="3246120" y="2816352"/>
            <a:ext cx="64008" cy="1993392"/>
          </a:xfrm>
          <a:prstGeom prst="rect">
            <a:avLst/>
          </a:prstGeom>
          <a:solidFill>
            <a:srgbClr val="02C39A"/>
          </a:solidFill>
          <a:ln w="12700">
            <a:solidFill>
              <a:srgbClr val="02C39A"/>
            </a:solidFill>
            <a:prstDash val="solid"/>
          </a:ln>
        </p:spPr>
      </p:sp>
      <p:pic>
        <p:nvPicPr>
          <p:cNvPr id="16" name="Image 2" descr="preencoded.png"/>
          <p:cNvPicPr>
            <a:picLocks noChangeAspect="1"/>
          </p:cNvPicPr>
          <p:nvPr/>
        </p:nvPicPr>
        <p:blipFill>
          <a:blip r:embed="rId5"/>
          <a:stretch>
            <a:fillRect/>
          </a:stretch>
        </p:blipFill>
        <p:spPr>
          <a:xfrm>
            <a:off x="3374136" y="2944368"/>
            <a:ext cx="384048" cy="384048"/>
          </a:xfrm>
          <a:prstGeom prst="rect">
            <a:avLst/>
          </a:prstGeom>
        </p:spPr>
      </p:pic>
      <p:sp>
        <p:nvSpPr>
          <p:cNvPr id="17" name="Text 12"/>
          <p:cNvSpPr/>
          <p:nvPr/>
        </p:nvSpPr>
        <p:spPr>
          <a:xfrm>
            <a:off x="3849624" y="2907792"/>
            <a:ext cx="1920240" cy="384048"/>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Built for Teams</a:t>
            </a:r>
            <a:endParaRPr lang="en-US" sz="1300" dirty="0"/>
          </a:p>
        </p:txBody>
      </p:sp>
      <p:sp>
        <p:nvSpPr>
          <p:cNvPr id="18" name="Text 13"/>
          <p:cNvSpPr/>
          <p:nvPr/>
        </p:nvSpPr>
        <p:spPr>
          <a:xfrm>
            <a:off x="3374136" y="3383280"/>
            <a:ext cx="2395728" cy="1298448"/>
          </a:xfrm>
          <a:prstGeom prst="rect">
            <a:avLst/>
          </a:prstGeom>
          <a:noFill/>
          <a:ln/>
        </p:spPr>
        <p:txBody>
          <a:bodyPr wrap="square" rtlCol="0" anchor="ctr"/>
          <a:lstStyle/>
          <a:p>
            <a:pPr marL="0" indent="0">
              <a:buNone/>
            </a:pPr>
            <a:r>
              <a:rPr lang="en-US" sz="1200" dirty="0">
                <a:solidFill>
                  <a:srgbClr val="5A6A8A"/>
                </a:solidFill>
                <a:latin typeface="Calibri" pitchFamily="34" charset="0"/>
                <a:ea typeface="Calibri" pitchFamily="34" charset="-122"/>
                <a:cs typeface="Calibri" pitchFamily="34" charset="-120"/>
              </a:rPr>
              <a:t>Designed from the start for multiple developers to work on the same project simultaneously without conflict.</a:t>
            </a:r>
            <a:endParaRPr lang="en-US" sz="1200" dirty="0"/>
          </a:p>
        </p:txBody>
      </p:sp>
      <p:sp>
        <p:nvSpPr>
          <p:cNvPr id="19" name="Shape 14"/>
          <p:cNvSpPr/>
          <p:nvPr/>
        </p:nvSpPr>
        <p:spPr>
          <a:xfrm>
            <a:off x="6080760" y="2816352"/>
            <a:ext cx="2651760" cy="1993392"/>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20" name="Shape 15"/>
          <p:cNvSpPr/>
          <p:nvPr/>
        </p:nvSpPr>
        <p:spPr>
          <a:xfrm>
            <a:off x="6080760" y="2816352"/>
            <a:ext cx="64008" cy="1993392"/>
          </a:xfrm>
          <a:prstGeom prst="rect">
            <a:avLst/>
          </a:prstGeom>
          <a:solidFill>
            <a:srgbClr val="02C39A"/>
          </a:solidFill>
          <a:ln w="12700">
            <a:solidFill>
              <a:srgbClr val="02C39A"/>
            </a:solidFill>
            <a:prstDash val="solid"/>
          </a:ln>
        </p:spPr>
      </p:sp>
      <p:pic>
        <p:nvPicPr>
          <p:cNvPr id="21" name="Image 3" descr="preencoded.png"/>
          <p:cNvPicPr>
            <a:picLocks noChangeAspect="1"/>
          </p:cNvPicPr>
          <p:nvPr/>
        </p:nvPicPr>
        <p:blipFill>
          <a:blip r:embed="rId6"/>
          <a:stretch>
            <a:fillRect/>
          </a:stretch>
        </p:blipFill>
        <p:spPr>
          <a:xfrm>
            <a:off x="6208776" y="2944368"/>
            <a:ext cx="384048" cy="384048"/>
          </a:xfrm>
          <a:prstGeom prst="rect">
            <a:avLst/>
          </a:prstGeom>
        </p:spPr>
      </p:pic>
      <p:sp>
        <p:nvSpPr>
          <p:cNvPr id="22" name="Text 16"/>
          <p:cNvSpPr/>
          <p:nvPr/>
        </p:nvSpPr>
        <p:spPr>
          <a:xfrm>
            <a:off x="6684264" y="2907792"/>
            <a:ext cx="1920240" cy="384048"/>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Full History Forever</a:t>
            </a:r>
            <a:endParaRPr lang="en-US" sz="1300" dirty="0"/>
          </a:p>
        </p:txBody>
      </p:sp>
      <p:sp>
        <p:nvSpPr>
          <p:cNvPr id="23" name="Text 17"/>
          <p:cNvSpPr/>
          <p:nvPr/>
        </p:nvSpPr>
        <p:spPr>
          <a:xfrm>
            <a:off x="6208776" y="3383280"/>
            <a:ext cx="2395728" cy="1298448"/>
          </a:xfrm>
          <a:prstGeom prst="rect">
            <a:avLst/>
          </a:prstGeom>
          <a:noFill/>
          <a:ln/>
        </p:spPr>
        <p:txBody>
          <a:bodyPr wrap="square" rtlCol="0" anchor="ctr"/>
          <a:lstStyle/>
          <a:p>
            <a:pPr marL="0" indent="0">
              <a:buNone/>
            </a:pPr>
            <a:r>
              <a:rPr lang="en-US" sz="1200" dirty="0">
                <a:solidFill>
                  <a:srgbClr val="5A6A8A"/>
                </a:solidFill>
                <a:latin typeface="Calibri" pitchFamily="34" charset="0"/>
                <a:ea typeface="Calibri" pitchFamily="34" charset="-122"/>
                <a:cs typeface="Calibri" pitchFamily="34" charset="-120"/>
              </a:rPr>
              <a:t>Every version of every file is permanently stored. Nothing is ever truly deleted — you can always recover previous work.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8FF"/>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30352"/>
          </a:xfrm>
          <a:prstGeom prst="rect">
            <a:avLst/>
          </a:prstGeom>
          <a:noFill/>
          <a:ln/>
        </p:spPr>
        <p:txBody>
          <a:bodyPr wrap="square" lIns="0" tIns="0" rIns="0" bIns="0" rtlCol="0" anchor="ctr"/>
          <a:lstStyle/>
          <a:p>
            <a:pPr marL="0" indent="0">
              <a:buNone/>
            </a:pPr>
            <a:r>
              <a:rPr lang="en-US" sz="2600" b="1" dirty="0">
                <a:solidFill>
                  <a:srgbClr val="1A2744"/>
                </a:solidFill>
                <a:latin typeface="Calibri" pitchFamily="34" charset="0"/>
                <a:ea typeface="Calibri" pitchFamily="34" charset="-122"/>
                <a:cs typeface="Calibri" pitchFamily="34" charset="-120"/>
              </a:rPr>
              <a:t>The Problem Git Solves</a:t>
            </a:r>
            <a:endParaRPr lang="en-US" sz="2600" dirty="0"/>
          </a:p>
        </p:txBody>
      </p:sp>
      <p:sp>
        <p:nvSpPr>
          <p:cNvPr id="3" name="Shape 1"/>
          <p:cNvSpPr/>
          <p:nvPr/>
        </p:nvSpPr>
        <p:spPr>
          <a:xfrm>
            <a:off x="411480" y="694944"/>
            <a:ext cx="8321040" cy="27432"/>
          </a:xfrm>
          <a:prstGeom prst="rect">
            <a:avLst/>
          </a:prstGeom>
          <a:solidFill>
            <a:srgbClr val="E4EAF6"/>
          </a:solidFill>
          <a:ln w="12700">
            <a:solidFill>
              <a:srgbClr val="E4EAF6"/>
            </a:solidFill>
            <a:prstDash val="solid"/>
          </a:ln>
        </p:spPr>
      </p:sp>
      <p:sp>
        <p:nvSpPr>
          <p:cNvPr id="4" name="Shape 2"/>
          <p:cNvSpPr/>
          <p:nvPr/>
        </p:nvSpPr>
        <p:spPr>
          <a:xfrm>
            <a:off x="411480" y="868680"/>
            <a:ext cx="3977640" cy="3520440"/>
          </a:xfrm>
          <a:prstGeom prst="rect">
            <a:avLst/>
          </a:prstGeom>
          <a:solidFill>
            <a:srgbClr val="FFF0F0"/>
          </a:solidFill>
          <a:ln w="12700">
            <a:solidFill>
              <a:srgbClr val="E05555"/>
            </a:solidFill>
            <a:prstDash val="solid"/>
          </a:ln>
          <a:effectLst>
            <a:outerShdw blurRad="101600" dist="38100" dir="8100000" algn="bl" rotWithShape="0">
              <a:srgbClr val="000000">
                <a:alpha val="12000"/>
              </a:srgbClr>
            </a:outerShdw>
          </a:effectLst>
        </p:spPr>
      </p:sp>
      <p:sp>
        <p:nvSpPr>
          <p:cNvPr id="5" name="Shape 3"/>
          <p:cNvSpPr/>
          <p:nvPr/>
        </p:nvSpPr>
        <p:spPr>
          <a:xfrm>
            <a:off x="411480" y="868680"/>
            <a:ext cx="3977640" cy="402336"/>
          </a:xfrm>
          <a:prstGeom prst="rect">
            <a:avLst/>
          </a:prstGeom>
          <a:solidFill>
            <a:srgbClr val="E05555"/>
          </a:solidFill>
          <a:ln w="12700">
            <a:solidFill>
              <a:srgbClr val="E05555"/>
            </a:solidFill>
            <a:prstDash val="solid"/>
          </a:ln>
        </p:spPr>
      </p:sp>
      <p:pic>
        <p:nvPicPr>
          <p:cNvPr id="6" name="Image 0" descr="preencoded.png"/>
          <p:cNvPicPr>
            <a:picLocks noChangeAspect="1"/>
          </p:cNvPicPr>
          <p:nvPr/>
        </p:nvPicPr>
        <p:blipFill>
          <a:blip r:embed="rId3"/>
          <a:stretch>
            <a:fillRect/>
          </a:stretch>
        </p:blipFill>
        <p:spPr>
          <a:xfrm>
            <a:off x="502920" y="914400"/>
            <a:ext cx="292608" cy="292608"/>
          </a:xfrm>
          <a:prstGeom prst="rect">
            <a:avLst/>
          </a:prstGeom>
        </p:spPr>
      </p:pic>
      <p:sp>
        <p:nvSpPr>
          <p:cNvPr id="7" name="Text 4"/>
          <p:cNvSpPr/>
          <p:nvPr/>
        </p:nvSpPr>
        <p:spPr>
          <a:xfrm>
            <a:off x="841248" y="896112"/>
            <a:ext cx="3456432"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Without Git — The Old Way</a:t>
            </a:r>
            <a:endParaRPr lang="en-US" sz="1300" dirty="0"/>
          </a:p>
        </p:txBody>
      </p:sp>
      <p:sp>
        <p:nvSpPr>
          <p:cNvPr id="8" name="Text 5"/>
          <p:cNvSpPr/>
          <p:nvPr/>
        </p:nvSpPr>
        <p:spPr>
          <a:xfrm>
            <a:off x="530352" y="1371600"/>
            <a:ext cx="3749040" cy="2834640"/>
          </a:xfrm>
          <a:prstGeom prst="rect">
            <a:avLst/>
          </a:prstGeom>
          <a:noFill/>
          <a:ln/>
        </p:spPr>
        <p:txBody>
          <a:bodyPr wrap="square" rtlCol="0" anchor="t"/>
          <a:lstStyle/>
          <a:p>
            <a:pPr marL="0" indent="0">
              <a:buNone/>
            </a:pPr>
            <a:r>
              <a:rPr lang="en-US" sz="1300" dirty="0">
                <a:solidFill>
                  <a:srgbClr val="3A3A3A"/>
                </a:solidFill>
                <a:latin typeface="Calibri" pitchFamily="34" charset="0"/>
                <a:ea typeface="Calibri" pitchFamily="34" charset="-122"/>
                <a:cs typeface="Calibri" pitchFamily="34" charset="-120"/>
              </a:rPr>
              <a:t>•  Dev A edits login.js and saves</a:t>
            </a:r>
            <a:endParaRPr lang="en-US" sz="1300" dirty="0"/>
          </a:p>
          <a:p>
            <a:pPr marL="0" indent="0">
              <a:buNone/>
            </a:pPr>
            <a:r>
              <a:rPr lang="en-US" sz="1300" dirty="0">
                <a:solidFill>
                  <a:srgbClr val="3A3A3A"/>
                </a:solidFill>
                <a:latin typeface="Calibri" pitchFamily="34" charset="0"/>
                <a:ea typeface="Calibri" pitchFamily="34" charset="-122"/>
                <a:cs typeface="Calibri" pitchFamily="34" charset="-120"/>
              </a:rPr>
              <a:t>•  Dev B also edits login.js and saves</a:t>
            </a:r>
            <a:endParaRPr lang="en-US" sz="1300" dirty="0"/>
          </a:p>
          <a:p>
            <a:pPr marL="0" indent="0">
              <a:buNone/>
            </a:pPr>
            <a:r>
              <a:rPr lang="en-US" sz="1300" b="1" dirty="0">
                <a:solidFill>
                  <a:srgbClr val="E05555"/>
                </a:solidFill>
                <a:latin typeface="Calibri" pitchFamily="34" charset="0"/>
                <a:ea typeface="Calibri" pitchFamily="34" charset="-122"/>
                <a:cs typeface="Calibri" pitchFamily="34" charset="-120"/>
              </a:rPr>
              <a:t>❌  Dev A's 3 hours of work is GONE</a:t>
            </a:r>
            <a:endParaRPr lang="en-US" sz="1300" dirty="0"/>
          </a:p>
          <a:p>
            <a:pPr marL="0" indent="0">
              <a:buNone/>
            </a:pPr>
            <a:r>
              <a:rPr lang="en-US" sz="1300" dirty="0">
                <a:solidFill>
                  <a:srgbClr val="3A3A3A"/>
                </a:solidFill>
                <a:latin typeface="Calibri" pitchFamily="34" charset="0"/>
                <a:ea typeface="Calibri" pitchFamily="34" charset="-122"/>
                <a:cs typeface="Calibri" pitchFamily="34" charset="-120"/>
              </a:rPr>
              <a:t>•  No way to know what changed</a:t>
            </a:r>
            <a:endParaRPr lang="en-US" sz="1300" dirty="0"/>
          </a:p>
          <a:p>
            <a:pPr marL="0" indent="0">
              <a:buNone/>
            </a:pPr>
            <a:r>
              <a:rPr lang="en-US" sz="1300" dirty="0">
                <a:solidFill>
                  <a:srgbClr val="3A3A3A"/>
                </a:solidFill>
                <a:latin typeface="Calibri" pitchFamily="34" charset="0"/>
                <a:ea typeface="Calibri" pitchFamily="34" charset="-122"/>
                <a:cs typeface="Calibri" pitchFamily="34" charset="-120"/>
              </a:rPr>
              <a:t>•  No safe way to test new ideas</a:t>
            </a:r>
            <a:endParaRPr lang="en-US" sz="1300" dirty="0"/>
          </a:p>
          <a:p>
            <a:pPr marL="0" indent="0">
              <a:buNone/>
            </a:pPr>
            <a:r>
              <a:rPr lang="en-US" sz="1300" dirty="0">
                <a:solidFill>
                  <a:srgbClr val="3A3A3A"/>
                </a:solidFill>
                <a:latin typeface="Calibri" pitchFamily="34" charset="0"/>
                <a:ea typeface="Calibri" pitchFamily="34" charset="-122"/>
                <a:cs typeface="Calibri" pitchFamily="34" charset="-120"/>
              </a:rPr>
              <a:t>•  One mistake can break everything</a:t>
            </a:r>
            <a:endParaRPr lang="en-US" sz="1300" dirty="0"/>
          </a:p>
        </p:txBody>
      </p:sp>
      <p:sp>
        <p:nvSpPr>
          <p:cNvPr id="9" name="Shape 6"/>
          <p:cNvSpPr/>
          <p:nvPr/>
        </p:nvSpPr>
        <p:spPr>
          <a:xfrm>
            <a:off x="4754880" y="868680"/>
            <a:ext cx="3977640" cy="3520440"/>
          </a:xfrm>
          <a:prstGeom prst="rect">
            <a:avLst/>
          </a:prstGeom>
          <a:solidFill>
            <a:srgbClr val="F0FBF4"/>
          </a:solidFill>
          <a:ln w="12700">
            <a:solidFill>
              <a:srgbClr val="02C39A"/>
            </a:solidFill>
            <a:prstDash val="solid"/>
          </a:ln>
          <a:effectLst>
            <a:outerShdw blurRad="101600" dist="38100" dir="8100000" algn="bl" rotWithShape="0">
              <a:srgbClr val="000000">
                <a:alpha val="12000"/>
              </a:srgbClr>
            </a:outerShdw>
          </a:effectLst>
        </p:spPr>
      </p:sp>
      <p:sp>
        <p:nvSpPr>
          <p:cNvPr id="10" name="Shape 7"/>
          <p:cNvSpPr/>
          <p:nvPr/>
        </p:nvSpPr>
        <p:spPr>
          <a:xfrm>
            <a:off x="4754880" y="868680"/>
            <a:ext cx="3977640" cy="402336"/>
          </a:xfrm>
          <a:prstGeom prst="rect">
            <a:avLst/>
          </a:prstGeom>
          <a:solidFill>
            <a:srgbClr val="028A5B"/>
          </a:solidFill>
          <a:ln w="12700">
            <a:solidFill>
              <a:srgbClr val="028A5B"/>
            </a:solidFill>
            <a:prstDash val="solid"/>
          </a:ln>
        </p:spPr>
      </p:sp>
      <p:pic>
        <p:nvPicPr>
          <p:cNvPr id="11" name="Image 1" descr="preencoded.png"/>
          <p:cNvPicPr>
            <a:picLocks noChangeAspect="1"/>
          </p:cNvPicPr>
          <p:nvPr/>
        </p:nvPicPr>
        <p:blipFill>
          <a:blip r:embed="rId4"/>
          <a:stretch>
            <a:fillRect/>
          </a:stretch>
        </p:blipFill>
        <p:spPr>
          <a:xfrm>
            <a:off x="4846320" y="914400"/>
            <a:ext cx="292608" cy="292608"/>
          </a:xfrm>
          <a:prstGeom prst="rect">
            <a:avLst/>
          </a:prstGeom>
        </p:spPr>
      </p:pic>
      <p:sp>
        <p:nvSpPr>
          <p:cNvPr id="12" name="Text 8"/>
          <p:cNvSpPr/>
          <p:nvPr/>
        </p:nvSpPr>
        <p:spPr>
          <a:xfrm>
            <a:off x="5184648" y="896112"/>
            <a:ext cx="3456432"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With Git — The Right Way</a:t>
            </a:r>
            <a:endParaRPr lang="en-US" sz="1300" dirty="0"/>
          </a:p>
        </p:txBody>
      </p:sp>
      <p:sp>
        <p:nvSpPr>
          <p:cNvPr id="13" name="Text 9"/>
          <p:cNvSpPr/>
          <p:nvPr/>
        </p:nvSpPr>
        <p:spPr>
          <a:xfrm>
            <a:off x="4873752" y="1371600"/>
            <a:ext cx="3749040" cy="2834640"/>
          </a:xfrm>
          <a:prstGeom prst="rect">
            <a:avLst/>
          </a:prstGeom>
          <a:noFill/>
          <a:ln/>
        </p:spPr>
        <p:txBody>
          <a:bodyPr wrap="square" rtlCol="0" anchor="t"/>
          <a:lstStyle/>
          <a:p>
            <a:pPr marL="0" indent="0">
              <a:buNone/>
            </a:pPr>
            <a:r>
              <a:rPr lang="en-US" sz="1300" dirty="0">
                <a:solidFill>
                  <a:srgbClr val="1A4A30"/>
                </a:solidFill>
                <a:latin typeface="Calibri" pitchFamily="34" charset="0"/>
                <a:ea typeface="Calibri" pitchFamily="34" charset="-122"/>
                <a:cs typeface="Calibri" pitchFamily="34" charset="-120"/>
              </a:rPr>
              <a:t>✓  Every developer has a full history copy</a:t>
            </a:r>
            <a:endParaRPr lang="en-US" sz="1300" dirty="0"/>
          </a:p>
          <a:p>
            <a:pPr marL="0" indent="0">
              <a:buNone/>
            </a:pPr>
            <a:r>
              <a:rPr lang="en-US" sz="1300" dirty="0">
                <a:solidFill>
                  <a:srgbClr val="1A4A30"/>
                </a:solidFill>
                <a:latin typeface="Calibri" pitchFamily="34" charset="0"/>
                <a:ea typeface="Calibri" pitchFamily="34" charset="-122"/>
                <a:cs typeface="Calibri" pitchFamily="34" charset="-120"/>
              </a:rPr>
              <a:t>✓  Changes are tracked with names &amp; timestamps</a:t>
            </a:r>
            <a:endParaRPr lang="en-US" sz="1300" dirty="0"/>
          </a:p>
          <a:p>
            <a:pPr marL="0" indent="0">
              <a:buNone/>
            </a:pPr>
            <a:r>
              <a:rPr lang="en-US" sz="1300" dirty="0">
                <a:solidFill>
                  <a:srgbClr val="1A4A30"/>
                </a:solidFill>
                <a:latin typeface="Calibri" pitchFamily="34" charset="0"/>
                <a:ea typeface="Calibri" pitchFamily="34" charset="-122"/>
                <a:cs typeface="Calibri" pitchFamily="34" charset="-120"/>
              </a:rPr>
              <a:t>✓  Work on separate branches — no collisions</a:t>
            </a:r>
            <a:endParaRPr lang="en-US" sz="1300" dirty="0"/>
          </a:p>
          <a:p>
            <a:pPr marL="0" indent="0">
              <a:buNone/>
            </a:pPr>
            <a:r>
              <a:rPr lang="en-US" sz="1300" dirty="0">
                <a:solidFill>
                  <a:srgbClr val="1A4A30"/>
                </a:solidFill>
                <a:latin typeface="Calibri" pitchFamily="34" charset="0"/>
                <a:ea typeface="Calibri" pitchFamily="34" charset="-122"/>
                <a:cs typeface="Calibri" pitchFamily="34" charset="-120"/>
              </a:rPr>
              <a:t>✓  Roll back to any previous version instantly</a:t>
            </a:r>
            <a:endParaRPr lang="en-US" sz="1300" dirty="0"/>
          </a:p>
          <a:p>
            <a:pPr marL="0" indent="0">
              <a:buNone/>
            </a:pPr>
            <a:r>
              <a:rPr lang="en-US" sz="1300" dirty="0">
                <a:solidFill>
                  <a:srgbClr val="1A4A30"/>
                </a:solidFill>
                <a:latin typeface="Calibri" pitchFamily="34" charset="0"/>
                <a:ea typeface="Calibri" pitchFamily="34" charset="-122"/>
                <a:cs typeface="Calibri" pitchFamily="34" charset="-120"/>
              </a:rPr>
              <a:t>✓  Experiment safely — branches are free</a:t>
            </a:r>
            <a:endParaRPr lang="en-US" sz="1300" dirty="0"/>
          </a:p>
          <a:p>
            <a:pPr marL="0" indent="0">
              <a:buNone/>
            </a:pPr>
            <a:r>
              <a:rPr lang="en-US" sz="1300" dirty="0">
                <a:solidFill>
                  <a:srgbClr val="1A4A30"/>
                </a:solidFill>
                <a:latin typeface="Calibri" pitchFamily="34" charset="0"/>
                <a:ea typeface="Calibri" pitchFamily="34" charset="-122"/>
                <a:cs typeface="Calibri" pitchFamily="34" charset="-120"/>
              </a:rPr>
              <a:t>✓  See exactly who changed what and why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5F8FF"/>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30352"/>
          </a:xfrm>
          <a:prstGeom prst="rect">
            <a:avLst/>
          </a:prstGeom>
          <a:noFill/>
          <a:ln/>
        </p:spPr>
        <p:txBody>
          <a:bodyPr wrap="square" lIns="0" tIns="0" rIns="0" bIns="0" rtlCol="0" anchor="ctr"/>
          <a:lstStyle/>
          <a:p>
            <a:pPr marL="0" indent="0">
              <a:buNone/>
            </a:pPr>
            <a:r>
              <a:rPr lang="en-US" sz="2600" b="1" dirty="0">
                <a:solidFill>
                  <a:srgbClr val="1A2744"/>
                </a:solidFill>
                <a:latin typeface="Calibri" pitchFamily="34" charset="0"/>
                <a:ea typeface="Calibri" pitchFamily="34" charset="-122"/>
                <a:cs typeface="Calibri" pitchFamily="34" charset="-120"/>
              </a:rPr>
              <a:t>Centralized vs Distributed Version Control</a:t>
            </a:r>
            <a:endParaRPr lang="en-US" sz="2600" dirty="0"/>
          </a:p>
        </p:txBody>
      </p:sp>
      <p:sp>
        <p:nvSpPr>
          <p:cNvPr id="3" name="Shape 1"/>
          <p:cNvSpPr/>
          <p:nvPr/>
        </p:nvSpPr>
        <p:spPr>
          <a:xfrm>
            <a:off x="411480" y="694944"/>
            <a:ext cx="8321040" cy="27432"/>
          </a:xfrm>
          <a:prstGeom prst="rect">
            <a:avLst/>
          </a:prstGeom>
          <a:solidFill>
            <a:srgbClr val="E4EAF6"/>
          </a:solidFill>
          <a:ln w="12700">
            <a:solidFill>
              <a:srgbClr val="E4EAF6"/>
            </a:solidFill>
            <a:prstDash val="solid"/>
          </a:ln>
        </p:spPr>
      </p:sp>
      <p:sp>
        <p:nvSpPr>
          <p:cNvPr id="4" name="Shape 2"/>
          <p:cNvSpPr/>
          <p:nvPr/>
        </p:nvSpPr>
        <p:spPr>
          <a:xfrm>
            <a:off x="411480" y="868680"/>
            <a:ext cx="3977640" cy="2194560"/>
          </a:xfrm>
          <a:prstGeom prst="rect">
            <a:avLst/>
          </a:prstGeom>
          <a:solidFill>
            <a:srgbClr val="FFF3F3"/>
          </a:solidFill>
          <a:ln w="12700">
            <a:solidFill>
              <a:srgbClr val="E05555"/>
            </a:solidFill>
            <a:prstDash val="solid"/>
          </a:ln>
          <a:effectLst>
            <a:outerShdw blurRad="101600" dist="38100" dir="8100000" algn="bl" rotWithShape="0">
              <a:srgbClr val="000000">
                <a:alpha val="12000"/>
              </a:srgbClr>
            </a:outerShdw>
          </a:effectLst>
        </p:spPr>
      </p:sp>
      <p:sp>
        <p:nvSpPr>
          <p:cNvPr id="5" name="Text 3"/>
          <p:cNvSpPr/>
          <p:nvPr/>
        </p:nvSpPr>
        <p:spPr>
          <a:xfrm>
            <a:off x="502920" y="932688"/>
            <a:ext cx="3749040" cy="347472"/>
          </a:xfrm>
          <a:prstGeom prst="rect">
            <a:avLst/>
          </a:prstGeom>
          <a:noFill/>
          <a:ln/>
        </p:spPr>
        <p:txBody>
          <a:bodyPr wrap="square" lIns="0" tIns="0" rIns="0" bIns="0" rtlCol="0" anchor="ctr"/>
          <a:lstStyle/>
          <a:p>
            <a:pPr marL="0" indent="0">
              <a:buNone/>
            </a:pPr>
            <a:r>
              <a:rPr lang="en-US" sz="1500" b="1" dirty="0">
                <a:solidFill>
                  <a:srgbClr val="E05555"/>
                </a:solidFill>
                <a:latin typeface="Calibri" pitchFamily="34" charset="0"/>
                <a:ea typeface="Calibri" pitchFamily="34" charset="-122"/>
                <a:cs typeface="Calibri" pitchFamily="34" charset="-120"/>
              </a:rPr>
              <a:t>Centralized (e.g. SVN)</a:t>
            </a:r>
            <a:endParaRPr lang="en-US" sz="1500" dirty="0"/>
          </a:p>
        </p:txBody>
      </p:sp>
      <p:sp>
        <p:nvSpPr>
          <p:cNvPr id="6" name="Text 4"/>
          <p:cNvSpPr/>
          <p:nvPr/>
        </p:nvSpPr>
        <p:spPr>
          <a:xfrm>
            <a:off x="502920" y="1353312"/>
            <a:ext cx="3749040" cy="1609344"/>
          </a:xfrm>
          <a:prstGeom prst="rect">
            <a:avLst/>
          </a:prstGeom>
          <a:noFill/>
          <a:ln/>
        </p:spPr>
        <p:txBody>
          <a:bodyPr wrap="square" rtlCol="0" anchor="t"/>
          <a:lstStyle/>
          <a:p>
            <a:pPr marL="0" indent="0">
              <a:buNone/>
            </a:pPr>
            <a:r>
              <a:rPr lang="en-US" sz="1300" dirty="0">
                <a:solidFill>
                  <a:srgbClr val="3A3A3A"/>
                </a:solidFill>
                <a:latin typeface="Calibri" pitchFamily="34" charset="0"/>
                <a:ea typeface="Calibri" pitchFamily="34" charset="-122"/>
                <a:cs typeface="Calibri" pitchFamily="34" charset="-120"/>
              </a:rPr>
              <a:t>One central server stores all history
Server goes down → </a:t>
            </a:r>
            <a:r>
              <a:rPr lang="en-US" sz="1300" b="1" dirty="0">
                <a:solidFill>
                  <a:srgbClr val="E05555"/>
                </a:solidFill>
                <a:latin typeface="Calibri" pitchFamily="34" charset="0"/>
                <a:ea typeface="Calibri" pitchFamily="34" charset="-122"/>
                <a:cs typeface="Calibri" pitchFamily="34" charset="-120"/>
              </a:rPr>
              <a:t>NOBODY can work
</a:t>
            </a:r>
            <a:r>
              <a:rPr lang="en-US" sz="1300" dirty="0">
                <a:solidFill>
                  <a:srgbClr val="3A3A3A"/>
                </a:solidFill>
                <a:latin typeface="Calibri" pitchFamily="34" charset="0"/>
                <a:ea typeface="Calibri" pitchFamily="34" charset="-122"/>
                <a:cs typeface="Calibri" pitchFamily="34" charset="-120"/>
              </a:rPr>
              <a:t>No internet → no commits or history
Slow, expensive branching</a:t>
            </a:r>
            <a:endParaRPr lang="en-US" sz="1300" dirty="0"/>
          </a:p>
        </p:txBody>
      </p:sp>
      <p:sp>
        <p:nvSpPr>
          <p:cNvPr id="7" name="Shape 5"/>
          <p:cNvSpPr/>
          <p:nvPr/>
        </p:nvSpPr>
        <p:spPr>
          <a:xfrm>
            <a:off x="4754880" y="868680"/>
            <a:ext cx="3977640" cy="2194560"/>
          </a:xfrm>
          <a:prstGeom prst="rect">
            <a:avLst/>
          </a:prstGeom>
          <a:solidFill>
            <a:srgbClr val="F0FBF4"/>
          </a:solidFill>
          <a:ln w="12700">
            <a:solidFill>
              <a:srgbClr val="02C39A"/>
            </a:solidFill>
            <a:prstDash val="solid"/>
          </a:ln>
          <a:effectLst>
            <a:outerShdw blurRad="101600" dist="38100" dir="8100000" algn="bl" rotWithShape="0">
              <a:srgbClr val="000000">
                <a:alpha val="12000"/>
              </a:srgbClr>
            </a:outerShdw>
          </a:effectLst>
        </p:spPr>
      </p:sp>
      <p:sp>
        <p:nvSpPr>
          <p:cNvPr id="8" name="Text 6"/>
          <p:cNvSpPr/>
          <p:nvPr/>
        </p:nvSpPr>
        <p:spPr>
          <a:xfrm>
            <a:off x="4846320" y="932688"/>
            <a:ext cx="3749040" cy="347472"/>
          </a:xfrm>
          <a:prstGeom prst="rect">
            <a:avLst/>
          </a:prstGeom>
          <a:noFill/>
          <a:ln/>
        </p:spPr>
        <p:txBody>
          <a:bodyPr wrap="square" lIns="0" tIns="0" rIns="0" bIns="0" rtlCol="0" anchor="ctr"/>
          <a:lstStyle/>
          <a:p>
            <a:pPr marL="0" indent="0">
              <a:buNone/>
            </a:pPr>
            <a:r>
              <a:rPr lang="en-US" sz="1500" b="1" dirty="0">
                <a:solidFill>
                  <a:srgbClr val="028A5B"/>
                </a:solidFill>
                <a:latin typeface="Calibri" pitchFamily="34" charset="0"/>
                <a:ea typeface="Calibri" pitchFamily="34" charset="-122"/>
                <a:cs typeface="Calibri" pitchFamily="34" charset="-120"/>
              </a:rPr>
              <a:t>Distributed — Git ✓</a:t>
            </a:r>
            <a:endParaRPr lang="en-US" sz="1500" dirty="0"/>
          </a:p>
        </p:txBody>
      </p:sp>
      <p:sp>
        <p:nvSpPr>
          <p:cNvPr id="9" name="Text 7"/>
          <p:cNvSpPr/>
          <p:nvPr/>
        </p:nvSpPr>
        <p:spPr>
          <a:xfrm>
            <a:off x="4846320" y="1353312"/>
            <a:ext cx="3749040" cy="1609344"/>
          </a:xfrm>
          <a:prstGeom prst="rect">
            <a:avLst/>
          </a:prstGeom>
          <a:noFill/>
          <a:ln/>
        </p:spPr>
        <p:txBody>
          <a:bodyPr wrap="square" rtlCol="0" anchor="t"/>
          <a:lstStyle/>
          <a:p>
            <a:pPr marL="0" indent="0">
              <a:buNone/>
            </a:pPr>
            <a:r>
              <a:rPr lang="en-US" sz="1300" dirty="0">
                <a:solidFill>
                  <a:srgbClr val="3A3A3A"/>
                </a:solidFill>
                <a:latin typeface="Calibri" pitchFamily="34" charset="0"/>
                <a:ea typeface="Calibri" pitchFamily="34" charset="-122"/>
                <a:cs typeface="Calibri" pitchFamily="34" charset="-120"/>
              </a:rPr>
              <a:t>Every developer has the </a:t>
            </a:r>
            <a:r>
              <a:rPr lang="en-US" sz="1300" b="1" dirty="0">
                <a:solidFill>
                  <a:srgbClr val="028A5B"/>
                </a:solidFill>
                <a:latin typeface="Calibri" pitchFamily="34" charset="0"/>
                <a:ea typeface="Calibri" pitchFamily="34" charset="-122"/>
                <a:cs typeface="Calibri" pitchFamily="34" charset="-120"/>
              </a:rPr>
              <a:t>full history locally
</a:t>
            </a:r>
            <a:r>
              <a:rPr lang="en-US" sz="1300" dirty="0">
                <a:solidFill>
                  <a:srgbClr val="3A3A3A"/>
                </a:solidFill>
                <a:latin typeface="Calibri" pitchFamily="34" charset="0"/>
                <a:ea typeface="Calibri" pitchFamily="34" charset="-122"/>
                <a:cs typeface="Calibri" pitchFamily="34" charset="-120"/>
              </a:rPr>
              <a:t>Server offline? Keep working normally
Instant, free branch creation
Examples: Git, Mercurial</a:t>
            </a:r>
            <a:endParaRPr lang="en-US" sz="1300" dirty="0"/>
          </a:p>
        </p:txBody>
      </p:sp>
      <p:sp>
        <p:nvSpPr>
          <p:cNvPr id="10" name="Shape 8"/>
          <p:cNvSpPr/>
          <p:nvPr/>
        </p:nvSpPr>
        <p:spPr>
          <a:xfrm>
            <a:off x="411480" y="3218688"/>
            <a:ext cx="8321040" cy="1572768"/>
          </a:xfrm>
          <a:prstGeom prst="rect">
            <a:avLst/>
          </a:prstGeom>
          <a:solidFill>
            <a:srgbClr val="E8F7F9"/>
          </a:solidFill>
          <a:ln w="12700">
            <a:solidFill>
              <a:srgbClr val="028090"/>
            </a:solidFill>
            <a:prstDash val="solid"/>
          </a:ln>
          <a:effectLst>
            <a:outerShdw blurRad="101600" dist="38100" dir="8100000" algn="bl" rotWithShape="0">
              <a:srgbClr val="000000">
                <a:alpha val="12000"/>
              </a:srgbClr>
            </a:outerShdw>
          </a:effectLst>
        </p:spPr>
      </p:sp>
      <p:sp>
        <p:nvSpPr>
          <p:cNvPr id="11" name="Shape 9"/>
          <p:cNvSpPr/>
          <p:nvPr/>
        </p:nvSpPr>
        <p:spPr>
          <a:xfrm>
            <a:off x="411480" y="3218688"/>
            <a:ext cx="8321040" cy="347472"/>
          </a:xfrm>
          <a:prstGeom prst="rect">
            <a:avLst/>
          </a:prstGeom>
          <a:solidFill>
            <a:srgbClr val="028090"/>
          </a:solidFill>
          <a:ln w="12700">
            <a:solidFill>
              <a:srgbClr val="028090"/>
            </a:solidFill>
            <a:prstDash val="solid"/>
          </a:ln>
        </p:spPr>
      </p:sp>
      <p:sp>
        <p:nvSpPr>
          <p:cNvPr id="12" name="Text 10"/>
          <p:cNvSpPr/>
          <p:nvPr/>
        </p:nvSpPr>
        <p:spPr>
          <a:xfrm>
            <a:off x="521208" y="3246120"/>
            <a:ext cx="81381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Real-World Example</a:t>
            </a:r>
            <a:endParaRPr lang="en-US" sz="1200" dirty="0"/>
          </a:p>
        </p:txBody>
      </p:sp>
      <p:sp>
        <p:nvSpPr>
          <p:cNvPr id="13" name="Text 11"/>
          <p:cNvSpPr/>
          <p:nvPr/>
        </p:nvSpPr>
        <p:spPr>
          <a:xfrm>
            <a:off x="521208" y="3621024"/>
            <a:ext cx="8119872" cy="1097280"/>
          </a:xfrm>
          <a:prstGeom prst="rect">
            <a:avLst/>
          </a:prstGeom>
          <a:noFill/>
          <a:ln/>
        </p:spPr>
        <p:txBody>
          <a:bodyPr wrap="square" rtlCol="0" anchor="t"/>
          <a:lstStyle/>
          <a:p>
            <a:pPr marL="0" indent="0">
              <a:buNone/>
            </a:pPr>
            <a:r>
              <a:rPr lang="en-US" sz="1200" b="1" dirty="0">
                <a:solidFill>
                  <a:srgbClr val="1A2744"/>
                </a:solidFill>
                <a:latin typeface="Calibri" pitchFamily="34" charset="0"/>
                <a:ea typeface="Calibri" pitchFamily="34" charset="-122"/>
                <a:cs typeface="Calibri" pitchFamily="34" charset="-120"/>
              </a:rPr>
              <a:t>Scenario: </a:t>
            </a:r>
            <a:r>
              <a:rPr lang="en-US" sz="1200" dirty="0">
                <a:solidFill>
                  <a:srgbClr val="2C3E50"/>
                </a:solidFill>
                <a:latin typeface="Calibri" pitchFamily="34" charset="0"/>
                <a:ea typeface="Calibri" pitchFamily="34" charset="-122"/>
                <a:cs typeface="Calibri" pitchFamily="34" charset="-120"/>
              </a:rPr>
              <a:t>A company's SVN server goes down on Friday afternoon. 200 developers cannot work until Monday when IT fixes it.</a:t>
            </a:r>
            <a:endParaRPr lang="en-US" sz="1200" dirty="0"/>
          </a:p>
          <a:p>
            <a:pPr marL="0" indent="0">
              <a:buNone/>
            </a:pPr>
            <a:r>
              <a:rPr lang="en-US" sz="1200" b="1" dirty="0">
                <a:solidFill>
                  <a:srgbClr val="1A2744"/>
                </a:solidFill>
                <a:latin typeface="Calibri" pitchFamily="34" charset="0"/>
                <a:ea typeface="Calibri" pitchFamily="34" charset="-122"/>
                <a:cs typeface="Calibri" pitchFamily="34" charset="-120"/>
              </a:rPr>
              <a:t>With Git: </a:t>
            </a:r>
            <a:r>
              <a:rPr lang="en-US" sz="1200" dirty="0">
                <a:solidFill>
                  <a:srgbClr val="2C3E50"/>
                </a:solidFill>
                <a:latin typeface="Calibri" pitchFamily="34" charset="0"/>
                <a:ea typeface="Calibri" pitchFamily="34" charset="-122"/>
                <a:cs typeface="Calibri" pitchFamily="34" charset="-120"/>
              </a:rPr>
              <a:t>The GitHub server has 2 hours of maintenance. All 200 developers keep working, committing locally, and push everything when it comes back. Zero productivity lost.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7132320" y="-1097280"/>
            <a:ext cx="4114800" cy="4114800"/>
          </a:xfrm>
          <a:prstGeom prst="ellipse">
            <a:avLst/>
          </a:prstGeom>
          <a:solidFill>
            <a:srgbClr val="028090">
              <a:alpha val="25000"/>
            </a:srgbClr>
          </a:solidFill>
          <a:ln w="12700">
            <a:solidFill>
              <a:srgbClr val="028090">
                <a:alpha val="25000"/>
              </a:srgbClr>
            </a:solidFill>
            <a:prstDash val="solid"/>
          </a:ln>
        </p:spPr>
      </p:sp>
      <p:sp>
        <p:nvSpPr>
          <p:cNvPr id="3" name="Shape 1"/>
          <p:cNvSpPr/>
          <p:nvPr/>
        </p:nvSpPr>
        <p:spPr>
          <a:xfrm>
            <a:off x="-1371600" y="3200400"/>
            <a:ext cx="3200400" cy="3200400"/>
          </a:xfrm>
          <a:prstGeom prst="ellipse">
            <a:avLst/>
          </a:prstGeom>
          <a:solidFill>
            <a:srgbClr val="02C39A">
              <a:alpha val="20000"/>
            </a:srgbClr>
          </a:solidFill>
          <a:ln w="12700">
            <a:solidFill>
              <a:srgbClr val="02C39A">
                <a:alpha val="20000"/>
              </a:srgbClr>
            </a:solidFill>
            <a:prstDash val="solid"/>
          </a:ln>
        </p:spPr>
      </p:sp>
      <p:sp>
        <p:nvSpPr>
          <p:cNvPr id="4" name="Text 2"/>
          <p:cNvSpPr/>
          <p:nvPr/>
        </p:nvSpPr>
        <p:spPr>
          <a:xfrm>
            <a:off x="548640" y="1463040"/>
            <a:ext cx="8046720" cy="91440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Section 2</a:t>
            </a:r>
            <a:endParaRPr lang="en-US" sz="3800" dirty="0"/>
          </a:p>
        </p:txBody>
      </p:sp>
      <p:sp>
        <p:nvSpPr>
          <p:cNvPr id="5" name="Text 3"/>
          <p:cNvSpPr/>
          <p:nvPr/>
        </p:nvSpPr>
        <p:spPr>
          <a:xfrm>
            <a:off x="548640" y="2468880"/>
            <a:ext cx="8046720" cy="548640"/>
          </a:xfrm>
          <a:prstGeom prst="rect">
            <a:avLst/>
          </a:prstGeom>
          <a:noFill/>
          <a:ln/>
        </p:spPr>
        <p:txBody>
          <a:bodyPr wrap="square" rtlCol="0" anchor="ctr"/>
          <a:lstStyle/>
          <a:p>
            <a:pPr marL="0" indent="0">
              <a:buNone/>
            </a:pPr>
            <a:r>
              <a:rPr lang="en-US" sz="1800" i="1" dirty="0">
                <a:solidFill>
                  <a:srgbClr val="C8DCFC"/>
                </a:solidFill>
                <a:latin typeface="Calibri" pitchFamily="34" charset="0"/>
                <a:ea typeface="Calibri" pitchFamily="34" charset="-122"/>
                <a:cs typeface="Calibri" pitchFamily="34" charset="-120"/>
              </a:rPr>
              <a:t>Key Git Concepts — Explained Simply</a:t>
            </a:r>
            <a:endParaRPr lang="en-US" sz="1800" dirty="0"/>
          </a:p>
        </p:txBody>
      </p:sp>
      <p:pic>
        <p:nvPicPr>
          <p:cNvPr id="6" name="Image 0" descr="preencoded.png"/>
          <p:cNvPicPr>
            <a:picLocks noChangeAspect="1"/>
          </p:cNvPicPr>
          <p:nvPr/>
        </p:nvPicPr>
        <p:blipFill>
          <a:blip r:embed="rId3"/>
          <a:stretch>
            <a:fillRect/>
          </a:stretch>
        </p:blipFill>
        <p:spPr>
          <a:xfrm>
            <a:off x="7132320" y="1280160"/>
            <a:ext cx="1463040" cy="1463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5F8FF"/>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30352"/>
          </a:xfrm>
          <a:prstGeom prst="rect">
            <a:avLst/>
          </a:prstGeom>
          <a:noFill/>
          <a:ln/>
        </p:spPr>
        <p:txBody>
          <a:bodyPr wrap="square" lIns="0" tIns="0" rIns="0" bIns="0" rtlCol="0" anchor="ctr"/>
          <a:lstStyle/>
          <a:p>
            <a:pPr marL="0" indent="0">
              <a:buNone/>
            </a:pPr>
            <a:r>
              <a:rPr lang="en-US" sz="2600" b="1" dirty="0">
                <a:solidFill>
                  <a:srgbClr val="1A2744"/>
                </a:solidFill>
                <a:latin typeface="Calibri" pitchFamily="34" charset="0"/>
                <a:ea typeface="Calibri" pitchFamily="34" charset="-122"/>
                <a:cs typeface="Calibri" pitchFamily="34" charset="-120"/>
              </a:rPr>
              <a:t>Repository &amp; Commit</a:t>
            </a:r>
            <a:endParaRPr lang="en-US" sz="2600" dirty="0"/>
          </a:p>
        </p:txBody>
      </p:sp>
      <p:sp>
        <p:nvSpPr>
          <p:cNvPr id="3" name="Shape 1"/>
          <p:cNvSpPr/>
          <p:nvPr/>
        </p:nvSpPr>
        <p:spPr>
          <a:xfrm>
            <a:off x="411480" y="694944"/>
            <a:ext cx="8321040" cy="27432"/>
          </a:xfrm>
          <a:prstGeom prst="rect">
            <a:avLst/>
          </a:prstGeom>
          <a:solidFill>
            <a:srgbClr val="E4EAF6"/>
          </a:solidFill>
          <a:ln w="12700">
            <a:solidFill>
              <a:srgbClr val="E4EAF6"/>
            </a:solidFill>
            <a:prstDash val="solid"/>
          </a:ln>
        </p:spPr>
      </p:sp>
      <p:sp>
        <p:nvSpPr>
          <p:cNvPr id="4" name="Shape 2"/>
          <p:cNvSpPr/>
          <p:nvPr/>
        </p:nvSpPr>
        <p:spPr>
          <a:xfrm>
            <a:off x="411480" y="868680"/>
            <a:ext cx="3977640" cy="2194560"/>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5" name="Shape 3"/>
          <p:cNvSpPr/>
          <p:nvPr/>
        </p:nvSpPr>
        <p:spPr>
          <a:xfrm>
            <a:off x="411480" y="868680"/>
            <a:ext cx="64008" cy="2194560"/>
          </a:xfrm>
          <a:prstGeom prst="rect">
            <a:avLst/>
          </a:prstGeom>
          <a:solidFill>
            <a:srgbClr val="028090"/>
          </a:solidFill>
          <a:ln w="12700">
            <a:solidFill>
              <a:srgbClr val="028090"/>
            </a:solidFill>
            <a:prstDash val="solid"/>
          </a:ln>
        </p:spPr>
      </p:sp>
      <p:pic>
        <p:nvPicPr>
          <p:cNvPr id="6" name="Image 0" descr="preencoded.png"/>
          <p:cNvPicPr>
            <a:picLocks noChangeAspect="1"/>
          </p:cNvPicPr>
          <p:nvPr/>
        </p:nvPicPr>
        <p:blipFill>
          <a:blip r:embed="rId3"/>
          <a:stretch>
            <a:fillRect/>
          </a:stretch>
        </p:blipFill>
        <p:spPr>
          <a:xfrm>
            <a:off x="566928" y="987552"/>
            <a:ext cx="420624" cy="420624"/>
          </a:xfrm>
          <a:prstGeom prst="rect">
            <a:avLst/>
          </a:prstGeom>
        </p:spPr>
      </p:pic>
      <p:sp>
        <p:nvSpPr>
          <p:cNvPr id="7" name="Text 4"/>
          <p:cNvSpPr/>
          <p:nvPr/>
        </p:nvSpPr>
        <p:spPr>
          <a:xfrm>
            <a:off x="1078992" y="960120"/>
            <a:ext cx="3200400" cy="420624"/>
          </a:xfrm>
          <a:prstGeom prst="rect">
            <a:avLst/>
          </a:prstGeom>
          <a:noFill/>
          <a:ln/>
        </p:spPr>
        <p:txBody>
          <a:bodyPr wrap="square" lIns="0" tIns="0" rIns="0" bIns="0" rtlCol="0" anchor="ctr"/>
          <a:lstStyle/>
          <a:p>
            <a:pPr marL="0" indent="0">
              <a:buNone/>
            </a:pPr>
            <a:r>
              <a:rPr lang="en-US" sz="1600" b="1" dirty="0">
                <a:solidFill>
                  <a:srgbClr val="1A2744"/>
                </a:solidFill>
                <a:latin typeface="Calibri" pitchFamily="34" charset="0"/>
                <a:ea typeface="Calibri" pitchFamily="34" charset="-122"/>
                <a:cs typeface="Calibri" pitchFamily="34" charset="-120"/>
              </a:rPr>
              <a:t>Repository (Repo)</a:t>
            </a:r>
            <a:endParaRPr lang="en-US" sz="1600" dirty="0"/>
          </a:p>
        </p:txBody>
      </p:sp>
      <p:sp>
        <p:nvSpPr>
          <p:cNvPr id="8" name="Text 5"/>
          <p:cNvSpPr/>
          <p:nvPr/>
        </p:nvSpPr>
        <p:spPr>
          <a:xfrm>
            <a:off x="566928" y="1481328"/>
            <a:ext cx="3712464" cy="1508760"/>
          </a:xfrm>
          <a:prstGeom prst="rect">
            <a:avLst/>
          </a:prstGeom>
          <a:noFill/>
          <a:ln/>
        </p:spPr>
        <p:txBody>
          <a:bodyPr wrap="square" rtlCol="0" anchor="ctr"/>
          <a:lstStyle/>
          <a:p>
            <a:pPr marL="0" indent="0">
              <a:buNone/>
            </a:pPr>
            <a:r>
              <a:rPr lang="en-US" sz="1250" dirty="0">
                <a:solidFill>
                  <a:srgbClr val="5A6A8A"/>
                </a:solidFill>
                <a:latin typeface="Calibri" pitchFamily="34" charset="0"/>
                <a:ea typeface="Calibri" pitchFamily="34" charset="-122"/>
                <a:cs typeface="Calibri" pitchFamily="34" charset="-120"/>
              </a:rPr>
              <a:t>The project folder Git is tracking. Contains all your files plus a hidden .git folder with the entire history.</a:t>
            </a:r>
            <a:endParaRPr lang="en-US" sz="1250" dirty="0"/>
          </a:p>
          <a:p>
            <a:pPr marL="0" indent="0">
              <a:buNone/>
            </a:pPr>
            <a:endParaRPr lang="en-US" sz="1250" dirty="0"/>
          </a:p>
          <a:p>
            <a:pPr marL="0" indent="0">
              <a:buNone/>
            </a:pPr>
            <a:r>
              <a:rPr lang="en-US" sz="1250" dirty="0">
                <a:solidFill>
                  <a:srgbClr val="5A6A8A"/>
                </a:solidFill>
                <a:latin typeface="Calibri" pitchFamily="34" charset="0"/>
                <a:ea typeface="Calibri" pitchFamily="34" charset="-122"/>
                <a:cs typeface="Calibri" pitchFamily="34" charset="-120"/>
              </a:rPr>
              <a:t>Two types:</a:t>
            </a:r>
            <a:endParaRPr lang="en-US" sz="1250" dirty="0"/>
          </a:p>
          <a:p>
            <a:pPr marL="0" indent="0">
              <a:buNone/>
            </a:pPr>
            <a:r>
              <a:rPr lang="en-US" sz="1250" dirty="0">
                <a:solidFill>
                  <a:srgbClr val="5A6A8A"/>
                </a:solidFill>
                <a:latin typeface="Calibri" pitchFamily="34" charset="0"/>
                <a:ea typeface="Calibri" pitchFamily="34" charset="-122"/>
                <a:cs typeface="Calibri" pitchFamily="34" charset="-120"/>
              </a:rPr>
              <a:t>• Local repo — on your machine</a:t>
            </a:r>
            <a:endParaRPr lang="en-US" sz="1250" dirty="0"/>
          </a:p>
          <a:p>
            <a:pPr marL="0" indent="0">
              <a:buNone/>
            </a:pPr>
            <a:r>
              <a:rPr lang="en-US" sz="1250" dirty="0">
                <a:solidFill>
                  <a:srgbClr val="5A6A8A"/>
                </a:solidFill>
                <a:latin typeface="Calibri" pitchFamily="34" charset="0"/>
                <a:ea typeface="Calibri" pitchFamily="34" charset="-122"/>
                <a:cs typeface="Calibri" pitchFamily="34" charset="-120"/>
              </a:rPr>
              <a:t>• Remote repo — on GitHub / Azure Repos</a:t>
            </a:r>
            <a:endParaRPr lang="en-US" sz="1250" dirty="0"/>
          </a:p>
        </p:txBody>
      </p:sp>
      <p:sp>
        <p:nvSpPr>
          <p:cNvPr id="9" name="Shape 6"/>
          <p:cNvSpPr/>
          <p:nvPr/>
        </p:nvSpPr>
        <p:spPr>
          <a:xfrm>
            <a:off x="4754880" y="868680"/>
            <a:ext cx="3977640" cy="2194560"/>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0" name="Shape 7"/>
          <p:cNvSpPr/>
          <p:nvPr/>
        </p:nvSpPr>
        <p:spPr>
          <a:xfrm>
            <a:off x="4754880" y="868680"/>
            <a:ext cx="64008" cy="2194560"/>
          </a:xfrm>
          <a:prstGeom prst="rect">
            <a:avLst/>
          </a:prstGeom>
          <a:solidFill>
            <a:srgbClr val="02C39A"/>
          </a:solidFill>
          <a:ln w="12700">
            <a:solidFill>
              <a:srgbClr val="02C39A"/>
            </a:solidFill>
            <a:prstDash val="solid"/>
          </a:ln>
        </p:spPr>
      </p:sp>
      <p:pic>
        <p:nvPicPr>
          <p:cNvPr id="11" name="Image 1" descr="preencoded.png"/>
          <p:cNvPicPr>
            <a:picLocks noChangeAspect="1"/>
          </p:cNvPicPr>
          <p:nvPr/>
        </p:nvPicPr>
        <p:blipFill>
          <a:blip r:embed="rId4"/>
          <a:stretch>
            <a:fillRect/>
          </a:stretch>
        </p:blipFill>
        <p:spPr>
          <a:xfrm>
            <a:off x="4910328" y="987552"/>
            <a:ext cx="420624" cy="420624"/>
          </a:xfrm>
          <a:prstGeom prst="rect">
            <a:avLst/>
          </a:prstGeom>
        </p:spPr>
      </p:pic>
      <p:sp>
        <p:nvSpPr>
          <p:cNvPr id="12" name="Text 8"/>
          <p:cNvSpPr/>
          <p:nvPr/>
        </p:nvSpPr>
        <p:spPr>
          <a:xfrm>
            <a:off x="5422392" y="960120"/>
            <a:ext cx="3200400" cy="420624"/>
          </a:xfrm>
          <a:prstGeom prst="rect">
            <a:avLst/>
          </a:prstGeom>
          <a:noFill/>
          <a:ln/>
        </p:spPr>
        <p:txBody>
          <a:bodyPr wrap="square" lIns="0" tIns="0" rIns="0" bIns="0" rtlCol="0" anchor="ctr"/>
          <a:lstStyle/>
          <a:p>
            <a:pPr marL="0" indent="0">
              <a:buNone/>
            </a:pPr>
            <a:r>
              <a:rPr lang="en-US" sz="1600" b="1" dirty="0">
                <a:solidFill>
                  <a:srgbClr val="1A2744"/>
                </a:solidFill>
                <a:latin typeface="Calibri" pitchFamily="34" charset="0"/>
                <a:ea typeface="Calibri" pitchFamily="34" charset="-122"/>
                <a:cs typeface="Calibri" pitchFamily="34" charset="-120"/>
              </a:rPr>
              <a:t>Commit</a:t>
            </a:r>
            <a:endParaRPr lang="en-US" sz="1600" dirty="0"/>
          </a:p>
        </p:txBody>
      </p:sp>
      <p:sp>
        <p:nvSpPr>
          <p:cNvPr id="13" name="Text 9"/>
          <p:cNvSpPr/>
          <p:nvPr/>
        </p:nvSpPr>
        <p:spPr>
          <a:xfrm>
            <a:off x="4910328" y="1481328"/>
            <a:ext cx="3712464" cy="1508760"/>
          </a:xfrm>
          <a:prstGeom prst="rect">
            <a:avLst/>
          </a:prstGeom>
          <a:noFill/>
          <a:ln/>
        </p:spPr>
        <p:txBody>
          <a:bodyPr wrap="square" rtlCol="0" anchor="ctr"/>
          <a:lstStyle/>
          <a:p>
            <a:pPr marL="0" indent="0">
              <a:buNone/>
            </a:pPr>
            <a:r>
              <a:rPr lang="en-US" sz="1250" dirty="0">
                <a:solidFill>
                  <a:srgbClr val="5A6A8A"/>
                </a:solidFill>
                <a:latin typeface="Calibri" pitchFamily="34" charset="0"/>
                <a:ea typeface="Calibri" pitchFamily="34" charset="-122"/>
                <a:cs typeface="Calibri" pitchFamily="34" charset="-120"/>
              </a:rPr>
              <a:t>A permanent snapshot of your staged changes — like a labeled Save point.</a:t>
            </a:r>
            <a:endParaRPr lang="en-US" sz="1250" dirty="0"/>
          </a:p>
          <a:p>
            <a:pPr marL="0" indent="0">
              <a:buNone/>
            </a:pPr>
            <a:endParaRPr lang="en-US" sz="1250" dirty="0"/>
          </a:p>
          <a:p>
            <a:pPr marL="0" indent="0">
              <a:buNone/>
            </a:pPr>
            <a:r>
              <a:rPr lang="en-US" sz="1250" dirty="0">
                <a:solidFill>
                  <a:srgbClr val="5A6A8A"/>
                </a:solidFill>
                <a:latin typeface="Calibri" pitchFamily="34" charset="0"/>
                <a:ea typeface="Calibri" pitchFamily="34" charset="-122"/>
                <a:cs typeface="Calibri" pitchFamily="34" charset="-120"/>
              </a:rPr>
              <a:t>Every commit stores:</a:t>
            </a:r>
            <a:endParaRPr lang="en-US" sz="1250" dirty="0"/>
          </a:p>
          <a:p>
            <a:pPr marL="0" indent="0">
              <a:buNone/>
            </a:pPr>
            <a:r>
              <a:rPr lang="en-US" sz="1250" dirty="0">
                <a:solidFill>
                  <a:srgbClr val="5A6A8A"/>
                </a:solidFill>
                <a:latin typeface="Calibri" pitchFamily="34" charset="0"/>
                <a:ea typeface="Calibri" pitchFamily="34" charset="-122"/>
                <a:cs typeface="Calibri" pitchFamily="34" charset="-120"/>
              </a:rPr>
              <a:t>• A unique ID (SHA hash)</a:t>
            </a:r>
            <a:endParaRPr lang="en-US" sz="1250" dirty="0"/>
          </a:p>
          <a:p>
            <a:pPr marL="0" indent="0">
              <a:buNone/>
            </a:pPr>
            <a:r>
              <a:rPr lang="en-US" sz="1250" dirty="0">
                <a:solidFill>
                  <a:srgbClr val="5A6A8A"/>
                </a:solidFill>
                <a:latin typeface="Calibri" pitchFamily="34" charset="0"/>
                <a:ea typeface="Calibri" pitchFamily="34" charset="-122"/>
                <a:cs typeface="Calibri" pitchFamily="34" charset="-120"/>
              </a:rPr>
              <a:t>• Author name &amp; timestamp</a:t>
            </a:r>
            <a:endParaRPr lang="en-US" sz="1250" dirty="0"/>
          </a:p>
          <a:p>
            <a:pPr marL="0" indent="0">
              <a:buNone/>
            </a:pPr>
            <a:r>
              <a:rPr lang="en-US" sz="1250" dirty="0">
                <a:solidFill>
                  <a:srgbClr val="5A6A8A"/>
                </a:solidFill>
                <a:latin typeface="Calibri" pitchFamily="34" charset="0"/>
                <a:ea typeface="Calibri" pitchFamily="34" charset="-122"/>
                <a:cs typeface="Calibri" pitchFamily="34" charset="-120"/>
              </a:rPr>
              <a:t>• Message describing what changed</a:t>
            </a:r>
            <a:endParaRPr lang="en-US" sz="1250" dirty="0"/>
          </a:p>
        </p:txBody>
      </p:sp>
      <p:sp>
        <p:nvSpPr>
          <p:cNvPr id="14" name="Shape 10"/>
          <p:cNvSpPr/>
          <p:nvPr/>
        </p:nvSpPr>
        <p:spPr>
          <a:xfrm>
            <a:off x="411480" y="3218688"/>
            <a:ext cx="8321040" cy="1572768"/>
          </a:xfrm>
          <a:prstGeom prst="rect">
            <a:avLst/>
          </a:prstGeom>
          <a:solidFill>
            <a:srgbClr val="E8F7F9"/>
          </a:solidFill>
          <a:ln w="12700">
            <a:solidFill>
              <a:srgbClr val="028090"/>
            </a:solidFill>
            <a:prstDash val="solid"/>
          </a:ln>
          <a:effectLst>
            <a:outerShdw blurRad="101600" dist="38100" dir="8100000" algn="bl" rotWithShape="0">
              <a:srgbClr val="000000">
                <a:alpha val="12000"/>
              </a:srgbClr>
            </a:outerShdw>
          </a:effectLst>
        </p:spPr>
      </p:sp>
      <p:sp>
        <p:nvSpPr>
          <p:cNvPr id="15" name="Shape 11"/>
          <p:cNvSpPr/>
          <p:nvPr/>
        </p:nvSpPr>
        <p:spPr>
          <a:xfrm>
            <a:off x="411480" y="3218688"/>
            <a:ext cx="8321040" cy="347472"/>
          </a:xfrm>
          <a:prstGeom prst="rect">
            <a:avLst/>
          </a:prstGeom>
          <a:solidFill>
            <a:srgbClr val="028090"/>
          </a:solidFill>
          <a:ln w="12700">
            <a:solidFill>
              <a:srgbClr val="028090"/>
            </a:solidFill>
            <a:prstDash val="solid"/>
          </a:ln>
        </p:spPr>
      </p:sp>
      <p:sp>
        <p:nvSpPr>
          <p:cNvPr id="16" name="Text 12"/>
          <p:cNvSpPr/>
          <p:nvPr/>
        </p:nvSpPr>
        <p:spPr>
          <a:xfrm>
            <a:off x="521208" y="3246120"/>
            <a:ext cx="81381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Real-World Example</a:t>
            </a:r>
            <a:endParaRPr lang="en-US" sz="1200" dirty="0"/>
          </a:p>
        </p:txBody>
      </p:sp>
      <p:sp>
        <p:nvSpPr>
          <p:cNvPr id="17" name="Text 13"/>
          <p:cNvSpPr/>
          <p:nvPr/>
        </p:nvSpPr>
        <p:spPr>
          <a:xfrm>
            <a:off x="521208" y="3621024"/>
            <a:ext cx="8119872" cy="1097280"/>
          </a:xfrm>
          <a:prstGeom prst="rect">
            <a:avLst/>
          </a:prstGeom>
          <a:noFill/>
          <a:ln/>
        </p:spPr>
        <p:txBody>
          <a:bodyPr wrap="square" rtlCol="0" anchor="t"/>
          <a:lstStyle/>
          <a:p>
            <a:pPr marL="0" indent="0">
              <a:buNone/>
            </a:pPr>
            <a:r>
              <a:rPr lang="en-US" sz="1200" b="1" dirty="0">
                <a:solidFill>
                  <a:srgbClr val="1A2744"/>
                </a:solidFill>
                <a:latin typeface="Calibri" pitchFamily="34" charset="0"/>
                <a:ea typeface="Calibri" pitchFamily="34" charset="-122"/>
                <a:cs typeface="Calibri" pitchFamily="34" charset="-120"/>
              </a:rPr>
              <a:t>Analogy: </a:t>
            </a:r>
            <a:r>
              <a:rPr lang="en-US" sz="1200" dirty="0">
                <a:solidFill>
                  <a:srgbClr val="2C3E50"/>
                </a:solidFill>
                <a:latin typeface="Calibri" pitchFamily="34" charset="0"/>
                <a:ea typeface="Calibri" pitchFamily="34" charset="-122"/>
                <a:cs typeface="Calibri" pitchFamily="34" charset="-120"/>
              </a:rPr>
              <a:t>A commit is like writing an essay and pressing Save — but each save has a label like "Added introduction" so you can jump back to any version later.</a:t>
            </a:r>
            <a:endParaRPr lang="en-US" sz="1200" dirty="0"/>
          </a:p>
          <a:p>
            <a:pPr marL="0" indent="0">
              <a:buNone/>
            </a:pPr>
            <a:r>
              <a:rPr lang="en-US" sz="1200" b="1" dirty="0">
                <a:solidFill>
                  <a:srgbClr val="1A2744"/>
                </a:solidFill>
                <a:latin typeface="Calibri" pitchFamily="34" charset="0"/>
                <a:ea typeface="Calibri" pitchFamily="34" charset="-122"/>
                <a:cs typeface="Calibri" pitchFamily="34" charset="-120"/>
              </a:rPr>
              <a:t>Real world: </a:t>
            </a:r>
            <a:r>
              <a:rPr lang="en-US" sz="1200" dirty="0">
                <a:solidFill>
                  <a:srgbClr val="2C3E50"/>
                </a:solidFill>
                <a:latin typeface="Calibri" pitchFamily="34" charset="0"/>
                <a:ea typeface="Calibri" pitchFamily="34" charset="-122"/>
                <a:cs typeface="Calibri" pitchFamily="34" charset="-120"/>
              </a:rPr>
              <a:t>A developer commits: "Fix patient ID validation — was accepting negative numbers". Six months later when a bug reappears, the team searches history and finds this exact fix instantly.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5F8FF"/>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30352"/>
          </a:xfrm>
          <a:prstGeom prst="rect">
            <a:avLst/>
          </a:prstGeom>
          <a:noFill/>
          <a:ln/>
        </p:spPr>
        <p:txBody>
          <a:bodyPr wrap="square" lIns="0" tIns="0" rIns="0" bIns="0" rtlCol="0" anchor="ctr"/>
          <a:lstStyle/>
          <a:p>
            <a:pPr marL="0" indent="0">
              <a:buNone/>
            </a:pPr>
            <a:r>
              <a:rPr lang="en-US" sz="2600" b="1" dirty="0">
                <a:solidFill>
                  <a:srgbClr val="1A2744"/>
                </a:solidFill>
                <a:latin typeface="Calibri" pitchFamily="34" charset="0"/>
                <a:ea typeface="Calibri" pitchFamily="34" charset="-122"/>
                <a:cs typeface="Calibri" pitchFamily="34" charset="-120"/>
              </a:rPr>
              <a:t>Branch &amp; Merge</a:t>
            </a:r>
            <a:endParaRPr lang="en-US" sz="2600" dirty="0"/>
          </a:p>
        </p:txBody>
      </p:sp>
      <p:sp>
        <p:nvSpPr>
          <p:cNvPr id="3" name="Shape 1"/>
          <p:cNvSpPr/>
          <p:nvPr/>
        </p:nvSpPr>
        <p:spPr>
          <a:xfrm>
            <a:off x="411480" y="694944"/>
            <a:ext cx="8321040" cy="27432"/>
          </a:xfrm>
          <a:prstGeom prst="rect">
            <a:avLst/>
          </a:prstGeom>
          <a:solidFill>
            <a:srgbClr val="E4EAF6"/>
          </a:solidFill>
          <a:ln w="12700">
            <a:solidFill>
              <a:srgbClr val="E4EAF6"/>
            </a:solidFill>
            <a:prstDash val="solid"/>
          </a:ln>
        </p:spPr>
      </p:sp>
      <p:sp>
        <p:nvSpPr>
          <p:cNvPr id="4" name="Shape 2"/>
          <p:cNvSpPr/>
          <p:nvPr/>
        </p:nvSpPr>
        <p:spPr>
          <a:xfrm>
            <a:off x="411480" y="868680"/>
            <a:ext cx="3977640" cy="2194560"/>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5" name="Shape 3"/>
          <p:cNvSpPr/>
          <p:nvPr/>
        </p:nvSpPr>
        <p:spPr>
          <a:xfrm>
            <a:off x="411480" y="868680"/>
            <a:ext cx="64008" cy="2194560"/>
          </a:xfrm>
          <a:prstGeom prst="rect">
            <a:avLst/>
          </a:prstGeom>
          <a:solidFill>
            <a:srgbClr val="028090"/>
          </a:solidFill>
          <a:ln w="12700">
            <a:solidFill>
              <a:srgbClr val="028090"/>
            </a:solidFill>
            <a:prstDash val="solid"/>
          </a:ln>
        </p:spPr>
      </p:sp>
      <p:pic>
        <p:nvPicPr>
          <p:cNvPr id="6" name="Image 0" descr="preencoded.png"/>
          <p:cNvPicPr>
            <a:picLocks noChangeAspect="1"/>
          </p:cNvPicPr>
          <p:nvPr/>
        </p:nvPicPr>
        <p:blipFill>
          <a:blip r:embed="rId3"/>
          <a:stretch>
            <a:fillRect/>
          </a:stretch>
        </p:blipFill>
        <p:spPr>
          <a:xfrm>
            <a:off x="566928" y="987552"/>
            <a:ext cx="420624" cy="420624"/>
          </a:xfrm>
          <a:prstGeom prst="rect">
            <a:avLst/>
          </a:prstGeom>
        </p:spPr>
      </p:pic>
      <p:sp>
        <p:nvSpPr>
          <p:cNvPr id="7" name="Text 4"/>
          <p:cNvSpPr/>
          <p:nvPr/>
        </p:nvSpPr>
        <p:spPr>
          <a:xfrm>
            <a:off x="1078992" y="960120"/>
            <a:ext cx="3200400" cy="420624"/>
          </a:xfrm>
          <a:prstGeom prst="rect">
            <a:avLst/>
          </a:prstGeom>
          <a:noFill/>
          <a:ln/>
        </p:spPr>
        <p:txBody>
          <a:bodyPr wrap="square" lIns="0" tIns="0" rIns="0" bIns="0" rtlCol="0" anchor="ctr"/>
          <a:lstStyle/>
          <a:p>
            <a:pPr marL="0" indent="0">
              <a:buNone/>
            </a:pPr>
            <a:r>
              <a:rPr lang="en-US" sz="1600" b="1" dirty="0">
                <a:solidFill>
                  <a:srgbClr val="1A2744"/>
                </a:solidFill>
                <a:latin typeface="Calibri" pitchFamily="34" charset="0"/>
                <a:ea typeface="Calibri" pitchFamily="34" charset="-122"/>
                <a:cs typeface="Calibri" pitchFamily="34" charset="-120"/>
              </a:rPr>
              <a:t>Branch</a:t>
            </a:r>
            <a:endParaRPr lang="en-US" sz="1600" dirty="0"/>
          </a:p>
        </p:txBody>
      </p:sp>
      <p:sp>
        <p:nvSpPr>
          <p:cNvPr id="8" name="Text 5"/>
          <p:cNvSpPr/>
          <p:nvPr/>
        </p:nvSpPr>
        <p:spPr>
          <a:xfrm>
            <a:off x="566928" y="1481328"/>
            <a:ext cx="3712464" cy="1508760"/>
          </a:xfrm>
          <a:prstGeom prst="rect">
            <a:avLst/>
          </a:prstGeom>
          <a:noFill/>
          <a:ln/>
        </p:spPr>
        <p:txBody>
          <a:bodyPr wrap="square" rtlCol="0" anchor="ctr"/>
          <a:lstStyle/>
          <a:p>
            <a:pPr marL="0" indent="0">
              <a:buNone/>
            </a:pPr>
            <a:r>
              <a:rPr lang="en-US" sz="1250" dirty="0">
                <a:solidFill>
                  <a:srgbClr val="5A6A8A"/>
                </a:solidFill>
                <a:latin typeface="Calibri" pitchFamily="34" charset="0"/>
                <a:ea typeface="Calibri" pitchFamily="34" charset="-122"/>
                <a:cs typeface="Calibri" pitchFamily="34" charset="-120"/>
              </a:rPr>
              <a:t>An independent line of development. You work on a branch without touching the stable main code.</a:t>
            </a:r>
            <a:endParaRPr lang="en-US" sz="1250" dirty="0"/>
          </a:p>
          <a:p>
            <a:pPr marL="0" indent="0">
              <a:buNone/>
            </a:pPr>
            <a:endParaRPr lang="en-US" sz="1250" dirty="0"/>
          </a:p>
          <a:p>
            <a:pPr marL="0" indent="0">
              <a:buNone/>
            </a:pPr>
            <a:r>
              <a:rPr lang="en-US" sz="1250" dirty="0">
                <a:solidFill>
                  <a:srgbClr val="5A6A8A"/>
                </a:solidFill>
                <a:latin typeface="Calibri" pitchFamily="34" charset="0"/>
                <a:ea typeface="Calibri" pitchFamily="34" charset="-122"/>
                <a:cs typeface="Calibri" pitchFamily="34" charset="-120"/>
              </a:rPr>
              <a:t>• main / master = stable production code</a:t>
            </a:r>
            <a:endParaRPr lang="en-US" sz="1250" dirty="0"/>
          </a:p>
          <a:p>
            <a:pPr marL="0" indent="0">
              <a:buNone/>
            </a:pPr>
            <a:r>
              <a:rPr lang="en-US" sz="1250" dirty="0">
                <a:solidFill>
                  <a:srgbClr val="5A6A8A"/>
                </a:solidFill>
                <a:latin typeface="Calibri" pitchFamily="34" charset="0"/>
                <a:ea typeface="Calibri" pitchFamily="34" charset="-122"/>
                <a:cs typeface="Calibri" pitchFamily="34" charset="-120"/>
              </a:rPr>
              <a:t>• feature branch = your new work</a:t>
            </a:r>
            <a:endParaRPr lang="en-US" sz="1250" dirty="0"/>
          </a:p>
          <a:p>
            <a:pPr marL="0" indent="0">
              <a:buNone/>
            </a:pPr>
            <a:r>
              <a:rPr lang="en-US" sz="1250" dirty="0">
                <a:solidFill>
                  <a:srgbClr val="5A6A8A"/>
                </a:solidFill>
                <a:latin typeface="Calibri" pitchFamily="34" charset="0"/>
                <a:ea typeface="Calibri" pitchFamily="34" charset="-122"/>
                <a:cs typeface="Calibri" pitchFamily="34" charset="-120"/>
              </a:rPr>
              <a:t>• Branches are FREE and instant to create</a:t>
            </a:r>
            <a:endParaRPr lang="en-US" sz="1250" dirty="0"/>
          </a:p>
        </p:txBody>
      </p:sp>
      <p:sp>
        <p:nvSpPr>
          <p:cNvPr id="9" name="Shape 6"/>
          <p:cNvSpPr/>
          <p:nvPr/>
        </p:nvSpPr>
        <p:spPr>
          <a:xfrm>
            <a:off x="4754880" y="868680"/>
            <a:ext cx="3977640" cy="2194560"/>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0" name="Shape 7"/>
          <p:cNvSpPr/>
          <p:nvPr/>
        </p:nvSpPr>
        <p:spPr>
          <a:xfrm>
            <a:off x="4754880" y="868680"/>
            <a:ext cx="64008" cy="2194560"/>
          </a:xfrm>
          <a:prstGeom prst="rect">
            <a:avLst/>
          </a:prstGeom>
          <a:solidFill>
            <a:srgbClr val="02C39A"/>
          </a:solidFill>
          <a:ln w="12700">
            <a:solidFill>
              <a:srgbClr val="02C39A"/>
            </a:solidFill>
            <a:prstDash val="solid"/>
          </a:ln>
        </p:spPr>
      </p:sp>
      <p:pic>
        <p:nvPicPr>
          <p:cNvPr id="11" name="Image 1" descr="preencoded.png"/>
          <p:cNvPicPr>
            <a:picLocks noChangeAspect="1"/>
          </p:cNvPicPr>
          <p:nvPr/>
        </p:nvPicPr>
        <p:blipFill>
          <a:blip r:embed="rId4"/>
          <a:stretch>
            <a:fillRect/>
          </a:stretch>
        </p:blipFill>
        <p:spPr>
          <a:xfrm>
            <a:off x="4910328" y="987552"/>
            <a:ext cx="420624" cy="420624"/>
          </a:xfrm>
          <a:prstGeom prst="rect">
            <a:avLst/>
          </a:prstGeom>
        </p:spPr>
      </p:pic>
      <p:sp>
        <p:nvSpPr>
          <p:cNvPr id="12" name="Text 8"/>
          <p:cNvSpPr/>
          <p:nvPr/>
        </p:nvSpPr>
        <p:spPr>
          <a:xfrm>
            <a:off x="5422392" y="960120"/>
            <a:ext cx="3200400" cy="420624"/>
          </a:xfrm>
          <a:prstGeom prst="rect">
            <a:avLst/>
          </a:prstGeom>
          <a:noFill/>
          <a:ln/>
        </p:spPr>
        <p:txBody>
          <a:bodyPr wrap="square" lIns="0" tIns="0" rIns="0" bIns="0" rtlCol="0" anchor="ctr"/>
          <a:lstStyle/>
          <a:p>
            <a:pPr marL="0" indent="0">
              <a:buNone/>
            </a:pPr>
            <a:r>
              <a:rPr lang="en-US" sz="1600" b="1" dirty="0">
                <a:solidFill>
                  <a:srgbClr val="1A2744"/>
                </a:solidFill>
                <a:latin typeface="Calibri" pitchFamily="34" charset="0"/>
                <a:ea typeface="Calibri" pitchFamily="34" charset="-122"/>
                <a:cs typeface="Calibri" pitchFamily="34" charset="-120"/>
              </a:rPr>
              <a:t>Merge</a:t>
            </a:r>
            <a:endParaRPr lang="en-US" sz="1600" dirty="0"/>
          </a:p>
        </p:txBody>
      </p:sp>
      <p:sp>
        <p:nvSpPr>
          <p:cNvPr id="13" name="Text 9"/>
          <p:cNvSpPr/>
          <p:nvPr/>
        </p:nvSpPr>
        <p:spPr>
          <a:xfrm>
            <a:off x="4910328" y="1481328"/>
            <a:ext cx="3712464" cy="1508760"/>
          </a:xfrm>
          <a:prstGeom prst="rect">
            <a:avLst/>
          </a:prstGeom>
          <a:noFill/>
          <a:ln/>
        </p:spPr>
        <p:txBody>
          <a:bodyPr wrap="square" rtlCol="0" anchor="ctr"/>
          <a:lstStyle/>
          <a:p>
            <a:pPr marL="0" indent="0">
              <a:buNone/>
            </a:pPr>
            <a:r>
              <a:rPr lang="en-US" sz="1250" dirty="0">
                <a:solidFill>
                  <a:srgbClr val="5A6A8A"/>
                </a:solidFill>
                <a:latin typeface="Calibri" pitchFamily="34" charset="0"/>
                <a:ea typeface="Calibri" pitchFamily="34" charset="-122"/>
                <a:cs typeface="Calibri" pitchFamily="34" charset="-120"/>
              </a:rPr>
              <a:t>Combines changes from one branch into another once a feature is complete and reviewed.</a:t>
            </a:r>
            <a:endParaRPr lang="en-US" sz="1250" dirty="0"/>
          </a:p>
          <a:p>
            <a:pPr marL="0" indent="0">
              <a:buNone/>
            </a:pPr>
            <a:endParaRPr lang="en-US" sz="1250" dirty="0"/>
          </a:p>
          <a:p>
            <a:pPr marL="0" indent="0">
              <a:buNone/>
            </a:pPr>
            <a:r>
              <a:rPr lang="en-US" sz="1250" dirty="0">
                <a:solidFill>
                  <a:srgbClr val="5A6A8A"/>
                </a:solidFill>
                <a:latin typeface="Calibri" pitchFamily="34" charset="0"/>
                <a:ea typeface="Calibri" pitchFamily="34" charset="-122"/>
                <a:cs typeface="Calibri" pitchFamily="34" charset="-120"/>
              </a:rPr>
              <a:t>• Git auto-merges changes to different lines</a:t>
            </a:r>
            <a:endParaRPr lang="en-US" sz="1250" dirty="0"/>
          </a:p>
          <a:p>
            <a:pPr marL="0" indent="0">
              <a:buNone/>
            </a:pPr>
            <a:r>
              <a:rPr lang="en-US" sz="1250" dirty="0">
                <a:solidFill>
                  <a:srgbClr val="5A6A8A"/>
                </a:solidFill>
                <a:latin typeface="Calibri" pitchFamily="34" charset="0"/>
                <a:ea typeface="Calibri" pitchFamily="34" charset="-122"/>
                <a:cs typeface="Calibri" pitchFamily="34" charset="-120"/>
              </a:rPr>
              <a:t>• Merge conflict = same line changed by 2 people</a:t>
            </a:r>
            <a:endParaRPr lang="en-US" sz="1250" dirty="0"/>
          </a:p>
          <a:p>
            <a:pPr marL="0" indent="0">
              <a:buNone/>
            </a:pPr>
            <a:r>
              <a:rPr lang="en-US" sz="1250" dirty="0">
                <a:solidFill>
                  <a:srgbClr val="5A6A8A"/>
                </a:solidFill>
                <a:latin typeface="Calibri" pitchFamily="34" charset="0"/>
                <a:ea typeface="Calibri" pitchFamily="34" charset="-122"/>
                <a:cs typeface="Calibri" pitchFamily="34" charset="-120"/>
              </a:rPr>
              <a:t>• Conflicts must be resolved manually</a:t>
            </a:r>
            <a:endParaRPr lang="en-US" sz="1250" dirty="0"/>
          </a:p>
        </p:txBody>
      </p:sp>
      <p:sp>
        <p:nvSpPr>
          <p:cNvPr id="14" name="Shape 10"/>
          <p:cNvSpPr/>
          <p:nvPr/>
        </p:nvSpPr>
        <p:spPr>
          <a:xfrm>
            <a:off x="411480" y="3218688"/>
            <a:ext cx="8321040" cy="1572768"/>
          </a:xfrm>
          <a:prstGeom prst="rect">
            <a:avLst/>
          </a:prstGeom>
          <a:solidFill>
            <a:srgbClr val="E8F7F9"/>
          </a:solidFill>
          <a:ln w="12700">
            <a:solidFill>
              <a:srgbClr val="028090"/>
            </a:solidFill>
            <a:prstDash val="solid"/>
          </a:ln>
          <a:effectLst>
            <a:outerShdw blurRad="101600" dist="38100" dir="8100000" algn="bl" rotWithShape="0">
              <a:srgbClr val="000000">
                <a:alpha val="12000"/>
              </a:srgbClr>
            </a:outerShdw>
          </a:effectLst>
        </p:spPr>
      </p:sp>
      <p:sp>
        <p:nvSpPr>
          <p:cNvPr id="15" name="Shape 11"/>
          <p:cNvSpPr/>
          <p:nvPr/>
        </p:nvSpPr>
        <p:spPr>
          <a:xfrm>
            <a:off x="411480" y="3218688"/>
            <a:ext cx="8321040" cy="347472"/>
          </a:xfrm>
          <a:prstGeom prst="rect">
            <a:avLst/>
          </a:prstGeom>
          <a:solidFill>
            <a:srgbClr val="028090"/>
          </a:solidFill>
          <a:ln w="12700">
            <a:solidFill>
              <a:srgbClr val="028090"/>
            </a:solidFill>
            <a:prstDash val="solid"/>
          </a:ln>
        </p:spPr>
      </p:sp>
      <p:sp>
        <p:nvSpPr>
          <p:cNvPr id="16" name="Text 12"/>
          <p:cNvSpPr/>
          <p:nvPr/>
        </p:nvSpPr>
        <p:spPr>
          <a:xfrm>
            <a:off x="521208" y="3246120"/>
            <a:ext cx="81381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Real-World Example</a:t>
            </a:r>
            <a:endParaRPr lang="en-US" sz="1200" dirty="0"/>
          </a:p>
        </p:txBody>
      </p:sp>
      <p:sp>
        <p:nvSpPr>
          <p:cNvPr id="17" name="Text 13"/>
          <p:cNvSpPr/>
          <p:nvPr/>
        </p:nvSpPr>
        <p:spPr>
          <a:xfrm>
            <a:off x="521208" y="3621024"/>
            <a:ext cx="8119872" cy="1097280"/>
          </a:xfrm>
          <a:prstGeom prst="rect">
            <a:avLst/>
          </a:prstGeom>
          <a:noFill/>
          <a:ln/>
        </p:spPr>
        <p:txBody>
          <a:bodyPr wrap="square" rtlCol="0" anchor="t"/>
          <a:lstStyle/>
          <a:p>
            <a:pPr marL="0" indent="0">
              <a:buNone/>
            </a:pPr>
            <a:r>
              <a:rPr lang="en-US" sz="1200" b="1" dirty="0">
                <a:solidFill>
                  <a:srgbClr val="1A2744"/>
                </a:solidFill>
                <a:latin typeface="Calibri" pitchFamily="34" charset="0"/>
                <a:ea typeface="Calibri" pitchFamily="34" charset="-122"/>
                <a:cs typeface="Calibri" pitchFamily="34" charset="-120"/>
              </a:rPr>
              <a:t>Branch example: </a:t>
            </a:r>
            <a:r>
              <a:rPr lang="en-US" sz="1200" dirty="0">
                <a:solidFill>
                  <a:srgbClr val="2C3E50"/>
                </a:solidFill>
                <a:latin typeface="Calibri" pitchFamily="34" charset="0"/>
                <a:ea typeface="Calibri" pitchFamily="34" charset="-122"/>
                <a:cs typeface="Calibri" pitchFamily="34" charset="-120"/>
              </a:rPr>
              <a:t>Takealot has 30 developers. At any time, 10 feature branches are active: feature/payment-gateway, feature/mobile-checkout, bugfix/cart-total. None affect the live site until reviewed and merged.</a:t>
            </a:r>
            <a:endParaRPr lang="en-US" sz="1200" dirty="0"/>
          </a:p>
          <a:p>
            <a:pPr marL="0" indent="0">
              <a:buNone/>
            </a:pPr>
            <a:r>
              <a:rPr lang="en-US" sz="1200" b="1" dirty="0">
                <a:solidFill>
                  <a:srgbClr val="1A2744"/>
                </a:solidFill>
                <a:latin typeface="Calibri" pitchFamily="34" charset="0"/>
                <a:ea typeface="Calibri" pitchFamily="34" charset="-122"/>
                <a:cs typeface="Calibri" pitchFamily="34" charset="-120"/>
              </a:rPr>
              <a:t>Merge example: </a:t>
            </a:r>
            <a:r>
              <a:rPr lang="en-US" sz="1200" dirty="0">
                <a:solidFill>
                  <a:srgbClr val="2C3E50"/>
                </a:solidFill>
                <a:latin typeface="Calibri" pitchFamily="34" charset="0"/>
                <a:ea typeface="Calibri" pitchFamily="34" charset="-122"/>
                <a:cs typeface="Calibri" pitchFamily="34" charset="-120"/>
              </a:rPr>
              <a:t>Dev A adds dark mode (feature/dark-mode). Dev B fixes checkout (bugfix/checkout). Both are merged into main — Git combines them cleanly into one codebase.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5F8FF"/>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30352"/>
          </a:xfrm>
          <a:prstGeom prst="rect">
            <a:avLst/>
          </a:prstGeom>
          <a:noFill/>
          <a:ln/>
        </p:spPr>
        <p:txBody>
          <a:bodyPr wrap="square" lIns="0" tIns="0" rIns="0" bIns="0" rtlCol="0" anchor="ctr"/>
          <a:lstStyle/>
          <a:p>
            <a:pPr marL="0" indent="0">
              <a:buNone/>
            </a:pPr>
            <a:r>
              <a:rPr lang="en-US" sz="2600" b="1" dirty="0">
                <a:solidFill>
                  <a:srgbClr val="1A2744"/>
                </a:solidFill>
                <a:latin typeface="Calibri" pitchFamily="34" charset="0"/>
                <a:ea typeface="Calibri" pitchFamily="34" charset="-122"/>
                <a:cs typeface="Calibri" pitchFamily="34" charset="-120"/>
              </a:rPr>
              <a:t>Clone, Push &amp; Pull</a:t>
            </a:r>
            <a:endParaRPr lang="en-US" sz="2600" dirty="0"/>
          </a:p>
        </p:txBody>
      </p:sp>
      <p:sp>
        <p:nvSpPr>
          <p:cNvPr id="3" name="Shape 1"/>
          <p:cNvSpPr/>
          <p:nvPr/>
        </p:nvSpPr>
        <p:spPr>
          <a:xfrm>
            <a:off x="411480" y="694944"/>
            <a:ext cx="8321040" cy="27432"/>
          </a:xfrm>
          <a:prstGeom prst="rect">
            <a:avLst/>
          </a:prstGeom>
          <a:solidFill>
            <a:srgbClr val="E4EAF6"/>
          </a:solidFill>
          <a:ln w="12700">
            <a:solidFill>
              <a:srgbClr val="E4EAF6"/>
            </a:solidFill>
            <a:prstDash val="solid"/>
          </a:ln>
        </p:spPr>
      </p:sp>
      <p:sp>
        <p:nvSpPr>
          <p:cNvPr id="4" name="Shape 2"/>
          <p:cNvSpPr/>
          <p:nvPr/>
        </p:nvSpPr>
        <p:spPr>
          <a:xfrm>
            <a:off x="411480" y="850392"/>
            <a:ext cx="2651760" cy="248716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5" name="Shape 3"/>
          <p:cNvSpPr/>
          <p:nvPr/>
        </p:nvSpPr>
        <p:spPr>
          <a:xfrm>
            <a:off x="411480" y="850392"/>
            <a:ext cx="64008" cy="2487168"/>
          </a:xfrm>
          <a:prstGeom prst="rect">
            <a:avLst/>
          </a:prstGeom>
          <a:solidFill>
            <a:srgbClr val="028090"/>
          </a:solidFill>
          <a:ln w="12700">
            <a:solidFill>
              <a:srgbClr val="028090"/>
            </a:solidFill>
            <a:prstDash val="solid"/>
          </a:ln>
        </p:spPr>
      </p:sp>
      <p:pic>
        <p:nvPicPr>
          <p:cNvPr id="6" name="Image 0" descr="preencoded.png"/>
          <p:cNvPicPr>
            <a:picLocks noChangeAspect="1"/>
          </p:cNvPicPr>
          <p:nvPr/>
        </p:nvPicPr>
        <p:blipFill>
          <a:blip r:embed="rId3"/>
          <a:stretch>
            <a:fillRect/>
          </a:stretch>
        </p:blipFill>
        <p:spPr>
          <a:xfrm>
            <a:off x="539496" y="969264"/>
            <a:ext cx="402336" cy="402336"/>
          </a:xfrm>
          <a:prstGeom prst="rect">
            <a:avLst/>
          </a:prstGeom>
        </p:spPr>
      </p:pic>
      <p:sp>
        <p:nvSpPr>
          <p:cNvPr id="7" name="Text 4"/>
          <p:cNvSpPr/>
          <p:nvPr/>
        </p:nvSpPr>
        <p:spPr>
          <a:xfrm>
            <a:off x="1014984" y="950976"/>
            <a:ext cx="1920240" cy="402336"/>
          </a:xfrm>
          <a:prstGeom prst="rect">
            <a:avLst/>
          </a:prstGeom>
          <a:noFill/>
          <a:ln/>
        </p:spPr>
        <p:txBody>
          <a:bodyPr wrap="square" lIns="0" tIns="0" rIns="0" bIns="0" rtlCol="0" anchor="ctr"/>
          <a:lstStyle/>
          <a:p>
            <a:pPr marL="0" indent="0">
              <a:buNone/>
            </a:pPr>
            <a:r>
              <a:rPr lang="en-US" sz="1600" b="1" dirty="0">
                <a:solidFill>
                  <a:srgbClr val="1A2744"/>
                </a:solidFill>
                <a:latin typeface="Calibri" pitchFamily="34" charset="0"/>
                <a:ea typeface="Calibri" pitchFamily="34" charset="-122"/>
                <a:cs typeface="Calibri" pitchFamily="34" charset="-120"/>
              </a:rPr>
              <a:t>Clone</a:t>
            </a:r>
            <a:endParaRPr lang="en-US" sz="1600" dirty="0"/>
          </a:p>
        </p:txBody>
      </p:sp>
      <p:sp>
        <p:nvSpPr>
          <p:cNvPr id="8" name="Text 5"/>
          <p:cNvSpPr/>
          <p:nvPr/>
        </p:nvSpPr>
        <p:spPr>
          <a:xfrm>
            <a:off x="539496" y="1444752"/>
            <a:ext cx="2395728" cy="1828800"/>
          </a:xfrm>
          <a:prstGeom prst="rect">
            <a:avLst/>
          </a:prstGeom>
          <a:noFill/>
          <a:ln/>
        </p:spPr>
        <p:txBody>
          <a:bodyPr wrap="square" rtlCol="0" anchor="ctr"/>
          <a:lstStyle/>
          <a:p>
            <a:pPr marL="0" indent="0">
              <a:buNone/>
            </a:pPr>
            <a:r>
              <a:rPr lang="en-US" sz="1200" dirty="0">
                <a:solidFill>
                  <a:srgbClr val="5A6A8A"/>
                </a:solidFill>
                <a:latin typeface="Calibri" pitchFamily="34" charset="0"/>
                <a:ea typeface="Calibri" pitchFamily="34" charset="-122"/>
                <a:cs typeface="Calibri" pitchFamily="34" charset="-120"/>
              </a:rPr>
              <a:t>Downloads a complete copy of a remote repo to your machine — including all files, all branches, and the full history.</a:t>
            </a:r>
            <a:endParaRPr lang="en-US" sz="1200" dirty="0"/>
          </a:p>
          <a:p>
            <a:pPr marL="0" indent="0">
              <a:buNone/>
            </a:pPr>
            <a:endParaRPr lang="en-US" sz="1200" dirty="0"/>
          </a:p>
          <a:p>
            <a:pPr marL="0" indent="0">
              <a:buNone/>
            </a:pPr>
            <a:r>
              <a:rPr lang="en-US" sz="1200" dirty="0">
                <a:solidFill>
                  <a:srgbClr val="5A6A8A"/>
                </a:solidFill>
                <a:latin typeface="Calibri" pitchFamily="34" charset="0"/>
                <a:ea typeface="Calibri" pitchFamily="34" charset="-122"/>
                <a:cs typeface="Calibri" pitchFamily="34" charset="-120"/>
              </a:rPr>
              <a:t>You only clone once, when you first join a project.</a:t>
            </a:r>
            <a:endParaRPr lang="en-US" sz="1200" dirty="0"/>
          </a:p>
        </p:txBody>
      </p:sp>
      <p:sp>
        <p:nvSpPr>
          <p:cNvPr id="9" name="Shape 6"/>
          <p:cNvSpPr/>
          <p:nvPr/>
        </p:nvSpPr>
        <p:spPr>
          <a:xfrm>
            <a:off x="3246120" y="850392"/>
            <a:ext cx="2651760" cy="248716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0" name="Shape 7"/>
          <p:cNvSpPr/>
          <p:nvPr/>
        </p:nvSpPr>
        <p:spPr>
          <a:xfrm>
            <a:off x="3246120" y="850392"/>
            <a:ext cx="64008" cy="2487168"/>
          </a:xfrm>
          <a:prstGeom prst="rect">
            <a:avLst/>
          </a:prstGeom>
          <a:solidFill>
            <a:srgbClr val="028A5B"/>
          </a:solidFill>
          <a:ln w="12700">
            <a:solidFill>
              <a:srgbClr val="028A5B"/>
            </a:solidFill>
            <a:prstDash val="solid"/>
          </a:ln>
        </p:spPr>
      </p:sp>
      <p:pic>
        <p:nvPicPr>
          <p:cNvPr id="11" name="Image 1" descr="preencoded.png"/>
          <p:cNvPicPr>
            <a:picLocks noChangeAspect="1"/>
          </p:cNvPicPr>
          <p:nvPr/>
        </p:nvPicPr>
        <p:blipFill>
          <a:blip r:embed="rId4"/>
          <a:stretch>
            <a:fillRect/>
          </a:stretch>
        </p:blipFill>
        <p:spPr>
          <a:xfrm>
            <a:off x="3374136" y="969264"/>
            <a:ext cx="402336" cy="402336"/>
          </a:xfrm>
          <a:prstGeom prst="rect">
            <a:avLst/>
          </a:prstGeom>
        </p:spPr>
      </p:pic>
      <p:sp>
        <p:nvSpPr>
          <p:cNvPr id="12" name="Text 8"/>
          <p:cNvSpPr/>
          <p:nvPr/>
        </p:nvSpPr>
        <p:spPr>
          <a:xfrm>
            <a:off x="3849624" y="950976"/>
            <a:ext cx="1920240" cy="402336"/>
          </a:xfrm>
          <a:prstGeom prst="rect">
            <a:avLst/>
          </a:prstGeom>
          <a:noFill/>
          <a:ln/>
        </p:spPr>
        <p:txBody>
          <a:bodyPr wrap="square" lIns="0" tIns="0" rIns="0" bIns="0" rtlCol="0" anchor="ctr"/>
          <a:lstStyle/>
          <a:p>
            <a:pPr marL="0" indent="0">
              <a:buNone/>
            </a:pPr>
            <a:r>
              <a:rPr lang="en-US" sz="1600" b="1" dirty="0">
                <a:solidFill>
                  <a:srgbClr val="1A2744"/>
                </a:solidFill>
                <a:latin typeface="Calibri" pitchFamily="34" charset="0"/>
                <a:ea typeface="Calibri" pitchFamily="34" charset="-122"/>
                <a:cs typeface="Calibri" pitchFamily="34" charset="-120"/>
              </a:rPr>
              <a:t>Push</a:t>
            </a:r>
            <a:endParaRPr lang="en-US" sz="1600" dirty="0"/>
          </a:p>
        </p:txBody>
      </p:sp>
      <p:sp>
        <p:nvSpPr>
          <p:cNvPr id="13" name="Text 9"/>
          <p:cNvSpPr/>
          <p:nvPr/>
        </p:nvSpPr>
        <p:spPr>
          <a:xfrm>
            <a:off x="3374136" y="1444752"/>
            <a:ext cx="2395728" cy="1828800"/>
          </a:xfrm>
          <a:prstGeom prst="rect">
            <a:avLst/>
          </a:prstGeom>
          <a:noFill/>
          <a:ln/>
        </p:spPr>
        <p:txBody>
          <a:bodyPr wrap="square" rtlCol="0" anchor="ctr"/>
          <a:lstStyle/>
          <a:p>
            <a:pPr marL="0" indent="0">
              <a:buNone/>
            </a:pPr>
            <a:r>
              <a:rPr lang="en-US" sz="1200" dirty="0">
                <a:solidFill>
                  <a:srgbClr val="5A6A8A"/>
                </a:solidFill>
                <a:latin typeface="Calibri" pitchFamily="34" charset="0"/>
                <a:ea typeface="Calibri" pitchFamily="34" charset="-122"/>
                <a:cs typeface="Calibri" pitchFamily="34" charset="-120"/>
              </a:rPr>
              <a:t>Uploads your local commits to the remote repository so your teammates can see your work.</a:t>
            </a:r>
            <a:endParaRPr lang="en-US" sz="1200" dirty="0"/>
          </a:p>
          <a:p>
            <a:pPr marL="0" indent="0">
              <a:buNone/>
            </a:pPr>
            <a:endParaRPr lang="en-US" sz="1200" dirty="0"/>
          </a:p>
          <a:p>
            <a:pPr marL="0" indent="0">
              <a:buNone/>
            </a:pPr>
            <a:r>
              <a:rPr lang="en-US" sz="1200" dirty="0">
                <a:solidFill>
                  <a:srgbClr val="5A6A8A"/>
                </a:solidFill>
                <a:latin typeface="Calibri" pitchFamily="34" charset="0"/>
                <a:ea typeface="Calibri" pitchFamily="34" charset="-122"/>
                <a:cs typeface="Calibri" pitchFamily="34" charset="-120"/>
              </a:rPr>
              <a:t>Push after committing work you want to share with the team.</a:t>
            </a:r>
            <a:endParaRPr lang="en-US" sz="1200" dirty="0"/>
          </a:p>
        </p:txBody>
      </p:sp>
      <p:sp>
        <p:nvSpPr>
          <p:cNvPr id="14" name="Shape 10"/>
          <p:cNvSpPr/>
          <p:nvPr/>
        </p:nvSpPr>
        <p:spPr>
          <a:xfrm>
            <a:off x="6080760" y="850392"/>
            <a:ext cx="2651760" cy="248716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5" name="Shape 11"/>
          <p:cNvSpPr/>
          <p:nvPr/>
        </p:nvSpPr>
        <p:spPr>
          <a:xfrm>
            <a:off x="6080760" y="850392"/>
            <a:ext cx="64008" cy="2487168"/>
          </a:xfrm>
          <a:prstGeom prst="rect">
            <a:avLst/>
          </a:prstGeom>
          <a:solidFill>
            <a:srgbClr val="1A2744"/>
          </a:solidFill>
          <a:ln w="12700">
            <a:solidFill>
              <a:srgbClr val="1A2744"/>
            </a:solidFill>
            <a:prstDash val="solid"/>
          </a:ln>
        </p:spPr>
      </p:sp>
      <p:pic>
        <p:nvPicPr>
          <p:cNvPr id="16" name="Image 2" descr="preencoded.png"/>
          <p:cNvPicPr>
            <a:picLocks noChangeAspect="1"/>
          </p:cNvPicPr>
          <p:nvPr/>
        </p:nvPicPr>
        <p:blipFill>
          <a:blip r:embed="rId5"/>
          <a:stretch>
            <a:fillRect/>
          </a:stretch>
        </p:blipFill>
        <p:spPr>
          <a:xfrm>
            <a:off x="6208776" y="969264"/>
            <a:ext cx="402336" cy="402336"/>
          </a:xfrm>
          <a:prstGeom prst="rect">
            <a:avLst/>
          </a:prstGeom>
        </p:spPr>
      </p:pic>
      <p:sp>
        <p:nvSpPr>
          <p:cNvPr id="17" name="Text 12"/>
          <p:cNvSpPr/>
          <p:nvPr/>
        </p:nvSpPr>
        <p:spPr>
          <a:xfrm>
            <a:off x="6684264" y="950976"/>
            <a:ext cx="1920240" cy="402336"/>
          </a:xfrm>
          <a:prstGeom prst="rect">
            <a:avLst/>
          </a:prstGeom>
          <a:noFill/>
          <a:ln/>
        </p:spPr>
        <p:txBody>
          <a:bodyPr wrap="square" lIns="0" tIns="0" rIns="0" bIns="0" rtlCol="0" anchor="ctr"/>
          <a:lstStyle/>
          <a:p>
            <a:pPr marL="0" indent="0">
              <a:buNone/>
            </a:pPr>
            <a:r>
              <a:rPr lang="en-US" sz="1600" b="1" dirty="0">
                <a:solidFill>
                  <a:srgbClr val="1A2744"/>
                </a:solidFill>
                <a:latin typeface="Calibri" pitchFamily="34" charset="0"/>
                <a:ea typeface="Calibri" pitchFamily="34" charset="-122"/>
                <a:cs typeface="Calibri" pitchFamily="34" charset="-120"/>
              </a:rPr>
              <a:t>Pull</a:t>
            </a:r>
            <a:endParaRPr lang="en-US" sz="1600" dirty="0"/>
          </a:p>
        </p:txBody>
      </p:sp>
      <p:sp>
        <p:nvSpPr>
          <p:cNvPr id="18" name="Text 13"/>
          <p:cNvSpPr/>
          <p:nvPr/>
        </p:nvSpPr>
        <p:spPr>
          <a:xfrm>
            <a:off x="6208776" y="1444752"/>
            <a:ext cx="2395728" cy="1828800"/>
          </a:xfrm>
          <a:prstGeom prst="rect">
            <a:avLst/>
          </a:prstGeom>
          <a:noFill/>
          <a:ln/>
        </p:spPr>
        <p:txBody>
          <a:bodyPr wrap="square" rtlCol="0" anchor="ctr"/>
          <a:lstStyle/>
          <a:p>
            <a:pPr marL="0" indent="0">
              <a:buNone/>
            </a:pPr>
            <a:r>
              <a:rPr lang="en-US" sz="1200" dirty="0">
                <a:solidFill>
                  <a:srgbClr val="5A6A8A"/>
                </a:solidFill>
                <a:latin typeface="Calibri" pitchFamily="34" charset="0"/>
                <a:ea typeface="Calibri" pitchFamily="34" charset="-122"/>
                <a:cs typeface="Calibri" pitchFamily="34" charset="-120"/>
              </a:rPr>
              <a:t>Downloads the latest commits from the remote into your local repo — keeps your code in sync.</a:t>
            </a:r>
            <a:endParaRPr lang="en-US" sz="1200" dirty="0"/>
          </a:p>
          <a:p>
            <a:pPr marL="0" indent="0">
              <a:buNone/>
            </a:pPr>
            <a:endParaRPr lang="en-US" sz="1200" dirty="0"/>
          </a:p>
          <a:p>
            <a:pPr marL="0" indent="0">
              <a:buNone/>
            </a:pPr>
            <a:r>
              <a:rPr lang="en-US" sz="1200" dirty="0">
                <a:solidFill>
                  <a:srgbClr val="5A6A8A"/>
                </a:solidFill>
                <a:latin typeface="Calibri" pitchFamily="34" charset="0"/>
                <a:ea typeface="Calibri" pitchFamily="34" charset="-122"/>
                <a:cs typeface="Calibri" pitchFamily="34" charset="-120"/>
              </a:rPr>
              <a:t>Run every morning before starting work so you have everyone's latest changes.</a:t>
            </a:r>
            <a:endParaRPr lang="en-US" sz="1200" dirty="0"/>
          </a:p>
        </p:txBody>
      </p:sp>
      <p:sp>
        <p:nvSpPr>
          <p:cNvPr id="19" name="Shape 14"/>
          <p:cNvSpPr/>
          <p:nvPr/>
        </p:nvSpPr>
        <p:spPr>
          <a:xfrm>
            <a:off x="411480" y="3730752"/>
            <a:ext cx="8321040" cy="1248156"/>
          </a:xfrm>
          <a:prstGeom prst="rect">
            <a:avLst/>
          </a:prstGeom>
          <a:solidFill>
            <a:srgbClr val="E8F7F9"/>
          </a:solidFill>
          <a:ln w="12700">
            <a:solidFill>
              <a:srgbClr val="028090"/>
            </a:solidFill>
            <a:prstDash val="solid"/>
          </a:ln>
          <a:effectLst>
            <a:outerShdw blurRad="101600" dist="38100" dir="8100000" algn="bl" rotWithShape="0">
              <a:srgbClr val="000000">
                <a:alpha val="12000"/>
              </a:srgbClr>
            </a:outerShdw>
          </a:effectLst>
        </p:spPr>
      </p:sp>
      <p:sp>
        <p:nvSpPr>
          <p:cNvPr id="20" name="Shape 15"/>
          <p:cNvSpPr/>
          <p:nvPr/>
        </p:nvSpPr>
        <p:spPr>
          <a:xfrm>
            <a:off x="411480" y="3730752"/>
            <a:ext cx="8321040" cy="347472"/>
          </a:xfrm>
          <a:prstGeom prst="rect">
            <a:avLst/>
          </a:prstGeom>
          <a:solidFill>
            <a:srgbClr val="028090"/>
          </a:solidFill>
          <a:ln w="12700">
            <a:solidFill>
              <a:srgbClr val="028090"/>
            </a:solidFill>
            <a:prstDash val="solid"/>
          </a:ln>
        </p:spPr>
      </p:sp>
      <p:sp>
        <p:nvSpPr>
          <p:cNvPr id="21" name="Text 16"/>
          <p:cNvSpPr/>
          <p:nvPr/>
        </p:nvSpPr>
        <p:spPr>
          <a:xfrm>
            <a:off x="521208" y="3758184"/>
            <a:ext cx="81381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Real-World Example</a:t>
            </a:r>
            <a:endParaRPr lang="en-US" sz="1200" dirty="0"/>
          </a:p>
        </p:txBody>
      </p:sp>
      <p:sp>
        <p:nvSpPr>
          <p:cNvPr id="22" name="Text 17"/>
          <p:cNvSpPr/>
          <p:nvPr/>
        </p:nvSpPr>
        <p:spPr>
          <a:xfrm>
            <a:off x="521208" y="4133088"/>
            <a:ext cx="8119872" cy="603504"/>
          </a:xfrm>
          <a:prstGeom prst="rect">
            <a:avLst/>
          </a:prstGeom>
          <a:noFill/>
          <a:ln/>
        </p:spPr>
        <p:txBody>
          <a:bodyPr wrap="square" rtlCol="0" anchor="t"/>
          <a:lstStyle/>
          <a:p>
            <a:pPr marL="0" indent="0">
              <a:buNone/>
            </a:pPr>
            <a:r>
              <a:rPr lang="en-US" sz="1200" b="1" dirty="0">
                <a:solidFill>
                  <a:srgbClr val="1A2744"/>
                </a:solidFill>
                <a:latin typeface="Calibri" pitchFamily="34" charset="0"/>
                <a:ea typeface="Calibri" pitchFamily="34" charset="-122"/>
                <a:cs typeface="Calibri" pitchFamily="34" charset="-120"/>
              </a:rPr>
              <a:t>New developer, day 1: </a:t>
            </a:r>
            <a:r>
              <a:rPr lang="en-US" sz="1200" dirty="0">
                <a:solidFill>
                  <a:srgbClr val="2C3E50"/>
                </a:solidFill>
                <a:latin typeface="Calibri" pitchFamily="34" charset="0"/>
                <a:ea typeface="Calibri" pitchFamily="34" charset="-122"/>
                <a:cs typeface="Calibri" pitchFamily="34" charset="-120"/>
              </a:rPr>
              <a:t>Their team lead sends the Azure Repos URL. They run git clone and within seconds, their laptop has the full codebase including 2 years of commit history — ready to start coding.</a:t>
            </a:r>
            <a:endParaRPr lang="en-US" sz="1200" dirty="0"/>
          </a:p>
          <a:p>
            <a:pPr marL="0" indent="0">
              <a:buNone/>
            </a:pPr>
            <a:r>
              <a:rPr lang="en-US" sz="1200" b="1" dirty="0">
                <a:solidFill>
                  <a:srgbClr val="1A2744"/>
                </a:solidFill>
                <a:latin typeface="Calibri" pitchFamily="34" charset="0"/>
                <a:ea typeface="Calibri" pitchFamily="34" charset="-122"/>
                <a:cs typeface="Calibri" pitchFamily="34" charset="-120"/>
              </a:rPr>
              <a:t>Daily routine: </a:t>
            </a:r>
            <a:r>
              <a:rPr lang="en-US" sz="1200" dirty="0">
                <a:solidFill>
                  <a:srgbClr val="2C3E50"/>
                </a:solidFill>
                <a:latin typeface="Calibri" pitchFamily="34" charset="0"/>
                <a:ea typeface="Calibri" pitchFamily="34" charset="-122"/>
                <a:cs typeface="Calibri" pitchFamily="34" charset="-120"/>
              </a:rPr>
              <a:t>Every developer starts with git pull to get overnight changes from colleagues, then pushes at end of day with git push to share the day's work.</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7132320" y="-1097280"/>
            <a:ext cx="4114800" cy="4114800"/>
          </a:xfrm>
          <a:prstGeom prst="ellipse">
            <a:avLst/>
          </a:prstGeom>
          <a:solidFill>
            <a:srgbClr val="028090">
              <a:alpha val="25000"/>
            </a:srgbClr>
          </a:solidFill>
          <a:ln w="12700">
            <a:solidFill>
              <a:srgbClr val="028090">
                <a:alpha val="25000"/>
              </a:srgbClr>
            </a:solidFill>
            <a:prstDash val="solid"/>
          </a:ln>
        </p:spPr>
      </p:sp>
      <p:sp>
        <p:nvSpPr>
          <p:cNvPr id="3" name="Shape 1"/>
          <p:cNvSpPr/>
          <p:nvPr/>
        </p:nvSpPr>
        <p:spPr>
          <a:xfrm>
            <a:off x="-1371600" y="3200400"/>
            <a:ext cx="3200400" cy="3200400"/>
          </a:xfrm>
          <a:prstGeom prst="ellipse">
            <a:avLst/>
          </a:prstGeom>
          <a:solidFill>
            <a:srgbClr val="02C39A">
              <a:alpha val="20000"/>
            </a:srgbClr>
          </a:solidFill>
          <a:ln w="12700">
            <a:solidFill>
              <a:srgbClr val="02C39A">
                <a:alpha val="20000"/>
              </a:srgbClr>
            </a:solidFill>
            <a:prstDash val="solid"/>
          </a:ln>
        </p:spPr>
      </p:sp>
      <p:sp>
        <p:nvSpPr>
          <p:cNvPr id="4" name="Text 2"/>
          <p:cNvSpPr/>
          <p:nvPr/>
        </p:nvSpPr>
        <p:spPr>
          <a:xfrm>
            <a:off x="548640" y="1463040"/>
            <a:ext cx="8046720" cy="91440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Section 3</a:t>
            </a:r>
            <a:endParaRPr lang="en-US" sz="3800" dirty="0"/>
          </a:p>
        </p:txBody>
      </p:sp>
      <p:sp>
        <p:nvSpPr>
          <p:cNvPr id="5" name="Text 3"/>
          <p:cNvSpPr/>
          <p:nvPr/>
        </p:nvSpPr>
        <p:spPr>
          <a:xfrm>
            <a:off x="548640" y="2468880"/>
            <a:ext cx="8046720" cy="548640"/>
          </a:xfrm>
          <a:prstGeom prst="rect">
            <a:avLst/>
          </a:prstGeom>
          <a:noFill/>
          <a:ln/>
        </p:spPr>
        <p:txBody>
          <a:bodyPr wrap="square" rtlCol="0" anchor="ctr"/>
          <a:lstStyle/>
          <a:p>
            <a:pPr marL="0" indent="0">
              <a:buNone/>
            </a:pPr>
            <a:r>
              <a:rPr lang="en-US" sz="1800" i="1" dirty="0">
                <a:solidFill>
                  <a:srgbClr val="C8DCFC"/>
                </a:solidFill>
                <a:latin typeface="Calibri" pitchFamily="34" charset="0"/>
                <a:ea typeface="Calibri" pitchFamily="34" charset="-122"/>
                <a:cs typeface="Calibri" pitchFamily="34" charset="-120"/>
              </a:rPr>
              <a:t>Git Workflow Commands — All 9 Explained</a:t>
            </a:r>
            <a:endParaRPr lang="en-US" sz="1800" dirty="0"/>
          </a:p>
        </p:txBody>
      </p:sp>
      <p:pic>
        <p:nvPicPr>
          <p:cNvPr id="6" name="Image 0" descr="preencoded.png"/>
          <p:cNvPicPr>
            <a:picLocks noChangeAspect="1"/>
          </p:cNvPicPr>
          <p:nvPr/>
        </p:nvPicPr>
        <p:blipFill>
          <a:blip r:embed="rId3"/>
          <a:stretch>
            <a:fillRect/>
          </a:stretch>
        </p:blipFill>
        <p:spPr>
          <a:xfrm>
            <a:off x="7132320" y="1280160"/>
            <a:ext cx="1463040" cy="1463040"/>
          </a:xfrm>
          <a:prstGeom prst="rect">
            <a:avLst/>
          </a:prstGeom>
        </p:spPr>
      </p:pic>
      <p:sp>
        <p:nvSpPr>
          <p:cNvPr id="7" name="Text 4"/>
          <p:cNvSpPr/>
          <p:nvPr/>
        </p:nvSpPr>
        <p:spPr>
          <a:xfrm>
            <a:off x="548640" y="3200400"/>
            <a:ext cx="8229600" cy="365760"/>
          </a:xfrm>
          <a:prstGeom prst="rect">
            <a:avLst/>
          </a:prstGeom>
          <a:noFill/>
          <a:ln/>
        </p:spPr>
        <p:txBody>
          <a:bodyPr wrap="square" rtlCol="0" anchor="ctr"/>
          <a:lstStyle/>
          <a:p>
            <a:pPr marL="0" indent="0">
              <a:buNone/>
            </a:pPr>
            <a:r>
              <a:rPr lang="en-US" sz="1400" i="1" dirty="0">
                <a:solidFill>
                  <a:srgbClr val="C8DCFC"/>
                </a:solidFill>
                <a:latin typeface="Calibri" pitchFamily="34" charset="0"/>
                <a:ea typeface="Calibri" pitchFamily="34" charset="-122"/>
                <a:cs typeface="Calibri" pitchFamily="34" charset="-120"/>
              </a:rPr>
              <a:t>For each command you will see: what it does · why it exists · when to use it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5F8FF"/>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30352"/>
          </a:xfrm>
          <a:prstGeom prst="rect">
            <a:avLst/>
          </a:prstGeom>
          <a:noFill/>
          <a:ln/>
        </p:spPr>
        <p:txBody>
          <a:bodyPr wrap="square" lIns="0" tIns="0" rIns="0" bIns="0" rtlCol="0" anchor="ctr"/>
          <a:lstStyle/>
          <a:p>
            <a:pPr marL="0" indent="0">
              <a:buNone/>
            </a:pPr>
            <a:r>
              <a:rPr lang="en-US" sz="2600" b="1" dirty="0">
                <a:solidFill>
                  <a:srgbClr val="1A2744"/>
                </a:solidFill>
                <a:latin typeface="Calibri" pitchFamily="34" charset="0"/>
                <a:ea typeface="Calibri" pitchFamily="34" charset="-122"/>
                <a:cs typeface="Calibri" pitchFamily="34" charset="-120"/>
              </a:rPr>
              <a:t>Commands 1 &amp; 2 — Starting &amp; Staging</a:t>
            </a:r>
            <a:endParaRPr lang="en-US" sz="2600" dirty="0"/>
          </a:p>
        </p:txBody>
      </p:sp>
      <p:sp>
        <p:nvSpPr>
          <p:cNvPr id="3" name="Shape 1"/>
          <p:cNvSpPr/>
          <p:nvPr/>
        </p:nvSpPr>
        <p:spPr>
          <a:xfrm>
            <a:off x="411480" y="694944"/>
            <a:ext cx="8321040" cy="27432"/>
          </a:xfrm>
          <a:prstGeom prst="rect">
            <a:avLst/>
          </a:prstGeom>
          <a:solidFill>
            <a:srgbClr val="E4EAF6"/>
          </a:solidFill>
          <a:ln w="12700">
            <a:solidFill>
              <a:srgbClr val="E4EAF6"/>
            </a:solidFill>
            <a:prstDash val="solid"/>
          </a:ln>
        </p:spPr>
      </p:sp>
      <p:sp>
        <p:nvSpPr>
          <p:cNvPr id="4" name="Shape 2"/>
          <p:cNvSpPr/>
          <p:nvPr/>
        </p:nvSpPr>
        <p:spPr>
          <a:xfrm>
            <a:off x="411480" y="850392"/>
            <a:ext cx="8321040" cy="120700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5" name="Shape 3"/>
          <p:cNvSpPr/>
          <p:nvPr/>
        </p:nvSpPr>
        <p:spPr>
          <a:xfrm>
            <a:off x="411480" y="850392"/>
            <a:ext cx="64008" cy="1207008"/>
          </a:xfrm>
          <a:prstGeom prst="rect">
            <a:avLst/>
          </a:prstGeom>
          <a:solidFill>
            <a:srgbClr val="028090"/>
          </a:solidFill>
          <a:ln w="12700">
            <a:solidFill>
              <a:srgbClr val="028090"/>
            </a:solidFill>
            <a:prstDash val="solid"/>
          </a:ln>
        </p:spPr>
      </p:sp>
      <p:pic>
        <p:nvPicPr>
          <p:cNvPr id="6" name="Image 0" descr="preencoded.png"/>
          <p:cNvPicPr>
            <a:picLocks noChangeAspect="1"/>
          </p:cNvPicPr>
          <p:nvPr/>
        </p:nvPicPr>
        <p:blipFill>
          <a:blip r:embed="rId3"/>
          <a:stretch>
            <a:fillRect/>
          </a:stretch>
        </p:blipFill>
        <p:spPr>
          <a:xfrm>
            <a:off x="548640" y="960120"/>
            <a:ext cx="347472" cy="347472"/>
          </a:xfrm>
          <a:prstGeom prst="rect">
            <a:avLst/>
          </a:prstGeom>
        </p:spPr>
      </p:pic>
      <p:sp>
        <p:nvSpPr>
          <p:cNvPr id="7" name="Text 4"/>
          <p:cNvSpPr/>
          <p:nvPr/>
        </p:nvSpPr>
        <p:spPr>
          <a:xfrm>
            <a:off x="978408" y="923544"/>
            <a:ext cx="7662672" cy="274320"/>
          </a:xfrm>
          <a:prstGeom prst="rect">
            <a:avLst/>
          </a:prstGeom>
          <a:noFill/>
          <a:ln/>
        </p:spPr>
        <p:txBody>
          <a:bodyPr wrap="square" lIns="0" tIns="0" rIns="0" bIns="0" rtlCol="0" anchor="ctr"/>
          <a:lstStyle/>
          <a:p>
            <a:pPr marL="0" indent="0">
              <a:buNone/>
            </a:pPr>
            <a:r>
              <a:rPr lang="en-US" sz="1300" b="1" dirty="0">
                <a:solidFill>
                  <a:srgbClr val="028090"/>
                </a:solidFill>
                <a:latin typeface="Consolas" pitchFamily="34" charset="0"/>
                <a:ea typeface="Consolas" pitchFamily="34" charset="-122"/>
                <a:cs typeface="Consolas" pitchFamily="34" charset="-120"/>
              </a:rPr>
              <a:t>git init</a:t>
            </a:r>
            <a:endParaRPr lang="en-US" sz="1300" dirty="0"/>
          </a:p>
        </p:txBody>
      </p:sp>
      <p:sp>
        <p:nvSpPr>
          <p:cNvPr id="8" name="Text 5"/>
          <p:cNvSpPr/>
          <p:nvPr/>
        </p:nvSpPr>
        <p:spPr>
          <a:xfrm>
            <a:off x="548640" y="1234440"/>
            <a:ext cx="8092440" cy="749808"/>
          </a:xfrm>
          <a:prstGeom prst="rect">
            <a:avLst/>
          </a:prstGeom>
          <a:noFill/>
          <a:ln/>
        </p:spPr>
        <p:txBody>
          <a:bodyPr wrap="square" rtlCol="0" anchor="t"/>
          <a:lstStyle/>
          <a:p>
            <a:pPr marL="0" indent="0">
              <a:buNone/>
            </a:pPr>
            <a:r>
              <a:rPr lang="en-US" sz="1150" b="1" dirty="0">
                <a:solidFill>
                  <a:srgbClr val="1A2744"/>
                </a:solidFill>
                <a:latin typeface="Calibri" pitchFamily="34" charset="0"/>
                <a:ea typeface="Calibri" pitchFamily="34" charset="-122"/>
                <a:cs typeface="Calibri" pitchFamily="34" charset="-120"/>
              </a:rPr>
              <a:t>What: </a:t>
            </a:r>
            <a:r>
              <a:rPr lang="en-US" sz="1150" dirty="0">
                <a:solidFill>
                  <a:srgbClr val="5A6A8A"/>
                </a:solidFill>
                <a:latin typeface="Calibri" pitchFamily="34" charset="0"/>
                <a:ea typeface="Calibri" pitchFamily="34" charset="-122"/>
                <a:cs typeface="Calibri" pitchFamily="34" charset="-120"/>
              </a:rPr>
              <a:t>Creates a brand-new empty Git repository in your current folder. Generates a hidden .git folder.</a:t>
            </a:r>
            <a:endParaRPr lang="en-US" sz="1150" dirty="0"/>
          </a:p>
          <a:p>
            <a:pPr marL="0" indent="0">
              <a:buNone/>
            </a:pPr>
            <a:r>
              <a:rPr lang="en-US" sz="1150" b="1" dirty="0">
                <a:solidFill>
                  <a:srgbClr val="1A2744"/>
                </a:solidFill>
                <a:latin typeface="Calibri" pitchFamily="34" charset="0"/>
                <a:ea typeface="Calibri" pitchFamily="34" charset="-122"/>
                <a:cs typeface="Calibri" pitchFamily="34" charset="-120"/>
              </a:rPr>
              <a:t>Why: </a:t>
            </a:r>
            <a:endParaRPr lang="en-US" sz="1150" dirty="0"/>
          </a:p>
          <a:p>
            <a:pPr marL="0" indent="0">
              <a:buNone/>
            </a:pPr>
            <a:r>
              <a:rPr lang="en-US" sz="1150" dirty="0">
                <a:solidFill>
                  <a:srgbClr val="5A6A8A"/>
                </a:solidFill>
                <a:latin typeface="Calibri" pitchFamily="34" charset="0"/>
                <a:ea typeface="Calibri" pitchFamily="34" charset="-122"/>
                <a:cs typeface="Calibri" pitchFamily="34" charset="-120"/>
              </a:rPr>
              <a:t>Without this, Git has no way to track your project.</a:t>
            </a:r>
            <a:endParaRPr lang="en-US" sz="1150" dirty="0"/>
          </a:p>
          <a:p>
            <a:pPr marL="0" indent="0">
              <a:buNone/>
            </a:pPr>
            <a:r>
              <a:rPr lang="en-US" sz="1150" b="1" dirty="0">
                <a:solidFill>
                  <a:srgbClr val="1A2744"/>
                </a:solidFill>
                <a:latin typeface="Calibri" pitchFamily="34" charset="0"/>
                <a:ea typeface="Calibri" pitchFamily="34" charset="-122"/>
                <a:cs typeface="Calibri" pitchFamily="34" charset="-120"/>
              </a:rPr>
              <a:t>When: </a:t>
            </a:r>
            <a:endParaRPr lang="en-US" sz="1150" dirty="0"/>
          </a:p>
          <a:p>
            <a:pPr marL="0" indent="0">
              <a:buNone/>
            </a:pPr>
            <a:r>
              <a:rPr lang="en-US" sz="1150" dirty="0">
                <a:solidFill>
                  <a:srgbClr val="5A6A8A"/>
                </a:solidFill>
                <a:latin typeface="Calibri" pitchFamily="34" charset="0"/>
                <a:ea typeface="Calibri" pitchFamily="34" charset="-122"/>
                <a:cs typeface="Calibri" pitchFamily="34" charset="-120"/>
              </a:rPr>
              <a:t>Run ONCE when starting a brand-new project that isn't already a Git repo.</a:t>
            </a:r>
            <a:endParaRPr lang="en-US" sz="1150" dirty="0"/>
          </a:p>
        </p:txBody>
      </p:sp>
      <p:sp>
        <p:nvSpPr>
          <p:cNvPr id="9" name="Shape 6"/>
          <p:cNvSpPr/>
          <p:nvPr/>
        </p:nvSpPr>
        <p:spPr>
          <a:xfrm>
            <a:off x="411480" y="2176272"/>
            <a:ext cx="8321040" cy="120700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0" name="Shape 7"/>
          <p:cNvSpPr/>
          <p:nvPr/>
        </p:nvSpPr>
        <p:spPr>
          <a:xfrm>
            <a:off x="411480" y="2176272"/>
            <a:ext cx="64008" cy="1207008"/>
          </a:xfrm>
          <a:prstGeom prst="rect">
            <a:avLst/>
          </a:prstGeom>
          <a:solidFill>
            <a:srgbClr val="028090"/>
          </a:solidFill>
          <a:ln w="12700">
            <a:solidFill>
              <a:srgbClr val="028090"/>
            </a:solidFill>
            <a:prstDash val="solid"/>
          </a:ln>
        </p:spPr>
      </p:sp>
      <p:pic>
        <p:nvPicPr>
          <p:cNvPr id="11" name="Image 1" descr="preencoded.png"/>
          <p:cNvPicPr>
            <a:picLocks noChangeAspect="1"/>
          </p:cNvPicPr>
          <p:nvPr/>
        </p:nvPicPr>
        <p:blipFill>
          <a:blip r:embed="rId4"/>
          <a:stretch>
            <a:fillRect/>
          </a:stretch>
        </p:blipFill>
        <p:spPr>
          <a:xfrm>
            <a:off x="548640" y="2286000"/>
            <a:ext cx="347472" cy="347472"/>
          </a:xfrm>
          <a:prstGeom prst="rect">
            <a:avLst/>
          </a:prstGeom>
        </p:spPr>
      </p:pic>
      <p:sp>
        <p:nvSpPr>
          <p:cNvPr id="12" name="Text 8"/>
          <p:cNvSpPr/>
          <p:nvPr/>
        </p:nvSpPr>
        <p:spPr>
          <a:xfrm>
            <a:off x="978408" y="2249424"/>
            <a:ext cx="7662672" cy="274320"/>
          </a:xfrm>
          <a:prstGeom prst="rect">
            <a:avLst/>
          </a:prstGeom>
          <a:noFill/>
          <a:ln/>
        </p:spPr>
        <p:txBody>
          <a:bodyPr wrap="square" lIns="0" tIns="0" rIns="0" bIns="0" rtlCol="0" anchor="ctr"/>
          <a:lstStyle/>
          <a:p>
            <a:pPr marL="0" indent="0">
              <a:buNone/>
            </a:pPr>
            <a:r>
              <a:rPr lang="en-US" sz="1300" b="1" dirty="0">
                <a:solidFill>
                  <a:srgbClr val="028090"/>
                </a:solidFill>
                <a:latin typeface="Consolas" pitchFamily="34" charset="0"/>
                <a:ea typeface="Consolas" pitchFamily="34" charset="-122"/>
                <a:cs typeface="Consolas" pitchFamily="34" charset="-120"/>
              </a:rPr>
              <a:t>git add .  (or git add filename)</a:t>
            </a:r>
            <a:endParaRPr lang="en-US" sz="1300" dirty="0"/>
          </a:p>
        </p:txBody>
      </p:sp>
      <p:sp>
        <p:nvSpPr>
          <p:cNvPr id="13" name="Text 9"/>
          <p:cNvSpPr/>
          <p:nvPr/>
        </p:nvSpPr>
        <p:spPr>
          <a:xfrm>
            <a:off x="548640" y="2560320"/>
            <a:ext cx="8092440" cy="749808"/>
          </a:xfrm>
          <a:prstGeom prst="rect">
            <a:avLst/>
          </a:prstGeom>
          <a:noFill/>
          <a:ln/>
        </p:spPr>
        <p:txBody>
          <a:bodyPr wrap="square" rtlCol="0" anchor="t"/>
          <a:lstStyle/>
          <a:p>
            <a:pPr marL="0" indent="0">
              <a:buNone/>
            </a:pPr>
            <a:r>
              <a:rPr lang="en-US" sz="1150" b="1" dirty="0">
                <a:solidFill>
                  <a:srgbClr val="1A2744"/>
                </a:solidFill>
                <a:latin typeface="Calibri" pitchFamily="34" charset="0"/>
                <a:ea typeface="Calibri" pitchFamily="34" charset="-122"/>
                <a:cs typeface="Calibri" pitchFamily="34" charset="-120"/>
              </a:rPr>
              <a:t>What: </a:t>
            </a:r>
            <a:r>
              <a:rPr lang="en-US" sz="1150" dirty="0">
                <a:solidFill>
                  <a:srgbClr val="5A6A8A"/>
                </a:solidFill>
                <a:latin typeface="Calibri" pitchFamily="34" charset="0"/>
                <a:ea typeface="Calibri" pitchFamily="34" charset="-122"/>
                <a:cs typeface="Calibri" pitchFamily="34" charset="-120"/>
              </a:rPr>
              <a:t>Stages all modified/new files — marks them as ready to be included in the next commit.</a:t>
            </a:r>
            <a:endParaRPr lang="en-US" sz="1150" dirty="0"/>
          </a:p>
          <a:p>
            <a:pPr marL="0" indent="0">
              <a:buNone/>
            </a:pPr>
            <a:r>
              <a:rPr lang="en-US" sz="1150" b="1" dirty="0">
                <a:solidFill>
                  <a:srgbClr val="1A2744"/>
                </a:solidFill>
                <a:latin typeface="Calibri" pitchFamily="34" charset="0"/>
                <a:ea typeface="Calibri" pitchFamily="34" charset="-122"/>
                <a:cs typeface="Calibri" pitchFamily="34" charset="-120"/>
              </a:rPr>
              <a:t>Why: </a:t>
            </a:r>
            <a:endParaRPr lang="en-US" sz="1150" dirty="0"/>
          </a:p>
          <a:p>
            <a:pPr marL="0" indent="0">
              <a:buNone/>
            </a:pPr>
            <a:r>
              <a:rPr lang="en-US" sz="1150" dirty="0">
                <a:solidFill>
                  <a:srgbClr val="5A6A8A"/>
                </a:solidFill>
                <a:latin typeface="Calibri" pitchFamily="34" charset="0"/>
                <a:ea typeface="Calibri" pitchFamily="34" charset="-122"/>
                <a:cs typeface="Calibri" pitchFamily="34" charset="-120"/>
              </a:rPr>
              <a:t>Git doesn't auto-track every change. You choose what goes into each commit.</a:t>
            </a:r>
            <a:endParaRPr lang="en-US" sz="1150" dirty="0"/>
          </a:p>
          <a:p>
            <a:pPr marL="0" indent="0">
              <a:buNone/>
            </a:pPr>
            <a:r>
              <a:rPr lang="en-US" sz="1150" b="1" dirty="0">
                <a:solidFill>
                  <a:srgbClr val="1A2744"/>
                </a:solidFill>
                <a:latin typeface="Calibri" pitchFamily="34" charset="0"/>
                <a:ea typeface="Calibri" pitchFamily="34" charset="-122"/>
                <a:cs typeface="Calibri" pitchFamily="34" charset="-120"/>
              </a:rPr>
              <a:t>When: </a:t>
            </a:r>
            <a:endParaRPr lang="en-US" sz="1150" dirty="0"/>
          </a:p>
          <a:p>
            <a:pPr marL="0" indent="0">
              <a:buNone/>
            </a:pPr>
            <a:r>
              <a:rPr lang="en-US" sz="1150" dirty="0">
                <a:solidFill>
                  <a:srgbClr val="5A6A8A"/>
                </a:solidFill>
                <a:latin typeface="Calibri" pitchFamily="34" charset="0"/>
                <a:ea typeface="Calibri" pitchFamily="34" charset="-122"/>
                <a:cs typeface="Calibri" pitchFamily="34" charset="-120"/>
              </a:rPr>
              <a:t>After making changes you want to save. Tip: git add login.js stages ONLY that file.</a:t>
            </a:r>
            <a:endParaRPr lang="en-US" sz="1150" dirty="0"/>
          </a:p>
        </p:txBody>
      </p:sp>
      <p:sp>
        <p:nvSpPr>
          <p:cNvPr id="14" name="Shape 10"/>
          <p:cNvSpPr/>
          <p:nvPr/>
        </p:nvSpPr>
        <p:spPr>
          <a:xfrm>
            <a:off x="411480" y="3493008"/>
            <a:ext cx="8321040" cy="1261872"/>
          </a:xfrm>
          <a:prstGeom prst="rect">
            <a:avLst/>
          </a:prstGeom>
          <a:solidFill>
            <a:srgbClr val="E8F7F9"/>
          </a:solidFill>
          <a:ln w="12700">
            <a:solidFill>
              <a:srgbClr val="028090"/>
            </a:solidFill>
            <a:prstDash val="solid"/>
          </a:ln>
          <a:effectLst>
            <a:outerShdw blurRad="101600" dist="38100" dir="8100000" algn="bl" rotWithShape="0">
              <a:srgbClr val="000000">
                <a:alpha val="12000"/>
              </a:srgbClr>
            </a:outerShdw>
          </a:effectLst>
        </p:spPr>
      </p:sp>
      <p:sp>
        <p:nvSpPr>
          <p:cNvPr id="15" name="Shape 11"/>
          <p:cNvSpPr/>
          <p:nvPr/>
        </p:nvSpPr>
        <p:spPr>
          <a:xfrm>
            <a:off x="411480" y="3493008"/>
            <a:ext cx="8321040" cy="347472"/>
          </a:xfrm>
          <a:prstGeom prst="rect">
            <a:avLst/>
          </a:prstGeom>
          <a:solidFill>
            <a:srgbClr val="028090"/>
          </a:solidFill>
          <a:ln w="12700">
            <a:solidFill>
              <a:srgbClr val="028090"/>
            </a:solidFill>
            <a:prstDash val="solid"/>
          </a:ln>
        </p:spPr>
      </p:sp>
      <p:sp>
        <p:nvSpPr>
          <p:cNvPr id="16" name="Text 12"/>
          <p:cNvSpPr/>
          <p:nvPr/>
        </p:nvSpPr>
        <p:spPr>
          <a:xfrm>
            <a:off x="521208" y="3520440"/>
            <a:ext cx="81381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Real-World Example</a:t>
            </a:r>
            <a:endParaRPr lang="en-US" sz="1200" dirty="0"/>
          </a:p>
        </p:txBody>
      </p:sp>
      <p:sp>
        <p:nvSpPr>
          <p:cNvPr id="17" name="Text 13"/>
          <p:cNvSpPr/>
          <p:nvPr/>
        </p:nvSpPr>
        <p:spPr>
          <a:xfrm>
            <a:off x="521208" y="3895344"/>
            <a:ext cx="8119872" cy="786384"/>
          </a:xfrm>
          <a:prstGeom prst="rect">
            <a:avLst/>
          </a:prstGeom>
          <a:noFill/>
          <a:ln/>
        </p:spPr>
        <p:txBody>
          <a:bodyPr wrap="square" rtlCol="0" anchor="t"/>
          <a:lstStyle/>
          <a:p>
            <a:pPr marL="0" indent="0">
              <a:buNone/>
            </a:pPr>
            <a:r>
              <a:rPr lang="en-US" sz="1200" b="1" dirty="0">
                <a:solidFill>
                  <a:srgbClr val="1A2744"/>
                </a:solidFill>
                <a:latin typeface="Calibri" pitchFamily="34" charset="0"/>
                <a:ea typeface="Calibri" pitchFamily="34" charset="-122"/>
                <a:cs typeface="Calibri" pitchFamily="34" charset="-120"/>
              </a:rPr>
              <a:t>git init: </a:t>
            </a:r>
            <a:r>
              <a:rPr lang="en-US" sz="1200" dirty="0">
                <a:solidFill>
                  <a:srgbClr val="2C3E50"/>
                </a:solidFill>
                <a:latin typeface="Calibri" pitchFamily="34" charset="0"/>
                <a:ea typeface="Calibri" pitchFamily="34" charset="-122"/>
                <a:cs typeface="Calibri" pitchFamily="34" charset="-120"/>
              </a:rPr>
              <a:t>A student creates a folder called my-website and runs git init. Git now tracks this project — the .git folder appears (hidden).</a:t>
            </a:r>
            <a:endParaRPr lang="en-US" sz="1200" dirty="0"/>
          </a:p>
          <a:p>
            <a:pPr marL="0" indent="0">
              <a:buNone/>
            </a:pPr>
            <a:r>
              <a:rPr lang="en-US" sz="1200" b="1" dirty="0">
                <a:solidFill>
                  <a:srgbClr val="1A2744"/>
                </a:solidFill>
                <a:latin typeface="Calibri" pitchFamily="34" charset="0"/>
                <a:ea typeface="Calibri" pitchFamily="34" charset="-122"/>
                <a:cs typeface="Calibri" pitchFamily="34" charset="-120"/>
              </a:rPr>
              <a:t>git add: </a:t>
            </a:r>
            <a:r>
              <a:rPr lang="en-US" sz="1200" dirty="0">
                <a:solidFill>
                  <a:srgbClr val="2C3E50"/>
                </a:solidFill>
                <a:latin typeface="Calibri" pitchFamily="34" charset="0"/>
                <a:ea typeface="Calibri" pitchFamily="34" charset="-122"/>
                <a:cs typeface="Calibri" pitchFamily="34" charset="-120"/>
              </a:rPr>
              <a:t>A developer edits login.js, style.css, and readme.md but only wants to commit login changes. They run git add login.js — only that file is staged. This keeps commits focused and meaningful.</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5F8FF"/>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30352"/>
          </a:xfrm>
          <a:prstGeom prst="rect">
            <a:avLst/>
          </a:prstGeom>
          <a:noFill/>
          <a:ln/>
        </p:spPr>
        <p:txBody>
          <a:bodyPr wrap="square" lIns="0" tIns="0" rIns="0" bIns="0" rtlCol="0" anchor="ctr"/>
          <a:lstStyle/>
          <a:p>
            <a:pPr marL="0" indent="0">
              <a:buNone/>
            </a:pPr>
            <a:r>
              <a:rPr lang="en-US" sz="2600" b="1" dirty="0">
                <a:solidFill>
                  <a:srgbClr val="1A2744"/>
                </a:solidFill>
                <a:latin typeface="Calibri" pitchFamily="34" charset="0"/>
                <a:ea typeface="Calibri" pitchFamily="34" charset="-122"/>
                <a:cs typeface="Calibri" pitchFamily="34" charset="-120"/>
              </a:rPr>
              <a:t>Commands 3 &amp; 4 — Saving &amp; Branching</a:t>
            </a:r>
            <a:endParaRPr lang="en-US" sz="2600" dirty="0"/>
          </a:p>
        </p:txBody>
      </p:sp>
      <p:sp>
        <p:nvSpPr>
          <p:cNvPr id="3" name="Shape 1"/>
          <p:cNvSpPr/>
          <p:nvPr/>
        </p:nvSpPr>
        <p:spPr>
          <a:xfrm>
            <a:off x="411480" y="694944"/>
            <a:ext cx="8321040" cy="27432"/>
          </a:xfrm>
          <a:prstGeom prst="rect">
            <a:avLst/>
          </a:prstGeom>
          <a:solidFill>
            <a:srgbClr val="E4EAF6"/>
          </a:solidFill>
          <a:ln w="12700">
            <a:solidFill>
              <a:srgbClr val="E4EAF6"/>
            </a:solidFill>
            <a:prstDash val="solid"/>
          </a:ln>
        </p:spPr>
      </p:sp>
      <p:sp>
        <p:nvSpPr>
          <p:cNvPr id="4" name="Shape 2"/>
          <p:cNvSpPr/>
          <p:nvPr/>
        </p:nvSpPr>
        <p:spPr>
          <a:xfrm>
            <a:off x="411480" y="850392"/>
            <a:ext cx="8321040" cy="120700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5" name="Shape 3"/>
          <p:cNvSpPr/>
          <p:nvPr/>
        </p:nvSpPr>
        <p:spPr>
          <a:xfrm>
            <a:off x="411480" y="850392"/>
            <a:ext cx="64008" cy="1207008"/>
          </a:xfrm>
          <a:prstGeom prst="rect">
            <a:avLst/>
          </a:prstGeom>
          <a:solidFill>
            <a:srgbClr val="028090"/>
          </a:solidFill>
          <a:ln w="12700">
            <a:solidFill>
              <a:srgbClr val="028090"/>
            </a:solidFill>
            <a:prstDash val="solid"/>
          </a:ln>
        </p:spPr>
      </p:sp>
      <p:pic>
        <p:nvPicPr>
          <p:cNvPr id="6" name="Image 0" descr="preencoded.png"/>
          <p:cNvPicPr>
            <a:picLocks noChangeAspect="1"/>
          </p:cNvPicPr>
          <p:nvPr/>
        </p:nvPicPr>
        <p:blipFill>
          <a:blip r:embed="rId3"/>
          <a:stretch>
            <a:fillRect/>
          </a:stretch>
        </p:blipFill>
        <p:spPr>
          <a:xfrm>
            <a:off x="548640" y="960120"/>
            <a:ext cx="347472" cy="347472"/>
          </a:xfrm>
          <a:prstGeom prst="rect">
            <a:avLst/>
          </a:prstGeom>
        </p:spPr>
      </p:pic>
      <p:sp>
        <p:nvSpPr>
          <p:cNvPr id="7" name="Text 4"/>
          <p:cNvSpPr/>
          <p:nvPr/>
        </p:nvSpPr>
        <p:spPr>
          <a:xfrm>
            <a:off x="978408" y="923544"/>
            <a:ext cx="7662672" cy="274320"/>
          </a:xfrm>
          <a:prstGeom prst="rect">
            <a:avLst/>
          </a:prstGeom>
          <a:noFill/>
          <a:ln/>
        </p:spPr>
        <p:txBody>
          <a:bodyPr wrap="square" lIns="0" tIns="0" rIns="0" bIns="0" rtlCol="0" anchor="ctr"/>
          <a:lstStyle/>
          <a:p>
            <a:pPr marL="0" indent="0">
              <a:buNone/>
            </a:pPr>
            <a:r>
              <a:rPr lang="en-US" sz="1300" b="1" dirty="0">
                <a:solidFill>
                  <a:srgbClr val="028090"/>
                </a:solidFill>
                <a:latin typeface="Consolas" pitchFamily="34" charset="0"/>
                <a:ea typeface="Consolas" pitchFamily="34" charset="-122"/>
                <a:cs typeface="Consolas" pitchFamily="34" charset="-120"/>
              </a:rPr>
              <a:t>git commit -m "describe what you did"</a:t>
            </a:r>
            <a:endParaRPr lang="en-US" sz="1300" dirty="0"/>
          </a:p>
        </p:txBody>
      </p:sp>
      <p:sp>
        <p:nvSpPr>
          <p:cNvPr id="8" name="Text 5"/>
          <p:cNvSpPr/>
          <p:nvPr/>
        </p:nvSpPr>
        <p:spPr>
          <a:xfrm>
            <a:off x="548640" y="1234440"/>
            <a:ext cx="8092440" cy="749808"/>
          </a:xfrm>
          <a:prstGeom prst="rect">
            <a:avLst/>
          </a:prstGeom>
          <a:noFill/>
          <a:ln/>
        </p:spPr>
        <p:txBody>
          <a:bodyPr wrap="square" rtlCol="0" anchor="t"/>
          <a:lstStyle/>
          <a:p>
            <a:pPr marL="0" indent="0">
              <a:buNone/>
            </a:pPr>
            <a:r>
              <a:rPr lang="en-US" sz="1150" b="1" dirty="0">
                <a:solidFill>
                  <a:srgbClr val="1A2744"/>
                </a:solidFill>
                <a:latin typeface="Calibri" pitchFamily="34" charset="0"/>
                <a:ea typeface="Calibri" pitchFamily="34" charset="-122"/>
                <a:cs typeface="Calibri" pitchFamily="34" charset="-120"/>
              </a:rPr>
              <a:t>What: </a:t>
            </a:r>
            <a:r>
              <a:rPr lang="en-US" sz="1150" dirty="0">
                <a:solidFill>
                  <a:srgbClr val="5A6A8A"/>
                </a:solidFill>
                <a:latin typeface="Calibri" pitchFamily="34" charset="0"/>
                <a:ea typeface="Calibri" pitchFamily="34" charset="-122"/>
                <a:cs typeface="Calibri" pitchFamily="34" charset="-120"/>
              </a:rPr>
              <a:t>Saves a snapshot of all staged changes permanently with a descriptive message.</a:t>
            </a:r>
            <a:endParaRPr lang="en-US" sz="1150" dirty="0"/>
          </a:p>
          <a:p>
            <a:pPr marL="0" indent="0">
              <a:buNone/>
            </a:pPr>
            <a:r>
              <a:rPr lang="en-US" sz="1150" b="1" dirty="0">
                <a:solidFill>
                  <a:srgbClr val="1A2744"/>
                </a:solidFill>
                <a:latin typeface="Calibri" pitchFamily="34" charset="0"/>
                <a:ea typeface="Calibri" pitchFamily="34" charset="-122"/>
                <a:cs typeface="Calibri" pitchFamily="34" charset="-120"/>
              </a:rPr>
              <a:t>Why: </a:t>
            </a:r>
            <a:endParaRPr lang="en-US" sz="1150" dirty="0"/>
          </a:p>
          <a:p>
            <a:pPr marL="0" indent="0">
              <a:buNone/>
            </a:pPr>
            <a:r>
              <a:rPr lang="en-US" sz="1150" dirty="0">
                <a:solidFill>
                  <a:srgbClr val="5A6A8A"/>
                </a:solidFill>
                <a:latin typeface="Calibri" pitchFamily="34" charset="0"/>
                <a:ea typeface="Calibri" pitchFamily="34" charset="-122"/>
                <a:cs typeface="Calibri" pitchFamily="34" charset="-120"/>
              </a:rPr>
              <a:t>Commits are your permanent save points. The message tells your team WHY the change was made.</a:t>
            </a:r>
            <a:endParaRPr lang="en-US" sz="1150" dirty="0"/>
          </a:p>
          <a:p>
            <a:pPr marL="0" indent="0">
              <a:buNone/>
            </a:pPr>
            <a:r>
              <a:rPr lang="en-US" sz="1150" b="1" dirty="0">
                <a:solidFill>
                  <a:srgbClr val="1A2744"/>
                </a:solidFill>
                <a:latin typeface="Calibri" pitchFamily="34" charset="0"/>
                <a:ea typeface="Calibri" pitchFamily="34" charset="-122"/>
                <a:cs typeface="Calibri" pitchFamily="34" charset="-120"/>
              </a:rPr>
              <a:t>When: </a:t>
            </a:r>
            <a:endParaRPr lang="en-US" sz="1150" dirty="0"/>
          </a:p>
          <a:p>
            <a:pPr marL="0" indent="0">
              <a:buNone/>
            </a:pPr>
            <a:r>
              <a:rPr lang="en-US" sz="1150" dirty="0">
                <a:solidFill>
                  <a:srgbClr val="5A6A8A"/>
                </a:solidFill>
                <a:latin typeface="Calibri" pitchFamily="34" charset="0"/>
                <a:ea typeface="Calibri" pitchFamily="34" charset="-122"/>
                <a:cs typeface="Calibri" pitchFamily="34" charset="-120"/>
              </a:rPr>
              <a:t>Once staged changes are working and tested. Write clear messages — your team depends on them.</a:t>
            </a:r>
            <a:endParaRPr lang="en-US" sz="1150" dirty="0"/>
          </a:p>
        </p:txBody>
      </p:sp>
      <p:sp>
        <p:nvSpPr>
          <p:cNvPr id="9" name="Shape 6"/>
          <p:cNvSpPr/>
          <p:nvPr/>
        </p:nvSpPr>
        <p:spPr>
          <a:xfrm>
            <a:off x="411480" y="2176272"/>
            <a:ext cx="8321040" cy="120700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0" name="Shape 7"/>
          <p:cNvSpPr/>
          <p:nvPr/>
        </p:nvSpPr>
        <p:spPr>
          <a:xfrm>
            <a:off x="411480" y="2176272"/>
            <a:ext cx="64008" cy="1207008"/>
          </a:xfrm>
          <a:prstGeom prst="rect">
            <a:avLst/>
          </a:prstGeom>
          <a:solidFill>
            <a:srgbClr val="028090"/>
          </a:solidFill>
          <a:ln w="12700">
            <a:solidFill>
              <a:srgbClr val="028090"/>
            </a:solidFill>
            <a:prstDash val="solid"/>
          </a:ln>
        </p:spPr>
      </p:sp>
      <p:pic>
        <p:nvPicPr>
          <p:cNvPr id="11" name="Image 1" descr="preencoded.png"/>
          <p:cNvPicPr>
            <a:picLocks noChangeAspect="1"/>
          </p:cNvPicPr>
          <p:nvPr/>
        </p:nvPicPr>
        <p:blipFill>
          <a:blip r:embed="rId4"/>
          <a:stretch>
            <a:fillRect/>
          </a:stretch>
        </p:blipFill>
        <p:spPr>
          <a:xfrm>
            <a:off x="548640" y="2286000"/>
            <a:ext cx="347472" cy="347472"/>
          </a:xfrm>
          <a:prstGeom prst="rect">
            <a:avLst/>
          </a:prstGeom>
        </p:spPr>
      </p:pic>
      <p:sp>
        <p:nvSpPr>
          <p:cNvPr id="12" name="Text 8"/>
          <p:cNvSpPr/>
          <p:nvPr/>
        </p:nvSpPr>
        <p:spPr>
          <a:xfrm>
            <a:off x="978408" y="2249424"/>
            <a:ext cx="7662672" cy="274320"/>
          </a:xfrm>
          <a:prstGeom prst="rect">
            <a:avLst/>
          </a:prstGeom>
          <a:noFill/>
          <a:ln/>
        </p:spPr>
        <p:txBody>
          <a:bodyPr wrap="square" lIns="0" tIns="0" rIns="0" bIns="0" rtlCol="0" anchor="ctr"/>
          <a:lstStyle/>
          <a:p>
            <a:pPr marL="0" indent="0">
              <a:buNone/>
            </a:pPr>
            <a:r>
              <a:rPr lang="en-US" sz="1300" b="1" dirty="0">
                <a:solidFill>
                  <a:srgbClr val="028090"/>
                </a:solidFill>
                <a:latin typeface="Consolas" pitchFamily="34" charset="0"/>
                <a:ea typeface="Consolas" pitchFamily="34" charset="-122"/>
                <a:cs typeface="Consolas" pitchFamily="34" charset="-120"/>
              </a:rPr>
              <a:t>git branch feature-name</a:t>
            </a:r>
            <a:endParaRPr lang="en-US" sz="1300" dirty="0"/>
          </a:p>
        </p:txBody>
      </p:sp>
      <p:sp>
        <p:nvSpPr>
          <p:cNvPr id="13" name="Text 9"/>
          <p:cNvSpPr/>
          <p:nvPr/>
        </p:nvSpPr>
        <p:spPr>
          <a:xfrm>
            <a:off x="548640" y="2560320"/>
            <a:ext cx="8092440" cy="749808"/>
          </a:xfrm>
          <a:prstGeom prst="rect">
            <a:avLst/>
          </a:prstGeom>
          <a:noFill/>
          <a:ln/>
        </p:spPr>
        <p:txBody>
          <a:bodyPr wrap="square" rtlCol="0" anchor="t"/>
          <a:lstStyle/>
          <a:p>
            <a:pPr marL="0" indent="0">
              <a:buNone/>
            </a:pPr>
            <a:r>
              <a:rPr lang="en-US" sz="1150" b="1" dirty="0">
                <a:solidFill>
                  <a:srgbClr val="1A2744"/>
                </a:solidFill>
                <a:latin typeface="Calibri" pitchFamily="34" charset="0"/>
                <a:ea typeface="Calibri" pitchFamily="34" charset="-122"/>
                <a:cs typeface="Calibri" pitchFamily="34" charset="-120"/>
              </a:rPr>
              <a:t>What: </a:t>
            </a:r>
            <a:r>
              <a:rPr lang="en-US" sz="1150" dirty="0">
                <a:solidFill>
                  <a:srgbClr val="5A6A8A"/>
                </a:solidFill>
                <a:latin typeface="Calibri" pitchFamily="34" charset="0"/>
                <a:ea typeface="Calibri" pitchFamily="34" charset="-122"/>
                <a:cs typeface="Calibri" pitchFamily="34" charset="-120"/>
              </a:rPr>
              <a:t>Creates a new branch with the given name, branching off from your current position.</a:t>
            </a:r>
            <a:endParaRPr lang="en-US" sz="1150" dirty="0"/>
          </a:p>
          <a:p>
            <a:pPr marL="0" indent="0">
              <a:buNone/>
            </a:pPr>
            <a:r>
              <a:rPr lang="en-US" sz="1150" b="1" dirty="0">
                <a:solidFill>
                  <a:srgbClr val="1A2744"/>
                </a:solidFill>
                <a:latin typeface="Calibri" pitchFamily="34" charset="0"/>
                <a:ea typeface="Calibri" pitchFamily="34" charset="-122"/>
                <a:cs typeface="Calibri" pitchFamily="34" charset="-120"/>
              </a:rPr>
              <a:t>Why: </a:t>
            </a:r>
            <a:endParaRPr lang="en-US" sz="1150" dirty="0"/>
          </a:p>
          <a:p>
            <a:pPr marL="0" indent="0">
              <a:buNone/>
            </a:pPr>
            <a:r>
              <a:rPr lang="en-US" sz="1150" dirty="0">
                <a:solidFill>
                  <a:srgbClr val="5A6A8A"/>
                </a:solidFill>
                <a:latin typeface="Calibri" pitchFamily="34" charset="0"/>
                <a:ea typeface="Calibri" pitchFamily="34" charset="-122"/>
                <a:cs typeface="Calibri" pitchFamily="34" charset="-120"/>
              </a:rPr>
              <a:t>Branches keep your work isolated — you can experiment freely without touching stable main code.</a:t>
            </a:r>
            <a:endParaRPr lang="en-US" sz="1150" dirty="0"/>
          </a:p>
          <a:p>
            <a:pPr marL="0" indent="0">
              <a:buNone/>
            </a:pPr>
            <a:r>
              <a:rPr lang="en-US" sz="1150" b="1" dirty="0">
                <a:solidFill>
                  <a:srgbClr val="1A2744"/>
                </a:solidFill>
                <a:latin typeface="Calibri" pitchFamily="34" charset="0"/>
                <a:ea typeface="Calibri" pitchFamily="34" charset="-122"/>
                <a:cs typeface="Calibri" pitchFamily="34" charset="-120"/>
              </a:rPr>
              <a:t>When: </a:t>
            </a:r>
            <a:endParaRPr lang="en-US" sz="1150" dirty="0"/>
          </a:p>
          <a:p>
            <a:pPr marL="0" indent="0">
              <a:buNone/>
            </a:pPr>
            <a:r>
              <a:rPr lang="en-US" sz="1150" dirty="0">
                <a:solidFill>
                  <a:srgbClr val="5A6A8A"/>
                </a:solidFill>
                <a:latin typeface="Calibri" pitchFamily="34" charset="0"/>
                <a:ea typeface="Calibri" pitchFamily="34" charset="-122"/>
                <a:cs typeface="Calibri" pitchFamily="34" charset="-120"/>
              </a:rPr>
              <a:t>When starting any new feature, fix, or experiment. Name branches clearly: feature/dark-mode, bugfix/login.</a:t>
            </a:r>
            <a:endParaRPr lang="en-US" sz="1150" dirty="0"/>
          </a:p>
        </p:txBody>
      </p:sp>
      <p:sp>
        <p:nvSpPr>
          <p:cNvPr id="14" name="Shape 10"/>
          <p:cNvSpPr/>
          <p:nvPr/>
        </p:nvSpPr>
        <p:spPr>
          <a:xfrm>
            <a:off x="411480" y="3493008"/>
            <a:ext cx="8321040" cy="1261872"/>
          </a:xfrm>
          <a:prstGeom prst="rect">
            <a:avLst/>
          </a:prstGeom>
          <a:solidFill>
            <a:srgbClr val="E8F7F9"/>
          </a:solidFill>
          <a:ln w="12700">
            <a:solidFill>
              <a:srgbClr val="028090"/>
            </a:solidFill>
            <a:prstDash val="solid"/>
          </a:ln>
          <a:effectLst>
            <a:outerShdw blurRad="101600" dist="38100" dir="8100000" algn="bl" rotWithShape="0">
              <a:srgbClr val="000000">
                <a:alpha val="12000"/>
              </a:srgbClr>
            </a:outerShdw>
          </a:effectLst>
        </p:spPr>
      </p:sp>
      <p:sp>
        <p:nvSpPr>
          <p:cNvPr id="15" name="Shape 11"/>
          <p:cNvSpPr/>
          <p:nvPr/>
        </p:nvSpPr>
        <p:spPr>
          <a:xfrm>
            <a:off x="411480" y="3493008"/>
            <a:ext cx="8321040" cy="347472"/>
          </a:xfrm>
          <a:prstGeom prst="rect">
            <a:avLst/>
          </a:prstGeom>
          <a:solidFill>
            <a:srgbClr val="028090"/>
          </a:solidFill>
          <a:ln w="12700">
            <a:solidFill>
              <a:srgbClr val="028090"/>
            </a:solidFill>
            <a:prstDash val="solid"/>
          </a:ln>
        </p:spPr>
      </p:sp>
      <p:sp>
        <p:nvSpPr>
          <p:cNvPr id="16" name="Text 12"/>
          <p:cNvSpPr/>
          <p:nvPr/>
        </p:nvSpPr>
        <p:spPr>
          <a:xfrm>
            <a:off x="521208" y="3520440"/>
            <a:ext cx="81381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Real-World Example</a:t>
            </a:r>
            <a:endParaRPr lang="en-US" sz="1200" dirty="0"/>
          </a:p>
        </p:txBody>
      </p:sp>
      <p:sp>
        <p:nvSpPr>
          <p:cNvPr id="17" name="Text 13"/>
          <p:cNvSpPr/>
          <p:nvPr/>
        </p:nvSpPr>
        <p:spPr>
          <a:xfrm>
            <a:off x="521208" y="3895344"/>
            <a:ext cx="8119872" cy="786384"/>
          </a:xfrm>
          <a:prstGeom prst="rect">
            <a:avLst/>
          </a:prstGeom>
          <a:noFill/>
          <a:ln/>
        </p:spPr>
        <p:txBody>
          <a:bodyPr wrap="square" rtlCol="0" anchor="t"/>
          <a:lstStyle/>
          <a:p>
            <a:pPr marL="0" indent="0">
              <a:buNone/>
            </a:pPr>
            <a:r>
              <a:rPr lang="en-US" sz="1200" b="1" dirty="0">
                <a:solidFill>
                  <a:srgbClr val="1A2744"/>
                </a:solidFill>
                <a:latin typeface="Calibri" pitchFamily="34" charset="0"/>
                <a:ea typeface="Calibri" pitchFamily="34" charset="-122"/>
                <a:cs typeface="Calibri" pitchFamily="34" charset="-120"/>
              </a:rPr>
              <a:t>Good commit message: </a:t>
            </a:r>
            <a:r>
              <a:rPr lang="en-US" sz="1200" dirty="0">
                <a:solidFill>
                  <a:srgbClr val="2C3E50"/>
                </a:solidFill>
                <a:latin typeface="Calibri" pitchFamily="34" charset="0"/>
                <a:ea typeface="Calibri" pitchFamily="34" charset="-122"/>
                <a:cs typeface="Calibri" pitchFamily="34" charset="-120"/>
              </a:rPr>
              <a:t>"Fix null pointer exception in user authentication" — tells the team exactly what was fixed and where.</a:t>
            </a:r>
            <a:endParaRPr lang="en-US" sz="1200" dirty="0"/>
          </a:p>
          <a:p>
            <a:pPr marL="0" indent="0">
              <a:buNone/>
            </a:pPr>
            <a:r>
              <a:rPr lang="en-US" sz="1200" b="1" dirty="0">
                <a:solidFill>
                  <a:srgbClr val="1A2744"/>
                </a:solidFill>
                <a:latin typeface="Calibri" pitchFamily="34" charset="0"/>
                <a:ea typeface="Calibri" pitchFamily="34" charset="-122"/>
                <a:cs typeface="Calibri" pitchFamily="34" charset="-120"/>
              </a:rPr>
              <a:t>Bad commit message: </a:t>
            </a:r>
            <a:r>
              <a:rPr lang="en-US" sz="1200" dirty="0">
                <a:solidFill>
                  <a:srgbClr val="2C3E50"/>
                </a:solidFill>
                <a:latin typeface="Calibri" pitchFamily="34" charset="0"/>
                <a:ea typeface="Calibri" pitchFamily="34" charset="-122"/>
                <a:cs typeface="Calibri" pitchFamily="34" charset="-120"/>
              </a:rPr>
              <a:t>"fix" or "changes" — tells nobody anything. At banks like Absa or Standard Bank, commit messages are reviewed by auditors after production incidents.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5F8FF"/>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30352"/>
          </a:xfrm>
          <a:prstGeom prst="rect">
            <a:avLst/>
          </a:prstGeom>
          <a:noFill/>
          <a:ln/>
        </p:spPr>
        <p:txBody>
          <a:bodyPr wrap="square" lIns="0" tIns="0" rIns="0" bIns="0" rtlCol="0" anchor="ctr"/>
          <a:lstStyle/>
          <a:p>
            <a:pPr marL="0" indent="0">
              <a:buNone/>
            </a:pPr>
            <a:r>
              <a:rPr lang="en-US" sz="2600" b="1" dirty="0">
                <a:solidFill>
                  <a:srgbClr val="1A2744"/>
                </a:solidFill>
                <a:latin typeface="Calibri" pitchFamily="34" charset="0"/>
                <a:ea typeface="Calibri" pitchFamily="34" charset="-122"/>
                <a:cs typeface="Calibri" pitchFamily="34" charset="-120"/>
              </a:rPr>
              <a:t>Commands 5 &amp; 6 — Switching &amp; Merging</a:t>
            </a:r>
            <a:endParaRPr lang="en-US" sz="2600" dirty="0"/>
          </a:p>
        </p:txBody>
      </p:sp>
      <p:sp>
        <p:nvSpPr>
          <p:cNvPr id="3" name="Shape 1"/>
          <p:cNvSpPr/>
          <p:nvPr/>
        </p:nvSpPr>
        <p:spPr>
          <a:xfrm>
            <a:off x="411480" y="694944"/>
            <a:ext cx="8321040" cy="27432"/>
          </a:xfrm>
          <a:prstGeom prst="rect">
            <a:avLst/>
          </a:prstGeom>
          <a:solidFill>
            <a:srgbClr val="E4EAF6"/>
          </a:solidFill>
          <a:ln w="12700">
            <a:solidFill>
              <a:srgbClr val="E4EAF6"/>
            </a:solidFill>
            <a:prstDash val="solid"/>
          </a:ln>
        </p:spPr>
      </p:sp>
      <p:sp>
        <p:nvSpPr>
          <p:cNvPr id="4" name="Shape 2"/>
          <p:cNvSpPr/>
          <p:nvPr/>
        </p:nvSpPr>
        <p:spPr>
          <a:xfrm>
            <a:off x="411480" y="850392"/>
            <a:ext cx="8321040" cy="120700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5" name="Shape 3"/>
          <p:cNvSpPr/>
          <p:nvPr/>
        </p:nvSpPr>
        <p:spPr>
          <a:xfrm>
            <a:off x="411480" y="850392"/>
            <a:ext cx="64008" cy="1207008"/>
          </a:xfrm>
          <a:prstGeom prst="rect">
            <a:avLst/>
          </a:prstGeom>
          <a:solidFill>
            <a:srgbClr val="028090"/>
          </a:solidFill>
          <a:ln w="12700">
            <a:solidFill>
              <a:srgbClr val="028090"/>
            </a:solidFill>
            <a:prstDash val="solid"/>
          </a:ln>
        </p:spPr>
      </p:sp>
      <p:pic>
        <p:nvPicPr>
          <p:cNvPr id="6" name="Image 0" descr="preencoded.png"/>
          <p:cNvPicPr>
            <a:picLocks noChangeAspect="1"/>
          </p:cNvPicPr>
          <p:nvPr/>
        </p:nvPicPr>
        <p:blipFill>
          <a:blip r:embed="rId3"/>
          <a:stretch>
            <a:fillRect/>
          </a:stretch>
        </p:blipFill>
        <p:spPr>
          <a:xfrm>
            <a:off x="548640" y="960120"/>
            <a:ext cx="347472" cy="347472"/>
          </a:xfrm>
          <a:prstGeom prst="rect">
            <a:avLst/>
          </a:prstGeom>
        </p:spPr>
      </p:pic>
      <p:sp>
        <p:nvSpPr>
          <p:cNvPr id="7" name="Text 4"/>
          <p:cNvSpPr/>
          <p:nvPr/>
        </p:nvSpPr>
        <p:spPr>
          <a:xfrm>
            <a:off x="978408" y="923544"/>
            <a:ext cx="7662672" cy="274320"/>
          </a:xfrm>
          <a:prstGeom prst="rect">
            <a:avLst/>
          </a:prstGeom>
          <a:noFill/>
          <a:ln/>
        </p:spPr>
        <p:txBody>
          <a:bodyPr wrap="square" lIns="0" tIns="0" rIns="0" bIns="0" rtlCol="0" anchor="ctr"/>
          <a:lstStyle/>
          <a:p>
            <a:pPr marL="0" indent="0">
              <a:buNone/>
            </a:pPr>
            <a:r>
              <a:rPr lang="en-US" sz="1300" b="1" dirty="0">
                <a:solidFill>
                  <a:srgbClr val="028090"/>
                </a:solidFill>
                <a:latin typeface="Consolas" pitchFamily="34" charset="0"/>
                <a:ea typeface="Consolas" pitchFamily="34" charset="-122"/>
                <a:cs typeface="Consolas" pitchFamily="34" charset="-120"/>
              </a:rPr>
              <a:t>git checkout branch-name  (or -b to create+switch)</a:t>
            </a:r>
            <a:endParaRPr lang="en-US" sz="1300" dirty="0"/>
          </a:p>
        </p:txBody>
      </p:sp>
      <p:sp>
        <p:nvSpPr>
          <p:cNvPr id="8" name="Text 5"/>
          <p:cNvSpPr/>
          <p:nvPr/>
        </p:nvSpPr>
        <p:spPr>
          <a:xfrm>
            <a:off x="548640" y="1234440"/>
            <a:ext cx="8092440" cy="749808"/>
          </a:xfrm>
          <a:prstGeom prst="rect">
            <a:avLst/>
          </a:prstGeom>
          <a:noFill/>
          <a:ln/>
        </p:spPr>
        <p:txBody>
          <a:bodyPr wrap="square" rtlCol="0" anchor="t"/>
          <a:lstStyle/>
          <a:p>
            <a:pPr marL="0" indent="0">
              <a:buNone/>
            </a:pPr>
            <a:r>
              <a:rPr lang="en-US" sz="1150" b="1" dirty="0">
                <a:solidFill>
                  <a:srgbClr val="1A2744"/>
                </a:solidFill>
                <a:latin typeface="Calibri" pitchFamily="34" charset="0"/>
                <a:ea typeface="Calibri" pitchFamily="34" charset="-122"/>
                <a:cs typeface="Calibri" pitchFamily="34" charset="-120"/>
              </a:rPr>
              <a:t>What: </a:t>
            </a:r>
            <a:r>
              <a:rPr lang="en-US" sz="1150" dirty="0">
                <a:solidFill>
                  <a:srgbClr val="5A6A8A"/>
                </a:solidFill>
                <a:latin typeface="Calibri" pitchFamily="34" charset="0"/>
                <a:ea typeface="Calibri" pitchFamily="34" charset="-122"/>
                <a:cs typeface="Calibri" pitchFamily="34" charset="-120"/>
              </a:rPr>
              <a:t>Switches your working directory to the specified branch. All your edits now go to that branch.</a:t>
            </a:r>
            <a:endParaRPr lang="en-US" sz="1150" dirty="0"/>
          </a:p>
          <a:p>
            <a:pPr marL="0" indent="0">
              <a:buNone/>
            </a:pPr>
            <a:r>
              <a:rPr lang="en-US" sz="1150" b="1" dirty="0">
                <a:solidFill>
                  <a:srgbClr val="1A2744"/>
                </a:solidFill>
                <a:latin typeface="Calibri" pitchFamily="34" charset="0"/>
                <a:ea typeface="Calibri" pitchFamily="34" charset="-122"/>
                <a:cs typeface="Calibri" pitchFamily="34" charset="-120"/>
              </a:rPr>
              <a:t>Why: </a:t>
            </a:r>
            <a:endParaRPr lang="en-US" sz="1150" dirty="0"/>
          </a:p>
          <a:p>
            <a:pPr marL="0" indent="0">
              <a:buNone/>
            </a:pPr>
            <a:r>
              <a:rPr lang="en-US" sz="1150" dirty="0">
                <a:solidFill>
                  <a:srgbClr val="5A6A8A"/>
                </a:solidFill>
                <a:latin typeface="Calibri" pitchFamily="34" charset="0"/>
                <a:ea typeface="Calibri" pitchFamily="34" charset="-122"/>
                <a:cs typeface="Calibri" pitchFamily="34" charset="-120"/>
              </a:rPr>
              <a:t>You need to be on the right branch before making changes — edits go to whichever branch is active.</a:t>
            </a:r>
            <a:endParaRPr lang="en-US" sz="1150" dirty="0"/>
          </a:p>
          <a:p>
            <a:pPr marL="0" indent="0">
              <a:buNone/>
            </a:pPr>
            <a:r>
              <a:rPr lang="en-US" sz="1150" b="1" dirty="0">
                <a:solidFill>
                  <a:srgbClr val="1A2744"/>
                </a:solidFill>
                <a:latin typeface="Calibri" pitchFamily="34" charset="0"/>
                <a:ea typeface="Calibri" pitchFamily="34" charset="-122"/>
                <a:cs typeface="Calibri" pitchFamily="34" charset="-120"/>
              </a:rPr>
              <a:t>When: </a:t>
            </a:r>
            <a:endParaRPr lang="en-US" sz="1150" dirty="0"/>
          </a:p>
          <a:p>
            <a:pPr marL="0" indent="0">
              <a:buNone/>
            </a:pPr>
            <a:r>
              <a:rPr lang="en-US" sz="1150" dirty="0">
                <a:solidFill>
                  <a:srgbClr val="5A6A8A"/>
                </a:solidFill>
                <a:latin typeface="Calibri" pitchFamily="34" charset="0"/>
                <a:ea typeface="Calibri" pitchFamily="34" charset="-122"/>
                <a:cs typeface="Calibri" pitchFamily="34" charset="-120"/>
              </a:rPr>
              <a:t>After creating a branch, or when switching between tasks. git checkout -b feature-name creates AND switches.</a:t>
            </a:r>
            <a:endParaRPr lang="en-US" sz="1150" dirty="0"/>
          </a:p>
        </p:txBody>
      </p:sp>
      <p:sp>
        <p:nvSpPr>
          <p:cNvPr id="9" name="Shape 6"/>
          <p:cNvSpPr/>
          <p:nvPr/>
        </p:nvSpPr>
        <p:spPr>
          <a:xfrm>
            <a:off x="411480" y="2176272"/>
            <a:ext cx="8321040" cy="120700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0" name="Shape 7"/>
          <p:cNvSpPr/>
          <p:nvPr/>
        </p:nvSpPr>
        <p:spPr>
          <a:xfrm>
            <a:off x="411480" y="2176272"/>
            <a:ext cx="64008" cy="1207008"/>
          </a:xfrm>
          <a:prstGeom prst="rect">
            <a:avLst/>
          </a:prstGeom>
          <a:solidFill>
            <a:srgbClr val="028090"/>
          </a:solidFill>
          <a:ln w="12700">
            <a:solidFill>
              <a:srgbClr val="028090"/>
            </a:solidFill>
            <a:prstDash val="solid"/>
          </a:ln>
        </p:spPr>
      </p:sp>
      <p:pic>
        <p:nvPicPr>
          <p:cNvPr id="11" name="Image 1" descr="preencoded.png"/>
          <p:cNvPicPr>
            <a:picLocks noChangeAspect="1"/>
          </p:cNvPicPr>
          <p:nvPr/>
        </p:nvPicPr>
        <p:blipFill>
          <a:blip r:embed="rId4"/>
          <a:stretch>
            <a:fillRect/>
          </a:stretch>
        </p:blipFill>
        <p:spPr>
          <a:xfrm>
            <a:off x="548640" y="2286000"/>
            <a:ext cx="347472" cy="347472"/>
          </a:xfrm>
          <a:prstGeom prst="rect">
            <a:avLst/>
          </a:prstGeom>
        </p:spPr>
      </p:pic>
      <p:sp>
        <p:nvSpPr>
          <p:cNvPr id="12" name="Text 8"/>
          <p:cNvSpPr/>
          <p:nvPr/>
        </p:nvSpPr>
        <p:spPr>
          <a:xfrm>
            <a:off x="978408" y="2249424"/>
            <a:ext cx="7662672" cy="274320"/>
          </a:xfrm>
          <a:prstGeom prst="rect">
            <a:avLst/>
          </a:prstGeom>
          <a:noFill/>
          <a:ln/>
        </p:spPr>
        <p:txBody>
          <a:bodyPr wrap="square" lIns="0" tIns="0" rIns="0" bIns="0" rtlCol="0" anchor="ctr"/>
          <a:lstStyle/>
          <a:p>
            <a:pPr marL="0" indent="0">
              <a:buNone/>
            </a:pPr>
            <a:r>
              <a:rPr lang="en-US" sz="1300" b="1" dirty="0">
                <a:solidFill>
                  <a:srgbClr val="028090"/>
                </a:solidFill>
                <a:latin typeface="Consolas" pitchFamily="34" charset="0"/>
                <a:ea typeface="Consolas" pitchFamily="34" charset="-122"/>
                <a:cs typeface="Consolas" pitchFamily="34" charset="-120"/>
              </a:rPr>
              <a:t>git merge branch-name</a:t>
            </a:r>
            <a:endParaRPr lang="en-US" sz="1300" dirty="0"/>
          </a:p>
        </p:txBody>
      </p:sp>
      <p:sp>
        <p:nvSpPr>
          <p:cNvPr id="13" name="Text 9"/>
          <p:cNvSpPr/>
          <p:nvPr/>
        </p:nvSpPr>
        <p:spPr>
          <a:xfrm>
            <a:off x="548640" y="2560320"/>
            <a:ext cx="8092440" cy="749808"/>
          </a:xfrm>
          <a:prstGeom prst="rect">
            <a:avLst/>
          </a:prstGeom>
          <a:noFill/>
          <a:ln/>
        </p:spPr>
        <p:txBody>
          <a:bodyPr wrap="square" rtlCol="0" anchor="t"/>
          <a:lstStyle/>
          <a:p>
            <a:pPr marL="0" indent="0">
              <a:buNone/>
            </a:pPr>
            <a:r>
              <a:rPr lang="en-US" sz="1150" b="1" dirty="0">
                <a:solidFill>
                  <a:srgbClr val="1A2744"/>
                </a:solidFill>
                <a:latin typeface="Calibri" pitchFamily="34" charset="0"/>
                <a:ea typeface="Calibri" pitchFamily="34" charset="-122"/>
                <a:cs typeface="Calibri" pitchFamily="34" charset="-120"/>
              </a:rPr>
              <a:t>What: </a:t>
            </a:r>
            <a:r>
              <a:rPr lang="en-US" sz="1150" dirty="0">
                <a:solidFill>
                  <a:srgbClr val="5A6A8A"/>
                </a:solidFill>
                <a:latin typeface="Calibri" pitchFamily="34" charset="0"/>
                <a:ea typeface="Calibri" pitchFamily="34" charset="-122"/>
                <a:cs typeface="Calibri" pitchFamily="34" charset="-120"/>
              </a:rPr>
              <a:t>Brings changes from the named branch into your currently active branch.</a:t>
            </a:r>
            <a:endParaRPr lang="en-US" sz="1150" dirty="0"/>
          </a:p>
          <a:p>
            <a:pPr marL="0" indent="0">
              <a:buNone/>
            </a:pPr>
            <a:r>
              <a:rPr lang="en-US" sz="1150" b="1" dirty="0">
                <a:solidFill>
                  <a:srgbClr val="1A2744"/>
                </a:solidFill>
                <a:latin typeface="Calibri" pitchFamily="34" charset="0"/>
                <a:ea typeface="Calibri" pitchFamily="34" charset="-122"/>
                <a:cs typeface="Calibri" pitchFamily="34" charset="-120"/>
              </a:rPr>
              <a:t>Why: </a:t>
            </a:r>
            <a:endParaRPr lang="en-US" sz="1150" dirty="0"/>
          </a:p>
          <a:p>
            <a:pPr marL="0" indent="0">
              <a:buNone/>
            </a:pPr>
            <a:r>
              <a:rPr lang="en-US" sz="1150" dirty="0">
                <a:solidFill>
                  <a:srgbClr val="5A6A8A"/>
                </a:solidFill>
                <a:latin typeface="Calibri" pitchFamily="34" charset="0"/>
                <a:ea typeface="Calibri" pitchFamily="34" charset="-122"/>
                <a:cs typeface="Calibri" pitchFamily="34" charset="-120"/>
              </a:rPr>
              <a:t>This is how completed work gets back into the main codebase after review and testing.</a:t>
            </a:r>
            <a:endParaRPr lang="en-US" sz="1150" dirty="0"/>
          </a:p>
          <a:p>
            <a:pPr marL="0" indent="0">
              <a:buNone/>
            </a:pPr>
            <a:r>
              <a:rPr lang="en-US" sz="1150" b="1" dirty="0">
                <a:solidFill>
                  <a:srgbClr val="1A2744"/>
                </a:solidFill>
                <a:latin typeface="Calibri" pitchFamily="34" charset="0"/>
                <a:ea typeface="Calibri" pitchFamily="34" charset="-122"/>
                <a:cs typeface="Calibri" pitchFamily="34" charset="-120"/>
              </a:rPr>
              <a:t>When: </a:t>
            </a:r>
            <a:endParaRPr lang="en-US" sz="1150" dirty="0"/>
          </a:p>
          <a:p>
            <a:pPr marL="0" indent="0">
              <a:buNone/>
            </a:pPr>
            <a:r>
              <a:rPr lang="en-US" sz="1150" dirty="0">
                <a:solidFill>
                  <a:srgbClr val="5A6A8A"/>
                </a:solidFill>
                <a:latin typeface="Calibri" pitchFamily="34" charset="0"/>
                <a:ea typeface="Calibri" pitchFamily="34" charset="-122"/>
                <a:cs typeface="Calibri" pitchFamily="34" charset="-120"/>
              </a:rPr>
              <a:t>When a feature is complete and approved — switch to main first, then run git merge feature/your-feature.</a:t>
            </a:r>
            <a:endParaRPr lang="en-US" sz="1150" dirty="0"/>
          </a:p>
        </p:txBody>
      </p:sp>
      <p:sp>
        <p:nvSpPr>
          <p:cNvPr id="14" name="Shape 10"/>
          <p:cNvSpPr/>
          <p:nvPr/>
        </p:nvSpPr>
        <p:spPr>
          <a:xfrm>
            <a:off x="411480" y="3493008"/>
            <a:ext cx="8321040" cy="1261872"/>
          </a:xfrm>
          <a:prstGeom prst="rect">
            <a:avLst/>
          </a:prstGeom>
          <a:solidFill>
            <a:srgbClr val="E8F7F9"/>
          </a:solidFill>
          <a:ln w="12700">
            <a:solidFill>
              <a:srgbClr val="028090"/>
            </a:solidFill>
            <a:prstDash val="solid"/>
          </a:ln>
          <a:effectLst>
            <a:outerShdw blurRad="101600" dist="38100" dir="8100000" algn="bl" rotWithShape="0">
              <a:srgbClr val="000000">
                <a:alpha val="12000"/>
              </a:srgbClr>
            </a:outerShdw>
          </a:effectLst>
        </p:spPr>
      </p:sp>
      <p:sp>
        <p:nvSpPr>
          <p:cNvPr id="15" name="Shape 11"/>
          <p:cNvSpPr/>
          <p:nvPr/>
        </p:nvSpPr>
        <p:spPr>
          <a:xfrm>
            <a:off x="411480" y="3493008"/>
            <a:ext cx="8321040" cy="347472"/>
          </a:xfrm>
          <a:prstGeom prst="rect">
            <a:avLst/>
          </a:prstGeom>
          <a:solidFill>
            <a:srgbClr val="028090"/>
          </a:solidFill>
          <a:ln w="12700">
            <a:solidFill>
              <a:srgbClr val="028090"/>
            </a:solidFill>
            <a:prstDash val="solid"/>
          </a:ln>
        </p:spPr>
      </p:sp>
      <p:sp>
        <p:nvSpPr>
          <p:cNvPr id="16" name="Text 12"/>
          <p:cNvSpPr/>
          <p:nvPr/>
        </p:nvSpPr>
        <p:spPr>
          <a:xfrm>
            <a:off x="521208" y="3520440"/>
            <a:ext cx="81381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Real-World Example</a:t>
            </a:r>
            <a:endParaRPr lang="en-US" sz="1200" dirty="0"/>
          </a:p>
        </p:txBody>
      </p:sp>
      <p:sp>
        <p:nvSpPr>
          <p:cNvPr id="17" name="Text 13"/>
          <p:cNvSpPr/>
          <p:nvPr/>
        </p:nvSpPr>
        <p:spPr>
          <a:xfrm>
            <a:off x="521208" y="3895344"/>
            <a:ext cx="8119872" cy="786384"/>
          </a:xfrm>
          <a:prstGeom prst="rect">
            <a:avLst/>
          </a:prstGeom>
          <a:noFill/>
          <a:ln/>
        </p:spPr>
        <p:txBody>
          <a:bodyPr wrap="square" rtlCol="0" anchor="t"/>
          <a:lstStyle/>
          <a:p>
            <a:pPr marL="0" indent="0">
              <a:buNone/>
            </a:pPr>
            <a:r>
              <a:rPr lang="en-US" sz="1200" b="1" dirty="0">
                <a:solidFill>
                  <a:srgbClr val="1A2744"/>
                </a:solidFill>
                <a:latin typeface="Calibri" pitchFamily="34" charset="0"/>
                <a:ea typeface="Calibri" pitchFamily="34" charset="-122"/>
                <a:cs typeface="Calibri" pitchFamily="34" charset="-120"/>
              </a:rPr>
              <a:t>Scenario: </a:t>
            </a:r>
            <a:r>
              <a:rPr lang="en-US" sz="1200" dirty="0">
                <a:solidFill>
                  <a:srgbClr val="2C3E50"/>
                </a:solidFill>
                <a:latin typeface="Calibri" pitchFamily="34" charset="0"/>
                <a:ea typeface="Calibri" pitchFamily="34" charset="-122"/>
                <a:cs typeface="Calibri" pitchFamily="34" charset="-120"/>
              </a:rPr>
              <a:t>A Vodacom developer builds feature/reward-points for 2 weeks. The main branch stays untouched the whole time.</a:t>
            </a:r>
            <a:endParaRPr lang="en-US" sz="1200" dirty="0"/>
          </a:p>
          <a:p>
            <a:pPr marL="0" indent="0">
              <a:buNone/>
            </a:pPr>
            <a:r>
              <a:rPr lang="en-US" sz="1200" b="1" dirty="0">
                <a:solidFill>
                  <a:srgbClr val="1A2744"/>
                </a:solidFill>
                <a:latin typeface="Calibri" pitchFamily="34" charset="0"/>
                <a:ea typeface="Calibri" pitchFamily="34" charset="-122"/>
                <a:cs typeface="Calibri" pitchFamily="34" charset="-120"/>
              </a:rPr>
              <a:t>After review: </a:t>
            </a:r>
            <a:r>
              <a:rPr lang="en-US" sz="1200" dirty="0">
                <a:solidFill>
                  <a:srgbClr val="2C3E50"/>
                </a:solidFill>
                <a:latin typeface="Calibri" pitchFamily="34" charset="0"/>
                <a:ea typeface="Calibri" pitchFamily="34" charset="-122"/>
                <a:cs typeface="Calibri" pitchFamily="34" charset="-120"/>
              </a:rPr>
              <a:t>They run: git checkout main → git merge feature/reward-points. The new feature is now live in main. The feature branch is then deleted.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5F8FF"/>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30352"/>
          </a:xfrm>
          <a:prstGeom prst="rect">
            <a:avLst/>
          </a:prstGeom>
          <a:noFill/>
          <a:ln/>
        </p:spPr>
        <p:txBody>
          <a:bodyPr wrap="square" lIns="0" tIns="0" rIns="0" bIns="0" rtlCol="0" anchor="ctr"/>
          <a:lstStyle/>
          <a:p>
            <a:pPr marL="0" indent="0">
              <a:buNone/>
            </a:pPr>
            <a:r>
              <a:rPr lang="en-US" sz="2600" b="1" dirty="0">
                <a:solidFill>
                  <a:srgbClr val="1A2744"/>
                </a:solidFill>
                <a:latin typeface="Calibri" pitchFamily="34" charset="0"/>
                <a:ea typeface="Calibri" pitchFamily="34" charset="-122"/>
                <a:cs typeface="Calibri" pitchFamily="34" charset="-120"/>
              </a:rPr>
              <a:t>Commands 7, 8 &amp; 9 — Connecting to Remote</a:t>
            </a:r>
            <a:endParaRPr lang="en-US" sz="2600" dirty="0"/>
          </a:p>
        </p:txBody>
      </p:sp>
      <p:sp>
        <p:nvSpPr>
          <p:cNvPr id="3" name="Shape 1"/>
          <p:cNvSpPr/>
          <p:nvPr/>
        </p:nvSpPr>
        <p:spPr>
          <a:xfrm>
            <a:off x="411480" y="694944"/>
            <a:ext cx="8321040" cy="27432"/>
          </a:xfrm>
          <a:prstGeom prst="rect">
            <a:avLst/>
          </a:prstGeom>
          <a:solidFill>
            <a:srgbClr val="E4EAF6"/>
          </a:solidFill>
          <a:ln w="12700">
            <a:solidFill>
              <a:srgbClr val="E4EAF6"/>
            </a:solidFill>
            <a:prstDash val="solid"/>
          </a:ln>
        </p:spPr>
      </p:sp>
      <p:sp>
        <p:nvSpPr>
          <p:cNvPr id="4" name="Shape 2"/>
          <p:cNvSpPr/>
          <p:nvPr/>
        </p:nvSpPr>
        <p:spPr>
          <a:xfrm>
            <a:off x="411480" y="850392"/>
            <a:ext cx="8321040" cy="120700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5" name="Shape 3"/>
          <p:cNvSpPr/>
          <p:nvPr/>
        </p:nvSpPr>
        <p:spPr>
          <a:xfrm>
            <a:off x="411480" y="850392"/>
            <a:ext cx="64008" cy="1207008"/>
          </a:xfrm>
          <a:prstGeom prst="rect">
            <a:avLst/>
          </a:prstGeom>
          <a:solidFill>
            <a:srgbClr val="028090"/>
          </a:solidFill>
          <a:ln w="12700">
            <a:solidFill>
              <a:srgbClr val="028090"/>
            </a:solidFill>
            <a:prstDash val="solid"/>
          </a:ln>
        </p:spPr>
      </p:sp>
      <p:pic>
        <p:nvPicPr>
          <p:cNvPr id="6" name="Image 0" descr="preencoded.png"/>
          <p:cNvPicPr>
            <a:picLocks noChangeAspect="1"/>
          </p:cNvPicPr>
          <p:nvPr/>
        </p:nvPicPr>
        <p:blipFill>
          <a:blip r:embed="rId3"/>
          <a:stretch>
            <a:fillRect/>
          </a:stretch>
        </p:blipFill>
        <p:spPr>
          <a:xfrm>
            <a:off x="548640" y="960120"/>
            <a:ext cx="347472" cy="347472"/>
          </a:xfrm>
          <a:prstGeom prst="rect">
            <a:avLst/>
          </a:prstGeom>
        </p:spPr>
      </p:pic>
      <p:sp>
        <p:nvSpPr>
          <p:cNvPr id="7" name="Text 4"/>
          <p:cNvSpPr/>
          <p:nvPr/>
        </p:nvSpPr>
        <p:spPr>
          <a:xfrm>
            <a:off x="978408" y="923544"/>
            <a:ext cx="7662672" cy="274320"/>
          </a:xfrm>
          <a:prstGeom prst="rect">
            <a:avLst/>
          </a:prstGeom>
          <a:noFill/>
          <a:ln/>
        </p:spPr>
        <p:txBody>
          <a:bodyPr wrap="square" lIns="0" tIns="0" rIns="0" bIns="0" rtlCol="0" anchor="ctr"/>
          <a:lstStyle/>
          <a:p>
            <a:pPr marL="0" indent="0">
              <a:buNone/>
            </a:pPr>
            <a:r>
              <a:rPr lang="en-US" sz="1300" b="1" dirty="0">
                <a:solidFill>
                  <a:srgbClr val="028090"/>
                </a:solidFill>
                <a:latin typeface="Consolas" pitchFamily="34" charset="0"/>
                <a:ea typeface="Consolas" pitchFamily="34" charset="-122"/>
                <a:cs typeface="Consolas" pitchFamily="34" charset="-120"/>
              </a:rPr>
              <a:t>git remote add origin &lt;url&gt;</a:t>
            </a:r>
            <a:endParaRPr lang="en-US" sz="1300" dirty="0"/>
          </a:p>
        </p:txBody>
      </p:sp>
      <p:sp>
        <p:nvSpPr>
          <p:cNvPr id="8" name="Text 5"/>
          <p:cNvSpPr/>
          <p:nvPr/>
        </p:nvSpPr>
        <p:spPr>
          <a:xfrm>
            <a:off x="548640" y="1234440"/>
            <a:ext cx="8092440" cy="749808"/>
          </a:xfrm>
          <a:prstGeom prst="rect">
            <a:avLst/>
          </a:prstGeom>
          <a:noFill/>
          <a:ln/>
        </p:spPr>
        <p:txBody>
          <a:bodyPr wrap="square" rtlCol="0" anchor="t"/>
          <a:lstStyle/>
          <a:p>
            <a:pPr marL="0" indent="0">
              <a:buNone/>
            </a:pPr>
            <a:r>
              <a:rPr lang="en-US" sz="1150" b="1" dirty="0">
                <a:solidFill>
                  <a:srgbClr val="1A2744"/>
                </a:solidFill>
                <a:latin typeface="Calibri" pitchFamily="34" charset="0"/>
                <a:ea typeface="Calibri" pitchFamily="34" charset="-122"/>
                <a:cs typeface="Calibri" pitchFamily="34" charset="-120"/>
              </a:rPr>
              <a:t>What: </a:t>
            </a:r>
            <a:r>
              <a:rPr lang="en-US" sz="1150" dirty="0">
                <a:solidFill>
                  <a:srgbClr val="5A6A8A"/>
                </a:solidFill>
                <a:latin typeface="Calibri" pitchFamily="34" charset="0"/>
                <a:ea typeface="Calibri" pitchFamily="34" charset="-122"/>
                <a:cs typeface="Calibri" pitchFamily="34" charset="-120"/>
              </a:rPr>
              <a:t>Links your local repository to a remote one (Azure Repos, GitHub). 'origin' is the standard alias.</a:t>
            </a:r>
            <a:endParaRPr lang="en-US" sz="1150" dirty="0"/>
          </a:p>
          <a:p>
            <a:pPr marL="0" indent="0">
              <a:buNone/>
            </a:pPr>
            <a:r>
              <a:rPr lang="en-US" sz="1150" b="1" dirty="0">
                <a:solidFill>
                  <a:srgbClr val="1A2744"/>
                </a:solidFill>
                <a:latin typeface="Calibri" pitchFamily="34" charset="0"/>
                <a:ea typeface="Calibri" pitchFamily="34" charset="-122"/>
                <a:cs typeface="Calibri" pitchFamily="34" charset="-120"/>
              </a:rPr>
              <a:t>Why: </a:t>
            </a:r>
            <a:endParaRPr lang="en-US" sz="1150" dirty="0"/>
          </a:p>
          <a:p>
            <a:pPr marL="0" indent="0">
              <a:buNone/>
            </a:pPr>
            <a:r>
              <a:rPr lang="en-US" sz="1150" dirty="0">
                <a:solidFill>
                  <a:srgbClr val="5A6A8A"/>
                </a:solidFill>
                <a:latin typeface="Calibri" pitchFamily="34" charset="0"/>
                <a:ea typeface="Calibri" pitchFamily="34" charset="-122"/>
                <a:cs typeface="Calibri" pitchFamily="34" charset="-120"/>
              </a:rPr>
              <a:t>Without this link, Git doesn't know where to push or pull from.</a:t>
            </a:r>
            <a:endParaRPr lang="en-US" sz="1150" dirty="0"/>
          </a:p>
          <a:p>
            <a:pPr marL="0" indent="0">
              <a:buNone/>
            </a:pPr>
            <a:r>
              <a:rPr lang="en-US" sz="1150" b="1" dirty="0">
                <a:solidFill>
                  <a:srgbClr val="1A2744"/>
                </a:solidFill>
                <a:latin typeface="Calibri" pitchFamily="34" charset="0"/>
                <a:ea typeface="Calibri" pitchFamily="34" charset="-122"/>
                <a:cs typeface="Calibri" pitchFamily="34" charset="-120"/>
              </a:rPr>
              <a:t>When: </a:t>
            </a:r>
            <a:endParaRPr lang="en-US" sz="1150" dirty="0"/>
          </a:p>
          <a:p>
            <a:pPr marL="0" indent="0">
              <a:buNone/>
            </a:pPr>
            <a:r>
              <a:rPr lang="en-US" sz="1150" dirty="0">
                <a:solidFill>
                  <a:srgbClr val="5A6A8A"/>
                </a:solidFill>
                <a:latin typeface="Calibri" pitchFamily="34" charset="0"/>
                <a:ea typeface="Calibri" pitchFamily="34" charset="-122"/>
                <a:cs typeface="Calibri" pitchFamily="34" charset="-120"/>
              </a:rPr>
              <a:t>Run ONCE when first connecting a local repo to a remote — right after git init on a new project.</a:t>
            </a:r>
            <a:endParaRPr lang="en-US" sz="1150" dirty="0"/>
          </a:p>
        </p:txBody>
      </p:sp>
      <p:sp>
        <p:nvSpPr>
          <p:cNvPr id="9" name="Shape 6"/>
          <p:cNvSpPr/>
          <p:nvPr/>
        </p:nvSpPr>
        <p:spPr>
          <a:xfrm>
            <a:off x="411480" y="2249424"/>
            <a:ext cx="4041648" cy="120700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0" name="Shape 7"/>
          <p:cNvSpPr/>
          <p:nvPr/>
        </p:nvSpPr>
        <p:spPr>
          <a:xfrm>
            <a:off x="411480" y="2249424"/>
            <a:ext cx="64008" cy="1207008"/>
          </a:xfrm>
          <a:prstGeom prst="rect">
            <a:avLst/>
          </a:prstGeom>
          <a:solidFill>
            <a:srgbClr val="028090"/>
          </a:solidFill>
          <a:ln w="12700">
            <a:solidFill>
              <a:srgbClr val="028090"/>
            </a:solidFill>
            <a:prstDash val="solid"/>
          </a:ln>
        </p:spPr>
      </p:sp>
      <p:pic>
        <p:nvPicPr>
          <p:cNvPr id="11" name="Image 1" descr="preencoded.png"/>
          <p:cNvPicPr>
            <a:picLocks noChangeAspect="1"/>
          </p:cNvPicPr>
          <p:nvPr/>
        </p:nvPicPr>
        <p:blipFill>
          <a:blip r:embed="rId4"/>
          <a:stretch>
            <a:fillRect/>
          </a:stretch>
        </p:blipFill>
        <p:spPr>
          <a:xfrm>
            <a:off x="548640" y="2359152"/>
            <a:ext cx="347472" cy="347472"/>
          </a:xfrm>
          <a:prstGeom prst="rect">
            <a:avLst/>
          </a:prstGeom>
        </p:spPr>
      </p:pic>
      <p:sp>
        <p:nvSpPr>
          <p:cNvPr id="12" name="Text 8"/>
          <p:cNvSpPr/>
          <p:nvPr/>
        </p:nvSpPr>
        <p:spPr>
          <a:xfrm>
            <a:off x="978408" y="2322576"/>
            <a:ext cx="3383280" cy="274320"/>
          </a:xfrm>
          <a:prstGeom prst="rect">
            <a:avLst/>
          </a:prstGeom>
          <a:noFill/>
          <a:ln/>
        </p:spPr>
        <p:txBody>
          <a:bodyPr wrap="square" lIns="0" tIns="0" rIns="0" bIns="0" rtlCol="0" anchor="ctr"/>
          <a:lstStyle/>
          <a:p>
            <a:pPr marL="0" indent="0">
              <a:buNone/>
            </a:pPr>
            <a:r>
              <a:rPr lang="en-US" sz="1300" b="1" dirty="0">
                <a:solidFill>
                  <a:srgbClr val="028090"/>
                </a:solidFill>
                <a:latin typeface="Consolas" pitchFamily="34" charset="0"/>
                <a:ea typeface="Consolas" pitchFamily="34" charset="-122"/>
                <a:cs typeface="Consolas" pitchFamily="34" charset="-120"/>
              </a:rPr>
              <a:t>git push origin main</a:t>
            </a:r>
            <a:endParaRPr lang="en-US" sz="1300" dirty="0"/>
          </a:p>
        </p:txBody>
      </p:sp>
      <p:sp>
        <p:nvSpPr>
          <p:cNvPr id="13" name="Text 9"/>
          <p:cNvSpPr/>
          <p:nvPr/>
        </p:nvSpPr>
        <p:spPr>
          <a:xfrm>
            <a:off x="548640" y="2633472"/>
            <a:ext cx="3813048" cy="749808"/>
          </a:xfrm>
          <a:prstGeom prst="rect">
            <a:avLst/>
          </a:prstGeom>
          <a:noFill/>
          <a:ln/>
        </p:spPr>
        <p:txBody>
          <a:bodyPr wrap="square" rtlCol="0" anchor="t"/>
          <a:lstStyle/>
          <a:p>
            <a:pPr marL="0" indent="0">
              <a:buNone/>
            </a:pPr>
            <a:r>
              <a:rPr lang="en-US" sz="1150" b="1" dirty="0">
                <a:solidFill>
                  <a:srgbClr val="1A2744"/>
                </a:solidFill>
                <a:latin typeface="Calibri" pitchFamily="34" charset="0"/>
                <a:ea typeface="Calibri" pitchFamily="34" charset="-122"/>
                <a:cs typeface="Calibri" pitchFamily="34" charset="-120"/>
              </a:rPr>
              <a:t>What: </a:t>
            </a:r>
            <a:r>
              <a:rPr lang="en-US" sz="1150" dirty="0">
                <a:solidFill>
                  <a:srgbClr val="5A6A8A"/>
                </a:solidFill>
                <a:latin typeface="Calibri" pitchFamily="34" charset="0"/>
                <a:ea typeface="Calibri" pitchFamily="34" charset="-122"/>
                <a:cs typeface="Calibri" pitchFamily="34" charset="-120"/>
              </a:rPr>
              <a:t>Uploads your local commits to the remote repo.</a:t>
            </a:r>
            <a:endParaRPr lang="en-US" sz="1150" dirty="0"/>
          </a:p>
          <a:p>
            <a:pPr marL="0" indent="0">
              <a:buNone/>
            </a:pPr>
            <a:r>
              <a:rPr lang="en-US" sz="1150" b="1" dirty="0">
                <a:solidFill>
                  <a:srgbClr val="1A2744"/>
                </a:solidFill>
                <a:latin typeface="Calibri" pitchFamily="34" charset="0"/>
                <a:ea typeface="Calibri" pitchFamily="34" charset="-122"/>
                <a:cs typeface="Calibri" pitchFamily="34" charset="-120"/>
              </a:rPr>
              <a:t>Why: </a:t>
            </a:r>
            <a:endParaRPr lang="en-US" sz="1150" dirty="0"/>
          </a:p>
          <a:p>
            <a:pPr marL="0" indent="0">
              <a:buNone/>
            </a:pPr>
            <a:r>
              <a:rPr lang="en-US" sz="1150" dirty="0">
                <a:solidFill>
                  <a:srgbClr val="5A6A8A"/>
                </a:solidFill>
                <a:latin typeface="Calibri" pitchFamily="34" charset="0"/>
                <a:ea typeface="Calibri" pitchFamily="34" charset="-122"/>
                <a:cs typeface="Calibri" pitchFamily="34" charset="-120"/>
              </a:rPr>
              <a:t>Shares your work with the team.</a:t>
            </a:r>
            <a:endParaRPr lang="en-US" sz="1150" dirty="0"/>
          </a:p>
          <a:p>
            <a:pPr marL="0" indent="0">
              <a:buNone/>
            </a:pPr>
            <a:r>
              <a:rPr lang="en-US" sz="1150" b="1" dirty="0">
                <a:solidFill>
                  <a:srgbClr val="1A2744"/>
                </a:solidFill>
                <a:latin typeface="Calibri" pitchFamily="34" charset="0"/>
                <a:ea typeface="Calibri" pitchFamily="34" charset="-122"/>
                <a:cs typeface="Calibri" pitchFamily="34" charset="-120"/>
              </a:rPr>
              <a:t>When: </a:t>
            </a:r>
            <a:endParaRPr lang="en-US" sz="1150" dirty="0"/>
          </a:p>
          <a:p>
            <a:pPr marL="0" indent="0">
              <a:buNone/>
            </a:pPr>
            <a:r>
              <a:rPr lang="en-US" sz="1150" dirty="0">
                <a:solidFill>
                  <a:srgbClr val="5A6A8A"/>
                </a:solidFill>
                <a:latin typeface="Calibri" pitchFamily="34" charset="0"/>
                <a:ea typeface="Calibri" pitchFamily="34" charset="-122"/>
                <a:cs typeface="Calibri" pitchFamily="34" charset="-120"/>
              </a:rPr>
              <a:t>After committing work you want the team to see.</a:t>
            </a:r>
            <a:endParaRPr lang="en-US" sz="1150" dirty="0"/>
          </a:p>
        </p:txBody>
      </p:sp>
      <p:sp>
        <p:nvSpPr>
          <p:cNvPr id="14" name="Shape 10"/>
          <p:cNvSpPr/>
          <p:nvPr/>
        </p:nvSpPr>
        <p:spPr>
          <a:xfrm>
            <a:off x="4681728" y="2249424"/>
            <a:ext cx="4050792" cy="120700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5" name="Shape 11"/>
          <p:cNvSpPr/>
          <p:nvPr/>
        </p:nvSpPr>
        <p:spPr>
          <a:xfrm>
            <a:off x="4681728" y="2249424"/>
            <a:ext cx="64008" cy="1207008"/>
          </a:xfrm>
          <a:prstGeom prst="rect">
            <a:avLst/>
          </a:prstGeom>
          <a:solidFill>
            <a:srgbClr val="028090"/>
          </a:solidFill>
          <a:ln w="12700">
            <a:solidFill>
              <a:srgbClr val="028090"/>
            </a:solidFill>
            <a:prstDash val="solid"/>
          </a:ln>
        </p:spPr>
      </p:sp>
      <p:pic>
        <p:nvPicPr>
          <p:cNvPr id="16" name="Image 2" descr="preencoded.png"/>
          <p:cNvPicPr>
            <a:picLocks noChangeAspect="1"/>
          </p:cNvPicPr>
          <p:nvPr/>
        </p:nvPicPr>
        <p:blipFill>
          <a:blip r:embed="rId5"/>
          <a:stretch>
            <a:fillRect/>
          </a:stretch>
        </p:blipFill>
        <p:spPr>
          <a:xfrm>
            <a:off x="4818888" y="2359152"/>
            <a:ext cx="347472" cy="347472"/>
          </a:xfrm>
          <a:prstGeom prst="rect">
            <a:avLst/>
          </a:prstGeom>
        </p:spPr>
      </p:pic>
      <p:sp>
        <p:nvSpPr>
          <p:cNvPr id="17" name="Text 12"/>
          <p:cNvSpPr/>
          <p:nvPr/>
        </p:nvSpPr>
        <p:spPr>
          <a:xfrm>
            <a:off x="5248656" y="2322576"/>
            <a:ext cx="3392424" cy="274320"/>
          </a:xfrm>
          <a:prstGeom prst="rect">
            <a:avLst/>
          </a:prstGeom>
          <a:noFill/>
          <a:ln/>
        </p:spPr>
        <p:txBody>
          <a:bodyPr wrap="square" lIns="0" tIns="0" rIns="0" bIns="0" rtlCol="0" anchor="ctr"/>
          <a:lstStyle/>
          <a:p>
            <a:pPr marL="0" indent="0">
              <a:buNone/>
            </a:pPr>
            <a:r>
              <a:rPr lang="en-US" sz="1300" b="1" dirty="0">
                <a:solidFill>
                  <a:srgbClr val="028090"/>
                </a:solidFill>
                <a:latin typeface="Consolas" pitchFamily="34" charset="0"/>
                <a:ea typeface="Consolas" pitchFamily="34" charset="-122"/>
                <a:cs typeface="Consolas" pitchFamily="34" charset="-120"/>
              </a:rPr>
              <a:t>git pull origin main</a:t>
            </a:r>
            <a:endParaRPr lang="en-US" sz="1300" dirty="0"/>
          </a:p>
        </p:txBody>
      </p:sp>
      <p:sp>
        <p:nvSpPr>
          <p:cNvPr id="18" name="Text 13"/>
          <p:cNvSpPr/>
          <p:nvPr/>
        </p:nvSpPr>
        <p:spPr>
          <a:xfrm>
            <a:off x="4818888" y="2633472"/>
            <a:ext cx="3822192" cy="749808"/>
          </a:xfrm>
          <a:prstGeom prst="rect">
            <a:avLst/>
          </a:prstGeom>
          <a:noFill/>
          <a:ln/>
        </p:spPr>
        <p:txBody>
          <a:bodyPr wrap="square" rtlCol="0" anchor="t"/>
          <a:lstStyle/>
          <a:p>
            <a:pPr marL="0" indent="0">
              <a:buNone/>
            </a:pPr>
            <a:r>
              <a:rPr lang="en-US" sz="1150" b="1" dirty="0">
                <a:solidFill>
                  <a:srgbClr val="1A2744"/>
                </a:solidFill>
                <a:latin typeface="Calibri" pitchFamily="34" charset="0"/>
                <a:ea typeface="Calibri" pitchFamily="34" charset="-122"/>
                <a:cs typeface="Calibri" pitchFamily="34" charset="-120"/>
              </a:rPr>
              <a:t>What: </a:t>
            </a:r>
            <a:r>
              <a:rPr lang="en-US" sz="1150" dirty="0">
                <a:solidFill>
                  <a:srgbClr val="5A6A8A"/>
                </a:solidFill>
                <a:latin typeface="Calibri" pitchFamily="34" charset="0"/>
                <a:ea typeface="Calibri" pitchFamily="34" charset="-122"/>
                <a:cs typeface="Calibri" pitchFamily="34" charset="-120"/>
              </a:rPr>
              <a:t>Downloads &amp; merges the latest remote changes locally.</a:t>
            </a:r>
            <a:endParaRPr lang="en-US" sz="1150" dirty="0"/>
          </a:p>
          <a:p>
            <a:pPr marL="0" indent="0">
              <a:buNone/>
            </a:pPr>
            <a:r>
              <a:rPr lang="en-US" sz="1150" b="1" dirty="0">
                <a:solidFill>
                  <a:srgbClr val="1A2744"/>
                </a:solidFill>
                <a:latin typeface="Calibri" pitchFamily="34" charset="0"/>
                <a:ea typeface="Calibri" pitchFamily="34" charset="-122"/>
                <a:cs typeface="Calibri" pitchFamily="34" charset="-120"/>
              </a:rPr>
              <a:t>Why: </a:t>
            </a:r>
            <a:endParaRPr lang="en-US" sz="1150" dirty="0"/>
          </a:p>
          <a:p>
            <a:pPr marL="0" indent="0">
              <a:buNone/>
            </a:pPr>
            <a:r>
              <a:rPr lang="en-US" sz="1150" dirty="0">
                <a:solidFill>
                  <a:srgbClr val="5A6A8A"/>
                </a:solidFill>
                <a:latin typeface="Calibri" pitchFamily="34" charset="0"/>
                <a:ea typeface="Calibri" pitchFamily="34" charset="-122"/>
                <a:cs typeface="Calibri" pitchFamily="34" charset="-120"/>
              </a:rPr>
              <a:t>Keeps your copy in sync with the team.</a:t>
            </a:r>
            <a:endParaRPr lang="en-US" sz="1150" dirty="0"/>
          </a:p>
          <a:p>
            <a:pPr marL="0" indent="0">
              <a:buNone/>
            </a:pPr>
            <a:r>
              <a:rPr lang="en-US" sz="1150" b="1" dirty="0">
                <a:solidFill>
                  <a:srgbClr val="1A2744"/>
                </a:solidFill>
                <a:latin typeface="Calibri" pitchFamily="34" charset="0"/>
                <a:ea typeface="Calibri" pitchFamily="34" charset="-122"/>
                <a:cs typeface="Calibri" pitchFamily="34" charset="-120"/>
              </a:rPr>
              <a:t>When: </a:t>
            </a:r>
            <a:endParaRPr lang="en-US" sz="1150" dirty="0"/>
          </a:p>
          <a:p>
            <a:pPr marL="0" indent="0">
              <a:buNone/>
            </a:pPr>
            <a:r>
              <a:rPr lang="en-US" sz="1150" dirty="0">
                <a:solidFill>
                  <a:srgbClr val="5A6A8A"/>
                </a:solidFill>
                <a:latin typeface="Calibri" pitchFamily="34" charset="0"/>
                <a:ea typeface="Calibri" pitchFamily="34" charset="-122"/>
                <a:cs typeface="Calibri" pitchFamily="34" charset="-120"/>
              </a:rPr>
              <a:t>Every morning before you start coding.</a:t>
            </a:r>
            <a:endParaRPr lang="en-US" sz="1150" dirty="0"/>
          </a:p>
        </p:txBody>
      </p:sp>
      <p:sp>
        <p:nvSpPr>
          <p:cNvPr id="19" name="Shape 14"/>
          <p:cNvSpPr/>
          <p:nvPr/>
        </p:nvSpPr>
        <p:spPr>
          <a:xfrm>
            <a:off x="411480" y="3730752"/>
            <a:ext cx="8321040" cy="1170432"/>
          </a:xfrm>
          <a:prstGeom prst="rect">
            <a:avLst/>
          </a:prstGeom>
          <a:solidFill>
            <a:srgbClr val="E8F7F9"/>
          </a:solidFill>
          <a:ln w="12700">
            <a:solidFill>
              <a:srgbClr val="028090"/>
            </a:solidFill>
            <a:prstDash val="solid"/>
          </a:ln>
          <a:effectLst>
            <a:outerShdw blurRad="101600" dist="38100" dir="8100000" algn="bl" rotWithShape="0">
              <a:srgbClr val="000000">
                <a:alpha val="12000"/>
              </a:srgbClr>
            </a:outerShdw>
          </a:effectLst>
        </p:spPr>
      </p:sp>
      <p:sp>
        <p:nvSpPr>
          <p:cNvPr id="20" name="Shape 15"/>
          <p:cNvSpPr/>
          <p:nvPr/>
        </p:nvSpPr>
        <p:spPr>
          <a:xfrm>
            <a:off x="411480" y="3730752"/>
            <a:ext cx="8321040" cy="347472"/>
          </a:xfrm>
          <a:prstGeom prst="rect">
            <a:avLst/>
          </a:prstGeom>
          <a:solidFill>
            <a:srgbClr val="028090"/>
          </a:solidFill>
          <a:ln w="12700">
            <a:solidFill>
              <a:srgbClr val="028090"/>
            </a:solidFill>
            <a:prstDash val="solid"/>
          </a:ln>
        </p:spPr>
      </p:sp>
      <p:sp>
        <p:nvSpPr>
          <p:cNvPr id="21" name="Text 16"/>
          <p:cNvSpPr/>
          <p:nvPr/>
        </p:nvSpPr>
        <p:spPr>
          <a:xfrm>
            <a:off x="521208" y="3758184"/>
            <a:ext cx="81381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Real-World Example</a:t>
            </a:r>
            <a:endParaRPr lang="en-US" sz="1200" dirty="0"/>
          </a:p>
        </p:txBody>
      </p:sp>
      <p:sp>
        <p:nvSpPr>
          <p:cNvPr id="22" name="Text 17"/>
          <p:cNvSpPr/>
          <p:nvPr/>
        </p:nvSpPr>
        <p:spPr>
          <a:xfrm>
            <a:off x="521208" y="4133088"/>
            <a:ext cx="8119872" cy="694944"/>
          </a:xfrm>
          <a:prstGeom prst="rect">
            <a:avLst/>
          </a:prstGeom>
          <a:noFill/>
          <a:ln/>
        </p:spPr>
        <p:txBody>
          <a:bodyPr wrap="square" rtlCol="0" anchor="t"/>
          <a:lstStyle/>
          <a:p>
            <a:pPr marL="0" indent="0">
              <a:buNone/>
            </a:pPr>
            <a:r>
              <a:rPr lang="en-US" sz="1200" b="1" dirty="0">
                <a:solidFill>
                  <a:srgbClr val="1A2744"/>
                </a:solidFill>
                <a:latin typeface="Calibri" pitchFamily="34" charset="0"/>
                <a:ea typeface="Calibri" pitchFamily="34" charset="-122"/>
                <a:cs typeface="Calibri" pitchFamily="34" charset="-120"/>
              </a:rPr>
              <a:t>Enterprise rule: </a:t>
            </a:r>
            <a:r>
              <a:rPr lang="en-US" sz="1200" dirty="0">
                <a:solidFill>
                  <a:srgbClr val="2C3E50"/>
                </a:solidFill>
                <a:latin typeface="Calibri" pitchFamily="34" charset="0"/>
                <a:ea typeface="Calibri" pitchFamily="34" charset="-122"/>
                <a:cs typeface="Calibri" pitchFamily="34" charset="-120"/>
              </a:rPr>
              <a:t>At Absa Bank, nobody pushes directly to main. They push to a feature branch — an automated pipeline runs 500 tests. Only after tests pass and 2 seniors approve does it merge into main.</a:t>
            </a:r>
            <a:endParaRPr lang="en-US" sz="1200" dirty="0"/>
          </a:p>
          <a:p>
            <a:pPr marL="0" indent="0">
              <a:buNone/>
            </a:pPr>
            <a:r>
              <a:rPr lang="en-US" sz="1200" b="1" dirty="0">
                <a:solidFill>
                  <a:srgbClr val="1A2744"/>
                </a:solidFill>
                <a:latin typeface="Calibri" pitchFamily="34" charset="0"/>
                <a:ea typeface="Calibri" pitchFamily="34" charset="-122"/>
                <a:cs typeface="Calibri" pitchFamily="34" charset="-120"/>
              </a:rPr>
              <a:t>Daily habit: </a:t>
            </a:r>
            <a:r>
              <a:rPr lang="en-US" sz="1200" dirty="0">
                <a:solidFill>
                  <a:srgbClr val="2C3E50"/>
                </a:solidFill>
                <a:latin typeface="Calibri" pitchFamily="34" charset="0"/>
                <a:ea typeface="Calibri" pitchFamily="34" charset="-122"/>
                <a:cs typeface="Calibri" pitchFamily="34" charset="-120"/>
              </a:rPr>
              <a:t>Run git pull every morning. Without it, you are coding on an outdated copy and creating merge conflicts for your teammates.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7132320" y="-1097280"/>
            <a:ext cx="4114800" cy="4114800"/>
          </a:xfrm>
          <a:prstGeom prst="ellipse">
            <a:avLst/>
          </a:prstGeom>
          <a:solidFill>
            <a:srgbClr val="028090">
              <a:alpha val="25000"/>
            </a:srgbClr>
          </a:solidFill>
          <a:ln w="12700">
            <a:solidFill>
              <a:srgbClr val="028090">
                <a:alpha val="25000"/>
              </a:srgbClr>
            </a:solidFill>
            <a:prstDash val="solid"/>
          </a:ln>
        </p:spPr>
      </p:sp>
      <p:sp>
        <p:nvSpPr>
          <p:cNvPr id="3" name="Shape 1"/>
          <p:cNvSpPr/>
          <p:nvPr/>
        </p:nvSpPr>
        <p:spPr>
          <a:xfrm>
            <a:off x="-1371600" y="3200400"/>
            <a:ext cx="3200400" cy="3200400"/>
          </a:xfrm>
          <a:prstGeom prst="ellipse">
            <a:avLst/>
          </a:prstGeom>
          <a:solidFill>
            <a:srgbClr val="02C39A">
              <a:alpha val="20000"/>
            </a:srgbClr>
          </a:solidFill>
          <a:ln w="12700">
            <a:solidFill>
              <a:srgbClr val="02C39A">
                <a:alpha val="20000"/>
              </a:srgbClr>
            </a:solidFill>
            <a:prstDash val="solid"/>
          </a:ln>
        </p:spPr>
      </p:sp>
      <p:sp>
        <p:nvSpPr>
          <p:cNvPr id="4" name="Text 2"/>
          <p:cNvSpPr/>
          <p:nvPr/>
        </p:nvSpPr>
        <p:spPr>
          <a:xfrm>
            <a:off x="548640" y="1463040"/>
            <a:ext cx="8046720" cy="91440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Section 4</a:t>
            </a:r>
            <a:endParaRPr lang="en-US" sz="3800" dirty="0"/>
          </a:p>
        </p:txBody>
      </p:sp>
      <p:sp>
        <p:nvSpPr>
          <p:cNvPr id="5" name="Text 3"/>
          <p:cNvSpPr/>
          <p:nvPr/>
        </p:nvSpPr>
        <p:spPr>
          <a:xfrm>
            <a:off x="548640" y="2468880"/>
            <a:ext cx="8046720" cy="548640"/>
          </a:xfrm>
          <a:prstGeom prst="rect">
            <a:avLst/>
          </a:prstGeom>
          <a:noFill/>
          <a:ln/>
        </p:spPr>
        <p:txBody>
          <a:bodyPr wrap="square" rtlCol="0" anchor="ctr"/>
          <a:lstStyle/>
          <a:p>
            <a:pPr marL="0" indent="0">
              <a:buNone/>
            </a:pPr>
            <a:r>
              <a:rPr lang="en-US" sz="1800" i="1" dirty="0">
                <a:solidFill>
                  <a:srgbClr val="C8DCFC"/>
                </a:solidFill>
                <a:latin typeface="Calibri" pitchFamily="34" charset="0"/>
                <a:ea typeface="Calibri" pitchFamily="34" charset="-122"/>
                <a:cs typeface="Calibri" pitchFamily="34" charset="-120"/>
              </a:rPr>
              <a:t>What is Azure DevOps?</a:t>
            </a:r>
            <a:endParaRPr lang="en-US" sz="1800" dirty="0"/>
          </a:p>
        </p:txBody>
      </p:sp>
      <p:pic>
        <p:nvPicPr>
          <p:cNvPr id="6" name="Image 0" descr="preencoded.png"/>
          <p:cNvPicPr>
            <a:picLocks noChangeAspect="1"/>
          </p:cNvPicPr>
          <p:nvPr/>
        </p:nvPicPr>
        <p:blipFill>
          <a:blip r:embed="rId3"/>
          <a:stretch>
            <a:fillRect/>
          </a:stretch>
        </p:blipFill>
        <p:spPr>
          <a:xfrm>
            <a:off x="7132320" y="1280160"/>
            <a:ext cx="1463040" cy="14630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5F8FF"/>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30352"/>
          </a:xfrm>
          <a:prstGeom prst="rect">
            <a:avLst/>
          </a:prstGeom>
          <a:noFill/>
          <a:ln/>
        </p:spPr>
        <p:txBody>
          <a:bodyPr wrap="square" lIns="0" tIns="0" rIns="0" bIns="0" rtlCol="0" anchor="ctr"/>
          <a:lstStyle/>
          <a:p>
            <a:pPr marL="0" indent="0">
              <a:buNone/>
            </a:pPr>
            <a:r>
              <a:rPr lang="en-US" sz="2600" b="1" dirty="0">
                <a:solidFill>
                  <a:srgbClr val="1A2744"/>
                </a:solidFill>
                <a:latin typeface="Calibri" pitchFamily="34" charset="0"/>
                <a:ea typeface="Calibri" pitchFamily="34" charset="-122"/>
                <a:cs typeface="Calibri" pitchFamily="34" charset="-120"/>
              </a:rPr>
              <a:t>Azure DevOps — 5 Core Services</a:t>
            </a:r>
            <a:endParaRPr lang="en-US" sz="2600" dirty="0"/>
          </a:p>
        </p:txBody>
      </p:sp>
      <p:sp>
        <p:nvSpPr>
          <p:cNvPr id="3" name="Shape 1"/>
          <p:cNvSpPr/>
          <p:nvPr/>
        </p:nvSpPr>
        <p:spPr>
          <a:xfrm>
            <a:off x="411480" y="694944"/>
            <a:ext cx="8321040" cy="27432"/>
          </a:xfrm>
          <a:prstGeom prst="rect">
            <a:avLst/>
          </a:prstGeom>
          <a:solidFill>
            <a:srgbClr val="E4EAF6"/>
          </a:solidFill>
          <a:ln w="12700">
            <a:solidFill>
              <a:srgbClr val="E4EAF6"/>
            </a:solidFill>
            <a:prstDash val="solid"/>
          </a:ln>
        </p:spPr>
      </p:sp>
      <p:sp>
        <p:nvSpPr>
          <p:cNvPr id="4" name="Text 2"/>
          <p:cNvSpPr/>
          <p:nvPr/>
        </p:nvSpPr>
        <p:spPr>
          <a:xfrm>
            <a:off x="411480" y="804672"/>
            <a:ext cx="8321040" cy="365760"/>
          </a:xfrm>
          <a:prstGeom prst="rect">
            <a:avLst/>
          </a:prstGeom>
          <a:noFill/>
          <a:ln/>
        </p:spPr>
        <p:txBody>
          <a:bodyPr wrap="square" rtlCol="0" anchor="ctr"/>
          <a:lstStyle/>
          <a:p>
            <a:pPr marL="0" indent="0">
              <a:buNone/>
            </a:pPr>
            <a:r>
              <a:rPr lang="en-US" sz="1350" i="1" dirty="0">
                <a:solidFill>
                  <a:srgbClr val="5A6A8A"/>
                </a:solidFill>
                <a:latin typeface="Calibri" pitchFamily="34" charset="0"/>
                <a:ea typeface="Calibri" pitchFamily="34" charset="-122"/>
                <a:cs typeface="Calibri" pitchFamily="34" charset="-120"/>
              </a:rPr>
              <a:t>Microsoft's platform for managing the complete software development lifecycle — from planning to deployment.</a:t>
            </a:r>
            <a:endParaRPr lang="en-US" sz="1350" dirty="0"/>
          </a:p>
        </p:txBody>
      </p:sp>
      <p:sp>
        <p:nvSpPr>
          <p:cNvPr id="5" name="Shape 3"/>
          <p:cNvSpPr/>
          <p:nvPr/>
        </p:nvSpPr>
        <p:spPr>
          <a:xfrm>
            <a:off x="411480" y="1261872"/>
            <a:ext cx="1572768" cy="267004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6" name="Shape 4"/>
          <p:cNvSpPr/>
          <p:nvPr/>
        </p:nvSpPr>
        <p:spPr>
          <a:xfrm>
            <a:off x="411480" y="1261872"/>
            <a:ext cx="1572768" cy="457200"/>
          </a:xfrm>
          <a:prstGeom prst="rect">
            <a:avLst/>
          </a:prstGeom>
          <a:solidFill>
            <a:srgbClr val="028090"/>
          </a:solidFill>
          <a:ln w="12700">
            <a:solidFill>
              <a:srgbClr val="028090"/>
            </a:solidFill>
            <a:prstDash val="solid"/>
          </a:ln>
        </p:spPr>
      </p:sp>
      <p:sp>
        <p:nvSpPr>
          <p:cNvPr id="7" name="Text 5"/>
          <p:cNvSpPr/>
          <p:nvPr/>
        </p:nvSpPr>
        <p:spPr>
          <a:xfrm>
            <a:off x="466344" y="1280160"/>
            <a:ext cx="146304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Azure Repos</a:t>
            </a:r>
            <a:endParaRPr lang="en-US" sz="1100" dirty="0"/>
          </a:p>
        </p:txBody>
      </p:sp>
      <p:sp>
        <p:nvSpPr>
          <p:cNvPr id="8" name="Text 6"/>
          <p:cNvSpPr/>
          <p:nvPr/>
        </p:nvSpPr>
        <p:spPr>
          <a:xfrm>
            <a:off x="484632" y="1792224"/>
            <a:ext cx="1426464" cy="987552"/>
          </a:xfrm>
          <a:prstGeom prst="rect">
            <a:avLst/>
          </a:prstGeom>
          <a:noFill/>
          <a:ln/>
        </p:spPr>
        <p:txBody>
          <a:bodyPr wrap="square" rtlCol="0" anchor="ctr"/>
          <a:lstStyle/>
          <a:p>
            <a:pPr marL="0" indent="0" algn="ctr">
              <a:buNone/>
            </a:pPr>
            <a:r>
              <a:rPr lang="en-US" sz="1100" dirty="0">
                <a:solidFill>
                  <a:srgbClr val="5A6A8A"/>
                </a:solidFill>
                <a:latin typeface="Calibri" pitchFamily="34" charset="0"/>
                <a:ea typeface="Calibri" pitchFamily="34" charset="-122"/>
                <a:cs typeface="Calibri" pitchFamily="34" charset="-120"/>
              </a:rPr>
              <a:t>Git-based source code storage &amp; version control</a:t>
            </a:r>
            <a:endParaRPr lang="en-US" sz="1100" dirty="0"/>
          </a:p>
        </p:txBody>
      </p:sp>
      <p:sp>
        <p:nvSpPr>
          <p:cNvPr id="9" name="Shape 7"/>
          <p:cNvSpPr/>
          <p:nvPr/>
        </p:nvSpPr>
        <p:spPr>
          <a:xfrm>
            <a:off x="594360" y="2798064"/>
            <a:ext cx="1207008" cy="64008"/>
          </a:xfrm>
          <a:prstGeom prst="rect">
            <a:avLst/>
          </a:prstGeom>
          <a:solidFill>
            <a:srgbClr val="028090"/>
          </a:solidFill>
          <a:ln w="12700">
            <a:solidFill>
              <a:srgbClr val="028090"/>
            </a:solidFill>
            <a:prstDash val="solid"/>
          </a:ln>
        </p:spPr>
      </p:sp>
      <p:sp>
        <p:nvSpPr>
          <p:cNvPr id="10" name="Text 8"/>
          <p:cNvSpPr/>
          <p:nvPr/>
        </p:nvSpPr>
        <p:spPr>
          <a:xfrm>
            <a:off x="484632" y="2889504"/>
            <a:ext cx="1426464" cy="292608"/>
          </a:xfrm>
          <a:prstGeom prst="rect">
            <a:avLst/>
          </a:prstGeom>
          <a:noFill/>
          <a:ln/>
        </p:spPr>
        <p:txBody>
          <a:bodyPr wrap="square" lIns="0" tIns="0" rIns="0" bIns="0" rtlCol="0" anchor="ctr"/>
          <a:lstStyle/>
          <a:p>
            <a:pPr marL="0" indent="0" algn="ctr">
              <a:buNone/>
            </a:pPr>
            <a:r>
              <a:rPr lang="en-US" sz="1100" b="1" dirty="0">
                <a:solidFill>
                  <a:srgbClr val="028090"/>
                </a:solidFill>
                <a:latin typeface="Calibri" pitchFamily="34" charset="0"/>
                <a:ea typeface="Calibri" pitchFamily="34" charset="-122"/>
                <a:cs typeface="Calibri" pitchFamily="34" charset="-120"/>
              </a:rPr>
              <a:t>Store all app code</a:t>
            </a:r>
            <a:endParaRPr lang="en-US" sz="1100" dirty="0"/>
          </a:p>
        </p:txBody>
      </p:sp>
      <p:sp>
        <p:nvSpPr>
          <p:cNvPr id="11" name="Shape 9"/>
          <p:cNvSpPr/>
          <p:nvPr/>
        </p:nvSpPr>
        <p:spPr>
          <a:xfrm>
            <a:off x="2084832" y="1261872"/>
            <a:ext cx="1572768" cy="267004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2" name="Shape 10"/>
          <p:cNvSpPr/>
          <p:nvPr/>
        </p:nvSpPr>
        <p:spPr>
          <a:xfrm>
            <a:off x="2084832" y="1261872"/>
            <a:ext cx="1572768" cy="457200"/>
          </a:xfrm>
          <a:prstGeom prst="rect">
            <a:avLst/>
          </a:prstGeom>
          <a:solidFill>
            <a:srgbClr val="1E5FA8"/>
          </a:solidFill>
          <a:ln w="12700">
            <a:solidFill>
              <a:srgbClr val="1E5FA8"/>
            </a:solidFill>
            <a:prstDash val="solid"/>
          </a:ln>
        </p:spPr>
      </p:sp>
      <p:sp>
        <p:nvSpPr>
          <p:cNvPr id="13" name="Text 11"/>
          <p:cNvSpPr/>
          <p:nvPr/>
        </p:nvSpPr>
        <p:spPr>
          <a:xfrm>
            <a:off x="2139696" y="1280160"/>
            <a:ext cx="146304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Azure Pipelines</a:t>
            </a:r>
            <a:endParaRPr lang="en-US" sz="1100" dirty="0"/>
          </a:p>
        </p:txBody>
      </p:sp>
      <p:sp>
        <p:nvSpPr>
          <p:cNvPr id="14" name="Text 12"/>
          <p:cNvSpPr/>
          <p:nvPr/>
        </p:nvSpPr>
        <p:spPr>
          <a:xfrm>
            <a:off x="2157984" y="1792224"/>
            <a:ext cx="1426464" cy="987552"/>
          </a:xfrm>
          <a:prstGeom prst="rect">
            <a:avLst/>
          </a:prstGeom>
          <a:noFill/>
          <a:ln/>
        </p:spPr>
        <p:txBody>
          <a:bodyPr wrap="square" rtlCol="0" anchor="ctr"/>
          <a:lstStyle/>
          <a:p>
            <a:pPr marL="0" indent="0" algn="ctr">
              <a:buNone/>
            </a:pPr>
            <a:r>
              <a:rPr lang="en-US" sz="1100" dirty="0">
                <a:solidFill>
                  <a:srgbClr val="5A6A8A"/>
                </a:solidFill>
                <a:latin typeface="Calibri" pitchFamily="34" charset="0"/>
                <a:ea typeface="Calibri" pitchFamily="34" charset="-122"/>
                <a:cs typeface="Calibri" pitchFamily="34" charset="-120"/>
              </a:rPr>
              <a:t>Automated build, test &amp; deploy (CI/CD)</a:t>
            </a:r>
            <a:endParaRPr lang="en-US" sz="1100" dirty="0"/>
          </a:p>
        </p:txBody>
      </p:sp>
      <p:sp>
        <p:nvSpPr>
          <p:cNvPr id="15" name="Shape 13"/>
          <p:cNvSpPr/>
          <p:nvPr/>
        </p:nvSpPr>
        <p:spPr>
          <a:xfrm>
            <a:off x="2267712" y="2798064"/>
            <a:ext cx="1207008" cy="64008"/>
          </a:xfrm>
          <a:prstGeom prst="rect">
            <a:avLst/>
          </a:prstGeom>
          <a:solidFill>
            <a:srgbClr val="1E5FA8"/>
          </a:solidFill>
          <a:ln w="12700">
            <a:solidFill>
              <a:srgbClr val="1E5FA8"/>
            </a:solidFill>
            <a:prstDash val="solid"/>
          </a:ln>
        </p:spPr>
      </p:sp>
      <p:sp>
        <p:nvSpPr>
          <p:cNvPr id="16" name="Text 14"/>
          <p:cNvSpPr/>
          <p:nvPr/>
        </p:nvSpPr>
        <p:spPr>
          <a:xfrm>
            <a:off x="2157984" y="2889504"/>
            <a:ext cx="1426464" cy="292608"/>
          </a:xfrm>
          <a:prstGeom prst="rect">
            <a:avLst/>
          </a:prstGeom>
          <a:noFill/>
          <a:ln/>
        </p:spPr>
        <p:txBody>
          <a:bodyPr wrap="square" lIns="0" tIns="0" rIns="0" bIns="0" rtlCol="0" anchor="ctr"/>
          <a:lstStyle/>
          <a:p>
            <a:pPr marL="0" indent="0" algn="ctr">
              <a:buNone/>
            </a:pPr>
            <a:r>
              <a:rPr lang="en-US" sz="1100" b="1" dirty="0">
                <a:solidFill>
                  <a:srgbClr val="1E5FA8"/>
                </a:solidFill>
                <a:latin typeface="Calibri" pitchFamily="34" charset="0"/>
                <a:ea typeface="Calibri" pitchFamily="34" charset="-122"/>
                <a:cs typeface="Calibri" pitchFamily="34" charset="-120"/>
              </a:rPr>
              <a:t>Auto-deploy on merge</a:t>
            </a:r>
            <a:endParaRPr lang="en-US" sz="1100" dirty="0"/>
          </a:p>
        </p:txBody>
      </p:sp>
      <p:sp>
        <p:nvSpPr>
          <p:cNvPr id="17" name="Shape 15"/>
          <p:cNvSpPr/>
          <p:nvPr/>
        </p:nvSpPr>
        <p:spPr>
          <a:xfrm>
            <a:off x="3758184" y="1261872"/>
            <a:ext cx="1572768" cy="267004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8" name="Shape 16"/>
          <p:cNvSpPr/>
          <p:nvPr/>
        </p:nvSpPr>
        <p:spPr>
          <a:xfrm>
            <a:off x="3758184" y="1261872"/>
            <a:ext cx="1572768" cy="457200"/>
          </a:xfrm>
          <a:prstGeom prst="rect">
            <a:avLst/>
          </a:prstGeom>
          <a:solidFill>
            <a:srgbClr val="7B2FBE"/>
          </a:solidFill>
          <a:ln w="12700">
            <a:solidFill>
              <a:srgbClr val="7B2FBE"/>
            </a:solidFill>
            <a:prstDash val="solid"/>
          </a:ln>
        </p:spPr>
      </p:sp>
      <p:sp>
        <p:nvSpPr>
          <p:cNvPr id="19" name="Text 17"/>
          <p:cNvSpPr/>
          <p:nvPr/>
        </p:nvSpPr>
        <p:spPr>
          <a:xfrm>
            <a:off x="3813048" y="1280160"/>
            <a:ext cx="146304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Azure Boards</a:t>
            </a:r>
            <a:endParaRPr lang="en-US" sz="1100" dirty="0"/>
          </a:p>
        </p:txBody>
      </p:sp>
      <p:sp>
        <p:nvSpPr>
          <p:cNvPr id="20" name="Text 18"/>
          <p:cNvSpPr/>
          <p:nvPr/>
        </p:nvSpPr>
        <p:spPr>
          <a:xfrm>
            <a:off x="3831336" y="1792224"/>
            <a:ext cx="1426464" cy="987552"/>
          </a:xfrm>
          <a:prstGeom prst="rect">
            <a:avLst/>
          </a:prstGeom>
          <a:noFill/>
          <a:ln/>
        </p:spPr>
        <p:txBody>
          <a:bodyPr wrap="square" rtlCol="0" anchor="ctr"/>
          <a:lstStyle/>
          <a:p>
            <a:pPr marL="0" indent="0" algn="ctr">
              <a:buNone/>
            </a:pPr>
            <a:r>
              <a:rPr lang="en-US" sz="1100" dirty="0">
                <a:solidFill>
                  <a:srgbClr val="5A6A8A"/>
                </a:solidFill>
                <a:latin typeface="Calibri" pitchFamily="34" charset="0"/>
                <a:ea typeface="Calibri" pitchFamily="34" charset="-122"/>
                <a:cs typeface="Calibri" pitchFamily="34" charset="-120"/>
              </a:rPr>
              <a:t>Sprint &amp; task management (Kanban / Scrum)</a:t>
            </a:r>
            <a:endParaRPr lang="en-US" sz="1100" dirty="0"/>
          </a:p>
        </p:txBody>
      </p:sp>
      <p:sp>
        <p:nvSpPr>
          <p:cNvPr id="21" name="Shape 19"/>
          <p:cNvSpPr/>
          <p:nvPr/>
        </p:nvSpPr>
        <p:spPr>
          <a:xfrm>
            <a:off x="3941064" y="2798064"/>
            <a:ext cx="1207008" cy="64008"/>
          </a:xfrm>
          <a:prstGeom prst="rect">
            <a:avLst/>
          </a:prstGeom>
          <a:solidFill>
            <a:srgbClr val="7B2FBE"/>
          </a:solidFill>
          <a:ln w="12700">
            <a:solidFill>
              <a:srgbClr val="7B2FBE"/>
            </a:solidFill>
            <a:prstDash val="solid"/>
          </a:ln>
        </p:spPr>
      </p:sp>
      <p:sp>
        <p:nvSpPr>
          <p:cNvPr id="22" name="Text 20"/>
          <p:cNvSpPr/>
          <p:nvPr/>
        </p:nvSpPr>
        <p:spPr>
          <a:xfrm>
            <a:off x="3831336" y="2889504"/>
            <a:ext cx="1426464" cy="292608"/>
          </a:xfrm>
          <a:prstGeom prst="rect">
            <a:avLst/>
          </a:prstGeom>
          <a:noFill/>
          <a:ln/>
        </p:spPr>
        <p:txBody>
          <a:bodyPr wrap="square" lIns="0" tIns="0" rIns="0" bIns="0" rtlCol="0" anchor="ctr"/>
          <a:lstStyle/>
          <a:p>
            <a:pPr marL="0" indent="0" algn="ctr">
              <a:buNone/>
            </a:pPr>
            <a:r>
              <a:rPr lang="en-US" sz="1100" b="1" dirty="0">
                <a:solidFill>
                  <a:srgbClr val="7B2FBE"/>
                </a:solidFill>
                <a:latin typeface="Calibri" pitchFamily="34" charset="0"/>
                <a:ea typeface="Calibri" pitchFamily="34" charset="-122"/>
                <a:cs typeface="Calibri" pitchFamily="34" charset="-120"/>
              </a:rPr>
              <a:t>Track who builds what</a:t>
            </a:r>
            <a:endParaRPr lang="en-US" sz="1100" dirty="0"/>
          </a:p>
        </p:txBody>
      </p:sp>
      <p:sp>
        <p:nvSpPr>
          <p:cNvPr id="23" name="Shape 21"/>
          <p:cNvSpPr/>
          <p:nvPr/>
        </p:nvSpPr>
        <p:spPr>
          <a:xfrm>
            <a:off x="5431536" y="1261872"/>
            <a:ext cx="1572768" cy="267004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24" name="Shape 22"/>
          <p:cNvSpPr/>
          <p:nvPr/>
        </p:nvSpPr>
        <p:spPr>
          <a:xfrm>
            <a:off x="5431536" y="1261872"/>
            <a:ext cx="1572768" cy="457200"/>
          </a:xfrm>
          <a:prstGeom prst="rect">
            <a:avLst/>
          </a:prstGeom>
          <a:solidFill>
            <a:srgbClr val="B8312F"/>
          </a:solidFill>
          <a:ln w="12700">
            <a:solidFill>
              <a:srgbClr val="B8312F"/>
            </a:solidFill>
            <a:prstDash val="solid"/>
          </a:ln>
        </p:spPr>
      </p:sp>
      <p:sp>
        <p:nvSpPr>
          <p:cNvPr id="25" name="Text 23"/>
          <p:cNvSpPr/>
          <p:nvPr/>
        </p:nvSpPr>
        <p:spPr>
          <a:xfrm>
            <a:off x="5486400" y="1280160"/>
            <a:ext cx="146304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Azure Test Plans</a:t>
            </a:r>
            <a:endParaRPr lang="en-US" sz="1100" dirty="0"/>
          </a:p>
        </p:txBody>
      </p:sp>
      <p:sp>
        <p:nvSpPr>
          <p:cNvPr id="26" name="Text 24"/>
          <p:cNvSpPr/>
          <p:nvPr/>
        </p:nvSpPr>
        <p:spPr>
          <a:xfrm>
            <a:off x="5504688" y="1792224"/>
            <a:ext cx="1426464" cy="987552"/>
          </a:xfrm>
          <a:prstGeom prst="rect">
            <a:avLst/>
          </a:prstGeom>
          <a:noFill/>
          <a:ln/>
        </p:spPr>
        <p:txBody>
          <a:bodyPr wrap="square" rtlCol="0" anchor="ctr"/>
          <a:lstStyle/>
          <a:p>
            <a:pPr marL="0" indent="0" algn="ctr">
              <a:buNone/>
            </a:pPr>
            <a:r>
              <a:rPr lang="en-US" sz="1100" dirty="0">
                <a:solidFill>
                  <a:srgbClr val="5A6A8A"/>
                </a:solidFill>
                <a:latin typeface="Calibri" pitchFamily="34" charset="0"/>
                <a:ea typeface="Calibri" pitchFamily="34" charset="-122"/>
                <a:cs typeface="Calibri" pitchFamily="34" charset="-120"/>
              </a:rPr>
              <a:t>Manual &amp; automated testing management</a:t>
            </a:r>
            <a:endParaRPr lang="en-US" sz="1100" dirty="0"/>
          </a:p>
        </p:txBody>
      </p:sp>
      <p:sp>
        <p:nvSpPr>
          <p:cNvPr id="27" name="Shape 25"/>
          <p:cNvSpPr/>
          <p:nvPr/>
        </p:nvSpPr>
        <p:spPr>
          <a:xfrm>
            <a:off x="5614416" y="2798064"/>
            <a:ext cx="1207008" cy="64008"/>
          </a:xfrm>
          <a:prstGeom prst="rect">
            <a:avLst/>
          </a:prstGeom>
          <a:solidFill>
            <a:srgbClr val="B8312F"/>
          </a:solidFill>
          <a:ln w="12700">
            <a:solidFill>
              <a:srgbClr val="B8312F"/>
            </a:solidFill>
            <a:prstDash val="solid"/>
          </a:ln>
        </p:spPr>
      </p:sp>
      <p:sp>
        <p:nvSpPr>
          <p:cNvPr id="28" name="Text 26"/>
          <p:cNvSpPr/>
          <p:nvPr/>
        </p:nvSpPr>
        <p:spPr>
          <a:xfrm>
            <a:off x="5504688" y="2889504"/>
            <a:ext cx="1426464" cy="292608"/>
          </a:xfrm>
          <a:prstGeom prst="rect">
            <a:avLst/>
          </a:prstGeom>
          <a:noFill/>
          <a:ln/>
        </p:spPr>
        <p:txBody>
          <a:bodyPr wrap="square" lIns="0" tIns="0" rIns="0" bIns="0" rtlCol="0" anchor="ctr"/>
          <a:lstStyle/>
          <a:p>
            <a:pPr marL="0" indent="0" algn="ctr">
              <a:buNone/>
            </a:pPr>
            <a:r>
              <a:rPr lang="en-US" sz="1100" b="1" dirty="0">
                <a:solidFill>
                  <a:srgbClr val="B8312F"/>
                </a:solidFill>
                <a:latin typeface="Calibri" pitchFamily="34" charset="0"/>
                <a:ea typeface="Calibri" pitchFamily="34" charset="-122"/>
                <a:cs typeface="Calibri" pitchFamily="34" charset="-120"/>
              </a:rPr>
              <a:t>Run tests before release</a:t>
            </a:r>
            <a:endParaRPr lang="en-US" sz="1100" dirty="0"/>
          </a:p>
        </p:txBody>
      </p:sp>
      <p:sp>
        <p:nvSpPr>
          <p:cNvPr id="29" name="Shape 27"/>
          <p:cNvSpPr/>
          <p:nvPr/>
        </p:nvSpPr>
        <p:spPr>
          <a:xfrm>
            <a:off x="7104888" y="1261872"/>
            <a:ext cx="1572768" cy="2670048"/>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30" name="Shape 28"/>
          <p:cNvSpPr/>
          <p:nvPr/>
        </p:nvSpPr>
        <p:spPr>
          <a:xfrm>
            <a:off x="7104888" y="1261872"/>
            <a:ext cx="1572768" cy="457200"/>
          </a:xfrm>
          <a:prstGeom prst="rect">
            <a:avLst/>
          </a:prstGeom>
          <a:solidFill>
            <a:srgbClr val="0F7B6C"/>
          </a:solidFill>
          <a:ln w="12700">
            <a:solidFill>
              <a:srgbClr val="0F7B6C"/>
            </a:solidFill>
            <a:prstDash val="solid"/>
          </a:ln>
        </p:spPr>
      </p:sp>
      <p:sp>
        <p:nvSpPr>
          <p:cNvPr id="31" name="Text 29"/>
          <p:cNvSpPr/>
          <p:nvPr/>
        </p:nvSpPr>
        <p:spPr>
          <a:xfrm>
            <a:off x="7159752" y="1280160"/>
            <a:ext cx="146304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Azure Artifacts</a:t>
            </a:r>
            <a:endParaRPr lang="en-US" sz="1100" dirty="0"/>
          </a:p>
        </p:txBody>
      </p:sp>
      <p:sp>
        <p:nvSpPr>
          <p:cNvPr id="32" name="Text 30"/>
          <p:cNvSpPr/>
          <p:nvPr/>
        </p:nvSpPr>
        <p:spPr>
          <a:xfrm>
            <a:off x="7178040" y="1792224"/>
            <a:ext cx="1426464" cy="987552"/>
          </a:xfrm>
          <a:prstGeom prst="rect">
            <a:avLst/>
          </a:prstGeom>
          <a:noFill/>
          <a:ln/>
        </p:spPr>
        <p:txBody>
          <a:bodyPr wrap="square" rtlCol="0" anchor="ctr"/>
          <a:lstStyle/>
          <a:p>
            <a:pPr marL="0" indent="0" algn="ctr">
              <a:buNone/>
            </a:pPr>
            <a:r>
              <a:rPr lang="en-US" sz="1100" dirty="0">
                <a:solidFill>
                  <a:srgbClr val="5A6A8A"/>
                </a:solidFill>
                <a:latin typeface="Calibri" pitchFamily="34" charset="0"/>
                <a:ea typeface="Calibri" pitchFamily="34" charset="-122"/>
                <a:cs typeface="Calibri" pitchFamily="34" charset="-120"/>
              </a:rPr>
              <a:t>Package management (npm, NuGet, Maven, PyPI)</a:t>
            </a:r>
            <a:endParaRPr lang="en-US" sz="1100" dirty="0"/>
          </a:p>
        </p:txBody>
      </p:sp>
      <p:sp>
        <p:nvSpPr>
          <p:cNvPr id="33" name="Shape 31"/>
          <p:cNvSpPr/>
          <p:nvPr/>
        </p:nvSpPr>
        <p:spPr>
          <a:xfrm>
            <a:off x="7287768" y="2798064"/>
            <a:ext cx="1207008" cy="64008"/>
          </a:xfrm>
          <a:prstGeom prst="rect">
            <a:avLst/>
          </a:prstGeom>
          <a:solidFill>
            <a:srgbClr val="0F7B6C"/>
          </a:solidFill>
          <a:ln w="12700">
            <a:solidFill>
              <a:srgbClr val="0F7B6C"/>
            </a:solidFill>
            <a:prstDash val="solid"/>
          </a:ln>
        </p:spPr>
      </p:sp>
      <p:sp>
        <p:nvSpPr>
          <p:cNvPr id="34" name="Text 32"/>
          <p:cNvSpPr/>
          <p:nvPr/>
        </p:nvSpPr>
        <p:spPr>
          <a:xfrm>
            <a:off x="7178040" y="2889504"/>
            <a:ext cx="1426464" cy="292608"/>
          </a:xfrm>
          <a:prstGeom prst="rect">
            <a:avLst/>
          </a:prstGeom>
          <a:noFill/>
          <a:ln/>
        </p:spPr>
        <p:txBody>
          <a:bodyPr wrap="square" lIns="0" tIns="0" rIns="0" bIns="0" rtlCol="0" anchor="ctr"/>
          <a:lstStyle/>
          <a:p>
            <a:pPr marL="0" indent="0" algn="ctr">
              <a:buNone/>
            </a:pPr>
            <a:r>
              <a:rPr lang="en-US" sz="1100" b="1" dirty="0">
                <a:solidFill>
                  <a:srgbClr val="0F7B6C"/>
                </a:solidFill>
                <a:latin typeface="Calibri" pitchFamily="34" charset="0"/>
                <a:ea typeface="Calibri" pitchFamily="34" charset="-122"/>
                <a:cs typeface="Calibri" pitchFamily="34" charset="-120"/>
              </a:rPr>
              <a:t>Share internal libraries</a:t>
            </a:r>
            <a:endParaRPr lang="en-US" sz="1100" dirty="0"/>
          </a:p>
        </p:txBody>
      </p:sp>
      <p:sp>
        <p:nvSpPr>
          <p:cNvPr id="35" name="Shape 33"/>
          <p:cNvSpPr/>
          <p:nvPr/>
        </p:nvSpPr>
        <p:spPr>
          <a:xfrm>
            <a:off x="411480" y="4041648"/>
            <a:ext cx="8321040" cy="960120"/>
          </a:xfrm>
          <a:prstGeom prst="rect">
            <a:avLst/>
          </a:prstGeom>
          <a:solidFill>
            <a:srgbClr val="E8F7F9"/>
          </a:solidFill>
          <a:ln w="12700">
            <a:solidFill>
              <a:srgbClr val="028090"/>
            </a:solidFill>
            <a:prstDash val="solid"/>
          </a:ln>
          <a:effectLst>
            <a:outerShdw blurRad="101600" dist="38100" dir="8100000" algn="bl" rotWithShape="0">
              <a:srgbClr val="000000">
                <a:alpha val="12000"/>
              </a:srgbClr>
            </a:outerShdw>
          </a:effectLst>
        </p:spPr>
      </p:sp>
      <p:sp>
        <p:nvSpPr>
          <p:cNvPr id="36" name="Shape 34"/>
          <p:cNvSpPr/>
          <p:nvPr/>
        </p:nvSpPr>
        <p:spPr>
          <a:xfrm>
            <a:off x="411480" y="4041648"/>
            <a:ext cx="8321040" cy="347472"/>
          </a:xfrm>
          <a:prstGeom prst="rect">
            <a:avLst/>
          </a:prstGeom>
          <a:solidFill>
            <a:srgbClr val="028090"/>
          </a:solidFill>
          <a:ln w="12700">
            <a:solidFill>
              <a:srgbClr val="028090"/>
            </a:solidFill>
            <a:prstDash val="solid"/>
          </a:ln>
        </p:spPr>
      </p:sp>
      <p:sp>
        <p:nvSpPr>
          <p:cNvPr id="37" name="Text 35"/>
          <p:cNvSpPr/>
          <p:nvPr/>
        </p:nvSpPr>
        <p:spPr>
          <a:xfrm>
            <a:off x="521208" y="4069080"/>
            <a:ext cx="81381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Real-World Example</a:t>
            </a:r>
            <a:endParaRPr lang="en-US" sz="1200" dirty="0"/>
          </a:p>
        </p:txBody>
      </p:sp>
      <p:sp>
        <p:nvSpPr>
          <p:cNvPr id="38" name="Text 36"/>
          <p:cNvSpPr/>
          <p:nvPr/>
        </p:nvSpPr>
        <p:spPr>
          <a:xfrm>
            <a:off x="521208" y="4443984"/>
            <a:ext cx="8119872" cy="484632"/>
          </a:xfrm>
          <a:prstGeom prst="rect">
            <a:avLst/>
          </a:prstGeom>
          <a:noFill/>
          <a:ln/>
        </p:spPr>
        <p:txBody>
          <a:bodyPr wrap="square" rtlCol="0" anchor="t"/>
          <a:lstStyle/>
          <a:p>
            <a:pPr marL="0" indent="0">
              <a:buNone/>
            </a:pPr>
            <a:r>
              <a:rPr lang="en-US" sz="1200" b="1" dirty="0">
                <a:solidFill>
                  <a:srgbClr val="1A2744"/>
                </a:solidFill>
                <a:latin typeface="Calibri" pitchFamily="34" charset="0"/>
                <a:ea typeface="Calibri" pitchFamily="34" charset="-122"/>
                <a:cs typeface="Calibri" pitchFamily="34" charset="-120"/>
              </a:rPr>
              <a:t>Pick n Pay IT: </a:t>
            </a:r>
            <a:r>
              <a:rPr lang="en-US" sz="1200" dirty="0">
                <a:solidFill>
                  <a:srgbClr val="2C3E50"/>
                </a:solidFill>
                <a:latin typeface="Calibri" pitchFamily="34" charset="0"/>
                <a:ea typeface="Calibri" pitchFamily="34" charset="-122"/>
                <a:cs typeface="Calibri" pitchFamily="34" charset="-120"/>
              </a:rPr>
              <a:t>Azure Boards tracks 200+ tasks. Repos stores all code. Pipelines runs 500unit tests on every push — deploys to production automatically only if all tests pass. A bug fix written at 9am can be live by 9:30am with full traceability.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5F8FF"/>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30352"/>
          </a:xfrm>
          <a:prstGeom prst="rect">
            <a:avLst/>
          </a:prstGeom>
          <a:noFill/>
          <a:ln/>
        </p:spPr>
        <p:txBody>
          <a:bodyPr wrap="square" lIns="0" tIns="0" rIns="0" bIns="0" rtlCol="0" anchor="ctr"/>
          <a:lstStyle/>
          <a:p>
            <a:pPr marL="0" indent="0">
              <a:buNone/>
            </a:pPr>
            <a:r>
              <a:rPr lang="en-US" sz="2600" b="1" dirty="0">
                <a:solidFill>
                  <a:srgbClr val="1A2744"/>
                </a:solidFill>
                <a:latin typeface="Calibri" pitchFamily="34" charset="0"/>
                <a:ea typeface="Calibri" pitchFamily="34" charset="-122"/>
                <a:cs typeface="Calibri" pitchFamily="34" charset="-120"/>
              </a:rPr>
              <a:t>Azure Repos &amp; Git — How They Work Together</a:t>
            </a:r>
            <a:endParaRPr lang="en-US" sz="2600" dirty="0"/>
          </a:p>
        </p:txBody>
      </p:sp>
      <p:sp>
        <p:nvSpPr>
          <p:cNvPr id="3" name="Shape 1"/>
          <p:cNvSpPr/>
          <p:nvPr/>
        </p:nvSpPr>
        <p:spPr>
          <a:xfrm>
            <a:off x="411480" y="694944"/>
            <a:ext cx="8321040" cy="27432"/>
          </a:xfrm>
          <a:prstGeom prst="rect">
            <a:avLst/>
          </a:prstGeom>
          <a:solidFill>
            <a:srgbClr val="E4EAF6"/>
          </a:solidFill>
          <a:ln w="12700">
            <a:solidFill>
              <a:srgbClr val="E4EAF6"/>
            </a:solidFill>
            <a:prstDash val="solid"/>
          </a:ln>
        </p:spPr>
      </p:sp>
      <p:sp>
        <p:nvSpPr>
          <p:cNvPr id="4" name="Text 2"/>
          <p:cNvSpPr/>
          <p:nvPr/>
        </p:nvSpPr>
        <p:spPr>
          <a:xfrm>
            <a:off x="411480" y="804672"/>
            <a:ext cx="8321040" cy="347472"/>
          </a:xfrm>
          <a:prstGeom prst="rect">
            <a:avLst/>
          </a:prstGeom>
          <a:noFill/>
          <a:ln/>
        </p:spPr>
        <p:txBody>
          <a:bodyPr wrap="square" rtlCol="0" anchor="ctr"/>
          <a:lstStyle/>
          <a:p>
            <a:pPr marL="0" indent="0">
              <a:buNone/>
            </a:pPr>
            <a:r>
              <a:rPr lang="en-US" sz="1350" i="1" dirty="0">
                <a:solidFill>
                  <a:srgbClr val="5A6A8A"/>
                </a:solidFill>
                <a:latin typeface="Calibri" pitchFamily="34" charset="0"/>
                <a:ea typeface="Calibri" pitchFamily="34" charset="-122"/>
                <a:cs typeface="Calibri" pitchFamily="34" charset="-120"/>
              </a:rPr>
              <a:t>Azure Repos is NOT a replacement for Git. It is simply a remote host for your Git repository.</a:t>
            </a:r>
            <a:endParaRPr lang="en-US" sz="1350" dirty="0"/>
          </a:p>
        </p:txBody>
      </p:sp>
      <p:sp>
        <p:nvSpPr>
          <p:cNvPr id="5" name="Shape 3"/>
          <p:cNvSpPr/>
          <p:nvPr/>
        </p:nvSpPr>
        <p:spPr>
          <a:xfrm>
            <a:off x="411480" y="1261872"/>
            <a:ext cx="2651760" cy="2286000"/>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6" name="Shape 4"/>
          <p:cNvSpPr/>
          <p:nvPr/>
        </p:nvSpPr>
        <p:spPr>
          <a:xfrm>
            <a:off x="411480" y="1261872"/>
            <a:ext cx="64008" cy="2286000"/>
          </a:xfrm>
          <a:prstGeom prst="rect">
            <a:avLst/>
          </a:prstGeom>
          <a:solidFill>
            <a:srgbClr val="028090"/>
          </a:solidFill>
          <a:ln w="12700">
            <a:solidFill>
              <a:srgbClr val="028090"/>
            </a:solidFill>
            <a:prstDash val="solid"/>
          </a:ln>
        </p:spPr>
      </p:sp>
      <p:pic>
        <p:nvPicPr>
          <p:cNvPr id="7" name="Image 0" descr="preencoded.png"/>
          <p:cNvPicPr>
            <a:picLocks noChangeAspect="1"/>
          </p:cNvPicPr>
          <p:nvPr/>
        </p:nvPicPr>
        <p:blipFill>
          <a:blip r:embed="rId3"/>
          <a:stretch>
            <a:fillRect/>
          </a:stretch>
        </p:blipFill>
        <p:spPr>
          <a:xfrm>
            <a:off x="539496" y="1389888"/>
            <a:ext cx="402336" cy="402336"/>
          </a:xfrm>
          <a:prstGeom prst="rect">
            <a:avLst/>
          </a:prstGeom>
        </p:spPr>
      </p:pic>
      <p:sp>
        <p:nvSpPr>
          <p:cNvPr id="8" name="Text 5"/>
          <p:cNvSpPr/>
          <p:nvPr/>
        </p:nvSpPr>
        <p:spPr>
          <a:xfrm>
            <a:off x="1014984" y="1353312"/>
            <a:ext cx="1920240" cy="402336"/>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Same Git Commands</a:t>
            </a:r>
            <a:endParaRPr lang="en-US" sz="1300" dirty="0"/>
          </a:p>
        </p:txBody>
      </p:sp>
      <p:sp>
        <p:nvSpPr>
          <p:cNvPr id="9" name="Text 6"/>
          <p:cNvSpPr/>
          <p:nvPr/>
        </p:nvSpPr>
        <p:spPr>
          <a:xfrm>
            <a:off x="539496" y="1847088"/>
            <a:ext cx="2395728" cy="1572768"/>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You use the exact same git add, git commit, git push commands whether you are pushing to GitHub or Azure Repos. Azure Repos is just a different remote URL — nothing else changes.</a:t>
            </a:r>
            <a:endParaRPr lang="en-US" sz="1150" dirty="0"/>
          </a:p>
        </p:txBody>
      </p:sp>
      <p:sp>
        <p:nvSpPr>
          <p:cNvPr id="10" name="Shape 7"/>
          <p:cNvSpPr/>
          <p:nvPr/>
        </p:nvSpPr>
        <p:spPr>
          <a:xfrm>
            <a:off x="3246120" y="1261872"/>
            <a:ext cx="2651760" cy="2286000"/>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1" name="Shape 8"/>
          <p:cNvSpPr/>
          <p:nvPr/>
        </p:nvSpPr>
        <p:spPr>
          <a:xfrm>
            <a:off x="3246120" y="1261872"/>
            <a:ext cx="64008" cy="2286000"/>
          </a:xfrm>
          <a:prstGeom prst="rect">
            <a:avLst/>
          </a:prstGeom>
          <a:solidFill>
            <a:srgbClr val="028090"/>
          </a:solidFill>
          <a:ln w="12700">
            <a:solidFill>
              <a:srgbClr val="028090"/>
            </a:solidFill>
            <a:prstDash val="solid"/>
          </a:ln>
        </p:spPr>
      </p:sp>
      <p:pic>
        <p:nvPicPr>
          <p:cNvPr id="12" name="Image 1" descr="preencoded.png"/>
          <p:cNvPicPr>
            <a:picLocks noChangeAspect="1"/>
          </p:cNvPicPr>
          <p:nvPr/>
        </p:nvPicPr>
        <p:blipFill>
          <a:blip r:embed="rId4"/>
          <a:stretch>
            <a:fillRect/>
          </a:stretch>
        </p:blipFill>
        <p:spPr>
          <a:xfrm>
            <a:off x="3374136" y="1389888"/>
            <a:ext cx="402336" cy="402336"/>
          </a:xfrm>
          <a:prstGeom prst="rect">
            <a:avLst/>
          </a:prstGeom>
        </p:spPr>
      </p:pic>
      <p:sp>
        <p:nvSpPr>
          <p:cNvPr id="13" name="Text 9"/>
          <p:cNvSpPr/>
          <p:nvPr/>
        </p:nvSpPr>
        <p:spPr>
          <a:xfrm>
            <a:off x="3849624" y="1353312"/>
            <a:ext cx="1920240" cy="402336"/>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Pull Requests</a:t>
            </a:r>
            <a:endParaRPr lang="en-US" sz="1300" dirty="0"/>
          </a:p>
        </p:txBody>
      </p:sp>
      <p:sp>
        <p:nvSpPr>
          <p:cNvPr id="14" name="Text 10"/>
          <p:cNvSpPr/>
          <p:nvPr/>
        </p:nvSpPr>
        <p:spPr>
          <a:xfrm>
            <a:off x="3374136" y="1847088"/>
            <a:ext cx="2395728" cy="1572768"/>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Azure Repos adds a Pull Request (PR) workflow. Instead of pushing directly to main, you push to a feature branch and open a PR. Team members review, comment, and approve before merging.</a:t>
            </a:r>
            <a:endParaRPr lang="en-US" sz="1150" dirty="0"/>
          </a:p>
        </p:txBody>
      </p:sp>
      <p:sp>
        <p:nvSpPr>
          <p:cNvPr id="15" name="Shape 11"/>
          <p:cNvSpPr/>
          <p:nvPr/>
        </p:nvSpPr>
        <p:spPr>
          <a:xfrm>
            <a:off x="6080760" y="1261872"/>
            <a:ext cx="2651760" cy="2286000"/>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6" name="Shape 12"/>
          <p:cNvSpPr/>
          <p:nvPr/>
        </p:nvSpPr>
        <p:spPr>
          <a:xfrm>
            <a:off x="6080760" y="1261872"/>
            <a:ext cx="64008" cy="2286000"/>
          </a:xfrm>
          <a:prstGeom prst="rect">
            <a:avLst/>
          </a:prstGeom>
          <a:solidFill>
            <a:srgbClr val="028090"/>
          </a:solidFill>
          <a:ln w="12700">
            <a:solidFill>
              <a:srgbClr val="028090"/>
            </a:solidFill>
            <a:prstDash val="solid"/>
          </a:ln>
        </p:spPr>
      </p:sp>
      <p:pic>
        <p:nvPicPr>
          <p:cNvPr id="17" name="Image 2" descr="preencoded.png"/>
          <p:cNvPicPr>
            <a:picLocks noChangeAspect="1"/>
          </p:cNvPicPr>
          <p:nvPr/>
        </p:nvPicPr>
        <p:blipFill>
          <a:blip r:embed="rId5"/>
          <a:stretch>
            <a:fillRect/>
          </a:stretch>
        </p:blipFill>
        <p:spPr>
          <a:xfrm>
            <a:off x="6208776" y="1389888"/>
            <a:ext cx="402336" cy="402336"/>
          </a:xfrm>
          <a:prstGeom prst="rect">
            <a:avLst/>
          </a:prstGeom>
        </p:spPr>
      </p:pic>
      <p:sp>
        <p:nvSpPr>
          <p:cNvPr id="18" name="Text 13"/>
          <p:cNvSpPr/>
          <p:nvPr/>
        </p:nvSpPr>
        <p:spPr>
          <a:xfrm>
            <a:off x="6684264" y="1353312"/>
            <a:ext cx="1920240" cy="402336"/>
          </a:xfrm>
          <a:prstGeom prst="rect">
            <a:avLst/>
          </a:prstGeom>
          <a:noFill/>
          <a:ln/>
        </p:spPr>
        <p:txBody>
          <a:bodyPr wrap="square" lIns="0" tIns="0" rIns="0" bIns="0" rtlCol="0" anchor="ctr"/>
          <a:lstStyle/>
          <a:p>
            <a:pPr marL="0" indent="0">
              <a:buNone/>
            </a:pPr>
            <a:r>
              <a:rPr lang="en-US" sz="1300" b="1" dirty="0">
                <a:solidFill>
                  <a:srgbClr val="1A2744"/>
                </a:solidFill>
                <a:latin typeface="Calibri" pitchFamily="34" charset="0"/>
                <a:ea typeface="Calibri" pitchFamily="34" charset="-122"/>
                <a:cs typeface="Calibri" pitchFamily="34" charset="-120"/>
              </a:rPr>
              <a:t>Permissions &amp; Security</a:t>
            </a:r>
            <a:endParaRPr lang="en-US" sz="1300" dirty="0"/>
          </a:p>
        </p:txBody>
      </p:sp>
      <p:sp>
        <p:nvSpPr>
          <p:cNvPr id="19" name="Text 14"/>
          <p:cNvSpPr/>
          <p:nvPr/>
        </p:nvSpPr>
        <p:spPr>
          <a:xfrm>
            <a:off x="6208776" y="1847088"/>
            <a:ext cx="2395728" cy="1572768"/>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Azure Repos uses Azure Active Directory (AD) — the same login your company uses for email. Fine-grained permissions control who can read, push, or approve merges.</a:t>
            </a:r>
            <a:endParaRPr lang="en-US" sz="1150" dirty="0"/>
          </a:p>
        </p:txBody>
      </p:sp>
      <p:sp>
        <p:nvSpPr>
          <p:cNvPr id="20" name="Shape 15"/>
          <p:cNvSpPr/>
          <p:nvPr/>
        </p:nvSpPr>
        <p:spPr>
          <a:xfrm>
            <a:off x="411480" y="3639312"/>
            <a:ext cx="8321040" cy="1207008"/>
          </a:xfrm>
          <a:prstGeom prst="rect">
            <a:avLst/>
          </a:prstGeom>
          <a:solidFill>
            <a:srgbClr val="E8F7F9"/>
          </a:solidFill>
          <a:ln w="12700">
            <a:solidFill>
              <a:srgbClr val="028090"/>
            </a:solidFill>
            <a:prstDash val="solid"/>
          </a:ln>
          <a:effectLst>
            <a:outerShdw blurRad="101600" dist="38100" dir="8100000" algn="bl" rotWithShape="0">
              <a:srgbClr val="000000">
                <a:alpha val="12000"/>
              </a:srgbClr>
            </a:outerShdw>
          </a:effectLst>
        </p:spPr>
      </p:sp>
      <p:sp>
        <p:nvSpPr>
          <p:cNvPr id="21" name="Shape 16"/>
          <p:cNvSpPr/>
          <p:nvPr/>
        </p:nvSpPr>
        <p:spPr>
          <a:xfrm>
            <a:off x="411480" y="3639312"/>
            <a:ext cx="8321040" cy="347472"/>
          </a:xfrm>
          <a:prstGeom prst="rect">
            <a:avLst/>
          </a:prstGeom>
          <a:solidFill>
            <a:srgbClr val="028090"/>
          </a:solidFill>
          <a:ln w="12700">
            <a:solidFill>
              <a:srgbClr val="028090"/>
            </a:solidFill>
            <a:prstDash val="solid"/>
          </a:ln>
        </p:spPr>
      </p:sp>
      <p:sp>
        <p:nvSpPr>
          <p:cNvPr id="22" name="Text 17"/>
          <p:cNvSpPr/>
          <p:nvPr/>
        </p:nvSpPr>
        <p:spPr>
          <a:xfrm>
            <a:off x="521208" y="3666744"/>
            <a:ext cx="8138160"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Real-World Example</a:t>
            </a:r>
            <a:endParaRPr lang="en-US" sz="1200" dirty="0"/>
          </a:p>
        </p:txBody>
      </p:sp>
      <p:sp>
        <p:nvSpPr>
          <p:cNvPr id="23" name="Text 18"/>
          <p:cNvSpPr/>
          <p:nvPr/>
        </p:nvSpPr>
        <p:spPr>
          <a:xfrm>
            <a:off x="521208" y="4041648"/>
            <a:ext cx="8119872" cy="731520"/>
          </a:xfrm>
          <a:prstGeom prst="rect">
            <a:avLst/>
          </a:prstGeom>
          <a:noFill/>
          <a:ln/>
        </p:spPr>
        <p:txBody>
          <a:bodyPr wrap="square" rtlCol="0" anchor="t"/>
          <a:lstStyle/>
          <a:p>
            <a:pPr marL="0" indent="0">
              <a:buNone/>
            </a:pPr>
            <a:r>
              <a:rPr lang="en-US" sz="1200" b="1" dirty="0">
                <a:solidFill>
                  <a:srgbClr val="1A2744"/>
                </a:solidFill>
                <a:latin typeface="Calibri" pitchFamily="34" charset="0"/>
                <a:ea typeface="Calibri" pitchFamily="34" charset="-122"/>
                <a:cs typeface="Calibri" pitchFamily="34" charset="-120"/>
              </a:rPr>
              <a:t>In practice: </a:t>
            </a:r>
            <a:r>
              <a:rPr lang="en-US" sz="1200" dirty="0">
                <a:solidFill>
                  <a:srgbClr val="2C3E50"/>
                </a:solidFill>
                <a:latin typeface="Calibri" pitchFamily="34" charset="0"/>
                <a:ea typeface="Calibri" pitchFamily="34" charset="-122"/>
                <a:cs typeface="Calibri" pitchFamily="34" charset="-120"/>
              </a:rPr>
              <a:t>A developer at Nedbank writes code exactly the same way as a developer using GitHub. The only difference is the remote URL they push to: https://dev.azure.com/nedbank/... instead of https://github.com/nedbank/...</a:t>
            </a:r>
            <a:endParaRPr lang="en-US" sz="1200" dirty="0"/>
          </a:p>
          <a:p>
            <a:pPr marL="0" indent="0">
              <a:buNone/>
            </a:pPr>
            <a:r>
              <a:rPr lang="en-US" sz="1200" b="1" dirty="0">
                <a:solidFill>
                  <a:srgbClr val="1A2744"/>
                </a:solidFill>
                <a:latin typeface="Calibri" pitchFamily="34" charset="0"/>
                <a:ea typeface="Calibri" pitchFamily="34" charset="-122"/>
                <a:cs typeface="Calibri" pitchFamily="34" charset="-120"/>
              </a:rPr>
              <a:t>Azure adds: </a:t>
            </a:r>
            <a:r>
              <a:rPr lang="en-US" sz="1200" dirty="0">
                <a:solidFill>
                  <a:srgbClr val="2C3E50"/>
                </a:solidFill>
                <a:latin typeface="Calibri" pitchFamily="34" charset="0"/>
                <a:ea typeface="Calibri" pitchFamily="34" charset="-122"/>
                <a:cs typeface="Calibri" pitchFamily="34" charset="-120"/>
              </a:rPr>
              <a:t>Branch policies, required reviewers, automated pipelines that run on every push, and integration with Azure Boards to link commits to specific work items (tickets).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7132320" y="-1097280"/>
            <a:ext cx="4114800" cy="4114800"/>
          </a:xfrm>
          <a:prstGeom prst="ellipse">
            <a:avLst/>
          </a:prstGeom>
          <a:solidFill>
            <a:srgbClr val="028090">
              <a:alpha val="25000"/>
            </a:srgbClr>
          </a:solidFill>
          <a:ln w="12700">
            <a:solidFill>
              <a:srgbClr val="028090">
                <a:alpha val="25000"/>
              </a:srgbClr>
            </a:solidFill>
            <a:prstDash val="solid"/>
          </a:ln>
        </p:spPr>
      </p:sp>
      <p:sp>
        <p:nvSpPr>
          <p:cNvPr id="3" name="Shape 1"/>
          <p:cNvSpPr/>
          <p:nvPr/>
        </p:nvSpPr>
        <p:spPr>
          <a:xfrm>
            <a:off x="-1371600" y="3200400"/>
            <a:ext cx="3200400" cy="3200400"/>
          </a:xfrm>
          <a:prstGeom prst="ellipse">
            <a:avLst/>
          </a:prstGeom>
          <a:solidFill>
            <a:srgbClr val="02C39A">
              <a:alpha val="20000"/>
            </a:srgbClr>
          </a:solidFill>
          <a:ln w="12700">
            <a:solidFill>
              <a:srgbClr val="02C39A">
                <a:alpha val="20000"/>
              </a:srgbClr>
            </a:solidFill>
            <a:prstDash val="solid"/>
          </a:ln>
        </p:spPr>
      </p:sp>
      <p:sp>
        <p:nvSpPr>
          <p:cNvPr id="4" name="Text 2"/>
          <p:cNvSpPr/>
          <p:nvPr/>
        </p:nvSpPr>
        <p:spPr>
          <a:xfrm>
            <a:off x="548640" y="1463040"/>
            <a:ext cx="8046720" cy="91440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Section 5</a:t>
            </a:r>
            <a:endParaRPr lang="en-US" sz="3800" dirty="0"/>
          </a:p>
        </p:txBody>
      </p:sp>
      <p:sp>
        <p:nvSpPr>
          <p:cNvPr id="5" name="Text 3"/>
          <p:cNvSpPr/>
          <p:nvPr/>
        </p:nvSpPr>
        <p:spPr>
          <a:xfrm>
            <a:off x="548640" y="2468880"/>
            <a:ext cx="8046720" cy="548640"/>
          </a:xfrm>
          <a:prstGeom prst="rect">
            <a:avLst/>
          </a:prstGeom>
          <a:noFill/>
          <a:ln/>
        </p:spPr>
        <p:txBody>
          <a:bodyPr wrap="square" rtlCol="0" anchor="ctr"/>
          <a:lstStyle/>
          <a:p>
            <a:pPr marL="0" indent="0">
              <a:buNone/>
            </a:pPr>
            <a:r>
              <a:rPr lang="en-US" sz="1800" i="1" dirty="0">
                <a:solidFill>
                  <a:srgbClr val="C8DCFC"/>
                </a:solidFill>
                <a:latin typeface="Calibri" pitchFamily="34" charset="0"/>
                <a:ea typeface="Calibri" pitchFamily="34" charset="-122"/>
                <a:cs typeface="Calibri" pitchFamily="34" charset="-120"/>
              </a:rPr>
              <a:t>GitHub vs Azure Repos vs Local Git</a:t>
            </a:r>
            <a:endParaRPr lang="en-US" sz="1800" dirty="0"/>
          </a:p>
        </p:txBody>
      </p:sp>
      <p:pic>
        <p:nvPicPr>
          <p:cNvPr id="6" name="Image 0" descr="preencoded.png"/>
          <p:cNvPicPr>
            <a:picLocks noChangeAspect="1"/>
          </p:cNvPicPr>
          <p:nvPr/>
        </p:nvPicPr>
        <p:blipFill>
          <a:blip r:embed="rId3"/>
          <a:stretch>
            <a:fillRect/>
          </a:stretch>
        </p:blipFill>
        <p:spPr>
          <a:xfrm>
            <a:off x="7132320" y="1280160"/>
            <a:ext cx="1463040" cy="14630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5F8FF"/>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30352"/>
          </a:xfrm>
          <a:prstGeom prst="rect">
            <a:avLst/>
          </a:prstGeom>
          <a:noFill/>
          <a:ln/>
        </p:spPr>
        <p:txBody>
          <a:bodyPr wrap="square" lIns="0" tIns="0" rIns="0" bIns="0" rtlCol="0" anchor="ctr"/>
          <a:lstStyle/>
          <a:p>
            <a:pPr marL="0" indent="0">
              <a:buNone/>
            </a:pPr>
            <a:r>
              <a:rPr lang="en-US" sz="2600" b="1" dirty="0">
                <a:solidFill>
                  <a:srgbClr val="1A2744"/>
                </a:solidFill>
                <a:latin typeface="Calibri" pitchFamily="34" charset="0"/>
                <a:ea typeface="Calibri" pitchFamily="34" charset="-122"/>
                <a:cs typeface="Calibri" pitchFamily="34" charset="-120"/>
              </a:rPr>
              <a:t>Local Git vs GitHub vs Azure Repos</a:t>
            </a:r>
            <a:endParaRPr lang="en-US" sz="2600" dirty="0"/>
          </a:p>
        </p:txBody>
      </p:sp>
      <p:sp>
        <p:nvSpPr>
          <p:cNvPr id="3" name="Shape 1"/>
          <p:cNvSpPr/>
          <p:nvPr/>
        </p:nvSpPr>
        <p:spPr>
          <a:xfrm>
            <a:off x="411480" y="694944"/>
            <a:ext cx="8321040" cy="27432"/>
          </a:xfrm>
          <a:prstGeom prst="rect">
            <a:avLst/>
          </a:prstGeom>
          <a:solidFill>
            <a:srgbClr val="E4EAF6"/>
          </a:solidFill>
          <a:ln w="12700">
            <a:solidFill>
              <a:srgbClr val="E4EAF6"/>
            </a:solidFill>
            <a:prstDash val="solid"/>
          </a:ln>
        </p:spPr>
      </p:sp>
      <p:sp>
        <p:nvSpPr>
          <p:cNvPr id="4" name="Shape 2"/>
          <p:cNvSpPr/>
          <p:nvPr/>
        </p:nvSpPr>
        <p:spPr>
          <a:xfrm>
            <a:off x="182880" y="804672"/>
            <a:ext cx="1737360" cy="512064"/>
          </a:xfrm>
          <a:prstGeom prst="rect">
            <a:avLst/>
          </a:prstGeom>
          <a:solidFill>
            <a:srgbClr val="1A2744"/>
          </a:solidFill>
          <a:ln w="12700">
            <a:solidFill>
              <a:srgbClr val="1A2744"/>
            </a:solidFill>
            <a:prstDash val="solid"/>
          </a:ln>
        </p:spPr>
      </p:sp>
      <p:sp>
        <p:nvSpPr>
          <p:cNvPr id="5" name="Text 3"/>
          <p:cNvSpPr/>
          <p:nvPr/>
        </p:nvSpPr>
        <p:spPr>
          <a:xfrm>
            <a:off x="237744" y="859536"/>
            <a:ext cx="1645920" cy="420624"/>
          </a:xfrm>
          <a:prstGeom prst="rect">
            <a:avLst/>
          </a:prstGeom>
          <a:noFill/>
          <a:ln/>
        </p:spPr>
        <p:txBody>
          <a:bodyPr wrap="square" rtlCol="0" anchor="ctr"/>
          <a:lstStyle/>
          <a:p>
            <a:pPr marL="0" indent="0">
              <a:buNone/>
            </a:pPr>
            <a:endParaRPr lang="en-US" sz="1250" dirty="0"/>
          </a:p>
        </p:txBody>
      </p:sp>
      <p:sp>
        <p:nvSpPr>
          <p:cNvPr id="6" name="Shape 4"/>
          <p:cNvSpPr/>
          <p:nvPr/>
        </p:nvSpPr>
        <p:spPr>
          <a:xfrm>
            <a:off x="1965960" y="804672"/>
            <a:ext cx="2103120" cy="512064"/>
          </a:xfrm>
          <a:prstGeom prst="rect">
            <a:avLst/>
          </a:prstGeom>
          <a:solidFill>
            <a:srgbClr val="334466"/>
          </a:solidFill>
          <a:ln w="12700">
            <a:solidFill>
              <a:srgbClr val="1A2744"/>
            </a:solidFill>
            <a:prstDash val="solid"/>
          </a:ln>
        </p:spPr>
      </p:sp>
      <p:sp>
        <p:nvSpPr>
          <p:cNvPr id="7" name="Text 5"/>
          <p:cNvSpPr/>
          <p:nvPr/>
        </p:nvSpPr>
        <p:spPr>
          <a:xfrm>
            <a:off x="2020824" y="859536"/>
            <a:ext cx="2011680" cy="420624"/>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Local Git</a:t>
            </a:r>
            <a:endParaRPr lang="en-US" sz="1250" dirty="0"/>
          </a:p>
        </p:txBody>
      </p:sp>
      <p:sp>
        <p:nvSpPr>
          <p:cNvPr id="8" name="Shape 6"/>
          <p:cNvSpPr/>
          <p:nvPr/>
        </p:nvSpPr>
        <p:spPr>
          <a:xfrm>
            <a:off x="4114800" y="804672"/>
            <a:ext cx="2103120" cy="512064"/>
          </a:xfrm>
          <a:prstGeom prst="rect">
            <a:avLst/>
          </a:prstGeom>
          <a:solidFill>
            <a:srgbClr val="1A4A6B"/>
          </a:solidFill>
          <a:ln w="12700">
            <a:solidFill>
              <a:srgbClr val="1A2744"/>
            </a:solidFill>
            <a:prstDash val="solid"/>
          </a:ln>
        </p:spPr>
      </p:sp>
      <p:sp>
        <p:nvSpPr>
          <p:cNvPr id="9" name="Text 7"/>
          <p:cNvSpPr/>
          <p:nvPr/>
        </p:nvSpPr>
        <p:spPr>
          <a:xfrm>
            <a:off x="4169664" y="859536"/>
            <a:ext cx="2011680" cy="420624"/>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GitHub</a:t>
            </a:r>
            <a:endParaRPr lang="en-US" sz="1250" dirty="0"/>
          </a:p>
        </p:txBody>
      </p:sp>
      <p:sp>
        <p:nvSpPr>
          <p:cNvPr id="10" name="Shape 8"/>
          <p:cNvSpPr/>
          <p:nvPr/>
        </p:nvSpPr>
        <p:spPr>
          <a:xfrm>
            <a:off x="6263640" y="804672"/>
            <a:ext cx="2194560" cy="512064"/>
          </a:xfrm>
          <a:prstGeom prst="rect">
            <a:avLst/>
          </a:prstGeom>
          <a:solidFill>
            <a:srgbClr val="028090"/>
          </a:solidFill>
          <a:ln w="12700">
            <a:solidFill>
              <a:srgbClr val="1A2744"/>
            </a:solidFill>
            <a:prstDash val="solid"/>
          </a:ln>
        </p:spPr>
      </p:sp>
      <p:sp>
        <p:nvSpPr>
          <p:cNvPr id="11" name="Text 9"/>
          <p:cNvSpPr/>
          <p:nvPr/>
        </p:nvSpPr>
        <p:spPr>
          <a:xfrm>
            <a:off x="6318504" y="859536"/>
            <a:ext cx="2103120" cy="420624"/>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Azure Repos</a:t>
            </a:r>
            <a:endParaRPr lang="en-US" sz="1250" dirty="0"/>
          </a:p>
        </p:txBody>
      </p:sp>
      <p:sp>
        <p:nvSpPr>
          <p:cNvPr id="12" name="Shape 10"/>
          <p:cNvSpPr/>
          <p:nvPr/>
        </p:nvSpPr>
        <p:spPr>
          <a:xfrm>
            <a:off x="182880" y="1316736"/>
            <a:ext cx="1737360" cy="512064"/>
          </a:xfrm>
          <a:prstGeom prst="rect">
            <a:avLst/>
          </a:prstGeom>
          <a:solidFill>
            <a:srgbClr val="EDF0FA"/>
          </a:solidFill>
          <a:ln w="12700">
            <a:solidFill>
              <a:srgbClr val="DDDDEE"/>
            </a:solidFill>
            <a:prstDash val="solid"/>
          </a:ln>
        </p:spPr>
      </p:sp>
      <p:sp>
        <p:nvSpPr>
          <p:cNvPr id="13" name="Text 11"/>
          <p:cNvSpPr/>
          <p:nvPr/>
        </p:nvSpPr>
        <p:spPr>
          <a:xfrm>
            <a:off x="237744" y="1371600"/>
            <a:ext cx="1645920" cy="420624"/>
          </a:xfrm>
          <a:prstGeom prst="rect">
            <a:avLst/>
          </a:prstGeom>
          <a:noFill/>
          <a:ln/>
        </p:spPr>
        <p:txBody>
          <a:bodyPr wrap="square" rtlCol="0" anchor="ctr"/>
          <a:lstStyle/>
          <a:p>
            <a:pPr marL="0" indent="0">
              <a:buNone/>
            </a:pPr>
            <a:r>
              <a:rPr lang="en-US" sz="1150" b="1" dirty="0">
                <a:solidFill>
                  <a:srgbClr val="1A2744"/>
                </a:solidFill>
                <a:latin typeface="Calibri" pitchFamily="34" charset="0"/>
                <a:ea typeface="Calibri" pitchFamily="34" charset="-122"/>
                <a:cs typeface="Calibri" pitchFamily="34" charset="-120"/>
              </a:rPr>
              <a:t>Where it lives</a:t>
            </a:r>
            <a:endParaRPr lang="en-US" sz="1150" dirty="0"/>
          </a:p>
        </p:txBody>
      </p:sp>
      <p:sp>
        <p:nvSpPr>
          <p:cNvPr id="14" name="Shape 12"/>
          <p:cNvSpPr/>
          <p:nvPr/>
        </p:nvSpPr>
        <p:spPr>
          <a:xfrm>
            <a:off x="1965960" y="1316736"/>
            <a:ext cx="2103120" cy="512064"/>
          </a:xfrm>
          <a:prstGeom prst="rect">
            <a:avLst/>
          </a:prstGeom>
          <a:solidFill>
            <a:srgbClr val="FFFFFF"/>
          </a:solidFill>
          <a:ln w="12700">
            <a:solidFill>
              <a:srgbClr val="DDDDEE"/>
            </a:solidFill>
            <a:prstDash val="solid"/>
          </a:ln>
        </p:spPr>
      </p:sp>
      <p:sp>
        <p:nvSpPr>
          <p:cNvPr id="15" name="Text 13"/>
          <p:cNvSpPr/>
          <p:nvPr/>
        </p:nvSpPr>
        <p:spPr>
          <a:xfrm>
            <a:off x="2020824" y="1371600"/>
            <a:ext cx="201168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Your machine only</a:t>
            </a:r>
            <a:endParaRPr lang="en-US" sz="1150" dirty="0"/>
          </a:p>
        </p:txBody>
      </p:sp>
      <p:sp>
        <p:nvSpPr>
          <p:cNvPr id="16" name="Shape 14"/>
          <p:cNvSpPr/>
          <p:nvPr/>
        </p:nvSpPr>
        <p:spPr>
          <a:xfrm>
            <a:off x="4114800" y="1316736"/>
            <a:ext cx="2103120" cy="512064"/>
          </a:xfrm>
          <a:prstGeom prst="rect">
            <a:avLst/>
          </a:prstGeom>
          <a:solidFill>
            <a:srgbClr val="FFFFFF"/>
          </a:solidFill>
          <a:ln w="12700">
            <a:solidFill>
              <a:srgbClr val="DDDDEE"/>
            </a:solidFill>
            <a:prstDash val="solid"/>
          </a:ln>
        </p:spPr>
      </p:sp>
      <p:sp>
        <p:nvSpPr>
          <p:cNvPr id="17" name="Text 15"/>
          <p:cNvSpPr/>
          <p:nvPr/>
        </p:nvSpPr>
        <p:spPr>
          <a:xfrm>
            <a:off x="4169664" y="1371600"/>
            <a:ext cx="201168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GitHub cloud</a:t>
            </a:r>
            <a:endParaRPr lang="en-US" sz="1150" dirty="0"/>
          </a:p>
        </p:txBody>
      </p:sp>
      <p:sp>
        <p:nvSpPr>
          <p:cNvPr id="18" name="Shape 16"/>
          <p:cNvSpPr/>
          <p:nvPr/>
        </p:nvSpPr>
        <p:spPr>
          <a:xfrm>
            <a:off x="6263640" y="1316736"/>
            <a:ext cx="2194560" cy="512064"/>
          </a:xfrm>
          <a:prstGeom prst="rect">
            <a:avLst/>
          </a:prstGeom>
          <a:solidFill>
            <a:srgbClr val="FFFFFF"/>
          </a:solidFill>
          <a:ln w="12700">
            <a:solidFill>
              <a:srgbClr val="DDDDEE"/>
            </a:solidFill>
            <a:prstDash val="solid"/>
          </a:ln>
        </p:spPr>
      </p:sp>
      <p:sp>
        <p:nvSpPr>
          <p:cNvPr id="19" name="Text 17"/>
          <p:cNvSpPr/>
          <p:nvPr/>
        </p:nvSpPr>
        <p:spPr>
          <a:xfrm>
            <a:off x="6318504" y="1371600"/>
            <a:ext cx="210312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Microsoft Azure cloud</a:t>
            </a:r>
            <a:endParaRPr lang="en-US" sz="1150" dirty="0"/>
          </a:p>
        </p:txBody>
      </p:sp>
      <p:sp>
        <p:nvSpPr>
          <p:cNvPr id="20" name="Shape 18"/>
          <p:cNvSpPr/>
          <p:nvPr/>
        </p:nvSpPr>
        <p:spPr>
          <a:xfrm>
            <a:off x="182880" y="1828800"/>
            <a:ext cx="1737360" cy="512064"/>
          </a:xfrm>
          <a:prstGeom prst="rect">
            <a:avLst/>
          </a:prstGeom>
          <a:solidFill>
            <a:srgbClr val="EDF0FA"/>
          </a:solidFill>
          <a:ln w="12700">
            <a:solidFill>
              <a:srgbClr val="DDDDEE"/>
            </a:solidFill>
            <a:prstDash val="solid"/>
          </a:ln>
        </p:spPr>
      </p:sp>
      <p:sp>
        <p:nvSpPr>
          <p:cNvPr id="21" name="Text 19"/>
          <p:cNvSpPr/>
          <p:nvPr/>
        </p:nvSpPr>
        <p:spPr>
          <a:xfrm>
            <a:off x="237744" y="1883664"/>
            <a:ext cx="1645920" cy="420624"/>
          </a:xfrm>
          <a:prstGeom prst="rect">
            <a:avLst/>
          </a:prstGeom>
          <a:noFill/>
          <a:ln/>
        </p:spPr>
        <p:txBody>
          <a:bodyPr wrap="square" rtlCol="0" anchor="ctr"/>
          <a:lstStyle/>
          <a:p>
            <a:pPr marL="0" indent="0">
              <a:buNone/>
            </a:pPr>
            <a:r>
              <a:rPr lang="en-US" sz="1150" b="1" dirty="0">
                <a:solidFill>
                  <a:srgbClr val="1A2744"/>
                </a:solidFill>
                <a:latin typeface="Calibri" pitchFamily="34" charset="0"/>
                <a:ea typeface="Calibri" pitchFamily="34" charset="-122"/>
                <a:cs typeface="Calibri" pitchFamily="34" charset="-120"/>
              </a:rPr>
              <a:t>Works offline?</a:t>
            </a:r>
            <a:endParaRPr lang="en-US" sz="1150" dirty="0"/>
          </a:p>
        </p:txBody>
      </p:sp>
      <p:sp>
        <p:nvSpPr>
          <p:cNvPr id="22" name="Shape 20"/>
          <p:cNvSpPr/>
          <p:nvPr/>
        </p:nvSpPr>
        <p:spPr>
          <a:xfrm>
            <a:off x="1965960" y="1828800"/>
            <a:ext cx="2103120" cy="512064"/>
          </a:xfrm>
          <a:prstGeom prst="rect">
            <a:avLst/>
          </a:prstGeom>
          <a:solidFill>
            <a:srgbClr val="F5F8FF"/>
          </a:solidFill>
          <a:ln w="12700">
            <a:solidFill>
              <a:srgbClr val="DDDDEE"/>
            </a:solidFill>
            <a:prstDash val="solid"/>
          </a:ln>
        </p:spPr>
      </p:sp>
      <p:sp>
        <p:nvSpPr>
          <p:cNvPr id="23" name="Text 21"/>
          <p:cNvSpPr/>
          <p:nvPr/>
        </p:nvSpPr>
        <p:spPr>
          <a:xfrm>
            <a:off x="2020824" y="1883664"/>
            <a:ext cx="201168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Yes — fully</a:t>
            </a:r>
            <a:endParaRPr lang="en-US" sz="1150" dirty="0"/>
          </a:p>
        </p:txBody>
      </p:sp>
      <p:sp>
        <p:nvSpPr>
          <p:cNvPr id="24" name="Shape 22"/>
          <p:cNvSpPr/>
          <p:nvPr/>
        </p:nvSpPr>
        <p:spPr>
          <a:xfrm>
            <a:off x="4114800" y="1828800"/>
            <a:ext cx="2103120" cy="512064"/>
          </a:xfrm>
          <a:prstGeom prst="rect">
            <a:avLst/>
          </a:prstGeom>
          <a:solidFill>
            <a:srgbClr val="F5F8FF"/>
          </a:solidFill>
          <a:ln w="12700">
            <a:solidFill>
              <a:srgbClr val="DDDDEE"/>
            </a:solidFill>
            <a:prstDash val="solid"/>
          </a:ln>
        </p:spPr>
      </p:sp>
      <p:sp>
        <p:nvSpPr>
          <p:cNvPr id="25" name="Text 23"/>
          <p:cNvSpPr/>
          <p:nvPr/>
        </p:nvSpPr>
        <p:spPr>
          <a:xfrm>
            <a:off x="4169664" y="1883664"/>
            <a:ext cx="201168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No — needs internet</a:t>
            </a:r>
            <a:endParaRPr lang="en-US" sz="1150" dirty="0"/>
          </a:p>
        </p:txBody>
      </p:sp>
      <p:sp>
        <p:nvSpPr>
          <p:cNvPr id="26" name="Shape 24"/>
          <p:cNvSpPr/>
          <p:nvPr/>
        </p:nvSpPr>
        <p:spPr>
          <a:xfrm>
            <a:off x="6263640" y="1828800"/>
            <a:ext cx="2194560" cy="512064"/>
          </a:xfrm>
          <a:prstGeom prst="rect">
            <a:avLst/>
          </a:prstGeom>
          <a:solidFill>
            <a:srgbClr val="F5F8FF"/>
          </a:solidFill>
          <a:ln w="12700">
            <a:solidFill>
              <a:srgbClr val="DDDDEE"/>
            </a:solidFill>
            <a:prstDash val="solid"/>
          </a:ln>
        </p:spPr>
      </p:sp>
      <p:sp>
        <p:nvSpPr>
          <p:cNvPr id="27" name="Text 25"/>
          <p:cNvSpPr/>
          <p:nvPr/>
        </p:nvSpPr>
        <p:spPr>
          <a:xfrm>
            <a:off x="6318504" y="1883664"/>
            <a:ext cx="210312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No — needs internet</a:t>
            </a:r>
            <a:endParaRPr lang="en-US" sz="1150" dirty="0"/>
          </a:p>
        </p:txBody>
      </p:sp>
      <p:sp>
        <p:nvSpPr>
          <p:cNvPr id="28" name="Shape 26"/>
          <p:cNvSpPr/>
          <p:nvPr/>
        </p:nvSpPr>
        <p:spPr>
          <a:xfrm>
            <a:off x="182880" y="2340864"/>
            <a:ext cx="1737360" cy="512064"/>
          </a:xfrm>
          <a:prstGeom prst="rect">
            <a:avLst/>
          </a:prstGeom>
          <a:solidFill>
            <a:srgbClr val="EDF0FA"/>
          </a:solidFill>
          <a:ln w="12700">
            <a:solidFill>
              <a:srgbClr val="DDDDEE"/>
            </a:solidFill>
            <a:prstDash val="solid"/>
          </a:ln>
        </p:spPr>
      </p:sp>
      <p:sp>
        <p:nvSpPr>
          <p:cNvPr id="29" name="Text 27"/>
          <p:cNvSpPr/>
          <p:nvPr/>
        </p:nvSpPr>
        <p:spPr>
          <a:xfrm>
            <a:off x="237744" y="2395728"/>
            <a:ext cx="1645920" cy="420624"/>
          </a:xfrm>
          <a:prstGeom prst="rect">
            <a:avLst/>
          </a:prstGeom>
          <a:noFill/>
          <a:ln/>
        </p:spPr>
        <p:txBody>
          <a:bodyPr wrap="square" rtlCol="0" anchor="ctr"/>
          <a:lstStyle/>
          <a:p>
            <a:pPr marL="0" indent="0">
              <a:buNone/>
            </a:pPr>
            <a:r>
              <a:rPr lang="en-US" sz="1150" b="1" dirty="0">
                <a:solidFill>
                  <a:srgbClr val="1A2744"/>
                </a:solidFill>
                <a:latin typeface="Calibri" pitchFamily="34" charset="0"/>
                <a:ea typeface="Calibri" pitchFamily="34" charset="-122"/>
                <a:cs typeface="Calibri" pitchFamily="34" charset="-120"/>
              </a:rPr>
              <a:t>Best for</a:t>
            </a:r>
            <a:endParaRPr lang="en-US" sz="1150" dirty="0"/>
          </a:p>
        </p:txBody>
      </p:sp>
      <p:sp>
        <p:nvSpPr>
          <p:cNvPr id="30" name="Shape 28"/>
          <p:cNvSpPr/>
          <p:nvPr/>
        </p:nvSpPr>
        <p:spPr>
          <a:xfrm>
            <a:off x="1965960" y="2340864"/>
            <a:ext cx="2103120" cy="512064"/>
          </a:xfrm>
          <a:prstGeom prst="rect">
            <a:avLst/>
          </a:prstGeom>
          <a:solidFill>
            <a:srgbClr val="FFFFFF"/>
          </a:solidFill>
          <a:ln w="12700">
            <a:solidFill>
              <a:srgbClr val="DDDDEE"/>
            </a:solidFill>
            <a:prstDash val="solid"/>
          </a:ln>
        </p:spPr>
      </p:sp>
      <p:sp>
        <p:nvSpPr>
          <p:cNvPr id="31" name="Text 29"/>
          <p:cNvSpPr/>
          <p:nvPr/>
        </p:nvSpPr>
        <p:spPr>
          <a:xfrm>
            <a:off x="2020824" y="2395728"/>
            <a:ext cx="201168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Personal / solo projects</a:t>
            </a:r>
            <a:endParaRPr lang="en-US" sz="1150" dirty="0"/>
          </a:p>
        </p:txBody>
      </p:sp>
      <p:sp>
        <p:nvSpPr>
          <p:cNvPr id="32" name="Shape 30"/>
          <p:cNvSpPr/>
          <p:nvPr/>
        </p:nvSpPr>
        <p:spPr>
          <a:xfrm>
            <a:off x="4114800" y="2340864"/>
            <a:ext cx="2103120" cy="512064"/>
          </a:xfrm>
          <a:prstGeom prst="rect">
            <a:avLst/>
          </a:prstGeom>
          <a:solidFill>
            <a:srgbClr val="FFFFFF"/>
          </a:solidFill>
          <a:ln w="12700">
            <a:solidFill>
              <a:srgbClr val="DDDDEE"/>
            </a:solidFill>
            <a:prstDash val="solid"/>
          </a:ln>
        </p:spPr>
      </p:sp>
      <p:sp>
        <p:nvSpPr>
          <p:cNvPr id="33" name="Text 31"/>
          <p:cNvSpPr/>
          <p:nvPr/>
        </p:nvSpPr>
        <p:spPr>
          <a:xfrm>
            <a:off x="4169664" y="2395728"/>
            <a:ext cx="201168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Open source, community</a:t>
            </a:r>
            <a:endParaRPr lang="en-US" sz="1150" dirty="0"/>
          </a:p>
        </p:txBody>
      </p:sp>
      <p:sp>
        <p:nvSpPr>
          <p:cNvPr id="34" name="Shape 32"/>
          <p:cNvSpPr/>
          <p:nvPr/>
        </p:nvSpPr>
        <p:spPr>
          <a:xfrm>
            <a:off x="6263640" y="2340864"/>
            <a:ext cx="2194560" cy="512064"/>
          </a:xfrm>
          <a:prstGeom prst="rect">
            <a:avLst/>
          </a:prstGeom>
          <a:solidFill>
            <a:srgbClr val="FFFFFF"/>
          </a:solidFill>
          <a:ln w="12700">
            <a:solidFill>
              <a:srgbClr val="DDDDEE"/>
            </a:solidFill>
            <a:prstDash val="solid"/>
          </a:ln>
        </p:spPr>
      </p:sp>
      <p:sp>
        <p:nvSpPr>
          <p:cNvPr id="35" name="Text 33"/>
          <p:cNvSpPr/>
          <p:nvPr/>
        </p:nvSpPr>
        <p:spPr>
          <a:xfrm>
            <a:off x="6318504" y="2395728"/>
            <a:ext cx="210312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Enterprise, Microsoft stack</a:t>
            </a:r>
            <a:endParaRPr lang="en-US" sz="1150" dirty="0"/>
          </a:p>
        </p:txBody>
      </p:sp>
      <p:sp>
        <p:nvSpPr>
          <p:cNvPr id="36" name="Shape 34"/>
          <p:cNvSpPr/>
          <p:nvPr/>
        </p:nvSpPr>
        <p:spPr>
          <a:xfrm>
            <a:off x="182880" y="2852928"/>
            <a:ext cx="1737360" cy="512064"/>
          </a:xfrm>
          <a:prstGeom prst="rect">
            <a:avLst/>
          </a:prstGeom>
          <a:solidFill>
            <a:srgbClr val="EDF0FA"/>
          </a:solidFill>
          <a:ln w="12700">
            <a:solidFill>
              <a:srgbClr val="DDDDEE"/>
            </a:solidFill>
            <a:prstDash val="solid"/>
          </a:ln>
        </p:spPr>
      </p:sp>
      <p:sp>
        <p:nvSpPr>
          <p:cNvPr id="37" name="Text 35"/>
          <p:cNvSpPr/>
          <p:nvPr/>
        </p:nvSpPr>
        <p:spPr>
          <a:xfrm>
            <a:off x="237744" y="2907792"/>
            <a:ext cx="1645920" cy="420624"/>
          </a:xfrm>
          <a:prstGeom prst="rect">
            <a:avLst/>
          </a:prstGeom>
          <a:noFill/>
          <a:ln/>
        </p:spPr>
        <p:txBody>
          <a:bodyPr wrap="square" rtlCol="0" anchor="ctr"/>
          <a:lstStyle/>
          <a:p>
            <a:pPr marL="0" indent="0">
              <a:buNone/>
            </a:pPr>
            <a:r>
              <a:rPr lang="en-US" sz="1150" b="1" dirty="0">
                <a:solidFill>
                  <a:srgbClr val="1A2744"/>
                </a:solidFill>
                <a:latin typeface="Calibri" pitchFamily="34" charset="0"/>
                <a:ea typeface="Calibri" pitchFamily="34" charset="-122"/>
                <a:cs typeface="Calibri" pitchFamily="34" charset="-120"/>
              </a:rPr>
              <a:t>CI/CD built in</a:t>
            </a:r>
            <a:endParaRPr lang="en-US" sz="1150" dirty="0"/>
          </a:p>
        </p:txBody>
      </p:sp>
      <p:sp>
        <p:nvSpPr>
          <p:cNvPr id="38" name="Shape 36"/>
          <p:cNvSpPr/>
          <p:nvPr/>
        </p:nvSpPr>
        <p:spPr>
          <a:xfrm>
            <a:off x="1965960" y="2852928"/>
            <a:ext cx="2103120" cy="512064"/>
          </a:xfrm>
          <a:prstGeom prst="rect">
            <a:avLst/>
          </a:prstGeom>
          <a:solidFill>
            <a:srgbClr val="F5F8FF"/>
          </a:solidFill>
          <a:ln w="12700">
            <a:solidFill>
              <a:srgbClr val="DDDDEE"/>
            </a:solidFill>
            <a:prstDash val="solid"/>
          </a:ln>
        </p:spPr>
      </p:sp>
      <p:sp>
        <p:nvSpPr>
          <p:cNvPr id="39" name="Text 37"/>
          <p:cNvSpPr/>
          <p:nvPr/>
        </p:nvSpPr>
        <p:spPr>
          <a:xfrm>
            <a:off x="2020824" y="2907792"/>
            <a:ext cx="201168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No</a:t>
            </a:r>
            <a:endParaRPr lang="en-US" sz="1150" dirty="0"/>
          </a:p>
        </p:txBody>
      </p:sp>
      <p:sp>
        <p:nvSpPr>
          <p:cNvPr id="40" name="Shape 38"/>
          <p:cNvSpPr/>
          <p:nvPr/>
        </p:nvSpPr>
        <p:spPr>
          <a:xfrm>
            <a:off x="4114800" y="2852928"/>
            <a:ext cx="2103120" cy="512064"/>
          </a:xfrm>
          <a:prstGeom prst="rect">
            <a:avLst/>
          </a:prstGeom>
          <a:solidFill>
            <a:srgbClr val="F5F8FF"/>
          </a:solidFill>
          <a:ln w="12700">
            <a:solidFill>
              <a:srgbClr val="DDDDEE"/>
            </a:solidFill>
            <a:prstDash val="solid"/>
          </a:ln>
        </p:spPr>
      </p:sp>
      <p:sp>
        <p:nvSpPr>
          <p:cNvPr id="41" name="Text 39"/>
          <p:cNvSpPr/>
          <p:nvPr/>
        </p:nvSpPr>
        <p:spPr>
          <a:xfrm>
            <a:off x="4169664" y="2907792"/>
            <a:ext cx="201168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GitHub Actions</a:t>
            </a:r>
            <a:endParaRPr lang="en-US" sz="1150" dirty="0"/>
          </a:p>
        </p:txBody>
      </p:sp>
      <p:sp>
        <p:nvSpPr>
          <p:cNvPr id="42" name="Shape 40"/>
          <p:cNvSpPr/>
          <p:nvPr/>
        </p:nvSpPr>
        <p:spPr>
          <a:xfrm>
            <a:off x="6263640" y="2852928"/>
            <a:ext cx="2194560" cy="512064"/>
          </a:xfrm>
          <a:prstGeom prst="rect">
            <a:avLst/>
          </a:prstGeom>
          <a:solidFill>
            <a:srgbClr val="F5F8FF"/>
          </a:solidFill>
          <a:ln w="12700">
            <a:solidFill>
              <a:srgbClr val="DDDDEE"/>
            </a:solidFill>
            <a:prstDash val="solid"/>
          </a:ln>
        </p:spPr>
      </p:sp>
      <p:sp>
        <p:nvSpPr>
          <p:cNvPr id="43" name="Text 41"/>
          <p:cNvSpPr/>
          <p:nvPr/>
        </p:nvSpPr>
        <p:spPr>
          <a:xfrm>
            <a:off x="6318504" y="2907792"/>
            <a:ext cx="210312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Azure Pipelines</a:t>
            </a:r>
            <a:endParaRPr lang="en-US" sz="1150" dirty="0"/>
          </a:p>
        </p:txBody>
      </p:sp>
      <p:sp>
        <p:nvSpPr>
          <p:cNvPr id="44" name="Shape 42"/>
          <p:cNvSpPr/>
          <p:nvPr/>
        </p:nvSpPr>
        <p:spPr>
          <a:xfrm>
            <a:off x="182880" y="3364992"/>
            <a:ext cx="1737360" cy="512064"/>
          </a:xfrm>
          <a:prstGeom prst="rect">
            <a:avLst/>
          </a:prstGeom>
          <a:solidFill>
            <a:srgbClr val="EDF0FA"/>
          </a:solidFill>
          <a:ln w="12700">
            <a:solidFill>
              <a:srgbClr val="DDDDEE"/>
            </a:solidFill>
            <a:prstDash val="solid"/>
          </a:ln>
        </p:spPr>
      </p:sp>
      <p:sp>
        <p:nvSpPr>
          <p:cNvPr id="45" name="Text 43"/>
          <p:cNvSpPr/>
          <p:nvPr/>
        </p:nvSpPr>
        <p:spPr>
          <a:xfrm>
            <a:off x="237744" y="3419856"/>
            <a:ext cx="1645920" cy="420624"/>
          </a:xfrm>
          <a:prstGeom prst="rect">
            <a:avLst/>
          </a:prstGeom>
          <a:noFill/>
          <a:ln/>
        </p:spPr>
        <p:txBody>
          <a:bodyPr wrap="square" rtlCol="0" anchor="ctr"/>
          <a:lstStyle/>
          <a:p>
            <a:pPr marL="0" indent="0">
              <a:buNone/>
            </a:pPr>
            <a:r>
              <a:rPr lang="en-US" sz="1150" b="1" dirty="0">
                <a:solidFill>
                  <a:srgbClr val="1A2744"/>
                </a:solidFill>
                <a:latin typeface="Calibri" pitchFamily="34" charset="0"/>
                <a:ea typeface="Calibri" pitchFamily="34" charset="-122"/>
                <a:cs typeface="Calibri" pitchFamily="34" charset="-120"/>
              </a:rPr>
              <a:t>Access control</a:t>
            </a:r>
            <a:endParaRPr lang="en-US" sz="1150" dirty="0"/>
          </a:p>
        </p:txBody>
      </p:sp>
      <p:sp>
        <p:nvSpPr>
          <p:cNvPr id="46" name="Shape 44"/>
          <p:cNvSpPr/>
          <p:nvPr/>
        </p:nvSpPr>
        <p:spPr>
          <a:xfrm>
            <a:off x="1965960" y="3364992"/>
            <a:ext cx="2103120" cy="512064"/>
          </a:xfrm>
          <a:prstGeom prst="rect">
            <a:avLst/>
          </a:prstGeom>
          <a:solidFill>
            <a:srgbClr val="FFFFFF"/>
          </a:solidFill>
          <a:ln w="12700">
            <a:solidFill>
              <a:srgbClr val="DDDDEE"/>
            </a:solidFill>
            <a:prstDash val="solid"/>
          </a:ln>
        </p:spPr>
      </p:sp>
      <p:sp>
        <p:nvSpPr>
          <p:cNvPr id="47" name="Text 45"/>
          <p:cNvSpPr/>
          <p:nvPr/>
        </p:nvSpPr>
        <p:spPr>
          <a:xfrm>
            <a:off x="2020824" y="3419856"/>
            <a:ext cx="201168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N/A</a:t>
            </a:r>
            <a:endParaRPr lang="en-US" sz="1150" dirty="0"/>
          </a:p>
        </p:txBody>
      </p:sp>
      <p:sp>
        <p:nvSpPr>
          <p:cNvPr id="48" name="Shape 46"/>
          <p:cNvSpPr/>
          <p:nvPr/>
        </p:nvSpPr>
        <p:spPr>
          <a:xfrm>
            <a:off x="4114800" y="3364992"/>
            <a:ext cx="2103120" cy="512064"/>
          </a:xfrm>
          <a:prstGeom prst="rect">
            <a:avLst/>
          </a:prstGeom>
          <a:solidFill>
            <a:srgbClr val="FFFFFF"/>
          </a:solidFill>
          <a:ln w="12700">
            <a:solidFill>
              <a:srgbClr val="DDDDEE"/>
            </a:solidFill>
            <a:prstDash val="solid"/>
          </a:ln>
        </p:spPr>
      </p:sp>
      <p:sp>
        <p:nvSpPr>
          <p:cNvPr id="49" name="Text 47"/>
          <p:cNvSpPr/>
          <p:nvPr/>
        </p:nvSpPr>
        <p:spPr>
          <a:xfrm>
            <a:off x="4169664" y="3419856"/>
            <a:ext cx="201168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Teams &amp; org roles</a:t>
            </a:r>
            <a:endParaRPr lang="en-US" sz="1150" dirty="0"/>
          </a:p>
        </p:txBody>
      </p:sp>
      <p:sp>
        <p:nvSpPr>
          <p:cNvPr id="50" name="Shape 48"/>
          <p:cNvSpPr/>
          <p:nvPr/>
        </p:nvSpPr>
        <p:spPr>
          <a:xfrm>
            <a:off x="6263640" y="3364992"/>
            <a:ext cx="2194560" cy="512064"/>
          </a:xfrm>
          <a:prstGeom prst="rect">
            <a:avLst/>
          </a:prstGeom>
          <a:solidFill>
            <a:srgbClr val="FFFFFF"/>
          </a:solidFill>
          <a:ln w="12700">
            <a:solidFill>
              <a:srgbClr val="DDDDEE"/>
            </a:solidFill>
            <a:prstDash val="solid"/>
          </a:ln>
        </p:spPr>
      </p:sp>
      <p:sp>
        <p:nvSpPr>
          <p:cNvPr id="51" name="Text 49"/>
          <p:cNvSpPr/>
          <p:nvPr/>
        </p:nvSpPr>
        <p:spPr>
          <a:xfrm>
            <a:off x="6318504" y="3419856"/>
            <a:ext cx="210312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Azure Active Directory</a:t>
            </a:r>
            <a:endParaRPr lang="en-US" sz="1150" dirty="0"/>
          </a:p>
        </p:txBody>
      </p:sp>
      <p:sp>
        <p:nvSpPr>
          <p:cNvPr id="52" name="Shape 50"/>
          <p:cNvSpPr/>
          <p:nvPr/>
        </p:nvSpPr>
        <p:spPr>
          <a:xfrm>
            <a:off x="182880" y="3877056"/>
            <a:ext cx="1737360" cy="512064"/>
          </a:xfrm>
          <a:prstGeom prst="rect">
            <a:avLst/>
          </a:prstGeom>
          <a:solidFill>
            <a:srgbClr val="EDF0FA"/>
          </a:solidFill>
          <a:ln w="12700">
            <a:solidFill>
              <a:srgbClr val="DDDDEE"/>
            </a:solidFill>
            <a:prstDash val="solid"/>
          </a:ln>
        </p:spPr>
      </p:sp>
      <p:sp>
        <p:nvSpPr>
          <p:cNvPr id="53" name="Text 51"/>
          <p:cNvSpPr/>
          <p:nvPr/>
        </p:nvSpPr>
        <p:spPr>
          <a:xfrm>
            <a:off x="237744" y="3931920"/>
            <a:ext cx="1645920" cy="420624"/>
          </a:xfrm>
          <a:prstGeom prst="rect">
            <a:avLst/>
          </a:prstGeom>
          <a:noFill/>
          <a:ln/>
        </p:spPr>
        <p:txBody>
          <a:bodyPr wrap="square" rtlCol="0" anchor="ctr"/>
          <a:lstStyle/>
          <a:p>
            <a:pPr marL="0" indent="0">
              <a:buNone/>
            </a:pPr>
            <a:r>
              <a:rPr lang="en-US" sz="1150" b="1" dirty="0">
                <a:solidFill>
                  <a:srgbClr val="1A2744"/>
                </a:solidFill>
                <a:latin typeface="Calibri" pitchFamily="34" charset="0"/>
                <a:ea typeface="Calibri" pitchFamily="34" charset="-122"/>
                <a:cs typeface="Calibri" pitchFamily="34" charset="-120"/>
              </a:rPr>
              <a:t>Pricing</a:t>
            </a:r>
            <a:endParaRPr lang="en-US" sz="1150" dirty="0"/>
          </a:p>
        </p:txBody>
      </p:sp>
      <p:sp>
        <p:nvSpPr>
          <p:cNvPr id="54" name="Shape 52"/>
          <p:cNvSpPr/>
          <p:nvPr/>
        </p:nvSpPr>
        <p:spPr>
          <a:xfrm>
            <a:off x="1965960" y="3877056"/>
            <a:ext cx="2103120" cy="512064"/>
          </a:xfrm>
          <a:prstGeom prst="rect">
            <a:avLst/>
          </a:prstGeom>
          <a:solidFill>
            <a:srgbClr val="F5F8FF"/>
          </a:solidFill>
          <a:ln w="12700">
            <a:solidFill>
              <a:srgbClr val="DDDDEE"/>
            </a:solidFill>
            <a:prstDash val="solid"/>
          </a:ln>
        </p:spPr>
      </p:sp>
      <p:sp>
        <p:nvSpPr>
          <p:cNvPr id="55" name="Text 53"/>
          <p:cNvSpPr/>
          <p:nvPr/>
        </p:nvSpPr>
        <p:spPr>
          <a:xfrm>
            <a:off x="2020824" y="3931920"/>
            <a:ext cx="201168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Free (always)</a:t>
            </a:r>
            <a:endParaRPr lang="en-US" sz="1150" dirty="0"/>
          </a:p>
        </p:txBody>
      </p:sp>
      <p:sp>
        <p:nvSpPr>
          <p:cNvPr id="56" name="Shape 54"/>
          <p:cNvSpPr/>
          <p:nvPr/>
        </p:nvSpPr>
        <p:spPr>
          <a:xfrm>
            <a:off x="4114800" y="3877056"/>
            <a:ext cx="2103120" cy="512064"/>
          </a:xfrm>
          <a:prstGeom prst="rect">
            <a:avLst/>
          </a:prstGeom>
          <a:solidFill>
            <a:srgbClr val="F5F8FF"/>
          </a:solidFill>
          <a:ln w="12700">
            <a:solidFill>
              <a:srgbClr val="DDDDEE"/>
            </a:solidFill>
            <a:prstDash val="solid"/>
          </a:ln>
        </p:spPr>
      </p:sp>
      <p:sp>
        <p:nvSpPr>
          <p:cNvPr id="57" name="Text 55"/>
          <p:cNvSpPr/>
          <p:nvPr/>
        </p:nvSpPr>
        <p:spPr>
          <a:xfrm>
            <a:off x="4169664" y="3931920"/>
            <a:ext cx="201168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Free + paid tiers</a:t>
            </a:r>
            <a:endParaRPr lang="en-US" sz="1150" dirty="0"/>
          </a:p>
        </p:txBody>
      </p:sp>
      <p:sp>
        <p:nvSpPr>
          <p:cNvPr id="58" name="Shape 56"/>
          <p:cNvSpPr/>
          <p:nvPr/>
        </p:nvSpPr>
        <p:spPr>
          <a:xfrm>
            <a:off x="6263640" y="3877056"/>
            <a:ext cx="2194560" cy="512064"/>
          </a:xfrm>
          <a:prstGeom prst="rect">
            <a:avLst/>
          </a:prstGeom>
          <a:solidFill>
            <a:srgbClr val="F5F8FF"/>
          </a:solidFill>
          <a:ln w="12700">
            <a:solidFill>
              <a:srgbClr val="DDDDEE"/>
            </a:solidFill>
            <a:prstDash val="solid"/>
          </a:ln>
        </p:spPr>
      </p:sp>
      <p:sp>
        <p:nvSpPr>
          <p:cNvPr id="59" name="Text 57"/>
          <p:cNvSpPr/>
          <p:nvPr/>
        </p:nvSpPr>
        <p:spPr>
          <a:xfrm>
            <a:off x="6318504" y="3931920"/>
            <a:ext cx="210312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Free up to 5 users</a:t>
            </a:r>
            <a:endParaRPr lang="en-US" sz="1150" dirty="0"/>
          </a:p>
        </p:txBody>
      </p:sp>
      <p:sp>
        <p:nvSpPr>
          <p:cNvPr id="60" name="Shape 58"/>
          <p:cNvSpPr/>
          <p:nvPr/>
        </p:nvSpPr>
        <p:spPr>
          <a:xfrm>
            <a:off x="182880" y="4389120"/>
            <a:ext cx="1737360" cy="512064"/>
          </a:xfrm>
          <a:prstGeom prst="rect">
            <a:avLst/>
          </a:prstGeom>
          <a:solidFill>
            <a:srgbClr val="EDF0FA"/>
          </a:solidFill>
          <a:ln w="12700">
            <a:solidFill>
              <a:srgbClr val="DDDDEE"/>
            </a:solidFill>
            <a:prstDash val="solid"/>
          </a:ln>
        </p:spPr>
      </p:sp>
      <p:sp>
        <p:nvSpPr>
          <p:cNvPr id="61" name="Text 59"/>
          <p:cNvSpPr/>
          <p:nvPr/>
        </p:nvSpPr>
        <p:spPr>
          <a:xfrm>
            <a:off x="237744" y="4443984"/>
            <a:ext cx="1645920" cy="420624"/>
          </a:xfrm>
          <a:prstGeom prst="rect">
            <a:avLst/>
          </a:prstGeom>
          <a:noFill/>
          <a:ln/>
        </p:spPr>
        <p:txBody>
          <a:bodyPr wrap="square" rtlCol="0" anchor="ctr"/>
          <a:lstStyle/>
          <a:p>
            <a:pPr marL="0" indent="0">
              <a:buNone/>
            </a:pPr>
            <a:r>
              <a:rPr lang="en-US" sz="1150" b="1" dirty="0">
                <a:solidFill>
                  <a:srgbClr val="1A2744"/>
                </a:solidFill>
                <a:latin typeface="Calibri" pitchFamily="34" charset="0"/>
                <a:ea typeface="Calibri" pitchFamily="34" charset="-122"/>
                <a:cs typeface="Calibri" pitchFamily="34" charset="-120"/>
              </a:rPr>
              <a:t>Used by</a:t>
            </a:r>
            <a:endParaRPr lang="en-US" sz="1150" dirty="0"/>
          </a:p>
        </p:txBody>
      </p:sp>
      <p:sp>
        <p:nvSpPr>
          <p:cNvPr id="62" name="Shape 60"/>
          <p:cNvSpPr/>
          <p:nvPr/>
        </p:nvSpPr>
        <p:spPr>
          <a:xfrm>
            <a:off x="1965960" y="4389120"/>
            <a:ext cx="2103120" cy="512064"/>
          </a:xfrm>
          <a:prstGeom prst="rect">
            <a:avLst/>
          </a:prstGeom>
          <a:solidFill>
            <a:srgbClr val="FFFFFF"/>
          </a:solidFill>
          <a:ln w="12700">
            <a:solidFill>
              <a:srgbClr val="DDDDEE"/>
            </a:solidFill>
            <a:prstDash val="solid"/>
          </a:ln>
        </p:spPr>
      </p:sp>
      <p:sp>
        <p:nvSpPr>
          <p:cNvPr id="63" name="Text 61"/>
          <p:cNvSpPr/>
          <p:nvPr/>
        </p:nvSpPr>
        <p:spPr>
          <a:xfrm>
            <a:off x="2020824" y="4443984"/>
            <a:ext cx="201168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Every developer</a:t>
            </a:r>
            <a:endParaRPr lang="en-US" sz="1150" dirty="0"/>
          </a:p>
        </p:txBody>
      </p:sp>
      <p:sp>
        <p:nvSpPr>
          <p:cNvPr id="64" name="Shape 62"/>
          <p:cNvSpPr/>
          <p:nvPr/>
        </p:nvSpPr>
        <p:spPr>
          <a:xfrm>
            <a:off x="4114800" y="4389120"/>
            <a:ext cx="2103120" cy="512064"/>
          </a:xfrm>
          <a:prstGeom prst="rect">
            <a:avLst/>
          </a:prstGeom>
          <a:solidFill>
            <a:srgbClr val="FFFFFF"/>
          </a:solidFill>
          <a:ln w="12700">
            <a:solidFill>
              <a:srgbClr val="DDDDEE"/>
            </a:solidFill>
            <a:prstDash val="solid"/>
          </a:ln>
        </p:spPr>
      </p:sp>
      <p:sp>
        <p:nvSpPr>
          <p:cNvPr id="65" name="Text 63"/>
          <p:cNvSpPr/>
          <p:nvPr/>
        </p:nvSpPr>
        <p:spPr>
          <a:xfrm>
            <a:off x="4169664" y="4443984"/>
            <a:ext cx="201168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Linux, React, Python</a:t>
            </a:r>
            <a:endParaRPr lang="en-US" sz="1150" dirty="0"/>
          </a:p>
        </p:txBody>
      </p:sp>
      <p:sp>
        <p:nvSpPr>
          <p:cNvPr id="66" name="Shape 64"/>
          <p:cNvSpPr/>
          <p:nvPr/>
        </p:nvSpPr>
        <p:spPr>
          <a:xfrm>
            <a:off x="6263640" y="4389120"/>
            <a:ext cx="2194560" cy="512064"/>
          </a:xfrm>
          <a:prstGeom prst="rect">
            <a:avLst/>
          </a:prstGeom>
          <a:solidFill>
            <a:srgbClr val="FFFFFF"/>
          </a:solidFill>
          <a:ln w="12700">
            <a:solidFill>
              <a:srgbClr val="DDDDEE"/>
            </a:solidFill>
            <a:prstDash val="solid"/>
          </a:ln>
        </p:spPr>
      </p:sp>
      <p:sp>
        <p:nvSpPr>
          <p:cNvPr id="67" name="Text 65"/>
          <p:cNvSpPr/>
          <p:nvPr/>
        </p:nvSpPr>
        <p:spPr>
          <a:xfrm>
            <a:off x="6318504" y="4443984"/>
            <a:ext cx="2103120" cy="420624"/>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Nedbank, MTN, Discovery</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7132320" y="-1097280"/>
            <a:ext cx="4114800" cy="4114800"/>
          </a:xfrm>
          <a:prstGeom prst="ellipse">
            <a:avLst/>
          </a:prstGeom>
          <a:solidFill>
            <a:srgbClr val="028090">
              <a:alpha val="25000"/>
            </a:srgbClr>
          </a:solidFill>
          <a:ln w="12700">
            <a:solidFill>
              <a:srgbClr val="028090">
                <a:alpha val="25000"/>
              </a:srgbClr>
            </a:solidFill>
            <a:prstDash val="solid"/>
          </a:ln>
        </p:spPr>
      </p:sp>
      <p:sp>
        <p:nvSpPr>
          <p:cNvPr id="3" name="Shape 1"/>
          <p:cNvSpPr/>
          <p:nvPr/>
        </p:nvSpPr>
        <p:spPr>
          <a:xfrm>
            <a:off x="-1371600" y="3200400"/>
            <a:ext cx="3200400" cy="3200400"/>
          </a:xfrm>
          <a:prstGeom prst="ellipse">
            <a:avLst/>
          </a:prstGeom>
          <a:solidFill>
            <a:srgbClr val="02C39A">
              <a:alpha val="20000"/>
            </a:srgbClr>
          </a:solidFill>
          <a:ln w="12700">
            <a:solidFill>
              <a:srgbClr val="02C39A">
                <a:alpha val="20000"/>
              </a:srgbClr>
            </a:solidFill>
            <a:prstDash val="solid"/>
          </a:ln>
        </p:spPr>
      </p:sp>
      <p:sp>
        <p:nvSpPr>
          <p:cNvPr id="4" name="Text 2"/>
          <p:cNvSpPr/>
          <p:nvPr/>
        </p:nvSpPr>
        <p:spPr>
          <a:xfrm>
            <a:off x="548640" y="1463040"/>
            <a:ext cx="8046720" cy="91440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Section 6</a:t>
            </a:r>
            <a:endParaRPr lang="en-US" sz="3800" dirty="0"/>
          </a:p>
        </p:txBody>
      </p:sp>
      <p:sp>
        <p:nvSpPr>
          <p:cNvPr id="5" name="Text 3"/>
          <p:cNvSpPr/>
          <p:nvPr/>
        </p:nvSpPr>
        <p:spPr>
          <a:xfrm>
            <a:off x="548640" y="2468880"/>
            <a:ext cx="8046720" cy="548640"/>
          </a:xfrm>
          <a:prstGeom prst="rect">
            <a:avLst/>
          </a:prstGeom>
          <a:noFill/>
          <a:ln/>
        </p:spPr>
        <p:txBody>
          <a:bodyPr wrap="square" rtlCol="0" anchor="ctr"/>
          <a:lstStyle/>
          <a:p>
            <a:pPr marL="0" indent="0">
              <a:buNone/>
            </a:pPr>
            <a:r>
              <a:rPr lang="en-US" sz="1800" i="1" dirty="0">
                <a:solidFill>
                  <a:srgbClr val="C8DCFC"/>
                </a:solidFill>
                <a:latin typeface="Calibri" pitchFamily="34" charset="0"/>
                <a:ea typeface="Calibri" pitchFamily="34" charset="-122"/>
                <a:cs typeface="Calibri" pitchFamily="34" charset="-120"/>
              </a:rPr>
              <a:t>Pushing Code to Azure Repos — Full Process</a:t>
            </a:r>
            <a:endParaRPr lang="en-US" sz="1800" dirty="0"/>
          </a:p>
        </p:txBody>
      </p:sp>
      <p:pic>
        <p:nvPicPr>
          <p:cNvPr id="6" name="Image 0" descr="preencoded.png"/>
          <p:cNvPicPr>
            <a:picLocks noChangeAspect="1"/>
          </p:cNvPicPr>
          <p:nvPr/>
        </p:nvPicPr>
        <p:blipFill>
          <a:blip r:embed="rId3"/>
          <a:stretch>
            <a:fillRect/>
          </a:stretch>
        </p:blipFill>
        <p:spPr>
          <a:xfrm>
            <a:off x="7132320" y="1280160"/>
            <a:ext cx="1463040" cy="14630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5F8FF"/>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30352"/>
          </a:xfrm>
          <a:prstGeom prst="rect">
            <a:avLst/>
          </a:prstGeom>
          <a:noFill/>
          <a:ln/>
        </p:spPr>
        <p:txBody>
          <a:bodyPr wrap="square" lIns="0" tIns="0" rIns="0" bIns="0" rtlCol="0" anchor="ctr"/>
          <a:lstStyle/>
          <a:p>
            <a:pPr marL="0" indent="0">
              <a:buNone/>
            </a:pPr>
            <a:r>
              <a:rPr lang="en-US" sz="2600" b="1" dirty="0">
                <a:solidFill>
                  <a:srgbClr val="1A2744"/>
                </a:solidFill>
                <a:latin typeface="Calibri" pitchFamily="34" charset="0"/>
                <a:ea typeface="Calibri" pitchFamily="34" charset="-122"/>
                <a:cs typeface="Calibri" pitchFamily="34" charset="-120"/>
              </a:rPr>
              <a:t>Pushing to Azure — Steps 1 to 3</a:t>
            </a:r>
            <a:endParaRPr lang="en-US" sz="2600" dirty="0"/>
          </a:p>
        </p:txBody>
      </p:sp>
      <p:sp>
        <p:nvSpPr>
          <p:cNvPr id="3" name="Shape 1"/>
          <p:cNvSpPr/>
          <p:nvPr/>
        </p:nvSpPr>
        <p:spPr>
          <a:xfrm>
            <a:off x="411480" y="694944"/>
            <a:ext cx="8321040" cy="27432"/>
          </a:xfrm>
          <a:prstGeom prst="rect">
            <a:avLst/>
          </a:prstGeom>
          <a:solidFill>
            <a:srgbClr val="E4EAF6"/>
          </a:solidFill>
          <a:ln w="12700">
            <a:solidFill>
              <a:srgbClr val="E4EAF6"/>
            </a:solidFill>
            <a:prstDash val="solid"/>
          </a:ln>
        </p:spPr>
      </p:sp>
      <p:sp>
        <p:nvSpPr>
          <p:cNvPr id="4" name="Shape 2"/>
          <p:cNvSpPr/>
          <p:nvPr/>
        </p:nvSpPr>
        <p:spPr>
          <a:xfrm>
            <a:off x="411480" y="850392"/>
            <a:ext cx="8321040" cy="1097280"/>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5" name="Shape 3"/>
          <p:cNvSpPr/>
          <p:nvPr/>
        </p:nvSpPr>
        <p:spPr>
          <a:xfrm>
            <a:off x="411480" y="850392"/>
            <a:ext cx="64008" cy="1097280"/>
          </a:xfrm>
          <a:prstGeom prst="rect">
            <a:avLst/>
          </a:prstGeom>
          <a:solidFill>
            <a:srgbClr val="028090"/>
          </a:solidFill>
          <a:ln w="12700">
            <a:solidFill>
              <a:srgbClr val="028090"/>
            </a:solidFill>
            <a:prstDash val="solid"/>
          </a:ln>
        </p:spPr>
      </p:sp>
      <p:sp>
        <p:nvSpPr>
          <p:cNvPr id="6" name="Shape 4"/>
          <p:cNvSpPr/>
          <p:nvPr/>
        </p:nvSpPr>
        <p:spPr>
          <a:xfrm>
            <a:off x="475488" y="978408"/>
            <a:ext cx="457200" cy="457200"/>
          </a:xfrm>
          <a:prstGeom prst="ellipse">
            <a:avLst/>
          </a:prstGeom>
          <a:solidFill>
            <a:srgbClr val="028090"/>
          </a:solidFill>
          <a:ln w="12700">
            <a:solidFill>
              <a:srgbClr val="028090"/>
            </a:solidFill>
            <a:prstDash val="solid"/>
          </a:ln>
        </p:spPr>
      </p:sp>
      <p:sp>
        <p:nvSpPr>
          <p:cNvPr id="7" name="Text 5"/>
          <p:cNvSpPr/>
          <p:nvPr/>
        </p:nvSpPr>
        <p:spPr>
          <a:xfrm>
            <a:off x="475488" y="9784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042416" y="941832"/>
            <a:ext cx="7498080" cy="329184"/>
          </a:xfrm>
          <a:prstGeom prst="rect">
            <a:avLst/>
          </a:prstGeom>
          <a:noFill/>
          <a:ln/>
        </p:spPr>
        <p:txBody>
          <a:bodyPr wrap="square" lIns="0" tIns="0" rIns="0" bIns="0" rtlCol="0" anchor="ctr"/>
          <a:lstStyle/>
          <a:p>
            <a:pPr marL="0" indent="0">
              <a:buNone/>
            </a:pPr>
            <a:r>
              <a:rPr lang="en-US" sz="1400" b="1" dirty="0">
                <a:solidFill>
                  <a:srgbClr val="1A2744"/>
                </a:solidFill>
                <a:latin typeface="Calibri" pitchFamily="34" charset="0"/>
                <a:ea typeface="Calibri" pitchFamily="34" charset="-122"/>
                <a:cs typeface="Calibri" pitchFamily="34" charset="-120"/>
              </a:rPr>
              <a:t>Create Azure DevOps Project</a:t>
            </a:r>
            <a:endParaRPr lang="en-US" sz="1400" dirty="0"/>
          </a:p>
        </p:txBody>
      </p:sp>
      <p:sp>
        <p:nvSpPr>
          <p:cNvPr id="9" name="Text 7"/>
          <p:cNvSpPr/>
          <p:nvPr/>
        </p:nvSpPr>
        <p:spPr>
          <a:xfrm>
            <a:off x="1042416" y="1289304"/>
            <a:ext cx="7498080" cy="566928"/>
          </a:xfrm>
          <a:prstGeom prst="rect">
            <a:avLst/>
          </a:prstGeom>
          <a:noFill/>
          <a:ln/>
        </p:spPr>
        <p:txBody>
          <a:bodyPr wrap="square" rtlCol="0" anchor="ctr"/>
          <a:lstStyle/>
          <a:p>
            <a:pPr marL="0" indent="0">
              <a:buNone/>
            </a:pPr>
            <a:r>
              <a:rPr lang="en-US" sz="1200" dirty="0">
                <a:solidFill>
                  <a:srgbClr val="5A6A8A"/>
                </a:solidFill>
                <a:latin typeface="Calibri" pitchFamily="34" charset="0"/>
                <a:ea typeface="Calibri" pitchFamily="34" charset="-122"/>
                <a:cs typeface="Calibri" pitchFamily="34" charset="-120"/>
              </a:rPr>
              <a:t>Go to dev.azure.com → Sign in with Microsoft account → Click 'New Project' → Give it a name (e.g. retail-pos-system) → Set visibility to Private → Click Create.</a:t>
            </a:r>
            <a:endParaRPr lang="en-US" sz="1200" dirty="0"/>
          </a:p>
        </p:txBody>
      </p:sp>
      <p:sp>
        <p:nvSpPr>
          <p:cNvPr id="10" name="Shape 8"/>
          <p:cNvSpPr/>
          <p:nvPr/>
        </p:nvSpPr>
        <p:spPr>
          <a:xfrm>
            <a:off x="411480" y="2221992"/>
            <a:ext cx="8321040" cy="1097280"/>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1" name="Shape 9"/>
          <p:cNvSpPr/>
          <p:nvPr/>
        </p:nvSpPr>
        <p:spPr>
          <a:xfrm>
            <a:off x="411480" y="2221992"/>
            <a:ext cx="64008" cy="1097280"/>
          </a:xfrm>
          <a:prstGeom prst="rect">
            <a:avLst/>
          </a:prstGeom>
          <a:solidFill>
            <a:srgbClr val="1E5FA8"/>
          </a:solidFill>
          <a:ln w="12700">
            <a:solidFill>
              <a:srgbClr val="1E5FA8"/>
            </a:solidFill>
            <a:prstDash val="solid"/>
          </a:ln>
        </p:spPr>
      </p:sp>
      <p:sp>
        <p:nvSpPr>
          <p:cNvPr id="12" name="Shape 10"/>
          <p:cNvSpPr/>
          <p:nvPr/>
        </p:nvSpPr>
        <p:spPr>
          <a:xfrm>
            <a:off x="475488" y="2350008"/>
            <a:ext cx="457200" cy="457200"/>
          </a:xfrm>
          <a:prstGeom prst="ellipse">
            <a:avLst/>
          </a:prstGeom>
          <a:solidFill>
            <a:srgbClr val="1E5FA8"/>
          </a:solidFill>
          <a:ln w="12700">
            <a:solidFill>
              <a:srgbClr val="1E5FA8"/>
            </a:solidFill>
            <a:prstDash val="solid"/>
          </a:ln>
        </p:spPr>
      </p:sp>
      <p:sp>
        <p:nvSpPr>
          <p:cNvPr id="13" name="Text 11"/>
          <p:cNvSpPr/>
          <p:nvPr/>
        </p:nvSpPr>
        <p:spPr>
          <a:xfrm>
            <a:off x="475488" y="23500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1042416" y="2313432"/>
            <a:ext cx="7498080" cy="329184"/>
          </a:xfrm>
          <a:prstGeom prst="rect">
            <a:avLst/>
          </a:prstGeom>
          <a:noFill/>
          <a:ln/>
        </p:spPr>
        <p:txBody>
          <a:bodyPr wrap="square" lIns="0" tIns="0" rIns="0" bIns="0" rtlCol="0" anchor="ctr"/>
          <a:lstStyle/>
          <a:p>
            <a:pPr marL="0" indent="0">
              <a:buNone/>
            </a:pPr>
            <a:r>
              <a:rPr lang="en-US" sz="1400" b="1" dirty="0">
                <a:solidFill>
                  <a:srgbClr val="1A2744"/>
                </a:solidFill>
                <a:latin typeface="Calibri" pitchFamily="34" charset="0"/>
                <a:ea typeface="Calibri" pitchFamily="34" charset="-122"/>
                <a:cs typeface="Calibri" pitchFamily="34" charset="-120"/>
              </a:rPr>
              <a:t>Create a Repository</a:t>
            </a:r>
            <a:endParaRPr lang="en-US" sz="1400" dirty="0"/>
          </a:p>
        </p:txBody>
      </p:sp>
      <p:sp>
        <p:nvSpPr>
          <p:cNvPr id="15" name="Text 13"/>
          <p:cNvSpPr/>
          <p:nvPr/>
        </p:nvSpPr>
        <p:spPr>
          <a:xfrm>
            <a:off x="1042416" y="2660904"/>
            <a:ext cx="7498080" cy="566928"/>
          </a:xfrm>
          <a:prstGeom prst="rect">
            <a:avLst/>
          </a:prstGeom>
          <a:noFill/>
          <a:ln/>
        </p:spPr>
        <p:txBody>
          <a:bodyPr wrap="square" rtlCol="0" anchor="ctr"/>
          <a:lstStyle/>
          <a:p>
            <a:pPr marL="0" indent="0">
              <a:buNone/>
            </a:pPr>
            <a:r>
              <a:rPr lang="en-US" sz="1200" dirty="0">
                <a:solidFill>
                  <a:srgbClr val="5A6A8A"/>
                </a:solidFill>
                <a:latin typeface="Calibri" pitchFamily="34" charset="0"/>
                <a:ea typeface="Calibri" pitchFamily="34" charset="-122"/>
                <a:cs typeface="Calibri" pitchFamily="34" charset="-120"/>
              </a:rPr>
              <a:t>Inside your project → Navigate to Repos (left menu) → Click New Repository → Name it (e.g. pos-backend) → Select Git as type → Click Create. Copy the repo URL that appears.</a:t>
            </a:r>
            <a:endParaRPr lang="en-US" sz="1200" dirty="0"/>
          </a:p>
        </p:txBody>
      </p:sp>
      <p:sp>
        <p:nvSpPr>
          <p:cNvPr id="16" name="Shape 14"/>
          <p:cNvSpPr/>
          <p:nvPr/>
        </p:nvSpPr>
        <p:spPr>
          <a:xfrm>
            <a:off x="411480" y="3593592"/>
            <a:ext cx="8321040" cy="1280160"/>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7" name="Shape 15"/>
          <p:cNvSpPr/>
          <p:nvPr/>
        </p:nvSpPr>
        <p:spPr>
          <a:xfrm>
            <a:off x="411480" y="3593592"/>
            <a:ext cx="64008" cy="1280160"/>
          </a:xfrm>
          <a:prstGeom prst="rect">
            <a:avLst/>
          </a:prstGeom>
          <a:solidFill>
            <a:srgbClr val="7B2FBE"/>
          </a:solidFill>
          <a:ln w="12700">
            <a:solidFill>
              <a:srgbClr val="7B2FBE"/>
            </a:solidFill>
            <a:prstDash val="solid"/>
          </a:ln>
        </p:spPr>
      </p:sp>
      <p:sp>
        <p:nvSpPr>
          <p:cNvPr id="18" name="Shape 16"/>
          <p:cNvSpPr/>
          <p:nvPr/>
        </p:nvSpPr>
        <p:spPr>
          <a:xfrm>
            <a:off x="475488" y="3721608"/>
            <a:ext cx="457200" cy="457200"/>
          </a:xfrm>
          <a:prstGeom prst="ellipse">
            <a:avLst/>
          </a:prstGeom>
          <a:solidFill>
            <a:srgbClr val="7B2FBE"/>
          </a:solidFill>
          <a:ln w="12700">
            <a:solidFill>
              <a:srgbClr val="7B2FBE"/>
            </a:solidFill>
            <a:prstDash val="solid"/>
          </a:ln>
        </p:spPr>
      </p:sp>
      <p:sp>
        <p:nvSpPr>
          <p:cNvPr id="19" name="Text 17"/>
          <p:cNvSpPr/>
          <p:nvPr/>
        </p:nvSpPr>
        <p:spPr>
          <a:xfrm>
            <a:off x="475488" y="37216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1042416" y="3685032"/>
            <a:ext cx="7498080" cy="329184"/>
          </a:xfrm>
          <a:prstGeom prst="rect">
            <a:avLst/>
          </a:prstGeom>
          <a:noFill/>
          <a:ln/>
        </p:spPr>
        <p:txBody>
          <a:bodyPr wrap="square" lIns="0" tIns="0" rIns="0" bIns="0" rtlCol="0" anchor="ctr"/>
          <a:lstStyle/>
          <a:p>
            <a:pPr marL="0" indent="0">
              <a:buNone/>
            </a:pPr>
            <a:r>
              <a:rPr lang="en-US" sz="1400" b="1" dirty="0">
                <a:solidFill>
                  <a:srgbClr val="1A2744"/>
                </a:solidFill>
                <a:latin typeface="Calibri" pitchFamily="34" charset="0"/>
                <a:ea typeface="Calibri" pitchFamily="34" charset="-122"/>
                <a:cs typeface="Calibri" pitchFamily="34" charset="-120"/>
              </a:rPr>
              <a:t>Clone the Repository Locally</a:t>
            </a:r>
            <a:endParaRPr lang="en-US" sz="1400" dirty="0"/>
          </a:p>
        </p:txBody>
      </p:sp>
      <p:sp>
        <p:nvSpPr>
          <p:cNvPr id="21" name="Text 19"/>
          <p:cNvSpPr/>
          <p:nvPr/>
        </p:nvSpPr>
        <p:spPr>
          <a:xfrm>
            <a:off x="1042416" y="4032504"/>
            <a:ext cx="7498080" cy="411480"/>
          </a:xfrm>
          <a:prstGeom prst="rect">
            <a:avLst/>
          </a:prstGeom>
          <a:noFill/>
          <a:ln/>
        </p:spPr>
        <p:txBody>
          <a:bodyPr wrap="square" rtlCol="0" anchor="ctr"/>
          <a:lstStyle/>
          <a:p>
            <a:pPr marL="0" indent="0">
              <a:buNone/>
            </a:pPr>
            <a:r>
              <a:rPr lang="en-US" sz="1200" dirty="0">
                <a:solidFill>
                  <a:srgbClr val="5A6A8A"/>
                </a:solidFill>
                <a:latin typeface="Calibri" pitchFamily="34" charset="0"/>
                <a:ea typeface="Calibri" pitchFamily="34" charset="-122"/>
                <a:cs typeface="Calibri" pitchFamily="34" charset="-120"/>
              </a:rPr>
              <a:t>On your machine, open a terminal and run the clone command. This creates a local folder already linked to Azure.</a:t>
            </a:r>
            <a:endParaRPr lang="en-US" sz="1200" dirty="0"/>
          </a:p>
        </p:txBody>
      </p:sp>
      <p:sp>
        <p:nvSpPr>
          <p:cNvPr id="22" name="Shape 20"/>
          <p:cNvSpPr/>
          <p:nvPr/>
        </p:nvSpPr>
        <p:spPr>
          <a:xfrm>
            <a:off x="1042416" y="4489704"/>
            <a:ext cx="7498080" cy="310896"/>
          </a:xfrm>
          <a:prstGeom prst="rect">
            <a:avLst/>
          </a:prstGeom>
          <a:solidFill>
            <a:srgbClr val="0D1B2A"/>
          </a:solidFill>
          <a:ln w="12700">
            <a:solidFill>
              <a:srgbClr val="334466"/>
            </a:solidFill>
            <a:prstDash val="solid"/>
          </a:ln>
        </p:spPr>
      </p:sp>
      <p:sp>
        <p:nvSpPr>
          <p:cNvPr id="23" name="Text 21"/>
          <p:cNvSpPr/>
          <p:nvPr/>
        </p:nvSpPr>
        <p:spPr>
          <a:xfrm>
            <a:off x="1179576" y="4489704"/>
            <a:ext cx="7315200" cy="310896"/>
          </a:xfrm>
          <a:prstGeom prst="rect">
            <a:avLst/>
          </a:prstGeom>
          <a:noFill/>
          <a:ln/>
        </p:spPr>
        <p:txBody>
          <a:bodyPr wrap="square" lIns="0" tIns="0" rIns="0" bIns="0" rtlCol="0" anchor="ctr"/>
          <a:lstStyle/>
          <a:p>
            <a:pPr marL="0" indent="0">
              <a:buNone/>
            </a:pPr>
            <a:r>
              <a:rPr lang="en-US" sz="1200" dirty="0">
                <a:solidFill>
                  <a:srgbClr val="02C39A"/>
                </a:solidFill>
                <a:latin typeface="Consolas" pitchFamily="34" charset="0"/>
                <a:ea typeface="Consolas" pitchFamily="34" charset="-122"/>
                <a:cs typeface="Consolas" pitchFamily="34" charset="-120"/>
              </a:rPr>
              <a:t>git clone https://dev.azure.com/yourorg/retail-pos-system/_git/pos-backend</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5F8FF"/>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30352"/>
          </a:xfrm>
          <a:prstGeom prst="rect">
            <a:avLst/>
          </a:prstGeom>
          <a:noFill/>
          <a:ln/>
        </p:spPr>
        <p:txBody>
          <a:bodyPr wrap="square" lIns="0" tIns="0" rIns="0" bIns="0" rtlCol="0" anchor="ctr"/>
          <a:lstStyle/>
          <a:p>
            <a:pPr marL="0" indent="0">
              <a:buNone/>
            </a:pPr>
            <a:r>
              <a:rPr lang="en-US" sz="2600" b="1" dirty="0">
                <a:solidFill>
                  <a:srgbClr val="1A2744"/>
                </a:solidFill>
                <a:latin typeface="Calibri" pitchFamily="34" charset="0"/>
                <a:ea typeface="Calibri" pitchFamily="34" charset="-122"/>
                <a:cs typeface="Calibri" pitchFamily="34" charset="-120"/>
              </a:rPr>
              <a:t>Pushing to Azure — Steps 4 to 7</a:t>
            </a:r>
            <a:endParaRPr lang="en-US" sz="2600" dirty="0"/>
          </a:p>
        </p:txBody>
      </p:sp>
      <p:sp>
        <p:nvSpPr>
          <p:cNvPr id="3" name="Shape 1"/>
          <p:cNvSpPr/>
          <p:nvPr/>
        </p:nvSpPr>
        <p:spPr>
          <a:xfrm>
            <a:off x="411480" y="694944"/>
            <a:ext cx="8321040" cy="27432"/>
          </a:xfrm>
          <a:prstGeom prst="rect">
            <a:avLst/>
          </a:prstGeom>
          <a:solidFill>
            <a:srgbClr val="E4EAF6"/>
          </a:solidFill>
          <a:ln w="12700">
            <a:solidFill>
              <a:srgbClr val="E4EAF6"/>
            </a:solidFill>
            <a:prstDash val="solid"/>
          </a:ln>
        </p:spPr>
      </p:sp>
      <p:sp>
        <p:nvSpPr>
          <p:cNvPr id="4" name="Shape 2"/>
          <p:cNvSpPr/>
          <p:nvPr/>
        </p:nvSpPr>
        <p:spPr>
          <a:xfrm>
            <a:off x="411480" y="804672"/>
            <a:ext cx="8321040" cy="969264"/>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5" name="Shape 3"/>
          <p:cNvSpPr/>
          <p:nvPr/>
        </p:nvSpPr>
        <p:spPr>
          <a:xfrm>
            <a:off x="411480" y="804672"/>
            <a:ext cx="64008" cy="969264"/>
          </a:xfrm>
          <a:prstGeom prst="rect">
            <a:avLst/>
          </a:prstGeom>
          <a:solidFill>
            <a:srgbClr val="028090"/>
          </a:solidFill>
          <a:ln w="12700">
            <a:solidFill>
              <a:srgbClr val="028090"/>
            </a:solidFill>
            <a:prstDash val="solid"/>
          </a:ln>
        </p:spPr>
      </p:sp>
      <p:sp>
        <p:nvSpPr>
          <p:cNvPr id="6" name="Shape 4"/>
          <p:cNvSpPr/>
          <p:nvPr/>
        </p:nvSpPr>
        <p:spPr>
          <a:xfrm>
            <a:off x="475488" y="905256"/>
            <a:ext cx="420624" cy="420624"/>
          </a:xfrm>
          <a:prstGeom prst="ellipse">
            <a:avLst/>
          </a:prstGeom>
          <a:solidFill>
            <a:srgbClr val="028090"/>
          </a:solidFill>
          <a:ln w="12700">
            <a:solidFill>
              <a:srgbClr val="028090"/>
            </a:solidFill>
            <a:prstDash val="solid"/>
          </a:ln>
        </p:spPr>
      </p:sp>
      <p:sp>
        <p:nvSpPr>
          <p:cNvPr id="7" name="Text 5"/>
          <p:cNvSpPr/>
          <p:nvPr/>
        </p:nvSpPr>
        <p:spPr>
          <a:xfrm>
            <a:off x="475488" y="90525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8" name="Text 6"/>
          <p:cNvSpPr/>
          <p:nvPr/>
        </p:nvSpPr>
        <p:spPr>
          <a:xfrm>
            <a:off x="987552" y="877824"/>
            <a:ext cx="4389120" cy="310896"/>
          </a:xfrm>
          <a:prstGeom prst="rect">
            <a:avLst/>
          </a:prstGeom>
          <a:noFill/>
          <a:ln/>
        </p:spPr>
        <p:txBody>
          <a:bodyPr wrap="square" lIns="0" tIns="0" rIns="0" bIns="0" rtlCol="0" anchor="ctr"/>
          <a:lstStyle/>
          <a:p>
            <a:pPr marL="0" indent="0">
              <a:buNone/>
            </a:pPr>
            <a:r>
              <a:rPr lang="en-US" sz="1350" b="1" dirty="0">
                <a:solidFill>
                  <a:srgbClr val="1A2744"/>
                </a:solidFill>
                <a:latin typeface="Calibri" pitchFamily="34" charset="0"/>
                <a:ea typeface="Calibri" pitchFamily="34" charset="-122"/>
                <a:cs typeface="Calibri" pitchFamily="34" charset="-120"/>
              </a:rPr>
              <a:t>Make Changes Locally</a:t>
            </a:r>
            <a:endParaRPr lang="en-US" sz="1350" dirty="0"/>
          </a:p>
        </p:txBody>
      </p:sp>
      <p:sp>
        <p:nvSpPr>
          <p:cNvPr id="9" name="Text 7"/>
          <p:cNvSpPr/>
          <p:nvPr/>
        </p:nvSpPr>
        <p:spPr>
          <a:xfrm>
            <a:off x="987552" y="1225296"/>
            <a:ext cx="4389120" cy="438912"/>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Navigate into the cloned folder and edit or create files using VS Code or any code editor.</a:t>
            </a:r>
            <a:endParaRPr lang="en-US" sz="1150" dirty="0"/>
          </a:p>
        </p:txBody>
      </p:sp>
      <p:sp>
        <p:nvSpPr>
          <p:cNvPr id="10" name="Shape 8"/>
          <p:cNvSpPr/>
          <p:nvPr/>
        </p:nvSpPr>
        <p:spPr>
          <a:xfrm>
            <a:off x="5532120" y="877824"/>
            <a:ext cx="3063240" cy="804672"/>
          </a:xfrm>
          <a:prstGeom prst="rect">
            <a:avLst/>
          </a:prstGeom>
          <a:solidFill>
            <a:srgbClr val="0D1B2A"/>
          </a:solidFill>
          <a:ln w="12700">
            <a:solidFill>
              <a:srgbClr val="334466"/>
            </a:solidFill>
            <a:prstDash val="solid"/>
          </a:ln>
        </p:spPr>
      </p:sp>
      <p:sp>
        <p:nvSpPr>
          <p:cNvPr id="11" name="Text 9"/>
          <p:cNvSpPr/>
          <p:nvPr/>
        </p:nvSpPr>
        <p:spPr>
          <a:xfrm>
            <a:off x="5669280" y="877824"/>
            <a:ext cx="2880360" cy="804672"/>
          </a:xfrm>
          <a:prstGeom prst="rect">
            <a:avLst/>
          </a:prstGeom>
          <a:noFill/>
          <a:ln/>
        </p:spPr>
        <p:txBody>
          <a:bodyPr wrap="square" lIns="0" tIns="0" rIns="0" bIns="0" rtlCol="0" anchor="ctr"/>
          <a:lstStyle/>
          <a:p>
            <a:pPr marL="0" indent="0">
              <a:buNone/>
            </a:pPr>
            <a:r>
              <a:rPr lang="en-US" sz="1200" dirty="0">
                <a:solidFill>
                  <a:srgbClr val="02C39A"/>
                </a:solidFill>
                <a:latin typeface="Consolas" pitchFamily="34" charset="0"/>
                <a:ea typeface="Consolas" pitchFamily="34" charset="-122"/>
                <a:cs typeface="Consolas" pitchFamily="34" charset="-120"/>
              </a:rPr>
              <a:t>cd pos-backend   # then edit your files</a:t>
            </a:r>
            <a:endParaRPr lang="en-US" sz="1200" dirty="0"/>
          </a:p>
        </p:txBody>
      </p:sp>
      <p:sp>
        <p:nvSpPr>
          <p:cNvPr id="12" name="Shape 10"/>
          <p:cNvSpPr/>
          <p:nvPr/>
        </p:nvSpPr>
        <p:spPr>
          <a:xfrm>
            <a:off x="411480" y="1847088"/>
            <a:ext cx="8321040" cy="969264"/>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3" name="Shape 11"/>
          <p:cNvSpPr/>
          <p:nvPr/>
        </p:nvSpPr>
        <p:spPr>
          <a:xfrm>
            <a:off x="411480" y="1847088"/>
            <a:ext cx="64008" cy="969264"/>
          </a:xfrm>
          <a:prstGeom prst="rect">
            <a:avLst/>
          </a:prstGeom>
          <a:solidFill>
            <a:srgbClr val="1E5FA8"/>
          </a:solidFill>
          <a:ln w="12700">
            <a:solidFill>
              <a:srgbClr val="1E5FA8"/>
            </a:solidFill>
            <a:prstDash val="solid"/>
          </a:ln>
        </p:spPr>
      </p:sp>
      <p:sp>
        <p:nvSpPr>
          <p:cNvPr id="14" name="Shape 12"/>
          <p:cNvSpPr/>
          <p:nvPr/>
        </p:nvSpPr>
        <p:spPr>
          <a:xfrm>
            <a:off x="475488" y="1947672"/>
            <a:ext cx="420624" cy="420624"/>
          </a:xfrm>
          <a:prstGeom prst="ellipse">
            <a:avLst/>
          </a:prstGeom>
          <a:solidFill>
            <a:srgbClr val="1E5FA8"/>
          </a:solidFill>
          <a:ln w="12700">
            <a:solidFill>
              <a:srgbClr val="1E5FA8"/>
            </a:solidFill>
            <a:prstDash val="solid"/>
          </a:ln>
        </p:spPr>
      </p:sp>
      <p:sp>
        <p:nvSpPr>
          <p:cNvPr id="15" name="Text 13"/>
          <p:cNvSpPr/>
          <p:nvPr/>
        </p:nvSpPr>
        <p:spPr>
          <a:xfrm>
            <a:off x="475488" y="194767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6" name="Text 14"/>
          <p:cNvSpPr/>
          <p:nvPr/>
        </p:nvSpPr>
        <p:spPr>
          <a:xfrm>
            <a:off x="987552" y="1920240"/>
            <a:ext cx="4389120" cy="310896"/>
          </a:xfrm>
          <a:prstGeom prst="rect">
            <a:avLst/>
          </a:prstGeom>
          <a:noFill/>
          <a:ln/>
        </p:spPr>
        <p:txBody>
          <a:bodyPr wrap="square" lIns="0" tIns="0" rIns="0" bIns="0" rtlCol="0" anchor="ctr"/>
          <a:lstStyle/>
          <a:p>
            <a:pPr marL="0" indent="0">
              <a:buNone/>
            </a:pPr>
            <a:r>
              <a:rPr lang="en-US" sz="1350" b="1" dirty="0">
                <a:solidFill>
                  <a:srgbClr val="1A2744"/>
                </a:solidFill>
                <a:latin typeface="Calibri" pitchFamily="34" charset="0"/>
                <a:ea typeface="Calibri" pitchFamily="34" charset="-122"/>
                <a:cs typeface="Calibri" pitchFamily="34" charset="-120"/>
              </a:rPr>
              <a:t>Stage Your Changes</a:t>
            </a:r>
            <a:endParaRPr lang="en-US" sz="1350" dirty="0"/>
          </a:p>
        </p:txBody>
      </p:sp>
      <p:sp>
        <p:nvSpPr>
          <p:cNvPr id="17" name="Text 15"/>
          <p:cNvSpPr/>
          <p:nvPr/>
        </p:nvSpPr>
        <p:spPr>
          <a:xfrm>
            <a:off x="987552" y="2267712"/>
            <a:ext cx="4389120" cy="438912"/>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Tell Git which changes should go into the next commit. The dot ( . ) stages all changed files.</a:t>
            </a:r>
            <a:endParaRPr lang="en-US" sz="1150" dirty="0"/>
          </a:p>
        </p:txBody>
      </p:sp>
      <p:sp>
        <p:nvSpPr>
          <p:cNvPr id="18" name="Shape 16"/>
          <p:cNvSpPr/>
          <p:nvPr/>
        </p:nvSpPr>
        <p:spPr>
          <a:xfrm>
            <a:off x="5532120" y="1920240"/>
            <a:ext cx="3063240" cy="804672"/>
          </a:xfrm>
          <a:prstGeom prst="rect">
            <a:avLst/>
          </a:prstGeom>
          <a:solidFill>
            <a:srgbClr val="0D1B2A"/>
          </a:solidFill>
          <a:ln w="12700">
            <a:solidFill>
              <a:srgbClr val="334466"/>
            </a:solidFill>
            <a:prstDash val="solid"/>
          </a:ln>
        </p:spPr>
      </p:sp>
      <p:sp>
        <p:nvSpPr>
          <p:cNvPr id="19" name="Text 17"/>
          <p:cNvSpPr/>
          <p:nvPr/>
        </p:nvSpPr>
        <p:spPr>
          <a:xfrm>
            <a:off x="5669280" y="1920240"/>
            <a:ext cx="2880360" cy="804672"/>
          </a:xfrm>
          <a:prstGeom prst="rect">
            <a:avLst/>
          </a:prstGeom>
          <a:noFill/>
          <a:ln/>
        </p:spPr>
        <p:txBody>
          <a:bodyPr wrap="square" lIns="0" tIns="0" rIns="0" bIns="0" rtlCol="0" anchor="ctr"/>
          <a:lstStyle/>
          <a:p>
            <a:pPr marL="0" indent="0">
              <a:buNone/>
            </a:pPr>
            <a:r>
              <a:rPr lang="en-US" sz="1200" dirty="0">
                <a:solidFill>
                  <a:srgbClr val="02C39A"/>
                </a:solidFill>
                <a:latin typeface="Consolas" pitchFamily="34" charset="0"/>
                <a:ea typeface="Consolas" pitchFamily="34" charset="-122"/>
                <a:cs typeface="Consolas" pitchFamily="34" charset="-120"/>
              </a:rPr>
              <a:t>git add .</a:t>
            </a:r>
            <a:endParaRPr lang="en-US" sz="1200" dirty="0"/>
          </a:p>
        </p:txBody>
      </p:sp>
      <p:sp>
        <p:nvSpPr>
          <p:cNvPr id="20" name="Shape 18"/>
          <p:cNvSpPr/>
          <p:nvPr/>
        </p:nvSpPr>
        <p:spPr>
          <a:xfrm>
            <a:off x="411480" y="2889504"/>
            <a:ext cx="8321040" cy="969264"/>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21" name="Shape 19"/>
          <p:cNvSpPr/>
          <p:nvPr/>
        </p:nvSpPr>
        <p:spPr>
          <a:xfrm>
            <a:off x="411480" y="2889504"/>
            <a:ext cx="64008" cy="969264"/>
          </a:xfrm>
          <a:prstGeom prst="rect">
            <a:avLst/>
          </a:prstGeom>
          <a:solidFill>
            <a:srgbClr val="7B2FBE"/>
          </a:solidFill>
          <a:ln w="12700">
            <a:solidFill>
              <a:srgbClr val="7B2FBE"/>
            </a:solidFill>
            <a:prstDash val="solid"/>
          </a:ln>
        </p:spPr>
      </p:sp>
      <p:sp>
        <p:nvSpPr>
          <p:cNvPr id="22" name="Shape 20"/>
          <p:cNvSpPr/>
          <p:nvPr/>
        </p:nvSpPr>
        <p:spPr>
          <a:xfrm>
            <a:off x="475488" y="2990088"/>
            <a:ext cx="420624" cy="420624"/>
          </a:xfrm>
          <a:prstGeom prst="ellipse">
            <a:avLst/>
          </a:prstGeom>
          <a:solidFill>
            <a:srgbClr val="7B2FBE"/>
          </a:solidFill>
          <a:ln w="12700">
            <a:solidFill>
              <a:srgbClr val="7B2FBE"/>
            </a:solidFill>
            <a:prstDash val="solid"/>
          </a:ln>
        </p:spPr>
      </p:sp>
      <p:sp>
        <p:nvSpPr>
          <p:cNvPr id="23" name="Text 21"/>
          <p:cNvSpPr/>
          <p:nvPr/>
        </p:nvSpPr>
        <p:spPr>
          <a:xfrm>
            <a:off x="475488" y="299008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4" name="Text 22"/>
          <p:cNvSpPr/>
          <p:nvPr/>
        </p:nvSpPr>
        <p:spPr>
          <a:xfrm>
            <a:off x="987552" y="2962656"/>
            <a:ext cx="4389120" cy="310896"/>
          </a:xfrm>
          <a:prstGeom prst="rect">
            <a:avLst/>
          </a:prstGeom>
          <a:noFill/>
          <a:ln/>
        </p:spPr>
        <p:txBody>
          <a:bodyPr wrap="square" lIns="0" tIns="0" rIns="0" bIns="0" rtlCol="0" anchor="ctr"/>
          <a:lstStyle/>
          <a:p>
            <a:pPr marL="0" indent="0">
              <a:buNone/>
            </a:pPr>
            <a:r>
              <a:rPr lang="en-US" sz="1350" b="1" dirty="0">
                <a:solidFill>
                  <a:srgbClr val="1A2744"/>
                </a:solidFill>
                <a:latin typeface="Calibri" pitchFamily="34" charset="0"/>
                <a:ea typeface="Calibri" pitchFamily="34" charset="-122"/>
                <a:cs typeface="Calibri" pitchFamily="34" charset="-120"/>
              </a:rPr>
              <a:t>Commit Your Changes</a:t>
            </a:r>
            <a:endParaRPr lang="en-US" sz="1350" dirty="0"/>
          </a:p>
        </p:txBody>
      </p:sp>
      <p:sp>
        <p:nvSpPr>
          <p:cNvPr id="25" name="Text 23"/>
          <p:cNvSpPr/>
          <p:nvPr/>
        </p:nvSpPr>
        <p:spPr>
          <a:xfrm>
            <a:off x="987552" y="3310128"/>
            <a:ext cx="4389120" cy="438912"/>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Save a permanent snapshot with a clear message describing what you did.</a:t>
            </a:r>
            <a:endParaRPr lang="en-US" sz="1150" dirty="0"/>
          </a:p>
        </p:txBody>
      </p:sp>
      <p:sp>
        <p:nvSpPr>
          <p:cNvPr id="26" name="Shape 24"/>
          <p:cNvSpPr/>
          <p:nvPr/>
        </p:nvSpPr>
        <p:spPr>
          <a:xfrm>
            <a:off x="5532120" y="2962656"/>
            <a:ext cx="3063240" cy="804672"/>
          </a:xfrm>
          <a:prstGeom prst="rect">
            <a:avLst/>
          </a:prstGeom>
          <a:solidFill>
            <a:srgbClr val="0D1B2A"/>
          </a:solidFill>
          <a:ln w="12700">
            <a:solidFill>
              <a:srgbClr val="334466"/>
            </a:solidFill>
            <a:prstDash val="solid"/>
          </a:ln>
        </p:spPr>
      </p:sp>
      <p:sp>
        <p:nvSpPr>
          <p:cNvPr id="27" name="Text 25"/>
          <p:cNvSpPr/>
          <p:nvPr/>
        </p:nvSpPr>
        <p:spPr>
          <a:xfrm>
            <a:off x="5669280" y="2962656"/>
            <a:ext cx="2880360" cy="804672"/>
          </a:xfrm>
          <a:prstGeom prst="rect">
            <a:avLst/>
          </a:prstGeom>
          <a:noFill/>
          <a:ln/>
        </p:spPr>
        <p:txBody>
          <a:bodyPr wrap="square" lIns="0" tIns="0" rIns="0" bIns="0" rtlCol="0" anchor="ctr"/>
          <a:lstStyle/>
          <a:p>
            <a:pPr marL="0" indent="0">
              <a:buNone/>
            </a:pPr>
            <a:r>
              <a:rPr lang="en-US" sz="1200" dirty="0">
                <a:solidFill>
                  <a:srgbClr val="02C39A"/>
                </a:solidFill>
                <a:latin typeface="Consolas" pitchFamily="34" charset="0"/>
                <a:ea typeface="Consolas" pitchFamily="34" charset="-122"/>
                <a:cs typeface="Consolas" pitchFamily="34" charset="-120"/>
              </a:rPr>
              <a:t>git commit -m "Initial setup — add base project structure"</a:t>
            </a:r>
            <a:endParaRPr lang="en-US" sz="1200" dirty="0"/>
          </a:p>
        </p:txBody>
      </p:sp>
      <p:sp>
        <p:nvSpPr>
          <p:cNvPr id="28" name="Shape 26"/>
          <p:cNvSpPr/>
          <p:nvPr/>
        </p:nvSpPr>
        <p:spPr>
          <a:xfrm>
            <a:off x="411480" y="3931920"/>
            <a:ext cx="8321040" cy="969264"/>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29" name="Shape 27"/>
          <p:cNvSpPr/>
          <p:nvPr/>
        </p:nvSpPr>
        <p:spPr>
          <a:xfrm>
            <a:off x="411480" y="3931920"/>
            <a:ext cx="64008" cy="969264"/>
          </a:xfrm>
          <a:prstGeom prst="rect">
            <a:avLst/>
          </a:prstGeom>
          <a:solidFill>
            <a:srgbClr val="B8312F"/>
          </a:solidFill>
          <a:ln w="12700">
            <a:solidFill>
              <a:srgbClr val="B8312F"/>
            </a:solidFill>
            <a:prstDash val="solid"/>
          </a:ln>
        </p:spPr>
      </p:sp>
      <p:sp>
        <p:nvSpPr>
          <p:cNvPr id="30" name="Shape 28"/>
          <p:cNvSpPr/>
          <p:nvPr/>
        </p:nvSpPr>
        <p:spPr>
          <a:xfrm>
            <a:off x="475488" y="4032504"/>
            <a:ext cx="420624" cy="420624"/>
          </a:xfrm>
          <a:prstGeom prst="ellipse">
            <a:avLst/>
          </a:prstGeom>
          <a:solidFill>
            <a:srgbClr val="B8312F"/>
          </a:solidFill>
          <a:ln w="12700">
            <a:solidFill>
              <a:srgbClr val="B8312F"/>
            </a:solidFill>
            <a:prstDash val="solid"/>
          </a:ln>
        </p:spPr>
      </p:sp>
      <p:sp>
        <p:nvSpPr>
          <p:cNvPr id="31" name="Text 29"/>
          <p:cNvSpPr/>
          <p:nvPr/>
        </p:nvSpPr>
        <p:spPr>
          <a:xfrm>
            <a:off x="475488" y="403250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2" name="Text 30"/>
          <p:cNvSpPr/>
          <p:nvPr/>
        </p:nvSpPr>
        <p:spPr>
          <a:xfrm>
            <a:off x="987552" y="4005072"/>
            <a:ext cx="4389120" cy="310896"/>
          </a:xfrm>
          <a:prstGeom prst="rect">
            <a:avLst/>
          </a:prstGeom>
          <a:noFill/>
          <a:ln/>
        </p:spPr>
        <p:txBody>
          <a:bodyPr wrap="square" lIns="0" tIns="0" rIns="0" bIns="0" rtlCol="0" anchor="ctr"/>
          <a:lstStyle/>
          <a:p>
            <a:pPr marL="0" indent="0">
              <a:buNone/>
            </a:pPr>
            <a:r>
              <a:rPr lang="en-US" sz="1350" b="1" dirty="0">
                <a:solidFill>
                  <a:srgbClr val="1A2744"/>
                </a:solidFill>
                <a:latin typeface="Calibri" pitchFamily="34" charset="0"/>
                <a:ea typeface="Calibri" pitchFamily="34" charset="-122"/>
                <a:cs typeface="Calibri" pitchFamily="34" charset="-120"/>
              </a:rPr>
              <a:t>Push to Azure Repos</a:t>
            </a:r>
            <a:endParaRPr lang="en-US" sz="1350" dirty="0"/>
          </a:p>
        </p:txBody>
      </p:sp>
      <p:sp>
        <p:nvSpPr>
          <p:cNvPr id="33" name="Text 31"/>
          <p:cNvSpPr/>
          <p:nvPr/>
        </p:nvSpPr>
        <p:spPr>
          <a:xfrm>
            <a:off x="987552" y="4352544"/>
            <a:ext cx="4389120" cy="438912"/>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Upload your commit to Azure. Your code is now visible to the entire team in Azure Repos.</a:t>
            </a:r>
            <a:endParaRPr lang="en-US" sz="1150" dirty="0"/>
          </a:p>
        </p:txBody>
      </p:sp>
      <p:sp>
        <p:nvSpPr>
          <p:cNvPr id="34" name="Shape 32"/>
          <p:cNvSpPr/>
          <p:nvPr/>
        </p:nvSpPr>
        <p:spPr>
          <a:xfrm>
            <a:off x="5532120" y="4005072"/>
            <a:ext cx="3063240" cy="804672"/>
          </a:xfrm>
          <a:prstGeom prst="rect">
            <a:avLst/>
          </a:prstGeom>
          <a:solidFill>
            <a:srgbClr val="0D1B2A"/>
          </a:solidFill>
          <a:ln w="12700">
            <a:solidFill>
              <a:srgbClr val="334466"/>
            </a:solidFill>
            <a:prstDash val="solid"/>
          </a:ln>
        </p:spPr>
      </p:sp>
      <p:sp>
        <p:nvSpPr>
          <p:cNvPr id="35" name="Text 33"/>
          <p:cNvSpPr/>
          <p:nvPr/>
        </p:nvSpPr>
        <p:spPr>
          <a:xfrm>
            <a:off x="5669280" y="4005072"/>
            <a:ext cx="2880360" cy="804672"/>
          </a:xfrm>
          <a:prstGeom prst="rect">
            <a:avLst/>
          </a:prstGeom>
          <a:noFill/>
          <a:ln/>
        </p:spPr>
        <p:txBody>
          <a:bodyPr wrap="square" lIns="0" tIns="0" rIns="0" bIns="0" rtlCol="0" anchor="ctr"/>
          <a:lstStyle/>
          <a:p>
            <a:pPr marL="0" indent="0">
              <a:buNone/>
            </a:pPr>
            <a:r>
              <a:rPr lang="en-US" sz="1200" dirty="0">
                <a:solidFill>
                  <a:srgbClr val="02C39A"/>
                </a:solidFill>
                <a:latin typeface="Consolas" pitchFamily="34" charset="0"/>
                <a:ea typeface="Consolas" pitchFamily="34" charset="-122"/>
                <a:cs typeface="Consolas" pitchFamily="34" charset="-120"/>
              </a:rPr>
              <a:t>git push origin main</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5F8FF"/>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30352"/>
          </a:xfrm>
          <a:prstGeom prst="rect">
            <a:avLst/>
          </a:prstGeom>
          <a:noFill/>
          <a:ln/>
        </p:spPr>
        <p:txBody>
          <a:bodyPr wrap="square" lIns="0" tIns="0" rIns="0" bIns="0" rtlCol="0" anchor="ctr"/>
          <a:lstStyle/>
          <a:p>
            <a:pPr marL="0" indent="0">
              <a:buNone/>
            </a:pPr>
            <a:r>
              <a:rPr lang="en-US" sz="2600" b="1" dirty="0">
                <a:solidFill>
                  <a:srgbClr val="1A2744"/>
                </a:solidFill>
                <a:latin typeface="Calibri" pitchFamily="34" charset="0"/>
                <a:ea typeface="Calibri" pitchFamily="34" charset="-122"/>
                <a:cs typeface="Calibri" pitchFamily="34" charset="-120"/>
              </a:rPr>
              <a:t>Real-World Scenario — Junior Developer, Day 1 to Day 3</a:t>
            </a:r>
            <a:endParaRPr lang="en-US" sz="2600" dirty="0"/>
          </a:p>
        </p:txBody>
      </p:sp>
      <p:sp>
        <p:nvSpPr>
          <p:cNvPr id="3" name="Shape 1"/>
          <p:cNvSpPr/>
          <p:nvPr/>
        </p:nvSpPr>
        <p:spPr>
          <a:xfrm>
            <a:off x="411480" y="694944"/>
            <a:ext cx="8321040" cy="27432"/>
          </a:xfrm>
          <a:prstGeom prst="rect">
            <a:avLst/>
          </a:prstGeom>
          <a:solidFill>
            <a:srgbClr val="E4EAF6"/>
          </a:solidFill>
          <a:ln w="12700">
            <a:solidFill>
              <a:srgbClr val="E4EAF6"/>
            </a:solidFill>
            <a:prstDash val="solid"/>
          </a:ln>
        </p:spPr>
      </p:sp>
      <p:sp>
        <p:nvSpPr>
          <p:cNvPr id="4" name="Shape 2"/>
          <p:cNvSpPr/>
          <p:nvPr/>
        </p:nvSpPr>
        <p:spPr>
          <a:xfrm>
            <a:off x="411480" y="850392"/>
            <a:ext cx="8321040" cy="1280160"/>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5" name="Shape 3"/>
          <p:cNvSpPr/>
          <p:nvPr/>
        </p:nvSpPr>
        <p:spPr>
          <a:xfrm>
            <a:off x="411480" y="850392"/>
            <a:ext cx="64008" cy="1280160"/>
          </a:xfrm>
          <a:prstGeom prst="rect">
            <a:avLst/>
          </a:prstGeom>
          <a:solidFill>
            <a:srgbClr val="028090"/>
          </a:solidFill>
          <a:ln w="12700">
            <a:solidFill>
              <a:srgbClr val="028090"/>
            </a:solidFill>
            <a:prstDash val="solid"/>
          </a:ln>
        </p:spPr>
      </p:sp>
      <p:sp>
        <p:nvSpPr>
          <p:cNvPr id="6" name="Shape 4"/>
          <p:cNvSpPr/>
          <p:nvPr/>
        </p:nvSpPr>
        <p:spPr>
          <a:xfrm>
            <a:off x="411480" y="850392"/>
            <a:ext cx="914400" cy="1280160"/>
          </a:xfrm>
          <a:prstGeom prst="rect">
            <a:avLst/>
          </a:prstGeom>
          <a:solidFill>
            <a:srgbClr val="028090"/>
          </a:solidFill>
          <a:ln w="12700">
            <a:solidFill>
              <a:srgbClr val="028090"/>
            </a:solidFill>
            <a:prstDash val="solid"/>
          </a:ln>
        </p:spPr>
      </p:sp>
      <p:sp>
        <p:nvSpPr>
          <p:cNvPr id="7" name="Text 5"/>
          <p:cNvSpPr/>
          <p:nvPr/>
        </p:nvSpPr>
        <p:spPr>
          <a:xfrm>
            <a:off x="411480" y="1014984"/>
            <a:ext cx="9144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Day 1</a:t>
            </a:r>
            <a:endParaRPr lang="en-US" sz="1500" dirty="0"/>
          </a:p>
        </p:txBody>
      </p:sp>
      <p:sp>
        <p:nvSpPr>
          <p:cNvPr id="8" name="Text 6"/>
          <p:cNvSpPr/>
          <p:nvPr/>
        </p:nvSpPr>
        <p:spPr>
          <a:xfrm>
            <a:off x="411480" y="1399032"/>
            <a:ext cx="914400" cy="548640"/>
          </a:xfrm>
          <a:prstGeom prst="rect">
            <a:avLst/>
          </a:prstGeom>
          <a:noFill/>
          <a:ln/>
        </p:spPr>
        <p:txBody>
          <a:bodyPr wrap="square" rtlCol="0" anchor="ctr"/>
          <a:lstStyle/>
          <a:p>
            <a:pPr marL="0" indent="0" algn="ctr">
              <a:buNone/>
            </a:pPr>
            <a:r>
              <a:rPr lang="en-US" sz="1050" dirty="0">
                <a:solidFill>
                  <a:srgbClr val="C8DCFC"/>
                </a:solidFill>
                <a:latin typeface="Calibri" pitchFamily="34" charset="0"/>
                <a:ea typeface="Calibri" pitchFamily="34" charset="-122"/>
                <a:cs typeface="Calibri" pitchFamily="34" charset="-120"/>
              </a:rPr>
              <a:t>Clone the repo</a:t>
            </a:r>
            <a:endParaRPr lang="en-US" sz="1050" dirty="0"/>
          </a:p>
        </p:txBody>
      </p:sp>
      <p:sp>
        <p:nvSpPr>
          <p:cNvPr id="9" name="Text 7"/>
          <p:cNvSpPr/>
          <p:nvPr/>
        </p:nvSpPr>
        <p:spPr>
          <a:xfrm>
            <a:off x="1426464" y="923544"/>
            <a:ext cx="3255264" cy="1133856"/>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New developer joins a logistics company. Team lead shares the Azure Repos URL. Developer runs clone — instantly has the full codebase.</a:t>
            </a:r>
            <a:endParaRPr lang="en-US" sz="1150" dirty="0"/>
          </a:p>
        </p:txBody>
      </p:sp>
      <p:sp>
        <p:nvSpPr>
          <p:cNvPr id="10" name="Text 8"/>
          <p:cNvSpPr/>
          <p:nvPr/>
        </p:nvSpPr>
        <p:spPr>
          <a:xfrm>
            <a:off x="4773168" y="941832"/>
            <a:ext cx="3858768" cy="1115568"/>
          </a:xfrm>
          <a:prstGeom prst="rect">
            <a:avLst/>
          </a:prstGeom>
          <a:solidFill>
            <a:srgbClr val="0D1B2A"/>
          </a:solidFill>
          <a:ln/>
        </p:spPr>
        <p:txBody>
          <a:bodyPr wrap="square" lIns="0" tIns="127000" rIns="127000" bIns="0" rtlCol="0" anchor="ctr"/>
          <a:lstStyle/>
          <a:p>
            <a:pPr marL="0" indent="0">
              <a:buNone/>
            </a:pPr>
            <a:r>
              <a:rPr lang="en-US" sz="1100" dirty="0">
                <a:solidFill>
                  <a:srgbClr val="02C39A"/>
                </a:solidFill>
                <a:latin typeface="Consolas" pitchFamily="34" charset="0"/>
                <a:ea typeface="Consolas" pitchFamily="34" charset="-122"/>
                <a:cs typeface="Consolas" pitchFamily="34" charset="-120"/>
              </a:rPr>
              <a:t>git clone https://dev.azure.com/logico/fleet-system/_git/api</a:t>
            </a:r>
            <a:endParaRPr lang="en-US" sz="1100" dirty="0"/>
          </a:p>
        </p:txBody>
      </p:sp>
      <p:sp>
        <p:nvSpPr>
          <p:cNvPr id="11" name="Shape 9"/>
          <p:cNvSpPr/>
          <p:nvPr/>
        </p:nvSpPr>
        <p:spPr>
          <a:xfrm>
            <a:off x="411480" y="2240280"/>
            <a:ext cx="8321040" cy="1280160"/>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2" name="Shape 10"/>
          <p:cNvSpPr/>
          <p:nvPr/>
        </p:nvSpPr>
        <p:spPr>
          <a:xfrm>
            <a:off x="411480" y="2240280"/>
            <a:ext cx="64008" cy="1280160"/>
          </a:xfrm>
          <a:prstGeom prst="rect">
            <a:avLst/>
          </a:prstGeom>
          <a:solidFill>
            <a:srgbClr val="1E5FA8"/>
          </a:solidFill>
          <a:ln w="12700">
            <a:solidFill>
              <a:srgbClr val="1E5FA8"/>
            </a:solidFill>
            <a:prstDash val="solid"/>
          </a:ln>
        </p:spPr>
      </p:sp>
      <p:sp>
        <p:nvSpPr>
          <p:cNvPr id="13" name="Shape 11"/>
          <p:cNvSpPr/>
          <p:nvPr/>
        </p:nvSpPr>
        <p:spPr>
          <a:xfrm>
            <a:off x="411480" y="2240280"/>
            <a:ext cx="914400" cy="1280160"/>
          </a:xfrm>
          <a:prstGeom prst="rect">
            <a:avLst/>
          </a:prstGeom>
          <a:solidFill>
            <a:srgbClr val="1E5FA8"/>
          </a:solidFill>
          <a:ln w="12700">
            <a:solidFill>
              <a:srgbClr val="1E5FA8"/>
            </a:solidFill>
            <a:prstDash val="solid"/>
          </a:ln>
        </p:spPr>
      </p:sp>
      <p:sp>
        <p:nvSpPr>
          <p:cNvPr id="14" name="Text 12"/>
          <p:cNvSpPr/>
          <p:nvPr/>
        </p:nvSpPr>
        <p:spPr>
          <a:xfrm>
            <a:off x="411480" y="2404872"/>
            <a:ext cx="9144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Day 2</a:t>
            </a:r>
            <a:endParaRPr lang="en-US" sz="1500" dirty="0"/>
          </a:p>
        </p:txBody>
      </p:sp>
      <p:sp>
        <p:nvSpPr>
          <p:cNvPr id="15" name="Text 13"/>
          <p:cNvSpPr/>
          <p:nvPr/>
        </p:nvSpPr>
        <p:spPr>
          <a:xfrm>
            <a:off x="411480" y="2788920"/>
            <a:ext cx="914400" cy="548640"/>
          </a:xfrm>
          <a:prstGeom prst="rect">
            <a:avLst/>
          </a:prstGeom>
          <a:noFill/>
          <a:ln/>
        </p:spPr>
        <p:txBody>
          <a:bodyPr wrap="square" rtlCol="0" anchor="ctr"/>
          <a:lstStyle/>
          <a:p>
            <a:pPr marL="0" indent="0" algn="ctr">
              <a:buNone/>
            </a:pPr>
            <a:r>
              <a:rPr lang="en-US" sz="1050" dirty="0">
                <a:solidFill>
                  <a:srgbClr val="C8DCFC"/>
                </a:solidFill>
                <a:latin typeface="Calibri" pitchFamily="34" charset="0"/>
                <a:ea typeface="Calibri" pitchFamily="34" charset="-122"/>
                <a:cs typeface="Calibri" pitchFamily="34" charset="-120"/>
              </a:rPr>
              <a:t>Pull + create branch + write code</a:t>
            </a:r>
            <a:endParaRPr lang="en-US" sz="1050" dirty="0"/>
          </a:p>
        </p:txBody>
      </p:sp>
      <p:sp>
        <p:nvSpPr>
          <p:cNvPr id="16" name="Text 14"/>
          <p:cNvSpPr/>
          <p:nvPr/>
        </p:nvSpPr>
        <p:spPr>
          <a:xfrm>
            <a:off x="1426464" y="2313432"/>
            <a:ext cx="3255264" cy="1133856"/>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Before writing a single line, pull the latest code. Then create a dedicated branch for the GPS tracking feature.</a:t>
            </a:r>
            <a:endParaRPr lang="en-US" sz="1150" dirty="0"/>
          </a:p>
        </p:txBody>
      </p:sp>
      <p:sp>
        <p:nvSpPr>
          <p:cNvPr id="17" name="Text 15"/>
          <p:cNvSpPr/>
          <p:nvPr/>
        </p:nvSpPr>
        <p:spPr>
          <a:xfrm>
            <a:off x="4773168" y="2331720"/>
            <a:ext cx="3858768" cy="1115568"/>
          </a:xfrm>
          <a:prstGeom prst="rect">
            <a:avLst/>
          </a:prstGeom>
          <a:solidFill>
            <a:srgbClr val="0D1B2A"/>
          </a:solidFill>
          <a:ln/>
        </p:spPr>
        <p:txBody>
          <a:bodyPr wrap="square" lIns="0" tIns="127000" rIns="127000" bIns="0" rtlCol="0" anchor="ctr"/>
          <a:lstStyle/>
          <a:p>
            <a:pPr marL="0" indent="0">
              <a:buNone/>
            </a:pPr>
            <a:r>
              <a:rPr lang="en-US" sz="1100" dirty="0">
                <a:solidFill>
                  <a:srgbClr val="02C39A"/>
                </a:solidFill>
                <a:latin typeface="Consolas" pitchFamily="34" charset="0"/>
                <a:ea typeface="Consolas" pitchFamily="34" charset="-122"/>
                <a:cs typeface="Consolas" pitchFamily="34" charset="-120"/>
              </a:rPr>
              <a:t>git pull origin main</a:t>
            </a:r>
            <a:endParaRPr lang="en-US" sz="1100" dirty="0"/>
          </a:p>
          <a:p>
            <a:pPr marL="0" indent="0">
              <a:buNone/>
            </a:pPr>
            <a:r>
              <a:rPr lang="en-US" sz="1100" dirty="0">
                <a:solidFill>
                  <a:srgbClr val="02C39A"/>
                </a:solidFill>
                <a:latin typeface="Consolas" pitchFamily="34" charset="0"/>
                <a:ea typeface="Consolas" pitchFamily="34" charset="-122"/>
                <a:cs typeface="Consolas" pitchFamily="34" charset="-120"/>
              </a:rPr>
              <a:t>git checkout -b feature/driver-tracking</a:t>
            </a:r>
            <a:endParaRPr lang="en-US" sz="1100" dirty="0"/>
          </a:p>
        </p:txBody>
      </p:sp>
      <p:sp>
        <p:nvSpPr>
          <p:cNvPr id="18" name="Shape 16"/>
          <p:cNvSpPr/>
          <p:nvPr/>
        </p:nvSpPr>
        <p:spPr>
          <a:xfrm>
            <a:off x="411480" y="3630168"/>
            <a:ext cx="8321040" cy="1280160"/>
          </a:xfrm>
          <a:prstGeom prst="rect">
            <a:avLst/>
          </a:prstGeom>
          <a:solidFill>
            <a:srgbClr val="FFFFFF"/>
          </a:solidFill>
          <a:ln w="12700">
            <a:solidFill>
              <a:srgbClr val="E4EAF6"/>
            </a:solidFill>
            <a:prstDash val="solid"/>
          </a:ln>
          <a:effectLst>
            <a:outerShdw blurRad="101600" dist="38100" dir="8100000" algn="bl" rotWithShape="0">
              <a:srgbClr val="000000">
                <a:alpha val="12000"/>
              </a:srgbClr>
            </a:outerShdw>
          </a:effectLst>
        </p:spPr>
      </p:sp>
      <p:sp>
        <p:nvSpPr>
          <p:cNvPr id="19" name="Shape 17"/>
          <p:cNvSpPr/>
          <p:nvPr/>
        </p:nvSpPr>
        <p:spPr>
          <a:xfrm>
            <a:off x="411480" y="3630168"/>
            <a:ext cx="64008" cy="1280160"/>
          </a:xfrm>
          <a:prstGeom prst="rect">
            <a:avLst/>
          </a:prstGeom>
          <a:solidFill>
            <a:srgbClr val="028A5B"/>
          </a:solidFill>
          <a:ln w="12700">
            <a:solidFill>
              <a:srgbClr val="028A5B"/>
            </a:solidFill>
            <a:prstDash val="solid"/>
          </a:ln>
        </p:spPr>
      </p:sp>
      <p:sp>
        <p:nvSpPr>
          <p:cNvPr id="20" name="Shape 18"/>
          <p:cNvSpPr/>
          <p:nvPr/>
        </p:nvSpPr>
        <p:spPr>
          <a:xfrm>
            <a:off x="411480" y="3630168"/>
            <a:ext cx="914400" cy="1280160"/>
          </a:xfrm>
          <a:prstGeom prst="rect">
            <a:avLst/>
          </a:prstGeom>
          <a:solidFill>
            <a:srgbClr val="028A5B"/>
          </a:solidFill>
          <a:ln w="12700">
            <a:solidFill>
              <a:srgbClr val="028A5B"/>
            </a:solidFill>
            <a:prstDash val="solid"/>
          </a:ln>
        </p:spPr>
      </p:sp>
      <p:sp>
        <p:nvSpPr>
          <p:cNvPr id="21" name="Text 19"/>
          <p:cNvSpPr/>
          <p:nvPr/>
        </p:nvSpPr>
        <p:spPr>
          <a:xfrm>
            <a:off x="411480" y="3794760"/>
            <a:ext cx="9144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Day 3</a:t>
            </a:r>
            <a:endParaRPr lang="en-US" sz="1500" dirty="0"/>
          </a:p>
        </p:txBody>
      </p:sp>
      <p:sp>
        <p:nvSpPr>
          <p:cNvPr id="22" name="Text 20"/>
          <p:cNvSpPr/>
          <p:nvPr/>
        </p:nvSpPr>
        <p:spPr>
          <a:xfrm>
            <a:off x="411480" y="4178808"/>
            <a:ext cx="914400" cy="548640"/>
          </a:xfrm>
          <a:prstGeom prst="rect">
            <a:avLst/>
          </a:prstGeom>
          <a:noFill/>
          <a:ln/>
        </p:spPr>
        <p:txBody>
          <a:bodyPr wrap="square" rtlCol="0" anchor="ctr"/>
          <a:lstStyle/>
          <a:p>
            <a:pPr marL="0" indent="0" algn="ctr">
              <a:buNone/>
            </a:pPr>
            <a:r>
              <a:rPr lang="en-US" sz="1050" dirty="0">
                <a:solidFill>
                  <a:srgbClr val="C8DCFC"/>
                </a:solidFill>
                <a:latin typeface="Calibri" pitchFamily="34" charset="0"/>
                <a:ea typeface="Calibri" pitchFamily="34" charset="-122"/>
                <a:cs typeface="Calibri" pitchFamily="34" charset="-120"/>
              </a:rPr>
              <a:t>Stage, commit &amp; push</a:t>
            </a:r>
            <a:endParaRPr lang="en-US" sz="1050" dirty="0"/>
          </a:p>
        </p:txBody>
      </p:sp>
      <p:sp>
        <p:nvSpPr>
          <p:cNvPr id="23" name="Text 21"/>
          <p:cNvSpPr/>
          <p:nvPr/>
        </p:nvSpPr>
        <p:spPr>
          <a:xfrm>
            <a:off x="1426464" y="3703320"/>
            <a:ext cx="3255264" cy="1133856"/>
          </a:xfrm>
          <a:prstGeom prst="rect">
            <a:avLst/>
          </a:prstGeom>
          <a:noFill/>
          <a:ln/>
        </p:spPr>
        <p:txBody>
          <a:bodyPr wrap="square" rtlCol="0" anchor="ctr"/>
          <a:lstStyle/>
          <a:p>
            <a:pPr marL="0" indent="0">
              <a:buNone/>
            </a:pPr>
            <a:r>
              <a:rPr lang="en-US" sz="1150" dirty="0">
                <a:solidFill>
                  <a:srgbClr val="5A6A8A"/>
                </a:solidFill>
                <a:latin typeface="Calibri" pitchFamily="34" charset="0"/>
                <a:ea typeface="Calibri" pitchFamily="34" charset="-122"/>
                <a:cs typeface="Calibri" pitchFamily="34" charset="-120"/>
              </a:rPr>
              <a:t>Feature is done. Stage, commit with a clear message, and push to Azure. Team lead reviews the code in Azure Repos and approves the pull request. Azure Pipelines runs automated tests, then merges to main.</a:t>
            </a:r>
            <a:endParaRPr lang="en-US" sz="1150" dirty="0"/>
          </a:p>
        </p:txBody>
      </p:sp>
      <p:sp>
        <p:nvSpPr>
          <p:cNvPr id="24" name="Text 22"/>
          <p:cNvSpPr/>
          <p:nvPr/>
        </p:nvSpPr>
        <p:spPr>
          <a:xfrm>
            <a:off x="4773168" y="3721608"/>
            <a:ext cx="3858768" cy="1115568"/>
          </a:xfrm>
          <a:prstGeom prst="rect">
            <a:avLst/>
          </a:prstGeom>
          <a:solidFill>
            <a:srgbClr val="0D1B2A"/>
          </a:solidFill>
          <a:ln/>
        </p:spPr>
        <p:txBody>
          <a:bodyPr wrap="square" lIns="0" tIns="127000" rIns="127000" bIns="0" rtlCol="0" anchor="ctr"/>
          <a:lstStyle/>
          <a:p>
            <a:pPr marL="0" indent="0">
              <a:buNone/>
            </a:pPr>
            <a:r>
              <a:rPr lang="en-US" sz="1100" dirty="0">
                <a:solidFill>
                  <a:srgbClr val="02C39A"/>
                </a:solidFill>
                <a:latin typeface="Consolas" pitchFamily="34" charset="0"/>
                <a:ea typeface="Consolas" pitchFamily="34" charset="-122"/>
                <a:cs typeface="Consolas" pitchFamily="34" charset="-120"/>
              </a:rPr>
              <a:t>git add .</a:t>
            </a:r>
            <a:endParaRPr lang="en-US" sz="1100" dirty="0"/>
          </a:p>
          <a:p>
            <a:pPr marL="0" indent="0">
              <a:buNone/>
            </a:pPr>
            <a:r>
              <a:rPr lang="en-US" sz="1100" dirty="0">
                <a:solidFill>
                  <a:srgbClr val="02C39A"/>
                </a:solidFill>
                <a:latin typeface="Consolas" pitchFamily="34" charset="0"/>
                <a:ea typeface="Consolas" pitchFamily="34" charset="-122"/>
                <a:cs typeface="Consolas" pitchFamily="34" charset="-120"/>
              </a:rPr>
              <a:t>git commit -m "Add real-time GPS tracking endpoint for drivers"</a:t>
            </a:r>
            <a:endParaRPr lang="en-US" sz="1100" dirty="0"/>
          </a:p>
          <a:p>
            <a:pPr marL="0" indent="0">
              <a:buNone/>
            </a:pPr>
            <a:r>
              <a:rPr lang="en-US" sz="1100" dirty="0">
                <a:solidFill>
                  <a:srgbClr val="02C39A"/>
                </a:solidFill>
                <a:latin typeface="Consolas" pitchFamily="34" charset="0"/>
                <a:ea typeface="Consolas" pitchFamily="34" charset="-122"/>
                <a:cs typeface="Consolas" pitchFamily="34" charset="-120"/>
              </a:rPr>
              <a:t>git push origin feature/driver-tracking</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1A2744"/>
        </a:solidFill>
        <a:effectLst/>
      </p:bgPr>
    </p:bg>
    <p:spTree>
      <p:nvGrpSpPr>
        <p:cNvPr id="1" name=""/>
        <p:cNvGrpSpPr/>
        <p:nvPr/>
      </p:nvGrpSpPr>
      <p:grpSpPr>
        <a:xfrm>
          <a:off x="0" y="0"/>
          <a:ext cx="0" cy="0"/>
          <a:chOff x="0" y="0"/>
          <a:chExt cx="0" cy="0"/>
        </a:xfrm>
      </p:grpSpPr>
      <p:sp>
        <p:nvSpPr>
          <p:cNvPr id="2" name="Shape 0"/>
          <p:cNvSpPr/>
          <p:nvPr/>
        </p:nvSpPr>
        <p:spPr>
          <a:xfrm>
            <a:off x="6583680" y="-1371600"/>
            <a:ext cx="5029200" cy="5029200"/>
          </a:xfrm>
          <a:prstGeom prst="ellipse">
            <a:avLst/>
          </a:prstGeom>
          <a:solidFill>
            <a:srgbClr val="028090">
              <a:alpha val="20000"/>
            </a:srgbClr>
          </a:solidFill>
          <a:ln w="12700">
            <a:solidFill>
              <a:srgbClr val="028090">
                <a:alpha val="20000"/>
              </a:srgbClr>
            </a:solidFill>
            <a:prstDash val="solid"/>
          </a:ln>
        </p:spPr>
      </p:sp>
      <p:sp>
        <p:nvSpPr>
          <p:cNvPr id="3" name="Text 1"/>
          <p:cNvSpPr/>
          <p:nvPr/>
        </p:nvSpPr>
        <p:spPr>
          <a:xfrm>
            <a:off x="502920" y="182880"/>
            <a:ext cx="8229600" cy="54864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Key Takeaways</a:t>
            </a:r>
            <a:endParaRPr lang="en-US" sz="3000" dirty="0"/>
          </a:p>
        </p:txBody>
      </p:sp>
      <p:sp>
        <p:nvSpPr>
          <p:cNvPr id="4" name="Shape 2"/>
          <p:cNvSpPr/>
          <p:nvPr/>
        </p:nvSpPr>
        <p:spPr>
          <a:xfrm>
            <a:off x="411480" y="896112"/>
            <a:ext cx="4069080" cy="1719072"/>
          </a:xfrm>
          <a:prstGeom prst="rect">
            <a:avLst/>
          </a:prstGeom>
          <a:solidFill>
            <a:srgbClr val="1E3060"/>
          </a:solidFill>
          <a:ln w="12700">
            <a:solidFill>
              <a:srgbClr val="028090"/>
            </a:solidFill>
            <a:prstDash val="solid"/>
          </a:ln>
          <a:effectLst>
            <a:outerShdw blurRad="101600" dist="38100" dir="8100000" algn="bl" rotWithShape="0">
              <a:srgbClr val="000000">
                <a:alpha val="12000"/>
              </a:srgbClr>
            </a:outerShdw>
          </a:effectLst>
        </p:spPr>
      </p:sp>
      <p:pic>
        <p:nvPicPr>
          <p:cNvPr id="5" name="Image 0" descr="preencoded.png"/>
          <p:cNvPicPr>
            <a:picLocks noChangeAspect="1"/>
          </p:cNvPicPr>
          <p:nvPr/>
        </p:nvPicPr>
        <p:blipFill>
          <a:blip r:embed="rId3"/>
          <a:stretch>
            <a:fillRect/>
          </a:stretch>
        </p:blipFill>
        <p:spPr>
          <a:xfrm>
            <a:off x="548640" y="1024128"/>
            <a:ext cx="420624" cy="420624"/>
          </a:xfrm>
          <a:prstGeom prst="rect">
            <a:avLst/>
          </a:prstGeom>
        </p:spPr>
      </p:pic>
      <p:sp>
        <p:nvSpPr>
          <p:cNvPr id="6" name="Text 3"/>
          <p:cNvSpPr/>
          <p:nvPr/>
        </p:nvSpPr>
        <p:spPr>
          <a:xfrm>
            <a:off x="1069848" y="987552"/>
            <a:ext cx="3273552" cy="420624"/>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Git solves a real problem</a:t>
            </a:r>
            <a:endParaRPr lang="en-US" sz="1400" dirty="0"/>
          </a:p>
        </p:txBody>
      </p:sp>
      <p:sp>
        <p:nvSpPr>
          <p:cNvPr id="7" name="Text 4"/>
          <p:cNvSpPr/>
          <p:nvPr/>
        </p:nvSpPr>
        <p:spPr>
          <a:xfrm>
            <a:off x="548640" y="1499616"/>
            <a:ext cx="3794760" cy="1024128"/>
          </a:xfrm>
          <a:prstGeom prst="rect">
            <a:avLst/>
          </a:prstGeom>
          <a:noFill/>
          <a:ln/>
        </p:spPr>
        <p:txBody>
          <a:bodyPr wrap="square" rtlCol="0" anchor="ctr"/>
          <a:lstStyle/>
          <a:p>
            <a:pPr marL="0" indent="0">
              <a:buNone/>
            </a:pPr>
            <a:r>
              <a:rPr lang="en-US" sz="1200" dirty="0">
                <a:solidFill>
                  <a:srgbClr val="C8DCFC"/>
                </a:solidFill>
                <a:latin typeface="Calibri" pitchFamily="34" charset="0"/>
                <a:ea typeface="Calibri" pitchFamily="34" charset="-122"/>
                <a:cs typeface="Calibri" pitchFamily="34" charset="-120"/>
              </a:rPr>
              <a:t>Before Git, teams overwrote each other's work with no recovery. Distributed control gives everyone a full local copy — work continues even offline.</a:t>
            </a:r>
            <a:endParaRPr lang="en-US" sz="1200" dirty="0"/>
          </a:p>
        </p:txBody>
      </p:sp>
      <p:sp>
        <p:nvSpPr>
          <p:cNvPr id="8" name="Shape 5"/>
          <p:cNvSpPr/>
          <p:nvPr/>
        </p:nvSpPr>
        <p:spPr>
          <a:xfrm>
            <a:off x="4709160" y="896112"/>
            <a:ext cx="4069080" cy="1719072"/>
          </a:xfrm>
          <a:prstGeom prst="rect">
            <a:avLst/>
          </a:prstGeom>
          <a:solidFill>
            <a:srgbClr val="1E3060"/>
          </a:solidFill>
          <a:ln w="12700">
            <a:solidFill>
              <a:srgbClr val="028090"/>
            </a:solidFill>
            <a:prstDash val="solid"/>
          </a:ln>
          <a:effectLst>
            <a:outerShdw blurRad="101600" dist="38100" dir="8100000" algn="bl" rotWithShape="0">
              <a:srgbClr val="000000">
                <a:alpha val="12000"/>
              </a:srgbClr>
            </a:outerShdw>
          </a:effectLst>
        </p:spPr>
      </p:sp>
      <p:pic>
        <p:nvPicPr>
          <p:cNvPr id="9" name="Image 1" descr="preencoded.png"/>
          <p:cNvPicPr>
            <a:picLocks noChangeAspect="1"/>
          </p:cNvPicPr>
          <p:nvPr/>
        </p:nvPicPr>
        <p:blipFill>
          <a:blip r:embed="rId4"/>
          <a:stretch>
            <a:fillRect/>
          </a:stretch>
        </p:blipFill>
        <p:spPr>
          <a:xfrm>
            <a:off x="4846320" y="1024128"/>
            <a:ext cx="420624" cy="420624"/>
          </a:xfrm>
          <a:prstGeom prst="rect">
            <a:avLst/>
          </a:prstGeom>
        </p:spPr>
      </p:pic>
      <p:sp>
        <p:nvSpPr>
          <p:cNvPr id="10" name="Text 6"/>
          <p:cNvSpPr/>
          <p:nvPr/>
        </p:nvSpPr>
        <p:spPr>
          <a:xfrm>
            <a:off x="5367528" y="987552"/>
            <a:ext cx="3273552" cy="420624"/>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Commits are your save points</a:t>
            </a:r>
            <a:endParaRPr lang="en-US" sz="1400" dirty="0"/>
          </a:p>
        </p:txBody>
      </p:sp>
      <p:sp>
        <p:nvSpPr>
          <p:cNvPr id="11" name="Text 7"/>
          <p:cNvSpPr/>
          <p:nvPr/>
        </p:nvSpPr>
        <p:spPr>
          <a:xfrm>
            <a:off x="4846320" y="1499616"/>
            <a:ext cx="3794760" cy="1024128"/>
          </a:xfrm>
          <a:prstGeom prst="rect">
            <a:avLst/>
          </a:prstGeom>
          <a:noFill/>
          <a:ln/>
        </p:spPr>
        <p:txBody>
          <a:bodyPr wrap="square" rtlCol="0" anchor="ctr"/>
          <a:lstStyle/>
          <a:p>
            <a:pPr marL="0" indent="0">
              <a:buNone/>
            </a:pPr>
            <a:r>
              <a:rPr lang="en-US" sz="1200" dirty="0">
                <a:solidFill>
                  <a:srgbClr val="C8DCFC"/>
                </a:solidFill>
                <a:latin typeface="Calibri" pitchFamily="34" charset="0"/>
                <a:ea typeface="Calibri" pitchFamily="34" charset="-122"/>
                <a:cs typeface="Calibri" pitchFamily="34" charset="-120"/>
              </a:rPr>
              <a:t>Use git add → git commit with clear messages. Your commit history is a permanent, searchable record that teams and auditors rely on.</a:t>
            </a:r>
            <a:endParaRPr lang="en-US" sz="1200" dirty="0"/>
          </a:p>
        </p:txBody>
      </p:sp>
      <p:sp>
        <p:nvSpPr>
          <p:cNvPr id="12" name="Shape 8"/>
          <p:cNvSpPr/>
          <p:nvPr/>
        </p:nvSpPr>
        <p:spPr>
          <a:xfrm>
            <a:off x="411480" y="2816352"/>
            <a:ext cx="4069080" cy="1719072"/>
          </a:xfrm>
          <a:prstGeom prst="rect">
            <a:avLst/>
          </a:prstGeom>
          <a:solidFill>
            <a:srgbClr val="1E3060"/>
          </a:solidFill>
          <a:ln w="12700">
            <a:solidFill>
              <a:srgbClr val="028090"/>
            </a:solidFill>
            <a:prstDash val="solid"/>
          </a:ln>
          <a:effectLst>
            <a:outerShdw blurRad="101600" dist="38100" dir="8100000" algn="bl" rotWithShape="0">
              <a:srgbClr val="000000">
                <a:alpha val="12000"/>
              </a:srgbClr>
            </a:outerShdw>
          </a:effectLst>
        </p:spPr>
      </p:sp>
      <p:pic>
        <p:nvPicPr>
          <p:cNvPr id="13" name="Image 2" descr="preencoded.png"/>
          <p:cNvPicPr>
            <a:picLocks noChangeAspect="1"/>
          </p:cNvPicPr>
          <p:nvPr/>
        </p:nvPicPr>
        <p:blipFill>
          <a:blip r:embed="rId5"/>
          <a:stretch>
            <a:fillRect/>
          </a:stretch>
        </p:blipFill>
        <p:spPr>
          <a:xfrm>
            <a:off x="548640" y="2944368"/>
            <a:ext cx="420624" cy="420624"/>
          </a:xfrm>
          <a:prstGeom prst="rect">
            <a:avLst/>
          </a:prstGeom>
        </p:spPr>
      </p:pic>
      <p:sp>
        <p:nvSpPr>
          <p:cNvPr id="14" name="Text 9"/>
          <p:cNvSpPr/>
          <p:nvPr/>
        </p:nvSpPr>
        <p:spPr>
          <a:xfrm>
            <a:off x="1069848" y="2907792"/>
            <a:ext cx="3273552" cy="420624"/>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Branches keep work safe</a:t>
            </a:r>
            <a:endParaRPr lang="en-US" sz="1400" dirty="0"/>
          </a:p>
        </p:txBody>
      </p:sp>
      <p:sp>
        <p:nvSpPr>
          <p:cNvPr id="15" name="Text 10"/>
          <p:cNvSpPr/>
          <p:nvPr/>
        </p:nvSpPr>
        <p:spPr>
          <a:xfrm>
            <a:off x="548640" y="3419856"/>
            <a:ext cx="3794760" cy="1024128"/>
          </a:xfrm>
          <a:prstGeom prst="rect">
            <a:avLst/>
          </a:prstGeom>
          <a:noFill/>
          <a:ln/>
        </p:spPr>
        <p:txBody>
          <a:bodyPr wrap="square" rtlCol="0" anchor="ctr"/>
          <a:lstStyle/>
          <a:p>
            <a:pPr marL="0" indent="0">
              <a:buNone/>
            </a:pPr>
            <a:r>
              <a:rPr lang="en-US" sz="1200" dirty="0">
                <a:solidFill>
                  <a:srgbClr val="C8DCFC"/>
                </a:solidFill>
                <a:latin typeface="Calibri" pitchFamily="34" charset="0"/>
                <a:ea typeface="Calibri" pitchFamily="34" charset="-122"/>
                <a:cs typeface="Calibri" pitchFamily="34" charset="-120"/>
              </a:rPr>
              <a:t>Always develop in a branch. Merge into main only after testing and team review. This is standard practice at every professional company.</a:t>
            </a:r>
            <a:endParaRPr lang="en-US" sz="1200" dirty="0"/>
          </a:p>
        </p:txBody>
      </p:sp>
      <p:sp>
        <p:nvSpPr>
          <p:cNvPr id="16" name="Shape 11"/>
          <p:cNvSpPr/>
          <p:nvPr/>
        </p:nvSpPr>
        <p:spPr>
          <a:xfrm>
            <a:off x="4709160" y="2816352"/>
            <a:ext cx="4069080" cy="1719072"/>
          </a:xfrm>
          <a:prstGeom prst="rect">
            <a:avLst/>
          </a:prstGeom>
          <a:solidFill>
            <a:srgbClr val="1E3060"/>
          </a:solidFill>
          <a:ln w="12700">
            <a:solidFill>
              <a:srgbClr val="028090"/>
            </a:solidFill>
            <a:prstDash val="solid"/>
          </a:ln>
          <a:effectLst>
            <a:outerShdw blurRad="101600" dist="38100" dir="8100000" algn="bl" rotWithShape="0">
              <a:srgbClr val="000000">
                <a:alpha val="12000"/>
              </a:srgbClr>
            </a:outerShdw>
          </a:effectLst>
        </p:spPr>
      </p:sp>
      <p:pic>
        <p:nvPicPr>
          <p:cNvPr id="17" name="Image 3" descr="preencoded.png"/>
          <p:cNvPicPr>
            <a:picLocks noChangeAspect="1"/>
          </p:cNvPicPr>
          <p:nvPr/>
        </p:nvPicPr>
        <p:blipFill>
          <a:blip r:embed="rId6"/>
          <a:stretch>
            <a:fillRect/>
          </a:stretch>
        </p:blipFill>
        <p:spPr>
          <a:xfrm>
            <a:off x="4846320" y="2944368"/>
            <a:ext cx="420624" cy="420624"/>
          </a:xfrm>
          <a:prstGeom prst="rect">
            <a:avLst/>
          </a:prstGeom>
        </p:spPr>
      </p:pic>
      <p:sp>
        <p:nvSpPr>
          <p:cNvPr id="18" name="Text 12"/>
          <p:cNvSpPr/>
          <p:nvPr/>
        </p:nvSpPr>
        <p:spPr>
          <a:xfrm>
            <a:off x="5367528" y="2907792"/>
            <a:ext cx="3273552" cy="420624"/>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Azure DevOps is a full platform</a:t>
            </a:r>
            <a:endParaRPr lang="en-US" sz="1400" dirty="0"/>
          </a:p>
        </p:txBody>
      </p:sp>
      <p:sp>
        <p:nvSpPr>
          <p:cNvPr id="19" name="Text 13"/>
          <p:cNvSpPr/>
          <p:nvPr/>
        </p:nvSpPr>
        <p:spPr>
          <a:xfrm>
            <a:off x="4846320" y="3419856"/>
            <a:ext cx="3794760" cy="1024128"/>
          </a:xfrm>
          <a:prstGeom prst="rect">
            <a:avLst/>
          </a:prstGeom>
          <a:noFill/>
          <a:ln/>
        </p:spPr>
        <p:txBody>
          <a:bodyPr wrap="square" rtlCol="0" anchor="ctr"/>
          <a:lstStyle/>
          <a:p>
            <a:pPr marL="0" indent="0">
              <a:buNone/>
            </a:pPr>
            <a:r>
              <a:rPr lang="en-US" sz="1200" dirty="0">
                <a:solidFill>
                  <a:srgbClr val="C8DCFC"/>
                </a:solidFill>
                <a:latin typeface="Calibri" pitchFamily="34" charset="0"/>
                <a:ea typeface="Calibri" pitchFamily="34" charset="-122"/>
                <a:cs typeface="Calibri" pitchFamily="34" charset="-120"/>
              </a:rPr>
              <a:t>Azure Repos is one of five services. It uses standard Git commands — the only difference is the remote URL. Azure adds security, CI/CD, and team management on top.</a:t>
            </a:r>
            <a:endParaRPr lang="en-US" sz="1200" dirty="0"/>
          </a:p>
        </p:txBody>
      </p:sp>
      <p:sp>
        <p:nvSpPr>
          <p:cNvPr id="20" name="Text 14"/>
          <p:cNvSpPr/>
          <p:nvPr/>
        </p:nvSpPr>
        <p:spPr>
          <a:xfrm>
            <a:off x="411480" y="4773168"/>
            <a:ext cx="8321040" cy="274320"/>
          </a:xfrm>
          <a:prstGeom prst="rect">
            <a:avLst/>
          </a:prstGeom>
          <a:noFill/>
          <a:ln/>
        </p:spPr>
        <p:txBody>
          <a:bodyPr wrap="square" rtlCol="0" anchor="ctr"/>
          <a:lstStyle/>
          <a:p>
            <a:pPr marL="0" indent="0" algn="ctr">
              <a:buNone/>
            </a:pPr>
            <a:r>
              <a:rPr lang="en-US" sz="1300" b="1" dirty="0">
                <a:solidFill>
                  <a:srgbClr val="6677AA"/>
                </a:solidFill>
                <a:latin typeface="Calibri" pitchFamily="34" charset="0"/>
                <a:ea typeface="Calibri" pitchFamily="34" charset="-122"/>
                <a:cs typeface="Calibri" pitchFamily="34" charset="-120"/>
              </a:rPr>
              <a:t>Thank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381</TotalTime>
  <Words>2935</Words>
  <Application>Microsoft Office PowerPoint</Application>
  <PresentationFormat>On-screen Show (16:9)</PresentationFormat>
  <Paragraphs>324</Paragraphs>
  <Slides>26</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Fundamentals &amp; Azure DevOps</dc:title>
  <dc:subject>PptxGenJS Presentation</dc:subject>
  <dc:creator>PptxGenJS</dc:creator>
  <cp:lastModifiedBy>Kamogelo  Sekhaolelo (Lubanzi Automation Academy)</cp:lastModifiedBy>
  <cp:revision>4</cp:revision>
  <dcterms:created xsi:type="dcterms:W3CDTF">2026-05-28T12:22:38Z</dcterms:created>
  <dcterms:modified xsi:type="dcterms:W3CDTF">2026-06-01T10:47:42Z</dcterms:modified>
</cp:coreProperties>
</file>