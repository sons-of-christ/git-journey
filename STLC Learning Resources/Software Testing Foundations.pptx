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2936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with interns. Reassure them we start from the very basics — no prior experience assumed. Encourage questions at any time. Today covers both theory and hands-on practice.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why it matters, and what happens when it's skipped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like being a detective — your job is to find problems BEFORE the end user does. Use the car factory analogy: you don't sell a car without test-driving it first. Verification = building the product right. Validation = building the right product.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real numbers and examples drive home the importance of testing. Use the NASA story — engineers used different units and lost a spacecraft worth hundreds of millions. Testing is not optional; it is a professional responsibility.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the two lifecycles and how they work together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SDLC is the big picture — the entire journey from idea to product. The STLC is a subset focused on testing activities. Think of it this way: SDLC is building a house from scratch. STLC is the quality inspection process — checking every wall, window, and door before handover.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deep dive into all 6 phases — activities, deliverables &amp; examples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overview shows the 6 phases of STLC in sequence. Testing is NOT just clicking around — it follows a disciplined process.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Analysis is where testing STARTS. Before writing a single test case, testers must deeply understand what the application is supposed to 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Plan answers: What are we testing? How? When? Who? With what tools (Selenium, Playwright, Eclipse, IntelliJ)? What are the risks?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cases must cover BOTH happy paths AND what happens when things go wrong. Great testers try to BREAK the application with invalid, unexpected, or extreme inputs.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test environment like a kitchen where you practice cooking before serving at a restaurant. You need the right equipment — including Selenium for web automation, Playwright for cross-browser, Eclipse or IntelliJ as your 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execution is what most people think of as 'testing' — but by now interns know it's just one of six phases! Document EVERYTHING. If you found a bug but didn't log it, it doesn't exist.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Closure is often skipped but incredibly valuable. Lessons learned feed into the next project. The Test Summary Report is what management reads to gain confidence the product is ready to ship.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overview of testing types every beginner must know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car test drive checks brakes, windows, engine. A non-functional test checks speed, crash safety, comfort. Both are essential.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beginners, manual testing is the foundation. You cannot automate what you don't understand manually. At Lubanzi we use Selenium and Playwright for automation within Eclipse and IntelliJ.</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critical practical skill for every software tester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poorly written test case is almost useless. If you write 'Test the login page', what does PASS look like? A test case must have crystal-clear expected results.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field. Expected Result is written BEFORE execution, not after! Status is recorded DURING execution.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interns: What other login scenarios could we test? Locked account, empty fields, SQL injection, special characters, max length, remember me checkbox.</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TC_REG_002 is a negative test — it checks the system rejects duplicate emails. Ask: what if someone uses the same email with different casing? That's another test case — critical thinking in action.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Identifying, reporting, and tracking defects like a professional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means the tester has VERIFIED the fix works — not just taken the developer's word for it. Always retest!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 set by the TESTER (technical impact). Priority = set by the PRODUCT OWNER (business impact). They are independent!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bug report allows ANY developer to reproduce the issue without asking questions. Always include screenshots, exact steps, environment details, and clear expected vs actual results.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where and how testing happens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restaurant kitchen analogy. DEV = chef's home kitchen. QA = professional test kitchen. UAT = soft-opening preview. PROD = fully open restaurant. You don't change the menu during service without a process!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what you've learned with a real mini project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interns 30 minutes. Walk around and help those who are stuck. After the exercise, pick 2-3 intern examples and discuss as a group — what was good? What could be improved?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we use at Lubanzi every day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Selenium is the established standard — most legacy projects use it. Playwright is the modern choice — faster and more reliable, especially for newer projects. At Lubanzi interns start by understanding both, then get hands-on with one in their first sprint.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IDEs are used at Lubanzi. Eclipse tends to be used in Java-heavy Selenium projects while IntelliJ is favoured for Playwright and modern Java projects. As an intern, being comfortable in both gives you a huge advantage. Start with whichever your team lead recommends.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habits and attitudes that make a great QA engineer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testers are curious, detail-oriented, and excellent communicators. They build bridges between developers and business. Encourage interns to develop these habits from day one.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list and pin it to every new tester's desk! These questions become second nature to experienced testers. The automation question is especially relevant at Lubanzi — always think: could Playwright or Selenium run this for us?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interns to share one thing that surprised them today — active recall reinforces learning. Then do a quick show of hands: 'Who feels confident they can write a test case right now?' Use confidence levels to identify areas for follow-up coaching.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this analogy — it ties everything together. No one would buy a car that hadn't been inspected. Software users deserve the same confidence. We are the quality gatekeepers.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Presentation Agenda</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What we'll cover in this training session</a:t>
            </a:r>
            <a:endParaRPr lang="en-US" sz="1200" dirty="0"/>
          </a:p>
        </p:txBody>
      </p:sp>
      <p:sp>
        <p:nvSpPr>
          <p:cNvPr id="6" name="Shape 3"/>
          <p:cNvSpPr/>
          <p:nvPr/>
        </p:nvSpPr>
        <p:spPr>
          <a:xfrm>
            <a:off x="228600" y="1234440"/>
            <a:ext cx="1627632" cy="1536192"/>
          </a:xfrm>
          <a:prstGeom prst="rect">
            <a:avLst/>
          </a:prstGeom>
          <a:solidFill>
            <a:srgbClr val="E8670D"/>
          </a:solidFill>
          <a:ln/>
          <a:effectLst>
            <a:outerShdw blurRad="127000" dist="38100" dir="8100000" algn="bl" rotWithShape="0">
              <a:srgbClr val="000000">
                <a:alpha val="25000"/>
              </a:srgbClr>
            </a:outerShdw>
          </a:effectLst>
        </p:spPr>
      </p:sp>
      <p:sp>
        <p:nvSpPr>
          <p:cNvPr id="7" name="Text 4"/>
          <p:cNvSpPr/>
          <p:nvPr/>
        </p:nvSpPr>
        <p:spPr>
          <a:xfrm>
            <a:off x="228600" y="1344168"/>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8" name="Text 5"/>
          <p:cNvSpPr/>
          <p:nvPr/>
        </p:nvSpPr>
        <p:spPr>
          <a:xfrm>
            <a:off x="228600" y="1892808"/>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Intro to Testing</a:t>
            </a:r>
            <a:endParaRPr lang="en-US" sz="1000" dirty="0"/>
          </a:p>
        </p:txBody>
      </p:sp>
      <p:sp>
        <p:nvSpPr>
          <p:cNvPr id="9" name="Shape 6"/>
          <p:cNvSpPr/>
          <p:nvPr/>
        </p:nvSpPr>
        <p:spPr>
          <a:xfrm>
            <a:off x="1984248" y="1234440"/>
            <a:ext cx="1627632" cy="1536192"/>
          </a:xfrm>
          <a:prstGeom prst="rect">
            <a:avLst/>
          </a:prstGeom>
          <a:solidFill>
            <a:srgbClr val="1E1E1E"/>
          </a:solidFill>
          <a:ln/>
          <a:effectLst>
            <a:outerShdw blurRad="127000" dist="38100" dir="8100000" algn="bl" rotWithShape="0">
              <a:srgbClr val="000000">
                <a:alpha val="25000"/>
              </a:srgbClr>
            </a:outerShdw>
          </a:effectLst>
        </p:spPr>
      </p:sp>
      <p:sp>
        <p:nvSpPr>
          <p:cNvPr id="10" name="Text 7"/>
          <p:cNvSpPr/>
          <p:nvPr/>
        </p:nvSpPr>
        <p:spPr>
          <a:xfrm>
            <a:off x="1984248" y="1344168"/>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1" name="Text 8"/>
          <p:cNvSpPr/>
          <p:nvPr/>
        </p:nvSpPr>
        <p:spPr>
          <a:xfrm>
            <a:off x="1984248" y="1892808"/>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SDLC vs STLC</a:t>
            </a:r>
            <a:endParaRPr lang="en-US" sz="1000" dirty="0"/>
          </a:p>
        </p:txBody>
      </p:sp>
      <p:sp>
        <p:nvSpPr>
          <p:cNvPr id="12" name="Shape 9"/>
          <p:cNvSpPr/>
          <p:nvPr/>
        </p:nvSpPr>
        <p:spPr>
          <a:xfrm>
            <a:off x="3739896" y="1234440"/>
            <a:ext cx="1627632" cy="1536192"/>
          </a:xfrm>
          <a:prstGeom prst="rect">
            <a:avLst/>
          </a:prstGeom>
          <a:solidFill>
            <a:srgbClr val="E8670D"/>
          </a:solidFill>
          <a:ln/>
          <a:effectLst>
            <a:outerShdw blurRad="127000" dist="38100" dir="8100000" algn="bl" rotWithShape="0">
              <a:srgbClr val="000000">
                <a:alpha val="25000"/>
              </a:srgbClr>
            </a:outerShdw>
          </a:effectLst>
        </p:spPr>
      </p:sp>
      <p:sp>
        <p:nvSpPr>
          <p:cNvPr id="13" name="Text 10"/>
          <p:cNvSpPr/>
          <p:nvPr/>
        </p:nvSpPr>
        <p:spPr>
          <a:xfrm>
            <a:off x="3739896" y="1344168"/>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4" name="Text 11"/>
          <p:cNvSpPr/>
          <p:nvPr/>
        </p:nvSpPr>
        <p:spPr>
          <a:xfrm>
            <a:off x="3739896" y="1892808"/>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STLC Deep Dive</a:t>
            </a:r>
            <a:endParaRPr lang="en-US" sz="1000" dirty="0"/>
          </a:p>
        </p:txBody>
      </p:sp>
      <p:sp>
        <p:nvSpPr>
          <p:cNvPr id="15" name="Shape 12"/>
          <p:cNvSpPr/>
          <p:nvPr/>
        </p:nvSpPr>
        <p:spPr>
          <a:xfrm>
            <a:off x="5495544" y="1234440"/>
            <a:ext cx="1627632" cy="1536192"/>
          </a:xfrm>
          <a:prstGeom prst="rect">
            <a:avLst/>
          </a:prstGeom>
          <a:solidFill>
            <a:srgbClr val="1E1E1E"/>
          </a:solidFill>
          <a:ln/>
          <a:effectLst>
            <a:outerShdw blurRad="127000" dist="38100" dir="8100000" algn="bl" rotWithShape="0">
              <a:srgbClr val="000000">
                <a:alpha val="25000"/>
              </a:srgbClr>
            </a:outerShdw>
          </a:effectLst>
        </p:spPr>
      </p:sp>
      <p:sp>
        <p:nvSpPr>
          <p:cNvPr id="16" name="Text 13"/>
          <p:cNvSpPr/>
          <p:nvPr/>
        </p:nvSpPr>
        <p:spPr>
          <a:xfrm>
            <a:off x="5495544" y="1344168"/>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17" name="Text 14"/>
          <p:cNvSpPr/>
          <p:nvPr/>
        </p:nvSpPr>
        <p:spPr>
          <a:xfrm>
            <a:off x="5495544" y="1892808"/>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Types of Testing</a:t>
            </a:r>
            <a:endParaRPr lang="en-US" sz="1000" dirty="0"/>
          </a:p>
        </p:txBody>
      </p:sp>
      <p:sp>
        <p:nvSpPr>
          <p:cNvPr id="18" name="Shape 15"/>
          <p:cNvSpPr/>
          <p:nvPr/>
        </p:nvSpPr>
        <p:spPr>
          <a:xfrm>
            <a:off x="7251192" y="1234440"/>
            <a:ext cx="1627632" cy="1536192"/>
          </a:xfrm>
          <a:prstGeom prst="rect">
            <a:avLst/>
          </a:prstGeom>
          <a:solidFill>
            <a:srgbClr val="E8670D"/>
          </a:solidFill>
          <a:ln/>
          <a:effectLst>
            <a:outerShdw blurRad="127000" dist="38100" dir="8100000" algn="bl" rotWithShape="0">
              <a:srgbClr val="000000">
                <a:alpha val="25000"/>
              </a:srgbClr>
            </a:outerShdw>
          </a:effectLst>
        </p:spPr>
      </p:sp>
      <p:sp>
        <p:nvSpPr>
          <p:cNvPr id="19" name="Text 16"/>
          <p:cNvSpPr/>
          <p:nvPr/>
        </p:nvSpPr>
        <p:spPr>
          <a:xfrm>
            <a:off x="7251192" y="1344168"/>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05</a:t>
            </a:r>
            <a:endParaRPr lang="en-US" sz="2200" dirty="0"/>
          </a:p>
        </p:txBody>
      </p:sp>
      <p:sp>
        <p:nvSpPr>
          <p:cNvPr id="20" name="Text 17"/>
          <p:cNvSpPr/>
          <p:nvPr/>
        </p:nvSpPr>
        <p:spPr>
          <a:xfrm>
            <a:off x="7251192" y="1892808"/>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Writing Test Cases</a:t>
            </a:r>
            <a:endParaRPr lang="en-US" sz="1000" dirty="0"/>
          </a:p>
        </p:txBody>
      </p:sp>
      <p:sp>
        <p:nvSpPr>
          <p:cNvPr id="21" name="Shape 18"/>
          <p:cNvSpPr/>
          <p:nvPr/>
        </p:nvSpPr>
        <p:spPr>
          <a:xfrm>
            <a:off x="228600" y="2953512"/>
            <a:ext cx="1627632" cy="1536192"/>
          </a:xfrm>
          <a:prstGeom prst="rect">
            <a:avLst/>
          </a:prstGeom>
          <a:solidFill>
            <a:srgbClr val="1E1E1E"/>
          </a:solidFill>
          <a:ln/>
          <a:effectLst>
            <a:outerShdw blurRad="127000" dist="38100" dir="8100000" algn="bl" rotWithShape="0">
              <a:srgbClr val="000000">
                <a:alpha val="25000"/>
              </a:srgbClr>
            </a:outerShdw>
          </a:effectLst>
        </p:spPr>
      </p:sp>
      <p:sp>
        <p:nvSpPr>
          <p:cNvPr id="22" name="Text 19"/>
          <p:cNvSpPr/>
          <p:nvPr/>
        </p:nvSpPr>
        <p:spPr>
          <a:xfrm>
            <a:off x="228600" y="3063240"/>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06</a:t>
            </a:r>
            <a:endParaRPr lang="en-US" sz="2200" dirty="0"/>
          </a:p>
        </p:txBody>
      </p:sp>
      <p:sp>
        <p:nvSpPr>
          <p:cNvPr id="23" name="Text 20"/>
          <p:cNvSpPr/>
          <p:nvPr/>
        </p:nvSpPr>
        <p:spPr>
          <a:xfrm>
            <a:off x="228600" y="3611880"/>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Bug Management</a:t>
            </a:r>
            <a:endParaRPr lang="en-US" sz="1000" dirty="0"/>
          </a:p>
        </p:txBody>
      </p:sp>
      <p:sp>
        <p:nvSpPr>
          <p:cNvPr id="24" name="Shape 21"/>
          <p:cNvSpPr/>
          <p:nvPr/>
        </p:nvSpPr>
        <p:spPr>
          <a:xfrm>
            <a:off x="1984248" y="2953512"/>
            <a:ext cx="1627632" cy="1536192"/>
          </a:xfrm>
          <a:prstGeom prst="rect">
            <a:avLst/>
          </a:prstGeom>
          <a:solidFill>
            <a:srgbClr val="E8670D"/>
          </a:solidFill>
          <a:ln/>
          <a:effectLst>
            <a:outerShdw blurRad="127000" dist="38100" dir="8100000" algn="bl" rotWithShape="0">
              <a:srgbClr val="000000">
                <a:alpha val="25000"/>
              </a:srgbClr>
            </a:outerShdw>
          </a:effectLst>
        </p:spPr>
      </p:sp>
      <p:sp>
        <p:nvSpPr>
          <p:cNvPr id="25" name="Text 22"/>
          <p:cNvSpPr/>
          <p:nvPr/>
        </p:nvSpPr>
        <p:spPr>
          <a:xfrm>
            <a:off x="1984248" y="3063240"/>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07</a:t>
            </a:r>
            <a:endParaRPr lang="en-US" sz="2200" dirty="0"/>
          </a:p>
        </p:txBody>
      </p:sp>
      <p:sp>
        <p:nvSpPr>
          <p:cNvPr id="26" name="Text 23"/>
          <p:cNvSpPr/>
          <p:nvPr/>
        </p:nvSpPr>
        <p:spPr>
          <a:xfrm>
            <a:off x="1984248" y="3611880"/>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Test Environments</a:t>
            </a:r>
            <a:endParaRPr lang="en-US" sz="1000" dirty="0"/>
          </a:p>
        </p:txBody>
      </p:sp>
      <p:sp>
        <p:nvSpPr>
          <p:cNvPr id="27" name="Shape 24"/>
          <p:cNvSpPr/>
          <p:nvPr/>
        </p:nvSpPr>
        <p:spPr>
          <a:xfrm>
            <a:off x="3739896" y="2953512"/>
            <a:ext cx="1627632" cy="1536192"/>
          </a:xfrm>
          <a:prstGeom prst="rect">
            <a:avLst/>
          </a:prstGeom>
          <a:solidFill>
            <a:srgbClr val="1E1E1E"/>
          </a:solidFill>
          <a:ln/>
          <a:effectLst>
            <a:outerShdw blurRad="127000" dist="38100" dir="8100000" algn="bl" rotWithShape="0">
              <a:srgbClr val="000000">
                <a:alpha val="25000"/>
              </a:srgbClr>
            </a:outerShdw>
          </a:effectLst>
        </p:spPr>
      </p:sp>
      <p:sp>
        <p:nvSpPr>
          <p:cNvPr id="28" name="Text 25"/>
          <p:cNvSpPr/>
          <p:nvPr/>
        </p:nvSpPr>
        <p:spPr>
          <a:xfrm>
            <a:off x="3739896" y="3063240"/>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08</a:t>
            </a:r>
            <a:endParaRPr lang="en-US" sz="2200" dirty="0"/>
          </a:p>
        </p:txBody>
      </p:sp>
      <p:sp>
        <p:nvSpPr>
          <p:cNvPr id="29" name="Text 26"/>
          <p:cNvSpPr/>
          <p:nvPr/>
        </p:nvSpPr>
        <p:spPr>
          <a:xfrm>
            <a:off x="3739896" y="3611880"/>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Hands-On Practice</a:t>
            </a:r>
            <a:endParaRPr lang="en-US" sz="1000" dirty="0"/>
          </a:p>
        </p:txBody>
      </p:sp>
      <p:sp>
        <p:nvSpPr>
          <p:cNvPr id="30" name="Shape 27"/>
          <p:cNvSpPr/>
          <p:nvPr/>
        </p:nvSpPr>
        <p:spPr>
          <a:xfrm>
            <a:off x="5495544" y="2953512"/>
            <a:ext cx="1627632" cy="1536192"/>
          </a:xfrm>
          <a:prstGeom prst="rect">
            <a:avLst/>
          </a:prstGeom>
          <a:solidFill>
            <a:srgbClr val="E8670D"/>
          </a:solidFill>
          <a:ln/>
          <a:effectLst>
            <a:outerShdw blurRad="127000" dist="38100" dir="8100000" algn="bl" rotWithShape="0">
              <a:srgbClr val="000000">
                <a:alpha val="25000"/>
              </a:srgbClr>
            </a:outerShdw>
          </a:effectLst>
        </p:spPr>
      </p:sp>
      <p:sp>
        <p:nvSpPr>
          <p:cNvPr id="31" name="Text 28"/>
          <p:cNvSpPr/>
          <p:nvPr/>
        </p:nvSpPr>
        <p:spPr>
          <a:xfrm>
            <a:off x="5495544" y="3063240"/>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09</a:t>
            </a:r>
            <a:endParaRPr lang="en-US" sz="2200" dirty="0"/>
          </a:p>
        </p:txBody>
      </p:sp>
      <p:sp>
        <p:nvSpPr>
          <p:cNvPr id="32" name="Text 29"/>
          <p:cNvSpPr/>
          <p:nvPr/>
        </p:nvSpPr>
        <p:spPr>
          <a:xfrm>
            <a:off x="5495544" y="3611880"/>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Tools Overview</a:t>
            </a:r>
            <a:endParaRPr lang="en-US" sz="1000" dirty="0"/>
          </a:p>
        </p:txBody>
      </p:sp>
      <p:sp>
        <p:nvSpPr>
          <p:cNvPr id="33" name="Shape 30"/>
          <p:cNvSpPr/>
          <p:nvPr/>
        </p:nvSpPr>
        <p:spPr>
          <a:xfrm>
            <a:off x="7251192" y="2953512"/>
            <a:ext cx="1627632" cy="1536192"/>
          </a:xfrm>
          <a:prstGeom prst="rect">
            <a:avLst/>
          </a:prstGeom>
          <a:solidFill>
            <a:srgbClr val="1E1E1E"/>
          </a:solidFill>
          <a:ln/>
          <a:effectLst>
            <a:outerShdw blurRad="127000" dist="38100" dir="8100000" algn="bl" rotWithShape="0">
              <a:srgbClr val="000000">
                <a:alpha val="25000"/>
              </a:srgbClr>
            </a:outerShdw>
          </a:effectLst>
        </p:spPr>
      </p:sp>
      <p:sp>
        <p:nvSpPr>
          <p:cNvPr id="34" name="Text 31"/>
          <p:cNvSpPr/>
          <p:nvPr/>
        </p:nvSpPr>
        <p:spPr>
          <a:xfrm>
            <a:off x="7251192" y="3063240"/>
            <a:ext cx="1627632"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a:t>
            </a:r>
            <a:endParaRPr lang="en-US" sz="2200" dirty="0"/>
          </a:p>
        </p:txBody>
      </p:sp>
      <p:sp>
        <p:nvSpPr>
          <p:cNvPr id="35" name="Text 32"/>
          <p:cNvSpPr/>
          <p:nvPr/>
        </p:nvSpPr>
        <p:spPr>
          <a:xfrm>
            <a:off x="7251192" y="3611880"/>
            <a:ext cx="1627632" cy="7498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Mindset &amp; Recap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01</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Introduction to Software Testing</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What it is, why it matters, and what happens when it's skipped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What is Software Testing?</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The art and science of finding problems before your users do</a:t>
            </a:r>
            <a:endParaRPr lang="en-US" sz="1200" dirty="0"/>
          </a:p>
        </p:txBody>
      </p:sp>
      <p:sp>
        <p:nvSpPr>
          <p:cNvPr id="6" name="Shape 3"/>
          <p:cNvSpPr/>
          <p:nvPr/>
        </p:nvSpPr>
        <p:spPr>
          <a:xfrm>
            <a:off x="274320" y="1024128"/>
            <a:ext cx="8595360" cy="777240"/>
          </a:xfrm>
          <a:prstGeom prst="rect">
            <a:avLst/>
          </a:prstGeom>
          <a:solidFill>
            <a:srgbClr val="E8670D"/>
          </a:solidFill>
          <a:ln/>
          <a:effectLst>
            <a:outerShdw blurRad="127000" dist="38100" dir="8100000" algn="bl" rotWithShape="0">
              <a:srgbClr val="000000">
                <a:alpha val="25000"/>
              </a:srgbClr>
            </a:outerShdw>
          </a:effectLst>
        </p:spPr>
      </p:sp>
      <p:sp>
        <p:nvSpPr>
          <p:cNvPr id="7" name="Text 4"/>
          <p:cNvSpPr/>
          <p:nvPr/>
        </p:nvSpPr>
        <p:spPr>
          <a:xfrm>
            <a:off x="457200" y="1069848"/>
            <a:ext cx="8229600" cy="685800"/>
          </a:xfrm>
          <a:prstGeom prst="rect">
            <a:avLst/>
          </a:prstGeom>
          <a:noFill/>
          <a:ln/>
        </p:spPr>
        <p:txBody>
          <a:bodyPr wrap="square"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Software Testing is the process of evaluating and verifying that software does what it is supposed to do — and does NOT do what it shouldn't.</a:t>
            </a:r>
            <a:endParaRPr lang="en-US" sz="1350" dirty="0"/>
          </a:p>
        </p:txBody>
      </p:sp>
      <p:sp>
        <p:nvSpPr>
          <p:cNvPr id="8" name="Shape 5"/>
          <p:cNvSpPr/>
          <p:nvPr/>
        </p:nvSpPr>
        <p:spPr>
          <a:xfrm>
            <a:off x="274320" y="1938528"/>
            <a:ext cx="2651760" cy="2926080"/>
          </a:xfrm>
          <a:prstGeom prst="rect">
            <a:avLst/>
          </a:prstGeom>
          <a:solidFill>
            <a:srgbClr val="FFFFFF"/>
          </a:solidFill>
          <a:ln/>
          <a:effectLst>
            <a:outerShdw blurRad="127000" dist="38100" dir="8100000" algn="bl" rotWithShape="0">
              <a:srgbClr val="000000">
                <a:alpha val="25000"/>
              </a:srgbClr>
            </a:outerShdw>
          </a:effectLst>
        </p:spPr>
      </p:sp>
      <p:sp>
        <p:nvSpPr>
          <p:cNvPr id="9" name="Shape 6"/>
          <p:cNvSpPr/>
          <p:nvPr/>
        </p:nvSpPr>
        <p:spPr>
          <a:xfrm>
            <a:off x="274320" y="1938528"/>
            <a:ext cx="2651760" cy="347472"/>
          </a:xfrm>
          <a:prstGeom prst="rect">
            <a:avLst/>
          </a:prstGeom>
          <a:solidFill>
            <a:srgbClr val="E8670D"/>
          </a:solidFill>
          <a:ln/>
        </p:spPr>
      </p:sp>
      <p:sp>
        <p:nvSpPr>
          <p:cNvPr id="10" name="Text 7"/>
          <p:cNvSpPr/>
          <p:nvPr/>
        </p:nvSpPr>
        <p:spPr>
          <a:xfrm>
            <a:off x="384048" y="1975104"/>
            <a:ext cx="243230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Verification</a:t>
            </a:r>
            <a:endParaRPr lang="en-US" sz="1150" dirty="0"/>
          </a:p>
        </p:txBody>
      </p:sp>
      <p:sp>
        <p:nvSpPr>
          <p:cNvPr id="11" name="Text 8"/>
          <p:cNvSpPr/>
          <p:nvPr/>
        </p:nvSpPr>
        <p:spPr>
          <a:xfrm>
            <a:off x="411480" y="2340864"/>
            <a:ext cx="2377440" cy="245059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Does the software work correctly?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Are all requirements implemented?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Do functions produce correct output?</a:t>
            </a:r>
            <a:endParaRPr lang="en-US" sz="1050" dirty="0"/>
          </a:p>
        </p:txBody>
      </p:sp>
      <p:sp>
        <p:nvSpPr>
          <p:cNvPr id="12" name="Shape 9"/>
          <p:cNvSpPr/>
          <p:nvPr/>
        </p:nvSpPr>
        <p:spPr>
          <a:xfrm>
            <a:off x="3154680" y="1938528"/>
            <a:ext cx="2651760" cy="2926080"/>
          </a:xfrm>
          <a:prstGeom prst="rect">
            <a:avLst/>
          </a:prstGeom>
          <a:solidFill>
            <a:srgbClr val="FFFFFF"/>
          </a:solidFill>
          <a:ln/>
          <a:effectLst>
            <a:outerShdw blurRad="127000" dist="38100" dir="8100000" algn="bl" rotWithShape="0">
              <a:srgbClr val="000000">
                <a:alpha val="25000"/>
              </a:srgbClr>
            </a:outerShdw>
          </a:effectLst>
        </p:spPr>
      </p:sp>
      <p:sp>
        <p:nvSpPr>
          <p:cNvPr id="13" name="Shape 10"/>
          <p:cNvSpPr/>
          <p:nvPr/>
        </p:nvSpPr>
        <p:spPr>
          <a:xfrm>
            <a:off x="3154680" y="1938528"/>
            <a:ext cx="2651760" cy="347472"/>
          </a:xfrm>
          <a:prstGeom prst="rect">
            <a:avLst/>
          </a:prstGeom>
          <a:solidFill>
            <a:srgbClr val="1E1E1E"/>
          </a:solidFill>
          <a:ln/>
        </p:spPr>
      </p:sp>
      <p:sp>
        <p:nvSpPr>
          <p:cNvPr id="14" name="Text 11"/>
          <p:cNvSpPr/>
          <p:nvPr/>
        </p:nvSpPr>
        <p:spPr>
          <a:xfrm>
            <a:off x="3264408" y="1975104"/>
            <a:ext cx="243230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Validation</a:t>
            </a:r>
            <a:endParaRPr lang="en-US" sz="1150" dirty="0"/>
          </a:p>
        </p:txBody>
      </p:sp>
      <p:sp>
        <p:nvSpPr>
          <p:cNvPr id="15" name="Text 12"/>
          <p:cNvSpPr/>
          <p:nvPr/>
        </p:nvSpPr>
        <p:spPr>
          <a:xfrm>
            <a:off x="3291840" y="2340864"/>
            <a:ext cx="2377440" cy="245059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Does it meet user expectations?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Is it fit for purpose?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Would the customer accept it?</a:t>
            </a:r>
            <a:endParaRPr lang="en-US" sz="1050" dirty="0"/>
          </a:p>
        </p:txBody>
      </p:sp>
      <p:sp>
        <p:nvSpPr>
          <p:cNvPr id="16" name="Shape 13"/>
          <p:cNvSpPr/>
          <p:nvPr/>
        </p:nvSpPr>
        <p:spPr>
          <a:xfrm>
            <a:off x="6035040" y="1938528"/>
            <a:ext cx="2834640" cy="2926080"/>
          </a:xfrm>
          <a:prstGeom prst="rect">
            <a:avLst/>
          </a:prstGeom>
          <a:solidFill>
            <a:srgbClr val="FFFFFF"/>
          </a:solidFill>
          <a:ln/>
          <a:effectLst>
            <a:outerShdw blurRad="127000" dist="38100" dir="8100000" algn="bl" rotWithShape="0">
              <a:srgbClr val="000000">
                <a:alpha val="25000"/>
              </a:srgbClr>
            </a:outerShdw>
          </a:effectLst>
        </p:spPr>
      </p:sp>
      <p:sp>
        <p:nvSpPr>
          <p:cNvPr id="17" name="Shape 14"/>
          <p:cNvSpPr/>
          <p:nvPr/>
        </p:nvSpPr>
        <p:spPr>
          <a:xfrm>
            <a:off x="6035040" y="1938528"/>
            <a:ext cx="2834640" cy="347472"/>
          </a:xfrm>
          <a:prstGeom prst="rect">
            <a:avLst/>
          </a:prstGeom>
          <a:solidFill>
            <a:srgbClr val="555555"/>
          </a:solidFill>
          <a:ln/>
        </p:spPr>
      </p:sp>
      <p:sp>
        <p:nvSpPr>
          <p:cNvPr id="18" name="Text 15"/>
          <p:cNvSpPr/>
          <p:nvPr/>
        </p:nvSpPr>
        <p:spPr>
          <a:xfrm>
            <a:off x="6144768" y="1975104"/>
            <a:ext cx="261518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Quality Assurance</a:t>
            </a:r>
            <a:endParaRPr lang="en-US" sz="1150" dirty="0"/>
          </a:p>
        </p:txBody>
      </p:sp>
      <p:sp>
        <p:nvSpPr>
          <p:cNvPr id="19" name="Text 16"/>
          <p:cNvSpPr/>
          <p:nvPr/>
        </p:nvSpPr>
        <p:spPr>
          <a:xfrm>
            <a:off x="6172200" y="2340864"/>
            <a:ext cx="2560320" cy="245059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Prevent defects early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Improve processes over time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Build confidence in the product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Why is Testing Important?</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The real-world cost of skipping quality checks</a:t>
            </a:r>
            <a:endParaRPr lang="en-US" sz="1200" dirty="0"/>
          </a:p>
        </p:txBody>
      </p:sp>
      <p:sp>
        <p:nvSpPr>
          <p:cNvPr id="6" name="Shape 3"/>
          <p:cNvSpPr/>
          <p:nvPr/>
        </p:nvSpPr>
        <p:spPr>
          <a:xfrm>
            <a:off x="274320" y="1005840"/>
            <a:ext cx="2743200" cy="1371600"/>
          </a:xfrm>
          <a:prstGeom prst="rect">
            <a:avLst/>
          </a:prstGeom>
          <a:solidFill>
            <a:srgbClr val="111111"/>
          </a:solidFill>
          <a:ln/>
          <a:effectLst>
            <a:outerShdw blurRad="127000" dist="38100" dir="8100000" algn="bl" rotWithShape="0">
              <a:srgbClr val="000000">
                <a:alpha val="25000"/>
              </a:srgbClr>
            </a:outerShdw>
          </a:effectLst>
        </p:spPr>
      </p:sp>
      <p:sp>
        <p:nvSpPr>
          <p:cNvPr id="7" name="Shape 4"/>
          <p:cNvSpPr/>
          <p:nvPr/>
        </p:nvSpPr>
        <p:spPr>
          <a:xfrm>
            <a:off x="274320" y="1005840"/>
            <a:ext cx="2743200" cy="64008"/>
          </a:xfrm>
          <a:prstGeom prst="rect">
            <a:avLst/>
          </a:prstGeom>
          <a:solidFill>
            <a:srgbClr val="E8670D"/>
          </a:solidFill>
          <a:ln/>
        </p:spPr>
      </p:sp>
      <p:sp>
        <p:nvSpPr>
          <p:cNvPr id="8" name="Text 5"/>
          <p:cNvSpPr/>
          <p:nvPr/>
        </p:nvSpPr>
        <p:spPr>
          <a:xfrm>
            <a:off x="274320" y="1078992"/>
            <a:ext cx="2743200" cy="685800"/>
          </a:xfrm>
          <a:prstGeom prst="rect">
            <a:avLst/>
          </a:prstGeom>
          <a:noFill/>
          <a:ln/>
        </p:spPr>
        <p:txBody>
          <a:bodyPr wrap="square" rtlCol="0" anchor="ctr"/>
          <a:lstStyle/>
          <a:p>
            <a:pPr marL="0" indent="0" algn="ctr">
              <a:buNone/>
            </a:pPr>
            <a:r>
              <a:rPr lang="en-US" sz="3000" b="1" dirty="0">
                <a:solidFill>
                  <a:srgbClr val="E8670D"/>
                </a:solidFill>
                <a:latin typeface="Calibri" pitchFamily="34" charset="0"/>
                <a:ea typeface="Calibri" pitchFamily="34" charset="-122"/>
                <a:cs typeface="Calibri" pitchFamily="34" charset="-120"/>
              </a:rPr>
              <a:t>$2.08T</a:t>
            </a:r>
            <a:endParaRPr lang="en-US" sz="3000" dirty="0"/>
          </a:p>
        </p:txBody>
      </p:sp>
      <p:sp>
        <p:nvSpPr>
          <p:cNvPr id="9" name="Text 6"/>
          <p:cNvSpPr/>
          <p:nvPr/>
        </p:nvSpPr>
        <p:spPr>
          <a:xfrm>
            <a:off x="365760" y="1792224"/>
            <a:ext cx="2560320" cy="475488"/>
          </a:xfrm>
          <a:prstGeom prst="rect">
            <a:avLst/>
          </a:prstGeom>
          <a:noFill/>
          <a:ln/>
        </p:spPr>
        <p:txBody>
          <a:bodyPr wrap="square" rtlCol="0" anchor="ctr"/>
          <a:lstStyle/>
          <a:p>
            <a:pPr marL="0" indent="0" algn="ctr">
              <a:buNone/>
            </a:pPr>
            <a:r>
              <a:rPr lang="en-US" sz="950" dirty="0">
                <a:solidFill>
                  <a:srgbClr val="BBBBBB"/>
                </a:solidFill>
                <a:latin typeface="Calibri" pitchFamily="34" charset="0"/>
                <a:ea typeface="Calibri" pitchFamily="34" charset="-122"/>
                <a:cs typeface="Calibri" pitchFamily="34" charset="-120"/>
              </a:rPr>
              <a:t>Annual cost of poor software quality (US, 2020)</a:t>
            </a:r>
            <a:endParaRPr lang="en-US" sz="950" dirty="0"/>
          </a:p>
        </p:txBody>
      </p:sp>
      <p:sp>
        <p:nvSpPr>
          <p:cNvPr id="10" name="Shape 7"/>
          <p:cNvSpPr/>
          <p:nvPr/>
        </p:nvSpPr>
        <p:spPr>
          <a:xfrm>
            <a:off x="3200400" y="1005840"/>
            <a:ext cx="2743200" cy="1371600"/>
          </a:xfrm>
          <a:prstGeom prst="rect">
            <a:avLst/>
          </a:prstGeom>
          <a:solidFill>
            <a:srgbClr val="111111"/>
          </a:solidFill>
          <a:ln/>
          <a:effectLst>
            <a:outerShdw blurRad="127000" dist="38100" dir="8100000" algn="bl" rotWithShape="0">
              <a:srgbClr val="000000">
                <a:alpha val="25000"/>
              </a:srgbClr>
            </a:outerShdw>
          </a:effectLst>
        </p:spPr>
      </p:sp>
      <p:sp>
        <p:nvSpPr>
          <p:cNvPr id="11" name="Shape 8"/>
          <p:cNvSpPr/>
          <p:nvPr/>
        </p:nvSpPr>
        <p:spPr>
          <a:xfrm>
            <a:off x="3200400" y="1005840"/>
            <a:ext cx="2743200" cy="64008"/>
          </a:xfrm>
          <a:prstGeom prst="rect">
            <a:avLst/>
          </a:prstGeom>
          <a:solidFill>
            <a:srgbClr val="E8670D"/>
          </a:solidFill>
          <a:ln/>
        </p:spPr>
      </p:sp>
      <p:sp>
        <p:nvSpPr>
          <p:cNvPr id="12" name="Text 9"/>
          <p:cNvSpPr/>
          <p:nvPr/>
        </p:nvSpPr>
        <p:spPr>
          <a:xfrm>
            <a:off x="3200400" y="1078992"/>
            <a:ext cx="2743200" cy="685800"/>
          </a:xfrm>
          <a:prstGeom prst="rect">
            <a:avLst/>
          </a:prstGeom>
          <a:noFill/>
          <a:ln/>
        </p:spPr>
        <p:txBody>
          <a:bodyPr wrap="square" rtlCol="0" anchor="ctr"/>
          <a:lstStyle/>
          <a:p>
            <a:pPr marL="0" indent="0" algn="ctr">
              <a:buNone/>
            </a:pPr>
            <a:r>
              <a:rPr lang="en-US" sz="3000" b="1" dirty="0">
                <a:solidFill>
                  <a:srgbClr val="E8670D"/>
                </a:solidFill>
                <a:latin typeface="Calibri" pitchFamily="34" charset="0"/>
                <a:ea typeface="Calibri" pitchFamily="34" charset="-122"/>
                <a:cs typeface="Calibri" pitchFamily="34" charset="-120"/>
              </a:rPr>
              <a:t>85%</a:t>
            </a:r>
            <a:endParaRPr lang="en-US" sz="3000" dirty="0"/>
          </a:p>
        </p:txBody>
      </p:sp>
      <p:sp>
        <p:nvSpPr>
          <p:cNvPr id="13" name="Text 10"/>
          <p:cNvSpPr/>
          <p:nvPr/>
        </p:nvSpPr>
        <p:spPr>
          <a:xfrm>
            <a:off x="3291840" y="1792224"/>
            <a:ext cx="2560320" cy="475488"/>
          </a:xfrm>
          <a:prstGeom prst="rect">
            <a:avLst/>
          </a:prstGeom>
          <a:noFill/>
          <a:ln/>
        </p:spPr>
        <p:txBody>
          <a:bodyPr wrap="square" rtlCol="0" anchor="ctr"/>
          <a:lstStyle/>
          <a:p>
            <a:pPr marL="0" indent="0" algn="ctr">
              <a:buNone/>
            </a:pPr>
            <a:r>
              <a:rPr lang="en-US" sz="950" dirty="0">
                <a:solidFill>
                  <a:srgbClr val="BBBBBB"/>
                </a:solidFill>
                <a:latin typeface="Calibri" pitchFamily="34" charset="0"/>
                <a:ea typeface="Calibri" pitchFamily="34" charset="-122"/>
                <a:cs typeface="Calibri" pitchFamily="34" charset="-120"/>
              </a:rPr>
              <a:t>Of defects introduced in requirements &amp; design phases</a:t>
            </a:r>
            <a:endParaRPr lang="en-US" sz="950" dirty="0"/>
          </a:p>
        </p:txBody>
      </p:sp>
      <p:sp>
        <p:nvSpPr>
          <p:cNvPr id="14" name="Shape 11"/>
          <p:cNvSpPr/>
          <p:nvPr/>
        </p:nvSpPr>
        <p:spPr>
          <a:xfrm>
            <a:off x="6126480" y="1005840"/>
            <a:ext cx="2743200" cy="1371600"/>
          </a:xfrm>
          <a:prstGeom prst="rect">
            <a:avLst/>
          </a:prstGeom>
          <a:solidFill>
            <a:srgbClr val="111111"/>
          </a:solidFill>
          <a:ln/>
          <a:effectLst>
            <a:outerShdw blurRad="127000" dist="38100" dir="8100000" algn="bl" rotWithShape="0">
              <a:srgbClr val="000000">
                <a:alpha val="25000"/>
              </a:srgbClr>
            </a:outerShdw>
          </a:effectLst>
        </p:spPr>
      </p:sp>
      <p:sp>
        <p:nvSpPr>
          <p:cNvPr id="15" name="Shape 12"/>
          <p:cNvSpPr/>
          <p:nvPr/>
        </p:nvSpPr>
        <p:spPr>
          <a:xfrm>
            <a:off x="6126480" y="1005840"/>
            <a:ext cx="2743200" cy="64008"/>
          </a:xfrm>
          <a:prstGeom prst="rect">
            <a:avLst/>
          </a:prstGeom>
          <a:solidFill>
            <a:srgbClr val="E8670D"/>
          </a:solidFill>
          <a:ln/>
        </p:spPr>
      </p:sp>
      <p:sp>
        <p:nvSpPr>
          <p:cNvPr id="16" name="Text 13"/>
          <p:cNvSpPr/>
          <p:nvPr/>
        </p:nvSpPr>
        <p:spPr>
          <a:xfrm>
            <a:off x="6126480" y="1078992"/>
            <a:ext cx="2743200" cy="685800"/>
          </a:xfrm>
          <a:prstGeom prst="rect">
            <a:avLst/>
          </a:prstGeom>
          <a:noFill/>
          <a:ln/>
        </p:spPr>
        <p:txBody>
          <a:bodyPr wrap="square" rtlCol="0" anchor="ctr"/>
          <a:lstStyle/>
          <a:p>
            <a:pPr marL="0" indent="0" algn="ctr">
              <a:buNone/>
            </a:pPr>
            <a:r>
              <a:rPr lang="en-US" sz="3000" b="1" dirty="0">
                <a:solidFill>
                  <a:srgbClr val="E8670D"/>
                </a:solidFill>
                <a:latin typeface="Calibri" pitchFamily="34" charset="0"/>
                <a:ea typeface="Calibri" pitchFamily="34" charset="-122"/>
                <a:cs typeface="Calibri" pitchFamily="34" charset="-120"/>
              </a:rPr>
              <a:t>100x</a:t>
            </a:r>
            <a:endParaRPr lang="en-US" sz="3000" dirty="0"/>
          </a:p>
        </p:txBody>
      </p:sp>
      <p:sp>
        <p:nvSpPr>
          <p:cNvPr id="17" name="Text 14"/>
          <p:cNvSpPr/>
          <p:nvPr/>
        </p:nvSpPr>
        <p:spPr>
          <a:xfrm>
            <a:off x="6217920" y="1792224"/>
            <a:ext cx="2560320" cy="475488"/>
          </a:xfrm>
          <a:prstGeom prst="rect">
            <a:avLst/>
          </a:prstGeom>
          <a:noFill/>
          <a:ln/>
        </p:spPr>
        <p:txBody>
          <a:bodyPr wrap="square" rtlCol="0" anchor="ctr"/>
          <a:lstStyle/>
          <a:p>
            <a:pPr marL="0" indent="0" algn="ctr">
              <a:buNone/>
            </a:pPr>
            <a:r>
              <a:rPr lang="en-US" sz="950" dirty="0">
                <a:solidFill>
                  <a:srgbClr val="BBBBBB"/>
                </a:solidFill>
                <a:latin typeface="Calibri" pitchFamily="34" charset="0"/>
                <a:ea typeface="Calibri" pitchFamily="34" charset="-122"/>
                <a:cs typeface="Calibri" pitchFamily="34" charset="-120"/>
              </a:rPr>
              <a:t>More expensive to fix a bug in production vs. requirements</a:t>
            </a:r>
            <a:endParaRPr lang="en-US" sz="950" dirty="0"/>
          </a:p>
        </p:txBody>
      </p:sp>
      <p:sp>
        <p:nvSpPr>
          <p:cNvPr id="18" name="Text 15"/>
          <p:cNvSpPr/>
          <p:nvPr/>
        </p:nvSpPr>
        <p:spPr>
          <a:xfrm>
            <a:off x="274320" y="2542032"/>
            <a:ext cx="3657600" cy="320040"/>
          </a:xfrm>
          <a:prstGeom prst="rect">
            <a:avLst/>
          </a:prstGeom>
          <a:noFill/>
          <a:ln/>
        </p:spPr>
        <p:txBody>
          <a:bodyPr wrap="square" rtlCol="0" anchor="ctr"/>
          <a:lstStyle/>
          <a:p>
            <a:pPr marL="0" indent="0">
              <a:buNone/>
            </a:pPr>
            <a:r>
              <a:rPr lang="en-US" sz="1200" b="1" kern="0" spc="200" dirty="0">
                <a:solidFill>
                  <a:srgbClr val="E8670D"/>
                </a:solidFill>
                <a:latin typeface="Calibri" pitchFamily="34" charset="0"/>
                <a:ea typeface="Calibri" pitchFamily="34" charset="-122"/>
                <a:cs typeface="Calibri" pitchFamily="34" charset="-120"/>
              </a:rPr>
              <a:t>REAL-WORLD FAILURES</a:t>
            </a:r>
            <a:endParaRPr lang="en-US" sz="1200" dirty="0"/>
          </a:p>
        </p:txBody>
      </p:sp>
      <p:sp>
        <p:nvSpPr>
          <p:cNvPr id="19" name="Shape 16"/>
          <p:cNvSpPr/>
          <p:nvPr/>
        </p:nvSpPr>
        <p:spPr>
          <a:xfrm>
            <a:off x="274320" y="2907792"/>
            <a:ext cx="82296" cy="347472"/>
          </a:xfrm>
          <a:prstGeom prst="rect">
            <a:avLst/>
          </a:prstGeom>
          <a:solidFill>
            <a:srgbClr val="E8670D"/>
          </a:solidFill>
          <a:ln/>
        </p:spPr>
      </p:sp>
      <p:sp>
        <p:nvSpPr>
          <p:cNvPr id="20" name="Text 17"/>
          <p:cNvSpPr/>
          <p:nvPr/>
        </p:nvSpPr>
        <p:spPr>
          <a:xfrm>
            <a:off x="475488" y="2907792"/>
            <a:ext cx="836676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NASA Mars Orbiter (1999):  Metric vs imperial unit mismatch — spacecraft lost. Cost: $327M</a:t>
            </a:r>
            <a:endParaRPr lang="en-US" sz="1100" dirty="0"/>
          </a:p>
        </p:txBody>
      </p:sp>
      <p:sp>
        <p:nvSpPr>
          <p:cNvPr id="21" name="Shape 18"/>
          <p:cNvSpPr/>
          <p:nvPr/>
        </p:nvSpPr>
        <p:spPr>
          <a:xfrm>
            <a:off x="274320" y="3401568"/>
            <a:ext cx="82296" cy="347472"/>
          </a:xfrm>
          <a:prstGeom prst="rect">
            <a:avLst/>
          </a:prstGeom>
          <a:solidFill>
            <a:srgbClr val="E8670D"/>
          </a:solidFill>
          <a:ln/>
        </p:spPr>
      </p:sp>
      <p:sp>
        <p:nvSpPr>
          <p:cNvPr id="22" name="Text 19"/>
          <p:cNvSpPr/>
          <p:nvPr/>
        </p:nvSpPr>
        <p:spPr>
          <a:xfrm>
            <a:off x="475488" y="3401568"/>
            <a:ext cx="836676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Therac-25 Radiation (1985):  Software race condition caused radiation overdoses, killing patients</a:t>
            </a:r>
            <a:endParaRPr lang="en-US" sz="1100" dirty="0"/>
          </a:p>
        </p:txBody>
      </p:sp>
      <p:sp>
        <p:nvSpPr>
          <p:cNvPr id="23" name="Shape 20"/>
          <p:cNvSpPr/>
          <p:nvPr/>
        </p:nvSpPr>
        <p:spPr>
          <a:xfrm>
            <a:off x="274320" y="3895344"/>
            <a:ext cx="82296" cy="347472"/>
          </a:xfrm>
          <a:prstGeom prst="rect">
            <a:avLst/>
          </a:prstGeom>
          <a:solidFill>
            <a:srgbClr val="E8670D"/>
          </a:solidFill>
          <a:ln/>
        </p:spPr>
      </p:sp>
      <p:sp>
        <p:nvSpPr>
          <p:cNvPr id="24" name="Text 21"/>
          <p:cNvSpPr/>
          <p:nvPr/>
        </p:nvSpPr>
        <p:spPr>
          <a:xfrm>
            <a:off x="475488" y="3895344"/>
            <a:ext cx="836676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Knight Capital (2012):  A software bug lost $440M in 45 minutes on the stock market</a:t>
            </a:r>
            <a:endParaRPr lang="en-US" sz="1100" dirty="0"/>
          </a:p>
        </p:txBody>
      </p:sp>
      <p:sp>
        <p:nvSpPr>
          <p:cNvPr id="25" name="Shape 22"/>
          <p:cNvSpPr/>
          <p:nvPr/>
        </p:nvSpPr>
        <p:spPr>
          <a:xfrm>
            <a:off x="274320" y="4389120"/>
            <a:ext cx="82296" cy="347472"/>
          </a:xfrm>
          <a:prstGeom prst="rect">
            <a:avLst/>
          </a:prstGeom>
          <a:solidFill>
            <a:srgbClr val="E8670D"/>
          </a:solidFill>
          <a:ln/>
        </p:spPr>
      </p:sp>
      <p:sp>
        <p:nvSpPr>
          <p:cNvPr id="26" name="Text 23"/>
          <p:cNvSpPr/>
          <p:nvPr/>
        </p:nvSpPr>
        <p:spPr>
          <a:xfrm>
            <a:off x="475488" y="4389120"/>
            <a:ext cx="836676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Facebook Outage (2021):  A config change took down all Facebook services for 6+ hours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02</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SDLC vs STLC</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Understanding the two lifecycles and how they work together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SDLC vs STLC — Key Differences</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Two lifecycles that work hand-in-hand</a:t>
            </a:r>
            <a:endParaRPr lang="en-US" sz="1200" dirty="0"/>
          </a:p>
        </p:txBody>
      </p:sp>
      <p:sp>
        <p:nvSpPr>
          <p:cNvPr id="6" name="Shape 3"/>
          <p:cNvSpPr/>
          <p:nvPr/>
        </p:nvSpPr>
        <p:spPr>
          <a:xfrm>
            <a:off x="274320" y="1024128"/>
            <a:ext cx="3931920" cy="384048"/>
          </a:xfrm>
          <a:prstGeom prst="rect">
            <a:avLst/>
          </a:prstGeom>
          <a:solidFill>
            <a:srgbClr val="E8670D"/>
          </a:solidFill>
          <a:ln/>
        </p:spPr>
      </p:sp>
      <p:sp>
        <p:nvSpPr>
          <p:cNvPr id="7" name="Text 4"/>
          <p:cNvSpPr/>
          <p:nvPr/>
        </p:nvSpPr>
        <p:spPr>
          <a:xfrm>
            <a:off x="274320" y="1024128"/>
            <a:ext cx="393192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SDLC — Software Development Life Cycle</a:t>
            </a:r>
            <a:endParaRPr lang="en-US" sz="1150" dirty="0"/>
          </a:p>
        </p:txBody>
      </p:sp>
      <p:sp>
        <p:nvSpPr>
          <p:cNvPr id="8" name="Text 5"/>
          <p:cNvSpPr/>
          <p:nvPr/>
        </p:nvSpPr>
        <p:spPr>
          <a:xfrm>
            <a:off x="274320" y="1444752"/>
            <a:ext cx="3931920" cy="347472"/>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Covers the ENTIRE development process from idea to product</a:t>
            </a:r>
            <a:endParaRPr lang="en-US" sz="1000" dirty="0"/>
          </a:p>
        </p:txBody>
      </p:sp>
      <p:sp>
        <p:nvSpPr>
          <p:cNvPr id="9" name="Shape 6"/>
          <p:cNvSpPr/>
          <p:nvPr/>
        </p:nvSpPr>
        <p:spPr>
          <a:xfrm>
            <a:off x="274320" y="1828800"/>
            <a:ext cx="3931920" cy="402336"/>
          </a:xfrm>
          <a:prstGeom prst="rect">
            <a:avLst/>
          </a:prstGeom>
          <a:solidFill>
            <a:srgbClr val="FFF0E6"/>
          </a:solidFill>
          <a:ln w="6350">
            <a:solidFill>
              <a:srgbClr val="DDCCBB"/>
            </a:solidFill>
            <a:prstDash val="solid"/>
          </a:ln>
        </p:spPr>
      </p:sp>
      <p:sp>
        <p:nvSpPr>
          <p:cNvPr id="10" name="Text 7"/>
          <p:cNvSpPr/>
          <p:nvPr/>
        </p:nvSpPr>
        <p:spPr>
          <a:xfrm>
            <a:off x="411480" y="1856232"/>
            <a:ext cx="36576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1.  Requirements</a:t>
            </a:r>
            <a:endParaRPr lang="en-US" sz="1200" dirty="0"/>
          </a:p>
        </p:txBody>
      </p:sp>
      <p:sp>
        <p:nvSpPr>
          <p:cNvPr id="11" name="Shape 8"/>
          <p:cNvSpPr/>
          <p:nvPr/>
        </p:nvSpPr>
        <p:spPr>
          <a:xfrm>
            <a:off x="274320" y="2304288"/>
            <a:ext cx="3931920" cy="402336"/>
          </a:xfrm>
          <a:prstGeom prst="rect">
            <a:avLst/>
          </a:prstGeom>
          <a:solidFill>
            <a:srgbClr val="FFFFFF"/>
          </a:solidFill>
          <a:ln w="6350">
            <a:solidFill>
              <a:srgbClr val="DDCCBB"/>
            </a:solidFill>
            <a:prstDash val="solid"/>
          </a:ln>
        </p:spPr>
      </p:sp>
      <p:sp>
        <p:nvSpPr>
          <p:cNvPr id="12" name="Text 9"/>
          <p:cNvSpPr/>
          <p:nvPr/>
        </p:nvSpPr>
        <p:spPr>
          <a:xfrm>
            <a:off x="411480" y="2331720"/>
            <a:ext cx="36576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2.  System Design</a:t>
            </a:r>
            <a:endParaRPr lang="en-US" sz="1200" dirty="0"/>
          </a:p>
        </p:txBody>
      </p:sp>
      <p:sp>
        <p:nvSpPr>
          <p:cNvPr id="13" name="Shape 10"/>
          <p:cNvSpPr/>
          <p:nvPr/>
        </p:nvSpPr>
        <p:spPr>
          <a:xfrm>
            <a:off x="274320" y="2779776"/>
            <a:ext cx="3931920" cy="402336"/>
          </a:xfrm>
          <a:prstGeom prst="rect">
            <a:avLst/>
          </a:prstGeom>
          <a:solidFill>
            <a:srgbClr val="FFF0E6"/>
          </a:solidFill>
          <a:ln w="6350">
            <a:solidFill>
              <a:srgbClr val="DDCCBB"/>
            </a:solidFill>
            <a:prstDash val="solid"/>
          </a:ln>
        </p:spPr>
      </p:sp>
      <p:sp>
        <p:nvSpPr>
          <p:cNvPr id="14" name="Text 11"/>
          <p:cNvSpPr/>
          <p:nvPr/>
        </p:nvSpPr>
        <p:spPr>
          <a:xfrm>
            <a:off x="411480" y="2807208"/>
            <a:ext cx="36576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3.  Implementation</a:t>
            </a:r>
            <a:endParaRPr lang="en-US" sz="1200" dirty="0"/>
          </a:p>
        </p:txBody>
      </p:sp>
      <p:sp>
        <p:nvSpPr>
          <p:cNvPr id="15" name="Shape 12"/>
          <p:cNvSpPr/>
          <p:nvPr/>
        </p:nvSpPr>
        <p:spPr>
          <a:xfrm>
            <a:off x="274320" y="3255264"/>
            <a:ext cx="3931920" cy="402336"/>
          </a:xfrm>
          <a:prstGeom prst="rect">
            <a:avLst/>
          </a:prstGeom>
          <a:solidFill>
            <a:srgbClr val="FFFFFF"/>
          </a:solidFill>
          <a:ln w="6350">
            <a:solidFill>
              <a:srgbClr val="DDCCBB"/>
            </a:solidFill>
            <a:prstDash val="solid"/>
          </a:ln>
        </p:spPr>
      </p:sp>
      <p:sp>
        <p:nvSpPr>
          <p:cNvPr id="16" name="Text 13"/>
          <p:cNvSpPr/>
          <p:nvPr/>
        </p:nvSpPr>
        <p:spPr>
          <a:xfrm>
            <a:off x="411480" y="3282696"/>
            <a:ext cx="36576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4.  Testing</a:t>
            </a:r>
            <a:endParaRPr lang="en-US" sz="1200" dirty="0"/>
          </a:p>
        </p:txBody>
      </p:sp>
      <p:sp>
        <p:nvSpPr>
          <p:cNvPr id="17" name="Shape 14"/>
          <p:cNvSpPr/>
          <p:nvPr/>
        </p:nvSpPr>
        <p:spPr>
          <a:xfrm>
            <a:off x="274320" y="3730752"/>
            <a:ext cx="3931920" cy="402336"/>
          </a:xfrm>
          <a:prstGeom prst="rect">
            <a:avLst/>
          </a:prstGeom>
          <a:solidFill>
            <a:srgbClr val="FFF0E6"/>
          </a:solidFill>
          <a:ln w="6350">
            <a:solidFill>
              <a:srgbClr val="DDCCBB"/>
            </a:solidFill>
            <a:prstDash val="solid"/>
          </a:ln>
        </p:spPr>
      </p:sp>
      <p:sp>
        <p:nvSpPr>
          <p:cNvPr id="18" name="Text 15"/>
          <p:cNvSpPr/>
          <p:nvPr/>
        </p:nvSpPr>
        <p:spPr>
          <a:xfrm>
            <a:off x="411480" y="3758184"/>
            <a:ext cx="36576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5.  Deployment</a:t>
            </a:r>
            <a:endParaRPr lang="en-US" sz="1200" dirty="0"/>
          </a:p>
        </p:txBody>
      </p:sp>
      <p:sp>
        <p:nvSpPr>
          <p:cNvPr id="19" name="Shape 16"/>
          <p:cNvSpPr/>
          <p:nvPr/>
        </p:nvSpPr>
        <p:spPr>
          <a:xfrm>
            <a:off x="274320" y="4206240"/>
            <a:ext cx="3931920" cy="402336"/>
          </a:xfrm>
          <a:prstGeom prst="rect">
            <a:avLst/>
          </a:prstGeom>
          <a:solidFill>
            <a:srgbClr val="FFFFFF"/>
          </a:solidFill>
          <a:ln w="6350">
            <a:solidFill>
              <a:srgbClr val="DDCCBB"/>
            </a:solidFill>
            <a:prstDash val="solid"/>
          </a:ln>
        </p:spPr>
      </p:sp>
      <p:sp>
        <p:nvSpPr>
          <p:cNvPr id="20" name="Text 17"/>
          <p:cNvSpPr/>
          <p:nvPr/>
        </p:nvSpPr>
        <p:spPr>
          <a:xfrm>
            <a:off x="411480" y="4233672"/>
            <a:ext cx="36576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6.  Maintenance</a:t>
            </a:r>
            <a:endParaRPr lang="en-US" sz="1200" dirty="0"/>
          </a:p>
        </p:txBody>
      </p:sp>
      <p:sp>
        <p:nvSpPr>
          <p:cNvPr id="21" name="Shape 18"/>
          <p:cNvSpPr/>
          <p:nvPr/>
        </p:nvSpPr>
        <p:spPr>
          <a:xfrm>
            <a:off x="4297680" y="1024128"/>
            <a:ext cx="73152" cy="3657600"/>
          </a:xfrm>
          <a:prstGeom prst="rect">
            <a:avLst/>
          </a:prstGeom>
          <a:solidFill>
            <a:srgbClr val="BBBBBB"/>
          </a:solidFill>
          <a:ln/>
        </p:spPr>
      </p:sp>
      <p:sp>
        <p:nvSpPr>
          <p:cNvPr id="22" name="Text 19"/>
          <p:cNvSpPr/>
          <p:nvPr/>
        </p:nvSpPr>
        <p:spPr>
          <a:xfrm>
            <a:off x="4114800" y="2606040"/>
            <a:ext cx="457200" cy="384048"/>
          </a:xfrm>
          <a:prstGeom prst="rect">
            <a:avLst/>
          </a:prstGeom>
          <a:noFill/>
          <a:ln/>
        </p:spPr>
        <p:txBody>
          <a:bodyPr wrap="square" rtlCol="0" anchor="ctr"/>
          <a:lstStyle/>
          <a:p>
            <a:pPr marL="0" indent="0" algn="ctr">
              <a:buNone/>
            </a:pPr>
            <a:r>
              <a:rPr lang="en-US" sz="1400" b="1" dirty="0">
                <a:solidFill>
                  <a:srgbClr val="555555"/>
                </a:solidFill>
                <a:latin typeface="Calibri" pitchFamily="34" charset="0"/>
                <a:ea typeface="Calibri" pitchFamily="34" charset="-122"/>
                <a:cs typeface="Calibri" pitchFamily="34" charset="-120"/>
              </a:rPr>
              <a:t>VS</a:t>
            </a:r>
            <a:endParaRPr lang="en-US" sz="1400" dirty="0"/>
          </a:p>
        </p:txBody>
      </p:sp>
      <p:sp>
        <p:nvSpPr>
          <p:cNvPr id="23" name="Shape 20"/>
          <p:cNvSpPr/>
          <p:nvPr/>
        </p:nvSpPr>
        <p:spPr>
          <a:xfrm>
            <a:off x="4480560" y="1024128"/>
            <a:ext cx="4389120" cy="384048"/>
          </a:xfrm>
          <a:prstGeom prst="rect">
            <a:avLst/>
          </a:prstGeom>
          <a:solidFill>
            <a:srgbClr val="1E1E1E"/>
          </a:solidFill>
          <a:ln/>
        </p:spPr>
      </p:sp>
      <p:sp>
        <p:nvSpPr>
          <p:cNvPr id="24" name="Text 21"/>
          <p:cNvSpPr/>
          <p:nvPr/>
        </p:nvSpPr>
        <p:spPr>
          <a:xfrm>
            <a:off x="4480560" y="1024128"/>
            <a:ext cx="438912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STLC — Software Testing Life Cycle</a:t>
            </a:r>
            <a:endParaRPr lang="en-US" sz="1150" dirty="0"/>
          </a:p>
        </p:txBody>
      </p:sp>
      <p:sp>
        <p:nvSpPr>
          <p:cNvPr id="25" name="Text 22"/>
          <p:cNvSpPr/>
          <p:nvPr/>
        </p:nvSpPr>
        <p:spPr>
          <a:xfrm>
            <a:off x="4480560" y="1444752"/>
            <a:ext cx="4389120" cy="347472"/>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Focuses ONLY on the testing activities within SDLC</a:t>
            </a:r>
            <a:endParaRPr lang="en-US" sz="1000" dirty="0"/>
          </a:p>
        </p:txBody>
      </p:sp>
      <p:sp>
        <p:nvSpPr>
          <p:cNvPr id="26" name="Shape 23"/>
          <p:cNvSpPr/>
          <p:nvPr/>
        </p:nvSpPr>
        <p:spPr>
          <a:xfrm>
            <a:off x="4480560" y="1828800"/>
            <a:ext cx="4389120" cy="402336"/>
          </a:xfrm>
          <a:prstGeom prst="rect">
            <a:avLst/>
          </a:prstGeom>
          <a:solidFill>
            <a:srgbClr val="F0F0F0"/>
          </a:solidFill>
          <a:ln w="6350">
            <a:solidFill>
              <a:srgbClr val="CCCCCC"/>
            </a:solidFill>
            <a:prstDash val="solid"/>
          </a:ln>
        </p:spPr>
      </p:sp>
      <p:sp>
        <p:nvSpPr>
          <p:cNvPr id="27" name="Text 24"/>
          <p:cNvSpPr/>
          <p:nvPr/>
        </p:nvSpPr>
        <p:spPr>
          <a:xfrm>
            <a:off x="4617720" y="1856232"/>
            <a:ext cx="41148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1.  Requirement Analysis</a:t>
            </a:r>
            <a:endParaRPr lang="en-US" sz="1200" dirty="0"/>
          </a:p>
        </p:txBody>
      </p:sp>
      <p:sp>
        <p:nvSpPr>
          <p:cNvPr id="28" name="Shape 25"/>
          <p:cNvSpPr/>
          <p:nvPr/>
        </p:nvSpPr>
        <p:spPr>
          <a:xfrm>
            <a:off x="4480560" y="2304288"/>
            <a:ext cx="4389120" cy="402336"/>
          </a:xfrm>
          <a:prstGeom prst="rect">
            <a:avLst/>
          </a:prstGeom>
          <a:solidFill>
            <a:srgbClr val="FFFFFF"/>
          </a:solidFill>
          <a:ln w="6350">
            <a:solidFill>
              <a:srgbClr val="CCCCCC"/>
            </a:solidFill>
            <a:prstDash val="solid"/>
          </a:ln>
        </p:spPr>
      </p:sp>
      <p:sp>
        <p:nvSpPr>
          <p:cNvPr id="29" name="Text 26"/>
          <p:cNvSpPr/>
          <p:nvPr/>
        </p:nvSpPr>
        <p:spPr>
          <a:xfrm>
            <a:off x="4617720" y="2331720"/>
            <a:ext cx="41148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2.  Test Planning</a:t>
            </a:r>
            <a:endParaRPr lang="en-US" sz="1200" dirty="0"/>
          </a:p>
        </p:txBody>
      </p:sp>
      <p:sp>
        <p:nvSpPr>
          <p:cNvPr id="30" name="Shape 27"/>
          <p:cNvSpPr/>
          <p:nvPr/>
        </p:nvSpPr>
        <p:spPr>
          <a:xfrm>
            <a:off x="4480560" y="2779776"/>
            <a:ext cx="4389120" cy="402336"/>
          </a:xfrm>
          <a:prstGeom prst="rect">
            <a:avLst/>
          </a:prstGeom>
          <a:solidFill>
            <a:srgbClr val="F0F0F0"/>
          </a:solidFill>
          <a:ln w="6350">
            <a:solidFill>
              <a:srgbClr val="CCCCCC"/>
            </a:solidFill>
            <a:prstDash val="solid"/>
          </a:ln>
        </p:spPr>
      </p:sp>
      <p:sp>
        <p:nvSpPr>
          <p:cNvPr id="31" name="Text 28"/>
          <p:cNvSpPr/>
          <p:nvPr/>
        </p:nvSpPr>
        <p:spPr>
          <a:xfrm>
            <a:off x="4617720" y="2807208"/>
            <a:ext cx="41148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3.  Test Case Development</a:t>
            </a:r>
            <a:endParaRPr lang="en-US" sz="1200" dirty="0"/>
          </a:p>
        </p:txBody>
      </p:sp>
      <p:sp>
        <p:nvSpPr>
          <p:cNvPr id="32" name="Shape 29"/>
          <p:cNvSpPr/>
          <p:nvPr/>
        </p:nvSpPr>
        <p:spPr>
          <a:xfrm>
            <a:off x="4480560" y="3255264"/>
            <a:ext cx="4389120" cy="402336"/>
          </a:xfrm>
          <a:prstGeom prst="rect">
            <a:avLst/>
          </a:prstGeom>
          <a:solidFill>
            <a:srgbClr val="FFFFFF"/>
          </a:solidFill>
          <a:ln w="6350">
            <a:solidFill>
              <a:srgbClr val="CCCCCC"/>
            </a:solidFill>
            <a:prstDash val="solid"/>
          </a:ln>
        </p:spPr>
      </p:sp>
      <p:sp>
        <p:nvSpPr>
          <p:cNvPr id="33" name="Text 30"/>
          <p:cNvSpPr/>
          <p:nvPr/>
        </p:nvSpPr>
        <p:spPr>
          <a:xfrm>
            <a:off x="4617720" y="3282696"/>
            <a:ext cx="41148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4.  Test Environment Setup</a:t>
            </a:r>
            <a:endParaRPr lang="en-US" sz="1200" dirty="0"/>
          </a:p>
        </p:txBody>
      </p:sp>
      <p:sp>
        <p:nvSpPr>
          <p:cNvPr id="34" name="Shape 31"/>
          <p:cNvSpPr/>
          <p:nvPr/>
        </p:nvSpPr>
        <p:spPr>
          <a:xfrm>
            <a:off x="4480560" y="3730752"/>
            <a:ext cx="4389120" cy="402336"/>
          </a:xfrm>
          <a:prstGeom prst="rect">
            <a:avLst/>
          </a:prstGeom>
          <a:solidFill>
            <a:srgbClr val="F0F0F0"/>
          </a:solidFill>
          <a:ln w="6350">
            <a:solidFill>
              <a:srgbClr val="CCCCCC"/>
            </a:solidFill>
            <a:prstDash val="solid"/>
          </a:ln>
        </p:spPr>
      </p:sp>
      <p:sp>
        <p:nvSpPr>
          <p:cNvPr id="35" name="Text 32"/>
          <p:cNvSpPr/>
          <p:nvPr/>
        </p:nvSpPr>
        <p:spPr>
          <a:xfrm>
            <a:off x="4617720" y="3758184"/>
            <a:ext cx="41148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5.  Test Execution</a:t>
            </a:r>
            <a:endParaRPr lang="en-US" sz="1200" dirty="0"/>
          </a:p>
        </p:txBody>
      </p:sp>
      <p:sp>
        <p:nvSpPr>
          <p:cNvPr id="36" name="Shape 33"/>
          <p:cNvSpPr/>
          <p:nvPr/>
        </p:nvSpPr>
        <p:spPr>
          <a:xfrm>
            <a:off x="4480560" y="4206240"/>
            <a:ext cx="4389120" cy="402336"/>
          </a:xfrm>
          <a:prstGeom prst="rect">
            <a:avLst/>
          </a:prstGeom>
          <a:solidFill>
            <a:srgbClr val="FFFFFF"/>
          </a:solidFill>
          <a:ln w="6350">
            <a:solidFill>
              <a:srgbClr val="CCCCCC"/>
            </a:solidFill>
            <a:prstDash val="solid"/>
          </a:ln>
        </p:spPr>
      </p:sp>
      <p:sp>
        <p:nvSpPr>
          <p:cNvPr id="37" name="Text 34"/>
          <p:cNvSpPr/>
          <p:nvPr/>
        </p:nvSpPr>
        <p:spPr>
          <a:xfrm>
            <a:off x="4617720" y="4233672"/>
            <a:ext cx="4114800" cy="329184"/>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6.  Test Closure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03</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Software Testing Life Cycle (STLC)</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A deep dive into all 6 phases — activities, deliverables &amp; examples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STLC — The 6 Phases at a Glance</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Each phase has clear entry/exit criteria and deliverables</a:t>
            </a:r>
            <a:endParaRPr lang="en-US" sz="1200" dirty="0"/>
          </a:p>
        </p:txBody>
      </p:sp>
      <p:sp>
        <p:nvSpPr>
          <p:cNvPr id="6" name="Shape 3"/>
          <p:cNvSpPr/>
          <p:nvPr/>
        </p:nvSpPr>
        <p:spPr>
          <a:xfrm>
            <a:off x="182880" y="1005840"/>
            <a:ext cx="1481328" cy="1508760"/>
          </a:xfrm>
          <a:prstGeom prst="rect">
            <a:avLst/>
          </a:prstGeom>
          <a:solidFill>
            <a:srgbClr val="1E1E1E"/>
          </a:solidFill>
          <a:ln/>
          <a:effectLst>
            <a:outerShdw blurRad="127000" dist="38100" dir="8100000" algn="bl" rotWithShape="0">
              <a:srgbClr val="000000">
                <a:alpha val="25000"/>
              </a:srgbClr>
            </a:outerShdw>
          </a:effectLst>
        </p:spPr>
      </p:sp>
      <p:sp>
        <p:nvSpPr>
          <p:cNvPr id="7" name="Shape 4"/>
          <p:cNvSpPr/>
          <p:nvPr/>
        </p:nvSpPr>
        <p:spPr>
          <a:xfrm>
            <a:off x="182880" y="1005840"/>
            <a:ext cx="1481328" cy="73152"/>
          </a:xfrm>
          <a:prstGeom prst="rect">
            <a:avLst/>
          </a:prstGeom>
          <a:solidFill>
            <a:srgbClr val="E8670D"/>
          </a:solidFill>
          <a:ln/>
        </p:spPr>
      </p:sp>
      <p:sp>
        <p:nvSpPr>
          <p:cNvPr id="8" name="Text 5"/>
          <p:cNvSpPr/>
          <p:nvPr/>
        </p:nvSpPr>
        <p:spPr>
          <a:xfrm>
            <a:off x="182880" y="1097280"/>
            <a:ext cx="1481328" cy="530352"/>
          </a:xfrm>
          <a:prstGeom prst="rect">
            <a:avLst/>
          </a:prstGeom>
          <a:noFill/>
          <a:ln/>
        </p:spPr>
        <p:txBody>
          <a:bodyPr wrap="square" rtlCol="0" anchor="ctr"/>
          <a:lstStyle/>
          <a:p>
            <a:pPr marL="0" indent="0" algn="ctr">
              <a:buNone/>
            </a:pPr>
            <a:r>
              <a:rPr lang="en-US" sz="2400" b="1" dirty="0">
                <a:solidFill>
                  <a:srgbClr val="E8670D"/>
                </a:solidFill>
                <a:latin typeface="Calibri" pitchFamily="34" charset="0"/>
                <a:ea typeface="Calibri" pitchFamily="34" charset="-122"/>
                <a:cs typeface="Calibri" pitchFamily="34" charset="-120"/>
              </a:rPr>
              <a:t>01</a:t>
            </a:r>
            <a:endParaRPr lang="en-US" sz="2400" dirty="0"/>
          </a:p>
        </p:txBody>
      </p:sp>
      <p:sp>
        <p:nvSpPr>
          <p:cNvPr id="9" name="Text 6"/>
          <p:cNvSpPr/>
          <p:nvPr/>
        </p:nvSpPr>
        <p:spPr>
          <a:xfrm>
            <a:off x="182880" y="1664208"/>
            <a:ext cx="1481328"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Requirement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Analysis</a:t>
            </a:r>
            <a:endParaRPr lang="en-US" sz="900" dirty="0"/>
          </a:p>
        </p:txBody>
      </p:sp>
      <p:sp>
        <p:nvSpPr>
          <p:cNvPr id="10" name="Text 7"/>
          <p:cNvSpPr/>
          <p:nvPr/>
        </p:nvSpPr>
        <p:spPr>
          <a:xfrm>
            <a:off x="1691640" y="1691640"/>
            <a:ext cx="201168" cy="274320"/>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11" name="Shape 8"/>
          <p:cNvSpPr/>
          <p:nvPr/>
        </p:nvSpPr>
        <p:spPr>
          <a:xfrm>
            <a:off x="1664208" y="1005840"/>
            <a:ext cx="1481328" cy="1508760"/>
          </a:xfrm>
          <a:prstGeom prst="rect">
            <a:avLst/>
          </a:prstGeom>
          <a:solidFill>
            <a:srgbClr val="1E1E1E"/>
          </a:solidFill>
          <a:ln/>
          <a:effectLst>
            <a:outerShdw blurRad="127000" dist="38100" dir="8100000" algn="bl" rotWithShape="0">
              <a:srgbClr val="000000">
                <a:alpha val="25000"/>
              </a:srgbClr>
            </a:outerShdw>
          </a:effectLst>
        </p:spPr>
      </p:sp>
      <p:sp>
        <p:nvSpPr>
          <p:cNvPr id="12" name="Shape 9"/>
          <p:cNvSpPr/>
          <p:nvPr/>
        </p:nvSpPr>
        <p:spPr>
          <a:xfrm>
            <a:off x="1664208" y="1005840"/>
            <a:ext cx="1481328" cy="73152"/>
          </a:xfrm>
          <a:prstGeom prst="rect">
            <a:avLst/>
          </a:prstGeom>
          <a:solidFill>
            <a:srgbClr val="E8670D"/>
          </a:solidFill>
          <a:ln/>
        </p:spPr>
      </p:sp>
      <p:sp>
        <p:nvSpPr>
          <p:cNvPr id="13" name="Text 10"/>
          <p:cNvSpPr/>
          <p:nvPr/>
        </p:nvSpPr>
        <p:spPr>
          <a:xfrm>
            <a:off x="1664208" y="1097280"/>
            <a:ext cx="1481328" cy="530352"/>
          </a:xfrm>
          <a:prstGeom prst="rect">
            <a:avLst/>
          </a:prstGeom>
          <a:noFill/>
          <a:ln/>
        </p:spPr>
        <p:txBody>
          <a:bodyPr wrap="square" rtlCol="0" anchor="ctr"/>
          <a:lstStyle/>
          <a:p>
            <a:pPr marL="0" indent="0" algn="ctr">
              <a:buNone/>
            </a:pPr>
            <a:r>
              <a:rPr lang="en-US" sz="2400" b="1" dirty="0">
                <a:solidFill>
                  <a:srgbClr val="E8670D"/>
                </a:solidFill>
                <a:latin typeface="Calibri" pitchFamily="34" charset="0"/>
                <a:ea typeface="Calibri" pitchFamily="34" charset="-122"/>
                <a:cs typeface="Calibri" pitchFamily="34" charset="-120"/>
              </a:rPr>
              <a:t>02</a:t>
            </a:r>
            <a:endParaRPr lang="en-US" sz="2400" dirty="0"/>
          </a:p>
        </p:txBody>
      </p:sp>
      <p:sp>
        <p:nvSpPr>
          <p:cNvPr id="14" name="Text 11"/>
          <p:cNvSpPr/>
          <p:nvPr/>
        </p:nvSpPr>
        <p:spPr>
          <a:xfrm>
            <a:off x="1664208" y="1664208"/>
            <a:ext cx="1481328"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Test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Planning</a:t>
            </a:r>
            <a:endParaRPr lang="en-US" sz="900" dirty="0"/>
          </a:p>
        </p:txBody>
      </p:sp>
      <p:sp>
        <p:nvSpPr>
          <p:cNvPr id="15" name="Text 12"/>
          <p:cNvSpPr/>
          <p:nvPr/>
        </p:nvSpPr>
        <p:spPr>
          <a:xfrm>
            <a:off x="3172968" y="1691640"/>
            <a:ext cx="201168" cy="274320"/>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16" name="Shape 13"/>
          <p:cNvSpPr/>
          <p:nvPr/>
        </p:nvSpPr>
        <p:spPr>
          <a:xfrm>
            <a:off x="3145536" y="1005840"/>
            <a:ext cx="1481328" cy="1508760"/>
          </a:xfrm>
          <a:prstGeom prst="rect">
            <a:avLst/>
          </a:prstGeom>
          <a:solidFill>
            <a:srgbClr val="1E1E1E"/>
          </a:solidFill>
          <a:ln/>
          <a:effectLst>
            <a:outerShdw blurRad="127000" dist="38100" dir="8100000" algn="bl" rotWithShape="0">
              <a:srgbClr val="000000">
                <a:alpha val="25000"/>
              </a:srgbClr>
            </a:outerShdw>
          </a:effectLst>
        </p:spPr>
      </p:sp>
      <p:sp>
        <p:nvSpPr>
          <p:cNvPr id="17" name="Shape 14"/>
          <p:cNvSpPr/>
          <p:nvPr/>
        </p:nvSpPr>
        <p:spPr>
          <a:xfrm>
            <a:off x="3145536" y="1005840"/>
            <a:ext cx="1481328" cy="73152"/>
          </a:xfrm>
          <a:prstGeom prst="rect">
            <a:avLst/>
          </a:prstGeom>
          <a:solidFill>
            <a:srgbClr val="E8670D"/>
          </a:solidFill>
          <a:ln/>
        </p:spPr>
      </p:sp>
      <p:sp>
        <p:nvSpPr>
          <p:cNvPr id="18" name="Text 15"/>
          <p:cNvSpPr/>
          <p:nvPr/>
        </p:nvSpPr>
        <p:spPr>
          <a:xfrm>
            <a:off x="3145536" y="1097280"/>
            <a:ext cx="1481328" cy="530352"/>
          </a:xfrm>
          <a:prstGeom prst="rect">
            <a:avLst/>
          </a:prstGeom>
          <a:noFill/>
          <a:ln/>
        </p:spPr>
        <p:txBody>
          <a:bodyPr wrap="square" rtlCol="0" anchor="ctr"/>
          <a:lstStyle/>
          <a:p>
            <a:pPr marL="0" indent="0" algn="ctr">
              <a:buNone/>
            </a:pPr>
            <a:r>
              <a:rPr lang="en-US" sz="2400" b="1" dirty="0">
                <a:solidFill>
                  <a:srgbClr val="E8670D"/>
                </a:solidFill>
                <a:latin typeface="Calibri" pitchFamily="34" charset="0"/>
                <a:ea typeface="Calibri" pitchFamily="34" charset="-122"/>
                <a:cs typeface="Calibri" pitchFamily="34" charset="-120"/>
              </a:rPr>
              <a:t>03</a:t>
            </a:r>
            <a:endParaRPr lang="en-US" sz="2400" dirty="0"/>
          </a:p>
        </p:txBody>
      </p:sp>
      <p:sp>
        <p:nvSpPr>
          <p:cNvPr id="19" name="Text 16"/>
          <p:cNvSpPr/>
          <p:nvPr/>
        </p:nvSpPr>
        <p:spPr>
          <a:xfrm>
            <a:off x="3145536" y="1664208"/>
            <a:ext cx="1481328"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Test Case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Development</a:t>
            </a:r>
            <a:endParaRPr lang="en-US" sz="900" dirty="0"/>
          </a:p>
        </p:txBody>
      </p:sp>
      <p:sp>
        <p:nvSpPr>
          <p:cNvPr id="20" name="Text 17"/>
          <p:cNvSpPr/>
          <p:nvPr/>
        </p:nvSpPr>
        <p:spPr>
          <a:xfrm>
            <a:off x="4654296" y="1691640"/>
            <a:ext cx="201168" cy="274320"/>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4626864" y="1005840"/>
            <a:ext cx="1481328" cy="1508760"/>
          </a:xfrm>
          <a:prstGeom prst="rect">
            <a:avLst/>
          </a:prstGeom>
          <a:solidFill>
            <a:srgbClr val="1E1E1E"/>
          </a:solidFill>
          <a:ln/>
          <a:effectLst>
            <a:outerShdw blurRad="127000" dist="38100" dir="8100000" algn="bl" rotWithShape="0">
              <a:srgbClr val="000000">
                <a:alpha val="25000"/>
              </a:srgbClr>
            </a:outerShdw>
          </a:effectLst>
        </p:spPr>
      </p:sp>
      <p:sp>
        <p:nvSpPr>
          <p:cNvPr id="22" name="Shape 19"/>
          <p:cNvSpPr/>
          <p:nvPr/>
        </p:nvSpPr>
        <p:spPr>
          <a:xfrm>
            <a:off x="4626864" y="1005840"/>
            <a:ext cx="1481328" cy="73152"/>
          </a:xfrm>
          <a:prstGeom prst="rect">
            <a:avLst/>
          </a:prstGeom>
          <a:solidFill>
            <a:srgbClr val="E8670D"/>
          </a:solidFill>
          <a:ln/>
        </p:spPr>
      </p:sp>
      <p:sp>
        <p:nvSpPr>
          <p:cNvPr id="23" name="Text 20"/>
          <p:cNvSpPr/>
          <p:nvPr/>
        </p:nvSpPr>
        <p:spPr>
          <a:xfrm>
            <a:off x="4626864" y="1097280"/>
            <a:ext cx="1481328" cy="530352"/>
          </a:xfrm>
          <a:prstGeom prst="rect">
            <a:avLst/>
          </a:prstGeom>
          <a:noFill/>
          <a:ln/>
        </p:spPr>
        <p:txBody>
          <a:bodyPr wrap="square" rtlCol="0" anchor="ctr"/>
          <a:lstStyle/>
          <a:p>
            <a:pPr marL="0" indent="0" algn="ctr">
              <a:buNone/>
            </a:pPr>
            <a:r>
              <a:rPr lang="en-US" sz="2400" b="1" dirty="0">
                <a:solidFill>
                  <a:srgbClr val="E8670D"/>
                </a:solidFill>
                <a:latin typeface="Calibri" pitchFamily="34" charset="0"/>
                <a:ea typeface="Calibri" pitchFamily="34" charset="-122"/>
                <a:cs typeface="Calibri" pitchFamily="34" charset="-120"/>
              </a:rPr>
              <a:t>04</a:t>
            </a:r>
            <a:endParaRPr lang="en-US" sz="2400" dirty="0"/>
          </a:p>
        </p:txBody>
      </p:sp>
      <p:sp>
        <p:nvSpPr>
          <p:cNvPr id="24" name="Text 21"/>
          <p:cNvSpPr/>
          <p:nvPr/>
        </p:nvSpPr>
        <p:spPr>
          <a:xfrm>
            <a:off x="4626864" y="1664208"/>
            <a:ext cx="1481328"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Environment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Setup</a:t>
            </a:r>
            <a:endParaRPr lang="en-US" sz="900" dirty="0"/>
          </a:p>
        </p:txBody>
      </p:sp>
      <p:sp>
        <p:nvSpPr>
          <p:cNvPr id="25" name="Text 22"/>
          <p:cNvSpPr/>
          <p:nvPr/>
        </p:nvSpPr>
        <p:spPr>
          <a:xfrm>
            <a:off x="6135624" y="1691640"/>
            <a:ext cx="201168" cy="274320"/>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26" name="Shape 23"/>
          <p:cNvSpPr/>
          <p:nvPr/>
        </p:nvSpPr>
        <p:spPr>
          <a:xfrm>
            <a:off x="6108192" y="1005840"/>
            <a:ext cx="1481328" cy="1508760"/>
          </a:xfrm>
          <a:prstGeom prst="rect">
            <a:avLst/>
          </a:prstGeom>
          <a:solidFill>
            <a:srgbClr val="1E1E1E"/>
          </a:solidFill>
          <a:ln/>
          <a:effectLst>
            <a:outerShdw blurRad="127000" dist="38100" dir="8100000" algn="bl" rotWithShape="0">
              <a:srgbClr val="000000">
                <a:alpha val="25000"/>
              </a:srgbClr>
            </a:outerShdw>
          </a:effectLst>
        </p:spPr>
      </p:sp>
      <p:sp>
        <p:nvSpPr>
          <p:cNvPr id="27" name="Shape 24"/>
          <p:cNvSpPr/>
          <p:nvPr/>
        </p:nvSpPr>
        <p:spPr>
          <a:xfrm>
            <a:off x="6108192" y="1005840"/>
            <a:ext cx="1481328" cy="73152"/>
          </a:xfrm>
          <a:prstGeom prst="rect">
            <a:avLst/>
          </a:prstGeom>
          <a:solidFill>
            <a:srgbClr val="E8670D"/>
          </a:solidFill>
          <a:ln/>
        </p:spPr>
      </p:sp>
      <p:sp>
        <p:nvSpPr>
          <p:cNvPr id="28" name="Text 25"/>
          <p:cNvSpPr/>
          <p:nvPr/>
        </p:nvSpPr>
        <p:spPr>
          <a:xfrm>
            <a:off x="6108192" y="1097280"/>
            <a:ext cx="1481328" cy="530352"/>
          </a:xfrm>
          <a:prstGeom prst="rect">
            <a:avLst/>
          </a:prstGeom>
          <a:noFill/>
          <a:ln/>
        </p:spPr>
        <p:txBody>
          <a:bodyPr wrap="square" rtlCol="0" anchor="ctr"/>
          <a:lstStyle/>
          <a:p>
            <a:pPr marL="0" indent="0" algn="ctr">
              <a:buNone/>
            </a:pPr>
            <a:r>
              <a:rPr lang="en-US" sz="2400" b="1" dirty="0">
                <a:solidFill>
                  <a:srgbClr val="E8670D"/>
                </a:solidFill>
                <a:latin typeface="Calibri" pitchFamily="34" charset="0"/>
                <a:ea typeface="Calibri" pitchFamily="34" charset="-122"/>
                <a:cs typeface="Calibri" pitchFamily="34" charset="-120"/>
              </a:rPr>
              <a:t>05</a:t>
            </a:r>
            <a:endParaRPr lang="en-US" sz="2400" dirty="0"/>
          </a:p>
        </p:txBody>
      </p:sp>
      <p:sp>
        <p:nvSpPr>
          <p:cNvPr id="29" name="Text 26"/>
          <p:cNvSpPr/>
          <p:nvPr/>
        </p:nvSpPr>
        <p:spPr>
          <a:xfrm>
            <a:off x="6108192" y="1664208"/>
            <a:ext cx="1481328"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Test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Execution</a:t>
            </a:r>
            <a:endParaRPr lang="en-US" sz="900" dirty="0"/>
          </a:p>
        </p:txBody>
      </p:sp>
      <p:sp>
        <p:nvSpPr>
          <p:cNvPr id="30" name="Text 27"/>
          <p:cNvSpPr/>
          <p:nvPr/>
        </p:nvSpPr>
        <p:spPr>
          <a:xfrm>
            <a:off x="7616952" y="1691640"/>
            <a:ext cx="201168" cy="274320"/>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31" name="Shape 28"/>
          <p:cNvSpPr/>
          <p:nvPr/>
        </p:nvSpPr>
        <p:spPr>
          <a:xfrm>
            <a:off x="7589520" y="1005840"/>
            <a:ext cx="1481328" cy="1508760"/>
          </a:xfrm>
          <a:prstGeom prst="rect">
            <a:avLst/>
          </a:prstGeom>
          <a:solidFill>
            <a:srgbClr val="1E1E1E"/>
          </a:solidFill>
          <a:ln/>
          <a:effectLst>
            <a:outerShdw blurRad="127000" dist="38100" dir="8100000" algn="bl" rotWithShape="0">
              <a:srgbClr val="000000">
                <a:alpha val="25000"/>
              </a:srgbClr>
            </a:outerShdw>
          </a:effectLst>
        </p:spPr>
      </p:sp>
      <p:sp>
        <p:nvSpPr>
          <p:cNvPr id="32" name="Shape 29"/>
          <p:cNvSpPr/>
          <p:nvPr/>
        </p:nvSpPr>
        <p:spPr>
          <a:xfrm>
            <a:off x="7589520" y="1005840"/>
            <a:ext cx="1481328" cy="73152"/>
          </a:xfrm>
          <a:prstGeom prst="rect">
            <a:avLst/>
          </a:prstGeom>
          <a:solidFill>
            <a:srgbClr val="E8670D"/>
          </a:solidFill>
          <a:ln/>
        </p:spPr>
      </p:sp>
      <p:sp>
        <p:nvSpPr>
          <p:cNvPr id="33" name="Text 30"/>
          <p:cNvSpPr/>
          <p:nvPr/>
        </p:nvSpPr>
        <p:spPr>
          <a:xfrm>
            <a:off x="7589520" y="1097280"/>
            <a:ext cx="1481328" cy="530352"/>
          </a:xfrm>
          <a:prstGeom prst="rect">
            <a:avLst/>
          </a:prstGeom>
          <a:noFill/>
          <a:ln/>
        </p:spPr>
        <p:txBody>
          <a:bodyPr wrap="square" rtlCol="0" anchor="ctr"/>
          <a:lstStyle/>
          <a:p>
            <a:pPr marL="0" indent="0" algn="ctr">
              <a:buNone/>
            </a:pPr>
            <a:r>
              <a:rPr lang="en-US" sz="2400" b="1" dirty="0">
                <a:solidFill>
                  <a:srgbClr val="E8670D"/>
                </a:solidFill>
                <a:latin typeface="Calibri" pitchFamily="34" charset="0"/>
                <a:ea typeface="Calibri" pitchFamily="34" charset="-122"/>
                <a:cs typeface="Calibri" pitchFamily="34" charset="-120"/>
              </a:rPr>
              <a:t>06</a:t>
            </a:r>
            <a:endParaRPr lang="en-US" sz="2400" dirty="0"/>
          </a:p>
        </p:txBody>
      </p:sp>
      <p:sp>
        <p:nvSpPr>
          <p:cNvPr id="34" name="Text 31"/>
          <p:cNvSpPr/>
          <p:nvPr/>
        </p:nvSpPr>
        <p:spPr>
          <a:xfrm>
            <a:off x="7589520" y="1664208"/>
            <a:ext cx="1481328"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Test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Closure</a:t>
            </a:r>
            <a:endParaRPr lang="en-US" sz="900" dirty="0"/>
          </a:p>
        </p:txBody>
      </p:sp>
      <p:sp>
        <p:nvSpPr>
          <p:cNvPr id="35" name="Shape 32"/>
          <p:cNvSpPr/>
          <p:nvPr/>
        </p:nvSpPr>
        <p:spPr>
          <a:xfrm>
            <a:off x="274320" y="2743200"/>
            <a:ext cx="8595360" cy="502920"/>
          </a:xfrm>
          <a:prstGeom prst="rect">
            <a:avLst/>
          </a:prstGeom>
          <a:solidFill>
            <a:srgbClr val="E8670D"/>
          </a:solidFill>
          <a:ln/>
          <a:effectLst>
            <a:outerShdw blurRad="127000" dist="38100" dir="8100000" algn="bl" rotWithShape="0">
              <a:srgbClr val="000000">
                <a:alpha val="25000"/>
              </a:srgbClr>
            </a:outerShdw>
          </a:effectLst>
        </p:spPr>
      </p:sp>
      <p:sp>
        <p:nvSpPr>
          <p:cNvPr id="36" name="Text 33"/>
          <p:cNvSpPr/>
          <p:nvPr/>
        </p:nvSpPr>
        <p:spPr>
          <a:xfrm>
            <a:off x="457200" y="2798064"/>
            <a:ext cx="8229600" cy="384048"/>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KEY PRINCIPLE: Testing starts from Requirements — NOT from coding!</a:t>
            </a:r>
            <a:endParaRPr lang="en-US" sz="1350" dirty="0"/>
          </a:p>
        </p:txBody>
      </p:sp>
      <p:sp>
        <p:nvSpPr>
          <p:cNvPr id="37" name="Shape 34"/>
          <p:cNvSpPr/>
          <p:nvPr/>
        </p:nvSpPr>
        <p:spPr>
          <a:xfrm>
            <a:off x="274320" y="3383280"/>
            <a:ext cx="4206240" cy="777240"/>
          </a:xfrm>
          <a:prstGeom prst="rect">
            <a:avLst/>
          </a:prstGeom>
          <a:solidFill>
            <a:srgbClr val="FFFFFF"/>
          </a:solidFill>
          <a:ln/>
          <a:effectLst>
            <a:outerShdw blurRad="127000" dist="38100" dir="8100000" algn="bl" rotWithShape="0">
              <a:srgbClr val="000000">
                <a:alpha val="25000"/>
              </a:srgbClr>
            </a:outerShdw>
          </a:effectLst>
        </p:spPr>
      </p:sp>
      <p:sp>
        <p:nvSpPr>
          <p:cNvPr id="38" name="Shape 35"/>
          <p:cNvSpPr/>
          <p:nvPr/>
        </p:nvSpPr>
        <p:spPr>
          <a:xfrm>
            <a:off x="274320" y="3383280"/>
            <a:ext cx="82296" cy="777240"/>
          </a:xfrm>
          <a:prstGeom prst="rect">
            <a:avLst/>
          </a:prstGeom>
          <a:solidFill>
            <a:srgbClr val="E8670D"/>
          </a:solidFill>
          <a:ln/>
        </p:spPr>
      </p:sp>
      <p:sp>
        <p:nvSpPr>
          <p:cNvPr id="39" name="Text 36"/>
          <p:cNvSpPr/>
          <p:nvPr/>
        </p:nvSpPr>
        <p:spPr>
          <a:xfrm>
            <a:off x="457200" y="3419856"/>
            <a:ext cx="1828800" cy="274320"/>
          </a:xfrm>
          <a:prstGeom prst="rect">
            <a:avLst/>
          </a:prstGeom>
          <a:noFill/>
          <a:ln/>
        </p:spPr>
        <p:txBody>
          <a:bodyPr wrap="square" rtlCol="0" anchor="ctr"/>
          <a:lstStyle/>
          <a:p>
            <a:pPr marL="0" indent="0">
              <a:buNone/>
            </a:pPr>
            <a:r>
              <a:rPr lang="en-US" sz="1150" b="1" dirty="0">
                <a:solidFill>
                  <a:srgbClr val="E8670D"/>
                </a:solidFill>
                <a:latin typeface="Calibri" pitchFamily="34" charset="0"/>
                <a:ea typeface="Calibri" pitchFamily="34" charset="-122"/>
                <a:cs typeface="Calibri" pitchFamily="34" charset="-120"/>
              </a:rPr>
              <a:t>Entry Criteria</a:t>
            </a:r>
            <a:endParaRPr lang="en-US" sz="1150" dirty="0"/>
          </a:p>
        </p:txBody>
      </p:sp>
      <p:sp>
        <p:nvSpPr>
          <p:cNvPr id="40" name="Text 37"/>
          <p:cNvSpPr/>
          <p:nvPr/>
        </p:nvSpPr>
        <p:spPr>
          <a:xfrm>
            <a:off x="457200" y="3703320"/>
            <a:ext cx="3931920" cy="402336"/>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Conditions that must be MET before a phase begins.</a:t>
            </a:r>
            <a:endParaRPr lang="en-US" sz="1100" dirty="0"/>
          </a:p>
        </p:txBody>
      </p:sp>
      <p:sp>
        <p:nvSpPr>
          <p:cNvPr id="41" name="Shape 38"/>
          <p:cNvSpPr/>
          <p:nvPr/>
        </p:nvSpPr>
        <p:spPr>
          <a:xfrm>
            <a:off x="4663440" y="3383280"/>
            <a:ext cx="4206240" cy="777240"/>
          </a:xfrm>
          <a:prstGeom prst="rect">
            <a:avLst/>
          </a:prstGeom>
          <a:solidFill>
            <a:srgbClr val="FFFFFF"/>
          </a:solidFill>
          <a:ln/>
          <a:effectLst>
            <a:outerShdw blurRad="127000" dist="38100" dir="8100000" algn="bl" rotWithShape="0">
              <a:srgbClr val="000000">
                <a:alpha val="25000"/>
              </a:srgbClr>
            </a:outerShdw>
          </a:effectLst>
        </p:spPr>
      </p:sp>
      <p:sp>
        <p:nvSpPr>
          <p:cNvPr id="42" name="Shape 39"/>
          <p:cNvSpPr/>
          <p:nvPr/>
        </p:nvSpPr>
        <p:spPr>
          <a:xfrm>
            <a:off x="4663440" y="3383280"/>
            <a:ext cx="82296" cy="777240"/>
          </a:xfrm>
          <a:prstGeom prst="rect">
            <a:avLst/>
          </a:prstGeom>
          <a:solidFill>
            <a:srgbClr val="1E1E1E"/>
          </a:solidFill>
          <a:ln/>
        </p:spPr>
      </p:sp>
      <p:sp>
        <p:nvSpPr>
          <p:cNvPr id="43" name="Text 40"/>
          <p:cNvSpPr/>
          <p:nvPr/>
        </p:nvSpPr>
        <p:spPr>
          <a:xfrm>
            <a:off x="4846320" y="3419856"/>
            <a:ext cx="1828800" cy="274320"/>
          </a:xfrm>
          <a:prstGeom prst="rect">
            <a:avLst/>
          </a:prstGeom>
          <a:noFill/>
          <a:ln/>
        </p:spPr>
        <p:txBody>
          <a:bodyPr wrap="square" rtlCol="0" anchor="ctr"/>
          <a:lstStyle/>
          <a:p>
            <a:pPr marL="0" indent="0">
              <a:buNone/>
            </a:pPr>
            <a:r>
              <a:rPr lang="en-US" sz="1150" b="1" dirty="0">
                <a:solidFill>
                  <a:srgbClr val="1E1E1E"/>
                </a:solidFill>
                <a:latin typeface="Calibri" pitchFamily="34" charset="0"/>
                <a:ea typeface="Calibri" pitchFamily="34" charset="-122"/>
                <a:cs typeface="Calibri" pitchFamily="34" charset="-120"/>
              </a:rPr>
              <a:t>Exit Criteria</a:t>
            </a:r>
            <a:endParaRPr lang="en-US" sz="1150" dirty="0"/>
          </a:p>
        </p:txBody>
      </p:sp>
      <p:sp>
        <p:nvSpPr>
          <p:cNvPr id="44" name="Text 41"/>
          <p:cNvSpPr/>
          <p:nvPr/>
        </p:nvSpPr>
        <p:spPr>
          <a:xfrm>
            <a:off x="4846320" y="3703320"/>
            <a:ext cx="3931920" cy="402336"/>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Conditions that must be met to COMPLETE a phase.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Phase 1: Requirement Analysis</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Understanding WHAT needs to be tested</a:t>
            </a:r>
            <a:endParaRPr lang="en-US" sz="1200" dirty="0"/>
          </a:p>
        </p:txBody>
      </p:sp>
      <p:sp>
        <p:nvSpPr>
          <p:cNvPr id="6" name="Shape 3"/>
          <p:cNvSpPr/>
          <p:nvPr/>
        </p:nvSpPr>
        <p:spPr>
          <a:xfrm>
            <a:off x="7955280" y="731520"/>
            <a:ext cx="868680" cy="274320"/>
          </a:xfrm>
          <a:prstGeom prst="rect">
            <a:avLst/>
          </a:prstGeom>
          <a:solidFill>
            <a:srgbClr val="E8670D"/>
          </a:solidFill>
          <a:ln/>
        </p:spPr>
      </p:sp>
      <p:sp>
        <p:nvSpPr>
          <p:cNvPr id="7" name="Text 4"/>
          <p:cNvSpPr/>
          <p:nvPr/>
        </p:nvSpPr>
        <p:spPr>
          <a:xfrm>
            <a:off x="7955280" y="731520"/>
            <a:ext cx="8686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PHASE 01</a:t>
            </a:r>
            <a:endParaRPr lang="en-US" sz="850" dirty="0"/>
          </a:p>
        </p:txBody>
      </p:sp>
      <p:sp>
        <p:nvSpPr>
          <p:cNvPr id="8" name="Shape 5"/>
          <p:cNvSpPr/>
          <p:nvPr/>
        </p:nvSpPr>
        <p:spPr>
          <a:xfrm>
            <a:off x="274320" y="1188720"/>
            <a:ext cx="2606040" cy="3611880"/>
          </a:xfrm>
          <a:prstGeom prst="rect">
            <a:avLst/>
          </a:prstGeom>
          <a:solidFill>
            <a:srgbClr val="FFFFFF"/>
          </a:solidFill>
          <a:ln/>
          <a:effectLst>
            <a:outerShdw blurRad="127000" dist="38100" dir="8100000" algn="bl" rotWithShape="0">
              <a:srgbClr val="000000">
                <a:alpha val="25000"/>
              </a:srgbClr>
            </a:outerShdw>
          </a:effectLst>
        </p:spPr>
      </p:sp>
      <p:sp>
        <p:nvSpPr>
          <p:cNvPr id="9" name="Shape 6"/>
          <p:cNvSpPr/>
          <p:nvPr/>
        </p:nvSpPr>
        <p:spPr>
          <a:xfrm>
            <a:off x="274320" y="1188720"/>
            <a:ext cx="2606040" cy="347472"/>
          </a:xfrm>
          <a:prstGeom prst="rect">
            <a:avLst/>
          </a:prstGeom>
          <a:solidFill>
            <a:srgbClr val="E8670D"/>
          </a:solidFill>
          <a:ln/>
        </p:spPr>
      </p:sp>
      <p:sp>
        <p:nvSpPr>
          <p:cNvPr id="10" name="Text 7"/>
          <p:cNvSpPr/>
          <p:nvPr/>
        </p:nvSpPr>
        <p:spPr>
          <a:xfrm>
            <a:off x="384048" y="1225296"/>
            <a:ext cx="238658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Objective</a:t>
            </a:r>
            <a:endParaRPr lang="en-US" sz="1150" dirty="0"/>
          </a:p>
        </p:txBody>
      </p:sp>
      <p:sp>
        <p:nvSpPr>
          <p:cNvPr id="11" name="Text 8"/>
          <p:cNvSpPr/>
          <p:nvPr/>
        </p:nvSpPr>
        <p:spPr>
          <a:xfrm>
            <a:off x="411480" y="1591056"/>
            <a:ext cx="2331720" cy="313639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Understand what the software must do</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Identify what needs to be tested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Determine testable &amp; non-testable requirements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Identify testing scope and priorities</a:t>
            </a:r>
            <a:endParaRPr lang="en-US" sz="1050" dirty="0"/>
          </a:p>
        </p:txBody>
      </p:sp>
      <p:sp>
        <p:nvSpPr>
          <p:cNvPr id="12" name="Shape 9"/>
          <p:cNvSpPr/>
          <p:nvPr/>
        </p:nvSpPr>
        <p:spPr>
          <a:xfrm>
            <a:off x="3090672" y="1188720"/>
            <a:ext cx="2761488" cy="3611880"/>
          </a:xfrm>
          <a:prstGeom prst="rect">
            <a:avLst/>
          </a:prstGeom>
          <a:solidFill>
            <a:srgbClr val="FFFFFF"/>
          </a:solidFill>
          <a:ln/>
          <a:effectLst>
            <a:outerShdw blurRad="127000" dist="38100" dir="8100000" algn="bl" rotWithShape="0">
              <a:srgbClr val="000000">
                <a:alpha val="25000"/>
              </a:srgbClr>
            </a:outerShdw>
          </a:effectLst>
        </p:spPr>
      </p:sp>
      <p:sp>
        <p:nvSpPr>
          <p:cNvPr id="13" name="Shape 10"/>
          <p:cNvSpPr/>
          <p:nvPr/>
        </p:nvSpPr>
        <p:spPr>
          <a:xfrm>
            <a:off x="3090672" y="1188720"/>
            <a:ext cx="2761488" cy="347472"/>
          </a:xfrm>
          <a:prstGeom prst="rect">
            <a:avLst/>
          </a:prstGeom>
          <a:solidFill>
            <a:srgbClr val="1E1E1E"/>
          </a:solidFill>
          <a:ln/>
        </p:spPr>
      </p:sp>
      <p:sp>
        <p:nvSpPr>
          <p:cNvPr id="14" name="Text 11"/>
          <p:cNvSpPr/>
          <p:nvPr/>
        </p:nvSpPr>
        <p:spPr>
          <a:xfrm>
            <a:off x="3200400" y="1225296"/>
            <a:ext cx="254203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Key Activities</a:t>
            </a:r>
            <a:endParaRPr lang="en-US" sz="1150" dirty="0"/>
          </a:p>
        </p:txBody>
      </p:sp>
      <p:sp>
        <p:nvSpPr>
          <p:cNvPr id="15" name="Text 12"/>
          <p:cNvSpPr/>
          <p:nvPr/>
        </p:nvSpPr>
        <p:spPr>
          <a:xfrm>
            <a:off x="3227832" y="1591056"/>
            <a:ext cx="2487168" cy="313639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Review Business Requirement Docs (BRDs)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Meet with developers and BAs to clarify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Identify ambiguous or missing requirements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Create Requirement Traceability Matrix (RTM)</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Prioritise features by business impact</a:t>
            </a:r>
            <a:endParaRPr lang="en-US" sz="1050" dirty="0"/>
          </a:p>
        </p:txBody>
      </p:sp>
      <p:sp>
        <p:nvSpPr>
          <p:cNvPr id="16" name="Shape 13"/>
          <p:cNvSpPr/>
          <p:nvPr/>
        </p:nvSpPr>
        <p:spPr>
          <a:xfrm>
            <a:off x="6035040" y="1188720"/>
            <a:ext cx="2834640" cy="3611880"/>
          </a:xfrm>
          <a:prstGeom prst="rect">
            <a:avLst/>
          </a:prstGeom>
          <a:solidFill>
            <a:srgbClr val="FFFFFF"/>
          </a:solidFill>
          <a:ln/>
          <a:effectLst>
            <a:outerShdw blurRad="127000" dist="38100" dir="8100000" algn="bl" rotWithShape="0">
              <a:srgbClr val="000000">
                <a:alpha val="25000"/>
              </a:srgbClr>
            </a:outerShdw>
          </a:effectLst>
        </p:spPr>
      </p:sp>
      <p:sp>
        <p:nvSpPr>
          <p:cNvPr id="17" name="Shape 14"/>
          <p:cNvSpPr/>
          <p:nvPr/>
        </p:nvSpPr>
        <p:spPr>
          <a:xfrm>
            <a:off x="6035040" y="1188720"/>
            <a:ext cx="2834640" cy="347472"/>
          </a:xfrm>
          <a:prstGeom prst="rect">
            <a:avLst/>
          </a:prstGeom>
          <a:solidFill>
            <a:srgbClr val="555555"/>
          </a:solidFill>
          <a:ln/>
        </p:spPr>
      </p:sp>
      <p:sp>
        <p:nvSpPr>
          <p:cNvPr id="18" name="Text 15"/>
          <p:cNvSpPr/>
          <p:nvPr/>
        </p:nvSpPr>
        <p:spPr>
          <a:xfrm>
            <a:off x="6144768" y="1225296"/>
            <a:ext cx="261518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Deliverables</a:t>
            </a:r>
            <a:endParaRPr lang="en-US" sz="1150" dirty="0"/>
          </a:p>
        </p:txBody>
      </p:sp>
      <p:sp>
        <p:nvSpPr>
          <p:cNvPr id="19" name="Text 16"/>
          <p:cNvSpPr/>
          <p:nvPr/>
        </p:nvSpPr>
        <p:spPr>
          <a:xfrm>
            <a:off x="6172200" y="1591056"/>
            <a:ext cx="2560320" cy="313639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Requirement Traceability Matrix (RTM)</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List of ambiguities and questions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Feasibility report for automation</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Approved test scope document</a:t>
            </a:r>
            <a:endParaRPr lang="en-US" sz="1050" dirty="0"/>
          </a:p>
        </p:txBody>
      </p:sp>
      <p:sp>
        <p:nvSpPr>
          <p:cNvPr id="20" name="Shape 17"/>
          <p:cNvSpPr/>
          <p:nvPr/>
        </p:nvSpPr>
        <p:spPr>
          <a:xfrm>
            <a:off x="274320" y="4919472"/>
            <a:ext cx="8595360" cy="164592"/>
          </a:xfrm>
          <a:prstGeom prst="rect">
            <a:avLst/>
          </a:prstGeom>
          <a:solidFill>
            <a:srgbClr val="FFF0E6"/>
          </a:solidFill>
          <a:ln/>
        </p:spPr>
      </p:sp>
      <p:sp>
        <p:nvSpPr>
          <p:cNvPr id="21" name="Shape 18"/>
          <p:cNvSpPr/>
          <p:nvPr/>
        </p:nvSpPr>
        <p:spPr>
          <a:xfrm>
            <a:off x="274320" y="4919472"/>
            <a:ext cx="82296" cy="164592"/>
          </a:xfrm>
          <a:prstGeom prst="rect">
            <a:avLst/>
          </a:prstGeom>
          <a:solidFill>
            <a:srgbClr val="E8670D"/>
          </a:solidFill>
          <a:ln/>
        </p:spPr>
      </p:sp>
      <p:sp>
        <p:nvSpPr>
          <p:cNvPr id="22" name="Text 19"/>
          <p:cNvSpPr/>
          <p:nvPr/>
        </p:nvSpPr>
        <p:spPr>
          <a:xfrm>
            <a:off x="411480" y="4919472"/>
            <a:ext cx="8321040" cy="164592"/>
          </a:xfrm>
          <a:prstGeom prst="rect">
            <a:avLst/>
          </a:prstGeom>
          <a:noFill/>
          <a:ln/>
        </p:spPr>
        <p:txBody>
          <a:bodyPr wrap="square" rtlCol="0" anchor="ctr"/>
          <a:lstStyle/>
          <a:p>
            <a:pPr marL="0" indent="0">
              <a:buNone/>
            </a:pPr>
            <a:r>
              <a:rPr lang="en-US" sz="950" i="1" dirty="0">
                <a:solidFill>
                  <a:srgbClr val="B54D00"/>
                </a:solidFill>
                <a:latin typeface="Calibri" pitchFamily="34" charset="0"/>
                <a:ea typeface="Calibri" pitchFamily="34" charset="-122"/>
                <a:cs typeface="Calibri" pitchFamily="34" charset="-120"/>
              </a:rPr>
              <a:t>💡  Real Example:  'User can log in' — a good tester asks: Wrong password? Max attempts? Locked accounts? Reset flow?</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Phase 2: Test Planning</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Creating the strategy and roadmap for testing</a:t>
            </a:r>
            <a:endParaRPr lang="en-US" sz="1200" dirty="0"/>
          </a:p>
        </p:txBody>
      </p:sp>
      <p:sp>
        <p:nvSpPr>
          <p:cNvPr id="6" name="Shape 3"/>
          <p:cNvSpPr/>
          <p:nvPr/>
        </p:nvSpPr>
        <p:spPr>
          <a:xfrm>
            <a:off x="7955280" y="731520"/>
            <a:ext cx="868680" cy="274320"/>
          </a:xfrm>
          <a:prstGeom prst="rect">
            <a:avLst/>
          </a:prstGeom>
          <a:solidFill>
            <a:srgbClr val="1E1E1E"/>
          </a:solidFill>
          <a:ln/>
        </p:spPr>
      </p:sp>
      <p:sp>
        <p:nvSpPr>
          <p:cNvPr id="7" name="Text 4"/>
          <p:cNvSpPr/>
          <p:nvPr/>
        </p:nvSpPr>
        <p:spPr>
          <a:xfrm>
            <a:off x="7955280" y="731520"/>
            <a:ext cx="8686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PHASE 02</a:t>
            </a:r>
            <a:endParaRPr lang="en-US" sz="850" dirty="0"/>
          </a:p>
        </p:txBody>
      </p:sp>
      <p:sp>
        <p:nvSpPr>
          <p:cNvPr id="8" name="Shape 5"/>
          <p:cNvSpPr/>
          <p:nvPr/>
        </p:nvSpPr>
        <p:spPr>
          <a:xfrm>
            <a:off x="274320" y="1298448"/>
            <a:ext cx="2743200" cy="1115568"/>
          </a:xfrm>
          <a:prstGeom prst="rect">
            <a:avLst/>
          </a:prstGeom>
          <a:solidFill>
            <a:srgbClr val="FFFFFF"/>
          </a:solidFill>
          <a:ln/>
          <a:effectLst>
            <a:outerShdw blurRad="127000" dist="38100" dir="8100000" algn="bl" rotWithShape="0">
              <a:srgbClr val="000000">
                <a:alpha val="25000"/>
              </a:srgbClr>
            </a:outerShdw>
          </a:effectLst>
        </p:spPr>
      </p:sp>
      <p:sp>
        <p:nvSpPr>
          <p:cNvPr id="9" name="Shape 6"/>
          <p:cNvSpPr/>
          <p:nvPr/>
        </p:nvSpPr>
        <p:spPr>
          <a:xfrm>
            <a:off x="274320" y="1298448"/>
            <a:ext cx="2743200" cy="329184"/>
          </a:xfrm>
          <a:prstGeom prst="rect">
            <a:avLst/>
          </a:prstGeom>
          <a:solidFill>
            <a:srgbClr val="E8670D"/>
          </a:solidFill>
          <a:ln/>
        </p:spPr>
      </p:sp>
      <p:sp>
        <p:nvSpPr>
          <p:cNvPr id="10" name="Text 7"/>
          <p:cNvSpPr/>
          <p:nvPr/>
        </p:nvSpPr>
        <p:spPr>
          <a:xfrm>
            <a:off x="365760" y="1335024"/>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Scope</a:t>
            </a:r>
            <a:endParaRPr lang="en-US" sz="1100" dirty="0"/>
          </a:p>
        </p:txBody>
      </p:sp>
      <p:sp>
        <p:nvSpPr>
          <p:cNvPr id="11" name="Text 8"/>
          <p:cNvSpPr/>
          <p:nvPr/>
        </p:nvSpPr>
        <p:spPr>
          <a:xfrm>
            <a:off x="365760" y="1682496"/>
            <a:ext cx="2560320" cy="658368"/>
          </a:xfrm>
          <a:prstGeom prst="rect">
            <a:avLst/>
          </a:prstGeom>
          <a:noFill/>
          <a:ln/>
        </p:spPr>
        <p:txBody>
          <a:bodyPr wrap="square" lIns="0" tIns="0" rIns="0" bIns="0" rtlCol="0" anchor="t"/>
          <a:lstStyle/>
          <a:p>
            <a:pPr marL="0" indent="0">
              <a:buNone/>
            </a:pPr>
            <a:r>
              <a:rPr lang="en-US" sz="1100" dirty="0">
                <a:solidFill>
                  <a:srgbClr val="555555"/>
                </a:solidFill>
                <a:latin typeface="Calibri" pitchFamily="34" charset="0"/>
                <a:ea typeface="Calibri" pitchFamily="34" charset="-122"/>
                <a:cs typeface="Calibri" pitchFamily="34" charset="-120"/>
              </a:rPr>
              <a:t>What WILL and WON'T be tested</a:t>
            </a:r>
            <a:endParaRPr lang="en-US" sz="1100" dirty="0"/>
          </a:p>
        </p:txBody>
      </p:sp>
      <p:sp>
        <p:nvSpPr>
          <p:cNvPr id="12" name="Shape 9"/>
          <p:cNvSpPr/>
          <p:nvPr/>
        </p:nvSpPr>
        <p:spPr>
          <a:xfrm>
            <a:off x="3154680" y="1298448"/>
            <a:ext cx="2743200" cy="1115568"/>
          </a:xfrm>
          <a:prstGeom prst="rect">
            <a:avLst/>
          </a:prstGeom>
          <a:solidFill>
            <a:srgbClr val="FFFFFF"/>
          </a:solidFill>
          <a:ln/>
          <a:effectLst>
            <a:outerShdw blurRad="127000" dist="38100" dir="8100000" algn="bl" rotWithShape="0">
              <a:srgbClr val="000000">
                <a:alpha val="25000"/>
              </a:srgbClr>
            </a:outerShdw>
          </a:effectLst>
        </p:spPr>
      </p:sp>
      <p:sp>
        <p:nvSpPr>
          <p:cNvPr id="13" name="Shape 10"/>
          <p:cNvSpPr/>
          <p:nvPr/>
        </p:nvSpPr>
        <p:spPr>
          <a:xfrm>
            <a:off x="3154680" y="1298448"/>
            <a:ext cx="2743200" cy="329184"/>
          </a:xfrm>
          <a:prstGeom prst="rect">
            <a:avLst/>
          </a:prstGeom>
          <a:solidFill>
            <a:srgbClr val="1E1E1E"/>
          </a:solidFill>
          <a:ln/>
        </p:spPr>
      </p:sp>
      <p:sp>
        <p:nvSpPr>
          <p:cNvPr id="14" name="Text 11"/>
          <p:cNvSpPr/>
          <p:nvPr/>
        </p:nvSpPr>
        <p:spPr>
          <a:xfrm>
            <a:off x="3246120" y="1335024"/>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Objectives</a:t>
            </a:r>
            <a:endParaRPr lang="en-US" sz="1100" dirty="0"/>
          </a:p>
        </p:txBody>
      </p:sp>
      <p:sp>
        <p:nvSpPr>
          <p:cNvPr id="15" name="Text 12"/>
          <p:cNvSpPr/>
          <p:nvPr/>
        </p:nvSpPr>
        <p:spPr>
          <a:xfrm>
            <a:off x="3246120" y="1682496"/>
            <a:ext cx="2560320" cy="658368"/>
          </a:xfrm>
          <a:prstGeom prst="rect">
            <a:avLst/>
          </a:prstGeom>
          <a:noFill/>
          <a:ln/>
        </p:spPr>
        <p:txBody>
          <a:bodyPr wrap="square" lIns="0" tIns="0" rIns="0" bIns="0" rtlCol="0" anchor="t"/>
          <a:lstStyle/>
          <a:p>
            <a:pPr marL="0" indent="0">
              <a:buNone/>
            </a:pPr>
            <a:r>
              <a:rPr lang="en-US" sz="1100" dirty="0">
                <a:solidFill>
                  <a:srgbClr val="555555"/>
                </a:solidFill>
                <a:latin typeface="Calibri" pitchFamily="34" charset="0"/>
                <a:ea typeface="Calibri" pitchFamily="34" charset="-122"/>
                <a:cs typeface="Calibri" pitchFamily="34" charset="-120"/>
              </a:rPr>
              <a:t>Goals and quality criteria to meet</a:t>
            </a:r>
            <a:endParaRPr lang="en-US" sz="1100" dirty="0"/>
          </a:p>
        </p:txBody>
      </p:sp>
      <p:sp>
        <p:nvSpPr>
          <p:cNvPr id="16" name="Shape 13"/>
          <p:cNvSpPr/>
          <p:nvPr/>
        </p:nvSpPr>
        <p:spPr>
          <a:xfrm>
            <a:off x="6035040" y="1298448"/>
            <a:ext cx="2743200" cy="1115568"/>
          </a:xfrm>
          <a:prstGeom prst="rect">
            <a:avLst/>
          </a:prstGeom>
          <a:solidFill>
            <a:srgbClr val="FFFFFF"/>
          </a:solidFill>
          <a:ln/>
          <a:effectLst>
            <a:outerShdw blurRad="127000" dist="38100" dir="8100000" algn="bl" rotWithShape="0">
              <a:srgbClr val="000000">
                <a:alpha val="25000"/>
              </a:srgbClr>
            </a:outerShdw>
          </a:effectLst>
        </p:spPr>
      </p:sp>
      <p:sp>
        <p:nvSpPr>
          <p:cNvPr id="17" name="Shape 14"/>
          <p:cNvSpPr/>
          <p:nvPr/>
        </p:nvSpPr>
        <p:spPr>
          <a:xfrm>
            <a:off x="6035040" y="1298448"/>
            <a:ext cx="2743200" cy="329184"/>
          </a:xfrm>
          <a:prstGeom prst="rect">
            <a:avLst/>
          </a:prstGeom>
          <a:solidFill>
            <a:srgbClr val="E8670D"/>
          </a:solidFill>
          <a:ln/>
        </p:spPr>
      </p:sp>
      <p:sp>
        <p:nvSpPr>
          <p:cNvPr id="18" name="Text 15"/>
          <p:cNvSpPr/>
          <p:nvPr/>
        </p:nvSpPr>
        <p:spPr>
          <a:xfrm>
            <a:off x="6126480" y="1335024"/>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Resources</a:t>
            </a:r>
            <a:endParaRPr lang="en-US" sz="1100" dirty="0"/>
          </a:p>
        </p:txBody>
      </p:sp>
      <p:sp>
        <p:nvSpPr>
          <p:cNvPr id="19" name="Text 16"/>
          <p:cNvSpPr/>
          <p:nvPr/>
        </p:nvSpPr>
        <p:spPr>
          <a:xfrm>
            <a:off x="6126480" y="1682496"/>
            <a:ext cx="2560320" cy="658368"/>
          </a:xfrm>
          <a:prstGeom prst="rect">
            <a:avLst/>
          </a:prstGeom>
          <a:noFill/>
          <a:ln/>
        </p:spPr>
        <p:txBody>
          <a:bodyPr wrap="square" lIns="0" tIns="0" rIns="0" bIns="0" rtlCol="0" anchor="t"/>
          <a:lstStyle/>
          <a:p>
            <a:pPr marL="0" indent="0">
              <a:buNone/>
            </a:pPr>
            <a:r>
              <a:rPr lang="en-US" sz="1100" dirty="0">
                <a:solidFill>
                  <a:srgbClr val="555555"/>
                </a:solidFill>
                <a:latin typeface="Calibri" pitchFamily="34" charset="0"/>
                <a:ea typeface="Calibri" pitchFamily="34" charset="-122"/>
                <a:cs typeface="Calibri" pitchFamily="34" charset="-120"/>
              </a:rPr>
              <a:t>Team members, roles, responsibilities</a:t>
            </a:r>
            <a:endParaRPr lang="en-US" sz="1100" dirty="0"/>
          </a:p>
        </p:txBody>
      </p:sp>
      <p:sp>
        <p:nvSpPr>
          <p:cNvPr id="20" name="Shape 17"/>
          <p:cNvSpPr/>
          <p:nvPr/>
        </p:nvSpPr>
        <p:spPr>
          <a:xfrm>
            <a:off x="274320" y="2532888"/>
            <a:ext cx="2743200" cy="1115568"/>
          </a:xfrm>
          <a:prstGeom prst="rect">
            <a:avLst/>
          </a:prstGeom>
          <a:solidFill>
            <a:srgbClr val="FFFFFF"/>
          </a:solidFill>
          <a:ln/>
          <a:effectLst>
            <a:outerShdw blurRad="127000" dist="38100" dir="8100000" algn="bl" rotWithShape="0">
              <a:srgbClr val="000000">
                <a:alpha val="25000"/>
              </a:srgbClr>
            </a:outerShdw>
          </a:effectLst>
        </p:spPr>
      </p:sp>
      <p:sp>
        <p:nvSpPr>
          <p:cNvPr id="21" name="Shape 18"/>
          <p:cNvSpPr/>
          <p:nvPr/>
        </p:nvSpPr>
        <p:spPr>
          <a:xfrm>
            <a:off x="274320" y="2532888"/>
            <a:ext cx="2743200" cy="329184"/>
          </a:xfrm>
          <a:prstGeom prst="rect">
            <a:avLst/>
          </a:prstGeom>
          <a:solidFill>
            <a:srgbClr val="E8670D"/>
          </a:solidFill>
          <a:ln/>
        </p:spPr>
      </p:sp>
      <p:sp>
        <p:nvSpPr>
          <p:cNvPr id="22" name="Text 19"/>
          <p:cNvSpPr/>
          <p:nvPr/>
        </p:nvSpPr>
        <p:spPr>
          <a:xfrm>
            <a:off x="365760" y="2569464"/>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Schedule</a:t>
            </a:r>
            <a:endParaRPr lang="en-US" sz="1100" dirty="0"/>
          </a:p>
        </p:txBody>
      </p:sp>
      <p:sp>
        <p:nvSpPr>
          <p:cNvPr id="23" name="Text 20"/>
          <p:cNvSpPr/>
          <p:nvPr/>
        </p:nvSpPr>
        <p:spPr>
          <a:xfrm>
            <a:off x="365760" y="2916936"/>
            <a:ext cx="2560320" cy="658368"/>
          </a:xfrm>
          <a:prstGeom prst="rect">
            <a:avLst/>
          </a:prstGeom>
          <a:noFill/>
          <a:ln/>
        </p:spPr>
        <p:txBody>
          <a:bodyPr wrap="square" lIns="0" tIns="0" rIns="0" bIns="0" rtlCol="0" anchor="t"/>
          <a:lstStyle/>
          <a:p>
            <a:pPr marL="0" indent="0">
              <a:buNone/>
            </a:pPr>
            <a:r>
              <a:rPr lang="en-US" sz="1100" dirty="0">
                <a:solidFill>
                  <a:srgbClr val="555555"/>
                </a:solidFill>
                <a:latin typeface="Calibri" pitchFamily="34" charset="0"/>
                <a:ea typeface="Calibri" pitchFamily="34" charset="-122"/>
                <a:cs typeface="Calibri" pitchFamily="34" charset="-120"/>
              </a:rPr>
              <a:t>Timeline, milestones, deadlines</a:t>
            </a:r>
            <a:endParaRPr lang="en-US" sz="1100" dirty="0"/>
          </a:p>
        </p:txBody>
      </p:sp>
      <p:sp>
        <p:nvSpPr>
          <p:cNvPr id="24" name="Shape 21"/>
          <p:cNvSpPr/>
          <p:nvPr/>
        </p:nvSpPr>
        <p:spPr>
          <a:xfrm>
            <a:off x="3154680" y="2532888"/>
            <a:ext cx="2743200" cy="1115568"/>
          </a:xfrm>
          <a:prstGeom prst="rect">
            <a:avLst/>
          </a:prstGeom>
          <a:solidFill>
            <a:srgbClr val="FFFFFF"/>
          </a:solidFill>
          <a:ln/>
          <a:effectLst>
            <a:outerShdw blurRad="127000" dist="38100" dir="8100000" algn="bl" rotWithShape="0">
              <a:srgbClr val="000000">
                <a:alpha val="25000"/>
              </a:srgbClr>
            </a:outerShdw>
          </a:effectLst>
        </p:spPr>
      </p:sp>
      <p:sp>
        <p:nvSpPr>
          <p:cNvPr id="25" name="Shape 22"/>
          <p:cNvSpPr/>
          <p:nvPr/>
        </p:nvSpPr>
        <p:spPr>
          <a:xfrm>
            <a:off x="3154680" y="2532888"/>
            <a:ext cx="2743200" cy="329184"/>
          </a:xfrm>
          <a:prstGeom prst="rect">
            <a:avLst/>
          </a:prstGeom>
          <a:solidFill>
            <a:srgbClr val="1E1E1E"/>
          </a:solidFill>
          <a:ln/>
        </p:spPr>
      </p:sp>
      <p:sp>
        <p:nvSpPr>
          <p:cNvPr id="26" name="Text 23"/>
          <p:cNvSpPr/>
          <p:nvPr/>
        </p:nvSpPr>
        <p:spPr>
          <a:xfrm>
            <a:off x="3246120" y="2569464"/>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Risks</a:t>
            </a:r>
            <a:endParaRPr lang="en-US" sz="1100" dirty="0"/>
          </a:p>
        </p:txBody>
      </p:sp>
      <p:sp>
        <p:nvSpPr>
          <p:cNvPr id="27" name="Text 24"/>
          <p:cNvSpPr/>
          <p:nvPr/>
        </p:nvSpPr>
        <p:spPr>
          <a:xfrm>
            <a:off x="3246120" y="2916936"/>
            <a:ext cx="2560320" cy="658368"/>
          </a:xfrm>
          <a:prstGeom prst="rect">
            <a:avLst/>
          </a:prstGeom>
          <a:noFill/>
          <a:ln/>
        </p:spPr>
        <p:txBody>
          <a:bodyPr wrap="square" lIns="0" tIns="0" rIns="0" bIns="0" rtlCol="0" anchor="t"/>
          <a:lstStyle/>
          <a:p>
            <a:pPr marL="0" indent="0">
              <a:buNone/>
            </a:pPr>
            <a:r>
              <a:rPr lang="en-US" sz="1100" dirty="0">
                <a:solidFill>
                  <a:srgbClr val="555555"/>
                </a:solidFill>
                <a:latin typeface="Calibri" pitchFamily="34" charset="0"/>
                <a:ea typeface="Calibri" pitchFamily="34" charset="-122"/>
                <a:cs typeface="Calibri" pitchFamily="34" charset="-120"/>
              </a:rPr>
              <a:t>What could go wrong and mitigation plans</a:t>
            </a:r>
            <a:endParaRPr lang="en-US" sz="1100" dirty="0"/>
          </a:p>
        </p:txBody>
      </p:sp>
      <p:sp>
        <p:nvSpPr>
          <p:cNvPr id="28" name="Shape 25"/>
          <p:cNvSpPr/>
          <p:nvPr/>
        </p:nvSpPr>
        <p:spPr>
          <a:xfrm>
            <a:off x="6035040" y="2532888"/>
            <a:ext cx="2743200" cy="1115568"/>
          </a:xfrm>
          <a:prstGeom prst="rect">
            <a:avLst/>
          </a:prstGeom>
          <a:solidFill>
            <a:srgbClr val="FFFFFF"/>
          </a:solidFill>
          <a:ln/>
          <a:effectLst>
            <a:outerShdw blurRad="127000" dist="38100" dir="8100000" algn="bl" rotWithShape="0">
              <a:srgbClr val="000000">
                <a:alpha val="25000"/>
              </a:srgbClr>
            </a:outerShdw>
          </a:effectLst>
        </p:spPr>
      </p:sp>
      <p:sp>
        <p:nvSpPr>
          <p:cNvPr id="29" name="Shape 26"/>
          <p:cNvSpPr/>
          <p:nvPr/>
        </p:nvSpPr>
        <p:spPr>
          <a:xfrm>
            <a:off x="6035040" y="2532888"/>
            <a:ext cx="2743200" cy="329184"/>
          </a:xfrm>
          <a:prstGeom prst="rect">
            <a:avLst/>
          </a:prstGeom>
          <a:solidFill>
            <a:srgbClr val="E8670D"/>
          </a:solidFill>
          <a:ln/>
        </p:spPr>
      </p:sp>
      <p:sp>
        <p:nvSpPr>
          <p:cNvPr id="30" name="Text 27"/>
          <p:cNvSpPr/>
          <p:nvPr/>
        </p:nvSpPr>
        <p:spPr>
          <a:xfrm>
            <a:off x="6126480" y="2569464"/>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Tools</a:t>
            </a:r>
            <a:endParaRPr lang="en-US" sz="1100" dirty="0"/>
          </a:p>
        </p:txBody>
      </p:sp>
      <p:sp>
        <p:nvSpPr>
          <p:cNvPr id="31" name="Text 28"/>
          <p:cNvSpPr/>
          <p:nvPr/>
        </p:nvSpPr>
        <p:spPr>
          <a:xfrm>
            <a:off x="6126480" y="2916936"/>
            <a:ext cx="2560320" cy="658368"/>
          </a:xfrm>
          <a:prstGeom prst="rect">
            <a:avLst/>
          </a:prstGeom>
          <a:noFill/>
          <a:ln/>
        </p:spPr>
        <p:txBody>
          <a:bodyPr wrap="square" lIns="0" tIns="0" rIns="0" bIns="0" rtlCol="0" anchor="t"/>
          <a:lstStyle/>
          <a:p>
            <a:pPr marL="0" indent="0">
              <a:buNone/>
            </a:pPr>
            <a:r>
              <a:rPr lang="en-US" sz="1100" dirty="0">
                <a:solidFill>
                  <a:srgbClr val="555555"/>
                </a:solidFill>
                <a:latin typeface="Calibri" pitchFamily="34" charset="0"/>
                <a:ea typeface="Calibri" pitchFamily="34" charset="-122"/>
                <a:cs typeface="Calibri" pitchFamily="34" charset="-120"/>
              </a:rPr>
              <a:t>Selenium, Playwright, Eclipse, IntelliJ</a:t>
            </a:r>
            <a:endParaRPr lang="en-US" sz="1100" dirty="0"/>
          </a:p>
        </p:txBody>
      </p:sp>
      <p:sp>
        <p:nvSpPr>
          <p:cNvPr id="32" name="Shape 29"/>
          <p:cNvSpPr/>
          <p:nvPr/>
        </p:nvSpPr>
        <p:spPr>
          <a:xfrm>
            <a:off x="274320" y="3794760"/>
            <a:ext cx="8595360" cy="548640"/>
          </a:xfrm>
          <a:prstGeom prst="rect">
            <a:avLst/>
          </a:prstGeom>
          <a:solidFill>
            <a:srgbClr val="E8670D"/>
          </a:solidFill>
          <a:ln/>
          <a:effectLst>
            <a:outerShdw blurRad="127000" dist="38100" dir="8100000" algn="bl" rotWithShape="0">
              <a:srgbClr val="000000">
                <a:alpha val="25000"/>
              </a:srgbClr>
            </a:outerShdw>
          </a:effectLst>
        </p:spPr>
      </p:sp>
      <p:sp>
        <p:nvSpPr>
          <p:cNvPr id="33" name="Text 30"/>
          <p:cNvSpPr/>
          <p:nvPr/>
        </p:nvSpPr>
        <p:spPr>
          <a:xfrm>
            <a:off x="457200" y="3858768"/>
            <a:ext cx="8229600" cy="402336"/>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KEY DELIVERABLE: Test Plan Document — the 'game plan' that guides the entire testing effort.</a:t>
            </a:r>
            <a:endParaRPr lang="en-US" sz="1250" dirty="0"/>
          </a:p>
        </p:txBody>
      </p:sp>
      <p:sp>
        <p:nvSpPr>
          <p:cNvPr id="34" name="Shape 31"/>
          <p:cNvSpPr/>
          <p:nvPr/>
        </p:nvSpPr>
        <p:spPr>
          <a:xfrm>
            <a:off x="274320" y="4462272"/>
            <a:ext cx="8595360" cy="502920"/>
          </a:xfrm>
          <a:prstGeom prst="rect">
            <a:avLst/>
          </a:prstGeom>
          <a:solidFill>
            <a:srgbClr val="1E1E1E"/>
          </a:solidFill>
          <a:ln/>
        </p:spPr>
      </p:sp>
      <p:sp>
        <p:nvSpPr>
          <p:cNvPr id="35" name="Text 32"/>
          <p:cNvSpPr/>
          <p:nvPr/>
        </p:nvSpPr>
        <p:spPr>
          <a:xfrm>
            <a:off x="411480" y="4498848"/>
            <a:ext cx="8321040" cy="402336"/>
          </a:xfrm>
          <a:prstGeom prst="rect">
            <a:avLst/>
          </a:prstGeom>
          <a:noFill/>
          <a:ln/>
        </p:spPr>
        <p:txBody>
          <a:bodyPr wrap="square" rtlCol="0" anchor="ctr"/>
          <a:lstStyle/>
          <a:p>
            <a:pPr marL="0" indent="0">
              <a:buNone/>
            </a:pPr>
            <a:r>
              <a:rPr lang="en-US" sz="950" i="1" dirty="0">
                <a:solidFill>
                  <a:srgbClr val="BBBBBB"/>
                </a:solidFill>
                <a:latin typeface="Calibri" pitchFamily="34" charset="0"/>
                <a:ea typeface="Calibri" pitchFamily="34" charset="-122"/>
                <a:cs typeface="Calibri" pitchFamily="34" charset="-120"/>
              </a:rPr>
              <a:t>💡  Real Example:  E-commerce site — 'Test checkout, payment, search. NOT admin panel. Aug 1–14. Two testers. Playwright used for automation.'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Phase 3: Test Case Development</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Translating requirements into testable scenarios</a:t>
            </a:r>
            <a:endParaRPr lang="en-US" sz="1200" dirty="0"/>
          </a:p>
        </p:txBody>
      </p:sp>
      <p:sp>
        <p:nvSpPr>
          <p:cNvPr id="6" name="Shape 3"/>
          <p:cNvSpPr/>
          <p:nvPr/>
        </p:nvSpPr>
        <p:spPr>
          <a:xfrm>
            <a:off x="7955280" y="731520"/>
            <a:ext cx="868680" cy="274320"/>
          </a:xfrm>
          <a:prstGeom prst="rect">
            <a:avLst/>
          </a:prstGeom>
          <a:solidFill>
            <a:srgbClr val="E8670D"/>
          </a:solidFill>
          <a:ln/>
        </p:spPr>
      </p:sp>
      <p:sp>
        <p:nvSpPr>
          <p:cNvPr id="7" name="Text 4"/>
          <p:cNvSpPr/>
          <p:nvPr/>
        </p:nvSpPr>
        <p:spPr>
          <a:xfrm>
            <a:off x="7955280" y="731520"/>
            <a:ext cx="8686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PHASE 03</a:t>
            </a:r>
            <a:endParaRPr lang="en-US" sz="850" dirty="0"/>
          </a:p>
        </p:txBody>
      </p:sp>
      <p:sp>
        <p:nvSpPr>
          <p:cNvPr id="8" name="Shape 5"/>
          <p:cNvSpPr/>
          <p:nvPr/>
        </p:nvSpPr>
        <p:spPr>
          <a:xfrm>
            <a:off x="274320" y="1188720"/>
            <a:ext cx="4114800" cy="2331720"/>
          </a:xfrm>
          <a:prstGeom prst="rect">
            <a:avLst/>
          </a:prstGeom>
          <a:solidFill>
            <a:srgbClr val="FFFFFF"/>
          </a:solidFill>
          <a:ln/>
          <a:effectLst>
            <a:outerShdw blurRad="127000" dist="38100" dir="8100000" algn="bl" rotWithShape="0">
              <a:srgbClr val="000000">
                <a:alpha val="25000"/>
              </a:srgbClr>
            </a:outerShdw>
          </a:effectLst>
        </p:spPr>
      </p:sp>
      <p:sp>
        <p:nvSpPr>
          <p:cNvPr id="9" name="Shape 6"/>
          <p:cNvSpPr/>
          <p:nvPr/>
        </p:nvSpPr>
        <p:spPr>
          <a:xfrm>
            <a:off x="274320" y="1188720"/>
            <a:ext cx="4114800" cy="347472"/>
          </a:xfrm>
          <a:prstGeom prst="rect">
            <a:avLst/>
          </a:prstGeom>
          <a:solidFill>
            <a:srgbClr val="E8670D"/>
          </a:solidFill>
          <a:ln/>
        </p:spPr>
      </p:sp>
      <p:sp>
        <p:nvSpPr>
          <p:cNvPr id="10" name="Text 7"/>
          <p:cNvSpPr/>
          <p:nvPr/>
        </p:nvSpPr>
        <p:spPr>
          <a:xfrm>
            <a:off x="384048" y="1225296"/>
            <a:ext cx="389534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Key Activities</a:t>
            </a:r>
            <a:endParaRPr lang="en-US" sz="1150" dirty="0"/>
          </a:p>
        </p:txBody>
      </p:sp>
      <p:sp>
        <p:nvSpPr>
          <p:cNvPr id="11" name="Text 8"/>
          <p:cNvSpPr/>
          <p:nvPr/>
        </p:nvSpPr>
        <p:spPr>
          <a:xfrm>
            <a:off x="411480" y="1591056"/>
            <a:ext cx="3840480" cy="185623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Write detailed test cases from requirements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Create positive AND negative test scenarios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Prepare test data (valid &amp; invalid inputs)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Get test cases reviewed by peers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Map test cases to requirements (RTM)</a:t>
            </a:r>
            <a:endParaRPr lang="en-US" sz="1050" dirty="0"/>
          </a:p>
        </p:txBody>
      </p:sp>
      <p:sp>
        <p:nvSpPr>
          <p:cNvPr id="12" name="Shape 9"/>
          <p:cNvSpPr/>
          <p:nvPr/>
        </p:nvSpPr>
        <p:spPr>
          <a:xfrm>
            <a:off x="4572000" y="1188720"/>
            <a:ext cx="4297680" cy="2331720"/>
          </a:xfrm>
          <a:prstGeom prst="rect">
            <a:avLst/>
          </a:prstGeom>
          <a:solidFill>
            <a:srgbClr val="FFFFFF"/>
          </a:solidFill>
          <a:ln/>
          <a:effectLst>
            <a:outerShdw blurRad="127000" dist="38100" dir="8100000" algn="bl" rotWithShape="0">
              <a:srgbClr val="000000">
                <a:alpha val="25000"/>
              </a:srgbClr>
            </a:outerShdw>
          </a:effectLst>
        </p:spPr>
      </p:sp>
      <p:sp>
        <p:nvSpPr>
          <p:cNvPr id="13" name="Shape 10"/>
          <p:cNvSpPr/>
          <p:nvPr/>
        </p:nvSpPr>
        <p:spPr>
          <a:xfrm>
            <a:off x="4572000" y="1188720"/>
            <a:ext cx="4297680" cy="347472"/>
          </a:xfrm>
          <a:prstGeom prst="rect">
            <a:avLst/>
          </a:prstGeom>
          <a:solidFill>
            <a:srgbClr val="1E1E1E"/>
          </a:solidFill>
          <a:ln/>
        </p:spPr>
      </p:sp>
      <p:sp>
        <p:nvSpPr>
          <p:cNvPr id="14" name="Text 11"/>
          <p:cNvSpPr/>
          <p:nvPr/>
        </p:nvSpPr>
        <p:spPr>
          <a:xfrm>
            <a:off x="4681728" y="1225296"/>
            <a:ext cx="407822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Deliverables</a:t>
            </a:r>
            <a:endParaRPr lang="en-US" sz="1150" dirty="0"/>
          </a:p>
        </p:txBody>
      </p:sp>
      <p:sp>
        <p:nvSpPr>
          <p:cNvPr id="15" name="Text 12"/>
          <p:cNvSpPr/>
          <p:nvPr/>
        </p:nvSpPr>
        <p:spPr>
          <a:xfrm>
            <a:off x="4709160" y="1591056"/>
            <a:ext cx="4023360" cy="185623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Completed test cases (all fields filled)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Test scripts for Playwright/Selenium automation</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Test data sets (valid &amp; invalid)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Updated RTM with test case references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Peer-reviewed and approved test suite</a:t>
            </a:r>
            <a:endParaRPr lang="en-US" sz="1050" dirty="0"/>
          </a:p>
        </p:txBody>
      </p:sp>
      <p:sp>
        <p:nvSpPr>
          <p:cNvPr id="16" name="Shape 13"/>
          <p:cNvSpPr/>
          <p:nvPr/>
        </p:nvSpPr>
        <p:spPr>
          <a:xfrm>
            <a:off x="274320" y="3657600"/>
            <a:ext cx="4114800" cy="1371600"/>
          </a:xfrm>
          <a:prstGeom prst="rect">
            <a:avLst/>
          </a:prstGeom>
          <a:solidFill>
            <a:srgbClr val="ECFAEC"/>
          </a:solidFill>
          <a:ln/>
          <a:effectLst>
            <a:outerShdw blurRad="127000" dist="38100" dir="8100000" algn="bl" rotWithShape="0">
              <a:srgbClr val="000000">
                <a:alpha val="25000"/>
              </a:srgbClr>
            </a:outerShdw>
          </a:effectLst>
        </p:spPr>
      </p:sp>
      <p:sp>
        <p:nvSpPr>
          <p:cNvPr id="17" name="Shape 14"/>
          <p:cNvSpPr/>
          <p:nvPr/>
        </p:nvSpPr>
        <p:spPr>
          <a:xfrm>
            <a:off x="274320" y="3657600"/>
            <a:ext cx="82296" cy="1371600"/>
          </a:xfrm>
          <a:prstGeom prst="rect">
            <a:avLst/>
          </a:prstGeom>
          <a:solidFill>
            <a:srgbClr val="43A047"/>
          </a:solidFill>
          <a:ln/>
        </p:spPr>
      </p:sp>
      <p:sp>
        <p:nvSpPr>
          <p:cNvPr id="18" name="Text 15"/>
          <p:cNvSpPr/>
          <p:nvPr/>
        </p:nvSpPr>
        <p:spPr>
          <a:xfrm>
            <a:off x="457200" y="3703320"/>
            <a:ext cx="3840480" cy="32004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  Positive Testing</a:t>
            </a:r>
            <a:endParaRPr lang="en-US" sz="1200" dirty="0"/>
          </a:p>
        </p:txBody>
      </p:sp>
      <p:sp>
        <p:nvSpPr>
          <p:cNvPr id="19" name="Text 16"/>
          <p:cNvSpPr/>
          <p:nvPr/>
        </p:nvSpPr>
        <p:spPr>
          <a:xfrm>
            <a:off x="457200" y="4059936"/>
            <a:ext cx="3840480" cy="877824"/>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Enter valid username and password → Login succeeds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Add item to cart → Cart count increases</a:t>
            </a:r>
            <a:endParaRPr lang="en-US" sz="1100" dirty="0"/>
          </a:p>
        </p:txBody>
      </p:sp>
      <p:sp>
        <p:nvSpPr>
          <p:cNvPr id="20" name="Shape 17"/>
          <p:cNvSpPr/>
          <p:nvPr/>
        </p:nvSpPr>
        <p:spPr>
          <a:xfrm>
            <a:off x="4572000" y="3657600"/>
            <a:ext cx="4297680" cy="1371600"/>
          </a:xfrm>
          <a:prstGeom prst="rect">
            <a:avLst/>
          </a:prstGeom>
          <a:solidFill>
            <a:srgbClr val="FDECEA"/>
          </a:solidFill>
          <a:ln/>
          <a:effectLst>
            <a:outerShdw blurRad="127000" dist="38100" dir="8100000" algn="bl" rotWithShape="0">
              <a:srgbClr val="000000">
                <a:alpha val="25000"/>
              </a:srgbClr>
            </a:outerShdw>
          </a:effectLst>
        </p:spPr>
      </p:sp>
      <p:sp>
        <p:nvSpPr>
          <p:cNvPr id="21" name="Shape 18"/>
          <p:cNvSpPr/>
          <p:nvPr/>
        </p:nvSpPr>
        <p:spPr>
          <a:xfrm>
            <a:off x="4572000" y="3657600"/>
            <a:ext cx="82296" cy="1371600"/>
          </a:xfrm>
          <a:prstGeom prst="rect">
            <a:avLst/>
          </a:prstGeom>
          <a:solidFill>
            <a:srgbClr val="E53935"/>
          </a:solidFill>
          <a:ln/>
        </p:spPr>
      </p:sp>
      <p:sp>
        <p:nvSpPr>
          <p:cNvPr id="22" name="Text 19"/>
          <p:cNvSpPr/>
          <p:nvPr/>
        </p:nvSpPr>
        <p:spPr>
          <a:xfrm>
            <a:off x="4754880" y="3703320"/>
            <a:ext cx="4023360" cy="320040"/>
          </a:xfrm>
          <a:prstGeom prst="rect">
            <a:avLst/>
          </a:prstGeom>
          <a:noFill/>
          <a:ln/>
        </p:spPr>
        <p:txBody>
          <a:bodyPr wrap="square" rtlCol="0" anchor="ctr"/>
          <a:lstStyle/>
          <a:p>
            <a:pPr marL="0" indent="0">
              <a:buNone/>
            </a:pPr>
            <a:r>
              <a:rPr lang="en-US" sz="1200" b="1" dirty="0">
                <a:solidFill>
                  <a:srgbClr val="B71C1C"/>
                </a:solidFill>
                <a:latin typeface="Calibri" pitchFamily="34" charset="0"/>
                <a:ea typeface="Calibri" pitchFamily="34" charset="-122"/>
                <a:cs typeface="Calibri" pitchFamily="34" charset="-120"/>
              </a:rPr>
              <a:t>❌  Negative Testing</a:t>
            </a:r>
            <a:endParaRPr lang="en-US" sz="1200" dirty="0"/>
          </a:p>
        </p:txBody>
      </p:sp>
      <p:sp>
        <p:nvSpPr>
          <p:cNvPr id="23" name="Text 20"/>
          <p:cNvSpPr/>
          <p:nvPr/>
        </p:nvSpPr>
        <p:spPr>
          <a:xfrm>
            <a:off x="4754880" y="4059936"/>
            <a:ext cx="4023360" cy="877824"/>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Enter wrong password → Error message shown</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Leave username empty → Validation error appears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Phase 4: Test Environment Setup</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Preparing the 'testing lab' before execution begins</a:t>
            </a:r>
            <a:endParaRPr lang="en-US" sz="1200" dirty="0"/>
          </a:p>
        </p:txBody>
      </p:sp>
      <p:sp>
        <p:nvSpPr>
          <p:cNvPr id="6" name="Shape 3"/>
          <p:cNvSpPr/>
          <p:nvPr/>
        </p:nvSpPr>
        <p:spPr>
          <a:xfrm>
            <a:off x="7955280" y="731520"/>
            <a:ext cx="868680" cy="274320"/>
          </a:xfrm>
          <a:prstGeom prst="rect">
            <a:avLst/>
          </a:prstGeom>
          <a:solidFill>
            <a:srgbClr val="1E1E1E"/>
          </a:solidFill>
          <a:ln/>
        </p:spPr>
      </p:sp>
      <p:sp>
        <p:nvSpPr>
          <p:cNvPr id="7" name="Text 4"/>
          <p:cNvSpPr/>
          <p:nvPr/>
        </p:nvSpPr>
        <p:spPr>
          <a:xfrm>
            <a:off x="7955280" y="731520"/>
            <a:ext cx="8686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PHASE 04</a:t>
            </a:r>
            <a:endParaRPr lang="en-US" sz="850" dirty="0"/>
          </a:p>
        </p:txBody>
      </p:sp>
      <p:sp>
        <p:nvSpPr>
          <p:cNvPr id="8" name="Shape 5"/>
          <p:cNvSpPr/>
          <p:nvPr/>
        </p:nvSpPr>
        <p:spPr>
          <a:xfrm>
            <a:off x="274320" y="1188720"/>
            <a:ext cx="4114800" cy="3566160"/>
          </a:xfrm>
          <a:prstGeom prst="rect">
            <a:avLst/>
          </a:prstGeom>
          <a:solidFill>
            <a:srgbClr val="FFFFFF"/>
          </a:solidFill>
          <a:ln/>
          <a:effectLst>
            <a:outerShdw blurRad="127000" dist="38100" dir="8100000" algn="bl" rotWithShape="0">
              <a:srgbClr val="000000">
                <a:alpha val="25000"/>
              </a:srgbClr>
            </a:outerShdw>
          </a:effectLst>
        </p:spPr>
      </p:sp>
      <p:sp>
        <p:nvSpPr>
          <p:cNvPr id="9" name="Shape 6"/>
          <p:cNvSpPr/>
          <p:nvPr/>
        </p:nvSpPr>
        <p:spPr>
          <a:xfrm>
            <a:off x="274320" y="1188720"/>
            <a:ext cx="4114800" cy="347472"/>
          </a:xfrm>
          <a:prstGeom prst="rect">
            <a:avLst/>
          </a:prstGeom>
          <a:solidFill>
            <a:srgbClr val="E8670D"/>
          </a:solidFill>
          <a:ln/>
        </p:spPr>
      </p:sp>
      <p:sp>
        <p:nvSpPr>
          <p:cNvPr id="10" name="Text 7"/>
          <p:cNvSpPr/>
          <p:nvPr/>
        </p:nvSpPr>
        <p:spPr>
          <a:xfrm>
            <a:off x="384048" y="1225296"/>
            <a:ext cx="389534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Key Activities</a:t>
            </a:r>
            <a:endParaRPr lang="en-US" sz="1150" dirty="0"/>
          </a:p>
        </p:txBody>
      </p:sp>
      <p:sp>
        <p:nvSpPr>
          <p:cNvPr id="11" name="Text 8"/>
          <p:cNvSpPr/>
          <p:nvPr/>
        </p:nvSpPr>
        <p:spPr>
          <a:xfrm>
            <a:off x="411480" y="1591056"/>
            <a:ext cx="3840480" cy="309067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Set up dedicated QA server/environment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Install required OS, browsers, devices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Configure databases with test data</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Deploy the application build to QA</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Install Selenium, Playwright, Eclipse, IntelliJ</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Verify the environment is stable and ready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Smoke test the environment before full testing</a:t>
            </a:r>
            <a:endParaRPr lang="en-US" sz="1050" dirty="0"/>
          </a:p>
        </p:txBody>
      </p:sp>
      <p:sp>
        <p:nvSpPr>
          <p:cNvPr id="12" name="Text 9"/>
          <p:cNvSpPr/>
          <p:nvPr/>
        </p:nvSpPr>
        <p:spPr>
          <a:xfrm>
            <a:off x="4617720" y="1188720"/>
            <a:ext cx="4206240" cy="347472"/>
          </a:xfrm>
          <a:prstGeom prst="rect">
            <a:avLst/>
          </a:prstGeom>
          <a:noFill/>
          <a:ln/>
        </p:spPr>
        <p:txBody>
          <a:bodyPr wrap="square" rtlCol="0" anchor="ctr"/>
          <a:lstStyle/>
          <a:p>
            <a:pPr marL="0" indent="0">
              <a:buNone/>
            </a:pPr>
            <a:r>
              <a:rPr lang="en-US" sz="1300" b="1" dirty="0">
                <a:solidFill>
                  <a:srgbClr val="111111"/>
                </a:solidFill>
                <a:latin typeface="Calibri" pitchFamily="34" charset="0"/>
                <a:ea typeface="Calibri" pitchFamily="34" charset="-122"/>
                <a:cs typeface="Calibri" pitchFamily="34" charset="-120"/>
              </a:rPr>
              <a:t>Environment Types:</a:t>
            </a:r>
            <a:endParaRPr lang="en-US" sz="1300" dirty="0"/>
          </a:p>
        </p:txBody>
      </p:sp>
      <p:sp>
        <p:nvSpPr>
          <p:cNvPr id="13" name="Shape 10"/>
          <p:cNvSpPr/>
          <p:nvPr/>
        </p:nvSpPr>
        <p:spPr>
          <a:xfrm>
            <a:off x="4617720" y="1609344"/>
            <a:ext cx="4206240" cy="658368"/>
          </a:xfrm>
          <a:prstGeom prst="rect">
            <a:avLst/>
          </a:prstGeom>
          <a:solidFill>
            <a:srgbClr val="FFFFFF"/>
          </a:solidFill>
          <a:ln/>
          <a:effectLst>
            <a:outerShdw blurRad="127000" dist="38100" dir="8100000" algn="bl" rotWithShape="0">
              <a:srgbClr val="000000">
                <a:alpha val="25000"/>
              </a:srgbClr>
            </a:outerShdw>
          </a:effectLst>
        </p:spPr>
      </p:sp>
      <p:sp>
        <p:nvSpPr>
          <p:cNvPr id="14" name="Shape 11"/>
          <p:cNvSpPr/>
          <p:nvPr/>
        </p:nvSpPr>
        <p:spPr>
          <a:xfrm>
            <a:off x="4617720" y="1609344"/>
            <a:ext cx="749808" cy="658368"/>
          </a:xfrm>
          <a:prstGeom prst="rect">
            <a:avLst/>
          </a:prstGeom>
          <a:solidFill>
            <a:srgbClr val="555555"/>
          </a:solidFill>
          <a:ln/>
        </p:spPr>
      </p:sp>
      <p:sp>
        <p:nvSpPr>
          <p:cNvPr id="15" name="Text 12"/>
          <p:cNvSpPr/>
          <p:nvPr/>
        </p:nvSpPr>
        <p:spPr>
          <a:xfrm>
            <a:off x="4617720" y="1709928"/>
            <a:ext cx="749808"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DEV</a:t>
            </a:r>
            <a:endParaRPr lang="en-US" sz="1100" dirty="0"/>
          </a:p>
        </p:txBody>
      </p:sp>
      <p:sp>
        <p:nvSpPr>
          <p:cNvPr id="16" name="Text 13"/>
          <p:cNvSpPr/>
          <p:nvPr/>
        </p:nvSpPr>
        <p:spPr>
          <a:xfrm>
            <a:off x="5440680" y="1673352"/>
            <a:ext cx="3291840" cy="502920"/>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Developers write code here. Unstable.</a:t>
            </a:r>
            <a:endParaRPr lang="en-US" sz="1050" dirty="0"/>
          </a:p>
        </p:txBody>
      </p:sp>
      <p:sp>
        <p:nvSpPr>
          <p:cNvPr id="17" name="Shape 14"/>
          <p:cNvSpPr/>
          <p:nvPr/>
        </p:nvSpPr>
        <p:spPr>
          <a:xfrm>
            <a:off x="4617720" y="2359152"/>
            <a:ext cx="4206240" cy="658368"/>
          </a:xfrm>
          <a:prstGeom prst="rect">
            <a:avLst/>
          </a:prstGeom>
          <a:solidFill>
            <a:srgbClr val="FFFFFF"/>
          </a:solidFill>
          <a:ln/>
          <a:effectLst>
            <a:outerShdw blurRad="127000" dist="38100" dir="8100000" algn="bl" rotWithShape="0">
              <a:srgbClr val="000000">
                <a:alpha val="25000"/>
              </a:srgbClr>
            </a:outerShdw>
          </a:effectLst>
        </p:spPr>
      </p:sp>
      <p:sp>
        <p:nvSpPr>
          <p:cNvPr id="18" name="Shape 15"/>
          <p:cNvSpPr/>
          <p:nvPr/>
        </p:nvSpPr>
        <p:spPr>
          <a:xfrm>
            <a:off x="4617720" y="2359152"/>
            <a:ext cx="749808" cy="658368"/>
          </a:xfrm>
          <a:prstGeom prst="rect">
            <a:avLst/>
          </a:prstGeom>
          <a:solidFill>
            <a:srgbClr val="E8670D"/>
          </a:solidFill>
          <a:ln/>
        </p:spPr>
      </p:sp>
      <p:sp>
        <p:nvSpPr>
          <p:cNvPr id="19" name="Text 16"/>
          <p:cNvSpPr/>
          <p:nvPr/>
        </p:nvSpPr>
        <p:spPr>
          <a:xfrm>
            <a:off x="4617720" y="2459736"/>
            <a:ext cx="749808"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QA</a:t>
            </a:r>
            <a:endParaRPr lang="en-US" sz="1100" dirty="0"/>
          </a:p>
        </p:txBody>
      </p:sp>
      <p:sp>
        <p:nvSpPr>
          <p:cNvPr id="20" name="Text 17"/>
          <p:cNvSpPr/>
          <p:nvPr/>
        </p:nvSpPr>
        <p:spPr>
          <a:xfrm>
            <a:off x="5440680" y="2423160"/>
            <a:ext cx="3291840" cy="502920"/>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Testers work here. Stable build for testing.</a:t>
            </a:r>
            <a:endParaRPr lang="en-US" sz="1050" dirty="0"/>
          </a:p>
        </p:txBody>
      </p:sp>
      <p:sp>
        <p:nvSpPr>
          <p:cNvPr id="21" name="Shape 18"/>
          <p:cNvSpPr/>
          <p:nvPr/>
        </p:nvSpPr>
        <p:spPr>
          <a:xfrm>
            <a:off x="4617720" y="3108960"/>
            <a:ext cx="4206240" cy="658368"/>
          </a:xfrm>
          <a:prstGeom prst="rect">
            <a:avLst/>
          </a:prstGeom>
          <a:solidFill>
            <a:srgbClr val="FFFFFF"/>
          </a:solidFill>
          <a:ln/>
          <a:effectLst>
            <a:outerShdw blurRad="127000" dist="38100" dir="8100000" algn="bl" rotWithShape="0">
              <a:srgbClr val="000000">
                <a:alpha val="25000"/>
              </a:srgbClr>
            </a:outerShdw>
          </a:effectLst>
        </p:spPr>
      </p:sp>
      <p:sp>
        <p:nvSpPr>
          <p:cNvPr id="22" name="Shape 19"/>
          <p:cNvSpPr/>
          <p:nvPr/>
        </p:nvSpPr>
        <p:spPr>
          <a:xfrm>
            <a:off x="4617720" y="3108960"/>
            <a:ext cx="749808" cy="658368"/>
          </a:xfrm>
          <a:prstGeom prst="rect">
            <a:avLst/>
          </a:prstGeom>
          <a:solidFill>
            <a:srgbClr val="1E1E1E"/>
          </a:solidFill>
          <a:ln/>
        </p:spPr>
      </p:sp>
      <p:sp>
        <p:nvSpPr>
          <p:cNvPr id="23" name="Text 20"/>
          <p:cNvSpPr/>
          <p:nvPr/>
        </p:nvSpPr>
        <p:spPr>
          <a:xfrm>
            <a:off x="4617720" y="3209544"/>
            <a:ext cx="749808"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UAT</a:t>
            </a:r>
            <a:endParaRPr lang="en-US" sz="1100" dirty="0"/>
          </a:p>
        </p:txBody>
      </p:sp>
      <p:sp>
        <p:nvSpPr>
          <p:cNvPr id="24" name="Text 21"/>
          <p:cNvSpPr/>
          <p:nvPr/>
        </p:nvSpPr>
        <p:spPr>
          <a:xfrm>
            <a:off x="5440680" y="3172968"/>
            <a:ext cx="3291840" cy="502920"/>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Business users validate. Close to production.</a:t>
            </a:r>
            <a:endParaRPr lang="en-US" sz="1050" dirty="0"/>
          </a:p>
        </p:txBody>
      </p:sp>
      <p:sp>
        <p:nvSpPr>
          <p:cNvPr id="25" name="Shape 22"/>
          <p:cNvSpPr/>
          <p:nvPr/>
        </p:nvSpPr>
        <p:spPr>
          <a:xfrm>
            <a:off x="4617720" y="3858768"/>
            <a:ext cx="4206240" cy="658368"/>
          </a:xfrm>
          <a:prstGeom prst="rect">
            <a:avLst/>
          </a:prstGeom>
          <a:solidFill>
            <a:srgbClr val="FFFFFF"/>
          </a:solidFill>
          <a:ln/>
          <a:effectLst>
            <a:outerShdw blurRad="127000" dist="38100" dir="8100000" algn="bl" rotWithShape="0">
              <a:srgbClr val="000000">
                <a:alpha val="25000"/>
              </a:srgbClr>
            </a:outerShdw>
          </a:effectLst>
        </p:spPr>
      </p:sp>
      <p:sp>
        <p:nvSpPr>
          <p:cNvPr id="26" name="Shape 23"/>
          <p:cNvSpPr/>
          <p:nvPr/>
        </p:nvSpPr>
        <p:spPr>
          <a:xfrm>
            <a:off x="4617720" y="3858768"/>
            <a:ext cx="749808" cy="658368"/>
          </a:xfrm>
          <a:prstGeom prst="rect">
            <a:avLst/>
          </a:prstGeom>
          <a:solidFill>
            <a:srgbClr val="C62828"/>
          </a:solidFill>
          <a:ln/>
        </p:spPr>
      </p:sp>
      <p:sp>
        <p:nvSpPr>
          <p:cNvPr id="27" name="Text 24"/>
          <p:cNvSpPr/>
          <p:nvPr/>
        </p:nvSpPr>
        <p:spPr>
          <a:xfrm>
            <a:off x="4617720" y="3959352"/>
            <a:ext cx="749808"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a:t>
            </a:r>
            <a:endParaRPr lang="en-US" sz="1100" dirty="0"/>
          </a:p>
        </p:txBody>
      </p:sp>
      <p:sp>
        <p:nvSpPr>
          <p:cNvPr id="28" name="Text 25"/>
          <p:cNvSpPr/>
          <p:nvPr/>
        </p:nvSpPr>
        <p:spPr>
          <a:xfrm>
            <a:off x="5440680" y="3922776"/>
            <a:ext cx="3291840" cy="502920"/>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Live environment. Real users. No testing here!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Phase 5: Test Execution</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Running the tests and recording results</a:t>
            </a:r>
            <a:endParaRPr lang="en-US" sz="1200" dirty="0"/>
          </a:p>
        </p:txBody>
      </p:sp>
      <p:sp>
        <p:nvSpPr>
          <p:cNvPr id="6" name="Shape 3"/>
          <p:cNvSpPr/>
          <p:nvPr/>
        </p:nvSpPr>
        <p:spPr>
          <a:xfrm>
            <a:off x="7955280" y="731520"/>
            <a:ext cx="868680" cy="274320"/>
          </a:xfrm>
          <a:prstGeom prst="rect">
            <a:avLst/>
          </a:prstGeom>
          <a:solidFill>
            <a:srgbClr val="E8670D"/>
          </a:solidFill>
          <a:ln/>
        </p:spPr>
      </p:sp>
      <p:sp>
        <p:nvSpPr>
          <p:cNvPr id="7" name="Text 4"/>
          <p:cNvSpPr/>
          <p:nvPr/>
        </p:nvSpPr>
        <p:spPr>
          <a:xfrm>
            <a:off x="7955280" y="731520"/>
            <a:ext cx="8686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PHASE 05</a:t>
            </a:r>
            <a:endParaRPr lang="en-US" sz="850" dirty="0"/>
          </a:p>
        </p:txBody>
      </p:sp>
      <p:sp>
        <p:nvSpPr>
          <p:cNvPr id="8" name="Shape 5"/>
          <p:cNvSpPr/>
          <p:nvPr/>
        </p:nvSpPr>
        <p:spPr>
          <a:xfrm>
            <a:off x="274320" y="1188720"/>
            <a:ext cx="2651760" cy="3520440"/>
          </a:xfrm>
          <a:prstGeom prst="rect">
            <a:avLst/>
          </a:prstGeom>
          <a:solidFill>
            <a:srgbClr val="FFFFFF"/>
          </a:solidFill>
          <a:ln/>
          <a:effectLst>
            <a:outerShdw blurRad="127000" dist="38100" dir="8100000" algn="bl" rotWithShape="0">
              <a:srgbClr val="000000">
                <a:alpha val="25000"/>
              </a:srgbClr>
            </a:outerShdw>
          </a:effectLst>
        </p:spPr>
      </p:sp>
      <p:sp>
        <p:nvSpPr>
          <p:cNvPr id="9" name="Shape 6"/>
          <p:cNvSpPr/>
          <p:nvPr/>
        </p:nvSpPr>
        <p:spPr>
          <a:xfrm>
            <a:off x="274320" y="1188720"/>
            <a:ext cx="2651760" cy="347472"/>
          </a:xfrm>
          <a:prstGeom prst="rect">
            <a:avLst/>
          </a:prstGeom>
          <a:solidFill>
            <a:srgbClr val="E8670D"/>
          </a:solidFill>
          <a:ln/>
        </p:spPr>
      </p:sp>
      <p:sp>
        <p:nvSpPr>
          <p:cNvPr id="10" name="Text 7"/>
          <p:cNvSpPr/>
          <p:nvPr/>
        </p:nvSpPr>
        <p:spPr>
          <a:xfrm>
            <a:off x="384048" y="1225296"/>
            <a:ext cx="243230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Key Activities</a:t>
            </a:r>
            <a:endParaRPr lang="en-US" sz="1150" dirty="0"/>
          </a:p>
        </p:txBody>
      </p:sp>
      <p:sp>
        <p:nvSpPr>
          <p:cNvPr id="11" name="Text 8"/>
          <p:cNvSpPr/>
          <p:nvPr/>
        </p:nvSpPr>
        <p:spPr>
          <a:xfrm>
            <a:off x="411480" y="1591056"/>
            <a:ext cx="2377440" cy="304495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Execute test cases one by one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Compare actual vs expected results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Log PASS or FAIL for each test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Report defects for all FAIL tests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Perform retesting after bug fixes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Conduct regression testing</a:t>
            </a:r>
            <a:endParaRPr lang="en-US" sz="1050" dirty="0"/>
          </a:p>
        </p:txBody>
      </p:sp>
      <p:sp>
        <p:nvSpPr>
          <p:cNvPr id="12" name="Text 9"/>
          <p:cNvSpPr/>
          <p:nvPr/>
        </p:nvSpPr>
        <p:spPr>
          <a:xfrm>
            <a:off x="3108960" y="1188720"/>
            <a:ext cx="5760720" cy="347472"/>
          </a:xfrm>
          <a:prstGeom prst="rect">
            <a:avLst/>
          </a:prstGeom>
          <a:noFill/>
          <a:ln/>
        </p:spPr>
        <p:txBody>
          <a:bodyPr wrap="square" rtlCol="0" anchor="ctr"/>
          <a:lstStyle/>
          <a:p>
            <a:pPr marL="0" indent="0">
              <a:buNone/>
            </a:pPr>
            <a:r>
              <a:rPr lang="en-US" sz="1300" b="1" dirty="0">
                <a:solidFill>
                  <a:srgbClr val="111111"/>
                </a:solidFill>
                <a:latin typeface="Calibri" pitchFamily="34" charset="0"/>
                <a:ea typeface="Calibri" pitchFamily="34" charset="-122"/>
                <a:cs typeface="Calibri" pitchFamily="34" charset="-120"/>
              </a:rPr>
              <a:t>Test Execution Statuses:</a:t>
            </a:r>
            <a:endParaRPr lang="en-US" sz="1300" dirty="0"/>
          </a:p>
        </p:txBody>
      </p:sp>
      <p:sp>
        <p:nvSpPr>
          <p:cNvPr id="13" name="Shape 10"/>
          <p:cNvSpPr/>
          <p:nvPr/>
        </p:nvSpPr>
        <p:spPr>
          <a:xfrm>
            <a:off x="3108960" y="1600200"/>
            <a:ext cx="5760720" cy="530352"/>
          </a:xfrm>
          <a:prstGeom prst="rect">
            <a:avLst/>
          </a:prstGeom>
          <a:solidFill>
            <a:srgbClr val="FFFFFF"/>
          </a:solidFill>
          <a:ln/>
          <a:effectLst>
            <a:outerShdw blurRad="127000" dist="38100" dir="8100000" algn="bl" rotWithShape="0">
              <a:srgbClr val="000000">
                <a:alpha val="25000"/>
              </a:srgbClr>
            </a:outerShdw>
          </a:effectLst>
        </p:spPr>
      </p:sp>
      <p:sp>
        <p:nvSpPr>
          <p:cNvPr id="14" name="Shape 11"/>
          <p:cNvSpPr/>
          <p:nvPr/>
        </p:nvSpPr>
        <p:spPr>
          <a:xfrm>
            <a:off x="3108960" y="1600200"/>
            <a:ext cx="1005840" cy="530352"/>
          </a:xfrm>
          <a:prstGeom prst="rect">
            <a:avLst/>
          </a:prstGeom>
          <a:solidFill>
            <a:srgbClr val="43A047"/>
          </a:solidFill>
          <a:ln/>
        </p:spPr>
      </p:sp>
      <p:sp>
        <p:nvSpPr>
          <p:cNvPr id="15" name="Text 12"/>
          <p:cNvSpPr/>
          <p:nvPr/>
        </p:nvSpPr>
        <p:spPr>
          <a:xfrm>
            <a:off x="3108960" y="1673352"/>
            <a:ext cx="100584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16" name="Text 13"/>
          <p:cNvSpPr/>
          <p:nvPr/>
        </p:nvSpPr>
        <p:spPr>
          <a:xfrm>
            <a:off x="4206240" y="1673352"/>
            <a:ext cx="457200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Actual result matches expected result</a:t>
            </a:r>
            <a:endParaRPr lang="en-US" sz="1100" dirty="0"/>
          </a:p>
        </p:txBody>
      </p:sp>
      <p:sp>
        <p:nvSpPr>
          <p:cNvPr id="17" name="Shape 14"/>
          <p:cNvSpPr/>
          <p:nvPr/>
        </p:nvSpPr>
        <p:spPr>
          <a:xfrm>
            <a:off x="3108960" y="2221992"/>
            <a:ext cx="5760720" cy="530352"/>
          </a:xfrm>
          <a:prstGeom prst="rect">
            <a:avLst/>
          </a:prstGeom>
          <a:solidFill>
            <a:srgbClr val="FFFFFF"/>
          </a:solidFill>
          <a:ln/>
          <a:effectLst>
            <a:outerShdw blurRad="127000" dist="38100" dir="8100000" algn="bl" rotWithShape="0">
              <a:srgbClr val="000000">
                <a:alpha val="25000"/>
              </a:srgbClr>
            </a:outerShdw>
          </a:effectLst>
        </p:spPr>
      </p:sp>
      <p:sp>
        <p:nvSpPr>
          <p:cNvPr id="18" name="Shape 15"/>
          <p:cNvSpPr/>
          <p:nvPr/>
        </p:nvSpPr>
        <p:spPr>
          <a:xfrm>
            <a:off x="3108960" y="2221992"/>
            <a:ext cx="1005840" cy="530352"/>
          </a:xfrm>
          <a:prstGeom prst="rect">
            <a:avLst/>
          </a:prstGeom>
          <a:solidFill>
            <a:srgbClr val="E53935"/>
          </a:solidFill>
          <a:ln/>
        </p:spPr>
      </p:sp>
      <p:sp>
        <p:nvSpPr>
          <p:cNvPr id="19" name="Text 16"/>
          <p:cNvSpPr/>
          <p:nvPr/>
        </p:nvSpPr>
        <p:spPr>
          <a:xfrm>
            <a:off x="3108960" y="2295144"/>
            <a:ext cx="100584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FAIL</a:t>
            </a:r>
            <a:endParaRPr lang="en-US" sz="1000" dirty="0"/>
          </a:p>
        </p:txBody>
      </p:sp>
      <p:sp>
        <p:nvSpPr>
          <p:cNvPr id="20" name="Text 17"/>
          <p:cNvSpPr/>
          <p:nvPr/>
        </p:nvSpPr>
        <p:spPr>
          <a:xfrm>
            <a:off x="4206240" y="2295144"/>
            <a:ext cx="457200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Actual result does NOT match — raise a defect</a:t>
            </a:r>
            <a:endParaRPr lang="en-US" sz="1100" dirty="0"/>
          </a:p>
        </p:txBody>
      </p:sp>
      <p:sp>
        <p:nvSpPr>
          <p:cNvPr id="21" name="Shape 18"/>
          <p:cNvSpPr/>
          <p:nvPr/>
        </p:nvSpPr>
        <p:spPr>
          <a:xfrm>
            <a:off x="3108960" y="2843784"/>
            <a:ext cx="5760720" cy="530352"/>
          </a:xfrm>
          <a:prstGeom prst="rect">
            <a:avLst/>
          </a:prstGeom>
          <a:solidFill>
            <a:srgbClr val="FFFFFF"/>
          </a:solidFill>
          <a:ln/>
          <a:effectLst>
            <a:outerShdw blurRad="127000" dist="38100" dir="8100000" algn="bl" rotWithShape="0">
              <a:srgbClr val="000000">
                <a:alpha val="25000"/>
              </a:srgbClr>
            </a:outerShdw>
          </a:effectLst>
        </p:spPr>
      </p:sp>
      <p:sp>
        <p:nvSpPr>
          <p:cNvPr id="22" name="Shape 19"/>
          <p:cNvSpPr/>
          <p:nvPr/>
        </p:nvSpPr>
        <p:spPr>
          <a:xfrm>
            <a:off x="3108960" y="2843784"/>
            <a:ext cx="1005840" cy="530352"/>
          </a:xfrm>
          <a:prstGeom prst="rect">
            <a:avLst/>
          </a:prstGeom>
          <a:solidFill>
            <a:srgbClr val="E8670D"/>
          </a:solidFill>
          <a:ln/>
        </p:spPr>
      </p:sp>
      <p:sp>
        <p:nvSpPr>
          <p:cNvPr id="23" name="Text 20"/>
          <p:cNvSpPr/>
          <p:nvPr/>
        </p:nvSpPr>
        <p:spPr>
          <a:xfrm>
            <a:off x="3108960" y="2916936"/>
            <a:ext cx="100584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BLOCKED</a:t>
            </a:r>
            <a:endParaRPr lang="en-US" sz="1000" dirty="0"/>
          </a:p>
        </p:txBody>
      </p:sp>
      <p:sp>
        <p:nvSpPr>
          <p:cNvPr id="24" name="Text 21"/>
          <p:cNvSpPr/>
          <p:nvPr/>
        </p:nvSpPr>
        <p:spPr>
          <a:xfrm>
            <a:off x="4206240" y="2916936"/>
            <a:ext cx="457200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Cannot execute — dependency or environment issue</a:t>
            </a:r>
            <a:endParaRPr lang="en-US" sz="1100" dirty="0"/>
          </a:p>
        </p:txBody>
      </p:sp>
      <p:sp>
        <p:nvSpPr>
          <p:cNvPr id="25" name="Shape 22"/>
          <p:cNvSpPr/>
          <p:nvPr/>
        </p:nvSpPr>
        <p:spPr>
          <a:xfrm>
            <a:off x="3108960" y="3465576"/>
            <a:ext cx="5760720" cy="530352"/>
          </a:xfrm>
          <a:prstGeom prst="rect">
            <a:avLst/>
          </a:prstGeom>
          <a:solidFill>
            <a:srgbClr val="FFFFFF"/>
          </a:solidFill>
          <a:ln/>
          <a:effectLst>
            <a:outerShdw blurRad="127000" dist="38100" dir="8100000" algn="bl" rotWithShape="0">
              <a:srgbClr val="000000">
                <a:alpha val="25000"/>
              </a:srgbClr>
            </a:outerShdw>
          </a:effectLst>
        </p:spPr>
      </p:sp>
      <p:sp>
        <p:nvSpPr>
          <p:cNvPr id="26" name="Shape 23"/>
          <p:cNvSpPr/>
          <p:nvPr/>
        </p:nvSpPr>
        <p:spPr>
          <a:xfrm>
            <a:off x="3108960" y="3465576"/>
            <a:ext cx="1005840" cy="530352"/>
          </a:xfrm>
          <a:prstGeom prst="rect">
            <a:avLst/>
          </a:prstGeom>
          <a:solidFill>
            <a:srgbClr val="555555"/>
          </a:solidFill>
          <a:ln/>
        </p:spPr>
      </p:sp>
      <p:sp>
        <p:nvSpPr>
          <p:cNvPr id="27" name="Text 24"/>
          <p:cNvSpPr/>
          <p:nvPr/>
        </p:nvSpPr>
        <p:spPr>
          <a:xfrm>
            <a:off x="3108960" y="3538728"/>
            <a:ext cx="100584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SKIPPED</a:t>
            </a:r>
            <a:endParaRPr lang="en-US" sz="1000" dirty="0"/>
          </a:p>
        </p:txBody>
      </p:sp>
      <p:sp>
        <p:nvSpPr>
          <p:cNvPr id="28" name="Text 25"/>
          <p:cNvSpPr/>
          <p:nvPr/>
        </p:nvSpPr>
        <p:spPr>
          <a:xfrm>
            <a:off x="4206240" y="3538728"/>
            <a:ext cx="457200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Test skipped due to scope change or time</a:t>
            </a:r>
            <a:endParaRPr lang="en-US" sz="1100" dirty="0"/>
          </a:p>
        </p:txBody>
      </p:sp>
      <p:sp>
        <p:nvSpPr>
          <p:cNvPr id="29" name="Shape 26"/>
          <p:cNvSpPr/>
          <p:nvPr/>
        </p:nvSpPr>
        <p:spPr>
          <a:xfrm>
            <a:off x="3108960" y="4087368"/>
            <a:ext cx="5760720" cy="530352"/>
          </a:xfrm>
          <a:prstGeom prst="rect">
            <a:avLst/>
          </a:prstGeom>
          <a:solidFill>
            <a:srgbClr val="FFFFFF"/>
          </a:solidFill>
          <a:ln/>
          <a:effectLst>
            <a:outerShdw blurRad="127000" dist="38100" dir="8100000" algn="bl" rotWithShape="0">
              <a:srgbClr val="000000">
                <a:alpha val="25000"/>
              </a:srgbClr>
            </a:outerShdw>
          </a:effectLst>
        </p:spPr>
      </p:sp>
      <p:sp>
        <p:nvSpPr>
          <p:cNvPr id="30" name="Shape 27"/>
          <p:cNvSpPr/>
          <p:nvPr/>
        </p:nvSpPr>
        <p:spPr>
          <a:xfrm>
            <a:off x="3108960" y="4087368"/>
            <a:ext cx="1005840" cy="530352"/>
          </a:xfrm>
          <a:prstGeom prst="rect">
            <a:avLst/>
          </a:prstGeom>
          <a:solidFill>
            <a:srgbClr val="999999"/>
          </a:solidFill>
          <a:ln/>
        </p:spPr>
      </p:sp>
      <p:sp>
        <p:nvSpPr>
          <p:cNvPr id="31" name="Text 28"/>
          <p:cNvSpPr/>
          <p:nvPr/>
        </p:nvSpPr>
        <p:spPr>
          <a:xfrm>
            <a:off x="3108960" y="4160520"/>
            <a:ext cx="100584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N/A</a:t>
            </a:r>
            <a:endParaRPr lang="en-US" sz="1000" dirty="0"/>
          </a:p>
        </p:txBody>
      </p:sp>
      <p:sp>
        <p:nvSpPr>
          <p:cNvPr id="32" name="Text 29"/>
          <p:cNvSpPr/>
          <p:nvPr/>
        </p:nvSpPr>
        <p:spPr>
          <a:xfrm>
            <a:off x="4206240" y="4160520"/>
            <a:ext cx="457200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Test case not applicable in this build</a:t>
            </a:r>
            <a:endParaRPr lang="en-US" sz="1100" dirty="0"/>
          </a:p>
        </p:txBody>
      </p:sp>
      <p:sp>
        <p:nvSpPr>
          <p:cNvPr id="33" name="Shape 30"/>
          <p:cNvSpPr/>
          <p:nvPr/>
        </p:nvSpPr>
        <p:spPr>
          <a:xfrm>
            <a:off x="274320" y="4828032"/>
            <a:ext cx="8595360" cy="237744"/>
          </a:xfrm>
          <a:prstGeom prst="rect">
            <a:avLst/>
          </a:prstGeom>
          <a:solidFill>
            <a:srgbClr val="111111"/>
          </a:solidFill>
          <a:ln/>
        </p:spPr>
      </p:sp>
      <p:sp>
        <p:nvSpPr>
          <p:cNvPr id="34" name="Text 31"/>
          <p:cNvSpPr/>
          <p:nvPr/>
        </p:nvSpPr>
        <p:spPr>
          <a:xfrm>
            <a:off x="411480" y="4837176"/>
            <a:ext cx="8321040" cy="201168"/>
          </a:xfrm>
          <a:prstGeom prst="rect">
            <a:avLst/>
          </a:prstGeom>
          <a:noFill/>
          <a:ln/>
        </p:spPr>
        <p:txBody>
          <a:bodyPr wrap="square" rtlCol="0" anchor="ctr"/>
          <a:lstStyle/>
          <a:p>
            <a:pPr marL="0" indent="0">
              <a:buNone/>
            </a:pPr>
            <a:r>
              <a:rPr lang="en-US" sz="950" i="1" dirty="0">
                <a:solidFill>
                  <a:srgbClr val="E8670D"/>
                </a:solidFill>
                <a:latin typeface="Calibri" pitchFamily="34" charset="0"/>
                <a:ea typeface="Calibri" pitchFamily="34" charset="-122"/>
                <a:cs typeface="Calibri" pitchFamily="34" charset="-120"/>
              </a:rPr>
              <a:t>⚠️  Rule: NEVER mark a test as PASS if you're not 100% sure. When in doubt, mark it BLOCKED or FAIL and raise a query.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Phase 6: Test Closure</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Wrapping up, reporting results, capturing lessons learned</a:t>
            </a:r>
            <a:endParaRPr lang="en-US" sz="1200" dirty="0"/>
          </a:p>
        </p:txBody>
      </p:sp>
      <p:sp>
        <p:nvSpPr>
          <p:cNvPr id="6" name="Shape 3"/>
          <p:cNvSpPr/>
          <p:nvPr/>
        </p:nvSpPr>
        <p:spPr>
          <a:xfrm>
            <a:off x="7955280" y="731520"/>
            <a:ext cx="868680" cy="274320"/>
          </a:xfrm>
          <a:prstGeom prst="rect">
            <a:avLst/>
          </a:prstGeom>
          <a:solidFill>
            <a:srgbClr val="555555"/>
          </a:solidFill>
          <a:ln/>
        </p:spPr>
      </p:sp>
      <p:sp>
        <p:nvSpPr>
          <p:cNvPr id="7" name="Text 4"/>
          <p:cNvSpPr/>
          <p:nvPr/>
        </p:nvSpPr>
        <p:spPr>
          <a:xfrm>
            <a:off x="7955280" y="731520"/>
            <a:ext cx="8686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PHASE 06</a:t>
            </a:r>
            <a:endParaRPr lang="en-US" sz="850" dirty="0"/>
          </a:p>
        </p:txBody>
      </p:sp>
      <p:sp>
        <p:nvSpPr>
          <p:cNvPr id="8" name="Shape 5"/>
          <p:cNvSpPr/>
          <p:nvPr/>
        </p:nvSpPr>
        <p:spPr>
          <a:xfrm>
            <a:off x="274320" y="1188720"/>
            <a:ext cx="4114800" cy="3493008"/>
          </a:xfrm>
          <a:prstGeom prst="rect">
            <a:avLst/>
          </a:prstGeom>
          <a:solidFill>
            <a:srgbClr val="FFFFFF"/>
          </a:solidFill>
          <a:ln/>
          <a:effectLst>
            <a:outerShdw blurRad="127000" dist="38100" dir="8100000" algn="bl" rotWithShape="0">
              <a:srgbClr val="000000">
                <a:alpha val="25000"/>
              </a:srgbClr>
            </a:outerShdw>
          </a:effectLst>
        </p:spPr>
      </p:sp>
      <p:sp>
        <p:nvSpPr>
          <p:cNvPr id="9" name="Shape 6"/>
          <p:cNvSpPr/>
          <p:nvPr/>
        </p:nvSpPr>
        <p:spPr>
          <a:xfrm>
            <a:off x="274320" y="1188720"/>
            <a:ext cx="4114800" cy="347472"/>
          </a:xfrm>
          <a:prstGeom prst="rect">
            <a:avLst/>
          </a:prstGeom>
          <a:solidFill>
            <a:srgbClr val="555555"/>
          </a:solidFill>
          <a:ln/>
        </p:spPr>
      </p:sp>
      <p:sp>
        <p:nvSpPr>
          <p:cNvPr id="10" name="Text 7"/>
          <p:cNvSpPr/>
          <p:nvPr/>
        </p:nvSpPr>
        <p:spPr>
          <a:xfrm>
            <a:off x="384048" y="1225296"/>
            <a:ext cx="389534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Key Activities</a:t>
            </a:r>
            <a:endParaRPr lang="en-US" sz="1150" dirty="0"/>
          </a:p>
        </p:txBody>
      </p:sp>
      <p:sp>
        <p:nvSpPr>
          <p:cNvPr id="11" name="Text 8"/>
          <p:cNvSpPr/>
          <p:nvPr/>
        </p:nvSpPr>
        <p:spPr>
          <a:xfrm>
            <a:off x="411480" y="1591056"/>
            <a:ext cx="3840480" cy="30175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Evaluate exit criteria — is testing complete?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Archive all test artefacts (plans, cases, results)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Write the final Test Summary Report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Conduct defect analysis (trends, root causes)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Hold retrospective: What went well? What to improve?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Get sign-off from project stakeholders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Share lessons learned with the team</a:t>
            </a:r>
            <a:endParaRPr lang="en-US" sz="1050" dirty="0"/>
          </a:p>
        </p:txBody>
      </p:sp>
      <p:sp>
        <p:nvSpPr>
          <p:cNvPr id="12" name="Shape 9"/>
          <p:cNvSpPr/>
          <p:nvPr/>
        </p:nvSpPr>
        <p:spPr>
          <a:xfrm>
            <a:off x="4617720" y="1188720"/>
            <a:ext cx="4206240" cy="1627632"/>
          </a:xfrm>
          <a:prstGeom prst="rect">
            <a:avLst/>
          </a:prstGeom>
          <a:solidFill>
            <a:srgbClr val="FFFFFF"/>
          </a:solidFill>
          <a:ln/>
          <a:effectLst>
            <a:outerShdw blurRad="127000" dist="38100" dir="8100000" algn="bl" rotWithShape="0">
              <a:srgbClr val="000000">
                <a:alpha val="25000"/>
              </a:srgbClr>
            </a:outerShdw>
          </a:effectLst>
        </p:spPr>
      </p:sp>
      <p:sp>
        <p:nvSpPr>
          <p:cNvPr id="13" name="Shape 10"/>
          <p:cNvSpPr/>
          <p:nvPr/>
        </p:nvSpPr>
        <p:spPr>
          <a:xfrm>
            <a:off x="4617720" y="1188720"/>
            <a:ext cx="4206240" cy="347472"/>
          </a:xfrm>
          <a:prstGeom prst="rect">
            <a:avLst/>
          </a:prstGeom>
          <a:solidFill>
            <a:srgbClr val="E8670D"/>
          </a:solidFill>
          <a:ln/>
        </p:spPr>
      </p:sp>
      <p:sp>
        <p:nvSpPr>
          <p:cNvPr id="14" name="Text 11"/>
          <p:cNvSpPr/>
          <p:nvPr/>
        </p:nvSpPr>
        <p:spPr>
          <a:xfrm>
            <a:off x="4727448" y="1225296"/>
            <a:ext cx="398678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Test Summary Report Includes:</a:t>
            </a:r>
            <a:endParaRPr lang="en-US" sz="1150" dirty="0"/>
          </a:p>
        </p:txBody>
      </p:sp>
      <p:sp>
        <p:nvSpPr>
          <p:cNvPr id="15" name="Text 12"/>
          <p:cNvSpPr/>
          <p:nvPr/>
        </p:nvSpPr>
        <p:spPr>
          <a:xfrm>
            <a:off x="4754880" y="1591056"/>
            <a:ext cx="3931920" cy="115214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Total test cases: Passed / Failed / Blocked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Total defects: Open / Closed / Deferred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Test coverage achieved (%)</a:t>
            </a:r>
            <a:endParaRPr lang="en-US" sz="1050" dirty="0"/>
          </a:p>
        </p:txBody>
      </p:sp>
      <p:sp>
        <p:nvSpPr>
          <p:cNvPr id="16" name="Shape 13"/>
          <p:cNvSpPr/>
          <p:nvPr/>
        </p:nvSpPr>
        <p:spPr>
          <a:xfrm>
            <a:off x="4617720" y="2944368"/>
            <a:ext cx="4206240" cy="1737360"/>
          </a:xfrm>
          <a:prstGeom prst="rect">
            <a:avLst/>
          </a:prstGeom>
          <a:solidFill>
            <a:srgbClr val="FFFFFF"/>
          </a:solidFill>
          <a:ln/>
          <a:effectLst>
            <a:outerShdw blurRad="127000" dist="38100" dir="8100000" algn="bl" rotWithShape="0">
              <a:srgbClr val="000000">
                <a:alpha val="25000"/>
              </a:srgbClr>
            </a:outerShdw>
          </a:effectLst>
        </p:spPr>
      </p:sp>
      <p:sp>
        <p:nvSpPr>
          <p:cNvPr id="17" name="Shape 14"/>
          <p:cNvSpPr/>
          <p:nvPr/>
        </p:nvSpPr>
        <p:spPr>
          <a:xfrm>
            <a:off x="4617720" y="2944368"/>
            <a:ext cx="4206240" cy="347472"/>
          </a:xfrm>
          <a:prstGeom prst="rect">
            <a:avLst/>
          </a:prstGeom>
          <a:solidFill>
            <a:srgbClr val="1E1E1E"/>
          </a:solidFill>
          <a:ln/>
        </p:spPr>
      </p:sp>
      <p:sp>
        <p:nvSpPr>
          <p:cNvPr id="18" name="Text 15"/>
          <p:cNvSpPr/>
          <p:nvPr/>
        </p:nvSpPr>
        <p:spPr>
          <a:xfrm>
            <a:off x="4727448" y="2980944"/>
            <a:ext cx="398678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Exit Criteria Example:</a:t>
            </a:r>
            <a:endParaRPr lang="en-US" sz="1150" dirty="0"/>
          </a:p>
        </p:txBody>
      </p:sp>
      <p:sp>
        <p:nvSpPr>
          <p:cNvPr id="19" name="Text 16"/>
          <p:cNvSpPr/>
          <p:nvPr/>
        </p:nvSpPr>
        <p:spPr>
          <a:xfrm>
            <a:off x="4754880" y="3346704"/>
            <a:ext cx="3931920" cy="126187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95%+ test cases executed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No critical/blocker bugs open</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All high-priority bugs resolved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Stakeholder approval obtained</a:t>
            </a:r>
            <a:endParaRPr lang="en-US" sz="1050" dirty="0"/>
          </a:p>
        </p:txBody>
      </p:sp>
      <p:sp>
        <p:nvSpPr>
          <p:cNvPr id="20" name="Shape 17"/>
          <p:cNvSpPr/>
          <p:nvPr/>
        </p:nvSpPr>
        <p:spPr>
          <a:xfrm>
            <a:off x="274320" y="4828032"/>
            <a:ext cx="8595360" cy="237744"/>
          </a:xfrm>
          <a:prstGeom prst="rect">
            <a:avLst/>
          </a:prstGeom>
          <a:solidFill>
            <a:srgbClr val="FFF0E6"/>
          </a:solidFill>
          <a:ln/>
        </p:spPr>
      </p:sp>
      <p:sp>
        <p:nvSpPr>
          <p:cNvPr id="21" name="Shape 18"/>
          <p:cNvSpPr/>
          <p:nvPr/>
        </p:nvSpPr>
        <p:spPr>
          <a:xfrm>
            <a:off x="274320" y="4828032"/>
            <a:ext cx="82296" cy="237744"/>
          </a:xfrm>
          <a:prstGeom prst="rect">
            <a:avLst/>
          </a:prstGeom>
          <a:solidFill>
            <a:srgbClr val="E8670D"/>
          </a:solidFill>
          <a:ln/>
        </p:spPr>
      </p:sp>
      <p:sp>
        <p:nvSpPr>
          <p:cNvPr id="22" name="Text 19"/>
          <p:cNvSpPr/>
          <p:nvPr/>
        </p:nvSpPr>
        <p:spPr>
          <a:xfrm>
            <a:off x="411480" y="4837176"/>
            <a:ext cx="8321040" cy="201168"/>
          </a:xfrm>
          <a:prstGeom prst="rect">
            <a:avLst/>
          </a:prstGeom>
          <a:noFill/>
          <a:ln/>
        </p:spPr>
        <p:txBody>
          <a:bodyPr wrap="square" rtlCol="0" anchor="ctr"/>
          <a:lstStyle/>
          <a:p>
            <a:pPr marL="0" indent="0">
              <a:buNone/>
            </a:pPr>
            <a:r>
              <a:rPr lang="en-US" sz="950" i="1" dirty="0">
                <a:solidFill>
                  <a:srgbClr val="B54D00"/>
                </a:solidFill>
                <a:latin typeface="Calibri" pitchFamily="34" charset="0"/>
                <a:ea typeface="Calibri" pitchFamily="34" charset="-122"/>
                <a:cs typeface="Calibri" pitchFamily="34" charset="-120"/>
              </a:rPr>
              <a:t>💡  Real Example:  After testing a banking app — 150 tests run, 147 passed, 3 deferred. 12 bugs found, 11 fixed. Sign-off granted.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04</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Types of Testing</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An overview of testing types every beginner must know</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Functional vs Non-Functional Testing</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Testing WHAT the system does vs HOW WELL it does it</a:t>
            </a:r>
            <a:endParaRPr lang="en-US" sz="1200" dirty="0"/>
          </a:p>
        </p:txBody>
      </p:sp>
      <p:sp>
        <p:nvSpPr>
          <p:cNvPr id="6" name="Shape 3"/>
          <p:cNvSpPr/>
          <p:nvPr/>
        </p:nvSpPr>
        <p:spPr>
          <a:xfrm>
            <a:off x="274320" y="1024128"/>
            <a:ext cx="4114800" cy="3913632"/>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74320" y="1024128"/>
            <a:ext cx="4114800" cy="475488"/>
          </a:xfrm>
          <a:prstGeom prst="rect">
            <a:avLst/>
          </a:prstGeom>
          <a:solidFill>
            <a:srgbClr val="E8670D"/>
          </a:solidFill>
          <a:ln/>
        </p:spPr>
      </p:sp>
      <p:sp>
        <p:nvSpPr>
          <p:cNvPr id="8" name="Text 5"/>
          <p:cNvSpPr/>
          <p:nvPr/>
        </p:nvSpPr>
        <p:spPr>
          <a:xfrm>
            <a:off x="384048" y="1069848"/>
            <a:ext cx="3913632"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FUNCTIONAL TESTING</a:t>
            </a:r>
            <a:endParaRPr lang="en-US" sz="1300" dirty="0"/>
          </a:p>
        </p:txBody>
      </p:sp>
      <p:sp>
        <p:nvSpPr>
          <p:cNvPr id="9" name="Text 6"/>
          <p:cNvSpPr/>
          <p:nvPr/>
        </p:nvSpPr>
        <p:spPr>
          <a:xfrm>
            <a:off x="384048" y="1554480"/>
            <a:ext cx="3913632" cy="292608"/>
          </a:xfrm>
          <a:prstGeom prst="rect">
            <a:avLst/>
          </a:prstGeom>
          <a:noFill/>
          <a:ln/>
        </p:spPr>
        <p:txBody>
          <a:bodyPr wrap="square" rtlCol="0" anchor="ctr"/>
          <a:lstStyle/>
          <a:p>
            <a:pPr marL="0" indent="0">
              <a:buNone/>
            </a:pPr>
            <a:r>
              <a:rPr lang="en-US" sz="1200" b="1" i="1" dirty="0">
                <a:solidFill>
                  <a:srgbClr val="E8670D"/>
                </a:solidFill>
                <a:latin typeface="Calibri" pitchFamily="34" charset="0"/>
                <a:ea typeface="Calibri" pitchFamily="34" charset="-122"/>
                <a:cs typeface="Calibri" pitchFamily="34" charset="-120"/>
              </a:rPr>
              <a:t>Tests WHAT the system does</a:t>
            </a:r>
            <a:endParaRPr lang="en-US" sz="1200" dirty="0"/>
          </a:p>
        </p:txBody>
      </p:sp>
      <p:sp>
        <p:nvSpPr>
          <p:cNvPr id="10" name="Text 7"/>
          <p:cNvSpPr/>
          <p:nvPr/>
        </p:nvSpPr>
        <p:spPr>
          <a:xfrm>
            <a:off x="384048" y="1901952"/>
            <a:ext cx="3840480" cy="2962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Does the login button work?</a:t>
            </a:r>
            <a:endParaRPr lang="en-US" sz="1200" dirty="0"/>
          </a:p>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Does checkout process complete?</a:t>
            </a:r>
            <a:endParaRPr lang="en-US" sz="1200" dirty="0"/>
          </a:p>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Are calculations correct?</a:t>
            </a:r>
            <a:endParaRPr lang="en-US" sz="1200" dirty="0"/>
          </a:p>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Are error messages shown correctly?</a:t>
            </a:r>
            <a:endParaRPr lang="en-US" sz="1200" dirty="0"/>
          </a:p>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Examples: Unit, Integration, System, UAT</a:t>
            </a:r>
            <a:endParaRPr lang="en-US" sz="1200" dirty="0"/>
          </a:p>
        </p:txBody>
      </p:sp>
      <p:sp>
        <p:nvSpPr>
          <p:cNvPr id="11" name="Shape 8"/>
          <p:cNvSpPr/>
          <p:nvPr/>
        </p:nvSpPr>
        <p:spPr>
          <a:xfrm>
            <a:off x="4663440" y="1024128"/>
            <a:ext cx="4206240" cy="3913632"/>
          </a:xfrm>
          <a:prstGeom prst="rect">
            <a:avLst/>
          </a:prstGeom>
          <a:solidFill>
            <a:srgbClr val="FFFFFF"/>
          </a:solidFill>
          <a:ln/>
          <a:effectLst>
            <a:outerShdw blurRad="127000" dist="38100" dir="8100000" algn="bl" rotWithShape="0">
              <a:srgbClr val="000000">
                <a:alpha val="25000"/>
              </a:srgbClr>
            </a:outerShdw>
          </a:effectLst>
        </p:spPr>
      </p:sp>
      <p:sp>
        <p:nvSpPr>
          <p:cNvPr id="12" name="Shape 9"/>
          <p:cNvSpPr/>
          <p:nvPr/>
        </p:nvSpPr>
        <p:spPr>
          <a:xfrm>
            <a:off x="4663440" y="1024128"/>
            <a:ext cx="4206240" cy="475488"/>
          </a:xfrm>
          <a:prstGeom prst="rect">
            <a:avLst/>
          </a:prstGeom>
          <a:solidFill>
            <a:srgbClr val="1E1E1E"/>
          </a:solidFill>
          <a:ln/>
        </p:spPr>
      </p:sp>
      <p:sp>
        <p:nvSpPr>
          <p:cNvPr id="13" name="Text 10"/>
          <p:cNvSpPr/>
          <p:nvPr/>
        </p:nvSpPr>
        <p:spPr>
          <a:xfrm>
            <a:off x="4773168" y="1069848"/>
            <a:ext cx="4005072"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NON-FUNCTIONAL TESTING</a:t>
            </a:r>
            <a:endParaRPr lang="en-US" sz="1300" dirty="0"/>
          </a:p>
        </p:txBody>
      </p:sp>
      <p:sp>
        <p:nvSpPr>
          <p:cNvPr id="14" name="Text 11"/>
          <p:cNvSpPr/>
          <p:nvPr/>
        </p:nvSpPr>
        <p:spPr>
          <a:xfrm>
            <a:off x="4773168" y="1554480"/>
            <a:ext cx="4005072" cy="292608"/>
          </a:xfrm>
          <a:prstGeom prst="rect">
            <a:avLst/>
          </a:prstGeom>
          <a:noFill/>
          <a:ln/>
        </p:spPr>
        <p:txBody>
          <a:bodyPr wrap="square" rtlCol="0" anchor="ctr"/>
          <a:lstStyle/>
          <a:p>
            <a:pPr marL="0" indent="0">
              <a:buNone/>
            </a:pPr>
            <a:r>
              <a:rPr lang="en-US" sz="1200" b="1" i="1" dirty="0">
                <a:solidFill>
                  <a:srgbClr val="E8670D"/>
                </a:solidFill>
                <a:latin typeface="Calibri" pitchFamily="34" charset="0"/>
                <a:ea typeface="Calibri" pitchFamily="34" charset="-122"/>
                <a:cs typeface="Calibri" pitchFamily="34" charset="-120"/>
              </a:rPr>
              <a:t>Tests HOW WELL the system works</a:t>
            </a:r>
            <a:endParaRPr lang="en-US" sz="1200" dirty="0"/>
          </a:p>
        </p:txBody>
      </p:sp>
      <p:sp>
        <p:nvSpPr>
          <p:cNvPr id="15" name="Text 12"/>
          <p:cNvSpPr/>
          <p:nvPr/>
        </p:nvSpPr>
        <p:spPr>
          <a:xfrm>
            <a:off x="4773168" y="1901952"/>
            <a:ext cx="3931920" cy="2962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How fast does the page load?</a:t>
            </a:r>
            <a:endParaRPr lang="en-US" sz="1200" dirty="0"/>
          </a:p>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Can it handle 10,000 users at once?</a:t>
            </a:r>
            <a:endParaRPr lang="en-US" sz="1200" dirty="0"/>
          </a:p>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Is it secure against SQL injection?</a:t>
            </a:r>
            <a:endParaRPr lang="en-US" sz="1200" dirty="0"/>
          </a:p>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Is it accessible for screen readers?</a:t>
            </a:r>
            <a:endParaRPr lang="en-US" sz="1200" dirty="0"/>
          </a:p>
          <a:p>
            <a:pPr marL="342900" indent="-342900">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Examples: Performance, Security, Usability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Manual vs Automation &amp; Key Testing Types</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Knowing when to use each approach</a:t>
            </a:r>
            <a:endParaRPr lang="en-US" sz="1200" dirty="0"/>
          </a:p>
        </p:txBody>
      </p:sp>
      <p:sp>
        <p:nvSpPr>
          <p:cNvPr id="6" name="Shape 3"/>
          <p:cNvSpPr/>
          <p:nvPr/>
        </p:nvSpPr>
        <p:spPr>
          <a:xfrm>
            <a:off x="274320" y="1078992"/>
            <a:ext cx="4114800" cy="1874520"/>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74320" y="1078992"/>
            <a:ext cx="4114800" cy="347472"/>
          </a:xfrm>
          <a:prstGeom prst="rect">
            <a:avLst/>
          </a:prstGeom>
          <a:solidFill>
            <a:srgbClr val="E8670D"/>
          </a:solidFill>
          <a:ln/>
        </p:spPr>
      </p:sp>
      <p:sp>
        <p:nvSpPr>
          <p:cNvPr id="8" name="Text 5"/>
          <p:cNvSpPr/>
          <p:nvPr/>
        </p:nvSpPr>
        <p:spPr>
          <a:xfrm>
            <a:off x="384048" y="1115568"/>
            <a:ext cx="389534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Manual Testing</a:t>
            </a:r>
            <a:endParaRPr lang="en-US" sz="1150" dirty="0"/>
          </a:p>
        </p:txBody>
      </p:sp>
      <p:sp>
        <p:nvSpPr>
          <p:cNvPr id="9" name="Text 6"/>
          <p:cNvSpPr/>
          <p:nvPr/>
        </p:nvSpPr>
        <p:spPr>
          <a:xfrm>
            <a:off x="411480" y="1481328"/>
            <a:ext cx="3840480" cy="139903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Human tester executes test cases step by step</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Best for: Exploratory, usability, ad-hoc testing</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Good for new features with changing requirements</a:t>
            </a:r>
            <a:endParaRPr lang="en-US" sz="1050" dirty="0"/>
          </a:p>
        </p:txBody>
      </p:sp>
      <p:sp>
        <p:nvSpPr>
          <p:cNvPr id="10" name="Shape 7"/>
          <p:cNvSpPr/>
          <p:nvPr/>
        </p:nvSpPr>
        <p:spPr>
          <a:xfrm>
            <a:off x="4663440" y="1078992"/>
            <a:ext cx="4206240" cy="1874520"/>
          </a:xfrm>
          <a:prstGeom prst="rect">
            <a:avLst/>
          </a:prstGeom>
          <a:solidFill>
            <a:srgbClr val="FFFFFF"/>
          </a:solidFill>
          <a:ln/>
          <a:effectLst>
            <a:outerShdw blurRad="127000" dist="38100" dir="8100000" algn="bl" rotWithShape="0">
              <a:srgbClr val="000000">
                <a:alpha val="25000"/>
              </a:srgbClr>
            </a:outerShdw>
          </a:effectLst>
        </p:spPr>
      </p:sp>
      <p:sp>
        <p:nvSpPr>
          <p:cNvPr id="11" name="Shape 8"/>
          <p:cNvSpPr/>
          <p:nvPr/>
        </p:nvSpPr>
        <p:spPr>
          <a:xfrm>
            <a:off x="4663440" y="1078992"/>
            <a:ext cx="4206240" cy="347472"/>
          </a:xfrm>
          <a:prstGeom prst="rect">
            <a:avLst/>
          </a:prstGeom>
          <a:solidFill>
            <a:srgbClr val="1E1E1E"/>
          </a:solidFill>
          <a:ln/>
        </p:spPr>
      </p:sp>
      <p:sp>
        <p:nvSpPr>
          <p:cNvPr id="12" name="Text 9"/>
          <p:cNvSpPr/>
          <p:nvPr/>
        </p:nvSpPr>
        <p:spPr>
          <a:xfrm>
            <a:off x="4773168" y="1115568"/>
            <a:ext cx="398678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Automation Testing</a:t>
            </a:r>
            <a:endParaRPr lang="en-US" sz="1150" dirty="0"/>
          </a:p>
        </p:txBody>
      </p:sp>
      <p:sp>
        <p:nvSpPr>
          <p:cNvPr id="13" name="Text 10"/>
          <p:cNvSpPr/>
          <p:nvPr/>
        </p:nvSpPr>
        <p:spPr>
          <a:xfrm>
            <a:off x="4800600" y="1481328"/>
            <a:ext cx="3931920" cy="139903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Scripts run tests automatically (Selenium / Playwright)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Best for: Regression, repetitive, data-driven tests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Uses Eclipse or IntelliJ as the development IDE</a:t>
            </a:r>
            <a:endParaRPr lang="en-US" sz="1050" dirty="0"/>
          </a:p>
        </p:txBody>
      </p:sp>
      <p:sp>
        <p:nvSpPr>
          <p:cNvPr id="14" name="Shape 11"/>
          <p:cNvSpPr/>
          <p:nvPr/>
        </p:nvSpPr>
        <p:spPr>
          <a:xfrm>
            <a:off x="274320" y="3108960"/>
            <a:ext cx="8595360" cy="548640"/>
          </a:xfrm>
          <a:prstGeom prst="rect">
            <a:avLst/>
          </a:prstGeom>
          <a:solidFill>
            <a:srgbClr val="FFFFFF"/>
          </a:solidFill>
          <a:ln/>
          <a:effectLst>
            <a:outerShdw blurRad="127000" dist="38100" dir="8100000" algn="bl" rotWithShape="0">
              <a:srgbClr val="000000">
                <a:alpha val="25000"/>
              </a:srgbClr>
            </a:outerShdw>
          </a:effectLst>
        </p:spPr>
      </p:sp>
      <p:sp>
        <p:nvSpPr>
          <p:cNvPr id="15" name="Shape 12"/>
          <p:cNvSpPr/>
          <p:nvPr/>
        </p:nvSpPr>
        <p:spPr>
          <a:xfrm>
            <a:off x="274320" y="3108960"/>
            <a:ext cx="2331720" cy="548640"/>
          </a:xfrm>
          <a:prstGeom prst="rect">
            <a:avLst/>
          </a:prstGeom>
          <a:solidFill>
            <a:srgbClr val="C62828"/>
          </a:solidFill>
          <a:ln/>
        </p:spPr>
      </p:sp>
      <p:sp>
        <p:nvSpPr>
          <p:cNvPr id="16" name="Text 13"/>
          <p:cNvSpPr/>
          <p:nvPr/>
        </p:nvSpPr>
        <p:spPr>
          <a:xfrm>
            <a:off x="320040" y="3172968"/>
            <a:ext cx="224028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Smoke Testing</a:t>
            </a:r>
            <a:endParaRPr lang="en-US" sz="1100" dirty="0"/>
          </a:p>
        </p:txBody>
      </p:sp>
      <p:sp>
        <p:nvSpPr>
          <p:cNvPr id="17" name="Text 14"/>
          <p:cNvSpPr/>
          <p:nvPr/>
        </p:nvSpPr>
        <p:spPr>
          <a:xfrm>
            <a:off x="2724912" y="3172968"/>
            <a:ext cx="6080760" cy="402336"/>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Quick check that CORE functionality works after a new build. 'Is the app alive?' If smoke fails, stop all further testing — the build is broken.</a:t>
            </a:r>
            <a:endParaRPr lang="en-US" sz="1050" dirty="0"/>
          </a:p>
        </p:txBody>
      </p:sp>
      <p:sp>
        <p:nvSpPr>
          <p:cNvPr id="18" name="Shape 15"/>
          <p:cNvSpPr/>
          <p:nvPr/>
        </p:nvSpPr>
        <p:spPr>
          <a:xfrm>
            <a:off x="274320" y="3749040"/>
            <a:ext cx="8595360" cy="548640"/>
          </a:xfrm>
          <a:prstGeom prst="rect">
            <a:avLst/>
          </a:prstGeom>
          <a:solidFill>
            <a:srgbClr val="FFFFFF"/>
          </a:solidFill>
          <a:ln/>
          <a:effectLst>
            <a:outerShdw blurRad="127000" dist="38100" dir="8100000" algn="bl" rotWithShape="0">
              <a:srgbClr val="000000">
                <a:alpha val="25000"/>
              </a:srgbClr>
            </a:outerShdw>
          </a:effectLst>
        </p:spPr>
      </p:sp>
      <p:sp>
        <p:nvSpPr>
          <p:cNvPr id="19" name="Shape 16"/>
          <p:cNvSpPr/>
          <p:nvPr/>
        </p:nvSpPr>
        <p:spPr>
          <a:xfrm>
            <a:off x="274320" y="3749040"/>
            <a:ext cx="2331720" cy="548640"/>
          </a:xfrm>
          <a:prstGeom prst="rect">
            <a:avLst/>
          </a:prstGeom>
          <a:solidFill>
            <a:srgbClr val="E8670D"/>
          </a:solidFill>
          <a:ln/>
        </p:spPr>
      </p:sp>
      <p:sp>
        <p:nvSpPr>
          <p:cNvPr id="20" name="Text 17"/>
          <p:cNvSpPr/>
          <p:nvPr/>
        </p:nvSpPr>
        <p:spPr>
          <a:xfrm>
            <a:off x="320040" y="3813048"/>
            <a:ext cx="224028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Regression Testing</a:t>
            </a:r>
            <a:endParaRPr lang="en-US" sz="1100" dirty="0"/>
          </a:p>
        </p:txBody>
      </p:sp>
      <p:sp>
        <p:nvSpPr>
          <p:cNvPr id="21" name="Text 18"/>
          <p:cNvSpPr/>
          <p:nvPr/>
        </p:nvSpPr>
        <p:spPr>
          <a:xfrm>
            <a:off x="2724912" y="3813048"/>
            <a:ext cx="6080760" cy="402336"/>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Re-run existing tests after code changes to ensure new code hasn't broken OLD functionality. Run as an automated Playwright or Selenium suite.</a:t>
            </a:r>
            <a:endParaRPr lang="en-US" sz="1050" dirty="0"/>
          </a:p>
        </p:txBody>
      </p:sp>
      <p:sp>
        <p:nvSpPr>
          <p:cNvPr id="22" name="Shape 19"/>
          <p:cNvSpPr/>
          <p:nvPr/>
        </p:nvSpPr>
        <p:spPr>
          <a:xfrm>
            <a:off x="274320" y="4389120"/>
            <a:ext cx="8595360" cy="548640"/>
          </a:xfrm>
          <a:prstGeom prst="rect">
            <a:avLst/>
          </a:prstGeom>
          <a:solidFill>
            <a:srgbClr val="FFFFFF"/>
          </a:solidFill>
          <a:ln/>
          <a:effectLst>
            <a:outerShdw blurRad="127000" dist="38100" dir="8100000" algn="bl" rotWithShape="0">
              <a:srgbClr val="000000">
                <a:alpha val="25000"/>
              </a:srgbClr>
            </a:outerShdw>
          </a:effectLst>
        </p:spPr>
      </p:sp>
      <p:sp>
        <p:nvSpPr>
          <p:cNvPr id="23" name="Shape 20"/>
          <p:cNvSpPr/>
          <p:nvPr/>
        </p:nvSpPr>
        <p:spPr>
          <a:xfrm>
            <a:off x="274320" y="4389120"/>
            <a:ext cx="2331720" cy="548640"/>
          </a:xfrm>
          <a:prstGeom prst="rect">
            <a:avLst/>
          </a:prstGeom>
          <a:solidFill>
            <a:srgbClr val="1E1E1E"/>
          </a:solidFill>
          <a:ln/>
        </p:spPr>
      </p:sp>
      <p:sp>
        <p:nvSpPr>
          <p:cNvPr id="24" name="Text 21"/>
          <p:cNvSpPr/>
          <p:nvPr/>
        </p:nvSpPr>
        <p:spPr>
          <a:xfrm>
            <a:off x="320040" y="4453128"/>
            <a:ext cx="224028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UAT (User Acceptance)</a:t>
            </a:r>
            <a:endParaRPr lang="en-US" sz="1100" dirty="0"/>
          </a:p>
        </p:txBody>
      </p:sp>
      <p:sp>
        <p:nvSpPr>
          <p:cNvPr id="25" name="Text 22"/>
          <p:cNvSpPr/>
          <p:nvPr/>
        </p:nvSpPr>
        <p:spPr>
          <a:xfrm>
            <a:off x="2724912" y="4453128"/>
            <a:ext cx="6080760" cy="402336"/>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Business users validate the software meets their needs before go-live. The final gate before production deployment.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05</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Writing Test Cases</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The most critical practical skill for every software tester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What is a Test Case?</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The fundamental unit of testing — a step-by-step verification</a:t>
            </a:r>
            <a:endParaRPr lang="en-US" sz="1200" dirty="0"/>
          </a:p>
        </p:txBody>
      </p:sp>
      <p:sp>
        <p:nvSpPr>
          <p:cNvPr id="6" name="Shape 3"/>
          <p:cNvSpPr/>
          <p:nvPr/>
        </p:nvSpPr>
        <p:spPr>
          <a:xfrm>
            <a:off x="274320" y="1024128"/>
            <a:ext cx="8595360" cy="777240"/>
          </a:xfrm>
          <a:prstGeom prst="rect">
            <a:avLst/>
          </a:prstGeom>
          <a:solidFill>
            <a:srgbClr val="E8670D"/>
          </a:solidFill>
          <a:ln/>
          <a:effectLst>
            <a:outerShdw blurRad="127000" dist="38100" dir="8100000" algn="bl" rotWithShape="0">
              <a:srgbClr val="000000">
                <a:alpha val="25000"/>
              </a:srgbClr>
            </a:outerShdw>
          </a:effectLst>
        </p:spPr>
      </p:sp>
      <p:sp>
        <p:nvSpPr>
          <p:cNvPr id="7" name="Text 4"/>
          <p:cNvSpPr/>
          <p:nvPr/>
        </p:nvSpPr>
        <p:spPr>
          <a:xfrm>
            <a:off x="457200" y="1069848"/>
            <a:ext cx="8229600" cy="68580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A Test Case is a set of conditions, inputs, and steps that a tester executes to verify that a specific feature or function of the application works as expected.</a:t>
            </a:r>
            <a:endParaRPr lang="en-US" sz="1300" dirty="0"/>
          </a:p>
        </p:txBody>
      </p:sp>
      <p:sp>
        <p:nvSpPr>
          <p:cNvPr id="8" name="Shape 5"/>
          <p:cNvSpPr/>
          <p:nvPr/>
        </p:nvSpPr>
        <p:spPr>
          <a:xfrm>
            <a:off x="274320" y="1965960"/>
            <a:ext cx="4114800" cy="2926080"/>
          </a:xfrm>
          <a:prstGeom prst="rect">
            <a:avLst/>
          </a:prstGeom>
          <a:solidFill>
            <a:srgbClr val="FFFFFF"/>
          </a:solidFill>
          <a:ln/>
          <a:effectLst>
            <a:outerShdw blurRad="127000" dist="38100" dir="8100000" algn="bl" rotWithShape="0">
              <a:srgbClr val="000000">
                <a:alpha val="25000"/>
              </a:srgbClr>
            </a:outerShdw>
          </a:effectLst>
        </p:spPr>
      </p:sp>
      <p:sp>
        <p:nvSpPr>
          <p:cNvPr id="9" name="Shape 6"/>
          <p:cNvSpPr/>
          <p:nvPr/>
        </p:nvSpPr>
        <p:spPr>
          <a:xfrm>
            <a:off x="274320" y="1965960"/>
            <a:ext cx="4114800" cy="347472"/>
          </a:xfrm>
          <a:prstGeom prst="rect">
            <a:avLst/>
          </a:prstGeom>
          <a:solidFill>
            <a:srgbClr val="E8670D"/>
          </a:solidFill>
          <a:ln/>
        </p:spPr>
      </p:sp>
      <p:sp>
        <p:nvSpPr>
          <p:cNvPr id="10" name="Text 7"/>
          <p:cNvSpPr/>
          <p:nvPr/>
        </p:nvSpPr>
        <p:spPr>
          <a:xfrm>
            <a:off x="384048" y="2002536"/>
            <a:ext cx="389534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A Good Test Case Is...</a:t>
            </a:r>
            <a:endParaRPr lang="en-US" sz="1150" dirty="0"/>
          </a:p>
        </p:txBody>
      </p:sp>
      <p:sp>
        <p:nvSpPr>
          <p:cNvPr id="11" name="Text 8"/>
          <p:cNvSpPr/>
          <p:nvPr/>
        </p:nvSpPr>
        <p:spPr>
          <a:xfrm>
            <a:off x="411480" y="2368296"/>
            <a:ext cx="3840480" cy="245059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Clear — anyone can understand and execute it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Atomic — tests ONE specific behaviour</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Repeatable — same result every time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Traceable — linked to a requirement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Independent — doesn't rely on other test results</a:t>
            </a:r>
            <a:endParaRPr lang="en-US" sz="1050" dirty="0"/>
          </a:p>
        </p:txBody>
      </p:sp>
      <p:sp>
        <p:nvSpPr>
          <p:cNvPr id="12" name="Shape 9"/>
          <p:cNvSpPr/>
          <p:nvPr/>
        </p:nvSpPr>
        <p:spPr>
          <a:xfrm>
            <a:off x="4617720" y="1965960"/>
            <a:ext cx="4251960" cy="2926080"/>
          </a:xfrm>
          <a:prstGeom prst="rect">
            <a:avLst/>
          </a:prstGeom>
          <a:solidFill>
            <a:srgbClr val="FFFFFF"/>
          </a:solidFill>
          <a:ln/>
          <a:effectLst>
            <a:outerShdw blurRad="127000" dist="38100" dir="8100000" algn="bl" rotWithShape="0">
              <a:srgbClr val="000000">
                <a:alpha val="25000"/>
              </a:srgbClr>
            </a:outerShdw>
          </a:effectLst>
        </p:spPr>
      </p:sp>
      <p:sp>
        <p:nvSpPr>
          <p:cNvPr id="13" name="Shape 10"/>
          <p:cNvSpPr/>
          <p:nvPr/>
        </p:nvSpPr>
        <p:spPr>
          <a:xfrm>
            <a:off x="4617720" y="1965960"/>
            <a:ext cx="4251960" cy="347472"/>
          </a:xfrm>
          <a:prstGeom prst="rect">
            <a:avLst/>
          </a:prstGeom>
          <a:solidFill>
            <a:srgbClr val="1E1E1E"/>
          </a:solidFill>
          <a:ln/>
        </p:spPr>
      </p:sp>
      <p:sp>
        <p:nvSpPr>
          <p:cNvPr id="14" name="Text 11"/>
          <p:cNvSpPr/>
          <p:nvPr/>
        </p:nvSpPr>
        <p:spPr>
          <a:xfrm>
            <a:off x="4727448" y="2002536"/>
            <a:ext cx="403250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A Bad Test Case Is...</a:t>
            </a:r>
            <a:endParaRPr lang="en-US" sz="1150" dirty="0"/>
          </a:p>
        </p:txBody>
      </p:sp>
      <p:sp>
        <p:nvSpPr>
          <p:cNvPr id="15" name="Text 12"/>
          <p:cNvSpPr/>
          <p:nvPr/>
        </p:nvSpPr>
        <p:spPr>
          <a:xfrm>
            <a:off x="4754880" y="2368296"/>
            <a:ext cx="3977640" cy="245059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Vague — 'Test the login page' (too broad!)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Missing expected results — how do you know PASS/FAIL?</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Dependent on order — run test 10 before test 3</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Missing test data — what username/password?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Not linked to any requirement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Test Case Template</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The standard structure used by professional testers</a:t>
            </a:r>
            <a:endParaRPr lang="en-US" sz="1200" dirty="0"/>
          </a:p>
        </p:txBody>
      </p:sp>
      <p:sp>
        <p:nvSpPr>
          <p:cNvPr id="6" name="Shape 3"/>
          <p:cNvSpPr/>
          <p:nvPr/>
        </p:nvSpPr>
        <p:spPr>
          <a:xfrm>
            <a:off x="274320" y="1115568"/>
            <a:ext cx="8595360" cy="384048"/>
          </a:xfrm>
          <a:prstGeom prst="rect">
            <a:avLst/>
          </a:prstGeom>
          <a:solidFill>
            <a:srgbClr val="FFF5EE"/>
          </a:solidFill>
          <a:ln w="6350">
            <a:solidFill>
              <a:srgbClr val="DDCCBB"/>
            </a:solidFill>
            <a:prstDash val="solid"/>
          </a:ln>
        </p:spPr>
      </p:sp>
      <p:sp>
        <p:nvSpPr>
          <p:cNvPr id="7" name="Shape 4"/>
          <p:cNvSpPr/>
          <p:nvPr/>
        </p:nvSpPr>
        <p:spPr>
          <a:xfrm>
            <a:off x="274320" y="1115568"/>
            <a:ext cx="2286000" cy="384048"/>
          </a:xfrm>
          <a:prstGeom prst="rect">
            <a:avLst/>
          </a:prstGeom>
          <a:solidFill>
            <a:srgbClr val="FFE8D0"/>
          </a:solidFill>
          <a:ln/>
        </p:spPr>
      </p:sp>
      <p:sp>
        <p:nvSpPr>
          <p:cNvPr id="8" name="Text 5"/>
          <p:cNvSpPr/>
          <p:nvPr/>
        </p:nvSpPr>
        <p:spPr>
          <a:xfrm>
            <a:off x="347472" y="1170432"/>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Test Case ID</a:t>
            </a:r>
            <a:endParaRPr lang="en-US" sz="1000" dirty="0"/>
          </a:p>
        </p:txBody>
      </p:sp>
      <p:sp>
        <p:nvSpPr>
          <p:cNvPr id="9" name="Text 6"/>
          <p:cNvSpPr/>
          <p:nvPr/>
        </p:nvSpPr>
        <p:spPr>
          <a:xfrm>
            <a:off x="2633472" y="1170432"/>
            <a:ext cx="6144768" cy="256032"/>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TC_LOGIN_001</a:t>
            </a:r>
            <a:endParaRPr lang="en-US" sz="1000" dirty="0"/>
          </a:p>
        </p:txBody>
      </p:sp>
      <p:sp>
        <p:nvSpPr>
          <p:cNvPr id="10" name="Shape 7"/>
          <p:cNvSpPr/>
          <p:nvPr/>
        </p:nvSpPr>
        <p:spPr>
          <a:xfrm>
            <a:off x="274320" y="1536192"/>
            <a:ext cx="8595360" cy="384048"/>
          </a:xfrm>
          <a:prstGeom prst="rect">
            <a:avLst/>
          </a:prstGeom>
          <a:solidFill>
            <a:srgbClr val="FFFFFF"/>
          </a:solidFill>
          <a:ln w="6350">
            <a:solidFill>
              <a:srgbClr val="DDCCBB"/>
            </a:solidFill>
            <a:prstDash val="solid"/>
          </a:ln>
        </p:spPr>
      </p:sp>
      <p:sp>
        <p:nvSpPr>
          <p:cNvPr id="11" name="Shape 8"/>
          <p:cNvSpPr/>
          <p:nvPr/>
        </p:nvSpPr>
        <p:spPr>
          <a:xfrm>
            <a:off x="274320" y="1536192"/>
            <a:ext cx="2286000" cy="384048"/>
          </a:xfrm>
          <a:prstGeom prst="rect">
            <a:avLst/>
          </a:prstGeom>
          <a:solidFill>
            <a:srgbClr val="F0F0F0"/>
          </a:solidFill>
          <a:ln/>
        </p:spPr>
      </p:sp>
      <p:sp>
        <p:nvSpPr>
          <p:cNvPr id="12" name="Text 9"/>
          <p:cNvSpPr/>
          <p:nvPr/>
        </p:nvSpPr>
        <p:spPr>
          <a:xfrm>
            <a:off x="347472" y="1591056"/>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Test Scenario</a:t>
            </a:r>
            <a:endParaRPr lang="en-US" sz="1000" dirty="0"/>
          </a:p>
        </p:txBody>
      </p:sp>
      <p:sp>
        <p:nvSpPr>
          <p:cNvPr id="13" name="Text 10"/>
          <p:cNvSpPr/>
          <p:nvPr/>
        </p:nvSpPr>
        <p:spPr>
          <a:xfrm>
            <a:off x="2633472" y="1591056"/>
            <a:ext cx="6144768" cy="256032"/>
          </a:xfrm>
          <a:prstGeom prst="rect">
            <a:avLst/>
          </a:prstGeom>
          <a:noFill/>
          <a:ln/>
        </p:spPr>
        <p:txBody>
          <a:bodyPr wrap="square" lIns="0" tIns="0" rIns="0" bIns="0" rtlCol="0" anchor="ctr"/>
          <a:lstStyle/>
          <a:p>
            <a:pPr marL="0" indent="0">
              <a:buNone/>
            </a:pPr>
            <a:r>
              <a:rPr lang="en-US" sz="1000" dirty="0">
                <a:solidFill>
                  <a:srgbClr val="E8670D"/>
                </a:solidFill>
                <a:latin typeface="Calibri" pitchFamily="34" charset="0"/>
                <a:ea typeface="Calibri" pitchFamily="34" charset="-122"/>
                <a:cs typeface="Calibri" pitchFamily="34" charset="-120"/>
              </a:rPr>
              <a:t>Verify successful login with valid credentials</a:t>
            </a:r>
            <a:endParaRPr lang="en-US" sz="1000" dirty="0"/>
          </a:p>
        </p:txBody>
      </p:sp>
      <p:sp>
        <p:nvSpPr>
          <p:cNvPr id="14" name="Shape 11"/>
          <p:cNvSpPr/>
          <p:nvPr/>
        </p:nvSpPr>
        <p:spPr>
          <a:xfrm>
            <a:off x="274320" y="1956816"/>
            <a:ext cx="8595360" cy="384048"/>
          </a:xfrm>
          <a:prstGeom prst="rect">
            <a:avLst/>
          </a:prstGeom>
          <a:solidFill>
            <a:srgbClr val="FFF5EE"/>
          </a:solidFill>
          <a:ln w="6350">
            <a:solidFill>
              <a:srgbClr val="DDCCBB"/>
            </a:solidFill>
            <a:prstDash val="solid"/>
          </a:ln>
        </p:spPr>
      </p:sp>
      <p:sp>
        <p:nvSpPr>
          <p:cNvPr id="15" name="Shape 12"/>
          <p:cNvSpPr/>
          <p:nvPr/>
        </p:nvSpPr>
        <p:spPr>
          <a:xfrm>
            <a:off x="274320" y="1956816"/>
            <a:ext cx="2286000" cy="384048"/>
          </a:xfrm>
          <a:prstGeom prst="rect">
            <a:avLst/>
          </a:prstGeom>
          <a:solidFill>
            <a:srgbClr val="FFE8D0"/>
          </a:solidFill>
          <a:ln/>
        </p:spPr>
      </p:sp>
      <p:sp>
        <p:nvSpPr>
          <p:cNvPr id="16" name="Text 13"/>
          <p:cNvSpPr/>
          <p:nvPr/>
        </p:nvSpPr>
        <p:spPr>
          <a:xfrm>
            <a:off x="347472" y="2011680"/>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Preconditions</a:t>
            </a:r>
            <a:endParaRPr lang="en-US" sz="1000" dirty="0"/>
          </a:p>
        </p:txBody>
      </p:sp>
      <p:sp>
        <p:nvSpPr>
          <p:cNvPr id="17" name="Text 14"/>
          <p:cNvSpPr/>
          <p:nvPr/>
        </p:nvSpPr>
        <p:spPr>
          <a:xfrm>
            <a:off x="2633472" y="2011680"/>
            <a:ext cx="6144768" cy="256032"/>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User is registered. Browser is open. App is running.</a:t>
            </a:r>
            <a:endParaRPr lang="en-US" sz="1000" dirty="0"/>
          </a:p>
        </p:txBody>
      </p:sp>
      <p:sp>
        <p:nvSpPr>
          <p:cNvPr id="18" name="Shape 15"/>
          <p:cNvSpPr/>
          <p:nvPr/>
        </p:nvSpPr>
        <p:spPr>
          <a:xfrm>
            <a:off x="274320" y="2377440"/>
            <a:ext cx="8595360" cy="384048"/>
          </a:xfrm>
          <a:prstGeom prst="rect">
            <a:avLst/>
          </a:prstGeom>
          <a:solidFill>
            <a:srgbClr val="FFFFFF"/>
          </a:solidFill>
          <a:ln w="6350">
            <a:solidFill>
              <a:srgbClr val="DDCCBB"/>
            </a:solidFill>
            <a:prstDash val="solid"/>
          </a:ln>
        </p:spPr>
      </p:sp>
      <p:sp>
        <p:nvSpPr>
          <p:cNvPr id="19" name="Shape 16"/>
          <p:cNvSpPr/>
          <p:nvPr/>
        </p:nvSpPr>
        <p:spPr>
          <a:xfrm>
            <a:off x="274320" y="2377440"/>
            <a:ext cx="2286000" cy="384048"/>
          </a:xfrm>
          <a:prstGeom prst="rect">
            <a:avLst/>
          </a:prstGeom>
          <a:solidFill>
            <a:srgbClr val="F0F0F0"/>
          </a:solidFill>
          <a:ln/>
        </p:spPr>
      </p:sp>
      <p:sp>
        <p:nvSpPr>
          <p:cNvPr id="20" name="Text 17"/>
          <p:cNvSpPr/>
          <p:nvPr/>
        </p:nvSpPr>
        <p:spPr>
          <a:xfrm>
            <a:off x="347472" y="2432304"/>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Test Steps</a:t>
            </a:r>
            <a:endParaRPr lang="en-US" sz="1000" dirty="0"/>
          </a:p>
        </p:txBody>
      </p:sp>
      <p:sp>
        <p:nvSpPr>
          <p:cNvPr id="21" name="Text 18"/>
          <p:cNvSpPr/>
          <p:nvPr/>
        </p:nvSpPr>
        <p:spPr>
          <a:xfrm>
            <a:off x="2633472" y="2432304"/>
            <a:ext cx="6144768" cy="256032"/>
          </a:xfrm>
          <a:prstGeom prst="rect">
            <a:avLst/>
          </a:prstGeom>
          <a:noFill/>
          <a:ln/>
        </p:spPr>
        <p:txBody>
          <a:bodyPr wrap="square" lIns="0" tIns="0" rIns="0" bIns="0" rtlCol="0" anchor="ctr"/>
          <a:lstStyle/>
          <a:p>
            <a:pPr marL="0" indent="0">
              <a:buNone/>
            </a:pPr>
            <a:r>
              <a:rPr lang="en-US" sz="1000" dirty="0">
                <a:solidFill>
                  <a:srgbClr val="E8670D"/>
                </a:solidFill>
                <a:latin typeface="Calibri" pitchFamily="34" charset="0"/>
                <a:ea typeface="Calibri" pitchFamily="34" charset="-122"/>
                <a:cs typeface="Calibri" pitchFamily="34" charset="-120"/>
              </a:rPr>
              <a:t>1. Go to login page  2. Enter username  3. Enter password  4. Click Login</a:t>
            </a:r>
            <a:endParaRPr lang="en-US" sz="1000" dirty="0"/>
          </a:p>
        </p:txBody>
      </p:sp>
      <p:sp>
        <p:nvSpPr>
          <p:cNvPr id="22" name="Shape 19"/>
          <p:cNvSpPr/>
          <p:nvPr/>
        </p:nvSpPr>
        <p:spPr>
          <a:xfrm>
            <a:off x="274320" y="2798064"/>
            <a:ext cx="8595360" cy="384048"/>
          </a:xfrm>
          <a:prstGeom prst="rect">
            <a:avLst/>
          </a:prstGeom>
          <a:solidFill>
            <a:srgbClr val="FFF5EE"/>
          </a:solidFill>
          <a:ln w="6350">
            <a:solidFill>
              <a:srgbClr val="DDCCBB"/>
            </a:solidFill>
            <a:prstDash val="solid"/>
          </a:ln>
        </p:spPr>
      </p:sp>
      <p:sp>
        <p:nvSpPr>
          <p:cNvPr id="23" name="Shape 20"/>
          <p:cNvSpPr/>
          <p:nvPr/>
        </p:nvSpPr>
        <p:spPr>
          <a:xfrm>
            <a:off x="274320" y="2798064"/>
            <a:ext cx="2286000" cy="384048"/>
          </a:xfrm>
          <a:prstGeom prst="rect">
            <a:avLst/>
          </a:prstGeom>
          <a:solidFill>
            <a:srgbClr val="FFE8D0"/>
          </a:solidFill>
          <a:ln/>
        </p:spPr>
      </p:sp>
      <p:sp>
        <p:nvSpPr>
          <p:cNvPr id="24" name="Text 21"/>
          <p:cNvSpPr/>
          <p:nvPr/>
        </p:nvSpPr>
        <p:spPr>
          <a:xfrm>
            <a:off x="347472" y="2852928"/>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Test Data</a:t>
            </a:r>
            <a:endParaRPr lang="en-US" sz="1000" dirty="0"/>
          </a:p>
        </p:txBody>
      </p:sp>
      <p:sp>
        <p:nvSpPr>
          <p:cNvPr id="25" name="Text 22"/>
          <p:cNvSpPr/>
          <p:nvPr/>
        </p:nvSpPr>
        <p:spPr>
          <a:xfrm>
            <a:off x="2633472" y="2852928"/>
            <a:ext cx="6144768" cy="256032"/>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Username: testuser@demo.com | Password: Test@1234</a:t>
            </a:r>
            <a:endParaRPr lang="en-US" sz="1000" dirty="0"/>
          </a:p>
        </p:txBody>
      </p:sp>
      <p:sp>
        <p:nvSpPr>
          <p:cNvPr id="26" name="Shape 23"/>
          <p:cNvSpPr/>
          <p:nvPr/>
        </p:nvSpPr>
        <p:spPr>
          <a:xfrm>
            <a:off x="274320" y="3218688"/>
            <a:ext cx="8595360" cy="384048"/>
          </a:xfrm>
          <a:prstGeom prst="rect">
            <a:avLst/>
          </a:prstGeom>
          <a:solidFill>
            <a:srgbClr val="FFFFFF"/>
          </a:solidFill>
          <a:ln w="6350">
            <a:solidFill>
              <a:srgbClr val="DDCCBB"/>
            </a:solidFill>
            <a:prstDash val="solid"/>
          </a:ln>
        </p:spPr>
      </p:sp>
      <p:sp>
        <p:nvSpPr>
          <p:cNvPr id="27" name="Shape 24"/>
          <p:cNvSpPr/>
          <p:nvPr/>
        </p:nvSpPr>
        <p:spPr>
          <a:xfrm>
            <a:off x="274320" y="3218688"/>
            <a:ext cx="2286000" cy="384048"/>
          </a:xfrm>
          <a:prstGeom prst="rect">
            <a:avLst/>
          </a:prstGeom>
          <a:solidFill>
            <a:srgbClr val="F0F0F0"/>
          </a:solidFill>
          <a:ln/>
        </p:spPr>
      </p:sp>
      <p:sp>
        <p:nvSpPr>
          <p:cNvPr id="28" name="Text 25"/>
          <p:cNvSpPr/>
          <p:nvPr/>
        </p:nvSpPr>
        <p:spPr>
          <a:xfrm>
            <a:off x="347472" y="3273552"/>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Expected Result</a:t>
            </a:r>
            <a:endParaRPr lang="en-US" sz="1000" dirty="0"/>
          </a:p>
        </p:txBody>
      </p:sp>
      <p:sp>
        <p:nvSpPr>
          <p:cNvPr id="29" name="Text 26"/>
          <p:cNvSpPr/>
          <p:nvPr/>
        </p:nvSpPr>
        <p:spPr>
          <a:xfrm>
            <a:off x="2633472" y="3273552"/>
            <a:ext cx="6144768" cy="256032"/>
          </a:xfrm>
          <a:prstGeom prst="rect">
            <a:avLst/>
          </a:prstGeom>
          <a:noFill/>
          <a:ln/>
        </p:spPr>
        <p:txBody>
          <a:bodyPr wrap="square" lIns="0" tIns="0" rIns="0" bIns="0" rtlCol="0" anchor="ctr"/>
          <a:lstStyle/>
          <a:p>
            <a:pPr marL="0" indent="0">
              <a:buNone/>
            </a:pPr>
            <a:r>
              <a:rPr lang="en-US" sz="1000" dirty="0">
                <a:solidFill>
                  <a:srgbClr val="1A6B3C"/>
                </a:solidFill>
                <a:latin typeface="Calibri" pitchFamily="34" charset="0"/>
                <a:ea typeface="Calibri" pitchFamily="34" charset="-122"/>
                <a:cs typeface="Calibri" pitchFamily="34" charset="-120"/>
              </a:rPr>
              <a:t>User is redirected to Dashboard. Welcome message shown.</a:t>
            </a:r>
            <a:endParaRPr lang="en-US" sz="1000" dirty="0"/>
          </a:p>
        </p:txBody>
      </p:sp>
      <p:sp>
        <p:nvSpPr>
          <p:cNvPr id="30" name="Shape 27"/>
          <p:cNvSpPr/>
          <p:nvPr/>
        </p:nvSpPr>
        <p:spPr>
          <a:xfrm>
            <a:off x="274320" y="3639312"/>
            <a:ext cx="8595360" cy="384048"/>
          </a:xfrm>
          <a:prstGeom prst="rect">
            <a:avLst/>
          </a:prstGeom>
          <a:solidFill>
            <a:srgbClr val="FFF5EE"/>
          </a:solidFill>
          <a:ln w="6350">
            <a:solidFill>
              <a:srgbClr val="DDCCBB"/>
            </a:solidFill>
            <a:prstDash val="solid"/>
          </a:ln>
        </p:spPr>
      </p:sp>
      <p:sp>
        <p:nvSpPr>
          <p:cNvPr id="31" name="Shape 28"/>
          <p:cNvSpPr/>
          <p:nvPr/>
        </p:nvSpPr>
        <p:spPr>
          <a:xfrm>
            <a:off x="274320" y="3639312"/>
            <a:ext cx="2286000" cy="384048"/>
          </a:xfrm>
          <a:prstGeom prst="rect">
            <a:avLst/>
          </a:prstGeom>
          <a:solidFill>
            <a:srgbClr val="FFE8D0"/>
          </a:solidFill>
          <a:ln/>
        </p:spPr>
      </p:sp>
      <p:sp>
        <p:nvSpPr>
          <p:cNvPr id="32" name="Text 29"/>
          <p:cNvSpPr/>
          <p:nvPr/>
        </p:nvSpPr>
        <p:spPr>
          <a:xfrm>
            <a:off x="347472" y="3694176"/>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Actual Result</a:t>
            </a:r>
            <a:endParaRPr lang="en-US" sz="1000" dirty="0"/>
          </a:p>
        </p:txBody>
      </p:sp>
      <p:sp>
        <p:nvSpPr>
          <p:cNvPr id="33" name="Text 30"/>
          <p:cNvSpPr/>
          <p:nvPr/>
        </p:nvSpPr>
        <p:spPr>
          <a:xfrm>
            <a:off x="2633472" y="3694176"/>
            <a:ext cx="6144768"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(Filled during execution — leave blank when writing)</a:t>
            </a:r>
            <a:endParaRPr lang="en-US" sz="1000" dirty="0"/>
          </a:p>
        </p:txBody>
      </p:sp>
      <p:sp>
        <p:nvSpPr>
          <p:cNvPr id="34" name="Shape 31"/>
          <p:cNvSpPr/>
          <p:nvPr/>
        </p:nvSpPr>
        <p:spPr>
          <a:xfrm>
            <a:off x="274320" y="4059936"/>
            <a:ext cx="8595360" cy="384048"/>
          </a:xfrm>
          <a:prstGeom prst="rect">
            <a:avLst/>
          </a:prstGeom>
          <a:solidFill>
            <a:srgbClr val="FFFFFF"/>
          </a:solidFill>
          <a:ln w="6350">
            <a:solidFill>
              <a:srgbClr val="DDCCBB"/>
            </a:solidFill>
            <a:prstDash val="solid"/>
          </a:ln>
        </p:spPr>
      </p:sp>
      <p:sp>
        <p:nvSpPr>
          <p:cNvPr id="35" name="Shape 32"/>
          <p:cNvSpPr/>
          <p:nvPr/>
        </p:nvSpPr>
        <p:spPr>
          <a:xfrm>
            <a:off x="274320" y="4059936"/>
            <a:ext cx="2286000" cy="384048"/>
          </a:xfrm>
          <a:prstGeom prst="rect">
            <a:avLst/>
          </a:prstGeom>
          <a:solidFill>
            <a:srgbClr val="F0F0F0"/>
          </a:solidFill>
          <a:ln/>
        </p:spPr>
      </p:sp>
      <p:sp>
        <p:nvSpPr>
          <p:cNvPr id="36" name="Text 33"/>
          <p:cNvSpPr/>
          <p:nvPr/>
        </p:nvSpPr>
        <p:spPr>
          <a:xfrm>
            <a:off x="347472" y="4114800"/>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Status</a:t>
            </a:r>
            <a:endParaRPr lang="en-US" sz="1000" dirty="0"/>
          </a:p>
        </p:txBody>
      </p:sp>
      <p:sp>
        <p:nvSpPr>
          <p:cNvPr id="37" name="Text 34"/>
          <p:cNvSpPr/>
          <p:nvPr/>
        </p:nvSpPr>
        <p:spPr>
          <a:xfrm>
            <a:off x="2633472" y="4114800"/>
            <a:ext cx="6144768"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PASS  /  FAIL  /  BLOCKED  /  SKIPPED</a:t>
            </a:r>
            <a:endParaRPr lang="en-US" sz="1000" dirty="0"/>
          </a:p>
        </p:txBody>
      </p:sp>
      <p:sp>
        <p:nvSpPr>
          <p:cNvPr id="38" name="Shape 35"/>
          <p:cNvSpPr/>
          <p:nvPr/>
        </p:nvSpPr>
        <p:spPr>
          <a:xfrm>
            <a:off x="274320" y="4480560"/>
            <a:ext cx="8595360" cy="384048"/>
          </a:xfrm>
          <a:prstGeom prst="rect">
            <a:avLst/>
          </a:prstGeom>
          <a:solidFill>
            <a:srgbClr val="FFF5EE"/>
          </a:solidFill>
          <a:ln w="6350">
            <a:solidFill>
              <a:srgbClr val="DDCCBB"/>
            </a:solidFill>
            <a:prstDash val="solid"/>
          </a:ln>
        </p:spPr>
      </p:sp>
      <p:sp>
        <p:nvSpPr>
          <p:cNvPr id="39" name="Shape 36"/>
          <p:cNvSpPr/>
          <p:nvPr/>
        </p:nvSpPr>
        <p:spPr>
          <a:xfrm>
            <a:off x="274320" y="4480560"/>
            <a:ext cx="2286000" cy="384048"/>
          </a:xfrm>
          <a:prstGeom prst="rect">
            <a:avLst/>
          </a:prstGeom>
          <a:solidFill>
            <a:srgbClr val="FFE8D0"/>
          </a:solidFill>
          <a:ln/>
        </p:spPr>
      </p:sp>
      <p:sp>
        <p:nvSpPr>
          <p:cNvPr id="40" name="Text 37"/>
          <p:cNvSpPr/>
          <p:nvPr/>
        </p:nvSpPr>
        <p:spPr>
          <a:xfrm>
            <a:off x="347472" y="4535424"/>
            <a:ext cx="21031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Comments</a:t>
            </a:r>
            <a:endParaRPr lang="en-US" sz="1000" dirty="0"/>
          </a:p>
        </p:txBody>
      </p:sp>
      <p:sp>
        <p:nvSpPr>
          <p:cNvPr id="41" name="Text 38"/>
          <p:cNvSpPr/>
          <p:nvPr/>
        </p:nvSpPr>
        <p:spPr>
          <a:xfrm>
            <a:off x="2633472" y="4535424"/>
            <a:ext cx="6144768"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Any notes, screenshots, or defect ID references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Test Case Example #1 — Login Page</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Worked example: positive and negative scenarios</a:t>
            </a:r>
            <a:endParaRPr lang="en-US" sz="1200" dirty="0"/>
          </a:p>
        </p:txBody>
      </p:sp>
      <p:sp>
        <p:nvSpPr>
          <p:cNvPr id="6" name="Shape 3"/>
          <p:cNvSpPr/>
          <p:nvPr/>
        </p:nvSpPr>
        <p:spPr>
          <a:xfrm>
            <a:off x="274320" y="1078992"/>
            <a:ext cx="8595360" cy="347472"/>
          </a:xfrm>
          <a:prstGeom prst="rect">
            <a:avLst/>
          </a:prstGeom>
          <a:solidFill>
            <a:srgbClr val="E8670D"/>
          </a:solidFill>
          <a:ln/>
        </p:spPr>
      </p:sp>
      <p:sp>
        <p:nvSpPr>
          <p:cNvPr id="7" name="Text 4"/>
          <p:cNvSpPr/>
          <p:nvPr/>
        </p:nvSpPr>
        <p:spPr>
          <a:xfrm>
            <a:off x="365760" y="1106424"/>
            <a:ext cx="8321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TC_LOGIN_001  |  Valid Login — Positive Test</a:t>
            </a:r>
            <a:endParaRPr lang="en-US" sz="1200" dirty="0"/>
          </a:p>
        </p:txBody>
      </p:sp>
      <p:sp>
        <p:nvSpPr>
          <p:cNvPr id="8" name="Shape 5"/>
          <p:cNvSpPr/>
          <p:nvPr/>
        </p:nvSpPr>
        <p:spPr>
          <a:xfrm>
            <a:off x="274320" y="1444752"/>
            <a:ext cx="8595360" cy="347472"/>
          </a:xfrm>
          <a:prstGeom prst="rect">
            <a:avLst/>
          </a:prstGeom>
          <a:solidFill>
            <a:srgbClr val="FFF5EE"/>
          </a:solidFill>
          <a:ln w="6350">
            <a:solidFill>
              <a:srgbClr val="FFCCAA"/>
            </a:solidFill>
            <a:prstDash val="solid"/>
          </a:ln>
        </p:spPr>
      </p:sp>
      <p:sp>
        <p:nvSpPr>
          <p:cNvPr id="9" name="Text 6"/>
          <p:cNvSpPr/>
          <p:nvPr/>
        </p:nvSpPr>
        <p:spPr>
          <a:xfrm>
            <a:off x="347472" y="1481328"/>
            <a:ext cx="1645920" cy="256032"/>
          </a:xfrm>
          <a:prstGeom prst="rect">
            <a:avLst/>
          </a:prstGeom>
          <a:noFill/>
          <a:ln/>
        </p:spPr>
        <p:txBody>
          <a:bodyPr wrap="square" lIns="0" tIns="0" rIns="0" bIns="0"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Preconditions</a:t>
            </a:r>
            <a:endParaRPr lang="en-US" sz="1000" dirty="0"/>
          </a:p>
        </p:txBody>
      </p:sp>
      <p:sp>
        <p:nvSpPr>
          <p:cNvPr id="10" name="Text 7"/>
          <p:cNvSpPr/>
          <p:nvPr/>
        </p:nvSpPr>
        <p:spPr>
          <a:xfrm>
            <a:off x="2057400" y="1481328"/>
            <a:ext cx="67208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App is running. User account exists: testuser@demo.com / Test@1234</a:t>
            </a:r>
            <a:endParaRPr lang="en-US" sz="1000" dirty="0"/>
          </a:p>
        </p:txBody>
      </p:sp>
      <p:sp>
        <p:nvSpPr>
          <p:cNvPr id="11" name="Shape 8"/>
          <p:cNvSpPr/>
          <p:nvPr/>
        </p:nvSpPr>
        <p:spPr>
          <a:xfrm>
            <a:off x="274320" y="1810512"/>
            <a:ext cx="8595360" cy="347472"/>
          </a:xfrm>
          <a:prstGeom prst="rect">
            <a:avLst/>
          </a:prstGeom>
          <a:solidFill>
            <a:srgbClr val="FFFFFF"/>
          </a:solidFill>
          <a:ln w="6350">
            <a:solidFill>
              <a:srgbClr val="FFCCAA"/>
            </a:solidFill>
            <a:prstDash val="solid"/>
          </a:ln>
        </p:spPr>
      </p:sp>
      <p:sp>
        <p:nvSpPr>
          <p:cNvPr id="12" name="Text 9"/>
          <p:cNvSpPr/>
          <p:nvPr/>
        </p:nvSpPr>
        <p:spPr>
          <a:xfrm>
            <a:off x="347472" y="1847088"/>
            <a:ext cx="1645920" cy="256032"/>
          </a:xfrm>
          <a:prstGeom prst="rect">
            <a:avLst/>
          </a:prstGeom>
          <a:noFill/>
          <a:ln/>
        </p:spPr>
        <p:txBody>
          <a:bodyPr wrap="square" lIns="0" tIns="0" rIns="0" bIns="0"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Test Steps</a:t>
            </a:r>
            <a:endParaRPr lang="en-US" sz="1000" dirty="0"/>
          </a:p>
        </p:txBody>
      </p:sp>
      <p:sp>
        <p:nvSpPr>
          <p:cNvPr id="13" name="Text 10"/>
          <p:cNvSpPr/>
          <p:nvPr/>
        </p:nvSpPr>
        <p:spPr>
          <a:xfrm>
            <a:off x="2057400" y="1847088"/>
            <a:ext cx="67208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1. Open login page  2. Enter email: testuser@demo.com  3. Enter password: Test@1234  4. Click Login</a:t>
            </a:r>
            <a:endParaRPr lang="en-US" sz="1000" dirty="0"/>
          </a:p>
        </p:txBody>
      </p:sp>
      <p:sp>
        <p:nvSpPr>
          <p:cNvPr id="14" name="Shape 11"/>
          <p:cNvSpPr/>
          <p:nvPr/>
        </p:nvSpPr>
        <p:spPr>
          <a:xfrm>
            <a:off x="274320" y="2176272"/>
            <a:ext cx="8595360" cy="347472"/>
          </a:xfrm>
          <a:prstGeom prst="rect">
            <a:avLst/>
          </a:prstGeom>
          <a:solidFill>
            <a:srgbClr val="FFF5EE"/>
          </a:solidFill>
          <a:ln w="6350">
            <a:solidFill>
              <a:srgbClr val="FFCCAA"/>
            </a:solidFill>
            <a:prstDash val="solid"/>
          </a:ln>
        </p:spPr>
      </p:sp>
      <p:sp>
        <p:nvSpPr>
          <p:cNvPr id="15" name="Text 12"/>
          <p:cNvSpPr/>
          <p:nvPr/>
        </p:nvSpPr>
        <p:spPr>
          <a:xfrm>
            <a:off x="347472" y="2212848"/>
            <a:ext cx="1645920" cy="256032"/>
          </a:xfrm>
          <a:prstGeom prst="rect">
            <a:avLst/>
          </a:prstGeom>
          <a:noFill/>
          <a:ln/>
        </p:spPr>
        <p:txBody>
          <a:bodyPr wrap="square" lIns="0" tIns="0" rIns="0" bIns="0"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Expected</a:t>
            </a:r>
            <a:endParaRPr lang="en-US" sz="1000" dirty="0"/>
          </a:p>
        </p:txBody>
      </p:sp>
      <p:sp>
        <p:nvSpPr>
          <p:cNvPr id="16" name="Text 13"/>
          <p:cNvSpPr/>
          <p:nvPr/>
        </p:nvSpPr>
        <p:spPr>
          <a:xfrm>
            <a:off x="2057400" y="2212848"/>
            <a:ext cx="67208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User lands on Dashboard. 'Welcome, Test User!' message is visible.</a:t>
            </a:r>
            <a:endParaRPr lang="en-US" sz="1000" dirty="0"/>
          </a:p>
        </p:txBody>
      </p:sp>
      <p:sp>
        <p:nvSpPr>
          <p:cNvPr id="17" name="Shape 14"/>
          <p:cNvSpPr/>
          <p:nvPr/>
        </p:nvSpPr>
        <p:spPr>
          <a:xfrm>
            <a:off x="274320" y="2542032"/>
            <a:ext cx="8595360" cy="347472"/>
          </a:xfrm>
          <a:prstGeom prst="rect">
            <a:avLst/>
          </a:prstGeom>
          <a:solidFill>
            <a:srgbClr val="FFFFFF"/>
          </a:solidFill>
          <a:ln w="6350">
            <a:solidFill>
              <a:srgbClr val="FFCCAA"/>
            </a:solidFill>
            <a:prstDash val="solid"/>
          </a:ln>
        </p:spPr>
      </p:sp>
      <p:sp>
        <p:nvSpPr>
          <p:cNvPr id="18" name="Text 15"/>
          <p:cNvSpPr/>
          <p:nvPr/>
        </p:nvSpPr>
        <p:spPr>
          <a:xfrm>
            <a:off x="347472" y="2578608"/>
            <a:ext cx="1645920" cy="256032"/>
          </a:xfrm>
          <a:prstGeom prst="rect">
            <a:avLst/>
          </a:prstGeom>
          <a:noFill/>
          <a:ln/>
        </p:spPr>
        <p:txBody>
          <a:bodyPr wrap="square" lIns="0" tIns="0" rIns="0" bIns="0"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Status</a:t>
            </a:r>
            <a:endParaRPr lang="en-US" sz="1000" dirty="0"/>
          </a:p>
        </p:txBody>
      </p:sp>
      <p:sp>
        <p:nvSpPr>
          <p:cNvPr id="19" name="Text 16"/>
          <p:cNvSpPr/>
          <p:nvPr/>
        </p:nvSpPr>
        <p:spPr>
          <a:xfrm>
            <a:off x="2057400" y="2578608"/>
            <a:ext cx="67208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PASS ✅</a:t>
            </a:r>
            <a:endParaRPr lang="en-US" sz="1000" dirty="0"/>
          </a:p>
        </p:txBody>
      </p:sp>
      <p:sp>
        <p:nvSpPr>
          <p:cNvPr id="20" name="Shape 17"/>
          <p:cNvSpPr/>
          <p:nvPr/>
        </p:nvSpPr>
        <p:spPr>
          <a:xfrm>
            <a:off x="274320" y="2980944"/>
            <a:ext cx="8595360" cy="347472"/>
          </a:xfrm>
          <a:prstGeom prst="rect">
            <a:avLst/>
          </a:prstGeom>
          <a:solidFill>
            <a:srgbClr val="1E1E1E"/>
          </a:solidFill>
          <a:ln/>
        </p:spPr>
      </p:sp>
      <p:sp>
        <p:nvSpPr>
          <p:cNvPr id="21" name="Text 18"/>
          <p:cNvSpPr/>
          <p:nvPr/>
        </p:nvSpPr>
        <p:spPr>
          <a:xfrm>
            <a:off x="365760" y="3008376"/>
            <a:ext cx="8321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TC_LOGIN_002  |  Invalid Password — Negative Test</a:t>
            </a:r>
            <a:endParaRPr lang="en-US" sz="1200" dirty="0"/>
          </a:p>
        </p:txBody>
      </p:sp>
      <p:sp>
        <p:nvSpPr>
          <p:cNvPr id="22" name="Shape 19"/>
          <p:cNvSpPr/>
          <p:nvPr/>
        </p:nvSpPr>
        <p:spPr>
          <a:xfrm>
            <a:off x="274320" y="3346704"/>
            <a:ext cx="8595360" cy="347472"/>
          </a:xfrm>
          <a:prstGeom prst="rect">
            <a:avLst/>
          </a:prstGeom>
          <a:solidFill>
            <a:srgbClr val="F5F5F5"/>
          </a:solidFill>
          <a:ln w="6350">
            <a:solidFill>
              <a:srgbClr val="CCCCCC"/>
            </a:solidFill>
            <a:prstDash val="solid"/>
          </a:ln>
        </p:spPr>
      </p:sp>
      <p:sp>
        <p:nvSpPr>
          <p:cNvPr id="23" name="Text 20"/>
          <p:cNvSpPr/>
          <p:nvPr/>
        </p:nvSpPr>
        <p:spPr>
          <a:xfrm>
            <a:off x="347472" y="3383280"/>
            <a:ext cx="16459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Preconditions</a:t>
            </a:r>
            <a:endParaRPr lang="en-US" sz="1000" dirty="0"/>
          </a:p>
        </p:txBody>
      </p:sp>
      <p:sp>
        <p:nvSpPr>
          <p:cNvPr id="24" name="Text 21"/>
          <p:cNvSpPr/>
          <p:nvPr/>
        </p:nvSpPr>
        <p:spPr>
          <a:xfrm>
            <a:off x="2057400" y="3383280"/>
            <a:ext cx="67208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App is running. User account: testuser@demo.com exists.</a:t>
            </a:r>
            <a:endParaRPr lang="en-US" sz="1000" dirty="0"/>
          </a:p>
        </p:txBody>
      </p:sp>
      <p:sp>
        <p:nvSpPr>
          <p:cNvPr id="25" name="Shape 22"/>
          <p:cNvSpPr/>
          <p:nvPr/>
        </p:nvSpPr>
        <p:spPr>
          <a:xfrm>
            <a:off x="274320" y="3712464"/>
            <a:ext cx="8595360" cy="347472"/>
          </a:xfrm>
          <a:prstGeom prst="rect">
            <a:avLst/>
          </a:prstGeom>
          <a:solidFill>
            <a:srgbClr val="FFFFFF"/>
          </a:solidFill>
          <a:ln w="6350">
            <a:solidFill>
              <a:srgbClr val="CCCCCC"/>
            </a:solidFill>
            <a:prstDash val="solid"/>
          </a:ln>
        </p:spPr>
      </p:sp>
      <p:sp>
        <p:nvSpPr>
          <p:cNvPr id="26" name="Text 23"/>
          <p:cNvSpPr/>
          <p:nvPr/>
        </p:nvSpPr>
        <p:spPr>
          <a:xfrm>
            <a:off x="347472" y="3749040"/>
            <a:ext cx="16459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Test Steps</a:t>
            </a:r>
            <a:endParaRPr lang="en-US" sz="1000" dirty="0"/>
          </a:p>
        </p:txBody>
      </p:sp>
      <p:sp>
        <p:nvSpPr>
          <p:cNvPr id="27" name="Text 24"/>
          <p:cNvSpPr/>
          <p:nvPr/>
        </p:nvSpPr>
        <p:spPr>
          <a:xfrm>
            <a:off x="2057400" y="3749040"/>
            <a:ext cx="67208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1. Open login page  2. Enter email: testuser@demo.com  3. Enter password: WrongPass  4. Click Login</a:t>
            </a:r>
            <a:endParaRPr lang="en-US" sz="1000" dirty="0"/>
          </a:p>
        </p:txBody>
      </p:sp>
      <p:sp>
        <p:nvSpPr>
          <p:cNvPr id="28" name="Shape 25"/>
          <p:cNvSpPr/>
          <p:nvPr/>
        </p:nvSpPr>
        <p:spPr>
          <a:xfrm>
            <a:off x="274320" y="4078224"/>
            <a:ext cx="8595360" cy="347472"/>
          </a:xfrm>
          <a:prstGeom prst="rect">
            <a:avLst/>
          </a:prstGeom>
          <a:solidFill>
            <a:srgbClr val="F5F5F5"/>
          </a:solidFill>
          <a:ln w="6350">
            <a:solidFill>
              <a:srgbClr val="CCCCCC"/>
            </a:solidFill>
            <a:prstDash val="solid"/>
          </a:ln>
        </p:spPr>
      </p:sp>
      <p:sp>
        <p:nvSpPr>
          <p:cNvPr id="29" name="Text 26"/>
          <p:cNvSpPr/>
          <p:nvPr/>
        </p:nvSpPr>
        <p:spPr>
          <a:xfrm>
            <a:off x="347472" y="4114800"/>
            <a:ext cx="16459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Expected</a:t>
            </a:r>
            <a:endParaRPr lang="en-US" sz="1000" dirty="0"/>
          </a:p>
        </p:txBody>
      </p:sp>
      <p:sp>
        <p:nvSpPr>
          <p:cNvPr id="30" name="Text 27"/>
          <p:cNvSpPr/>
          <p:nvPr/>
        </p:nvSpPr>
        <p:spPr>
          <a:xfrm>
            <a:off x="2057400" y="4114800"/>
            <a:ext cx="67208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Login fails. Error message: 'Incorrect password. Please try again.' No navigation.</a:t>
            </a:r>
            <a:endParaRPr lang="en-US" sz="1000" dirty="0"/>
          </a:p>
        </p:txBody>
      </p:sp>
      <p:sp>
        <p:nvSpPr>
          <p:cNvPr id="31" name="Shape 28"/>
          <p:cNvSpPr/>
          <p:nvPr/>
        </p:nvSpPr>
        <p:spPr>
          <a:xfrm>
            <a:off x="274320" y="4443984"/>
            <a:ext cx="8595360" cy="347472"/>
          </a:xfrm>
          <a:prstGeom prst="rect">
            <a:avLst/>
          </a:prstGeom>
          <a:solidFill>
            <a:srgbClr val="FFFFFF"/>
          </a:solidFill>
          <a:ln w="6350">
            <a:solidFill>
              <a:srgbClr val="CCCCCC"/>
            </a:solidFill>
            <a:prstDash val="solid"/>
          </a:ln>
        </p:spPr>
      </p:sp>
      <p:sp>
        <p:nvSpPr>
          <p:cNvPr id="32" name="Text 29"/>
          <p:cNvSpPr/>
          <p:nvPr/>
        </p:nvSpPr>
        <p:spPr>
          <a:xfrm>
            <a:off x="347472" y="4480560"/>
            <a:ext cx="1645920" cy="256032"/>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Status</a:t>
            </a:r>
            <a:endParaRPr lang="en-US" sz="1000" dirty="0"/>
          </a:p>
        </p:txBody>
      </p:sp>
      <p:sp>
        <p:nvSpPr>
          <p:cNvPr id="33" name="Text 30"/>
          <p:cNvSpPr/>
          <p:nvPr/>
        </p:nvSpPr>
        <p:spPr>
          <a:xfrm>
            <a:off x="2057400" y="4480560"/>
            <a:ext cx="6720840" cy="256032"/>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PASS ✅</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Test Case Example #2 — Registration Form</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Testing a sign-up form with multiple validation rules</a:t>
            </a:r>
            <a:endParaRPr lang="en-US" sz="1200" dirty="0"/>
          </a:p>
        </p:txBody>
      </p:sp>
      <p:sp>
        <p:nvSpPr>
          <p:cNvPr id="6" name="Shape 3"/>
          <p:cNvSpPr/>
          <p:nvPr/>
        </p:nvSpPr>
        <p:spPr>
          <a:xfrm>
            <a:off x="274320" y="1078992"/>
            <a:ext cx="8595360" cy="1207008"/>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74320" y="1078992"/>
            <a:ext cx="8595360" cy="347472"/>
          </a:xfrm>
          <a:prstGeom prst="rect">
            <a:avLst/>
          </a:prstGeom>
          <a:solidFill>
            <a:srgbClr val="43A047"/>
          </a:solidFill>
          <a:ln/>
        </p:spPr>
      </p:sp>
      <p:sp>
        <p:nvSpPr>
          <p:cNvPr id="8" name="Text 5"/>
          <p:cNvSpPr/>
          <p:nvPr/>
        </p:nvSpPr>
        <p:spPr>
          <a:xfrm>
            <a:off x="365760" y="1115568"/>
            <a:ext cx="7315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TC_REG_001  —  Register with all valid inputs</a:t>
            </a:r>
            <a:endParaRPr lang="en-US" sz="1150" dirty="0"/>
          </a:p>
        </p:txBody>
      </p:sp>
      <p:sp>
        <p:nvSpPr>
          <p:cNvPr id="9" name="Shape 6"/>
          <p:cNvSpPr/>
          <p:nvPr/>
        </p:nvSpPr>
        <p:spPr>
          <a:xfrm>
            <a:off x="8138160" y="1078992"/>
            <a:ext cx="731520" cy="347472"/>
          </a:xfrm>
          <a:prstGeom prst="rect">
            <a:avLst/>
          </a:prstGeom>
          <a:solidFill>
            <a:srgbClr val="111111"/>
          </a:solidFill>
          <a:ln/>
        </p:spPr>
      </p:sp>
      <p:sp>
        <p:nvSpPr>
          <p:cNvPr id="10" name="Text 7"/>
          <p:cNvSpPr/>
          <p:nvPr/>
        </p:nvSpPr>
        <p:spPr>
          <a:xfrm>
            <a:off x="8119872" y="1133856"/>
            <a:ext cx="749808" cy="237744"/>
          </a:xfrm>
          <a:prstGeom prst="rect">
            <a:avLst/>
          </a:prstGeom>
          <a:noFill/>
          <a:ln/>
        </p:spPr>
        <p:txBody>
          <a:bodyPr wrap="square" lIns="0" tIns="0" rIns="0" bIns="0" rtlCol="0" anchor="ctr"/>
          <a:lstStyle/>
          <a:p>
            <a:pPr marL="0" indent="0" algn="ctr">
              <a:buNone/>
            </a:pPr>
            <a:r>
              <a:rPr lang="en-US" sz="800" b="1" dirty="0">
                <a:solidFill>
                  <a:srgbClr val="E8670D"/>
                </a:solidFill>
                <a:latin typeface="Calibri" pitchFamily="34" charset="0"/>
                <a:ea typeface="Calibri" pitchFamily="34" charset="-122"/>
                <a:cs typeface="Calibri" pitchFamily="34" charset="-120"/>
              </a:rPr>
              <a:t>PASS</a:t>
            </a:r>
            <a:endParaRPr lang="en-US" sz="800" dirty="0"/>
          </a:p>
        </p:txBody>
      </p:sp>
      <p:sp>
        <p:nvSpPr>
          <p:cNvPr id="11" name="Text 8"/>
          <p:cNvSpPr/>
          <p:nvPr/>
        </p:nvSpPr>
        <p:spPr>
          <a:xfrm>
            <a:off x="411480" y="1481328"/>
            <a:ext cx="8229600" cy="310896"/>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Data: Name: Jane Doe | Email: jane@test.com | Password: Secure@99</a:t>
            </a:r>
            <a:endParaRPr lang="en-US" sz="1050" dirty="0"/>
          </a:p>
        </p:txBody>
      </p:sp>
      <p:sp>
        <p:nvSpPr>
          <p:cNvPr id="12" name="Text 9"/>
          <p:cNvSpPr/>
          <p:nvPr/>
        </p:nvSpPr>
        <p:spPr>
          <a:xfrm>
            <a:off x="411480" y="1828800"/>
            <a:ext cx="8229600" cy="310896"/>
          </a:xfrm>
          <a:prstGeom prst="rect">
            <a:avLst/>
          </a:prstGeom>
          <a:noFill/>
          <a:ln/>
        </p:spPr>
        <p:txBody>
          <a:bodyPr wrap="square" rtlCol="0" anchor="ctr"/>
          <a:lstStyle/>
          <a:p>
            <a:pPr marL="0" indent="0">
              <a:buNone/>
            </a:pPr>
            <a:r>
              <a:rPr lang="en-US" sz="1050" i="1" dirty="0">
                <a:solidFill>
                  <a:srgbClr val="1A6B3C"/>
                </a:solidFill>
                <a:latin typeface="Calibri" pitchFamily="34" charset="0"/>
                <a:ea typeface="Calibri" pitchFamily="34" charset="-122"/>
                <a:cs typeface="Calibri" pitchFamily="34" charset="-120"/>
              </a:rPr>
              <a:t>Expected: Account created. Confirmation email sent. Redirect to dashboard.</a:t>
            </a:r>
            <a:endParaRPr lang="en-US" sz="1050" dirty="0"/>
          </a:p>
        </p:txBody>
      </p:sp>
      <p:sp>
        <p:nvSpPr>
          <p:cNvPr id="13" name="Shape 10"/>
          <p:cNvSpPr/>
          <p:nvPr/>
        </p:nvSpPr>
        <p:spPr>
          <a:xfrm>
            <a:off x="274320" y="2395728"/>
            <a:ext cx="8595360" cy="1207008"/>
          </a:xfrm>
          <a:prstGeom prst="rect">
            <a:avLst/>
          </a:prstGeom>
          <a:solidFill>
            <a:srgbClr val="FFFFFF"/>
          </a:solidFill>
          <a:ln/>
          <a:effectLst>
            <a:outerShdw blurRad="127000" dist="38100" dir="8100000" algn="bl" rotWithShape="0">
              <a:srgbClr val="000000">
                <a:alpha val="25000"/>
              </a:srgbClr>
            </a:outerShdw>
          </a:effectLst>
        </p:spPr>
      </p:sp>
      <p:sp>
        <p:nvSpPr>
          <p:cNvPr id="14" name="Shape 11"/>
          <p:cNvSpPr/>
          <p:nvPr/>
        </p:nvSpPr>
        <p:spPr>
          <a:xfrm>
            <a:off x="274320" y="2395728"/>
            <a:ext cx="8595360" cy="347472"/>
          </a:xfrm>
          <a:prstGeom prst="rect">
            <a:avLst/>
          </a:prstGeom>
          <a:solidFill>
            <a:srgbClr val="E53935"/>
          </a:solidFill>
          <a:ln/>
        </p:spPr>
      </p:sp>
      <p:sp>
        <p:nvSpPr>
          <p:cNvPr id="15" name="Text 12"/>
          <p:cNvSpPr/>
          <p:nvPr/>
        </p:nvSpPr>
        <p:spPr>
          <a:xfrm>
            <a:off x="365760" y="2432304"/>
            <a:ext cx="7315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TC_REG_002  —  Register with existing email</a:t>
            </a:r>
            <a:endParaRPr lang="en-US" sz="1150" dirty="0"/>
          </a:p>
        </p:txBody>
      </p:sp>
      <p:sp>
        <p:nvSpPr>
          <p:cNvPr id="16" name="Shape 13"/>
          <p:cNvSpPr/>
          <p:nvPr/>
        </p:nvSpPr>
        <p:spPr>
          <a:xfrm>
            <a:off x="8138160" y="2395728"/>
            <a:ext cx="731520" cy="347472"/>
          </a:xfrm>
          <a:prstGeom prst="rect">
            <a:avLst/>
          </a:prstGeom>
          <a:solidFill>
            <a:srgbClr val="111111"/>
          </a:solidFill>
          <a:ln/>
        </p:spPr>
      </p:sp>
      <p:sp>
        <p:nvSpPr>
          <p:cNvPr id="17" name="Text 14"/>
          <p:cNvSpPr/>
          <p:nvPr/>
        </p:nvSpPr>
        <p:spPr>
          <a:xfrm>
            <a:off x="8119872" y="2450592"/>
            <a:ext cx="749808" cy="237744"/>
          </a:xfrm>
          <a:prstGeom prst="rect">
            <a:avLst/>
          </a:prstGeom>
          <a:noFill/>
          <a:ln/>
        </p:spPr>
        <p:txBody>
          <a:bodyPr wrap="square" lIns="0" tIns="0" rIns="0" bIns="0" rtlCol="0" anchor="ctr"/>
          <a:lstStyle/>
          <a:p>
            <a:pPr marL="0" indent="0" algn="ctr">
              <a:buNone/>
            </a:pPr>
            <a:r>
              <a:rPr lang="en-US" sz="800" b="1" dirty="0">
                <a:solidFill>
                  <a:srgbClr val="E8670D"/>
                </a:solidFill>
                <a:latin typeface="Calibri" pitchFamily="34" charset="0"/>
                <a:ea typeface="Calibri" pitchFamily="34" charset="-122"/>
                <a:cs typeface="Calibri" pitchFamily="34" charset="-120"/>
              </a:rPr>
              <a:t>FAIL ❌</a:t>
            </a:r>
            <a:endParaRPr lang="en-US" sz="800" dirty="0"/>
          </a:p>
        </p:txBody>
      </p:sp>
      <p:sp>
        <p:nvSpPr>
          <p:cNvPr id="18" name="Text 15"/>
          <p:cNvSpPr/>
          <p:nvPr/>
        </p:nvSpPr>
        <p:spPr>
          <a:xfrm>
            <a:off x="411480" y="2798064"/>
            <a:ext cx="8229600" cy="310896"/>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Data: Email: existing@test.com (already registered)</a:t>
            </a:r>
            <a:endParaRPr lang="en-US" sz="1050" dirty="0"/>
          </a:p>
        </p:txBody>
      </p:sp>
      <p:sp>
        <p:nvSpPr>
          <p:cNvPr id="19" name="Text 16"/>
          <p:cNvSpPr/>
          <p:nvPr/>
        </p:nvSpPr>
        <p:spPr>
          <a:xfrm>
            <a:off x="411480" y="3145536"/>
            <a:ext cx="8229600" cy="310896"/>
          </a:xfrm>
          <a:prstGeom prst="rect">
            <a:avLst/>
          </a:prstGeom>
          <a:noFill/>
          <a:ln/>
        </p:spPr>
        <p:txBody>
          <a:bodyPr wrap="square" rtlCol="0" anchor="ctr"/>
          <a:lstStyle/>
          <a:p>
            <a:pPr marL="0" indent="0">
              <a:buNone/>
            </a:pPr>
            <a:r>
              <a:rPr lang="en-US" sz="1050" i="1" dirty="0">
                <a:solidFill>
                  <a:srgbClr val="1A6B3C"/>
                </a:solidFill>
                <a:latin typeface="Calibri" pitchFamily="34" charset="0"/>
                <a:ea typeface="Calibri" pitchFamily="34" charset="-122"/>
                <a:cs typeface="Calibri" pitchFamily="34" charset="-120"/>
              </a:rPr>
              <a:t>Expected: Error: 'This email is already registered. Please log in.'</a:t>
            </a:r>
            <a:endParaRPr lang="en-US" sz="1050" dirty="0"/>
          </a:p>
        </p:txBody>
      </p:sp>
      <p:sp>
        <p:nvSpPr>
          <p:cNvPr id="20" name="Shape 17"/>
          <p:cNvSpPr/>
          <p:nvPr/>
        </p:nvSpPr>
        <p:spPr>
          <a:xfrm>
            <a:off x="274320" y="3712464"/>
            <a:ext cx="8595360" cy="1207008"/>
          </a:xfrm>
          <a:prstGeom prst="rect">
            <a:avLst/>
          </a:prstGeom>
          <a:solidFill>
            <a:srgbClr val="FFFFFF"/>
          </a:solidFill>
          <a:ln/>
          <a:effectLst>
            <a:outerShdw blurRad="127000" dist="38100" dir="8100000" algn="bl" rotWithShape="0">
              <a:srgbClr val="000000">
                <a:alpha val="25000"/>
              </a:srgbClr>
            </a:outerShdw>
          </a:effectLst>
        </p:spPr>
      </p:sp>
      <p:sp>
        <p:nvSpPr>
          <p:cNvPr id="21" name="Shape 18"/>
          <p:cNvSpPr/>
          <p:nvPr/>
        </p:nvSpPr>
        <p:spPr>
          <a:xfrm>
            <a:off x="274320" y="3712464"/>
            <a:ext cx="8595360" cy="347472"/>
          </a:xfrm>
          <a:prstGeom prst="rect">
            <a:avLst/>
          </a:prstGeom>
          <a:solidFill>
            <a:srgbClr val="E8670D"/>
          </a:solidFill>
          <a:ln/>
        </p:spPr>
      </p:sp>
      <p:sp>
        <p:nvSpPr>
          <p:cNvPr id="22" name="Text 19"/>
          <p:cNvSpPr/>
          <p:nvPr/>
        </p:nvSpPr>
        <p:spPr>
          <a:xfrm>
            <a:off x="365760" y="3749040"/>
            <a:ext cx="7315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TC_REG_003  —  Submit form with empty required fields</a:t>
            </a:r>
            <a:endParaRPr lang="en-US" sz="1150" dirty="0"/>
          </a:p>
        </p:txBody>
      </p:sp>
      <p:sp>
        <p:nvSpPr>
          <p:cNvPr id="23" name="Shape 20"/>
          <p:cNvSpPr/>
          <p:nvPr/>
        </p:nvSpPr>
        <p:spPr>
          <a:xfrm>
            <a:off x="8138160" y="3712464"/>
            <a:ext cx="731520" cy="347472"/>
          </a:xfrm>
          <a:prstGeom prst="rect">
            <a:avLst/>
          </a:prstGeom>
          <a:solidFill>
            <a:srgbClr val="111111"/>
          </a:solidFill>
          <a:ln/>
        </p:spPr>
      </p:sp>
      <p:sp>
        <p:nvSpPr>
          <p:cNvPr id="24" name="Text 21"/>
          <p:cNvSpPr/>
          <p:nvPr/>
        </p:nvSpPr>
        <p:spPr>
          <a:xfrm>
            <a:off x="8119872" y="3767328"/>
            <a:ext cx="749808" cy="237744"/>
          </a:xfrm>
          <a:prstGeom prst="rect">
            <a:avLst/>
          </a:prstGeom>
          <a:noFill/>
          <a:ln/>
        </p:spPr>
        <p:txBody>
          <a:bodyPr wrap="square" lIns="0" tIns="0" rIns="0" bIns="0" rtlCol="0" anchor="ctr"/>
          <a:lstStyle/>
          <a:p>
            <a:pPr marL="0" indent="0" algn="ctr">
              <a:buNone/>
            </a:pPr>
            <a:r>
              <a:rPr lang="en-US" sz="800" b="1" dirty="0">
                <a:solidFill>
                  <a:srgbClr val="E8670D"/>
                </a:solidFill>
                <a:latin typeface="Calibri" pitchFamily="34" charset="0"/>
                <a:ea typeface="Calibri" pitchFamily="34" charset="-122"/>
                <a:cs typeface="Calibri" pitchFamily="34" charset="-120"/>
              </a:rPr>
              <a:t>PASS</a:t>
            </a:r>
            <a:endParaRPr lang="en-US" sz="800" dirty="0"/>
          </a:p>
        </p:txBody>
      </p:sp>
      <p:sp>
        <p:nvSpPr>
          <p:cNvPr id="25" name="Text 22"/>
          <p:cNvSpPr/>
          <p:nvPr/>
        </p:nvSpPr>
        <p:spPr>
          <a:xfrm>
            <a:off x="411480" y="4114800"/>
            <a:ext cx="8229600" cy="310896"/>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Data: All fields left blank</a:t>
            </a:r>
            <a:endParaRPr lang="en-US" sz="1050" dirty="0"/>
          </a:p>
        </p:txBody>
      </p:sp>
      <p:sp>
        <p:nvSpPr>
          <p:cNvPr id="26" name="Text 23"/>
          <p:cNvSpPr/>
          <p:nvPr/>
        </p:nvSpPr>
        <p:spPr>
          <a:xfrm>
            <a:off x="411480" y="4462272"/>
            <a:ext cx="8229600" cy="310896"/>
          </a:xfrm>
          <a:prstGeom prst="rect">
            <a:avLst/>
          </a:prstGeom>
          <a:noFill/>
          <a:ln/>
        </p:spPr>
        <p:txBody>
          <a:bodyPr wrap="square" rtlCol="0" anchor="ctr"/>
          <a:lstStyle/>
          <a:p>
            <a:pPr marL="0" indent="0">
              <a:buNone/>
            </a:pPr>
            <a:r>
              <a:rPr lang="en-US" sz="1050" i="1" dirty="0">
                <a:solidFill>
                  <a:srgbClr val="1A6B3C"/>
                </a:solidFill>
                <a:latin typeface="Calibri" pitchFamily="34" charset="0"/>
                <a:ea typeface="Calibri" pitchFamily="34" charset="-122"/>
                <a:cs typeface="Calibri" pitchFamily="34" charset="-120"/>
              </a:rPr>
              <a:t>Expected: Form not submitted. Validation messages shown on all required fields.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06</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Bug / Defect Management</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Identifying, reporting, and tracking defects like a professional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Bug / Defect Management</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From discovery to resolution — the complete defect journey</a:t>
            </a:r>
            <a:endParaRPr lang="en-US" sz="1200" dirty="0"/>
          </a:p>
        </p:txBody>
      </p:sp>
      <p:sp>
        <p:nvSpPr>
          <p:cNvPr id="6" name="Shape 3"/>
          <p:cNvSpPr/>
          <p:nvPr/>
        </p:nvSpPr>
        <p:spPr>
          <a:xfrm>
            <a:off x="274320" y="1024128"/>
            <a:ext cx="8595360" cy="658368"/>
          </a:xfrm>
          <a:prstGeom prst="rect">
            <a:avLst/>
          </a:prstGeom>
          <a:solidFill>
            <a:srgbClr val="111111"/>
          </a:solidFill>
          <a:ln/>
          <a:effectLst>
            <a:outerShdw blurRad="127000" dist="38100" dir="8100000" algn="bl" rotWithShape="0">
              <a:srgbClr val="000000">
                <a:alpha val="25000"/>
              </a:srgbClr>
            </a:outerShdw>
          </a:effectLst>
        </p:spPr>
      </p:sp>
      <p:sp>
        <p:nvSpPr>
          <p:cNvPr id="7" name="Shape 4"/>
          <p:cNvSpPr/>
          <p:nvPr/>
        </p:nvSpPr>
        <p:spPr>
          <a:xfrm>
            <a:off x="274320" y="1024128"/>
            <a:ext cx="8595360" cy="64008"/>
          </a:xfrm>
          <a:prstGeom prst="rect">
            <a:avLst/>
          </a:prstGeom>
          <a:solidFill>
            <a:srgbClr val="E8670D"/>
          </a:solidFill>
          <a:ln/>
        </p:spPr>
      </p:sp>
      <p:sp>
        <p:nvSpPr>
          <p:cNvPr id="8" name="Text 5"/>
          <p:cNvSpPr/>
          <p:nvPr/>
        </p:nvSpPr>
        <p:spPr>
          <a:xfrm>
            <a:off x="457200" y="1069848"/>
            <a:ext cx="8229600" cy="566928"/>
          </a:xfrm>
          <a:prstGeom prst="rect">
            <a:avLst/>
          </a:prstGeom>
          <a:noFill/>
          <a:ln/>
        </p:spPr>
        <p:txBody>
          <a:bodyPr wrap="square" rtlCol="0" anchor="ctr"/>
          <a:lstStyle/>
          <a:p>
            <a:pPr marL="0" indent="0">
              <a:buNone/>
            </a:pPr>
            <a:r>
              <a:rPr lang="en-US" sz="1150" i="1" dirty="0">
                <a:solidFill>
                  <a:srgbClr val="F5F5F5"/>
                </a:solidFill>
                <a:latin typeface="Calibri" pitchFamily="34" charset="0"/>
                <a:ea typeface="Calibri" pitchFamily="34" charset="-122"/>
                <a:cs typeface="Calibri" pitchFamily="34" charset="-120"/>
              </a:rPr>
              <a:t>A Bug (Defect) is any deviation from the expected behaviour of the software as defined in the requirements or design. If the software does something it shouldn't — or fails to do something it should — that's a bug.</a:t>
            </a:r>
            <a:endParaRPr lang="en-US" sz="1150" dirty="0"/>
          </a:p>
        </p:txBody>
      </p:sp>
      <p:sp>
        <p:nvSpPr>
          <p:cNvPr id="9" name="Text 6"/>
          <p:cNvSpPr/>
          <p:nvPr/>
        </p:nvSpPr>
        <p:spPr>
          <a:xfrm>
            <a:off x="274320" y="1810512"/>
            <a:ext cx="3657600" cy="320040"/>
          </a:xfrm>
          <a:prstGeom prst="rect">
            <a:avLst/>
          </a:prstGeom>
          <a:noFill/>
          <a:ln/>
        </p:spPr>
        <p:txBody>
          <a:bodyPr wrap="square" rtlCol="0" anchor="ctr"/>
          <a:lstStyle/>
          <a:p>
            <a:pPr marL="0" indent="0">
              <a:buNone/>
            </a:pPr>
            <a:r>
              <a:rPr lang="en-US" sz="1300" b="1" kern="0" spc="100" dirty="0">
                <a:solidFill>
                  <a:srgbClr val="E8670D"/>
                </a:solidFill>
                <a:latin typeface="Calibri" pitchFamily="34" charset="0"/>
                <a:ea typeface="Calibri" pitchFamily="34" charset="-122"/>
                <a:cs typeface="Calibri" pitchFamily="34" charset="-120"/>
              </a:rPr>
              <a:t>THE BUG LIFECYCLE:</a:t>
            </a:r>
            <a:endParaRPr lang="en-US" sz="1300" dirty="0"/>
          </a:p>
        </p:txBody>
      </p:sp>
      <p:sp>
        <p:nvSpPr>
          <p:cNvPr id="10" name="Shape 7"/>
          <p:cNvSpPr/>
          <p:nvPr/>
        </p:nvSpPr>
        <p:spPr>
          <a:xfrm>
            <a:off x="274320" y="2212848"/>
            <a:ext cx="2057400" cy="987552"/>
          </a:xfrm>
          <a:prstGeom prst="rect">
            <a:avLst/>
          </a:prstGeom>
          <a:solidFill>
            <a:srgbClr val="FFFFFF"/>
          </a:solidFill>
          <a:ln/>
          <a:effectLst>
            <a:outerShdw blurRad="127000" dist="38100" dir="8100000" algn="bl" rotWithShape="0">
              <a:srgbClr val="000000">
                <a:alpha val="25000"/>
              </a:srgbClr>
            </a:outerShdw>
          </a:effectLst>
        </p:spPr>
      </p:sp>
      <p:sp>
        <p:nvSpPr>
          <p:cNvPr id="11" name="Shape 8"/>
          <p:cNvSpPr/>
          <p:nvPr/>
        </p:nvSpPr>
        <p:spPr>
          <a:xfrm>
            <a:off x="274320" y="2212848"/>
            <a:ext cx="2057400" cy="347472"/>
          </a:xfrm>
          <a:prstGeom prst="rect">
            <a:avLst/>
          </a:prstGeom>
          <a:solidFill>
            <a:srgbClr val="555555"/>
          </a:solidFill>
          <a:ln/>
        </p:spPr>
      </p:sp>
      <p:sp>
        <p:nvSpPr>
          <p:cNvPr id="12" name="Text 9"/>
          <p:cNvSpPr/>
          <p:nvPr/>
        </p:nvSpPr>
        <p:spPr>
          <a:xfrm>
            <a:off x="320040" y="2267712"/>
            <a:ext cx="196596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NEW</a:t>
            </a:r>
            <a:endParaRPr lang="en-US" sz="1000" dirty="0"/>
          </a:p>
        </p:txBody>
      </p:sp>
      <p:sp>
        <p:nvSpPr>
          <p:cNvPr id="13" name="Text 10"/>
          <p:cNvSpPr/>
          <p:nvPr/>
        </p:nvSpPr>
        <p:spPr>
          <a:xfrm>
            <a:off x="365760" y="2615184"/>
            <a:ext cx="1920240" cy="530352"/>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Tester discovers &amp; logs the bug</a:t>
            </a:r>
            <a:endParaRPr lang="en-US" sz="950" dirty="0"/>
          </a:p>
        </p:txBody>
      </p:sp>
      <p:sp>
        <p:nvSpPr>
          <p:cNvPr id="14" name="Text 11"/>
          <p:cNvSpPr/>
          <p:nvPr/>
        </p:nvSpPr>
        <p:spPr>
          <a:xfrm>
            <a:off x="2350008" y="2505456"/>
            <a:ext cx="109728" cy="320040"/>
          </a:xfrm>
          <a:prstGeom prst="rect">
            <a:avLst/>
          </a:prstGeom>
          <a:noFill/>
          <a:ln/>
        </p:spPr>
        <p:txBody>
          <a:bodyPr wrap="square" rtlCol="0" anchor="ctr"/>
          <a:lstStyle/>
          <a:p>
            <a:pPr marL="0" indent="0">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15" name="Shape 12"/>
          <p:cNvSpPr/>
          <p:nvPr/>
        </p:nvSpPr>
        <p:spPr>
          <a:xfrm>
            <a:off x="2468880" y="2212848"/>
            <a:ext cx="2057400" cy="987552"/>
          </a:xfrm>
          <a:prstGeom prst="rect">
            <a:avLst/>
          </a:prstGeom>
          <a:solidFill>
            <a:srgbClr val="FFFFFF"/>
          </a:solidFill>
          <a:ln/>
          <a:effectLst>
            <a:outerShdw blurRad="127000" dist="38100" dir="8100000" algn="bl" rotWithShape="0">
              <a:srgbClr val="000000">
                <a:alpha val="25000"/>
              </a:srgbClr>
            </a:outerShdw>
          </a:effectLst>
        </p:spPr>
      </p:sp>
      <p:sp>
        <p:nvSpPr>
          <p:cNvPr id="16" name="Shape 13"/>
          <p:cNvSpPr/>
          <p:nvPr/>
        </p:nvSpPr>
        <p:spPr>
          <a:xfrm>
            <a:off x="2468880" y="2212848"/>
            <a:ext cx="2057400" cy="347472"/>
          </a:xfrm>
          <a:prstGeom prst="rect">
            <a:avLst/>
          </a:prstGeom>
          <a:solidFill>
            <a:srgbClr val="1E1E1E"/>
          </a:solidFill>
          <a:ln/>
        </p:spPr>
      </p:sp>
      <p:sp>
        <p:nvSpPr>
          <p:cNvPr id="17" name="Text 14"/>
          <p:cNvSpPr/>
          <p:nvPr/>
        </p:nvSpPr>
        <p:spPr>
          <a:xfrm>
            <a:off x="2514600" y="2267712"/>
            <a:ext cx="196596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ASSIGNED</a:t>
            </a:r>
            <a:endParaRPr lang="en-US" sz="1000" dirty="0"/>
          </a:p>
        </p:txBody>
      </p:sp>
      <p:sp>
        <p:nvSpPr>
          <p:cNvPr id="18" name="Text 15"/>
          <p:cNvSpPr/>
          <p:nvPr/>
        </p:nvSpPr>
        <p:spPr>
          <a:xfrm>
            <a:off x="2560320" y="2615184"/>
            <a:ext cx="1920240" cy="530352"/>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Bug assigned to a developer</a:t>
            </a:r>
            <a:endParaRPr lang="en-US" sz="950" dirty="0"/>
          </a:p>
        </p:txBody>
      </p:sp>
      <p:sp>
        <p:nvSpPr>
          <p:cNvPr id="19" name="Text 16"/>
          <p:cNvSpPr/>
          <p:nvPr/>
        </p:nvSpPr>
        <p:spPr>
          <a:xfrm>
            <a:off x="4544568" y="2505456"/>
            <a:ext cx="109728" cy="320040"/>
          </a:xfrm>
          <a:prstGeom prst="rect">
            <a:avLst/>
          </a:prstGeom>
          <a:noFill/>
          <a:ln/>
        </p:spPr>
        <p:txBody>
          <a:bodyPr wrap="square" rtlCol="0" anchor="ctr"/>
          <a:lstStyle/>
          <a:p>
            <a:pPr marL="0" indent="0">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20" name="Shape 17"/>
          <p:cNvSpPr/>
          <p:nvPr/>
        </p:nvSpPr>
        <p:spPr>
          <a:xfrm>
            <a:off x="4663440" y="2212848"/>
            <a:ext cx="2057400" cy="987552"/>
          </a:xfrm>
          <a:prstGeom prst="rect">
            <a:avLst/>
          </a:prstGeom>
          <a:solidFill>
            <a:srgbClr val="FFFFFF"/>
          </a:solidFill>
          <a:ln/>
          <a:effectLst>
            <a:outerShdw blurRad="127000" dist="38100" dir="8100000" algn="bl" rotWithShape="0">
              <a:srgbClr val="000000">
                <a:alpha val="25000"/>
              </a:srgbClr>
            </a:outerShdw>
          </a:effectLst>
        </p:spPr>
      </p:sp>
      <p:sp>
        <p:nvSpPr>
          <p:cNvPr id="21" name="Shape 18"/>
          <p:cNvSpPr/>
          <p:nvPr/>
        </p:nvSpPr>
        <p:spPr>
          <a:xfrm>
            <a:off x="4663440" y="2212848"/>
            <a:ext cx="2057400" cy="347472"/>
          </a:xfrm>
          <a:prstGeom prst="rect">
            <a:avLst/>
          </a:prstGeom>
          <a:solidFill>
            <a:srgbClr val="E8670D"/>
          </a:solidFill>
          <a:ln/>
        </p:spPr>
      </p:sp>
      <p:sp>
        <p:nvSpPr>
          <p:cNvPr id="22" name="Text 19"/>
          <p:cNvSpPr/>
          <p:nvPr/>
        </p:nvSpPr>
        <p:spPr>
          <a:xfrm>
            <a:off x="4709160" y="2267712"/>
            <a:ext cx="196596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 PROGRESS</a:t>
            </a:r>
            <a:endParaRPr lang="en-US" sz="1000" dirty="0"/>
          </a:p>
        </p:txBody>
      </p:sp>
      <p:sp>
        <p:nvSpPr>
          <p:cNvPr id="23" name="Text 20"/>
          <p:cNvSpPr/>
          <p:nvPr/>
        </p:nvSpPr>
        <p:spPr>
          <a:xfrm>
            <a:off x="4754880" y="2615184"/>
            <a:ext cx="1920240" cy="530352"/>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Developer is working on the fix</a:t>
            </a:r>
            <a:endParaRPr lang="en-US" sz="950" dirty="0"/>
          </a:p>
        </p:txBody>
      </p:sp>
      <p:sp>
        <p:nvSpPr>
          <p:cNvPr id="24" name="Text 21"/>
          <p:cNvSpPr/>
          <p:nvPr/>
        </p:nvSpPr>
        <p:spPr>
          <a:xfrm>
            <a:off x="6739128" y="2505456"/>
            <a:ext cx="109728" cy="320040"/>
          </a:xfrm>
          <a:prstGeom prst="rect">
            <a:avLst/>
          </a:prstGeom>
          <a:noFill/>
          <a:ln/>
        </p:spPr>
        <p:txBody>
          <a:bodyPr wrap="square" rtlCol="0" anchor="ctr"/>
          <a:lstStyle/>
          <a:p>
            <a:pPr marL="0" indent="0">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25" name="Shape 22"/>
          <p:cNvSpPr/>
          <p:nvPr/>
        </p:nvSpPr>
        <p:spPr>
          <a:xfrm>
            <a:off x="6858000" y="2212848"/>
            <a:ext cx="2057400" cy="987552"/>
          </a:xfrm>
          <a:prstGeom prst="rect">
            <a:avLst/>
          </a:prstGeom>
          <a:solidFill>
            <a:srgbClr val="FFFFFF"/>
          </a:solidFill>
          <a:ln/>
          <a:effectLst>
            <a:outerShdw blurRad="127000" dist="38100" dir="8100000" algn="bl" rotWithShape="0">
              <a:srgbClr val="000000">
                <a:alpha val="25000"/>
              </a:srgbClr>
            </a:outerShdw>
          </a:effectLst>
        </p:spPr>
      </p:sp>
      <p:sp>
        <p:nvSpPr>
          <p:cNvPr id="26" name="Shape 23"/>
          <p:cNvSpPr/>
          <p:nvPr/>
        </p:nvSpPr>
        <p:spPr>
          <a:xfrm>
            <a:off x="6858000" y="2212848"/>
            <a:ext cx="2057400" cy="347472"/>
          </a:xfrm>
          <a:prstGeom prst="rect">
            <a:avLst/>
          </a:prstGeom>
          <a:solidFill>
            <a:srgbClr val="43A047"/>
          </a:solidFill>
          <a:ln/>
        </p:spPr>
      </p:sp>
      <p:sp>
        <p:nvSpPr>
          <p:cNvPr id="27" name="Text 24"/>
          <p:cNvSpPr/>
          <p:nvPr/>
        </p:nvSpPr>
        <p:spPr>
          <a:xfrm>
            <a:off x="6903720" y="2267712"/>
            <a:ext cx="196596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FIXED</a:t>
            </a:r>
            <a:endParaRPr lang="en-US" sz="1000" dirty="0"/>
          </a:p>
        </p:txBody>
      </p:sp>
      <p:sp>
        <p:nvSpPr>
          <p:cNvPr id="28" name="Text 25"/>
          <p:cNvSpPr/>
          <p:nvPr/>
        </p:nvSpPr>
        <p:spPr>
          <a:xfrm>
            <a:off x="6949440" y="2615184"/>
            <a:ext cx="1920240" cy="530352"/>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Developer marks as fixed</a:t>
            </a:r>
            <a:endParaRPr lang="en-US" sz="950" dirty="0"/>
          </a:p>
        </p:txBody>
      </p:sp>
      <p:sp>
        <p:nvSpPr>
          <p:cNvPr id="29" name="Shape 26"/>
          <p:cNvSpPr/>
          <p:nvPr/>
        </p:nvSpPr>
        <p:spPr>
          <a:xfrm>
            <a:off x="274320" y="3383280"/>
            <a:ext cx="2057400" cy="987552"/>
          </a:xfrm>
          <a:prstGeom prst="rect">
            <a:avLst/>
          </a:prstGeom>
          <a:solidFill>
            <a:srgbClr val="FFFFFF"/>
          </a:solidFill>
          <a:ln/>
          <a:effectLst>
            <a:outerShdw blurRad="127000" dist="38100" dir="8100000" algn="bl" rotWithShape="0">
              <a:srgbClr val="000000">
                <a:alpha val="25000"/>
              </a:srgbClr>
            </a:outerShdw>
          </a:effectLst>
        </p:spPr>
      </p:sp>
      <p:sp>
        <p:nvSpPr>
          <p:cNvPr id="30" name="Shape 27"/>
          <p:cNvSpPr/>
          <p:nvPr/>
        </p:nvSpPr>
        <p:spPr>
          <a:xfrm>
            <a:off x="274320" y="3383280"/>
            <a:ext cx="2057400" cy="347472"/>
          </a:xfrm>
          <a:prstGeom prst="rect">
            <a:avLst/>
          </a:prstGeom>
          <a:solidFill>
            <a:srgbClr val="1E1E1E"/>
          </a:solidFill>
          <a:ln/>
        </p:spPr>
      </p:sp>
      <p:sp>
        <p:nvSpPr>
          <p:cNvPr id="31" name="Text 28"/>
          <p:cNvSpPr/>
          <p:nvPr/>
        </p:nvSpPr>
        <p:spPr>
          <a:xfrm>
            <a:off x="320040" y="3438144"/>
            <a:ext cx="196596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RETEST</a:t>
            </a:r>
            <a:endParaRPr lang="en-US" sz="1000" dirty="0"/>
          </a:p>
        </p:txBody>
      </p:sp>
      <p:sp>
        <p:nvSpPr>
          <p:cNvPr id="32" name="Text 29"/>
          <p:cNvSpPr/>
          <p:nvPr/>
        </p:nvSpPr>
        <p:spPr>
          <a:xfrm>
            <a:off x="365760" y="3785616"/>
            <a:ext cx="1920240" cy="530352"/>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Tester verifies the fix</a:t>
            </a:r>
            <a:endParaRPr lang="en-US" sz="950" dirty="0"/>
          </a:p>
        </p:txBody>
      </p:sp>
      <p:sp>
        <p:nvSpPr>
          <p:cNvPr id="33" name="Shape 30"/>
          <p:cNvSpPr/>
          <p:nvPr/>
        </p:nvSpPr>
        <p:spPr>
          <a:xfrm>
            <a:off x="2468880" y="3383280"/>
            <a:ext cx="2057400" cy="987552"/>
          </a:xfrm>
          <a:prstGeom prst="rect">
            <a:avLst/>
          </a:prstGeom>
          <a:solidFill>
            <a:srgbClr val="FFFFFF"/>
          </a:solidFill>
          <a:ln/>
          <a:effectLst>
            <a:outerShdw blurRad="127000" dist="38100" dir="8100000" algn="bl" rotWithShape="0">
              <a:srgbClr val="000000">
                <a:alpha val="25000"/>
              </a:srgbClr>
            </a:outerShdw>
          </a:effectLst>
        </p:spPr>
      </p:sp>
      <p:sp>
        <p:nvSpPr>
          <p:cNvPr id="34" name="Shape 31"/>
          <p:cNvSpPr/>
          <p:nvPr/>
        </p:nvSpPr>
        <p:spPr>
          <a:xfrm>
            <a:off x="2468880" y="3383280"/>
            <a:ext cx="2057400" cy="347472"/>
          </a:xfrm>
          <a:prstGeom prst="rect">
            <a:avLst/>
          </a:prstGeom>
          <a:solidFill>
            <a:srgbClr val="2E7D32"/>
          </a:solidFill>
          <a:ln/>
        </p:spPr>
      </p:sp>
      <p:sp>
        <p:nvSpPr>
          <p:cNvPr id="35" name="Text 32"/>
          <p:cNvSpPr/>
          <p:nvPr/>
        </p:nvSpPr>
        <p:spPr>
          <a:xfrm>
            <a:off x="2514600" y="3438144"/>
            <a:ext cx="196596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CLOSED</a:t>
            </a:r>
            <a:endParaRPr lang="en-US" sz="1000" dirty="0"/>
          </a:p>
        </p:txBody>
      </p:sp>
      <p:sp>
        <p:nvSpPr>
          <p:cNvPr id="36" name="Text 33"/>
          <p:cNvSpPr/>
          <p:nvPr/>
        </p:nvSpPr>
        <p:spPr>
          <a:xfrm>
            <a:off x="2560320" y="3785616"/>
            <a:ext cx="1920240" cy="530352"/>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Fix confirmed — bug is closed</a:t>
            </a:r>
            <a:endParaRPr lang="en-US" sz="950" dirty="0"/>
          </a:p>
        </p:txBody>
      </p:sp>
      <p:sp>
        <p:nvSpPr>
          <p:cNvPr id="37" name="Shape 34"/>
          <p:cNvSpPr/>
          <p:nvPr/>
        </p:nvSpPr>
        <p:spPr>
          <a:xfrm>
            <a:off x="4663440" y="3383280"/>
            <a:ext cx="2057400" cy="987552"/>
          </a:xfrm>
          <a:prstGeom prst="rect">
            <a:avLst/>
          </a:prstGeom>
          <a:solidFill>
            <a:srgbClr val="FFFFFF"/>
          </a:solidFill>
          <a:ln/>
          <a:effectLst>
            <a:outerShdw blurRad="127000" dist="38100" dir="8100000" algn="bl" rotWithShape="0">
              <a:srgbClr val="000000">
                <a:alpha val="25000"/>
              </a:srgbClr>
            </a:outerShdw>
          </a:effectLst>
        </p:spPr>
      </p:sp>
      <p:sp>
        <p:nvSpPr>
          <p:cNvPr id="38" name="Shape 35"/>
          <p:cNvSpPr/>
          <p:nvPr/>
        </p:nvSpPr>
        <p:spPr>
          <a:xfrm>
            <a:off x="4663440" y="3383280"/>
            <a:ext cx="2057400" cy="347472"/>
          </a:xfrm>
          <a:prstGeom prst="rect">
            <a:avLst/>
          </a:prstGeom>
          <a:solidFill>
            <a:srgbClr val="C62828"/>
          </a:solidFill>
          <a:ln/>
        </p:spPr>
      </p:sp>
      <p:sp>
        <p:nvSpPr>
          <p:cNvPr id="39" name="Text 36"/>
          <p:cNvSpPr/>
          <p:nvPr/>
        </p:nvSpPr>
        <p:spPr>
          <a:xfrm>
            <a:off x="4709160" y="3438144"/>
            <a:ext cx="196596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REOPEN</a:t>
            </a:r>
            <a:endParaRPr lang="en-US" sz="1000" dirty="0"/>
          </a:p>
        </p:txBody>
      </p:sp>
      <p:sp>
        <p:nvSpPr>
          <p:cNvPr id="40" name="Text 37"/>
          <p:cNvSpPr/>
          <p:nvPr/>
        </p:nvSpPr>
        <p:spPr>
          <a:xfrm>
            <a:off x="4754880" y="3785616"/>
            <a:ext cx="1920240" cy="530352"/>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Fix didn't work — back to dev</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Severity vs Priority</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Two different dimensions for classifying defects</a:t>
            </a:r>
            <a:endParaRPr lang="en-US" sz="1200" dirty="0"/>
          </a:p>
        </p:txBody>
      </p:sp>
      <p:sp>
        <p:nvSpPr>
          <p:cNvPr id="6" name="Shape 3"/>
          <p:cNvSpPr/>
          <p:nvPr/>
        </p:nvSpPr>
        <p:spPr>
          <a:xfrm>
            <a:off x="274320" y="1078992"/>
            <a:ext cx="4114800" cy="2148840"/>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74320" y="1078992"/>
            <a:ext cx="4114800" cy="347472"/>
          </a:xfrm>
          <a:prstGeom prst="rect">
            <a:avLst/>
          </a:prstGeom>
          <a:solidFill>
            <a:srgbClr val="E8670D"/>
          </a:solidFill>
          <a:ln/>
        </p:spPr>
      </p:sp>
      <p:sp>
        <p:nvSpPr>
          <p:cNvPr id="8" name="Text 5"/>
          <p:cNvSpPr/>
          <p:nvPr/>
        </p:nvSpPr>
        <p:spPr>
          <a:xfrm>
            <a:off x="384048" y="1115568"/>
            <a:ext cx="389534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Severity — Technical Impact</a:t>
            </a:r>
            <a:endParaRPr lang="en-US" sz="1150" dirty="0"/>
          </a:p>
        </p:txBody>
      </p:sp>
      <p:sp>
        <p:nvSpPr>
          <p:cNvPr id="9" name="Text 6"/>
          <p:cNvSpPr/>
          <p:nvPr/>
        </p:nvSpPr>
        <p:spPr>
          <a:xfrm>
            <a:off x="411480" y="1481328"/>
            <a:ext cx="3840480" cy="167335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How badly does this bug affect the system?</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Critical: App crashes, data lost, security breach</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High: Major feature completely broken</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Medium: Feature works but with workaround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Low: Minor UI issue, cosmetic defect</a:t>
            </a:r>
            <a:endParaRPr lang="en-US" sz="1050" dirty="0"/>
          </a:p>
        </p:txBody>
      </p:sp>
      <p:sp>
        <p:nvSpPr>
          <p:cNvPr id="10" name="Shape 7"/>
          <p:cNvSpPr/>
          <p:nvPr/>
        </p:nvSpPr>
        <p:spPr>
          <a:xfrm>
            <a:off x="4572000" y="1078992"/>
            <a:ext cx="4297680" cy="2148840"/>
          </a:xfrm>
          <a:prstGeom prst="rect">
            <a:avLst/>
          </a:prstGeom>
          <a:solidFill>
            <a:srgbClr val="FFFFFF"/>
          </a:solidFill>
          <a:ln/>
          <a:effectLst>
            <a:outerShdw blurRad="127000" dist="38100" dir="8100000" algn="bl" rotWithShape="0">
              <a:srgbClr val="000000">
                <a:alpha val="25000"/>
              </a:srgbClr>
            </a:outerShdw>
          </a:effectLst>
        </p:spPr>
      </p:sp>
      <p:sp>
        <p:nvSpPr>
          <p:cNvPr id="11" name="Shape 8"/>
          <p:cNvSpPr/>
          <p:nvPr/>
        </p:nvSpPr>
        <p:spPr>
          <a:xfrm>
            <a:off x="4572000" y="1078992"/>
            <a:ext cx="4297680" cy="347472"/>
          </a:xfrm>
          <a:prstGeom prst="rect">
            <a:avLst/>
          </a:prstGeom>
          <a:solidFill>
            <a:srgbClr val="1E1E1E"/>
          </a:solidFill>
          <a:ln/>
        </p:spPr>
      </p:sp>
      <p:sp>
        <p:nvSpPr>
          <p:cNvPr id="12" name="Text 9"/>
          <p:cNvSpPr/>
          <p:nvPr/>
        </p:nvSpPr>
        <p:spPr>
          <a:xfrm>
            <a:off x="4681728" y="1115568"/>
            <a:ext cx="407822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Priority — Business Urgency</a:t>
            </a:r>
            <a:endParaRPr lang="en-US" sz="1150" dirty="0"/>
          </a:p>
        </p:txBody>
      </p:sp>
      <p:sp>
        <p:nvSpPr>
          <p:cNvPr id="13" name="Text 10"/>
          <p:cNvSpPr/>
          <p:nvPr/>
        </p:nvSpPr>
        <p:spPr>
          <a:xfrm>
            <a:off x="4709160" y="1481328"/>
            <a:ext cx="4023360" cy="167335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How URGENTLY should this bug be fixed?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Critical: Must be fixed NOW before release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High: Fix in this sprint/release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Medium: Can be fixed in next sprint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Low: Fix when time permits</a:t>
            </a:r>
            <a:endParaRPr lang="en-US" sz="1050" dirty="0"/>
          </a:p>
        </p:txBody>
      </p:sp>
      <p:sp>
        <p:nvSpPr>
          <p:cNvPr id="14" name="Text 11"/>
          <p:cNvSpPr/>
          <p:nvPr/>
        </p:nvSpPr>
        <p:spPr>
          <a:xfrm>
            <a:off x="274320" y="3383280"/>
            <a:ext cx="4572000" cy="320040"/>
          </a:xfrm>
          <a:prstGeom prst="rect">
            <a:avLst/>
          </a:prstGeom>
          <a:noFill/>
          <a:ln/>
        </p:spPr>
        <p:txBody>
          <a:bodyPr wrap="square" rtlCol="0" anchor="ctr"/>
          <a:lstStyle/>
          <a:p>
            <a:pPr marL="0" indent="0">
              <a:buNone/>
            </a:pPr>
            <a:r>
              <a:rPr lang="en-US" sz="1300" b="1" kern="0" spc="100" dirty="0">
                <a:solidFill>
                  <a:srgbClr val="111111"/>
                </a:solidFill>
                <a:latin typeface="Calibri" pitchFamily="34" charset="0"/>
                <a:ea typeface="Calibri" pitchFamily="34" charset="-122"/>
                <a:cs typeface="Calibri" pitchFamily="34" charset="-120"/>
              </a:rPr>
              <a:t>REAL-WORLD EXAMPLES:</a:t>
            </a:r>
            <a:endParaRPr lang="en-US" sz="1300" dirty="0"/>
          </a:p>
        </p:txBody>
      </p:sp>
      <p:sp>
        <p:nvSpPr>
          <p:cNvPr id="15" name="Shape 12"/>
          <p:cNvSpPr/>
          <p:nvPr/>
        </p:nvSpPr>
        <p:spPr>
          <a:xfrm>
            <a:off x="274320" y="3749040"/>
            <a:ext cx="8595360" cy="292608"/>
          </a:xfrm>
          <a:prstGeom prst="rect">
            <a:avLst/>
          </a:prstGeom>
          <a:solidFill>
            <a:srgbClr val="FFF5EE"/>
          </a:solidFill>
          <a:ln w="6350">
            <a:solidFill>
              <a:srgbClr val="DDDDDD"/>
            </a:solidFill>
            <a:prstDash val="solid"/>
          </a:ln>
        </p:spPr>
      </p:sp>
      <p:sp>
        <p:nvSpPr>
          <p:cNvPr id="16" name="Text 13"/>
          <p:cNvSpPr/>
          <p:nvPr/>
        </p:nvSpPr>
        <p:spPr>
          <a:xfrm>
            <a:off x="320040" y="3785616"/>
            <a:ext cx="1463040" cy="219456"/>
          </a:xfrm>
          <a:prstGeom prst="rect">
            <a:avLst/>
          </a:prstGeom>
          <a:noFill/>
          <a:ln/>
        </p:spPr>
        <p:txBody>
          <a:bodyPr wrap="square"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 High</a:t>
            </a:r>
            <a:endParaRPr lang="en-US" sz="1000" dirty="0"/>
          </a:p>
        </p:txBody>
      </p:sp>
      <p:sp>
        <p:nvSpPr>
          <p:cNvPr id="17" name="Text 14"/>
          <p:cNvSpPr/>
          <p:nvPr/>
        </p:nvSpPr>
        <p:spPr>
          <a:xfrm>
            <a:off x="1874520" y="3785616"/>
            <a:ext cx="1371600" cy="219456"/>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 High</a:t>
            </a:r>
            <a:endParaRPr lang="en-US" sz="1000" dirty="0"/>
          </a:p>
        </p:txBody>
      </p:sp>
      <p:sp>
        <p:nvSpPr>
          <p:cNvPr id="18" name="Text 15"/>
          <p:cNvSpPr/>
          <p:nvPr/>
        </p:nvSpPr>
        <p:spPr>
          <a:xfrm>
            <a:off x="3337560" y="3785616"/>
            <a:ext cx="5440680" cy="21945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Bank transfer fails — crash. Fix immediately!</a:t>
            </a:r>
            <a:endParaRPr lang="en-US" sz="1000" dirty="0"/>
          </a:p>
        </p:txBody>
      </p:sp>
      <p:sp>
        <p:nvSpPr>
          <p:cNvPr id="19" name="Shape 16"/>
          <p:cNvSpPr/>
          <p:nvPr/>
        </p:nvSpPr>
        <p:spPr>
          <a:xfrm>
            <a:off x="274320" y="4078224"/>
            <a:ext cx="8595360" cy="292608"/>
          </a:xfrm>
          <a:prstGeom prst="rect">
            <a:avLst/>
          </a:prstGeom>
          <a:solidFill>
            <a:srgbClr val="FFFFFF"/>
          </a:solidFill>
          <a:ln w="6350">
            <a:solidFill>
              <a:srgbClr val="DDDDDD"/>
            </a:solidFill>
            <a:prstDash val="solid"/>
          </a:ln>
        </p:spPr>
      </p:sp>
      <p:sp>
        <p:nvSpPr>
          <p:cNvPr id="20" name="Text 17"/>
          <p:cNvSpPr/>
          <p:nvPr/>
        </p:nvSpPr>
        <p:spPr>
          <a:xfrm>
            <a:off x="320040" y="4114800"/>
            <a:ext cx="1463040" cy="219456"/>
          </a:xfrm>
          <a:prstGeom prst="rect">
            <a:avLst/>
          </a:prstGeom>
          <a:noFill/>
          <a:ln/>
        </p:spPr>
        <p:txBody>
          <a:bodyPr wrap="square"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 High</a:t>
            </a:r>
            <a:endParaRPr lang="en-US" sz="1000" dirty="0"/>
          </a:p>
        </p:txBody>
      </p:sp>
      <p:sp>
        <p:nvSpPr>
          <p:cNvPr id="21" name="Text 18"/>
          <p:cNvSpPr/>
          <p:nvPr/>
        </p:nvSpPr>
        <p:spPr>
          <a:xfrm>
            <a:off x="1874520" y="4114800"/>
            <a:ext cx="1371600" cy="219456"/>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 Low</a:t>
            </a:r>
            <a:endParaRPr lang="en-US" sz="1000" dirty="0"/>
          </a:p>
        </p:txBody>
      </p:sp>
      <p:sp>
        <p:nvSpPr>
          <p:cNvPr id="22" name="Text 19"/>
          <p:cNvSpPr/>
          <p:nvPr/>
        </p:nvSpPr>
        <p:spPr>
          <a:xfrm>
            <a:off x="3337560" y="4114800"/>
            <a:ext cx="5440680" cy="21945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Rarely-used admin report crashes — low visibility</a:t>
            </a:r>
            <a:endParaRPr lang="en-US" sz="1000" dirty="0"/>
          </a:p>
        </p:txBody>
      </p:sp>
      <p:sp>
        <p:nvSpPr>
          <p:cNvPr id="23" name="Shape 20"/>
          <p:cNvSpPr/>
          <p:nvPr/>
        </p:nvSpPr>
        <p:spPr>
          <a:xfrm>
            <a:off x="274320" y="4407408"/>
            <a:ext cx="8595360" cy="292608"/>
          </a:xfrm>
          <a:prstGeom prst="rect">
            <a:avLst/>
          </a:prstGeom>
          <a:solidFill>
            <a:srgbClr val="FFF5EE"/>
          </a:solidFill>
          <a:ln w="6350">
            <a:solidFill>
              <a:srgbClr val="DDDDDD"/>
            </a:solidFill>
            <a:prstDash val="solid"/>
          </a:ln>
        </p:spPr>
      </p:sp>
      <p:sp>
        <p:nvSpPr>
          <p:cNvPr id="24" name="Text 21"/>
          <p:cNvSpPr/>
          <p:nvPr/>
        </p:nvSpPr>
        <p:spPr>
          <a:xfrm>
            <a:off x="320040" y="4443984"/>
            <a:ext cx="1463040" cy="219456"/>
          </a:xfrm>
          <a:prstGeom prst="rect">
            <a:avLst/>
          </a:prstGeom>
          <a:noFill/>
          <a:ln/>
        </p:spPr>
        <p:txBody>
          <a:bodyPr wrap="square"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 Low</a:t>
            </a:r>
            <a:endParaRPr lang="en-US" sz="1000" dirty="0"/>
          </a:p>
        </p:txBody>
      </p:sp>
      <p:sp>
        <p:nvSpPr>
          <p:cNvPr id="25" name="Text 22"/>
          <p:cNvSpPr/>
          <p:nvPr/>
        </p:nvSpPr>
        <p:spPr>
          <a:xfrm>
            <a:off x="1874520" y="4443984"/>
            <a:ext cx="1371600" cy="219456"/>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 High</a:t>
            </a:r>
            <a:endParaRPr lang="en-US" sz="1000" dirty="0"/>
          </a:p>
        </p:txBody>
      </p:sp>
      <p:sp>
        <p:nvSpPr>
          <p:cNvPr id="26" name="Text 23"/>
          <p:cNvSpPr/>
          <p:nvPr/>
        </p:nvSpPr>
        <p:spPr>
          <a:xfrm>
            <a:off x="3337560" y="4443984"/>
            <a:ext cx="5440680" cy="21945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CEO's name misspelled on homepage — high visibility!</a:t>
            </a:r>
            <a:endParaRPr lang="en-US" sz="1000" dirty="0"/>
          </a:p>
        </p:txBody>
      </p:sp>
      <p:sp>
        <p:nvSpPr>
          <p:cNvPr id="27" name="Shape 24"/>
          <p:cNvSpPr/>
          <p:nvPr/>
        </p:nvSpPr>
        <p:spPr>
          <a:xfrm>
            <a:off x="274320" y="4736592"/>
            <a:ext cx="8595360" cy="292608"/>
          </a:xfrm>
          <a:prstGeom prst="rect">
            <a:avLst/>
          </a:prstGeom>
          <a:solidFill>
            <a:srgbClr val="FFFFFF"/>
          </a:solidFill>
          <a:ln w="6350">
            <a:solidFill>
              <a:srgbClr val="DDDDDD"/>
            </a:solidFill>
            <a:prstDash val="solid"/>
          </a:ln>
        </p:spPr>
      </p:sp>
      <p:sp>
        <p:nvSpPr>
          <p:cNvPr id="28" name="Text 25"/>
          <p:cNvSpPr/>
          <p:nvPr/>
        </p:nvSpPr>
        <p:spPr>
          <a:xfrm>
            <a:off x="320040" y="4773168"/>
            <a:ext cx="1463040" cy="219456"/>
          </a:xfrm>
          <a:prstGeom prst="rect">
            <a:avLst/>
          </a:prstGeom>
          <a:noFill/>
          <a:ln/>
        </p:spPr>
        <p:txBody>
          <a:bodyPr wrap="square"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 Low</a:t>
            </a:r>
            <a:endParaRPr lang="en-US" sz="1000" dirty="0"/>
          </a:p>
        </p:txBody>
      </p:sp>
      <p:sp>
        <p:nvSpPr>
          <p:cNvPr id="29" name="Text 26"/>
          <p:cNvSpPr/>
          <p:nvPr/>
        </p:nvSpPr>
        <p:spPr>
          <a:xfrm>
            <a:off x="1874520" y="4773168"/>
            <a:ext cx="1371600" cy="219456"/>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 Low</a:t>
            </a:r>
            <a:endParaRPr lang="en-US" sz="1000" dirty="0"/>
          </a:p>
        </p:txBody>
      </p:sp>
      <p:sp>
        <p:nvSpPr>
          <p:cNvPr id="30" name="Text 27"/>
          <p:cNvSpPr/>
          <p:nvPr/>
        </p:nvSpPr>
        <p:spPr>
          <a:xfrm>
            <a:off x="3337560" y="4773168"/>
            <a:ext cx="5440680" cy="21945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Button colour slightly off on the 404 error page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Bug Report Template</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Professional defect report structure used at Lubanzi</a:t>
            </a:r>
            <a:endParaRPr lang="en-US" sz="1200" dirty="0"/>
          </a:p>
        </p:txBody>
      </p:sp>
      <p:sp>
        <p:nvSpPr>
          <p:cNvPr id="6" name="Shape 3"/>
          <p:cNvSpPr/>
          <p:nvPr/>
        </p:nvSpPr>
        <p:spPr>
          <a:xfrm>
            <a:off x="274320" y="1115568"/>
            <a:ext cx="8595360" cy="301752"/>
          </a:xfrm>
          <a:prstGeom prst="rect">
            <a:avLst/>
          </a:prstGeom>
          <a:solidFill>
            <a:srgbClr val="FFF5EE"/>
          </a:solidFill>
          <a:ln w="6350">
            <a:solidFill>
              <a:srgbClr val="DDCCBB"/>
            </a:solidFill>
            <a:prstDash val="solid"/>
          </a:ln>
        </p:spPr>
      </p:sp>
      <p:sp>
        <p:nvSpPr>
          <p:cNvPr id="7" name="Shape 4"/>
          <p:cNvSpPr/>
          <p:nvPr/>
        </p:nvSpPr>
        <p:spPr>
          <a:xfrm>
            <a:off x="274320" y="1115568"/>
            <a:ext cx="2240280" cy="301752"/>
          </a:xfrm>
          <a:prstGeom prst="rect">
            <a:avLst/>
          </a:prstGeom>
          <a:solidFill>
            <a:srgbClr val="FFE8D0"/>
          </a:solidFill>
          <a:ln/>
        </p:spPr>
      </p:sp>
      <p:sp>
        <p:nvSpPr>
          <p:cNvPr id="8" name="Text 5"/>
          <p:cNvSpPr/>
          <p:nvPr/>
        </p:nvSpPr>
        <p:spPr>
          <a:xfrm>
            <a:off x="347472" y="1161288"/>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Bug ID</a:t>
            </a:r>
            <a:endParaRPr lang="en-US" sz="950" dirty="0"/>
          </a:p>
        </p:txBody>
      </p:sp>
      <p:sp>
        <p:nvSpPr>
          <p:cNvPr id="9" name="Text 6"/>
          <p:cNvSpPr/>
          <p:nvPr/>
        </p:nvSpPr>
        <p:spPr>
          <a:xfrm>
            <a:off x="2606040" y="1161288"/>
            <a:ext cx="617220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BUG_LOGIN_007</a:t>
            </a:r>
            <a:endParaRPr lang="en-US" sz="950" dirty="0"/>
          </a:p>
        </p:txBody>
      </p:sp>
      <p:sp>
        <p:nvSpPr>
          <p:cNvPr id="10" name="Shape 7"/>
          <p:cNvSpPr/>
          <p:nvPr/>
        </p:nvSpPr>
        <p:spPr>
          <a:xfrm>
            <a:off x="274320" y="1453896"/>
            <a:ext cx="8595360" cy="301752"/>
          </a:xfrm>
          <a:prstGeom prst="rect">
            <a:avLst/>
          </a:prstGeom>
          <a:solidFill>
            <a:srgbClr val="FFFFFF"/>
          </a:solidFill>
          <a:ln w="6350">
            <a:solidFill>
              <a:srgbClr val="DDCCBB"/>
            </a:solidFill>
            <a:prstDash val="solid"/>
          </a:ln>
        </p:spPr>
      </p:sp>
      <p:sp>
        <p:nvSpPr>
          <p:cNvPr id="11" name="Shape 8"/>
          <p:cNvSpPr/>
          <p:nvPr/>
        </p:nvSpPr>
        <p:spPr>
          <a:xfrm>
            <a:off x="274320" y="1453896"/>
            <a:ext cx="2240280" cy="301752"/>
          </a:xfrm>
          <a:prstGeom prst="rect">
            <a:avLst/>
          </a:prstGeom>
          <a:solidFill>
            <a:srgbClr val="F0F0F0"/>
          </a:solidFill>
          <a:ln/>
        </p:spPr>
      </p:sp>
      <p:sp>
        <p:nvSpPr>
          <p:cNvPr id="12" name="Text 9"/>
          <p:cNvSpPr/>
          <p:nvPr/>
        </p:nvSpPr>
        <p:spPr>
          <a:xfrm>
            <a:off x="347472" y="1499616"/>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Title / Summary</a:t>
            </a:r>
            <a:endParaRPr lang="en-US" sz="950" dirty="0"/>
          </a:p>
        </p:txBody>
      </p:sp>
      <p:sp>
        <p:nvSpPr>
          <p:cNvPr id="13" name="Text 10"/>
          <p:cNvSpPr/>
          <p:nvPr/>
        </p:nvSpPr>
        <p:spPr>
          <a:xfrm>
            <a:off x="2606040" y="1499616"/>
            <a:ext cx="6172200" cy="219456"/>
          </a:xfrm>
          <a:prstGeom prst="rect">
            <a:avLst/>
          </a:prstGeom>
          <a:noFill/>
          <a:ln/>
        </p:spPr>
        <p:txBody>
          <a:bodyPr wrap="square" lIns="0" tIns="0" rIns="0" bIns="0" rtlCol="0" anchor="ctr"/>
          <a:lstStyle/>
          <a:p>
            <a:pPr marL="0" indent="0">
              <a:buNone/>
            </a:pPr>
            <a:r>
              <a:rPr lang="en-US" sz="950" dirty="0">
                <a:solidFill>
                  <a:srgbClr val="1E1E1E"/>
                </a:solidFill>
                <a:latin typeface="Calibri" pitchFamily="34" charset="0"/>
                <a:ea typeface="Calibri" pitchFamily="34" charset="-122"/>
                <a:cs typeface="Calibri" pitchFamily="34" charset="-120"/>
              </a:rPr>
              <a:t>Login fails with valid credentials on Safari browser</a:t>
            </a:r>
            <a:endParaRPr lang="en-US" sz="950" dirty="0"/>
          </a:p>
        </p:txBody>
      </p:sp>
      <p:sp>
        <p:nvSpPr>
          <p:cNvPr id="14" name="Shape 11"/>
          <p:cNvSpPr/>
          <p:nvPr/>
        </p:nvSpPr>
        <p:spPr>
          <a:xfrm>
            <a:off x="274320" y="1792224"/>
            <a:ext cx="8595360" cy="301752"/>
          </a:xfrm>
          <a:prstGeom prst="rect">
            <a:avLst/>
          </a:prstGeom>
          <a:solidFill>
            <a:srgbClr val="FFF5EE"/>
          </a:solidFill>
          <a:ln w="6350">
            <a:solidFill>
              <a:srgbClr val="DDCCBB"/>
            </a:solidFill>
            <a:prstDash val="solid"/>
          </a:ln>
        </p:spPr>
      </p:sp>
      <p:sp>
        <p:nvSpPr>
          <p:cNvPr id="15" name="Shape 12"/>
          <p:cNvSpPr/>
          <p:nvPr/>
        </p:nvSpPr>
        <p:spPr>
          <a:xfrm>
            <a:off x="274320" y="1792224"/>
            <a:ext cx="2240280" cy="301752"/>
          </a:xfrm>
          <a:prstGeom prst="rect">
            <a:avLst/>
          </a:prstGeom>
          <a:solidFill>
            <a:srgbClr val="FFE8D0"/>
          </a:solidFill>
          <a:ln/>
        </p:spPr>
      </p:sp>
      <p:sp>
        <p:nvSpPr>
          <p:cNvPr id="16" name="Text 13"/>
          <p:cNvSpPr/>
          <p:nvPr/>
        </p:nvSpPr>
        <p:spPr>
          <a:xfrm>
            <a:off x="347472" y="1837944"/>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Severity</a:t>
            </a:r>
            <a:endParaRPr lang="en-US" sz="950" dirty="0"/>
          </a:p>
        </p:txBody>
      </p:sp>
      <p:sp>
        <p:nvSpPr>
          <p:cNvPr id="17" name="Text 14"/>
          <p:cNvSpPr/>
          <p:nvPr/>
        </p:nvSpPr>
        <p:spPr>
          <a:xfrm>
            <a:off x="2606040" y="1837944"/>
            <a:ext cx="6172200" cy="219456"/>
          </a:xfrm>
          <a:prstGeom prst="rect">
            <a:avLst/>
          </a:prstGeom>
          <a:noFill/>
          <a:ln/>
        </p:spPr>
        <p:txBody>
          <a:bodyPr wrap="square" lIns="0" tIns="0" rIns="0" bIns="0" rtlCol="0" anchor="ctr"/>
          <a:lstStyle/>
          <a:p>
            <a:pPr marL="0" indent="0">
              <a:buNone/>
            </a:pPr>
            <a:r>
              <a:rPr lang="en-US" sz="950" dirty="0">
                <a:solidFill>
                  <a:srgbClr val="C62828"/>
                </a:solidFill>
                <a:latin typeface="Calibri" pitchFamily="34" charset="0"/>
                <a:ea typeface="Calibri" pitchFamily="34" charset="-122"/>
                <a:cs typeface="Calibri" pitchFamily="34" charset="-120"/>
              </a:rPr>
              <a:t>Critical</a:t>
            </a:r>
            <a:endParaRPr lang="en-US" sz="950" dirty="0"/>
          </a:p>
        </p:txBody>
      </p:sp>
      <p:sp>
        <p:nvSpPr>
          <p:cNvPr id="18" name="Shape 15"/>
          <p:cNvSpPr/>
          <p:nvPr/>
        </p:nvSpPr>
        <p:spPr>
          <a:xfrm>
            <a:off x="274320" y="2130552"/>
            <a:ext cx="8595360" cy="301752"/>
          </a:xfrm>
          <a:prstGeom prst="rect">
            <a:avLst/>
          </a:prstGeom>
          <a:solidFill>
            <a:srgbClr val="FFFFFF"/>
          </a:solidFill>
          <a:ln w="6350">
            <a:solidFill>
              <a:srgbClr val="DDCCBB"/>
            </a:solidFill>
            <a:prstDash val="solid"/>
          </a:ln>
        </p:spPr>
      </p:sp>
      <p:sp>
        <p:nvSpPr>
          <p:cNvPr id="19" name="Shape 16"/>
          <p:cNvSpPr/>
          <p:nvPr/>
        </p:nvSpPr>
        <p:spPr>
          <a:xfrm>
            <a:off x="274320" y="2130552"/>
            <a:ext cx="2240280" cy="301752"/>
          </a:xfrm>
          <a:prstGeom prst="rect">
            <a:avLst/>
          </a:prstGeom>
          <a:solidFill>
            <a:srgbClr val="F0F0F0"/>
          </a:solidFill>
          <a:ln/>
        </p:spPr>
      </p:sp>
      <p:sp>
        <p:nvSpPr>
          <p:cNvPr id="20" name="Text 17"/>
          <p:cNvSpPr/>
          <p:nvPr/>
        </p:nvSpPr>
        <p:spPr>
          <a:xfrm>
            <a:off x="347472" y="2176272"/>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Priority</a:t>
            </a:r>
            <a:endParaRPr lang="en-US" sz="950" dirty="0"/>
          </a:p>
        </p:txBody>
      </p:sp>
      <p:sp>
        <p:nvSpPr>
          <p:cNvPr id="21" name="Text 18"/>
          <p:cNvSpPr/>
          <p:nvPr/>
        </p:nvSpPr>
        <p:spPr>
          <a:xfrm>
            <a:off x="2606040" y="2176272"/>
            <a:ext cx="6172200" cy="219456"/>
          </a:xfrm>
          <a:prstGeom prst="rect">
            <a:avLst/>
          </a:prstGeom>
          <a:noFill/>
          <a:ln/>
        </p:spPr>
        <p:txBody>
          <a:bodyPr wrap="square" lIns="0" tIns="0" rIns="0" bIns="0" rtlCol="0" anchor="ctr"/>
          <a:lstStyle/>
          <a:p>
            <a:pPr marL="0" indent="0">
              <a:buNone/>
            </a:pPr>
            <a:r>
              <a:rPr lang="en-US" sz="950" dirty="0">
                <a:solidFill>
                  <a:srgbClr val="E8670D"/>
                </a:solidFill>
                <a:latin typeface="Calibri" pitchFamily="34" charset="0"/>
                <a:ea typeface="Calibri" pitchFamily="34" charset="-122"/>
                <a:cs typeface="Calibri" pitchFamily="34" charset="-120"/>
              </a:rPr>
              <a:t>High</a:t>
            </a:r>
            <a:endParaRPr lang="en-US" sz="950" dirty="0"/>
          </a:p>
        </p:txBody>
      </p:sp>
      <p:sp>
        <p:nvSpPr>
          <p:cNvPr id="22" name="Shape 19"/>
          <p:cNvSpPr/>
          <p:nvPr/>
        </p:nvSpPr>
        <p:spPr>
          <a:xfrm>
            <a:off x="274320" y="2468880"/>
            <a:ext cx="8595360" cy="301752"/>
          </a:xfrm>
          <a:prstGeom prst="rect">
            <a:avLst/>
          </a:prstGeom>
          <a:solidFill>
            <a:srgbClr val="FFF5EE"/>
          </a:solidFill>
          <a:ln w="6350">
            <a:solidFill>
              <a:srgbClr val="DDCCBB"/>
            </a:solidFill>
            <a:prstDash val="solid"/>
          </a:ln>
        </p:spPr>
      </p:sp>
      <p:sp>
        <p:nvSpPr>
          <p:cNvPr id="23" name="Shape 20"/>
          <p:cNvSpPr/>
          <p:nvPr/>
        </p:nvSpPr>
        <p:spPr>
          <a:xfrm>
            <a:off x="274320" y="2468880"/>
            <a:ext cx="2240280" cy="301752"/>
          </a:xfrm>
          <a:prstGeom prst="rect">
            <a:avLst/>
          </a:prstGeom>
          <a:solidFill>
            <a:srgbClr val="FFE8D0"/>
          </a:solidFill>
          <a:ln/>
        </p:spPr>
      </p:sp>
      <p:sp>
        <p:nvSpPr>
          <p:cNvPr id="24" name="Text 21"/>
          <p:cNvSpPr/>
          <p:nvPr/>
        </p:nvSpPr>
        <p:spPr>
          <a:xfrm>
            <a:off x="347472" y="2514600"/>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Environment</a:t>
            </a:r>
            <a:endParaRPr lang="en-US" sz="950" dirty="0"/>
          </a:p>
        </p:txBody>
      </p:sp>
      <p:sp>
        <p:nvSpPr>
          <p:cNvPr id="25" name="Text 22"/>
          <p:cNvSpPr/>
          <p:nvPr/>
        </p:nvSpPr>
        <p:spPr>
          <a:xfrm>
            <a:off x="2606040" y="2514600"/>
            <a:ext cx="6172200" cy="219456"/>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QA Server | Safari 16.4 | macOS Ventura</a:t>
            </a:r>
            <a:endParaRPr lang="en-US" sz="950" dirty="0"/>
          </a:p>
        </p:txBody>
      </p:sp>
      <p:sp>
        <p:nvSpPr>
          <p:cNvPr id="26" name="Shape 23"/>
          <p:cNvSpPr/>
          <p:nvPr/>
        </p:nvSpPr>
        <p:spPr>
          <a:xfrm>
            <a:off x="274320" y="2807208"/>
            <a:ext cx="8595360" cy="301752"/>
          </a:xfrm>
          <a:prstGeom prst="rect">
            <a:avLst/>
          </a:prstGeom>
          <a:solidFill>
            <a:srgbClr val="FFFFFF"/>
          </a:solidFill>
          <a:ln w="6350">
            <a:solidFill>
              <a:srgbClr val="DDCCBB"/>
            </a:solidFill>
            <a:prstDash val="solid"/>
          </a:ln>
        </p:spPr>
      </p:sp>
      <p:sp>
        <p:nvSpPr>
          <p:cNvPr id="27" name="Shape 24"/>
          <p:cNvSpPr/>
          <p:nvPr/>
        </p:nvSpPr>
        <p:spPr>
          <a:xfrm>
            <a:off x="274320" y="2807208"/>
            <a:ext cx="2240280" cy="301752"/>
          </a:xfrm>
          <a:prstGeom prst="rect">
            <a:avLst/>
          </a:prstGeom>
          <a:solidFill>
            <a:srgbClr val="F0F0F0"/>
          </a:solidFill>
          <a:ln/>
        </p:spPr>
      </p:sp>
      <p:sp>
        <p:nvSpPr>
          <p:cNvPr id="28" name="Text 25"/>
          <p:cNvSpPr/>
          <p:nvPr/>
        </p:nvSpPr>
        <p:spPr>
          <a:xfrm>
            <a:off x="347472" y="2852928"/>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Build / Version</a:t>
            </a:r>
            <a:endParaRPr lang="en-US" sz="950" dirty="0"/>
          </a:p>
        </p:txBody>
      </p:sp>
      <p:sp>
        <p:nvSpPr>
          <p:cNvPr id="29" name="Text 26"/>
          <p:cNvSpPr/>
          <p:nvPr/>
        </p:nvSpPr>
        <p:spPr>
          <a:xfrm>
            <a:off x="2606040" y="2852928"/>
            <a:ext cx="6172200" cy="219456"/>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v2.3.1 — Build #450</a:t>
            </a:r>
            <a:endParaRPr lang="en-US" sz="950" dirty="0"/>
          </a:p>
        </p:txBody>
      </p:sp>
      <p:sp>
        <p:nvSpPr>
          <p:cNvPr id="30" name="Shape 27"/>
          <p:cNvSpPr/>
          <p:nvPr/>
        </p:nvSpPr>
        <p:spPr>
          <a:xfrm>
            <a:off x="274320" y="3145536"/>
            <a:ext cx="8595360" cy="301752"/>
          </a:xfrm>
          <a:prstGeom prst="rect">
            <a:avLst/>
          </a:prstGeom>
          <a:solidFill>
            <a:srgbClr val="FFF5EE"/>
          </a:solidFill>
          <a:ln w="6350">
            <a:solidFill>
              <a:srgbClr val="DDCCBB"/>
            </a:solidFill>
            <a:prstDash val="solid"/>
          </a:ln>
        </p:spPr>
      </p:sp>
      <p:sp>
        <p:nvSpPr>
          <p:cNvPr id="31" name="Shape 28"/>
          <p:cNvSpPr/>
          <p:nvPr/>
        </p:nvSpPr>
        <p:spPr>
          <a:xfrm>
            <a:off x="274320" y="3145536"/>
            <a:ext cx="2240280" cy="301752"/>
          </a:xfrm>
          <a:prstGeom prst="rect">
            <a:avLst/>
          </a:prstGeom>
          <a:solidFill>
            <a:srgbClr val="FFE8D0"/>
          </a:solidFill>
          <a:ln/>
        </p:spPr>
      </p:sp>
      <p:sp>
        <p:nvSpPr>
          <p:cNvPr id="32" name="Text 29"/>
          <p:cNvSpPr/>
          <p:nvPr/>
        </p:nvSpPr>
        <p:spPr>
          <a:xfrm>
            <a:off x="347472" y="3191256"/>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Steps to Reproduce</a:t>
            </a:r>
            <a:endParaRPr lang="en-US" sz="950" dirty="0"/>
          </a:p>
        </p:txBody>
      </p:sp>
      <p:sp>
        <p:nvSpPr>
          <p:cNvPr id="33" name="Text 30"/>
          <p:cNvSpPr/>
          <p:nvPr/>
        </p:nvSpPr>
        <p:spPr>
          <a:xfrm>
            <a:off x="2606040" y="3191256"/>
            <a:ext cx="617220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1. Open Safari  2. Navigate to /login  3. Enter valid credentials  4. Click Login  5. Observe error</a:t>
            </a:r>
            <a:endParaRPr lang="en-US" sz="950" dirty="0"/>
          </a:p>
        </p:txBody>
      </p:sp>
      <p:sp>
        <p:nvSpPr>
          <p:cNvPr id="34" name="Shape 31"/>
          <p:cNvSpPr/>
          <p:nvPr/>
        </p:nvSpPr>
        <p:spPr>
          <a:xfrm>
            <a:off x="274320" y="3483864"/>
            <a:ext cx="8595360" cy="301752"/>
          </a:xfrm>
          <a:prstGeom prst="rect">
            <a:avLst/>
          </a:prstGeom>
          <a:solidFill>
            <a:srgbClr val="FFFFFF"/>
          </a:solidFill>
          <a:ln w="6350">
            <a:solidFill>
              <a:srgbClr val="DDCCBB"/>
            </a:solidFill>
            <a:prstDash val="solid"/>
          </a:ln>
        </p:spPr>
      </p:sp>
      <p:sp>
        <p:nvSpPr>
          <p:cNvPr id="35" name="Shape 32"/>
          <p:cNvSpPr/>
          <p:nvPr/>
        </p:nvSpPr>
        <p:spPr>
          <a:xfrm>
            <a:off x="274320" y="3483864"/>
            <a:ext cx="2240280" cy="301752"/>
          </a:xfrm>
          <a:prstGeom prst="rect">
            <a:avLst/>
          </a:prstGeom>
          <a:solidFill>
            <a:srgbClr val="F0F0F0"/>
          </a:solidFill>
          <a:ln/>
        </p:spPr>
      </p:sp>
      <p:sp>
        <p:nvSpPr>
          <p:cNvPr id="36" name="Text 33"/>
          <p:cNvSpPr/>
          <p:nvPr/>
        </p:nvSpPr>
        <p:spPr>
          <a:xfrm>
            <a:off x="347472" y="3529584"/>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Expected Result</a:t>
            </a:r>
            <a:endParaRPr lang="en-US" sz="950" dirty="0"/>
          </a:p>
        </p:txBody>
      </p:sp>
      <p:sp>
        <p:nvSpPr>
          <p:cNvPr id="37" name="Text 34"/>
          <p:cNvSpPr/>
          <p:nvPr/>
        </p:nvSpPr>
        <p:spPr>
          <a:xfrm>
            <a:off x="2606040" y="3529584"/>
            <a:ext cx="6172200" cy="219456"/>
          </a:xfrm>
          <a:prstGeom prst="rect">
            <a:avLst/>
          </a:prstGeom>
          <a:noFill/>
          <a:ln/>
        </p:spPr>
        <p:txBody>
          <a:bodyPr wrap="square" lIns="0" tIns="0" rIns="0" bIns="0" rtlCol="0" anchor="ctr"/>
          <a:lstStyle/>
          <a:p>
            <a:pPr marL="0" indent="0">
              <a:buNone/>
            </a:pPr>
            <a:r>
              <a:rPr lang="en-US" sz="950" dirty="0">
                <a:solidFill>
                  <a:srgbClr val="1A6B3C"/>
                </a:solidFill>
                <a:latin typeface="Calibri" pitchFamily="34" charset="0"/>
                <a:ea typeface="Calibri" pitchFamily="34" charset="-122"/>
                <a:cs typeface="Calibri" pitchFamily="34" charset="-120"/>
              </a:rPr>
              <a:t>User logged in and redirected to Dashboard</a:t>
            </a:r>
            <a:endParaRPr lang="en-US" sz="950" dirty="0"/>
          </a:p>
        </p:txBody>
      </p:sp>
      <p:sp>
        <p:nvSpPr>
          <p:cNvPr id="38" name="Shape 35"/>
          <p:cNvSpPr/>
          <p:nvPr/>
        </p:nvSpPr>
        <p:spPr>
          <a:xfrm>
            <a:off x="274320" y="3822192"/>
            <a:ext cx="8595360" cy="301752"/>
          </a:xfrm>
          <a:prstGeom prst="rect">
            <a:avLst/>
          </a:prstGeom>
          <a:solidFill>
            <a:srgbClr val="FFF5EE"/>
          </a:solidFill>
          <a:ln w="6350">
            <a:solidFill>
              <a:srgbClr val="DDCCBB"/>
            </a:solidFill>
            <a:prstDash val="solid"/>
          </a:ln>
        </p:spPr>
      </p:sp>
      <p:sp>
        <p:nvSpPr>
          <p:cNvPr id="39" name="Shape 36"/>
          <p:cNvSpPr/>
          <p:nvPr/>
        </p:nvSpPr>
        <p:spPr>
          <a:xfrm>
            <a:off x="274320" y="3822192"/>
            <a:ext cx="2240280" cy="301752"/>
          </a:xfrm>
          <a:prstGeom prst="rect">
            <a:avLst/>
          </a:prstGeom>
          <a:solidFill>
            <a:srgbClr val="FFE8D0"/>
          </a:solidFill>
          <a:ln/>
        </p:spPr>
      </p:sp>
      <p:sp>
        <p:nvSpPr>
          <p:cNvPr id="40" name="Text 37"/>
          <p:cNvSpPr/>
          <p:nvPr/>
        </p:nvSpPr>
        <p:spPr>
          <a:xfrm>
            <a:off x="347472" y="3867912"/>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Actual Result</a:t>
            </a:r>
            <a:endParaRPr lang="en-US" sz="950" dirty="0"/>
          </a:p>
        </p:txBody>
      </p:sp>
      <p:sp>
        <p:nvSpPr>
          <p:cNvPr id="41" name="Text 38"/>
          <p:cNvSpPr/>
          <p:nvPr/>
        </p:nvSpPr>
        <p:spPr>
          <a:xfrm>
            <a:off x="2606040" y="3867912"/>
            <a:ext cx="6172200" cy="219456"/>
          </a:xfrm>
          <a:prstGeom prst="rect">
            <a:avLst/>
          </a:prstGeom>
          <a:noFill/>
          <a:ln/>
        </p:spPr>
        <p:txBody>
          <a:bodyPr wrap="square" lIns="0" tIns="0" rIns="0" bIns="0" rtlCol="0" anchor="ctr"/>
          <a:lstStyle/>
          <a:p>
            <a:pPr marL="0" indent="0">
              <a:buNone/>
            </a:pPr>
            <a:r>
              <a:rPr lang="en-US" sz="950" dirty="0">
                <a:solidFill>
                  <a:srgbClr val="C62828"/>
                </a:solidFill>
                <a:latin typeface="Calibri" pitchFamily="34" charset="0"/>
                <a:ea typeface="Calibri" pitchFamily="34" charset="-122"/>
                <a:cs typeface="Calibri" pitchFamily="34" charset="-120"/>
              </a:rPr>
              <a:t>Error: '500 Internal Server Error'. User NOT logged in.</a:t>
            </a:r>
            <a:endParaRPr lang="en-US" sz="950" dirty="0"/>
          </a:p>
        </p:txBody>
      </p:sp>
      <p:sp>
        <p:nvSpPr>
          <p:cNvPr id="42" name="Shape 39"/>
          <p:cNvSpPr/>
          <p:nvPr/>
        </p:nvSpPr>
        <p:spPr>
          <a:xfrm>
            <a:off x="274320" y="4160520"/>
            <a:ext cx="8595360" cy="301752"/>
          </a:xfrm>
          <a:prstGeom prst="rect">
            <a:avLst/>
          </a:prstGeom>
          <a:solidFill>
            <a:srgbClr val="FFFFFF"/>
          </a:solidFill>
          <a:ln w="6350">
            <a:solidFill>
              <a:srgbClr val="DDCCBB"/>
            </a:solidFill>
            <a:prstDash val="solid"/>
          </a:ln>
        </p:spPr>
      </p:sp>
      <p:sp>
        <p:nvSpPr>
          <p:cNvPr id="43" name="Shape 40"/>
          <p:cNvSpPr/>
          <p:nvPr/>
        </p:nvSpPr>
        <p:spPr>
          <a:xfrm>
            <a:off x="274320" y="4160520"/>
            <a:ext cx="2240280" cy="301752"/>
          </a:xfrm>
          <a:prstGeom prst="rect">
            <a:avLst/>
          </a:prstGeom>
          <a:solidFill>
            <a:srgbClr val="F0F0F0"/>
          </a:solidFill>
          <a:ln/>
        </p:spPr>
      </p:sp>
      <p:sp>
        <p:nvSpPr>
          <p:cNvPr id="44" name="Text 41"/>
          <p:cNvSpPr/>
          <p:nvPr/>
        </p:nvSpPr>
        <p:spPr>
          <a:xfrm>
            <a:off x="347472" y="4206240"/>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Attachments</a:t>
            </a:r>
            <a:endParaRPr lang="en-US" sz="950" dirty="0"/>
          </a:p>
        </p:txBody>
      </p:sp>
      <p:sp>
        <p:nvSpPr>
          <p:cNvPr id="45" name="Text 42"/>
          <p:cNvSpPr/>
          <p:nvPr/>
        </p:nvSpPr>
        <p:spPr>
          <a:xfrm>
            <a:off x="2606040" y="4206240"/>
            <a:ext cx="6172200" cy="219456"/>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screenshot_bug007.png | console_log.txt</a:t>
            </a:r>
            <a:endParaRPr lang="en-US" sz="950" dirty="0"/>
          </a:p>
        </p:txBody>
      </p:sp>
      <p:sp>
        <p:nvSpPr>
          <p:cNvPr id="46" name="Shape 43"/>
          <p:cNvSpPr/>
          <p:nvPr/>
        </p:nvSpPr>
        <p:spPr>
          <a:xfrm>
            <a:off x="274320" y="4498848"/>
            <a:ext cx="8595360" cy="301752"/>
          </a:xfrm>
          <a:prstGeom prst="rect">
            <a:avLst/>
          </a:prstGeom>
          <a:solidFill>
            <a:srgbClr val="FFF5EE"/>
          </a:solidFill>
          <a:ln w="6350">
            <a:solidFill>
              <a:srgbClr val="DDCCBB"/>
            </a:solidFill>
            <a:prstDash val="solid"/>
          </a:ln>
        </p:spPr>
      </p:sp>
      <p:sp>
        <p:nvSpPr>
          <p:cNvPr id="47" name="Shape 44"/>
          <p:cNvSpPr/>
          <p:nvPr/>
        </p:nvSpPr>
        <p:spPr>
          <a:xfrm>
            <a:off x="274320" y="4498848"/>
            <a:ext cx="2240280" cy="301752"/>
          </a:xfrm>
          <a:prstGeom prst="rect">
            <a:avLst/>
          </a:prstGeom>
          <a:solidFill>
            <a:srgbClr val="FFE8D0"/>
          </a:solidFill>
          <a:ln/>
        </p:spPr>
      </p:sp>
      <p:sp>
        <p:nvSpPr>
          <p:cNvPr id="48" name="Text 45"/>
          <p:cNvSpPr/>
          <p:nvPr/>
        </p:nvSpPr>
        <p:spPr>
          <a:xfrm>
            <a:off x="347472" y="4544568"/>
            <a:ext cx="2084832" cy="219456"/>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Reported By</a:t>
            </a:r>
            <a:endParaRPr lang="en-US" sz="950" dirty="0"/>
          </a:p>
        </p:txBody>
      </p:sp>
      <p:sp>
        <p:nvSpPr>
          <p:cNvPr id="49" name="Text 46"/>
          <p:cNvSpPr/>
          <p:nvPr/>
        </p:nvSpPr>
        <p:spPr>
          <a:xfrm>
            <a:off x="2606040" y="4544568"/>
            <a:ext cx="6172200" cy="219456"/>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Jane Intern | 2024-08-15</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07</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Test Environments</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Understanding where and how testing happens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Test Environments Explained</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The right tests in the right environment at the right time</a:t>
            </a:r>
            <a:endParaRPr lang="en-US" sz="1200" dirty="0"/>
          </a:p>
        </p:txBody>
      </p:sp>
      <p:sp>
        <p:nvSpPr>
          <p:cNvPr id="6" name="Shape 3"/>
          <p:cNvSpPr/>
          <p:nvPr/>
        </p:nvSpPr>
        <p:spPr>
          <a:xfrm>
            <a:off x="228600" y="1024128"/>
            <a:ext cx="2057400" cy="3931920"/>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28600" y="1024128"/>
            <a:ext cx="2057400" cy="822960"/>
          </a:xfrm>
          <a:prstGeom prst="rect">
            <a:avLst/>
          </a:prstGeom>
          <a:solidFill>
            <a:srgbClr val="555555"/>
          </a:solidFill>
          <a:ln/>
        </p:spPr>
      </p:sp>
      <p:sp>
        <p:nvSpPr>
          <p:cNvPr id="8" name="Text 5"/>
          <p:cNvSpPr/>
          <p:nvPr/>
        </p:nvSpPr>
        <p:spPr>
          <a:xfrm>
            <a:off x="228600" y="1042416"/>
            <a:ext cx="2057400" cy="402336"/>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9" name="Text 6"/>
          <p:cNvSpPr/>
          <p:nvPr/>
        </p:nvSpPr>
        <p:spPr>
          <a:xfrm>
            <a:off x="274320" y="1444752"/>
            <a:ext cx="1965960" cy="40233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DEV</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(Development)</a:t>
            </a:r>
            <a:endParaRPr lang="en-US" sz="950" dirty="0"/>
          </a:p>
        </p:txBody>
      </p:sp>
      <p:sp>
        <p:nvSpPr>
          <p:cNvPr id="10" name="Shape 7"/>
          <p:cNvSpPr/>
          <p:nvPr/>
        </p:nvSpPr>
        <p:spPr>
          <a:xfrm>
            <a:off x="228600" y="1874520"/>
            <a:ext cx="2057400" cy="256032"/>
          </a:xfrm>
          <a:prstGeom prst="rect">
            <a:avLst/>
          </a:prstGeom>
          <a:solidFill>
            <a:srgbClr val="555555">
              <a:alpha val="45000"/>
            </a:srgbClr>
          </a:solidFill>
          <a:ln/>
        </p:spPr>
      </p:sp>
      <p:sp>
        <p:nvSpPr>
          <p:cNvPr id="11" name="Text 8"/>
          <p:cNvSpPr/>
          <p:nvPr/>
        </p:nvSpPr>
        <p:spPr>
          <a:xfrm>
            <a:off x="274320" y="1892808"/>
            <a:ext cx="1965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Developers</a:t>
            </a:r>
            <a:endParaRPr lang="en-US" sz="850" dirty="0"/>
          </a:p>
        </p:txBody>
      </p:sp>
      <p:sp>
        <p:nvSpPr>
          <p:cNvPr id="12" name="Text 9"/>
          <p:cNvSpPr/>
          <p:nvPr/>
        </p:nvSpPr>
        <p:spPr>
          <a:xfrm>
            <a:off x="320040" y="2176272"/>
            <a:ext cx="1920240" cy="26974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Code is written here</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Very unstable — changes every hour</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Dev unit tests run here</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NOT suitable for formal testing</a:t>
            </a:r>
            <a:endParaRPr lang="en-US" sz="950" dirty="0"/>
          </a:p>
        </p:txBody>
      </p:sp>
      <p:sp>
        <p:nvSpPr>
          <p:cNvPr id="13" name="Shape 10"/>
          <p:cNvSpPr/>
          <p:nvPr/>
        </p:nvSpPr>
        <p:spPr>
          <a:xfrm>
            <a:off x="2423160" y="1024128"/>
            <a:ext cx="2057400" cy="3931920"/>
          </a:xfrm>
          <a:prstGeom prst="rect">
            <a:avLst/>
          </a:prstGeom>
          <a:solidFill>
            <a:srgbClr val="FFFFFF"/>
          </a:solidFill>
          <a:ln/>
          <a:effectLst>
            <a:outerShdw blurRad="127000" dist="38100" dir="8100000" algn="bl" rotWithShape="0">
              <a:srgbClr val="000000">
                <a:alpha val="25000"/>
              </a:srgbClr>
            </a:outerShdw>
          </a:effectLst>
        </p:spPr>
      </p:sp>
      <p:sp>
        <p:nvSpPr>
          <p:cNvPr id="14" name="Shape 11"/>
          <p:cNvSpPr/>
          <p:nvPr/>
        </p:nvSpPr>
        <p:spPr>
          <a:xfrm>
            <a:off x="2423160" y="1024128"/>
            <a:ext cx="2057400" cy="822960"/>
          </a:xfrm>
          <a:prstGeom prst="rect">
            <a:avLst/>
          </a:prstGeom>
          <a:solidFill>
            <a:srgbClr val="E8670D"/>
          </a:solidFill>
          <a:ln/>
        </p:spPr>
      </p:sp>
      <p:sp>
        <p:nvSpPr>
          <p:cNvPr id="15" name="Text 12"/>
          <p:cNvSpPr/>
          <p:nvPr/>
        </p:nvSpPr>
        <p:spPr>
          <a:xfrm>
            <a:off x="2423160" y="1042416"/>
            <a:ext cx="2057400" cy="402336"/>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6" name="Text 13"/>
          <p:cNvSpPr/>
          <p:nvPr/>
        </p:nvSpPr>
        <p:spPr>
          <a:xfrm>
            <a:off x="2468880" y="1444752"/>
            <a:ext cx="1965960" cy="40233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QA</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(Testing)</a:t>
            </a:r>
            <a:endParaRPr lang="en-US" sz="950" dirty="0"/>
          </a:p>
        </p:txBody>
      </p:sp>
      <p:sp>
        <p:nvSpPr>
          <p:cNvPr id="17" name="Shape 14"/>
          <p:cNvSpPr/>
          <p:nvPr/>
        </p:nvSpPr>
        <p:spPr>
          <a:xfrm>
            <a:off x="2423160" y="1874520"/>
            <a:ext cx="2057400" cy="256032"/>
          </a:xfrm>
          <a:prstGeom prst="rect">
            <a:avLst/>
          </a:prstGeom>
          <a:solidFill>
            <a:srgbClr val="E8670D">
              <a:alpha val="45000"/>
            </a:srgbClr>
          </a:solidFill>
          <a:ln/>
        </p:spPr>
      </p:sp>
      <p:sp>
        <p:nvSpPr>
          <p:cNvPr id="18" name="Text 15"/>
          <p:cNvSpPr/>
          <p:nvPr/>
        </p:nvSpPr>
        <p:spPr>
          <a:xfrm>
            <a:off x="2468880" y="1892808"/>
            <a:ext cx="1965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QA Testers</a:t>
            </a:r>
            <a:endParaRPr lang="en-US" sz="850" dirty="0"/>
          </a:p>
        </p:txBody>
      </p:sp>
      <p:sp>
        <p:nvSpPr>
          <p:cNvPr id="19" name="Text 16"/>
          <p:cNvSpPr/>
          <p:nvPr/>
        </p:nvSpPr>
        <p:spPr>
          <a:xfrm>
            <a:off x="2514600" y="2176272"/>
            <a:ext cx="1920240" cy="26974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Stable build deployed here</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Full STLC testing happens here</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Run Selenium &amp; Playwright suites here</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Bug reporting and retesting</a:t>
            </a:r>
            <a:endParaRPr lang="en-US" sz="950" dirty="0"/>
          </a:p>
        </p:txBody>
      </p:sp>
      <p:sp>
        <p:nvSpPr>
          <p:cNvPr id="20" name="Shape 17"/>
          <p:cNvSpPr/>
          <p:nvPr/>
        </p:nvSpPr>
        <p:spPr>
          <a:xfrm>
            <a:off x="4617720" y="1024128"/>
            <a:ext cx="2057400" cy="3931920"/>
          </a:xfrm>
          <a:prstGeom prst="rect">
            <a:avLst/>
          </a:prstGeom>
          <a:solidFill>
            <a:srgbClr val="FFFFFF"/>
          </a:solidFill>
          <a:ln/>
          <a:effectLst>
            <a:outerShdw blurRad="127000" dist="38100" dir="8100000" algn="bl" rotWithShape="0">
              <a:srgbClr val="000000">
                <a:alpha val="25000"/>
              </a:srgbClr>
            </a:outerShdw>
          </a:effectLst>
        </p:spPr>
      </p:sp>
      <p:sp>
        <p:nvSpPr>
          <p:cNvPr id="21" name="Shape 18"/>
          <p:cNvSpPr/>
          <p:nvPr/>
        </p:nvSpPr>
        <p:spPr>
          <a:xfrm>
            <a:off x="4617720" y="1024128"/>
            <a:ext cx="2057400" cy="822960"/>
          </a:xfrm>
          <a:prstGeom prst="rect">
            <a:avLst/>
          </a:prstGeom>
          <a:solidFill>
            <a:srgbClr val="1E1E1E"/>
          </a:solidFill>
          <a:ln/>
        </p:spPr>
      </p:sp>
      <p:sp>
        <p:nvSpPr>
          <p:cNvPr id="22" name="Text 19"/>
          <p:cNvSpPr/>
          <p:nvPr/>
        </p:nvSpPr>
        <p:spPr>
          <a:xfrm>
            <a:off x="4617720" y="1042416"/>
            <a:ext cx="2057400" cy="402336"/>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3" name="Text 20"/>
          <p:cNvSpPr/>
          <p:nvPr/>
        </p:nvSpPr>
        <p:spPr>
          <a:xfrm>
            <a:off x="4663440" y="1444752"/>
            <a:ext cx="1965960" cy="40233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UAT</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(Staging)</a:t>
            </a:r>
            <a:endParaRPr lang="en-US" sz="950" dirty="0"/>
          </a:p>
        </p:txBody>
      </p:sp>
      <p:sp>
        <p:nvSpPr>
          <p:cNvPr id="24" name="Shape 21"/>
          <p:cNvSpPr/>
          <p:nvPr/>
        </p:nvSpPr>
        <p:spPr>
          <a:xfrm>
            <a:off x="4617720" y="1874520"/>
            <a:ext cx="2057400" cy="256032"/>
          </a:xfrm>
          <a:prstGeom prst="rect">
            <a:avLst/>
          </a:prstGeom>
          <a:solidFill>
            <a:srgbClr val="1E1E1E">
              <a:alpha val="45000"/>
            </a:srgbClr>
          </a:solidFill>
          <a:ln/>
        </p:spPr>
      </p:sp>
      <p:sp>
        <p:nvSpPr>
          <p:cNvPr id="25" name="Text 22"/>
          <p:cNvSpPr/>
          <p:nvPr/>
        </p:nvSpPr>
        <p:spPr>
          <a:xfrm>
            <a:off x="4663440" y="1892808"/>
            <a:ext cx="1965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Business Users</a:t>
            </a:r>
            <a:endParaRPr lang="en-US" sz="850" dirty="0"/>
          </a:p>
        </p:txBody>
      </p:sp>
      <p:sp>
        <p:nvSpPr>
          <p:cNvPr id="26" name="Text 23"/>
          <p:cNvSpPr/>
          <p:nvPr/>
        </p:nvSpPr>
        <p:spPr>
          <a:xfrm>
            <a:off x="4709160" y="2176272"/>
            <a:ext cx="1920240" cy="26974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Business validates here</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Realistic data and scenarios</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User Acceptance Testing</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Final check before go-live</a:t>
            </a:r>
            <a:endParaRPr lang="en-US" sz="950" dirty="0"/>
          </a:p>
        </p:txBody>
      </p:sp>
      <p:sp>
        <p:nvSpPr>
          <p:cNvPr id="27" name="Shape 24"/>
          <p:cNvSpPr/>
          <p:nvPr/>
        </p:nvSpPr>
        <p:spPr>
          <a:xfrm>
            <a:off x="6812280" y="1024128"/>
            <a:ext cx="2057400" cy="3931920"/>
          </a:xfrm>
          <a:prstGeom prst="rect">
            <a:avLst/>
          </a:prstGeom>
          <a:solidFill>
            <a:srgbClr val="FFFFFF"/>
          </a:solidFill>
          <a:ln/>
          <a:effectLst>
            <a:outerShdw blurRad="127000" dist="38100" dir="8100000" algn="bl" rotWithShape="0">
              <a:srgbClr val="000000">
                <a:alpha val="25000"/>
              </a:srgbClr>
            </a:outerShdw>
          </a:effectLst>
        </p:spPr>
      </p:sp>
      <p:sp>
        <p:nvSpPr>
          <p:cNvPr id="28" name="Shape 25"/>
          <p:cNvSpPr/>
          <p:nvPr/>
        </p:nvSpPr>
        <p:spPr>
          <a:xfrm>
            <a:off x="6812280" y="1024128"/>
            <a:ext cx="2057400" cy="822960"/>
          </a:xfrm>
          <a:prstGeom prst="rect">
            <a:avLst/>
          </a:prstGeom>
          <a:solidFill>
            <a:srgbClr val="C62828"/>
          </a:solidFill>
          <a:ln/>
        </p:spPr>
      </p:sp>
      <p:sp>
        <p:nvSpPr>
          <p:cNvPr id="29" name="Text 26"/>
          <p:cNvSpPr/>
          <p:nvPr/>
        </p:nvSpPr>
        <p:spPr>
          <a:xfrm>
            <a:off x="6812280" y="1042416"/>
            <a:ext cx="2057400" cy="402336"/>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0" name="Text 27"/>
          <p:cNvSpPr/>
          <p:nvPr/>
        </p:nvSpPr>
        <p:spPr>
          <a:xfrm>
            <a:off x="6858000" y="1444752"/>
            <a:ext cx="1965960" cy="40233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PROD</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(Production)</a:t>
            </a:r>
            <a:endParaRPr lang="en-US" sz="950" dirty="0"/>
          </a:p>
        </p:txBody>
      </p:sp>
      <p:sp>
        <p:nvSpPr>
          <p:cNvPr id="31" name="Shape 28"/>
          <p:cNvSpPr/>
          <p:nvPr/>
        </p:nvSpPr>
        <p:spPr>
          <a:xfrm>
            <a:off x="6812280" y="1874520"/>
            <a:ext cx="2057400" cy="256032"/>
          </a:xfrm>
          <a:prstGeom prst="rect">
            <a:avLst/>
          </a:prstGeom>
          <a:solidFill>
            <a:srgbClr val="C62828">
              <a:alpha val="45000"/>
            </a:srgbClr>
          </a:solidFill>
          <a:ln/>
        </p:spPr>
      </p:sp>
      <p:sp>
        <p:nvSpPr>
          <p:cNvPr id="32" name="Text 29"/>
          <p:cNvSpPr/>
          <p:nvPr/>
        </p:nvSpPr>
        <p:spPr>
          <a:xfrm>
            <a:off x="6858000" y="1892808"/>
            <a:ext cx="1965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End Users</a:t>
            </a:r>
            <a:endParaRPr lang="en-US" sz="850" dirty="0"/>
          </a:p>
        </p:txBody>
      </p:sp>
      <p:sp>
        <p:nvSpPr>
          <p:cNvPr id="33" name="Text 30"/>
          <p:cNvSpPr/>
          <p:nvPr/>
        </p:nvSpPr>
        <p:spPr>
          <a:xfrm>
            <a:off x="6903720" y="2176272"/>
            <a:ext cx="1920240" cy="26974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Live system — real users!</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NEVER test here directly</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Monitored for errors 24/7</a:t>
            </a:r>
            <a:endParaRPr lang="en-US" sz="950" dirty="0"/>
          </a:p>
          <a:p>
            <a:pPr marL="342900" indent="-342900">
              <a:spcAft>
                <a:spcPts val="300"/>
              </a:spcAft>
              <a:buSzPct val="100000"/>
              <a:buChar char="•"/>
            </a:pPr>
            <a:r>
              <a:rPr lang="en-US" sz="950" dirty="0">
                <a:solidFill>
                  <a:srgbClr val="555555"/>
                </a:solidFill>
                <a:latin typeface="Calibri" pitchFamily="34" charset="0"/>
                <a:ea typeface="Calibri" pitchFamily="34" charset="-122"/>
                <a:cs typeface="Calibri" pitchFamily="34" charset="-120"/>
              </a:rPr>
              <a:t>Hotfixes only in emergencies</a:t>
            </a:r>
            <a:endParaRPr lang="en-US" sz="950" dirty="0"/>
          </a:p>
        </p:txBody>
      </p:sp>
      <p:sp>
        <p:nvSpPr>
          <p:cNvPr id="34" name="Shape 31"/>
          <p:cNvSpPr/>
          <p:nvPr/>
        </p:nvSpPr>
        <p:spPr>
          <a:xfrm>
            <a:off x="274320" y="4937760"/>
            <a:ext cx="8595360" cy="164592"/>
          </a:xfrm>
          <a:prstGeom prst="rect">
            <a:avLst/>
          </a:prstGeom>
          <a:solidFill>
            <a:srgbClr val="111111"/>
          </a:solidFill>
          <a:ln/>
        </p:spPr>
      </p:sp>
      <p:sp>
        <p:nvSpPr>
          <p:cNvPr id="35" name="Shape 32"/>
          <p:cNvSpPr/>
          <p:nvPr/>
        </p:nvSpPr>
        <p:spPr>
          <a:xfrm>
            <a:off x="274320" y="4937760"/>
            <a:ext cx="8595360" cy="36576"/>
          </a:xfrm>
          <a:prstGeom prst="rect">
            <a:avLst/>
          </a:prstGeom>
          <a:solidFill>
            <a:srgbClr val="E8670D"/>
          </a:solidFill>
          <a:ln/>
        </p:spPr>
      </p:sp>
      <p:sp>
        <p:nvSpPr>
          <p:cNvPr id="36" name="Text 33"/>
          <p:cNvSpPr/>
          <p:nvPr/>
        </p:nvSpPr>
        <p:spPr>
          <a:xfrm>
            <a:off x="320040" y="4946904"/>
            <a:ext cx="8503920" cy="146304"/>
          </a:xfrm>
          <a:prstGeom prst="rect">
            <a:avLst/>
          </a:prstGeom>
          <a:noFill/>
          <a:ln/>
        </p:spPr>
        <p:txBody>
          <a:bodyPr wrap="square" rtlCol="0" anchor="ctr"/>
          <a:lstStyle/>
          <a:p>
            <a:pPr marL="0" indent="0">
              <a:buNone/>
            </a:pPr>
            <a:r>
              <a:rPr lang="en-US" sz="900" i="1" dirty="0">
                <a:solidFill>
                  <a:srgbClr val="E8670D"/>
                </a:solidFill>
                <a:latin typeface="Calibri" pitchFamily="34" charset="0"/>
                <a:ea typeface="Calibri" pitchFamily="34" charset="-122"/>
                <a:cs typeface="Calibri" pitchFamily="34" charset="-120"/>
              </a:rPr>
              <a:t>⚠️  Golden Rule: Run Selenium/Playwright suites in QA. A bug verified in QA must go through a proper release process before production.</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3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08</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Hands-On Practice</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Apply what you've learned with a real mini project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Mini Project: Test the Login System</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Your first real testing exercise — think like a tester!</a:t>
            </a:r>
            <a:endParaRPr lang="en-US" sz="1200" dirty="0"/>
          </a:p>
        </p:txBody>
      </p:sp>
      <p:sp>
        <p:nvSpPr>
          <p:cNvPr id="6" name="Shape 3"/>
          <p:cNvSpPr/>
          <p:nvPr/>
        </p:nvSpPr>
        <p:spPr>
          <a:xfrm>
            <a:off x="274320" y="1024128"/>
            <a:ext cx="8595360" cy="658368"/>
          </a:xfrm>
          <a:prstGeom prst="rect">
            <a:avLst/>
          </a:prstGeom>
          <a:solidFill>
            <a:srgbClr val="111111"/>
          </a:solidFill>
          <a:ln/>
          <a:effectLst>
            <a:outerShdw blurRad="127000" dist="38100" dir="8100000" algn="bl" rotWithShape="0">
              <a:srgbClr val="000000">
                <a:alpha val="25000"/>
              </a:srgbClr>
            </a:outerShdw>
          </a:effectLst>
        </p:spPr>
      </p:sp>
      <p:sp>
        <p:nvSpPr>
          <p:cNvPr id="7" name="Shape 4"/>
          <p:cNvSpPr/>
          <p:nvPr/>
        </p:nvSpPr>
        <p:spPr>
          <a:xfrm>
            <a:off x="274320" y="1024128"/>
            <a:ext cx="8595360" cy="64008"/>
          </a:xfrm>
          <a:prstGeom prst="rect">
            <a:avLst/>
          </a:prstGeom>
          <a:solidFill>
            <a:srgbClr val="E8670D"/>
          </a:solidFill>
          <a:ln/>
        </p:spPr>
      </p:sp>
      <p:sp>
        <p:nvSpPr>
          <p:cNvPr id="8" name="Text 5"/>
          <p:cNvSpPr/>
          <p:nvPr/>
        </p:nvSpPr>
        <p:spPr>
          <a:xfrm>
            <a:off x="457200" y="1078992"/>
            <a:ext cx="8229600" cy="5486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SCENARIO:  You are the QA tester for a web application. Test the Login and Registration module. The test URL will be provided by your trainer.</a:t>
            </a:r>
            <a:endParaRPr lang="en-US" sz="1200" dirty="0"/>
          </a:p>
        </p:txBody>
      </p:sp>
      <p:sp>
        <p:nvSpPr>
          <p:cNvPr id="9" name="Shape 6"/>
          <p:cNvSpPr/>
          <p:nvPr/>
        </p:nvSpPr>
        <p:spPr>
          <a:xfrm>
            <a:off x="274320" y="1828800"/>
            <a:ext cx="2651760" cy="2999232"/>
          </a:xfrm>
          <a:prstGeom prst="rect">
            <a:avLst/>
          </a:prstGeom>
          <a:solidFill>
            <a:srgbClr val="FFFFFF"/>
          </a:solidFill>
          <a:ln/>
          <a:effectLst>
            <a:outerShdw blurRad="127000" dist="38100" dir="8100000" algn="bl" rotWithShape="0">
              <a:srgbClr val="000000">
                <a:alpha val="25000"/>
              </a:srgbClr>
            </a:outerShdw>
          </a:effectLst>
        </p:spPr>
      </p:sp>
      <p:sp>
        <p:nvSpPr>
          <p:cNvPr id="10" name="Shape 7"/>
          <p:cNvSpPr/>
          <p:nvPr/>
        </p:nvSpPr>
        <p:spPr>
          <a:xfrm>
            <a:off x="274320" y="1828800"/>
            <a:ext cx="2651760" cy="347472"/>
          </a:xfrm>
          <a:prstGeom prst="rect">
            <a:avLst/>
          </a:prstGeom>
          <a:solidFill>
            <a:srgbClr val="E8670D"/>
          </a:solidFill>
          <a:ln/>
        </p:spPr>
      </p:sp>
      <p:sp>
        <p:nvSpPr>
          <p:cNvPr id="11" name="Text 8"/>
          <p:cNvSpPr/>
          <p:nvPr/>
        </p:nvSpPr>
        <p:spPr>
          <a:xfrm>
            <a:off x="384048" y="1865376"/>
            <a:ext cx="243230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Task 1: Write Test Cases</a:t>
            </a:r>
            <a:endParaRPr lang="en-US" sz="1150" dirty="0"/>
          </a:p>
        </p:txBody>
      </p:sp>
      <p:sp>
        <p:nvSpPr>
          <p:cNvPr id="12" name="Text 9"/>
          <p:cNvSpPr/>
          <p:nvPr/>
        </p:nvSpPr>
        <p:spPr>
          <a:xfrm>
            <a:off x="411480" y="2231136"/>
            <a:ext cx="2377440" cy="252374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Write at least 8 test cases for the login page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Include 4 positive and 4 negative scenarios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Use the full test case template (all fields)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Cover: valid login, wrong password, empty fields, special characters, locked account</a:t>
            </a:r>
            <a:endParaRPr lang="en-US" sz="1050" dirty="0"/>
          </a:p>
        </p:txBody>
      </p:sp>
      <p:sp>
        <p:nvSpPr>
          <p:cNvPr id="13" name="Shape 10"/>
          <p:cNvSpPr/>
          <p:nvPr/>
        </p:nvSpPr>
        <p:spPr>
          <a:xfrm>
            <a:off x="3127248" y="1828800"/>
            <a:ext cx="2743200" cy="2999232"/>
          </a:xfrm>
          <a:prstGeom prst="rect">
            <a:avLst/>
          </a:prstGeom>
          <a:solidFill>
            <a:srgbClr val="FFFFFF"/>
          </a:solidFill>
          <a:ln/>
          <a:effectLst>
            <a:outerShdw blurRad="127000" dist="38100" dir="8100000" algn="bl" rotWithShape="0">
              <a:srgbClr val="000000">
                <a:alpha val="25000"/>
              </a:srgbClr>
            </a:outerShdw>
          </a:effectLst>
        </p:spPr>
      </p:sp>
      <p:sp>
        <p:nvSpPr>
          <p:cNvPr id="14" name="Shape 11"/>
          <p:cNvSpPr/>
          <p:nvPr/>
        </p:nvSpPr>
        <p:spPr>
          <a:xfrm>
            <a:off x="3127248" y="1828800"/>
            <a:ext cx="2743200" cy="347472"/>
          </a:xfrm>
          <a:prstGeom prst="rect">
            <a:avLst/>
          </a:prstGeom>
          <a:solidFill>
            <a:srgbClr val="1E1E1E"/>
          </a:solidFill>
          <a:ln/>
        </p:spPr>
      </p:sp>
      <p:sp>
        <p:nvSpPr>
          <p:cNvPr id="15" name="Text 12"/>
          <p:cNvSpPr/>
          <p:nvPr/>
        </p:nvSpPr>
        <p:spPr>
          <a:xfrm>
            <a:off x="3236976" y="1865376"/>
            <a:ext cx="2523744"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Task 2: Execute Tests</a:t>
            </a:r>
            <a:endParaRPr lang="en-US" sz="1150" dirty="0"/>
          </a:p>
        </p:txBody>
      </p:sp>
      <p:sp>
        <p:nvSpPr>
          <p:cNvPr id="16" name="Text 13"/>
          <p:cNvSpPr/>
          <p:nvPr/>
        </p:nvSpPr>
        <p:spPr>
          <a:xfrm>
            <a:off x="3264408" y="2231136"/>
            <a:ext cx="2468880" cy="252374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Execute each test case manually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Record PASS / FAIL / BLOCKED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Note the actual result for each test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Take screenshots of any failures</a:t>
            </a:r>
            <a:endParaRPr lang="en-US" sz="1050" dirty="0"/>
          </a:p>
        </p:txBody>
      </p:sp>
      <p:sp>
        <p:nvSpPr>
          <p:cNvPr id="17" name="Shape 14"/>
          <p:cNvSpPr/>
          <p:nvPr/>
        </p:nvSpPr>
        <p:spPr>
          <a:xfrm>
            <a:off x="6053328" y="1828800"/>
            <a:ext cx="2816352" cy="2999232"/>
          </a:xfrm>
          <a:prstGeom prst="rect">
            <a:avLst/>
          </a:prstGeom>
          <a:solidFill>
            <a:srgbClr val="FFFFFF"/>
          </a:solidFill>
          <a:ln/>
          <a:effectLst>
            <a:outerShdw blurRad="127000" dist="38100" dir="8100000" algn="bl" rotWithShape="0">
              <a:srgbClr val="000000">
                <a:alpha val="25000"/>
              </a:srgbClr>
            </a:outerShdw>
          </a:effectLst>
        </p:spPr>
      </p:sp>
      <p:sp>
        <p:nvSpPr>
          <p:cNvPr id="18" name="Shape 15"/>
          <p:cNvSpPr/>
          <p:nvPr/>
        </p:nvSpPr>
        <p:spPr>
          <a:xfrm>
            <a:off x="6053328" y="1828800"/>
            <a:ext cx="2816352" cy="347472"/>
          </a:xfrm>
          <a:prstGeom prst="rect">
            <a:avLst/>
          </a:prstGeom>
          <a:solidFill>
            <a:srgbClr val="555555"/>
          </a:solidFill>
          <a:ln/>
        </p:spPr>
      </p:sp>
      <p:sp>
        <p:nvSpPr>
          <p:cNvPr id="19" name="Text 16"/>
          <p:cNvSpPr/>
          <p:nvPr/>
        </p:nvSpPr>
        <p:spPr>
          <a:xfrm>
            <a:off x="6163056" y="1865376"/>
            <a:ext cx="2596896"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Task 3: Log Defects</a:t>
            </a:r>
            <a:endParaRPr lang="en-US" sz="1150" dirty="0"/>
          </a:p>
        </p:txBody>
      </p:sp>
      <p:sp>
        <p:nvSpPr>
          <p:cNvPr id="20" name="Text 17"/>
          <p:cNvSpPr/>
          <p:nvPr/>
        </p:nvSpPr>
        <p:spPr>
          <a:xfrm>
            <a:off x="6190488" y="2231136"/>
            <a:ext cx="2542032" cy="252374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For every FAIL, raise a formal bug report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Use the Lubanzi bug report template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Set correct Severity and Priority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Include steps to reproduce + screenshot</a:t>
            </a:r>
            <a:endParaRPr lang="en-US" sz="1050" dirty="0"/>
          </a:p>
        </p:txBody>
      </p:sp>
      <p:sp>
        <p:nvSpPr>
          <p:cNvPr id="21" name="Shape 18"/>
          <p:cNvSpPr/>
          <p:nvPr/>
        </p:nvSpPr>
        <p:spPr>
          <a:xfrm>
            <a:off x="274320" y="4919472"/>
            <a:ext cx="8595360" cy="182880"/>
          </a:xfrm>
          <a:prstGeom prst="rect">
            <a:avLst/>
          </a:prstGeom>
          <a:solidFill>
            <a:srgbClr val="FFF0E6"/>
          </a:solidFill>
          <a:ln/>
        </p:spPr>
      </p:sp>
      <p:sp>
        <p:nvSpPr>
          <p:cNvPr id="22" name="Shape 19"/>
          <p:cNvSpPr/>
          <p:nvPr/>
        </p:nvSpPr>
        <p:spPr>
          <a:xfrm>
            <a:off x="274320" y="4919472"/>
            <a:ext cx="82296" cy="182880"/>
          </a:xfrm>
          <a:prstGeom prst="rect">
            <a:avLst/>
          </a:prstGeom>
          <a:solidFill>
            <a:srgbClr val="E8670D"/>
          </a:solidFill>
          <a:ln/>
        </p:spPr>
      </p:sp>
      <p:sp>
        <p:nvSpPr>
          <p:cNvPr id="23" name="Text 20"/>
          <p:cNvSpPr/>
          <p:nvPr/>
        </p:nvSpPr>
        <p:spPr>
          <a:xfrm>
            <a:off x="411480" y="4919472"/>
            <a:ext cx="8321040" cy="164592"/>
          </a:xfrm>
          <a:prstGeom prst="rect">
            <a:avLst/>
          </a:prstGeom>
          <a:noFill/>
          <a:ln/>
        </p:spPr>
        <p:txBody>
          <a:bodyPr wrap="square" rtlCol="0" anchor="ctr"/>
          <a:lstStyle/>
          <a:p>
            <a:pPr marL="0" indent="0">
              <a:buNone/>
            </a:pPr>
            <a:r>
              <a:rPr lang="en-US" sz="950" i="1" dirty="0">
                <a:solidFill>
                  <a:srgbClr val="B54D00"/>
                </a:solidFill>
                <a:latin typeface="Calibri" pitchFamily="34" charset="0"/>
                <a:ea typeface="Calibri" pitchFamily="34" charset="-122"/>
                <a:cs typeface="Calibri" pitchFamily="34" charset="-120"/>
              </a:rPr>
              <a:t>⏱  Time: 30 minutes  |  Work individually or in pairs  |  </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09</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Tools Overview</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The tools we use at Lubanzi every day</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Automation Tools: Selenium &amp; Playwright</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The two primary automation frameworks used at Lubanzi</a:t>
            </a:r>
            <a:endParaRPr lang="en-US" sz="1200" dirty="0"/>
          </a:p>
        </p:txBody>
      </p:sp>
      <p:sp>
        <p:nvSpPr>
          <p:cNvPr id="6" name="Shape 3"/>
          <p:cNvSpPr/>
          <p:nvPr/>
        </p:nvSpPr>
        <p:spPr>
          <a:xfrm>
            <a:off x="274320" y="1024128"/>
            <a:ext cx="8595360" cy="1938528"/>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74320" y="1024128"/>
            <a:ext cx="164592" cy="1938528"/>
          </a:xfrm>
          <a:prstGeom prst="rect">
            <a:avLst/>
          </a:prstGeom>
          <a:solidFill>
            <a:srgbClr val="E8670D"/>
          </a:solidFill>
          <a:ln/>
        </p:spPr>
      </p:sp>
      <p:sp>
        <p:nvSpPr>
          <p:cNvPr id="8" name="Text 5"/>
          <p:cNvSpPr/>
          <p:nvPr/>
        </p:nvSpPr>
        <p:spPr>
          <a:xfrm>
            <a:off x="548640" y="1078992"/>
            <a:ext cx="8229600" cy="402336"/>
          </a:xfrm>
          <a:prstGeom prst="rect">
            <a:avLst/>
          </a:prstGeom>
          <a:noFill/>
          <a:ln/>
        </p:spPr>
        <p:txBody>
          <a:bodyPr wrap="square" rtlCol="0" anchor="ctr"/>
          <a:lstStyle/>
          <a:p>
            <a:pPr marL="0" indent="0">
              <a:buNone/>
            </a:pPr>
            <a:r>
              <a:rPr lang="en-US" sz="1600" b="1" dirty="0">
                <a:solidFill>
                  <a:srgbClr val="E8670D"/>
                </a:solidFill>
                <a:latin typeface="Calibri" pitchFamily="34" charset="0"/>
                <a:ea typeface="Calibri" pitchFamily="34" charset="-122"/>
                <a:cs typeface="Calibri" pitchFamily="34" charset="-120"/>
              </a:rPr>
              <a:t>🤖  Selenium — Web Browser Automation</a:t>
            </a:r>
            <a:endParaRPr lang="en-US" sz="1600" dirty="0"/>
          </a:p>
        </p:txBody>
      </p:sp>
      <p:sp>
        <p:nvSpPr>
          <p:cNvPr id="9" name="Text 6"/>
          <p:cNvSpPr/>
          <p:nvPr/>
        </p:nvSpPr>
        <p:spPr>
          <a:xfrm>
            <a:off x="548640" y="1508760"/>
            <a:ext cx="8138160" cy="292608"/>
          </a:xfrm>
          <a:prstGeom prst="rect">
            <a:avLst/>
          </a:prstGeom>
          <a:noFill/>
          <a:ln/>
        </p:spPr>
        <p:txBody>
          <a:bodyPr wrap="square" rtlCol="0" anchor="ctr"/>
          <a:lstStyle/>
          <a:p>
            <a:pPr marL="0" indent="0">
              <a:buNone/>
            </a:pPr>
            <a:r>
              <a:rPr lang="en-US" sz="1150" i="1" dirty="0">
                <a:solidFill>
                  <a:srgbClr val="555555"/>
                </a:solidFill>
                <a:latin typeface="Calibri" pitchFamily="34" charset="0"/>
                <a:ea typeface="Calibri" pitchFamily="34" charset="-122"/>
                <a:cs typeface="Calibri" pitchFamily="34" charset="-120"/>
              </a:rPr>
              <a:t>The industry-standard open-source framework for automating web browser interactions. Widely used in the QA industry.</a:t>
            </a:r>
            <a:endParaRPr lang="en-US" sz="1150" dirty="0"/>
          </a:p>
        </p:txBody>
      </p:sp>
      <p:sp>
        <p:nvSpPr>
          <p:cNvPr id="10" name="Text 7"/>
          <p:cNvSpPr/>
          <p:nvPr/>
        </p:nvSpPr>
        <p:spPr>
          <a:xfrm>
            <a:off x="548640" y="1828800"/>
            <a:ext cx="8138160" cy="1024128"/>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555555"/>
                </a:solidFill>
                <a:latin typeface="Calibri" pitchFamily="34" charset="0"/>
                <a:ea typeface="Calibri" pitchFamily="34" charset="-122"/>
                <a:cs typeface="Calibri" pitchFamily="34" charset="-120"/>
              </a:rPr>
              <a:t>Automates clicking, typing, and navigation in real browsers (Chrome, Firefox, Edge)</a:t>
            </a:r>
            <a:endParaRPr lang="en-US" sz="1100" dirty="0"/>
          </a:p>
          <a:p>
            <a:pPr marL="342900" indent="-342900">
              <a:spcAft>
                <a:spcPts val="300"/>
              </a:spcAft>
              <a:buSzPct val="100000"/>
              <a:buChar char="•"/>
            </a:pPr>
            <a:r>
              <a:rPr lang="en-US" sz="1100" dirty="0">
                <a:solidFill>
                  <a:srgbClr val="555555"/>
                </a:solidFill>
                <a:latin typeface="Calibri" pitchFamily="34" charset="0"/>
                <a:ea typeface="Calibri" pitchFamily="34" charset="-122"/>
                <a:cs typeface="Calibri" pitchFamily="34" charset="-120"/>
              </a:rPr>
              <a:t>Supports Java (Eclipse/IntelliJ), Python, JavaScript, C# — great for regression suites</a:t>
            </a:r>
            <a:endParaRPr lang="en-US" sz="1100" dirty="0"/>
          </a:p>
          <a:p>
            <a:pPr marL="342900" indent="-342900">
              <a:spcAft>
                <a:spcPts val="300"/>
              </a:spcAft>
              <a:buSzPct val="100000"/>
              <a:buChar char="•"/>
            </a:pPr>
            <a:r>
              <a:rPr lang="en-US" sz="1100" dirty="0">
                <a:solidFill>
                  <a:srgbClr val="555555"/>
                </a:solidFill>
                <a:latin typeface="Calibri" pitchFamily="34" charset="0"/>
                <a:ea typeface="Calibri" pitchFamily="34" charset="-122"/>
                <a:cs typeface="Calibri" pitchFamily="34" charset="-120"/>
              </a:rPr>
              <a:t>Works with TestNG and JUnit frameworks for structured test execution</a:t>
            </a:r>
            <a:endParaRPr lang="en-US" sz="1100" dirty="0"/>
          </a:p>
        </p:txBody>
      </p:sp>
      <p:sp>
        <p:nvSpPr>
          <p:cNvPr id="11" name="Shape 8"/>
          <p:cNvSpPr/>
          <p:nvPr/>
        </p:nvSpPr>
        <p:spPr>
          <a:xfrm>
            <a:off x="274320" y="3090672"/>
            <a:ext cx="8595360" cy="1938528"/>
          </a:xfrm>
          <a:prstGeom prst="rect">
            <a:avLst/>
          </a:prstGeom>
          <a:solidFill>
            <a:srgbClr val="FFFFFF"/>
          </a:solidFill>
          <a:ln/>
          <a:effectLst>
            <a:outerShdw blurRad="127000" dist="38100" dir="8100000" algn="bl" rotWithShape="0">
              <a:srgbClr val="000000">
                <a:alpha val="25000"/>
              </a:srgbClr>
            </a:outerShdw>
          </a:effectLst>
        </p:spPr>
      </p:sp>
      <p:sp>
        <p:nvSpPr>
          <p:cNvPr id="12" name="Shape 9"/>
          <p:cNvSpPr/>
          <p:nvPr/>
        </p:nvSpPr>
        <p:spPr>
          <a:xfrm>
            <a:off x="274320" y="3090672"/>
            <a:ext cx="164592" cy="1938528"/>
          </a:xfrm>
          <a:prstGeom prst="rect">
            <a:avLst/>
          </a:prstGeom>
          <a:solidFill>
            <a:srgbClr val="1E1E1E"/>
          </a:solidFill>
          <a:ln/>
        </p:spPr>
      </p:sp>
      <p:sp>
        <p:nvSpPr>
          <p:cNvPr id="13" name="Text 10"/>
          <p:cNvSpPr/>
          <p:nvPr/>
        </p:nvSpPr>
        <p:spPr>
          <a:xfrm>
            <a:off x="548640" y="3145536"/>
            <a:ext cx="8229600" cy="402336"/>
          </a:xfrm>
          <a:prstGeom prst="rect">
            <a:avLst/>
          </a:prstGeom>
          <a:noFill/>
          <a:ln/>
        </p:spPr>
        <p:txBody>
          <a:bodyPr wrap="square" rtlCol="0" anchor="ctr"/>
          <a:lstStyle/>
          <a:p>
            <a:pPr marL="0" indent="0">
              <a:buNone/>
            </a:pPr>
            <a:r>
              <a:rPr lang="en-US" sz="1600" b="1" dirty="0">
                <a:solidFill>
                  <a:srgbClr val="1E1E1E"/>
                </a:solidFill>
                <a:latin typeface="Calibri" pitchFamily="34" charset="0"/>
                <a:ea typeface="Calibri" pitchFamily="34" charset="-122"/>
                <a:cs typeface="Calibri" pitchFamily="34" charset="-120"/>
              </a:rPr>
              <a:t>🎭  Playwright — Modern Cross-Browser Automation</a:t>
            </a:r>
            <a:endParaRPr lang="en-US" sz="1600" dirty="0"/>
          </a:p>
        </p:txBody>
      </p:sp>
      <p:sp>
        <p:nvSpPr>
          <p:cNvPr id="14" name="Text 11"/>
          <p:cNvSpPr/>
          <p:nvPr/>
        </p:nvSpPr>
        <p:spPr>
          <a:xfrm>
            <a:off x="548640" y="3566160"/>
            <a:ext cx="8138160" cy="292608"/>
          </a:xfrm>
          <a:prstGeom prst="rect">
            <a:avLst/>
          </a:prstGeom>
          <a:noFill/>
          <a:ln/>
        </p:spPr>
        <p:txBody>
          <a:bodyPr wrap="square" rtlCol="0" anchor="ctr"/>
          <a:lstStyle/>
          <a:p>
            <a:pPr marL="0" indent="0">
              <a:buNone/>
            </a:pPr>
            <a:r>
              <a:rPr lang="en-US" sz="1150" i="1" dirty="0">
                <a:solidFill>
                  <a:srgbClr val="555555"/>
                </a:solidFill>
                <a:latin typeface="Calibri" pitchFamily="34" charset="0"/>
                <a:ea typeface="Calibri" pitchFamily="34" charset="-122"/>
                <a:cs typeface="Calibri" pitchFamily="34" charset="-120"/>
              </a:rPr>
              <a:t>Microsoft's modern automation framework. Faster, more reliable, and supports all major browsers out of the box.</a:t>
            </a:r>
            <a:endParaRPr lang="en-US" sz="1150" dirty="0"/>
          </a:p>
        </p:txBody>
      </p:sp>
      <p:sp>
        <p:nvSpPr>
          <p:cNvPr id="15" name="Text 12"/>
          <p:cNvSpPr/>
          <p:nvPr/>
        </p:nvSpPr>
        <p:spPr>
          <a:xfrm>
            <a:off x="548640" y="3895344"/>
            <a:ext cx="8138160" cy="1024128"/>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555555"/>
                </a:solidFill>
                <a:latin typeface="Calibri" pitchFamily="34" charset="0"/>
                <a:ea typeface="Calibri" pitchFamily="34" charset="-122"/>
                <a:cs typeface="Calibri" pitchFamily="34" charset="-120"/>
              </a:rPr>
              <a:t>Supports Chromium, Firefox, and WebKit (Safari) — true cross-browser testing in one tool</a:t>
            </a:r>
            <a:endParaRPr lang="en-US" sz="1100" dirty="0"/>
          </a:p>
          <a:p>
            <a:pPr marL="342900" indent="-342900">
              <a:spcAft>
                <a:spcPts val="300"/>
              </a:spcAft>
              <a:buSzPct val="100000"/>
              <a:buChar char="•"/>
            </a:pPr>
            <a:r>
              <a:rPr lang="en-US" sz="1100" dirty="0">
                <a:solidFill>
                  <a:srgbClr val="555555"/>
                </a:solidFill>
                <a:latin typeface="Calibri" pitchFamily="34" charset="0"/>
                <a:ea typeface="Calibri" pitchFamily="34" charset="-122"/>
                <a:cs typeface="Calibri" pitchFamily="34" charset="-120"/>
              </a:rPr>
              <a:t>Auto-waits for elements — fewer flaky tests. Built-in tracing and screenshot capture</a:t>
            </a:r>
            <a:endParaRPr lang="en-US" sz="1100" dirty="0"/>
          </a:p>
          <a:p>
            <a:pPr marL="342900" indent="-342900">
              <a:spcAft>
                <a:spcPts val="300"/>
              </a:spcAft>
              <a:buSzPct val="100000"/>
              <a:buChar char="•"/>
            </a:pPr>
            <a:r>
              <a:rPr lang="en-US" sz="1100" dirty="0">
                <a:solidFill>
                  <a:srgbClr val="555555"/>
                </a:solidFill>
                <a:latin typeface="Calibri" pitchFamily="34" charset="0"/>
                <a:ea typeface="Calibri" pitchFamily="34" charset="-122"/>
                <a:cs typeface="Calibri" pitchFamily="34" charset="-120"/>
              </a:rPr>
              <a:t>Write tests in JavaScript/TypeScript, Python, Java (IntelliJ), or C# (.NET)</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IDE Tools: Eclipse &amp; IntelliJ</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Your development environment for writing automation code</a:t>
            </a:r>
            <a:endParaRPr lang="en-US" sz="1200" dirty="0"/>
          </a:p>
        </p:txBody>
      </p:sp>
      <p:sp>
        <p:nvSpPr>
          <p:cNvPr id="6" name="Shape 3"/>
          <p:cNvSpPr/>
          <p:nvPr/>
        </p:nvSpPr>
        <p:spPr>
          <a:xfrm>
            <a:off x="274320" y="1024128"/>
            <a:ext cx="4114800" cy="3913632"/>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74320" y="1024128"/>
            <a:ext cx="4114800" cy="475488"/>
          </a:xfrm>
          <a:prstGeom prst="rect">
            <a:avLst/>
          </a:prstGeom>
          <a:solidFill>
            <a:srgbClr val="E8670D"/>
          </a:solidFill>
          <a:ln/>
        </p:spPr>
      </p:sp>
      <p:sp>
        <p:nvSpPr>
          <p:cNvPr id="8" name="Text 5"/>
          <p:cNvSpPr/>
          <p:nvPr/>
        </p:nvSpPr>
        <p:spPr>
          <a:xfrm>
            <a:off x="384048" y="1069848"/>
            <a:ext cx="3913632"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Eclipse IDE</a:t>
            </a:r>
            <a:endParaRPr lang="en-US" sz="1600" dirty="0"/>
          </a:p>
        </p:txBody>
      </p:sp>
      <p:sp>
        <p:nvSpPr>
          <p:cNvPr id="9" name="Text 6"/>
          <p:cNvSpPr/>
          <p:nvPr/>
        </p:nvSpPr>
        <p:spPr>
          <a:xfrm>
            <a:off x="384048" y="1554480"/>
            <a:ext cx="3913632" cy="292608"/>
          </a:xfrm>
          <a:prstGeom prst="rect">
            <a:avLst/>
          </a:prstGeom>
          <a:noFill/>
          <a:ln/>
        </p:spPr>
        <p:txBody>
          <a:bodyPr wrap="square" rtlCol="0" anchor="ctr"/>
          <a:lstStyle/>
          <a:p>
            <a:pPr marL="0" indent="0">
              <a:buNone/>
            </a:pPr>
            <a:r>
              <a:rPr lang="en-US" sz="1100" b="1" i="1" dirty="0">
                <a:solidFill>
                  <a:srgbClr val="E8670D"/>
                </a:solidFill>
                <a:latin typeface="Calibri" pitchFamily="34" charset="0"/>
                <a:ea typeface="Calibri" pitchFamily="34" charset="-122"/>
                <a:cs typeface="Calibri" pitchFamily="34" charset="-120"/>
              </a:rPr>
              <a:t>Free &amp; open-source Java IDE by the Eclipse Foundation</a:t>
            </a:r>
            <a:endParaRPr lang="en-US" sz="1100" dirty="0"/>
          </a:p>
        </p:txBody>
      </p:sp>
      <p:sp>
        <p:nvSpPr>
          <p:cNvPr id="10" name="Text 7"/>
          <p:cNvSpPr/>
          <p:nvPr/>
        </p:nvSpPr>
        <p:spPr>
          <a:xfrm>
            <a:off x="384048" y="1901952"/>
            <a:ext cx="3913632" cy="2962656"/>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Industry standard for Java-based Selenium projects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Excellent Maven and Gradle integration for dependency management</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TestNG plugin for structured test suite organisation</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Built-in debugger to step through automation scripts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Free to use — ideal for learning and intern projects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Large community and extensive plugin ecosystem</a:t>
            </a:r>
            <a:endParaRPr lang="en-US" sz="1100" dirty="0"/>
          </a:p>
        </p:txBody>
      </p:sp>
      <p:sp>
        <p:nvSpPr>
          <p:cNvPr id="11" name="Shape 8"/>
          <p:cNvSpPr/>
          <p:nvPr/>
        </p:nvSpPr>
        <p:spPr>
          <a:xfrm>
            <a:off x="4663440" y="1024128"/>
            <a:ext cx="4206240" cy="3913632"/>
          </a:xfrm>
          <a:prstGeom prst="rect">
            <a:avLst/>
          </a:prstGeom>
          <a:solidFill>
            <a:srgbClr val="FFFFFF"/>
          </a:solidFill>
          <a:ln/>
          <a:effectLst>
            <a:outerShdw blurRad="127000" dist="38100" dir="8100000" algn="bl" rotWithShape="0">
              <a:srgbClr val="000000">
                <a:alpha val="25000"/>
              </a:srgbClr>
            </a:outerShdw>
          </a:effectLst>
        </p:spPr>
      </p:sp>
      <p:sp>
        <p:nvSpPr>
          <p:cNvPr id="12" name="Shape 9"/>
          <p:cNvSpPr/>
          <p:nvPr/>
        </p:nvSpPr>
        <p:spPr>
          <a:xfrm>
            <a:off x="4663440" y="1024128"/>
            <a:ext cx="4206240" cy="475488"/>
          </a:xfrm>
          <a:prstGeom prst="rect">
            <a:avLst/>
          </a:prstGeom>
          <a:solidFill>
            <a:srgbClr val="1E1E1E"/>
          </a:solidFill>
          <a:ln/>
        </p:spPr>
      </p:sp>
      <p:sp>
        <p:nvSpPr>
          <p:cNvPr id="13" name="Text 10"/>
          <p:cNvSpPr/>
          <p:nvPr/>
        </p:nvSpPr>
        <p:spPr>
          <a:xfrm>
            <a:off x="4773168" y="1069848"/>
            <a:ext cx="4005072"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IntelliJ IDEA</a:t>
            </a:r>
            <a:endParaRPr lang="en-US" sz="1600" dirty="0"/>
          </a:p>
        </p:txBody>
      </p:sp>
      <p:sp>
        <p:nvSpPr>
          <p:cNvPr id="14" name="Text 11"/>
          <p:cNvSpPr/>
          <p:nvPr/>
        </p:nvSpPr>
        <p:spPr>
          <a:xfrm>
            <a:off x="4773168" y="1554480"/>
            <a:ext cx="4005072" cy="292608"/>
          </a:xfrm>
          <a:prstGeom prst="rect">
            <a:avLst/>
          </a:prstGeom>
          <a:noFill/>
          <a:ln/>
        </p:spPr>
        <p:txBody>
          <a:bodyPr wrap="square" rtlCol="0" anchor="ctr"/>
          <a:lstStyle/>
          <a:p>
            <a:pPr marL="0" indent="0">
              <a:buNone/>
            </a:pPr>
            <a:r>
              <a:rPr lang="en-US" sz="1100" b="1" i="1" dirty="0">
                <a:solidFill>
                  <a:srgbClr val="E8670D"/>
                </a:solidFill>
                <a:latin typeface="Calibri" pitchFamily="34" charset="0"/>
                <a:ea typeface="Calibri" pitchFamily="34" charset="-122"/>
                <a:cs typeface="Calibri" pitchFamily="34" charset="-120"/>
              </a:rPr>
              <a:t>Smart Java IDE by JetBrains — Community edition is free</a:t>
            </a:r>
            <a:endParaRPr lang="en-US" sz="1100" dirty="0"/>
          </a:p>
        </p:txBody>
      </p:sp>
      <p:sp>
        <p:nvSpPr>
          <p:cNvPr id="15" name="Text 12"/>
          <p:cNvSpPr/>
          <p:nvPr/>
        </p:nvSpPr>
        <p:spPr>
          <a:xfrm>
            <a:off x="4773168" y="1901952"/>
            <a:ext cx="4005072" cy="2962656"/>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Excellent Playwright Java and Selenium support out of the box</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Superior code completion and intelligent refactoring</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Integrated test runner for TestNG/JUnit with rich output</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Built-in Git integration for version control</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Community edition is free — Ultimate adds advanced features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Preferred by many professional teams for productivity</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6858000" y="0"/>
            <a:ext cx="2286000" cy="73152"/>
          </a:xfrm>
          <a:prstGeom prst="rect">
            <a:avLst/>
          </a:prstGeom>
          <a:solidFill>
            <a:srgbClr val="E8670D"/>
          </a:solidFill>
          <a:ln/>
        </p:spPr>
      </p:sp>
      <p:sp>
        <p:nvSpPr>
          <p:cNvPr id="4" name="Text 2"/>
          <p:cNvSpPr/>
          <p:nvPr/>
        </p:nvSpPr>
        <p:spPr>
          <a:xfrm>
            <a:off x="457200" y="1280160"/>
            <a:ext cx="8229600" cy="384048"/>
          </a:xfrm>
          <a:prstGeom prst="rect">
            <a:avLst/>
          </a:prstGeom>
          <a:noFill/>
          <a:ln/>
        </p:spPr>
        <p:txBody>
          <a:bodyPr wrap="square" rtlCol="0" anchor="ctr"/>
          <a:lstStyle/>
          <a:p>
            <a:pPr marL="0" indent="0">
              <a:buNone/>
            </a:pPr>
            <a:r>
              <a:rPr lang="en-US" sz="1150" b="1" kern="0" spc="400" dirty="0">
                <a:solidFill>
                  <a:srgbClr val="E8670D"/>
                </a:solidFill>
                <a:latin typeface="Calibri" pitchFamily="34" charset="0"/>
                <a:ea typeface="Calibri" pitchFamily="34" charset="-122"/>
                <a:cs typeface="Calibri" pitchFamily="34" charset="-120"/>
              </a:rPr>
              <a:t>SECTION 10</a:t>
            </a:r>
            <a:endParaRPr lang="en-US" sz="1150" dirty="0"/>
          </a:p>
        </p:txBody>
      </p:sp>
      <p:sp>
        <p:nvSpPr>
          <p:cNvPr id="5" name="Text 3"/>
          <p:cNvSpPr/>
          <p:nvPr/>
        </p:nvSpPr>
        <p:spPr>
          <a:xfrm>
            <a:off x="457200" y="1719072"/>
            <a:ext cx="7772400" cy="11887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The Tester Mindset</a:t>
            </a:r>
            <a:endParaRPr lang="en-US" sz="3400" dirty="0"/>
          </a:p>
        </p:txBody>
      </p:sp>
      <p:sp>
        <p:nvSpPr>
          <p:cNvPr id="6" name="Text 4"/>
          <p:cNvSpPr/>
          <p:nvPr/>
        </p:nvSpPr>
        <p:spPr>
          <a:xfrm>
            <a:off x="457200" y="2999232"/>
            <a:ext cx="7772400" cy="548640"/>
          </a:xfrm>
          <a:prstGeom prst="rect">
            <a:avLst/>
          </a:prstGeom>
          <a:noFill/>
          <a:ln/>
        </p:spPr>
        <p:txBody>
          <a:bodyPr wrap="square" rtlCol="0" anchor="ctr"/>
          <a:lstStyle/>
          <a:p>
            <a:pPr marL="0" indent="0">
              <a:buNone/>
            </a:pPr>
            <a:r>
              <a:rPr lang="en-US" sz="1400" dirty="0">
                <a:solidFill>
                  <a:srgbClr val="BBBBBB"/>
                </a:solidFill>
                <a:latin typeface="Calibri" pitchFamily="34" charset="0"/>
                <a:ea typeface="Calibri" pitchFamily="34" charset="-122"/>
                <a:cs typeface="Calibri" pitchFamily="34" charset="-120"/>
              </a:rPr>
              <a:t>The habits and attitudes that make a great QA engineer</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The QA Tester's Mindset</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Skills and habits that separate good testers from great ones</a:t>
            </a:r>
            <a:endParaRPr lang="en-US" sz="1200" dirty="0"/>
          </a:p>
        </p:txBody>
      </p:sp>
      <p:sp>
        <p:nvSpPr>
          <p:cNvPr id="6" name="Shape 3"/>
          <p:cNvSpPr/>
          <p:nvPr/>
        </p:nvSpPr>
        <p:spPr>
          <a:xfrm>
            <a:off x="274320" y="1078992"/>
            <a:ext cx="2743200" cy="1536192"/>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74320" y="1078992"/>
            <a:ext cx="2743200" cy="530352"/>
          </a:xfrm>
          <a:prstGeom prst="rect">
            <a:avLst/>
          </a:prstGeom>
          <a:solidFill>
            <a:srgbClr val="E8670D"/>
          </a:solidFill>
          <a:ln/>
        </p:spPr>
      </p:sp>
      <p:sp>
        <p:nvSpPr>
          <p:cNvPr id="8" name="Text 5"/>
          <p:cNvSpPr/>
          <p:nvPr/>
        </p:nvSpPr>
        <p:spPr>
          <a:xfrm>
            <a:off x="274320" y="1115568"/>
            <a:ext cx="64008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9" name="Text 6"/>
          <p:cNvSpPr/>
          <p:nvPr/>
        </p:nvSpPr>
        <p:spPr>
          <a:xfrm>
            <a:off x="896112" y="1170432"/>
            <a:ext cx="2084832"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Curiosity</a:t>
            </a:r>
            <a:endParaRPr lang="en-US" sz="1300" dirty="0"/>
          </a:p>
        </p:txBody>
      </p:sp>
      <p:sp>
        <p:nvSpPr>
          <p:cNvPr id="10" name="Text 7"/>
          <p:cNvSpPr/>
          <p:nvPr/>
        </p:nvSpPr>
        <p:spPr>
          <a:xfrm>
            <a:off x="365760" y="1673352"/>
            <a:ext cx="2578608" cy="896112"/>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Always ask 'What if?' and 'What happens when?' Challenge every assumption.</a:t>
            </a:r>
            <a:endParaRPr lang="en-US" sz="1100" dirty="0"/>
          </a:p>
        </p:txBody>
      </p:sp>
      <p:sp>
        <p:nvSpPr>
          <p:cNvPr id="11" name="Shape 8"/>
          <p:cNvSpPr/>
          <p:nvPr/>
        </p:nvSpPr>
        <p:spPr>
          <a:xfrm>
            <a:off x="3182112" y="1078992"/>
            <a:ext cx="2743200" cy="1536192"/>
          </a:xfrm>
          <a:prstGeom prst="rect">
            <a:avLst/>
          </a:prstGeom>
          <a:solidFill>
            <a:srgbClr val="FFFFFF"/>
          </a:solidFill>
          <a:ln/>
          <a:effectLst>
            <a:outerShdw blurRad="127000" dist="38100" dir="8100000" algn="bl" rotWithShape="0">
              <a:srgbClr val="000000">
                <a:alpha val="25000"/>
              </a:srgbClr>
            </a:outerShdw>
          </a:effectLst>
        </p:spPr>
      </p:sp>
      <p:sp>
        <p:nvSpPr>
          <p:cNvPr id="12" name="Shape 9"/>
          <p:cNvSpPr/>
          <p:nvPr/>
        </p:nvSpPr>
        <p:spPr>
          <a:xfrm>
            <a:off x="3182112" y="1078992"/>
            <a:ext cx="2743200" cy="530352"/>
          </a:xfrm>
          <a:prstGeom prst="rect">
            <a:avLst/>
          </a:prstGeom>
          <a:solidFill>
            <a:srgbClr val="1E1E1E"/>
          </a:solidFill>
          <a:ln/>
        </p:spPr>
      </p:sp>
      <p:sp>
        <p:nvSpPr>
          <p:cNvPr id="13" name="Text 10"/>
          <p:cNvSpPr/>
          <p:nvPr/>
        </p:nvSpPr>
        <p:spPr>
          <a:xfrm>
            <a:off x="3182112" y="1115568"/>
            <a:ext cx="64008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4" name="Text 11"/>
          <p:cNvSpPr/>
          <p:nvPr/>
        </p:nvSpPr>
        <p:spPr>
          <a:xfrm>
            <a:off x="3803904" y="1170432"/>
            <a:ext cx="2084832"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Critical Thinking</a:t>
            </a:r>
            <a:endParaRPr lang="en-US" sz="1300" dirty="0"/>
          </a:p>
        </p:txBody>
      </p:sp>
      <p:sp>
        <p:nvSpPr>
          <p:cNvPr id="15" name="Text 12"/>
          <p:cNvSpPr/>
          <p:nvPr/>
        </p:nvSpPr>
        <p:spPr>
          <a:xfrm>
            <a:off x="3273552" y="1673352"/>
            <a:ext cx="2578608" cy="896112"/>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Think like a user AND an attacker. How would someone misuse this feature?</a:t>
            </a:r>
            <a:endParaRPr lang="en-US" sz="1100" dirty="0"/>
          </a:p>
        </p:txBody>
      </p:sp>
      <p:sp>
        <p:nvSpPr>
          <p:cNvPr id="16" name="Shape 13"/>
          <p:cNvSpPr/>
          <p:nvPr/>
        </p:nvSpPr>
        <p:spPr>
          <a:xfrm>
            <a:off x="6089904" y="1078992"/>
            <a:ext cx="2743200" cy="1536192"/>
          </a:xfrm>
          <a:prstGeom prst="rect">
            <a:avLst/>
          </a:prstGeom>
          <a:solidFill>
            <a:srgbClr val="FFFFFF"/>
          </a:solidFill>
          <a:ln/>
          <a:effectLst>
            <a:outerShdw blurRad="127000" dist="38100" dir="8100000" algn="bl" rotWithShape="0">
              <a:srgbClr val="000000">
                <a:alpha val="25000"/>
              </a:srgbClr>
            </a:outerShdw>
          </a:effectLst>
        </p:spPr>
      </p:sp>
      <p:sp>
        <p:nvSpPr>
          <p:cNvPr id="17" name="Shape 14"/>
          <p:cNvSpPr/>
          <p:nvPr/>
        </p:nvSpPr>
        <p:spPr>
          <a:xfrm>
            <a:off x="6089904" y="1078992"/>
            <a:ext cx="2743200" cy="530352"/>
          </a:xfrm>
          <a:prstGeom prst="rect">
            <a:avLst/>
          </a:prstGeom>
          <a:solidFill>
            <a:srgbClr val="E8670D"/>
          </a:solidFill>
          <a:ln/>
        </p:spPr>
      </p:sp>
      <p:sp>
        <p:nvSpPr>
          <p:cNvPr id="18" name="Text 15"/>
          <p:cNvSpPr/>
          <p:nvPr/>
        </p:nvSpPr>
        <p:spPr>
          <a:xfrm>
            <a:off x="6089904" y="1115568"/>
            <a:ext cx="64008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9" name="Text 16"/>
          <p:cNvSpPr/>
          <p:nvPr/>
        </p:nvSpPr>
        <p:spPr>
          <a:xfrm>
            <a:off x="6711696" y="1170432"/>
            <a:ext cx="2084832"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Attention to Detail</a:t>
            </a:r>
            <a:endParaRPr lang="en-US" sz="1300" dirty="0"/>
          </a:p>
        </p:txBody>
      </p:sp>
      <p:sp>
        <p:nvSpPr>
          <p:cNvPr id="20" name="Text 17"/>
          <p:cNvSpPr/>
          <p:nvPr/>
        </p:nvSpPr>
        <p:spPr>
          <a:xfrm>
            <a:off x="6181344" y="1673352"/>
            <a:ext cx="2578608" cy="896112"/>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Notice what others miss. One wrong decimal can cause a banking disaster.</a:t>
            </a:r>
            <a:endParaRPr lang="en-US" sz="1100" dirty="0"/>
          </a:p>
        </p:txBody>
      </p:sp>
      <p:sp>
        <p:nvSpPr>
          <p:cNvPr id="21" name="Shape 18"/>
          <p:cNvSpPr/>
          <p:nvPr/>
        </p:nvSpPr>
        <p:spPr>
          <a:xfrm>
            <a:off x="274320" y="2770632"/>
            <a:ext cx="2743200" cy="1536192"/>
          </a:xfrm>
          <a:prstGeom prst="rect">
            <a:avLst/>
          </a:prstGeom>
          <a:solidFill>
            <a:srgbClr val="FFFFFF"/>
          </a:solidFill>
          <a:ln/>
          <a:effectLst>
            <a:outerShdw blurRad="127000" dist="38100" dir="8100000" algn="bl" rotWithShape="0">
              <a:srgbClr val="000000">
                <a:alpha val="25000"/>
              </a:srgbClr>
            </a:outerShdw>
          </a:effectLst>
        </p:spPr>
      </p:sp>
      <p:sp>
        <p:nvSpPr>
          <p:cNvPr id="22" name="Shape 19"/>
          <p:cNvSpPr/>
          <p:nvPr/>
        </p:nvSpPr>
        <p:spPr>
          <a:xfrm>
            <a:off x="274320" y="2770632"/>
            <a:ext cx="2743200" cy="530352"/>
          </a:xfrm>
          <a:prstGeom prst="rect">
            <a:avLst/>
          </a:prstGeom>
          <a:solidFill>
            <a:srgbClr val="E8670D"/>
          </a:solidFill>
          <a:ln/>
        </p:spPr>
      </p:sp>
      <p:sp>
        <p:nvSpPr>
          <p:cNvPr id="23" name="Text 20"/>
          <p:cNvSpPr/>
          <p:nvPr/>
        </p:nvSpPr>
        <p:spPr>
          <a:xfrm>
            <a:off x="274320" y="2807208"/>
            <a:ext cx="64008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4" name="Text 21"/>
          <p:cNvSpPr/>
          <p:nvPr/>
        </p:nvSpPr>
        <p:spPr>
          <a:xfrm>
            <a:off x="896112" y="2862072"/>
            <a:ext cx="2084832"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Communication</a:t>
            </a:r>
            <a:endParaRPr lang="en-US" sz="1300" dirty="0"/>
          </a:p>
        </p:txBody>
      </p:sp>
      <p:sp>
        <p:nvSpPr>
          <p:cNvPr id="25" name="Text 22"/>
          <p:cNvSpPr/>
          <p:nvPr/>
        </p:nvSpPr>
        <p:spPr>
          <a:xfrm>
            <a:off x="365760" y="3364992"/>
            <a:ext cx="2578608" cy="896112"/>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Write clear bug reports. Communicate findings without blaming developers.</a:t>
            </a:r>
            <a:endParaRPr lang="en-US" sz="1100" dirty="0"/>
          </a:p>
        </p:txBody>
      </p:sp>
      <p:sp>
        <p:nvSpPr>
          <p:cNvPr id="26" name="Shape 23"/>
          <p:cNvSpPr/>
          <p:nvPr/>
        </p:nvSpPr>
        <p:spPr>
          <a:xfrm>
            <a:off x="3182112" y="2770632"/>
            <a:ext cx="2743200" cy="1536192"/>
          </a:xfrm>
          <a:prstGeom prst="rect">
            <a:avLst/>
          </a:prstGeom>
          <a:solidFill>
            <a:srgbClr val="FFFFFF"/>
          </a:solidFill>
          <a:ln/>
          <a:effectLst>
            <a:outerShdw blurRad="127000" dist="38100" dir="8100000" algn="bl" rotWithShape="0">
              <a:srgbClr val="000000">
                <a:alpha val="25000"/>
              </a:srgbClr>
            </a:outerShdw>
          </a:effectLst>
        </p:spPr>
      </p:sp>
      <p:sp>
        <p:nvSpPr>
          <p:cNvPr id="27" name="Shape 24"/>
          <p:cNvSpPr/>
          <p:nvPr/>
        </p:nvSpPr>
        <p:spPr>
          <a:xfrm>
            <a:off x="3182112" y="2770632"/>
            <a:ext cx="2743200" cy="530352"/>
          </a:xfrm>
          <a:prstGeom prst="rect">
            <a:avLst/>
          </a:prstGeom>
          <a:solidFill>
            <a:srgbClr val="1E1E1E"/>
          </a:solidFill>
          <a:ln/>
        </p:spPr>
      </p:sp>
      <p:sp>
        <p:nvSpPr>
          <p:cNvPr id="28" name="Text 25"/>
          <p:cNvSpPr/>
          <p:nvPr/>
        </p:nvSpPr>
        <p:spPr>
          <a:xfrm>
            <a:off x="3182112" y="2807208"/>
            <a:ext cx="64008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9" name="Text 26"/>
          <p:cNvSpPr/>
          <p:nvPr/>
        </p:nvSpPr>
        <p:spPr>
          <a:xfrm>
            <a:off x="3803904" y="2862072"/>
            <a:ext cx="2084832"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Persistence</a:t>
            </a:r>
            <a:endParaRPr lang="en-US" sz="1300" dirty="0"/>
          </a:p>
        </p:txBody>
      </p:sp>
      <p:sp>
        <p:nvSpPr>
          <p:cNvPr id="30" name="Text 27"/>
          <p:cNvSpPr/>
          <p:nvPr/>
        </p:nvSpPr>
        <p:spPr>
          <a:xfrm>
            <a:off x="3273552" y="3364992"/>
            <a:ext cx="2578608" cy="896112"/>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Don't give up after one test. Explore every path, every edge case.</a:t>
            </a:r>
            <a:endParaRPr lang="en-US" sz="1100" dirty="0"/>
          </a:p>
        </p:txBody>
      </p:sp>
      <p:sp>
        <p:nvSpPr>
          <p:cNvPr id="31" name="Shape 28"/>
          <p:cNvSpPr/>
          <p:nvPr/>
        </p:nvSpPr>
        <p:spPr>
          <a:xfrm>
            <a:off x="6089904" y="2770632"/>
            <a:ext cx="2743200" cy="1536192"/>
          </a:xfrm>
          <a:prstGeom prst="rect">
            <a:avLst/>
          </a:prstGeom>
          <a:solidFill>
            <a:srgbClr val="FFFFFF"/>
          </a:solidFill>
          <a:ln/>
          <a:effectLst>
            <a:outerShdw blurRad="127000" dist="38100" dir="8100000" algn="bl" rotWithShape="0">
              <a:srgbClr val="000000">
                <a:alpha val="25000"/>
              </a:srgbClr>
            </a:outerShdw>
          </a:effectLst>
        </p:spPr>
      </p:sp>
      <p:sp>
        <p:nvSpPr>
          <p:cNvPr id="32" name="Shape 29"/>
          <p:cNvSpPr/>
          <p:nvPr/>
        </p:nvSpPr>
        <p:spPr>
          <a:xfrm>
            <a:off x="6089904" y="2770632"/>
            <a:ext cx="2743200" cy="530352"/>
          </a:xfrm>
          <a:prstGeom prst="rect">
            <a:avLst/>
          </a:prstGeom>
          <a:solidFill>
            <a:srgbClr val="E8670D"/>
          </a:solidFill>
          <a:ln/>
        </p:spPr>
      </p:sp>
      <p:sp>
        <p:nvSpPr>
          <p:cNvPr id="33" name="Text 30"/>
          <p:cNvSpPr/>
          <p:nvPr/>
        </p:nvSpPr>
        <p:spPr>
          <a:xfrm>
            <a:off x="6089904" y="2807208"/>
            <a:ext cx="64008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4" name="Text 31"/>
          <p:cNvSpPr/>
          <p:nvPr/>
        </p:nvSpPr>
        <p:spPr>
          <a:xfrm>
            <a:off x="6711696" y="2862072"/>
            <a:ext cx="2084832"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Continuous Learning</a:t>
            </a:r>
            <a:endParaRPr lang="en-US" sz="1300" dirty="0"/>
          </a:p>
        </p:txBody>
      </p:sp>
      <p:sp>
        <p:nvSpPr>
          <p:cNvPr id="35" name="Text 32"/>
          <p:cNvSpPr/>
          <p:nvPr/>
        </p:nvSpPr>
        <p:spPr>
          <a:xfrm>
            <a:off x="6181344" y="3364992"/>
            <a:ext cx="2578608" cy="896112"/>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Tech changes fast — stay updated on Selenium, Playwright and new tools.</a:t>
            </a:r>
            <a:endParaRPr lang="en-US" sz="1100" dirty="0"/>
          </a:p>
        </p:txBody>
      </p:sp>
      <p:sp>
        <p:nvSpPr>
          <p:cNvPr id="36" name="Shape 33"/>
          <p:cNvSpPr/>
          <p:nvPr/>
        </p:nvSpPr>
        <p:spPr>
          <a:xfrm>
            <a:off x="274320" y="4572000"/>
            <a:ext cx="8595360" cy="438912"/>
          </a:xfrm>
          <a:prstGeom prst="rect">
            <a:avLst/>
          </a:prstGeom>
          <a:solidFill>
            <a:srgbClr val="E8670D"/>
          </a:solidFill>
          <a:ln/>
          <a:effectLst>
            <a:outerShdw blurRad="127000" dist="38100" dir="8100000" algn="bl" rotWithShape="0">
              <a:srgbClr val="000000">
                <a:alpha val="25000"/>
              </a:srgbClr>
            </a:outerShdw>
          </a:effectLst>
        </p:spPr>
      </p:sp>
      <p:sp>
        <p:nvSpPr>
          <p:cNvPr id="37" name="Text 34"/>
          <p:cNvSpPr/>
          <p:nvPr/>
        </p:nvSpPr>
        <p:spPr>
          <a:xfrm>
            <a:off x="457200" y="4626864"/>
            <a:ext cx="8229600" cy="329184"/>
          </a:xfrm>
          <a:prstGeom prst="rect">
            <a:avLst/>
          </a:prstGeom>
          <a:noFill/>
          <a:ln/>
        </p:spPr>
        <p:txBody>
          <a:bodyPr wrap="square" rtlCol="0" anchor="ctr"/>
          <a:lstStyle/>
          <a:p>
            <a:pPr marL="0" indent="0" algn="ctr">
              <a:buNone/>
            </a:pPr>
            <a:r>
              <a:rPr lang="en-US" sz="1400" b="1" i="1" dirty="0">
                <a:solidFill>
                  <a:srgbClr val="FFFFFF"/>
                </a:solidFill>
                <a:latin typeface="Calibri" pitchFamily="34" charset="0"/>
                <a:ea typeface="Calibri" pitchFamily="34" charset="-122"/>
                <a:cs typeface="Calibri" pitchFamily="34" charset="-120"/>
              </a:rPr>
              <a:t>"Testing is not about finding bugs — it is about delivering confidence."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Questions Every Good Tester Asks</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Critical thinking in action — real questions for every project</a:t>
            </a:r>
            <a:endParaRPr lang="en-US" sz="1200" dirty="0"/>
          </a:p>
        </p:txBody>
      </p:sp>
      <p:sp>
        <p:nvSpPr>
          <p:cNvPr id="6" name="Shape 3"/>
          <p:cNvSpPr/>
          <p:nvPr/>
        </p:nvSpPr>
        <p:spPr>
          <a:xfrm>
            <a:off x="274320" y="1078992"/>
            <a:ext cx="8595360" cy="384048"/>
          </a:xfrm>
          <a:prstGeom prst="rect">
            <a:avLst/>
          </a:prstGeom>
          <a:solidFill>
            <a:srgbClr val="FFF5EE"/>
          </a:solidFill>
          <a:ln w="6350">
            <a:solidFill>
              <a:srgbClr val="DDCCBB"/>
            </a:solidFill>
            <a:prstDash val="solid"/>
          </a:ln>
        </p:spPr>
      </p:sp>
      <p:sp>
        <p:nvSpPr>
          <p:cNvPr id="7" name="Shape 4"/>
          <p:cNvSpPr/>
          <p:nvPr/>
        </p:nvSpPr>
        <p:spPr>
          <a:xfrm>
            <a:off x="274320" y="1078992"/>
            <a:ext cx="1508760" cy="384048"/>
          </a:xfrm>
          <a:prstGeom prst="rect">
            <a:avLst/>
          </a:prstGeom>
          <a:solidFill>
            <a:srgbClr val="E8670D"/>
          </a:solidFill>
          <a:ln/>
        </p:spPr>
      </p:sp>
      <p:sp>
        <p:nvSpPr>
          <p:cNvPr id="8" name="Text 5"/>
          <p:cNvSpPr/>
          <p:nvPr/>
        </p:nvSpPr>
        <p:spPr>
          <a:xfrm>
            <a:off x="292608" y="1143000"/>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Clarify Scope</a:t>
            </a:r>
            <a:endParaRPr lang="en-US" sz="900" dirty="0"/>
          </a:p>
        </p:txBody>
      </p:sp>
      <p:sp>
        <p:nvSpPr>
          <p:cNvPr id="9" name="Text 6"/>
          <p:cNvSpPr/>
          <p:nvPr/>
        </p:nvSpPr>
        <p:spPr>
          <a:xfrm>
            <a:off x="1874520" y="1143000"/>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What is this feature supposed to do?</a:t>
            </a:r>
            <a:endParaRPr lang="en-US" sz="1100" dirty="0"/>
          </a:p>
        </p:txBody>
      </p:sp>
      <p:sp>
        <p:nvSpPr>
          <p:cNvPr id="10" name="Shape 7"/>
          <p:cNvSpPr/>
          <p:nvPr/>
        </p:nvSpPr>
        <p:spPr>
          <a:xfrm>
            <a:off x="274320" y="1508760"/>
            <a:ext cx="8595360" cy="384048"/>
          </a:xfrm>
          <a:prstGeom prst="rect">
            <a:avLst/>
          </a:prstGeom>
          <a:solidFill>
            <a:srgbClr val="FFFFFF"/>
          </a:solidFill>
          <a:ln w="6350">
            <a:solidFill>
              <a:srgbClr val="DDCCBB"/>
            </a:solidFill>
            <a:prstDash val="solid"/>
          </a:ln>
        </p:spPr>
      </p:sp>
      <p:sp>
        <p:nvSpPr>
          <p:cNvPr id="11" name="Shape 8"/>
          <p:cNvSpPr/>
          <p:nvPr/>
        </p:nvSpPr>
        <p:spPr>
          <a:xfrm>
            <a:off x="274320" y="1508760"/>
            <a:ext cx="1508760" cy="384048"/>
          </a:xfrm>
          <a:prstGeom prst="rect">
            <a:avLst/>
          </a:prstGeom>
          <a:solidFill>
            <a:srgbClr val="1E1E1E"/>
          </a:solidFill>
          <a:ln/>
        </p:spPr>
      </p:sp>
      <p:sp>
        <p:nvSpPr>
          <p:cNvPr id="12" name="Text 9"/>
          <p:cNvSpPr/>
          <p:nvPr/>
        </p:nvSpPr>
        <p:spPr>
          <a:xfrm>
            <a:off x="292608" y="1572768"/>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Null Inputs</a:t>
            </a:r>
            <a:endParaRPr lang="en-US" sz="900" dirty="0"/>
          </a:p>
        </p:txBody>
      </p:sp>
      <p:sp>
        <p:nvSpPr>
          <p:cNvPr id="13" name="Text 10"/>
          <p:cNvSpPr/>
          <p:nvPr/>
        </p:nvSpPr>
        <p:spPr>
          <a:xfrm>
            <a:off x="1874520" y="1572768"/>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What happens if the user enters nothing?</a:t>
            </a:r>
            <a:endParaRPr lang="en-US" sz="1100" dirty="0"/>
          </a:p>
        </p:txBody>
      </p:sp>
      <p:sp>
        <p:nvSpPr>
          <p:cNvPr id="14" name="Shape 11"/>
          <p:cNvSpPr/>
          <p:nvPr/>
        </p:nvSpPr>
        <p:spPr>
          <a:xfrm>
            <a:off x="274320" y="1938528"/>
            <a:ext cx="8595360" cy="384048"/>
          </a:xfrm>
          <a:prstGeom prst="rect">
            <a:avLst/>
          </a:prstGeom>
          <a:solidFill>
            <a:srgbClr val="FFF5EE"/>
          </a:solidFill>
          <a:ln w="6350">
            <a:solidFill>
              <a:srgbClr val="DDCCBB"/>
            </a:solidFill>
            <a:prstDash val="solid"/>
          </a:ln>
        </p:spPr>
      </p:sp>
      <p:sp>
        <p:nvSpPr>
          <p:cNvPr id="15" name="Shape 12"/>
          <p:cNvSpPr/>
          <p:nvPr/>
        </p:nvSpPr>
        <p:spPr>
          <a:xfrm>
            <a:off x="274320" y="1938528"/>
            <a:ext cx="1508760" cy="384048"/>
          </a:xfrm>
          <a:prstGeom prst="rect">
            <a:avLst/>
          </a:prstGeom>
          <a:solidFill>
            <a:srgbClr val="E8670D"/>
          </a:solidFill>
          <a:ln/>
        </p:spPr>
      </p:sp>
      <p:sp>
        <p:nvSpPr>
          <p:cNvPr id="16" name="Text 13"/>
          <p:cNvSpPr/>
          <p:nvPr/>
        </p:nvSpPr>
        <p:spPr>
          <a:xfrm>
            <a:off x="292608" y="2002536"/>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Boundary Testing</a:t>
            </a:r>
            <a:endParaRPr lang="en-US" sz="900" dirty="0"/>
          </a:p>
        </p:txBody>
      </p:sp>
      <p:sp>
        <p:nvSpPr>
          <p:cNvPr id="17" name="Text 14"/>
          <p:cNvSpPr/>
          <p:nvPr/>
        </p:nvSpPr>
        <p:spPr>
          <a:xfrm>
            <a:off x="1874520" y="2002536"/>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What is the maximum allowed input length?</a:t>
            </a:r>
            <a:endParaRPr lang="en-US" sz="1100" dirty="0"/>
          </a:p>
        </p:txBody>
      </p:sp>
      <p:sp>
        <p:nvSpPr>
          <p:cNvPr id="18" name="Shape 15"/>
          <p:cNvSpPr/>
          <p:nvPr/>
        </p:nvSpPr>
        <p:spPr>
          <a:xfrm>
            <a:off x="274320" y="2368296"/>
            <a:ext cx="8595360" cy="384048"/>
          </a:xfrm>
          <a:prstGeom prst="rect">
            <a:avLst/>
          </a:prstGeom>
          <a:solidFill>
            <a:srgbClr val="FFFFFF"/>
          </a:solidFill>
          <a:ln w="6350">
            <a:solidFill>
              <a:srgbClr val="DDCCBB"/>
            </a:solidFill>
            <a:prstDash val="solid"/>
          </a:ln>
        </p:spPr>
      </p:sp>
      <p:sp>
        <p:nvSpPr>
          <p:cNvPr id="19" name="Shape 16"/>
          <p:cNvSpPr/>
          <p:nvPr/>
        </p:nvSpPr>
        <p:spPr>
          <a:xfrm>
            <a:off x="274320" y="2368296"/>
            <a:ext cx="1508760" cy="384048"/>
          </a:xfrm>
          <a:prstGeom prst="rect">
            <a:avLst/>
          </a:prstGeom>
          <a:solidFill>
            <a:srgbClr val="1E1E1E"/>
          </a:solidFill>
          <a:ln/>
        </p:spPr>
      </p:sp>
      <p:sp>
        <p:nvSpPr>
          <p:cNvPr id="20" name="Text 17"/>
          <p:cNvSpPr/>
          <p:nvPr/>
        </p:nvSpPr>
        <p:spPr>
          <a:xfrm>
            <a:off x="292608" y="2432304"/>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Security</a:t>
            </a:r>
            <a:endParaRPr lang="en-US" sz="900" dirty="0"/>
          </a:p>
        </p:txBody>
      </p:sp>
      <p:sp>
        <p:nvSpPr>
          <p:cNvPr id="21" name="Text 18"/>
          <p:cNvSpPr/>
          <p:nvPr/>
        </p:nvSpPr>
        <p:spPr>
          <a:xfrm>
            <a:off x="1874520" y="2432304"/>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What happens after 5 failed login attempts?</a:t>
            </a:r>
            <a:endParaRPr lang="en-US" sz="1100" dirty="0"/>
          </a:p>
        </p:txBody>
      </p:sp>
      <p:sp>
        <p:nvSpPr>
          <p:cNvPr id="22" name="Shape 19"/>
          <p:cNvSpPr/>
          <p:nvPr/>
        </p:nvSpPr>
        <p:spPr>
          <a:xfrm>
            <a:off x="274320" y="2798064"/>
            <a:ext cx="8595360" cy="384048"/>
          </a:xfrm>
          <a:prstGeom prst="rect">
            <a:avLst/>
          </a:prstGeom>
          <a:solidFill>
            <a:srgbClr val="FFF5EE"/>
          </a:solidFill>
          <a:ln w="6350">
            <a:solidFill>
              <a:srgbClr val="DDCCBB"/>
            </a:solidFill>
            <a:prstDash val="solid"/>
          </a:ln>
        </p:spPr>
      </p:sp>
      <p:sp>
        <p:nvSpPr>
          <p:cNvPr id="23" name="Shape 20"/>
          <p:cNvSpPr/>
          <p:nvPr/>
        </p:nvSpPr>
        <p:spPr>
          <a:xfrm>
            <a:off x="274320" y="2798064"/>
            <a:ext cx="1508760" cy="384048"/>
          </a:xfrm>
          <a:prstGeom prst="rect">
            <a:avLst/>
          </a:prstGeom>
          <a:solidFill>
            <a:srgbClr val="E8670D"/>
          </a:solidFill>
          <a:ln/>
        </p:spPr>
      </p:sp>
      <p:sp>
        <p:nvSpPr>
          <p:cNvPr id="24" name="Text 21"/>
          <p:cNvSpPr/>
          <p:nvPr/>
        </p:nvSpPr>
        <p:spPr>
          <a:xfrm>
            <a:off x="292608" y="2862072"/>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Compatibility</a:t>
            </a:r>
            <a:endParaRPr lang="en-US" sz="900" dirty="0"/>
          </a:p>
        </p:txBody>
      </p:sp>
      <p:sp>
        <p:nvSpPr>
          <p:cNvPr id="25" name="Text 22"/>
          <p:cNvSpPr/>
          <p:nvPr/>
        </p:nvSpPr>
        <p:spPr>
          <a:xfrm>
            <a:off x="1874520" y="2862072"/>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Does this work on mobile browsers?</a:t>
            </a:r>
            <a:endParaRPr lang="en-US" sz="1100" dirty="0"/>
          </a:p>
        </p:txBody>
      </p:sp>
      <p:sp>
        <p:nvSpPr>
          <p:cNvPr id="26" name="Shape 23"/>
          <p:cNvSpPr/>
          <p:nvPr/>
        </p:nvSpPr>
        <p:spPr>
          <a:xfrm>
            <a:off x="274320" y="3227832"/>
            <a:ext cx="8595360" cy="384048"/>
          </a:xfrm>
          <a:prstGeom prst="rect">
            <a:avLst/>
          </a:prstGeom>
          <a:solidFill>
            <a:srgbClr val="FFFFFF"/>
          </a:solidFill>
          <a:ln w="6350">
            <a:solidFill>
              <a:srgbClr val="DDCCBB"/>
            </a:solidFill>
            <a:prstDash val="solid"/>
          </a:ln>
        </p:spPr>
      </p:sp>
      <p:sp>
        <p:nvSpPr>
          <p:cNvPr id="27" name="Shape 24"/>
          <p:cNvSpPr/>
          <p:nvPr/>
        </p:nvSpPr>
        <p:spPr>
          <a:xfrm>
            <a:off x="274320" y="3227832"/>
            <a:ext cx="1508760" cy="384048"/>
          </a:xfrm>
          <a:prstGeom prst="rect">
            <a:avLst/>
          </a:prstGeom>
          <a:solidFill>
            <a:srgbClr val="1E1E1E"/>
          </a:solidFill>
          <a:ln/>
        </p:spPr>
      </p:sp>
      <p:sp>
        <p:nvSpPr>
          <p:cNvPr id="28" name="Text 25"/>
          <p:cNvSpPr/>
          <p:nvPr/>
        </p:nvSpPr>
        <p:spPr>
          <a:xfrm>
            <a:off x="292608" y="3291840"/>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Resilience</a:t>
            </a:r>
            <a:endParaRPr lang="en-US" sz="900" dirty="0"/>
          </a:p>
        </p:txBody>
      </p:sp>
      <p:sp>
        <p:nvSpPr>
          <p:cNvPr id="29" name="Text 26"/>
          <p:cNvSpPr/>
          <p:nvPr/>
        </p:nvSpPr>
        <p:spPr>
          <a:xfrm>
            <a:off x="1874520" y="3291840"/>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What happens if the network drops mid-transaction?</a:t>
            </a:r>
            <a:endParaRPr lang="en-US" sz="1100" dirty="0"/>
          </a:p>
        </p:txBody>
      </p:sp>
      <p:sp>
        <p:nvSpPr>
          <p:cNvPr id="30" name="Shape 27"/>
          <p:cNvSpPr/>
          <p:nvPr/>
        </p:nvSpPr>
        <p:spPr>
          <a:xfrm>
            <a:off x="274320" y="3657600"/>
            <a:ext cx="8595360" cy="384048"/>
          </a:xfrm>
          <a:prstGeom prst="rect">
            <a:avLst/>
          </a:prstGeom>
          <a:solidFill>
            <a:srgbClr val="FFF5EE"/>
          </a:solidFill>
          <a:ln w="6350">
            <a:solidFill>
              <a:srgbClr val="DDCCBB"/>
            </a:solidFill>
            <a:prstDash val="solid"/>
          </a:ln>
        </p:spPr>
      </p:sp>
      <p:sp>
        <p:nvSpPr>
          <p:cNvPr id="31" name="Shape 28"/>
          <p:cNvSpPr/>
          <p:nvPr/>
        </p:nvSpPr>
        <p:spPr>
          <a:xfrm>
            <a:off x="274320" y="3657600"/>
            <a:ext cx="1508760" cy="384048"/>
          </a:xfrm>
          <a:prstGeom prst="rect">
            <a:avLst/>
          </a:prstGeom>
          <a:solidFill>
            <a:srgbClr val="E8670D"/>
          </a:solidFill>
          <a:ln/>
        </p:spPr>
      </p:sp>
      <p:sp>
        <p:nvSpPr>
          <p:cNvPr id="32" name="Text 29"/>
          <p:cNvSpPr/>
          <p:nvPr/>
        </p:nvSpPr>
        <p:spPr>
          <a:xfrm>
            <a:off x="292608" y="3721608"/>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Usability</a:t>
            </a:r>
            <a:endParaRPr lang="en-US" sz="900" dirty="0"/>
          </a:p>
        </p:txBody>
      </p:sp>
      <p:sp>
        <p:nvSpPr>
          <p:cNvPr id="33" name="Text 30"/>
          <p:cNvSpPr/>
          <p:nvPr/>
        </p:nvSpPr>
        <p:spPr>
          <a:xfrm>
            <a:off x="1874520" y="3721608"/>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Is the error message clear enough for a user?</a:t>
            </a:r>
            <a:endParaRPr lang="en-US" sz="1100" dirty="0"/>
          </a:p>
        </p:txBody>
      </p:sp>
      <p:sp>
        <p:nvSpPr>
          <p:cNvPr id="34" name="Shape 31"/>
          <p:cNvSpPr/>
          <p:nvPr/>
        </p:nvSpPr>
        <p:spPr>
          <a:xfrm>
            <a:off x="274320" y="4087368"/>
            <a:ext cx="8595360" cy="384048"/>
          </a:xfrm>
          <a:prstGeom prst="rect">
            <a:avLst/>
          </a:prstGeom>
          <a:solidFill>
            <a:srgbClr val="FFFFFF"/>
          </a:solidFill>
          <a:ln w="6350">
            <a:solidFill>
              <a:srgbClr val="DDCCBB"/>
            </a:solidFill>
            <a:prstDash val="solid"/>
          </a:ln>
        </p:spPr>
      </p:sp>
      <p:sp>
        <p:nvSpPr>
          <p:cNvPr id="35" name="Shape 32"/>
          <p:cNvSpPr/>
          <p:nvPr/>
        </p:nvSpPr>
        <p:spPr>
          <a:xfrm>
            <a:off x="274320" y="4087368"/>
            <a:ext cx="1508760" cy="384048"/>
          </a:xfrm>
          <a:prstGeom prst="rect">
            <a:avLst/>
          </a:prstGeom>
          <a:solidFill>
            <a:srgbClr val="1E1E1E"/>
          </a:solidFill>
          <a:ln/>
        </p:spPr>
      </p:sp>
      <p:sp>
        <p:nvSpPr>
          <p:cNvPr id="36" name="Text 33"/>
          <p:cNvSpPr/>
          <p:nvPr/>
        </p:nvSpPr>
        <p:spPr>
          <a:xfrm>
            <a:off x="292608" y="4151376"/>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Automation</a:t>
            </a:r>
            <a:endParaRPr lang="en-US" sz="900" dirty="0"/>
          </a:p>
        </p:txBody>
      </p:sp>
      <p:sp>
        <p:nvSpPr>
          <p:cNvPr id="37" name="Text 34"/>
          <p:cNvSpPr/>
          <p:nvPr/>
        </p:nvSpPr>
        <p:spPr>
          <a:xfrm>
            <a:off x="1874520" y="4151376"/>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Can this be automated with Playwright or Selenium?</a:t>
            </a:r>
            <a:endParaRPr lang="en-US" sz="1100" dirty="0"/>
          </a:p>
        </p:txBody>
      </p:sp>
      <p:sp>
        <p:nvSpPr>
          <p:cNvPr id="38" name="Shape 35"/>
          <p:cNvSpPr/>
          <p:nvPr/>
        </p:nvSpPr>
        <p:spPr>
          <a:xfrm>
            <a:off x="274320" y="4517136"/>
            <a:ext cx="8595360" cy="384048"/>
          </a:xfrm>
          <a:prstGeom prst="rect">
            <a:avLst/>
          </a:prstGeom>
          <a:solidFill>
            <a:srgbClr val="FFF5EE"/>
          </a:solidFill>
          <a:ln w="6350">
            <a:solidFill>
              <a:srgbClr val="DDCCBB"/>
            </a:solidFill>
            <a:prstDash val="solid"/>
          </a:ln>
        </p:spPr>
      </p:sp>
      <p:sp>
        <p:nvSpPr>
          <p:cNvPr id="39" name="Shape 36"/>
          <p:cNvSpPr/>
          <p:nvPr/>
        </p:nvSpPr>
        <p:spPr>
          <a:xfrm>
            <a:off x="274320" y="4517136"/>
            <a:ext cx="1508760" cy="384048"/>
          </a:xfrm>
          <a:prstGeom prst="rect">
            <a:avLst/>
          </a:prstGeom>
          <a:solidFill>
            <a:srgbClr val="E8670D"/>
          </a:solidFill>
          <a:ln/>
        </p:spPr>
      </p:sp>
      <p:sp>
        <p:nvSpPr>
          <p:cNvPr id="40" name="Text 37"/>
          <p:cNvSpPr/>
          <p:nvPr/>
        </p:nvSpPr>
        <p:spPr>
          <a:xfrm>
            <a:off x="292608" y="4581144"/>
            <a:ext cx="14813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Concurrency</a:t>
            </a:r>
            <a:endParaRPr lang="en-US" sz="900" dirty="0"/>
          </a:p>
        </p:txBody>
      </p:sp>
      <p:sp>
        <p:nvSpPr>
          <p:cNvPr id="41" name="Text 38"/>
          <p:cNvSpPr/>
          <p:nvPr/>
        </p:nvSpPr>
        <p:spPr>
          <a:xfrm>
            <a:off x="1874520" y="4581144"/>
            <a:ext cx="6903720" cy="23774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Can two users do this simultaneously without conflict?</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8670D"/>
          </a:solidFill>
          <a:ln/>
        </p:spPr>
      </p:sp>
      <p:sp>
        <p:nvSpPr>
          <p:cNvPr id="3" name="Text 1"/>
          <p:cNvSpPr/>
          <p:nvPr/>
        </p:nvSpPr>
        <p:spPr>
          <a:xfrm>
            <a:off x="320040" y="54864"/>
            <a:ext cx="8503920" cy="530352"/>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Summary &amp; Key Takeaways</a:t>
            </a:r>
            <a:endParaRPr lang="en-US" sz="2300" dirty="0"/>
          </a:p>
        </p:txBody>
      </p:sp>
      <p:sp>
        <p:nvSpPr>
          <p:cNvPr id="5" name="Text 2"/>
          <p:cNvSpPr/>
          <p:nvPr/>
        </p:nvSpPr>
        <p:spPr>
          <a:xfrm>
            <a:off x="320040" y="713232"/>
            <a:ext cx="7223760" cy="274320"/>
          </a:xfrm>
          <a:prstGeom prst="rect">
            <a:avLst/>
          </a:prstGeom>
          <a:noFill/>
          <a:ln/>
        </p:spPr>
        <p:txBody>
          <a:bodyPr wrap="square" lIns="0" tIns="0" rIns="0" bIns="0"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Everything you learned today — condensed into one slide</a:t>
            </a:r>
            <a:endParaRPr lang="en-US" sz="1200" dirty="0"/>
          </a:p>
        </p:txBody>
      </p:sp>
      <p:sp>
        <p:nvSpPr>
          <p:cNvPr id="6" name="Shape 3"/>
          <p:cNvSpPr/>
          <p:nvPr/>
        </p:nvSpPr>
        <p:spPr>
          <a:xfrm>
            <a:off x="274320" y="1143000"/>
            <a:ext cx="8595360" cy="457200"/>
          </a:xfrm>
          <a:prstGeom prst="rect">
            <a:avLst/>
          </a:prstGeom>
          <a:solidFill>
            <a:srgbClr val="FFFFFF"/>
          </a:solidFill>
          <a:ln/>
          <a:effectLst>
            <a:outerShdw blurRad="127000" dist="38100" dir="8100000" algn="bl" rotWithShape="0">
              <a:srgbClr val="000000">
                <a:alpha val="25000"/>
              </a:srgbClr>
            </a:outerShdw>
          </a:effectLst>
        </p:spPr>
      </p:sp>
      <p:sp>
        <p:nvSpPr>
          <p:cNvPr id="7" name="Shape 4"/>
          <p:cNvSpPr/>
          <p:nvPr/>
        </p:nvSpPr>
        <p:spPr>
          <a:xfrm>
            <a:off x="274320" y="1143000"/>
            <a:ext cx="512064" cy="457200"/>
          </a:xfrm>
          <a:prstGeom prst="rect">
            <a:avLst/>
          </a:prstGeom>
          <a:solidFill>
            <a:srgbClr val="E8670D"/>
          </a:solidFill>
          <a:ln/>
        </p:spPr>
      </p:sp>
      <p:sp>
        <p:nvSpPr>
          <p:cNvPr id="8" name="Text 5"/>
          <p:cNvSpPr/>
          <p:nvPr/>
        </p:nvSpPr>
        <p:spPr>
          <a:xfrm>
            <a:off x="274320" y="1207008"/>
            <a:ext cx="512064"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914400" y="1207008"/>
            <a:ext cx="7863840" cy="329184"/>
          </a:xfrm>
          <a:prstGeom prst="rect">
            <a:avLst/>
          </a:prstGeom>
          <a:noFill/>
          <a:ln/>
        </p:spPr>
        <p:txBody>
          <a:bodyPr wrap="square" rtlCol="0" anchor="ctr"/>
          <a:lstStyle/>
          <a:p>
            <a:pPr marL="0" indent="0">
              <a:buNone/>
            </a:pPr>
            <a:r>
              <a:rPr lang="en-US" sz="1150" dirty="0">
                <a:solidFill>
                  <a:srgbClr val="555555"/>
                </a:solidFill>
                <a:latin typeface="Calibri" pitchFamily="34" charset="0"/>
                <a:ea typeface="Calibri" pitchFamily="34" charset="-122"/>
                <a:cs typeface="Calibri" pitchFamily="34" charset="-120"/>
              </a:rPr>
              <a:t>Software Testing finds defects BEFORE users do — it saves money, reputation, and sometimes lives</a:t>
            </a:r>
            <a:endParaRPr lang="en-US" sz="1150" dirty="0"/>
          </a:p>
        </p:txBody>
      </p:sp>
      <p:sp>
        <p:nvSpPr>
          <p:cNvPr id="10" name="Shape 7"/>
          <p:cNvSpPr/>
          <p:nvPr/>
        </p:nvSpPr>
        <p:spPr>
          <a:xfrm>
            <a:off x="274320" y="1673352"/>
            <a:ext cx="8595360" cy="457200"/>
          </a:xfrm>
          <a:prstGeom prst="rect">
            <a:avLst/>
          </a:prstGeom>
          <a:solidFill>
            <a:srgbClr val="FFFFFF"/>
          </a:solidFill>
          <a:ln/>
          <a:effectLst>
            <a:outerShdw blurRad="127000" dist="38100" dir="8100000" algn="bl" rotWithShape="0">
              <a:srgbClr val="000000">
                <a:alpha val="25000"/>
              </a:srgbClr>
            </a:outerShdw>
          </a:effectLst>
        </p:spPr>
      </p:sp>
      <p:sp>
        <p:nvSpPr>
          <p:cNvPr id="11" name="Shape 8"/>
          <p:cNvSpPr/>
          <p:nvPr/>
        </p:nvSpPr>
        <p:spPr>
          <a:xfrm>
            <a:off x="274320" y="1673352"/>
            <a:ext cx="512064" cy="457200"/>
          </a:xfrm>
          <a:prstGeom prst="rect">
            <a:avLst/>
          </a:prstGeom>
          <a:solidFill>
            <a:srgbClr val="1E1E1E"/>
          </a:solidFill>
          <a:ln/>
        </p:spPr>
      </p:sp>
      <p:sp>
        <p:nvSpPr>
          <p:cNvPr id="12" name="Text 9"/>
          <p:cNvSpPr/>
          <p:nvPr/>
        </p:nvSpPr>
        <p:spPr>
          <a:xfrm>
            <a:off x="274320" y="1737360"/>
            <a:ext cx="512064"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0"/>
          <p:cNvSpPr/>
          <p:nvPr/>
        </p:nvSpPr>
        <p:spPr>
          <a:xfrm>
            <a:off x="914400" y="1737360"/>
            <a:ext cx="7863840" cy="329184"/>
          </a:xfrm>
          <a:prstGeom prst="rect">
            <a:avLst/>
          </a:prstGeom>
          <a:noFill/>
          <a:ln/>
        </p:spPr>
        <p:txBody>
          <a:bodyPr wrap="square" rtlCol="0" anchor="ctr"/>
          <a:lstStyle/>
          <a:p>
            <a:pPr marL="0" indent="0">
              <a:buNone/>
            </a:pPr>
            <a:r>
              <a:rPr lang="en-US" sz="1150" dirty="0">
                <a:solidFill>
                  <a:srgbClr val="555555"/>
                </a:solidFill>
                <a:latin typeface="Calibri" pitchFamily="34" charset="0"/>
                <a:ea typeface="Calibri" pitchFamily="34" charset="-122"/>
                <a:cs typeface="Calibri" pitchFamily="34" charset="-120"/>
              </a:rPr>
              <a:t>STLC has 6 phases: Requirement Analysis → Planning → Development → Environment → Execution → Closure</a:t>
            </a:r>
            <a:endParaRPr lang="en-US" sz="1150" dirty="0"/>
          </a:p>
        </p:txBody>
      </p:sp>
      <p:sp>
        <p:nvSpPr>
          <p:cNvPr id="14" name="Shape 11"/>
          <p:cNvSpPr/>
          <p:nvPr/>
        </p:nvSpPr>
        <p:spPr>
          <a:xfrm>
            <a:off x="274320" y="2203704"/>
            <a:ext cx="8595360" cy="457200"/>
          </a:xfrm>
          <a:prstGeom prst="rect">
            <a:avLst/>
          </a:prstGeom>
          <a:solidFill>
            <a:srgbClr val="FFFFFF"/>
          </a:solidFill>
          <a:ln/>
          <a:effectLst>
            <a:outerShdw blurRad="127000" dist="38100" dir="8100000" algn="bl" rotWithShape="0">
              <a:srgbClr val="000000">
                <a:alpha val="25000"/>
              </a:srgbClr>
            </a:outerShdw>
          </a:effectLst>
        </p:spPr>
      </p:sp>
      <p:sp>
        <p:nvSpPr>
          <p:cNvPr id="15" name="Shape 12"/>
          <p:cNvSpPr/>
          <p:nvPr/>
        </p:nvSpPr>
        <p:spPr>
          <a:xfrm>
            <a:off x="274320" y="2203704"/>
            <a:ext cx="512064" cy="457200"/>
          </a:xfrm>
          <a:prstGeom prst="rect">
            <a:avLst/>
          </a:prstGeom>
          <a:solidFill>
            <a:srgbClr val="E8670D"/>
          </a:solidFill>
          <a:ln/>
        </p:spPr>
      </p:sp>
      <p:sp>
        <p:nvSpPr>
          <p:cNvPr id="16" name="Text 13"/>
          <p:cNvSpPr/>
          <p:nvPr/>
        </p:nvSpPr>
        <p:spPr>
          <a:xfrm>
            <a:off x="274320" y="2267712"/>
            <a:ext cx="512064"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p:nvPr/>
        </p:nvSpPr>
        <p:spPr>
          <a:xfrm>
            <a:off x="914400" y="2267712"/>
            <a:ext cx="7863840" cy="329184"/>
          </a:xfrm>
          <a:prstGeom prst="rect">
            <a:avLst/>
          </a:prstGeom>
          <a:noFill/>
          <a:ln/>
        </p:spPr>
        <p:txBody>
          <a:bodyPr wrap="square" rtlCol="0" anchor="ctr"/>
          <a:lstStyle/>
          <a:p>
            <a:pPr marL="0" indent="0">
              <a:buNone/>
            </a:pPr>
            <a:r>
              <a:rPr lang="en-US" sz="1150" dirty="0">
                <a:solidFill>
                  <a:srgbClr val="555555"/>
                </a:solidFill>
                <a:latin typeface="Calibri" pitchFamily="34" charset="0"/>
                <a:ea typeface="Calibri" pitchFamily="34" charset="-122"/>
                <a:cs typeface="Calibri" pitchFamily="34" charset="-120"/>
              </a:rPr>
              <a:t>Test cases must be clear, specific, traceable, and include both positive AND negative scenarios</a:t>
            </a:r>
            <a:endParaRPr lang="en-US" sz="1150" dirty="0"/>
          </a:p>
        </p:txBody>
      </p:sp>
      <p:sp>
        <p:nvSpPr>
          <p:cNvPr id="18" name="Shape 15"/>
          <p:cNvSpPr/>
          <p:nvPr/>
        </p:nvSpPr>
        <p:spPr>
          <a:xfrm>
            <a:off x="274320" y="2734056"/>
            <a:ext cx="8595360" cy="457200"/>
          </a:xfrm>
          <a:prstGeom prst="rect">
            <a:avLst/>
          </a:prstGeom>
          <a:solidFill>
            <a:srgbClr val="FFFFFF"/>
          </a:solidFill>
          <a:ln/>
          <a:effectLst>
            <a:outerShdw blurRad="127000" dist="38100" dir="8100000" algn="bl" rotWithShape="0">
              <a:srgbClr val="000000">
                <a:alpha val="25000"/>
              </a:srgbClr>
            </a:outerShdw>
          </a:effectLst>
        </p:spPr>
      </p:sp>
      <p:sp>
        <p:nvSpPr>
          <p:cNvPr id="19" name="Shape 16"/>
          <p:cNvSpPr/>
          <p:nvPr/>
        </p:nvSpPr>
        <p:spPr>
          <a:xfrm>
            <a:off x="274320" y="2734056"/>
            <a:ext cx="512064" cy="457200"/>
          </a:xfrm>
          <a:prstGeom prst="rect">
            <a:avLst/>
          </a:prstGeom>
          <a:solidFill>
            <a:srgbClr val="1E1E1E"/>
          </a:solidFill>
          <a:ln/>
        </p:spPr>
      </p:sp>
      <p:sp>
        <p:nvSpPr>
          <p:cNvPr id="20" name="Text 17"/>
          <p:cNvSpPr/>
          <p:nvPr/>
        </p:nvSpPr>
        <p:spPr>
          <a:xfrm>
            <a:off x="274320" y="2798064"/>
            <a:ext cx="512064"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8"/>
          <p:cNvSpPr/>
          <p:nvPr/>
        </p:nvSpPr>
        <p:spPr>
          <a:xfrm>
            <a:off x="914400" y="2798064"/>
            <a:ext cx="7863840" cy="329184"/>
          </a:xfrm>
          <a:prstGeom prst="rect">
            <a:avLst/>
          </a:prstGeom>
          <a:noFill/>
          <a:ln/>
        </p:spPr>
        <p:txBody>
          <a:bodyPr wrap="square" rtlCol="0" anchor="ctr"/>
          <a:lstStyle/>
          <a:p>
            <a:pPr marL="0" indent="0">
              <a:buNone/>
            </a:pPr>
            <a:r>
              <a:rPr lang="en-US" sz="1150" dirty="0">
                <a:solidFill>
                  <a:srgbClr val="555555"/>
                </a:solidFill>
                <a:latin typeface="Calibri" pitchFamily="34" charset="0"/>
                <a:ea typeface="Calibri" pitchFamily="34" charset="-122"/>
                <a:cs typeface="Calibri" pitchFamily="34" charset="-120"/>
              </a:rPr>
              <a:t>Every failed test = a bug report with Severity, Priority, Steps to Reproduce, and Expected vs Actual</a:t>
            </a:r>
            <a:endParaRPr lang="en-US" sz="1150" dirty="0"/>
          </a:p>
        </p:txBody>
      </p:sp>
      <p:sp>
        <p:nvSpPr>
          <p:cNvPr id="22" name="Shape 19"/>
          <p:cNvSpPr/>
          <p:nvPr/>
        </p:nvSpPr>
        <p:spPr>
          <a:xfrm>
            <a:off x="274320" y="3264408"/>
            <a:ext cx="8595360" cy="457200"/>
          </a:xfrm>
          <a:prstGeom prst="rect">
            <a:avLst/>
          </a:prstGeom>
          <a:solidFill>
            <a:srgbClr val="FFFFFF"/>
          </a:solidFill>
          <a:ln/>
          <a:effectLst>
            <a:outerShdw blurRad="127000" dist="38100" dir="8100000" algn="bl" rotWithShape="0">
              <a:srgbClr val="000000">
                <a:alpha val="25000"/>
              </a:srgbClr>
            </a:outerShdw>
          </a:effectLst>
        </p:spPr>
      </p:sp>
      <p:sp>
        <p:nvSpPr>
          <p:cNvPr id="23" name="Shape 20"/>
          <p:cNvSpPr/>
          <p:nvPr/>
        </p:nvSpPr>
        <p:spPr>
          <a:xfrm>
            <a:off x="274320" y="3264408"/>
            <a:ext cx="512064" cy="457200"/>
          </a:xfrm>
          <a:prstGeom prst="rect">
            <a:avLst/>
          </a:prstGeom>
          <a:solidFill>
            <a:srgbClr val="E8670D"/>
          </a:solidFill>
          <a:ln/>
        </p:spPr>
      </p:sp>
      <p:sp>
        <p:nvSpPr>
          <p:cNvPr id="24" name="Text 21"/>
          <p:cNvSpPr/>
          <p:nvPr/>
        </p:nvSpPr>
        <p:spPr>
          <a:xfrm>
            <a:off x="274320" y="3328416"/>
            <a:ext cx="512064"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Text 22"/>
          <p:cNvSpPr/>
          <p:nvPr/>
        </p:nvSpPr>
        <p:spPr>
          <a:xfrm>
            <a:off x="914400" y="3328416"/>
            <a:ext cx="7863840" cy="329184"/>
          </a:xfrm>
          <a:prstGeom prst="rect">
            <a:avLst/>
          </a:prstGeom>
          <a:noFill/>
          <a:ln/>
        </p:spPr>
        <p:txBody>
          <a:bodyPr wrap="square" rtlCol="0" anchor="ctr"/>
          <a:lstStyle/>
          <a:p>
            <a:pPr marL="0" indent="0">
              <a:buNone/>
            </a:pPr>
            <a:r>
              <a:rPr lang="en-US" sz="1150" dirty="0">
                <a:solidFill>
                  <a:srgbClr val="555555"/>
                </a:solidFill>
                <a:latin typeface="Calibri" pitchFamily="34" charset="0"/>
                <a:ea typeface="Calibri" pitchFamily="34" charset="-122"/>
                <a:cs typeface="Calibri" pitchFamily="34" charset="-120"/>
              </a:rPr>
              <a:t>Always test in the correct environment — QA for testing, NEVER directly in Production</a:t>
            </a:r>
            <a:endParaRPr lang="en-US" sz="1150" dirty="0"/>
          </a:p>
        </p:txBody>
      </p:sp>
      <p:sp>
        <p:nvSpPr>
          <p:cNvPr id="26" name="Shape 23"/>
          <p:cNvSpPr/>
          <p:nvPr/>
        </p:nvSpPr>
        <p:spPr>
          <a:xfrm>
            <a:off x="274320" y="3794760"/>
            <a:ext cx="8595360" cy="457200"/>
          </a:xfrm>
          <a:prstGeom prst="rect">
            <a:avLst/>
          </a:prstGeom>
          <a:solidFill>
            <a:srgbClr val="FFFFFF"/>
          </a:solidFill>
          <a:ln/>
          <a:effectLst>
            <a:outerShdw blurRad="127000" dist="38100" dir="8100000" algn="bl" rotWithShape="0">
              <a:srgbClr val="000000">
                <a:alpha val="25000"/>
              </a:srgbClr>
            </a:outerShdw>
          </a:effectLst>
        </p:spPr>
      </p:sp>
      <p:sp>
        <p:nvSpPr>
          <p:cNvPr id="27" name="Shape 24"/>
          <p:cNvSpPr/>
          <p:nvPr/>
        </p:nvSpPr>
        <p:spPr>
          <a:xfrm>
            <a:off x="274320" y="3794760"/>
            <a:ext cx="512064" cy="457200"/>
          </a:xfrm>
          <a:prstGeom prst="rect">
            <a:avLst/>
          </a:prstGeom>
          <a:solidFill>
            <a:srgbClr val="1E1E1E"/>
          </a:solidFill>
          <a:ln/>
        </p:spPr>
      </p:sp>
      <p:sp>
        <p:nvSpPr>
          <p:cNvPr id="28" name="Text 25"/>
          <p:cNvSpPr/>
          <p:nvPr/>
        </p:nvSpPr>
        <p:spPr>
          <a:xfrm>
            <a:off x="274320" y="3858768"/>
            <a:ext cx="512064"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9" name="Text 26"/>
          <p:cNvSpPr/>
          <p:nvPr/>
        </p:nvSpPr>
        <p:spPr>
          <a:xfrm>
            <a:off x="914400" y="3858768"/>
            <a:ext cx="7863840" cy="329184"/>
          </a:xfrm>
          <a:prstGeom prst="rect">
            <a:avLst/>
          </a:prstGeom>
          <a:noFill/>
          <a:ln/>
        </p:spPr>
        <p:txBody>
          <a:bodyPr wrap="square" rtlCol="0" anchor="ctr"/>
          <a:lstStyle/>
          <a:p>
            <a:pPr marL="0" indent="0">
              <a:buNone/>
            </a:pPr>
            <a:r>
              <a:rPr lang="en-US" sz="1150" dirty="0">
                <a:solidFill>
                  <a:srgbClr val="555555"/>
                </a:solidFill>
                <a:latin typeface="Calibri" pitchFamily="34" charset="0"/>
                <a:ea typeface="Calibri" pitchFamily="34" charset="-122"/>
                <a:cs typeface="Calibri" pitchFamily="34" charset="-120"/>
              </a:rPr>
              <a:t>At Lubanzi we automate using Selenium and Playwright, developed in Eclipse and IntelliJ</a:t>
            </a:r>
            <a:endParaRPr lang="en-US" sz="1150" dirty="0"/>
          </a:p>
        </p:txBody>
      </p:sp>
      <p:sp>
        <p:nvSpPr>
          <p:cNvPr id="30" name="Shape 27"/>
          <p:cNvSpPr/>
          <p:nvPr/>
        </p:nvSpPr>
        <p:spPr>
          <a:xfrm>
            <a:off x="274320" y="4325112"/>
            <a:ext cx="8595360" cy="457200"/>
          </a:xfrm>
          <a:prstGeom prst="rect">
            <a:avLst/>
          </a:prstGeom>
          <a:solidFill>
            <a:srgbClr val="FFFFFF"/>
          </a:solidFill>
          <a:ln/>
          <a:effectLst>
            <a:outerShdw blurRad="127000" dist="38100" dir="8100000" algn="bl" rotWithShape="0">
              <a:srgbClr val="000000">
                <a:alpha val="25000"/>
              </a:srgbClr>
            </a:outerShdw>
          </a:effectLst>
        </p:spPr>
      </p:sp>
      <p:sp>
        <p:nvSpPr>
          <p:cNvPr id="31" name="Shape 28"/>
          <p:cNvSpPr/>
          <p:nvPr/>
        </p:nvSpPr>
        <p:spPr>
          <a:xfrm>
            <a:off x="274320" y="4325112"/>
            <a:ext cx="512064" cy="457200"/>
          </a:xfrm>
          <a:prstGeom prst="rect">
            <a:avLst/>
          </a:prstGeom>
          <a:solidFill>
            <a:srgbClr val="E8670D"/>
          </a:solidFill>
          <a:ln/>
        </p:spPr>
      </p:sp>
      <p:sp>
        <p:nvSpPr>
          <p:cNvPr id="32" name="Text 29"/>
          <p:cNvSpPr/>
          <p:nvPr/>
        </p:nvSpPr>
        <p:spPr>
          <a:xfrm>
            <a:off x="274320" y="4389120"/>
            <a:ext cx="512064"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3" name="Text 30"/>
          <p:cNvSpPr/>
          <p:nvPr/>
        </p:nvSpPr>
        <p:spPr>
          <a:xfrm>
            <a:off x="914400" y="4389120"/>
            <a:ext cx="7863840" cy="329184"/>
          </a:xfrm>
          <a:prstGeom prst="rect">
            <a:avLst/>
          </a:prstGeom>
          <a:noFill/>
          <a:ln/>
        </p:spPr>
        <p:txBody>
          <a:bodyPr wrap="square" rtlCol="0" anchor="ctr"/>
          <a:lstStyle/>
          <a:p>
            <a:pPr marL="0" indent="0">
              <a:buNone/>
            </a:pPr>
            <a:r>
              <a:rPr lang="en-US" sz="1150" dirty="0">
                <a:solidFill>
                  <a:srgbClr val="555555"/>
                </a:solidFill>
                <a:latin typeface="Calibri" pitchFamily="34" charset="0"/>
                <a:ea typeface="Calibri" pitchFamily="34" charset="-122"/>
                <a:cs typeface="Calibri" pitchFamily="34" charset="-120"/>
              </a:rPr>
              <a:t>The best testers are curious, detail-oriented communicators who always ask 'What if?'</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457200" y="347472"/>
            <a:ext cx="8229600" cy="384048"/>
          </a:xfrm>
          <a:prstGeom prst="rect">
            <a:avLst/>
          </a:prstGeom>
          <a:noFill/>
          <a:ln/>
        </p:spPr>
        <p:txBody>
          <a:bodyPr wrap="square" rtlCol="0" anchor="ctr"/>
          <a:lstStyle/>
          <a:p>
            <a:pPr marL="0" indent="0">
              <a:buNone/>
            </a:pPr>
            <a:r>
              <a:rPr lang="en-US" sz="1100" b="1" kern="0" spc="300" dirty="0">
                <a:solidFill>
                  <a:srgbClr val="E8670D"/>
                </a:solidFill>
                <a:latin typeface="Calibri" pitchFamily="34" charset="0"/>
                <a:ea typeface="Calibri" pitchFamily="34" charset="-122"/>
                <a:cs typeface="Calibri" pitchFamily="34" charset="-120"/>
              </a:rPr>
              <a:t>THE BIG ANALOGY</a:t>
            </a:r>
            <a:endParaRPr lang="en-US" sz="1100" dirty="0"/>
          </a:p>
        </p:txBody>
      </p:sp>
      <p:sp>
        <p:nvSpPr>
          <p:cNvPr id="5" name="Text 3"/>
          <p:cNvSpPr/>
          <p:nvPr/>
        </p:nvSpPr>
        <p:spPr>
          <a:xfrm>
            <a:off x="457200" y="777240"/>
            <a:ext cx="822960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Testing Software is Like Testing a Car Before Selling It</a:t>
            </a:r>
            <a:endParaRPr lang="en-US" sz="2200" dirty="0"/>
          </a:p>
        </p:txBody>
      </p:sp>
      <p:sp>
        <p:nvSpPr>
          <p:cNvPr id="6" name="Shape 4"/>
          <p:cNvSpPr/>
          <p:nvPr/>
        </p:nvSpPr>
        <p:spPr>
          <a:xfrm>
            <a:off x="457200" y="1536192"/>
            <a:ext cx="3840480" cy="329184"/>
          </a:xfrm>
          <a:prstGeom prst="rect">
            <a:avLst/>
          </a:prstGeom>
          <a:solidFill>
            <a:srgbClr val="E8670D"/>
          </a:solidFill>
          <a:ln/>
        </p:spPr>
      </p:sp>
      <p:sp>
        <p:nvSpPr>
          <p:cNvPr id="7" name="Text 5"/>
          <p:cNvSpPr/>
          <p:nvPr/>
        </p:nvSpPr>
        <p:spPr>
          <a:xfrm>
            <a:off x="475488" y="1563624"/>
            <a:ext cx="37947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STLC Phase</a:t>
            </a:r>
            <a:endParaRPr lang="en-US" sz="1100" dirty="0"/>
          </a:p>
        </p:txBody>
      </p:sp>
      <p:sp>
        <p:nvSpPr>
          <p:cNvPr id="8" name="Shape 6"/>
          <p:cNvSpPr/>
          <p:nvPr/>
        </p:nvSpPr>
        <p:spPr>
          <a:xfrm>
            <a:off x="4434840" y="1536192"/>
            <a:ext cx="4434840" cy="329184"/>
          </a:xfrm>
          <a:prstGeom prst="rect">
            <a:avLst/>
          </a:prstGeom>
          <a:solidFill>
            <a:srgbClr val="1E1E1E"/>
          </a:solidFill>
          <a:ln/>
        </p:spPr>
      </p:sp>
      <p:sp>
        <p:nvSpPr>
          <p:cNvPr id="9" name="Text 7"/>
          <p:cNvSpPr/>
          <p:nvPr/>
        </p:nvSpPr>
        <p:spPr>
          <a:xfrm>
            <a:off x="4453128" y="1563624"/>
            <a:ext cx="438912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Car Testing Equivalent</a:t>
            </a:r>
            <a:endParaRPr lang="en-US" sz="1100" dirty="0"/>
          </a:p>
        </p:txBody>
      </p:sp>
      <p:sp>
        <p:nvSpPr>
          <p:cNvPr id="10" name="Shape 8"/>
          <p:cNvSpPr/>
          <p:nvPr/>
        </p:nvSpPr>
        <p:spPr>
          <a:xfrm>
            <a:off x="457200" y="1901952"/>
            <a:ext cx="3840480" cy="402336"/>
          </a:xfrm>
          <a:prstGeom prst="rect">
            <a:avLst/>
          </a:prstGeom>
          <a:solidFill>
            <a:srgbClr val="1A1A1A"/>
          </a:solidFill>
          <a:ln/>
        </p:spPr>
      </p:sp>
      <p:sp>
        <p:nvSpPr>
          <p:cNvPr id="11" name="Text 9"/>
          <p:cNvSpPr/>
          <p:nvPr/>
        </p:nvSpPr>
        <p:spPr>
          <a:xfrm>
            <a:off x="548640" y="1956816"/>
            <a:ext cx="3657600" cy="274320"/>
          </a:xfrm>
          <a:prstGeom prst="rect">
            <a:avLst/>
          </a:prstGeom>
          <a:noFill/>
          <a:ln/>
        </p:spPr>
        <p:txBody>
          <a:bodyPr wrap="square" lIns="0" tIns="0" rIns="0" bIns="0" rtlCol="0" anchor="ctr"/>
          <a:lstStyle/>
          <a:p>
            <a:pPr marL="0" indent="0">
              <a:buNone/>
            </a:pPr>
            <a:r>
              <a:rPr lang="en-US" sz="1100" dirty="0">
                <a:solidFill>
                  <a:srgbClr val="E8670D"/>
                </a:solidFill>
                <a:latin typeface="Calibri" pitchFamily="34" charset="0"/>
                <a:ea typeface="Calibri" pitchFamily="34" charset="-122"/>
                <a:cs typeface="Calibri" pitchFamily="34" charset="-120"/>
              </a:rPr>
              <a:t>Requirement Analysis</a:t>
            </a:r>
            <a:endParaRPr lang="en-US" sz="1100" dirty="0"/>
          </a:p>
        </p:txBody>
      </p:sp>
      <p:sp>
        <p:nvSpPr>
          <p:cNvPr id="12" name="Shape 10"/>
          <p:cNvSpPr/>
          <p:nvPr/>
        </p:nvSpPr>
        <p:spPr>
          <a:xfrm>
            <a:off x="4434840" y="1901952"/>
            <a:ext cx="4434840" cy="402336"/>
          </a:xfrm>
          <a:prstGeom prst="rect">
            <a:avLst/>
          </a:prstGeom>
          <a:solidFill>
            <a:srgbClr val="222222"/>
          </a:solidFill>
          <a:ln/>
        </p:spPr>
      </p:sp>
      <p:sp>
        <p:nvSpPr>
          <p:cNvPr id="13" name="Text 11"/>
          <p:cNvSpPr/>
          <p:nvPr/>
        </p:nvSpPr>
        <p:spPr>
          <a:xfrm>
            <a:off x="4526280" y="1956816"/>
            <a:ext cx="4251960" cy="274320"/>
          </a:xfrm>
          <a:prstGeom prst="rect">
            <a:avLst/>
          </a:prstGeom>
          <a:noFill/>
          <a:ln/>
        </p:spPr>
        <p:txBody>
          <a:bodyPr wrap="square" lIns="0" tIns="0" rIns="0" bIns="0" rtlCol="0" anchor="ctr"/>
          <a:lstStyle/>
          <a:p>
            <a:pPr marL="0" indent="0">
              <a:buNone/>
            </a:pPr>
            <a:r>
              <a:rPr lang="en-US" sz="1050" dirty="0">
                <a:solidFill>
                  <a:srgbClr val="F5F5F5"/>
                </a:solidFill>
                <a:latin typeface="Calibri" pitchFamily="34" charset="0"/>
                <a:ea typeface="Calibri" pitchFamily="34" charset="-122"/>
                <a:cs typeface="Calibri" pitchFamily="34" charset="-120"/>
              </a:rPr>
              <a:t>Reading the car's specification sheet — what must it do?</a:t>
            </a:r>
            <a:endParaRPr lang="en-US" sz="1050" dirty="0"/>
          </a:p>
        </p:txBody>
      </p:sp>
      <p:sp>
        <p:nvSpPr>
          <p:cNvPr id="14" name="Shape 12"/>
          <p:cNvSpPr/>
          <p:nvPr/>
        </p:nvSpPr>
        <p:spPr>
          <a:xfrm>
            <a:off x="457200" y="2377440"/>
            <a:ext cx="3840480" cy="402336"/>
          </a:xfrm>
          <a:prstGeom prst="rect">
            <a:avLst/>
          </a:prstGeom>
          <a:solidFill>
            <a:srgbClr val="222222"/>
          </a:solidFill>
          <a:ln/>
        </p:spPr>
      </p:sp>
      <p:sp>
        <p:nvSpPr>
          <p:cNvPr id="15" name="Text 13"/>
          <p:cNvSpPr/>
          <p:nvPr/>
        </p:nvSpPr>
        <p:spPr>
          <a:xfrm>
            <a:off x="548640" y="2432304"/>
            <a:ext cx="3657600" cy="274320"/>
          </a:xfrm>
          <a:prstGeom prst="rect">
            <a:avLst/>
          </a:prstGeom>
          <a:noFill/>
          <a:ln/>
        </p:spPr>
        <p:txBody>
          <a:bodyPr wrap="square" lIns="0" tIns="0" rIns="0" bIns="0" rtlCol="0" anchor="ctr"/>
          <a:lstStyle/>
          <a:p>
            <a:pPr marL="0" indent="0">
              <a:buNone/>
            </a:pPr>
            <a:r>
              <a:rPr lang="en-US" sz="1100" dirty="0">
                <a:solidFill>
                  <a:srgbClr val="E8670D"/>
                </a:solidFill>
                <a:latin typeface="Calibri" pitchFamily="34" charset="0"/>
                <a:ea typeface="Calibri" pitchFamily="34" charset="-122"/>
                <a:cs typeface="Calibri" pitchFamily="34" charset="-120"/>
              </a:rPr>
              <a:t>Test Planning</a:t>
            </a:r>
            <a:endParaRPr lang="en-US" sz="1100" dirty="0"/>
          </a:p>
        </p:txBody>
      </p:sp>
      <p:sp>
        <p:nvSpPr>
          <p:cNvPr id="16" name="Shape 14"/>
          <p:cNvSpPr/>
          <p:nvPr/>
        </p:nvSpPr>
        <p:spPr>
          <a:xfrm>
            <a:off x="4434840" y="2377440"/>
            <a:ext cx="4434840" cy="402336"/>
          </a:xfrm>
          <a:prstGeom prst="rect">
            <a:avLst/>
          </a:prstGeom>
          <a:solidFill>
            <a:srgbClr val="1A1A1A"/>
          </a:solidFill>
          <a:ln/>
        </p:spPr>
      </p:sp>
      <p:sp>
        <p:nvSpPr>
          <p:cNvPr id="17" name="Text 15"/>
          <p:cNvSpPr/>
          <p:nvPr/>
        </p:nvSpPr>
        <p:spPr>
          <a:xfrm>
            <a:off x="4526280" y="2432304"/>
            <a:ext cx="4251960" cy="274320"/>
          </a:xfrm>
          <a:prstGeom prst="rect">
            <a:avLst/>
          </a:prstGeom>
          <a:noFill/>
          <a:ln/>
        </p:spPr>
        <p:txBody>
          <a:bodyPr wrap="square" lIns="0" tIns="0" rIns="0" bIns="0" rtlCol="0" anchor="ctr"/>
          <a:lstStyle/>
          <a:p>
            <a:pPr marL="0" indent="0">
              <a:buNone/>
            </a:pPr>
            <a:r>
              <a:rPr lang="en-US" sz="1050" dirty="0">
                <a:solidFill>
                  <a:srgbClr val="F5F5F5"/>
                </a:solidFill>
                <a:latin typeface="Calibri" pitchFamily="34" charset="0"/>
                <a:ea typeface="Calibri" pitchFamily="34" charset="-122"/>
                <a:cs typeface="Calibri" pitchFamily="34" charset="-120"/>
              </a:rPr>
              <a:t>Planning the test drive route, who drives, what to check</a:t>
            </a:r>
            <a:endParaRPr lang="en-US" sz="1050" dirty="0"/>
          </a:p>
        </p:txBody>
      </p:sp>
      <p:sp>
        <p:nvSpPr>
          <p:cNvPr id="18" name="Shape 16"/>
          <p:cNvSpPr/>
          <p:nvPr/>
        </p:nvSpPr>
        <p:spPr>
          <a:xfrm>
            <a:off x="457200" y="2852928"/>
            <a:ext cx="3840480" cy="402336"/>
          </a:xfrm>
          <a:prstGeom prst="rect">
            <a:avLst/>
          </a:prstGeom>
          <a:solidFill>
            <a:srgbClr val="1A1A1A"/>
          </a:solidFill>
          <a:ln/>
        </p:spPr>
      </p:sp>
      <p:sp>
        <p:nvSpPr>
          <p:cNvPr id="19" name="Text 17"/>
          <p:cNvSpPr/>
          <p:nvPr/>
        </p:nvSpPr>
        <p:spPr>
          <a:xfrm>
            <a:off x="548640" y="2907792"/>
            <a:ext cx="3657600" cy="274320"/>
          </a:xfrm>
          <a:prstGeom prst="rect">
            <a:avLst/>
          </a:prstGeom>
          <a:noFill/>
          <a:ln/>
        </p:spPr>
        <p:txBody>
          <a:bodyPr wrap="square" lIns="0" tIns="0" rIns="0" bIns="0" rtlCol="0" anchor="ctr"/>
          <a:lstStyle/>
          <a:p>
            <a:pPr marL="0" indent="0">
              <a:buNone/>
            </a:pPr>
            <a:r>
              <a:rPr lang="en-US" sz="1100" dirty="0">
                <a:solidFill>
                  <a:srgbClr val="E8670D"/>
                </a:solidFill>
                <a:latin typeface="Calibri" pitchFamily="34" charset="0"/>
                <a:ea typeface="Calibri" pitchFamily="34" charset="-122"/>
                <a:cs typeface="Calibri" pitchFamily="34" charset="-120"/>
              </a:rPr>
              <a:t>Test Case Development</a:t>
            </a:r>
            <a:endParaRPr lang="en-US" sz="1100" dirty="0"/>
          </a:p>
        </p:txBody>
      </p:sp>
      <p:sp>
        <p:nvSpPr>
          <p:cNvPr id="20" name="Shape 18"/>
          <p:cNvSpPr/>
          <p:nvPr/>
        </p:nvSpPr>
        <p:spPr>
          <a:xfrm>
            <a:off x="4434840" y="2852928"/>
            <a:ext cx="4434840" cy="402336"/>
          </a:xfrm>
          <a:prstGeom prst="rect">
            <a:avLst/>
          </a:prstGeom>
          <a:solidFill>
            <a:srgbClr val="222222"/>
          </a:solidFill>
          <a:ln/>
        </p:spPr>
      </p:sp>
      <p:sp>
        <p:nvSpPr>
          <p:cNvPr id="21" name="Text 19"/>
          <p:cNvSpPr/>
          <p:nvPr/>
        </p:nvSpPr>
        <p:spPr>
          <a:xfrm>
            <a:off x="4526280" y="2907792"/>
            <a:ext cx="4251960" cy="274320"/>
          </a:xfrm>
          <a:prstGeom prst="rect">
            <a:avLst/>
          </a:prstGeom>
          <a:noFill/>
          <a:ln/>
        </p:spPr>
        <p:txBody>
          <a:bodyPr wrap="square" lIns="0" tIns="0" rIns="0" bIns="0" rtlCol="0" anchor="ctr"/>
          <a:lstStyle/>
          <a:p>
            <a:pPr marL="0" indent="0">
              <a:buNone/>
            </a:pPr>
            <a:r>
              <a:rPr lang="en-US" sz="1050" dirty="0">
                <a:solidFill>
                  <a:srgbClr val="F5F5F5"/>
                </a:solidFill>
                <a:latin typeface="Calibri" pitchFamily="34" charset="0"/>
                <a:ea typeface="Calibri" pitchFamily="34" charset="-122"/>
                <a:cs typeface="Calibri" pitchFamily="34" charset="-120"/>
              </a:rPr>
              <a:t>Writing a checklist: brakes, wipers, horn, AC, fuel, speed</a:t>
            </a:r>
            <a:endParaRPr lang="en-US" sz="1050" dirty="0"/>
          </a:p>
        </p:txBody>
      </p:sp>
      <p:sp>
        <p:nvSpPr>
          <p:cNvPr id="22" name="Shape 20"/>
          <p:cNvSpPr/>
          <p:nvPr/>
        </p:nvSpPr>
        <p:spPr>
          <a:xfrm>
            <a:off x="457200" y="3328416"/>
            <a:ext cx="3840480" cy="402336"/>
          </a:xfrm>
          <a:prstGeom prst="rect">
            <a:avLst/>
          </a:prstGeom>
          <a:solidFill>
            <a:srgbClr val="222222"/>
          </a:solidFill>
          <a:ln/>
        </p:spPr>
      </p:sp>
      <p:sp>
        <p:nvSpPr>
          <p:cNvPr id="23" name="Text 21"/>
          <p:cNvSpPr/>
          <p:nvPr/>
        </p:nvSpPr>
        <p:spPr>
          <a:xfrm>
            <a:off x="548640" y="3383280"/>
            <a:ext cx="3657600" cy="274320"/>
          </a:xfrm>
          <a:prstGeom prst="rect">
            <a:avLst/>
          </a:prstGeom>
          <a:noFill/>
          <a:ln/>
        </p:spPr>
        <p:txBody>
          <a:bodyPr wrap="square" lIns="0" tIns="0" rIns="0" bIns="0" rtlCol="0" anchor="ctr"/>
          <a:lstStyle/>
          <a:p>
            <a:pPr marL="0" indent="0">
              <a:buNone/>
            </a:pPr>
            <a:r>
              <a:rPr lang="en-US" sz="1100" dirty="0">
                <a:solidFill>
                  <a:srgbClr val="E8670D"/>
                </a:solidFill>
                <a:latin typeface="Calibri" pitchFamily="34" charset="0"/>
                <a:ea typeface="Calibri" pitchFamily="34" charset="-122"/>
                <a:cs typeface="Calibri" pitchFamily="34" charset="-120"/>
              </a:rPr>
              <a:t>Environment Setup</a:t>
            </a:r>
            <a:endParaRPr lang="en-US" sz="1100" dirty="0"/>
          </a:p>
        </p:txBody>
      </p:sp>
      <p:sp>
        <p:nvSpPr>
          <p:cNvPr id="24" name="Shape 22"/>
          <p:cNvSpPr/>
          <p:nvPr/>
        </p:nvSpPr>
        <p:spPr>
          <a:xfrm>
            <a:off x="4434840" y="3328416"/>
            <a:ext cx="4434840" cy="402336"/>
          </a:xfrm>
          <a:prstGeom prst="rect">
            <a:avLst/>
          </a:prstGeom>
          <a:solidFill>
            <a:srgbClr val="1A1A1A"/>
          </a:solidFill>
          <a:ln/>
        </p:spPr>
      </p:sp>
      <p:sp>
        <p:nvSpPr>
          <p:cNvPr id="25" name="Text 23"/>
          <p:cNvSpPr/>
          <p:nvPr/>
        </p:nvSpPr>
        <p:spPr>
          <a:xfrm>
            <a:off x="4526280" y="3383280"/>
            <a:ext cx="4251960" cy="274320"/>
          </a:xfrm>
          <a:prstGeom prst="rect">
            <a:avLst/>
          </a:prstGeom>
          <a:noFill/>
          <a:ln/>
        </p:spPr>
        <p:txBody>
          <a:bodyPr wrap="square" lIns="0" tIns="0" rIns="0" bIns="0" rtlCol="0" anchor="ctr"/>
          <a:lstStyle/>
          <a:p>
            <a:pPr marL="0" indent="0">
              <a:buNone/>
            </a:pPr>
            <a:r>
              <a:rPr lang="en-US" sz="1050" dirty="0">
                <a:solidFill>
                  <a:srgbClr val="F5F5F5"/>
                </a:solidFill>
                <a:latin typeface="Calibri" pitchFamily="34" charset="0"/>
                <a:ea typeface="Calibri" pitchFamily="34" charset="-122"/>
                <a:cs typeface="Calibri" pitchFamily="34" charset="-120"/>
              </a:rPr>
              <a:t>Fuelling up, checking tyre pressure, getting to the test track</a:t>
            </a:r>
            <a:endParaRPr lang="en-US" sz="1050" dirty="0"/>
          </a:p>
        </p:txBody>
      </p:sp>
      <p:sp>
        <p:nvSpPr>
          <p:cNvPr id="26" name="Shape 24"/>
          <p:cNvSpPr/>
          <p:nvPr/>
        </p:nvSpPr>
        <p:spPr>
          <a:xfrm>
            <a:off x="457200" y="3803904"/>
            <a:ext cx="3840480" cy="402336"/>
          </a:xfrm>
          <a:prstGeom prst="rect">
            <a:avLst/>
          </a:prstGeom>
          <a:solidFill>
            <a:srgbClr val="1A1A1A"/>
          </a:solidFill>
          <a:ln/>
        </p:spPr>
      </p:sp>
      <p:sp>
        <p:nvSpPr>
          <p:cNvPr id="27" name="Text 25"/>
          <p:cNvSpPr/>
          <p:nvPr/>
        </p:nvSpPr>
        <p:spPr>
          <a:xfrm>
            <a:off x="548640" y="3858768"/>
            <a:ext cx="3657600" cy="274320"/>
          </a:xfrm>
          <a:prstGeom prst="rect">
            <a:avLst/>
          </a:prstGeom>
          <a:noFill/>
          <a:ln/>
        </p:spPr>
        <p:txBody>
          <a:bodyPr wrap="square" lIns="0" tIns="0" rIns="0" bIns="0" rtlCol="0" anchor="ctr"/>
          <a:lstStyle/>
          <a:p>
            <a:pPr marL="0" indent="0">
              <a:buNone/>
            </a:pPr>
            <a:r>
              <a:rPr lang="en-US" sz="1100" dirty="0">
                <a:solidFill>
                  <a:srgbClr val="E8670D"/>
                </a:solidFill>
                <a:latin typeface="Calibri" pitchFamily="34" charset="0"/>
                <a:ea typeface="Calibri" pitchFamily="34" charset="-122"/>
                <a:cs typeface="Calibri" pitchFamily="34" charset="-120"/>
              </a:rPr>
              <a:t>Test Execution</a:t>
            </a:r>
            <a:endParaRPr lang="en-US" sz="1100" dirty="0"/>
          </a:p>
        </p:txBody>
      </p:sp>
      <p:sp>
        <p:nvSpPr>
          <p:cNvPr id="28" name="Shape 26"/>
          <p:cNvSpPr/>
          <p:nvPr/>
        </p:nvSpPr>
        <p:spPr>
          <a:xfrm>
            <a:off x="4434840" y="3803904"/>
            <a:ext cx="4434840" cy="402336"/>
          </a:xfrm>
          <a:prstGeom prst="rect">
            <a:avLst/>
          </a:prstGeom>
          <a:solidFill>
            <a:srgbClr val="222222"/>
          </a:solidFill>
          <a:ln/>
        </p:spPr>
      </p:sp>
      <p:sp>
        <p:nvSpPr>
          <p:cNvPr id="29" name="Text 27"/>
          <p:cNvSpPr/>
          <p:nvPr/>
        </p:nvSpPr>
        <p:spPr>
          <a:xfrm>
            <a:off x="4526280" y="3858768"/>
            <a:ext cx="4251960" cy="274320"/>
          </a:xfrm>
          <a:prstGeom prst="rect">
            <a:avLst/>
          </a:prstGeom>
          <a:noFill/>
          <a:ln/>
        </p:spPr>
        <p:txBody>
          <a:bodyPr wrap="square" lIns="0" tIns="0" rIns="0" bIns="0" rtlCol="0" anchor="ctr"/>
          <a:lstStyle/>
          <a:p>
            <a:pPr marL="0" indent="0">
              <a:buNone/>
            </a:pPr>
            <a:r>
              <a:rPr lang="en-US" sz="1050" dirty="0">
                <a:solidFill>
                  <a:srgbClr val="F5F5F5"/>
                </a:solidFill>
                <a:latin typeface="Calibri" pitchFamily="34" charset="0"/>
                <a:ea typeface="Calibri" pitchFamily="34" charset="-122"/>
                <a:cs typeface="Calibri" pitchFamily="34" charset="-120"/>
              </a:rPr>
              <a:t>Actually driving and checking each item on the list</a:t>
            </a:r>
            <a:endParaRPr lang="en-US" sz="1050" dirty="0"/>
          </a:p>
        </p:txBody>
      </p:sp>
      <p:sp>
        <p:nvSpPr>
          <p:cNvPr id="30" name="Shape 28"/>
          <p:cNvSpPr/>
          <p:nvPr/>
        </p:nvSpPr>
        <p:spPr>
          <a:xfrm>
            <a:off x="457200" y="4279392"/>
            <a:ext cx="3840480" cy="402336"/>
          </a:xfrm>
          <a:prstGeom prst="rect">
            <a:avLst/>
          </a:prstGeom>
          <a:solidFill>
            <a:srgbClr val="222222"/>
          </a:solidFill>
          <a:ln/>
        </p:spPr>
      </p:sp>
      <p:sp>
        <p:nvSpPr>
          <p:cNvPr id="31" name="Text 29"/>
          <p:cNvSpPr/>
          <p:nvPr/>
        </p:nvSpPr>
        <p:spPr>
          <a:xfrm>
            <a:off x="548640" y="4334256"/>
            <a:ext cx="3657600" cy="274320"/>
          </a:xfrm>
          <a:prstGeom prst="rect">
            <a:avLst/>
          </a:prstGeom>
          <a:noFill/>
          <a:ln/>
        </p:spPr>
        <p:txBody>
          <a:bodyPr wrap="square" lIns="0" tIns="0" rIns="0" bIns="0" rtlCol="0" anchor="ctr"/>
          <a:lstStyle/>
          <a:p>
            <a:pPr marL="0" indent="0">
              <a:buNone/>
            </a:pPr>
            <a:r>
              <a:rPr lang="en-US" sz="1100" dirty="0">
                <a:solidFill>
                  <a:srgbClr val="E8670D"/>
                </a:solidFill>
                <a:latin typeface="Calibri" pitchFamily="34" charset="0"/>
                <a:ea typeface="Calibri" pitchFamily="34" charset="-122"/>
                <a:cs typeface="Calibri" pitchFamily="34" charset="-120"/>
              </a:rPr>
              <a:t>Test Closure</a:t>
            </a:r>
            <a:endParaRPr lang="en-US" sz="1100" dirty="0"/>
          </a:p>
        </p:txBody>
      </p:sp>
      <p:sp>
        <p:nvSpPr>
          <p:cNvPr id="32" name="Shape 30"/>
          <p:cNvSpPr/>
          <p:nvPr/>
        </p:nvSpPr>
        <p:spPr>
          <a:xfrm>
            <a:off x="4434840" y="4279392"/>
            <a:ext cx="4434840" cy="402336"/>
          </a:xfrm>
          <a:prstGeom prst="rect">
            <a:avLst/>
          </a:prstGeom>
          <a:solidFill>
            <a:srgbClr val="1A1A1A"/>
          </a:solidFill>
          <a:ln/>
        </p:spPr>
      </p:sp>
      <p:sp>
        <p:nvSpPr>
          <p:cNvPr id="33" name="Text 31"/>
          <p:cNvSpPr/>
          <p:nvPr/>
        </p:nvSpPr>
        <p:spPr>
          <a:xfrm>
            <a:off x="4526280" y="4334256"/>
            <a:ext cx="4251960" cy="274320"/>
          </a:xfrm>
          <a:prstGeom prst="rect">
            <a:avLst/>
          </a:prstGeom>
          <a:noFill/>
          <a:ln/>
        </p:spPr>
        <p:txBody>
          <a:bodyPr wrap="square" lIns="0" tIns="0" rIns="0" bIns="0" rtlCol="0" anchor="ctr"/>
          <a:lstStyle/>
          <a:p>
            <a:pPr marL="0" indent="0">
              <a:buNone/>
            </a:pPr>
            <a:r>
              <a:rPr lang="en-US" sz="1050" dirty="0">
                <a:solidFill>
                  <a:srgbClr val="F5F5F5"/>
                </a:solidFill>
                <a:latin typeface="Calibri" pitchFamily="34" charset="0"/>
                <a:ea typeface="Calibri" pitchFamily="34" charset="-122"/>
                <a:cs typeface="Calibri" pitchFamily="34" charset="-120"/>
              </a:rPr>
              <a:t>Signing the QA report — car passed/failed, issues documented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3372</TotalTime>
  <Words>4700</Words>
  <Application>Microsoft Office PowerPoint</Application>
  <PresentationFormat>On-screen Show (16:9)</PresentationFormat>
  <Paragraphs>656</Paragraphs>
  <Slides>38</Slides>
  <Notes>38</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 Foundations – Lubanzi Intern Training</dc:title>
  <dc:subject>PptxGenJS Presentation</dc:subject>
  <dc:creator>PptxGenJS</dc:creator>
  <cp:lastModifiedBy>Isaac Mahlangu (Lubanzi ICT Consulting)</cp:lastModifiedBy>
  <cp:revision>7</cp:revision>
  <dcterms:created xsi:type="dcterms:W3CDTF">2026-04-10T23:28:57Z</dcterms:created>
  <dcterms:modified xsi:type="dcterms:W3CDTF">2026-04-20T09:41:09Z</dcterms:modified>
</cp:coreProperties>
</file>