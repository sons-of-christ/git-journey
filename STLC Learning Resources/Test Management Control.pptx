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7081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Presentation Agenda</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OVERVIEW</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68680"/>
            <a:ext cx="475488" cy="438912"/>
          </a:xfrm>
          <a:prstGeom prst="rect">
            <a:avLst/>
          </a:prstGeom>
          <a:solidFill>
            <a:srgbClr val="E8650A"/>
          </a:solidFill>
          <a:ln w="12700">
            <a:solidFill>
              <a:srgbClr val="E8650A"/>
            </a:solidFill>
            <a:prstDash val="solid"/>
          </a:ln>
        </p:spPr>
      </p:sp>
      <p:sp>
        <p:nvSpPr>
          <p:cNvPr id="9" name="Text 7"/>
          <p:cNvSpPr/>
          <p:nvPr/>
        </p:nvSpPr>
        <p:spPr>
          <a:xfrm>
            <a:off x="182880" y="868680"/>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01</a:t>
            </a:r>
            <a:endParaRPr lang="en-US" sz="1200" dirty="0"/>
          </a:p>
        </p:txBody>
      </p:sp>
      <p:sp>
        <p:nvSpPr>
          <p:cNvPr id="10" name="Text 8"/>
          <p:cNvSpPr/>
          <p:nvPr/>
        </p:nvSpPr>
        <p:spPr>
          <a:xfrm>
            <a:off x="749808" y="896112"/>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Introduction to Test Management &amp; Control</a:t>
            </a:r>
            <a:endParaRPr lang="en-US" sz="1200" dirty="0"/>
          </a:p>
        </p:txBody>
      </p:sp>
      <p:sp>
        <p:nvSpPr>
          <p:cNvPr id="11" name="Shape 9"/>
          <p:cNvSpPr/>
          <p:nvPr/>
        </p:nvSpPr>
        <p:spPr>
          <a:xfrm>
            <a:off x="182880" y="1527048"/>
            <a:ext cx="475488" cy="438912"/>
          </a:xfrm>
          <a:prstGeom prst="rect">
            <a:avLst/>
          </a:prstGeom>
          <a:solidFill>
            <a:srgbClr val="E8650A"/>
          </a:solidFill>
          <a:ln w="12700">
            <a:solidFill>
              <a:srgbClr val="E8650A"/>
            </a:solidFill>
            <a:prstDash val="solid"/>
          </a:ln>
        </p:spPr>
      </p:sp>
      <p:sp>
        <p:nvSpPr>
          <p:cNvPr id="12" name="Text 10"/>
          <p:cNvSpPr/>
          <p:nvPr/>
        </p:nvSpPr>
        <p:spPr>
          <a:xfrm>
            <a:off x="182880" y="1527048"/>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02</a:t>
            </a:r>
            <a:endParaRPr lang="en-US" sz="1200" dirty="0"/>
          </a:p>
        </p:txBody>
      </p:sp>
      <p:sp>
        <p:nvSpPr>
          <p:cNvPr id="13" name="Text 11"/>
          <p:cNvSpPr/>
          <p:nvPr/>
        </p:nvSpPr>
        <p:spPr>
          <a:xfrm>
            <a:off x="749808" y="1554480"/>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Objectives of Test Management</a:t>
            </a:r>
            <a:endParaRPr lang="en-US" sz="1200" dirty="0"/>
          </a:p>
        </p:txBody>
      </p:sp>
      <p:sp>
        <p:nvSpPr>
          <p:cNvPr id="14" name="Shape 12"/>
          <p:cNvSpPr/>
          <p:nvPr/>
        </p:nvSpPr>
        <p:spPr>
          <a:xfrm>
            <a:off x="182880" y="2185416"/>
            <a:ext cx="475488" cy="438912"/>
          </a:xfrm>
          <a:prstGeom prst="rect">
            <a:avLst/>
          </a:prstGeom>
          <a:solidFill>
            <a:srgbClr val="E8650A"/>
          </a:solidFill>
          <a:ln w="12700">
            <a:solidFill>
              <a:srgbClr val="E8650A"/>
            </a:solidFill>
            <a:prstDash val="solid"/>
          </a:ln>
        </p:spPr>
      </p:sp>
      <p:sp>
        <p:nvSpPr>
          <p:cNvPr id="15" name="Text 13"/>
          <p:cNvSpPr/>
          <p:nvPr/>
        </p:nvSpPr>
        <p:spPr>
          <a:xfrm>
            <a:off x="182880" y="2185416"/>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03</a:t>
            </a:r>
            <a:endParaRPr lang="en-US" sz="1200" dirty="0"/>
          </a:p>
        </p:txBody>
      </p:sp>
      <p:sp>
        <p:nvSpPr>
          <p:cNvPr id="16" name="Text 14"/>
          <p:cNvSpPr/>
          <p:nvPr/>
        </p:nvSpPr>
        <p:spPr>
          <a:xfrm>
            <a:off x="749808" y="2212848"/>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Test Management Process — Full Detail</a:t>
            </a:r>
            <a:endParaRPr lang="en-US" sz="1200" dirty="0"/>
          </a:p>
        </p:txBody>
      </p:sp>
      <p:sp>
        <p:nvSpPr>
          <p:cNvPr id="17" name="Shape 15"/>
          <p:cNvSpPr/>
          <p:nvPr/>
        </p:nvSpPr>
        <p:spPr>
          <a:xfrm>
            <a:off x="182880" y="2843784"/>
            <a:ext cx="475488" cy="438912"/>
          </a:xfrm>
          <a:prstGeom prst="rect">
            <a:avLst/>
          </a:prstGeom>
          <a:solidFill>
            <a:srgbClr val="E8650A"/>
          </a:solidFill>
          <a:ln w="12700">
            <a:solidFill>
              <a:srgbClr val="E8650A"/>
            </a:solidFill>
            <a:prstDash val="solid"/>
          </a:ln>
        </p:spPr>
      </p:sp>
      <p:sp>
        <p:nvSpPr>
          <p:cNvPr id="18" name="Text 16"/>
          <p:cNvSpPr/>
          <p:nvPr/>
        </p:nvSpPr>
        <p:spPr>
          <a:xfrm>
            <a:off x="182880" y="2843784"/>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04</a:t>
            </a:r>
            <a:endParaRPr lang="en-US" sz="1200" dirty="0"/>
          </a:p>
        </p:txBody>
      </p:sp>
      <p:sp>
        <p:nvSpPr>
          <p:cNvPr id="19" name="Text 17"/>
          <p:cNvSpPr/>
          <p:nvPr/>
        </p:nvSpPr>
        <p:spPr>
          <a:xfrm>
            <a:off x="749808" y="2871216"/>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Test Management Deliverables</a:t>
            </a:r>
            <a:endParaRPr lang="en-US" sz="1200" dirty="0"/>
          </a:p>
        </p:txBody>
      </p:sp>
      <p:sp>
        <p:nvSpPr>
          <p:cNvPr id="20" name="Shape 18"/>
          <p:cNvSpPr/>
          <p:nvPr/>
        </p:nvSpPr>
        <p:spPr>
          <a:xfrm>
            <a:off x="182880" y="3502152"/>
            <a:ext cx="475488" cy="438912"/>
          </a:xfrm>
          <a:prstGeom prst="rect">
            <a:avLst/>
          </a:prstGeom>
          <a:solidFill>
            <a:srgbClr val="E8650A"/>
          </a:solidFill>
          <a:ln w="12700">
            <a:solidFill>
              <a:srgbClr val="E8650A"/>
            </a:solidFill>
            <a:prstDash val="solid"/>
          </a:ln>
        </p:spPr>
      </p:sp>
      <p:sp>
        <p:nvSpPr>
          <p:cNvPr id="21" name="Text 19"/>
          <p:cNvSpPr/>
          <p:nvPr/>
        </p:nvSpPr>
        <p:spPr>
          <a:xfrm>
            <a:off x="182880" y="3502152"/>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05</a:t>
            </a:r>
            <a:endParaRPr lang="en-US" sz="1200" dirty="0"/>
          </a:p>
        </p:txBody>
      </p:sp>
      <p:sp>
        <p:nvSpPr>
          <p:cNvPr id="22" name="Text 20"/>
          <p:cNvSpPr/>
          <p:nvPr/>
        </p:nvSpPr>
        <p:spPr>
          <a:xfrm>
            <a:off x="749808" y="3529584"/>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Test Metrics &amp; KPIs</a:t>
            </a:r>
            <a:endParaRPr lang="en-US" sz="1200" dirty="0"/>
          </a:p>
        </p:txBody>
      </p:sp>
      <p:sp>
        <p:nvSpPr>
          <p:cNvPr id="23" name="Shape 21"/>
          <p:cNvSpPr/>
          <p:nvPr/>
        </p:nvSpPr>
        <p:spPr>
          <a:xfrm>
            <a:off x="182880" y="4160520"/>
            <a:ext cx="475488" cy="438912"/>
          </a:xfrm>
          <a:prstGeom prst="rect">
            <a:avLst/>
          </a:prstGeom>
          <a:solidFill>
            <a:srgbClr val="E8650A"/>
          </a:solidFill>
          <a:ln w="12700">
            <a:solidFill>
              <a:srgbClr val="E8650A"/>
            </a:solidFill>
            <a:prstDash val="solid"/>
          </a:ln>
        </p:spPr>
      </p:sp>
      <p:sp>
        <p:nvSpPr>
          <p:cNvPr id="24" name="Text 22"/>
          <p:cNvSpPr/>
          <p:nvPr/>
        </p:nvSpPr>
        <p:spPr>
          <a:xfrm>
            <a:off x="182880" y="4160520"/>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06</a:t>
            </a:r>
            <a:endParaRPr lang="en-US" sz="1200" dirty="0"/>
          </a:p>
        </p:txBody>
      </p:sp>
      <p:sp>
        <p:nvSpPr>
          <p:cNvPr id="25" name="Text 23"/>
          <p:cNvSpPr/>
          <p:nvPr/>
        </p:nvSpPr>
        <p:spPr>
          <a:xfrm>
            <a:off x="749808" y="4187952"/>
            <a:ext cx="384048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Defect Management Process</a:t>
            </a:r>
            <a:endParaRPr lang="en-US" sz="1200" dirty="0"/>
          </a:p>
        </p:txBody>
      </p:sp>
      <p:sp>
        <p:nvSpPr>
          <p:cNvPr id="26" name="Shape 24"/>
          <p:cNvSpPr/>
          <p:nvPr/>
        </p:nvSpPr>
        <p:spPr>
          <a:xfrm>
            <a:off x="4754880" y="868680"/>
            <a:ext cx="475488" cy="438912"/>
          </a:xfrm>
          <a:prstGeom prst="rect">
            <a:avLst/>
          </a:prstGeom>
          <a:solidFill>
            <a:srgbClr val="C4500A"/>
          </a:solidFill>
          <a:ln w="12700">
            <a:solidFill>
              <a:srgbClr val="C4500A"/>
            </a:solidFill>
            <a:prstDash val="solid"/>
          </a:ln>
        </p:spPr>
      </p:sp>
      <p:sp>
        <p:nvSpPr>
          <p:cNvPr id="27" name="Text 25"/>
          <p:cNvSpPr/>
          <p:nvPr/>
        </p:nvSpPr>
        <p:spPr>
          <a:xfrm>
            <a:off x="4754880" y="868680"/>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07</a:t>
            </a:r>
            <a:endParaRPr lang="en-US" sz="1200" dirty="0"/>
          </a:p>
        </p:txBody>
      </p:sp>
      <p:sp>
        <p:nvSpPr>
          <p:cNvPr id="28" name="Text 26"/>
          <p:cNvSpPr/>
          <p:nvPr/>
        </p:nvSpPr>
        <p:spPr>
          <a:xfrm>
            <a:off x="5321808" y="896112"/>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Risk Management in Testing</a:t>
            </a:r>
            <a:endParaRPr lang="en-US" sz="1200" dirty="0"/>
          </a:p>
        </p:txBody>
      </p:sp>
      <p:sp>
        <p:nvSpPr>
          <p:cNvPr id="29" name="Shape 27"/>
          <p:cNvSpPr/>
          <p:nvPr/>
        </p:nvSpPr>
        <p:spPr>
          <a:xfrm>
            <a:off x="4754880" y="1527048"/>
            <a:ext cx="475488" cy="438912"/>
          </a:xfrm>
          <a:prstGeom prst="rect">
            <a:avLst/>
          </a:prstGeom>
          <a:solidFill>
            <a:srgbClr val="C4500A"/>
          </a:solidFill>
          <a:ln w="12700">
            <a:solidFill>
              <a:srgbClr val="C4500A"/>
            </a:solidFill>
            <a:prstDash val="solid"/>
          </a:ln>
        </p:spPr>
      </p:sp>
      <p:sp>
        <p:nvSpPr>
          <p:cNvPr id="30" name="Text 28"/>
          <p:cNvSpPr/>
          <p:nvPr/>
        </p:nvSpPr>
        <p:spPr>
          <a:xfrm>
            <a:off x="4754880" y="1527048"/>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08</a:t>
            </a:r>
            <a:endParaRPr lang="en-US" sz="1200" dirty="0"/>
          </a:p>
        </p:txBody>
      </p:sp>
      <p:sp>
        <p:nvSpPr>
          <p:cNvPr id="31" name="Text 29"/>
          <p:cNvSpPr/>
          <p:nvPr/>
        </p:nvSpPr>
        <p:spPr>
          <a:xfrm>
            <a:off x="5321808" y="1554480"/>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Test Reporting</a:t>
            </a:r>
            <a:endParaRPr lang="en-US" sz="1200" dirty="0"/>
          </a:p>
        </p:txBody>
      </p:sp>
      <p:sp>
        <p:nvSpPr>
          <p:cNvPr id="32" name="Shape 30"/>
          <p:cNvSpPr/>
          <p:nvPr/>
        </p:nvSpPr>
        <p:spPr>
          <a:xfrm>
            <a:off x="4754880" y="2185416"/>
            <a:ext cx="475488" cy="438912"/>
          </a:xfrm>
          <a:prstGeom prst="rect">
            <a:avLst/>
          </a:prstGeom>
          <a:solidFill>
            <a:srgbClr val="C4500A"/>
          </a:solidFill>
          <a:ln w="12700">
            <a:solidFill>
              <a:srgbClr val="C4500A"/>
            </a:solidFill>
            <a:prstDash val="solid"/>
          </a:ln>
        </p:spPr>
      </p:sp>
      <p:sp>
        <p:nvSpPr>
          <p:cNvPr id="33" name="Text 31"/>
          <p:cNvSpPr/>
          <p:nvPr/>
        </p:nvSpPr>
        <p:spPr>
          <a:xfrm>
            <a:off x="4754880" y="2185416"/>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09</a:t>
            </a:r>
            <a:endParaRPr lang="en-US" sz="1200" dirty="0"/>
          </a:p>
        </p:txBody>
      </p:sp>
      <p:sp>
        <p:nvSpPr>
          <p:cNvPr id="34" name="Text 32"/>
          <p:cNvSpPr/>
          <p:nvPr/>
        </p:nvSpPr>
        <p:spPr>
          <a:xfrm>
            <a:off x="5321808" y="2212848"/>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Test Tools — Management, Automation &amp; IDEs</a:t>
            </a:r>
            <a:endParaRPr lang="en-US" sz="1200" dirty="0"/>
          </a:p>
        </p:txBody>
      </p:sp>
      <p:sp>
        <p:nvSpPr>
          <p:cNvPr id="35" name="Shape 33"/>
          <p:cNvSpPr/>
          <p:nvPr/>
        </p:nvSpPr>
        <p:spPr>
          <a:xfrm>
            <a:off x="4754880" y="2843784"/>
            <a:ext cx="475488" cy="438912"/>
          </a:xfrm>
          <a:prstGeom prst="rect">
            <a:avLst/>
          </a:prstGeom>
          <a:solidFill>
            <a:srgbClr val="C4500A"/>
          </a:solidFill>
          <a:ln w="12700">
            <a:solidFill>
              <a:srgbClr val="C4500A"/>
            </a:solidFill>
            <a:prstDash val="solid"/>
          </a:ln>
        </p:spPr>
      </p:sp>
      <p:sp>
        <p:nvSpPr>
          <p:cNvPr id="36" name="Text 34"/>
          <p:cNvSpPr/>
          <p:nvPr/>
        </p:nvSpPr>
        <p:spPr>
          <a:xfrm>
            <a:off x="4754880" y="2843784"/>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10</a:t>
            </a:r>
            <a:endParaRPr lang="en-US" sz="1200" dirty="0"/>
          </a:p>
        </p:txBody>
      </p:sp>
      <p:sp>
        <p:nvSpPr>
          <p:cNvPr id="37" name="Text 35"/>
          <p:cNvSpPr/>
          <p:nvPr/>
        </p:nvSpPr>
        <p:spPr>
          <a:xfrm>
            <a:off x="5321808" y="2871216"/>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Real-World Workflow Example</a:t>
            </a:r>
            <a:endParaRPr lang="en-US" sz="1200" dirty="0"/>
          </a:p>
        </p:txBody>
      </p:sp>
      <p:sp>
        <p:nvSpPr>
          <p:cNvPr id="38" name="Shape 36"/>
          <p:cNvSpPr/>
          <p:nvPr/>
        </p:nvSpPr>
        <p:spPr>
          <a:xfrm>
            <a:off x="4754880" y="3502152"/>
            <a:ext cx="475488" cy="438912"/>
          </a:xfrm>
          <a:prstGeom prst="rect">
            <a:avLst/>
          </a:prstGeom>
          <a:solidFill>
            <a:srgbClr val="C4500A"/>
          </a:solidFill>
          <a:ln w="12700">
            <a:solidFill>
              <a:srgbClr val="C4500A"/>
            </a:solidFill>
            <a:prstDash val="solid"/>
          </a:ln>
        </p:spPr>
      </p:sp>
      <p:sp>
        <p:nvSpPr>
          <p:cNvPr id="39" name="Text 37"/>
          <p:cNvSpPr/>
          <p:nvPr/>
        </p:nvSpPr>
        <p:spPr>
          <a:xfrm>
            <a:off x="4754880" y="3502152"/>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11</a:t>
            </a:r>
            <a:endParaRPr lang="en-US" sz="1200" dirty="0"/>
          </a:p>
        </p:txBody>
      </p:sp>
      <p:sp>
        <p:nvSpPr>
          <p:cNvPr id="40" name="Text 38"/>
          <p:cNvSpPr/>
          <p:nvPr/>
        </p:nvSpPr>
        <p:spPr>
          <a:xfrm>
            <a:off x="5321808" y="3529584"/>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Best Practices &amp; Common Challenges</a:t>
            </a:r>
            <a:endParaRPr lang="en-US" sz="1200" dirty="0"/>
          </a:p>
        </p:txBody>
      </p:sp>
      <p:sp>
        <p:nvSpPr>
          <p:cNvPr id="41" name="Shape 39"/>
          <p:cNvSpPr/>
          <p:nvPr/>
        </p:nvSpPr>
        <p:spPr>
          <a:xfrm>
            <a:off x="4754880" y="4160520"/>
            <a:ext cx="475488" cy="438912"/>
          </a:xfrm>
          <a:prstGeom prst="rect">
            <a:avLst/>
          </a:prstGeom>
          <a:solidFill>
            <a:srgbClr val="C4500A"/>
          </a:solidFill>
          <a:ln w="12700">
            <a:solidFill>
              <a:srgbClr val="C4500A"/>
            </a:solidFill>
            <a:prstDash val="solid"/>
          </a:ln>
        </p:spPr>
      </p:sp>
      <p:sp>
        <p:nvSpPr>
          <p:cNvPr id="42" name="Text 40"/>
          <p:cNvSpPr/>
          <p:nvPr/>
        </p:nvSpPr>
        <p:spPr>
          <a:xfrm>
            <a:off x="4754880" y="4160520"/>
            <a:ext cx="475488"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12</a:t>
            </a:r>
            <a:endParaRPr lang="en-US" sz="1200" dirty="0"/>
          </a:p>
        </p:txBody>
      </p:sp>
      <p:sp>
        <p:nvSpPr>
          <p:cNvPr id="43" name="Text 41"/>
          <p:cNvSpPr/>
          <p:nvPr/>
        </p:nvSpPr>
        <p:spPr>
          <a:xfrm>
            <a:off x="5321808" y="4187952"/>
            <a:ext cx="3657600" cy="384048"/>
          </a:xfrm>
          <a:prstGeom prst="rect">
            <a:avLst/>
          </a:prstGeom>
          <a:noFill/>
          <a:ln/>
        </p:spPr>
        <p:txBody>
          <a:bodyPr wrap="square" lIns="0" tIns="0" rIns="0" bIns="0" rtlCol="0" anchor="ctr"/>
          <a:lstStyle/>
          <a:p>
            <a:pPr marL="0" indent="0">
              <a:buNone/>
            </a:pPr>
            <a:r>
              <a:rPr lang="en-US" sz="1200" dirty="0">
                <a:solidFill>
                  <a:srgbClr val="FFFFFF"/>
                </a:solidFill>
                <a:latin typeface="Arial" pitchFamily="34" charset="0"/>
                <a:ea typeface="Arial" pitchFamily="34" charset="-122"/>
                <a:cs typeface="Arial" pitchFamily="34" charset="-120"/>
              </a:rPr>
              <a:t>Summary &amp; Q&amp;A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01</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Introduction to Test</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Management &amp; Control</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Foundations of Quality Engineering</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What is Test Management?</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8778240" cy="914400"/>
          </a:xfrm>
          <a:prstGeom prst="rect">
            <a:avLst/>
          </a:prstGeom>
          <a:solidFill>
            <a:srgbClr val="2C2C2C"/>
          </a:solidFill>
          <a:ln w="12700">
            <a:solidFill>
              <a:srgbClr val="E8650A"/>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91440" cy="914400"/>
          </a:xfrm>
          <a:prstGeom prst="rect">
            <a:avLst/>
          </a:prstGeom>
          <a:solidFill>
            <a:srgbClr val="E8650A"/>
          </a:solidFill>
          <a:ln w="12700">
            <a:solidFill>
              <a:srgbClr val="E8650A"/>
            </a:solidFill>
            <a:prstDash val="solid"/>
          </a:ln>
        </p:spPr>
      </p:sp>
      <p:sp>
        <p:nvSpPr>
          <p:cNvPr id="10" name="Text 8"/>
          <p:cNvSpPr/>
          <p:nvPr/>
        </p:nvSpPr>
        <p:spPr>
          <a:xfrm>
            <a:off x="365760" y="813816"/>
            <a:ext cx="8503920" cy="274320"/>
          </a:xfrm>
          <a:prstGeom prst="rect">
            <a:avLst/>
          </a:prstGeom>
          <a:noFill/>
          <a:ln/>
        </p:spPr>
        <p:txBody>
          <a:bodyPr wrap="square" lIns="0" tIns="0" rIns="0" bIns="0" rtlCol="0" anchor="ctr"/>
          <a:lstStyle/>
          <a:p>
            <a:pPr marL="0" indent="0">
              <a:buNone/>
            </a:pPr>
            <a:r>
              <a:rPr lang="en-US" sz="1100" b="1" dirty="0">
                <a:solidFill>
                  <a:srgbClr val="E8650A"/>
                </a:solidFill>
                <a:latin typeface="Arial" pitchFamily="34" charset="0"/>
                <a:ea typeface="Arial" pitchFamily="34" charset="-122"/>
                <a:cs typeface="Arial" pitchFamily="34" charset="-120"/>
              </a:rPr>
              <a:t>Definition</a:t>
            </a:r>
            <a:endParaRPr lang="en-US" sz="1100" dirty="0"/>
          </a:p>
        </p:txBody>
      </p:sp>
      <p:sp>
        <p:nvSpPr>
          <p:cNvPr id="11" name="Text 9"/>
          <p:cNvSpPr/>
          <p:nvPr/>
        </p:nvSpPr>
        <p:spPr>
          <a:xfrm>
            <a:off x="365760" y="1069848"/>
            <a:ext cx="8503920" cy="594360"/>
          </a:xfrm>
          <a:prstGeom prst="rect">
            <a:avLst/>
          </a:prstGeom>
          <a:noFill/>
          <a:ln/>
        </p:spPr>
        <p:txBody>
          <a:bodyPr wrap="square" lIns="0" tIns="0" rIns="0" bIns="0" rtlCol="0" anchor="ctr"/>
          <a:lstStyle/>
          <a:p>
            <a:pPr marL="0" indent="0">
              <a:buNone/>
            </a:pPr>
            <a:r>
              <a:rPr lang="en-US" sz="1200" dirty="0">
                <a:solidFill>
                  <a:srgbClr val="F5F5F5"/>
                </a:solidFill>
                <a:latin typeface="Arial" pitchFamily="34" charset="0"/>
                <a:ea typeface="Arial" pitchFamily="34" charset="-122"/>
                <a:cs typeface="Arial" pitchFamily="34" charset="-120"/>
              </a:rPr>
              <a:t>Test Management is the systematic process of planning, organizing, directing, monitoring, and controlling all testing activities throughout the Software Testing Life Cycle (STLC). It serves as the operational backbone that ensures testing is conducted in a structured, repeatable, and measurable manner.</a:t>
            </a:r>
            <a:endParaRPr lang="en-US" sz="1200" dirty="0"/>
          </a:p>
        </p:txBody>
      </p:sp>
      <p:sp>
        <p:nvSpPr>
          <p:cNvPr id="12" name="Text 10"/>
          <p:cNvSpPr/>
          <p:nvPr/>
        </p:nvSpPr>
        <p:spPr>
          <a:xfrm>
            <a:off x="182880" y="1874520"/>
            <a:ext cx="8229600" cy="320040"/>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Key Responsibilities of Test Management:</a:t>
            </a:r>
            <a:endParaRPr lang="en-US" sz="1400" dirty="0"/>
          </a:p>
        </p:txBody>
      </p:sp>
      <p:sp>
        <p:nvSpPr>
          <p:cNvPr id="13" name="Shape 11"/>
          <p:cNvSpPr/>
          <p:nvPr/>
        </p:nvSpPr>
        <p:spPr>
          <a:xfrm>
            <a:off x="182880" y="2286000"/>
            <a:ext cx="4343400" cy="8686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4" name="Shape 12"/>
          <p:cNvSpPr/>
          <p:nvPr/>
        </p:nvSpPr>
        <p:spPr>
          <a:xfrm>
            <a:off x="182880" y="2286000"/>
            <a:ext cx="73152" cy="868680"/>
          </a:xfrm>
          <a:prstGeom prst="rect">
            <a:avLst/>
          </a:prstGeom>
          <a:solidFill>
            <a:srgbClr val="E8650A"/>
          </a:solidFill>
          <a:ln w="12700">
            <a:solidFill>
              <a:srgbClr val="E8650A"/>
            </a:solidFill>
            <a:prstDash val="solid"/>
          </a:ln>
        </p:spPr>
      </p:sp>
      <p:sp>
        <p:nvSpPr>
          <p:cNvPr id="15" name="Text 13"/>
          <p:cNvSpPr/>
          <p:nvPr/>
        </p:nvSpPr>
        <p:spPr>
          <a:xfrm>
            <a:off x="347472" y="2331720"/>
            <a:ext cx="411480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Strategic Planning</a:t>
            </a:r>
            <a:endParaRPr lang="en-US" sz="1200" dirty="0"/>
          </a:p>
        </p:txBody>
      </p:sp>
      <p:sp>
        <p:nvSpPr>
          <p:cNvPr id="16" name="Text 14"/>
          <p:cNvSpPr/>
          <p:nvPr/>
        </p:nvSpPr>
        <p:spPr>
          <a:xfrm>
            <a:off x="347472" y="2578608"/>
            <a:ext cx="4114800" cy="50292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Defining the overall testing approach, scope, schedule, and resource allocation before testing begins.</a:t>
            </a:r>
            <a:endParaRPr lang="en-US" sz="1050" dirty="0"/>
          </a:p>
        </p:txBody>
      </p:sp>
      <p:sp>
        <p:nvSpPr>
          <p:cNvPr id="17" name="Shape 15"/>
          <p:cNvSpPr/>
          <p:nvPr/>
        </p:nvSpPr>
        <p:spPr>
          <a:xfrm>
            <a:off x="4709160" y="2286000"/>
            <a:ext cx="4343400" cy="8686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8" name="Shape 16"/>
          <p:cNvSpPr/>
          <p:nvPr/>
        </p:nvSpPr>
        <p:spPr>
          <a:xfrm>
            <a:off x="4709160" y="2286000"/>
            <a:ext cx="73152" cy="868680"/>
          </a:xfrm>
          <a:prstGeom prst="rect">
            <a:avLst/>
          </a:prstGeom>
          <a:solidFill>
            <a:srgbClr val="E8650A"/>
          </a:solidFill>
          <a:ln w="12700">
            <a:solidFill>
              <a:srgbClr val="E8650A"/>
            </a:solidFill>
            <a:prstDash val="solid"/>
          </a:ln>
        </p:spPr>
      </p:sp>
      <p:sp>
        <p:nvSpPr>
          <p:cNvPr id="19" name="Text 17"/>
          <p:cNvSpPr/>
          <p:nvPr/>
        </p:nvSpPr>
        <p:spPr>
          <a:xfrm>
            <a:off x="4873752" y="2331720"/>
            <a:ext cx="411480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Team Coordination</a:t>
            </a:r>
            <a:endParaRPr lang="en-US" sz="1200" dirty="0"/>
          </a:p>
        </p:txBody>
      </p:sp>
      <p:sp>
        <p:nvSpPr>
          <p:cNvPr id="20" name="Text 18"/>
          <p:cNvSpPr/>
          <p:nvPr/>
        </p:nvSpPr>
        <p:spPr>
          <a:xfrm>
            <a:off x="4873752" y="2578608"/>
            <a:ext cx="4114800" cy="50292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Managing testers, assigning tasks, and ensuring collaboration between QA, Dev, BA, and Ops teams.</a:t>
            </a:r>
            <a:endParaRPr lang="en-US" sz="1050" dirty="0"/>
          </a:p>
        </p:txBody>
      </p:sp>
      <p:sp>
        <p:nvSpPr>
          <p:cNvPr id="21" name="Shape 19"/>
          <p:cNvSpPr/>
          <p:nvPr/>
        </p:nvSpPr>
        <p:spPr>
          <a:xfrm>
            <a:off x="182880" y="3291840"/>
            <a:ext cx="4343400" cy="8686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2" name="Shape 20"/>
          <p:cNvSpPr/>
          <p:nvPr/>
        </p:nvSpPr>
        <p:spPr>
          <a:xfrm>
            <a:off x="182880" y="3291840"/>
            <a:ext cx="73152" cy="868680"/>
          </a:xfrm>
          <a:prstGeom prst="rect">
            <a:avLst/>
          </a:prstGeom>
          <a:solidFill>
            <a:srgbClr val="E8650A"/>
          </a:solidFill>
          <a:ln w="12700">
            <a:solidFill>
              <a:srgbClr val="E8650A"/>
            </a:solidFill>
            <a:prstDash val="solid"/>
          </a:ln>
        </p:spPr>
      </p:sp>
      <p:sp>
        <p:nvSpPr>
          <p:cNvPr id="23" name="Text 21"/>
          <p:cNvSpPr/>
          <p:nvPr/>
        </p:nvSpPr>
        <p:spPr>
          <a:xfrm>
            <a:off x="347472" y="3337560"/>
            <a:ext cx="411480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Process Governance</a:t>
            </a:r>
            <a:endParaRPr lang="en-US" sz="1200" dirty="0"/>
          </a:p>
        </p:txBody>
      </p:sp>
      <p:sp>
        <p:nvSpPr>
          <p:cNvPr id="24" name="Text 22"/>
          <p:cNvSpPr/>
          <p:nvPr/>
        </p:nvSpPr>
        <p:spPr>
          <a:xfrm>
            <a:off x="347472" y="3584448"/>
            <a:ext cx="4114800" cy="50292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Enforcing testing standards, quality gates, and review processes throughout the project lifecycle.</a:t>
            </a:r>
            <a:endParaRPr lang="en-US" sz="1050" dirty="0"/>
          </a:p>
        </p:txBody>
      </p:sp>
      <p:sp>
        <p:nvSpPr>
          <p:cNvPr id="25" name="Shape 23"/>
          <p:cNvSpPr/>
          <p:nvPr/>
        </p:nvSpPr>
        <p:spPr>
          <a:xfrm>
            <a:off x="4709160" y="3291840"/>
            <a:ext cx="4343400" cy="8686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6" name="Shape 24"/>
          <p:cNvSpPr/>
          <p:nvPr/>
        </p:nvSpPr>
        <p:spPr>
          <a:xfrm>
            <a:off x="4709160" y="3291840"/>
            <a:ext cx="73152" cy="868680"/>
          </a:xfrm>
          <a:prstGeom prst="rect">
            <a:avLst/>
          </a:prstGeom>
          <a:solidFill>
            <a:srgbClr val="E8650A"/>
          </a:solidFill>
          <a:ln w="12700">
            <a:solidFill>
              <a:srgbClr val="E8650A"/>
            </a:solidFill>
            <a:prstDash val="solid"/>
          </a:ln>
        </p:spPr>
      </p:sp>
      <p:sp>
        <p:nvSpPr>
          <p:cNvPr id="27" name="Text 25"/>
          <p:cNvSpPr/>
          <p:nvPr/>
        </p:nvSpPr>
        <p:spPr>
          <a:xfrm>
            <a:off x="4873752" y="3337560"/>
            <a:ext cx="411480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Tracking &amp; Reporting</a:t>
            </a:r>
            <a:endParaRPr lang="en-US" sz="1200" dirty="0"/>
          </a:p>
        </p:txBody>
      </p:sp>
      <p:sp>
        <p:nvSpPr>
          <p:cNvPr id="28" name="Text 26"/>
          <p:cNvSpPr/>
          <p:nvPr/>
        </p:nvSpPr>
        <p:spPr>
          <a:xfrm>
            <a:off x="4873752" y="3584448"/>
            <a:ext cx="4114800" cy="50292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Continuously monitoring test execution progress and communicating status to all stakeholders.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What is Test Control?</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8778240" cy="914400"/>
          </a:xfrm>
          <a:prstGeom prst="rect">
            <a:avLst/>
          </a:prstGeom>
          <a:solidFill>
            <a:srgbClr val="2C2C2C"/>
          </a:solidFill>
          <a:ln w="12700">
            <a:solidFill>
              <a:srgbClr val="E8650A"/>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91440" cy="914400"/>
          </a:xfrm>
          <a:prstGeom prst="rect">
            <a:avLst/>
          </a:prstGeom>
          <a:solidFill>
            <a:srgbClr val="E8650A"/>
          </a:solidFill>
          <a:ln w="12700">
            <a:solidFill>
              <a:srgbClr val="E8650A"/>
            </a:solidFill>
            <a:prstDash val="solid"/>
          </a:ln>
        </p:spPr>
      </p:sp>
      <p:sp>
        <p:nvSpPr>
          <p:cNvPr id="10" name="Text 8"/>
          <p:cNvSpPr/>
          <p:nvPr/>
        </p:nvSpPr>
        <p:spPr>
          <a:xfrm>
            <a:off x="365760" y="813816"/>
            <a:ext cx="8503920" cy="274320"/>
          </a:xfrm>
          <a:prstGeom prst="rect">
            <a:avLst/>
          </a:prstGeom>
          <a:noFill/>
          <a:ln/>
        </p:spPr>
        <p:txBody>
          <a:bodyPr wrap="square" lIns="0" tIns="0" rIns="0" bIns="0" rtlCol="0" anchor="ctr"/>
          <a:lstStyle/>
          <a:p>
            <a:pPr marL="0" indent="0">
              <a:buNone/>
            </a:pPr>
            <a:r>
              <a:rPr lang="en-US" sz="1100" b="1" dirty="0">
                <a:solidFill>
                  <a:srgbClr val="E8650A"/>
                </a:solidFill>
                <a:latin typeface="Arial" pitchFamily="34" charset="0"/>
                <a:ea typeface="Arial" pitchFamily="34" charset="-122"/>
                <a:cs typeface="Arial" pitchFamily="34" charset="-120"/>
              </a:rPr>
              <a:t>Definition</a:t>
            </a:r>
            <a:endParaRPr lang="en-US" sz="1100" dirty="0"/>
          </a:p>
        </p:txBody>
      </p:sp>
      <p:sp>
        <p:nvSpPr>
          <p:cNvPr id="11" name="Text 9"/>
          <p:cNvSpPr/>
          <p:nvPr/>
        </p:nvSpPr>
        <p:spPr>
          <a:xfrm>
            <a:off x="365760" y="1069848"/>
            <a:ext cx="8503920" cy="594360"/>
          </a:xfrm>
          <a:prstGeom prst="rect">
            <a:avLst/>
          </a:prstGeom>
          <a:noFill/>
          <a:ln/>
        </p:spPr>
        <p:txBody>
          <a:bodyPr wrap="square" lIns="0" tIns="0" rIns="0" bIns="0" rtlCol="0" anchor="ctr"/>
          <a:lstStyle/>
          <a:p>
            <a:pPr marL="0" indent="0">
              <a:buNone/>
            </a:pPr>
            <a:r>
              <a:rPr lang="en-US" sz="1200" dirty="0">
                <a:solidFill>
                  <a:srgbClr val="F5F5F5"/>
                </a:solidFill>
                <a:latin typeface="Arial" pitchFamily="34" charset="0"/>
                <a:ea typeface="Arial" pitchFamily="34" charset="-122"/>
                <a:cs typeface="Arial" pitchFamily="34" charset="-120"/>
              </a:rPr>
              <a:t>Test Control is the ongoing activity within test management where actual results are compared against planned objectives, and corrective actions are taken to align testing back to the plan. It is reactive in nature — responding to deviations, risks materializing, or resource constraints in real time.</a:t>
            </a:r>
            <a:endParaRPr lang="en-US" sz="1200" dirty="0"/>
          </a:p>
        </p:txBody>
      </p:sp>
      <p:sp>
        <p:nvSpPr>
          <p:cNvPr id="12" name="Text 10"/>
          <p:cNvSpPr/>
          <p:nvPr/>
        </p:nvSpPr>
        <p:spPr>
          <a:xfrm>
            <a:off x="182880" y="1874520"/>
            <a:ext cx="8229600" cy="320040"/>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Test Control vs. Test Monitoring — The Critical Distinction:</a:t>
            </a:r>
            <a:endParaRPr lang="en-US" sz="1400" dirty="0"/>
          </a:p>
        </p:txBody>
      </p:sp>
      <p:sp>
        <p:nvSpPr>
          <p:cNvPr id="13" name="Shape 11"/>
          <p:cNvSpPr/>
          <p:nvPr/>
        </p:nvSpPr>
        <p:spPr>
          <a:xfrm>
            <a:off x="182880" y="2286000"/>
            <a:ext cx="4206240" cy="24688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4" name="Shape 12"/>
          <p:cNvSpPr/>
          <p:nvPr/>
        </p:nvSpPr>
        <p:spPr>
          <a:xfrm>
            <a:off x="182880" y="2286000"/>
            <a:ext cx="4206240" cy="384048"/>
          </a:xfrm>
          <a:prstGeom prst="rect">
            <a:avLst/>
          </a:prstGeom>
          <a:solidFill>
            <a:srgbClr val="2C2C2C"/>
          </a:solidFill>
          <a:ln w="12700">
            <a:solidFill>
              <a:srgbClr val="2C2C2C"/>
            </a:solidFill>
            <a:prstDash val="solid"/>
          </a:ln>
        </p:spPr>
      </p:sp>
      <p:sp>
        <p:nvSpPr>
          <p:cNvPr id="15" name="Text 13"/>
          <p:cNvSpPr/>
          <p:nvPr/>
        </p:nvSpPr>
        <p:spPr>
          <a:xfrm>
            <a:off x="274320" y="2304288"/>
            <a:ext cx="4023360" cy="347472"/>
          </a:xfrm>
          <a:prstGeom prst="rect">
            <a:avLst/>
          </a:prstGeom>
          <a:noFill/>
          <a:ln/>
        </p:spPr>
        <p:txBody>
          <a:bodyPr wrap="square" lIns="0" tIns="0" rIns="0" bIns="0" rtlCol="0" anchor="ctr"/>
          <a:lstStyle/>
          <a:p>
            <a:pPr marL="0" indent="0">
              <a:buNone/>
            </a:pPr>
            <a:r>
              <a:rPr lang="en-US" sz="1300" b="1" dirty="0">
                <a:solidFill>
                  <a:srgbClr val="E8650A"/>
                </a:solidFill>
                <a:latin typeface="Arial Black" pitchFamily="34" charset="0"/>
                <a:ea typeface="Arial Black" pitchFamily="34" charset="-122"/>
                <a:cs typeface="Arial Black" pitchFamily="34" charset="-120"/>
              </a:rPr>
              <a:t>📊  TEST MONITORING</a:t>
            </a:r>
            <a:endParaRPr lang="en-US" sz="1300" dirty="0"/>
          </a:p>
        </p:txBody>
      </p:sp>
      <p:sp>
        <p:nvSpPr>
          <p:cNvPr id="16" name="Text 14"/>
          <p:cNvSpPr/>
          <p:nvPr/>
        </p:nvSpPr>
        <p:spPr>
          <a:xfrm>
            <a:off x="320040" y="2724912"/>
            <a:ext cx="3931920" cy="19202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Observes and collects test progress data</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Measures metrics vs plan (e.g. % executed)</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Detects variances between actual and planned</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Generates status dashboards &amp; trend reports</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Passive: records what IS happening</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Feeds data INTO test control decisions</a:t>
            </a:r>
            <a:endParaRPr lang="en-US" sz="1100" dirty="0"/>
          </a:p>
        </p:txBody>
      </p:sp>
      <p:sp>
        <p:nvSpPr>
          <p:cNvPr id="17" name="Shape 15"/>
          <p:cNvSpPr/>
          <p:nvPr/>
        </p:nvSpPr>
        <p:spPr>
          <a:xfrm>
            <a:off x="4736592" y="2286000"/>
            <a:ext cx="4206240" cy="24688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8" name="Shape 16"/>
          <p:cNvSpPr/>
          <p:nvPr/>
        </p:nvSpPr>
        <p:spPr>
          <a:xfrm>
            <a:off x="4736592" y="2286000"/>
            <a:ext cx="4206240" cy="384048"/>
          </a:xfrm>
          <a:prstGeom prst="rect">
            <a:avLst/>
          </a:prstGeom>
          <a:solidFill>
            <a:srgbClr val="C4500A"/>
          </a:solidFill>
          <a:ln w="12700">
            <a:solidFill>
              <a:srgbClr val="C4500A"/>
            </a:solidFill>
            <a:prstDash val="solid"/>
          </a:ln>
        </p:spPr>
      </p:sp>
      <p:sp>
        <p:nvSpPr>
          <p:cNvPr id="19" name="Text 17"/>
          <p:cNvSpPr/>
          <p:nvPr/>
        </p:nvSpPr>
        <p:spPr>
          <a:xfrm>
            <a:off x="4828032" y="2304288"/>
            <a:ext cx="4023360" cy="347472"/>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TEST CONTROL</a:t>
            </a:r>
            <a:endParaRPr lang="en-US" sz="1300" dirty="0"/>
          </a:p>
        </p:txBody>
      </p:sp>
      <p:sp>
        <p:nvSpPr>
          <p:cNvPr id="20" name="Text 18"/>
          <p:cNvSpPr/>
          <p:nvPr/>
        </p:nvSpPr>
        <p:spPr>
          <a:xfrm>
            <a:off x="4873752" y="2724912"/>
            <a:ext cx="3931920" cy="1920240"/>
          </a:xfrm>
          <a:prstGeom prst="rect">
            <a:avLst/>
          </a:prstGeom>
          <a:noFill/>
          <a:ln/>
        </p:spPr>
        <p:txBody>
          <a:bodyPr wrap="square" lIns="0" tIns="0" rIns="0" bIns="0" rtlCol="0" anchor="ctr"/>
          <a:lstStyle/>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Analyses monitoring data &amp; identifies gaps</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Takes corrective action to close variances</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Re-prioritizes test cases when scope shifts</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Reallocates testers, extends timelines, or adjusts scope</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Active: changes WHAT IS happening</a:t>
            </a:r>
            <a:endParaRPr lang="en-US" sz="1100" dirty="0"/>
          </a:p>
          <a:p>
            <a:pPr marL="342900" indent="-342900">
              <a:spcAft>
                <a:spcPts val="400"/>
              </a:spcAft>
              <a:buSzPct val="100000"/>
              <a:buChar char="•"/>
            </a:pPr>
            <a:r>
              <a:rPr lang="en-US" sz="1100" dirty="0">
                <a:solidFill>
                  <a:srgbClr val="F5F5F5"/>
                </a:solidFill>
                <a:latin typeface="Arial" pitchFamily="34" charset="0"/>
                <a:ea typeface="Arial" pitchFamily="34" charset="-122"/>
                <a:cs typeface="Arial" pitchFamily="34" charset="-120"/>
              </a:rPr>
              <a:t>Ensures delivery remains on track despite issues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Importance in Quality Engineering &amp; Role within STLC</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01  |  INTRODUCTION</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22960"/>
            <a:ext cx="4206240" cy="347472"/>
          </a:xfrm>
          <a:prstGeom prst="rect">
            <a:avLst/>
          </a:prstGeom>
          <a:noFill/>
          <a:ln/>
        </p:spPr>
        <p:txBody>
          <a:bodyPr wrap="square" lIns="0" tIns="0" rIns="0" bIns="0"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Why Test Management Matters</a:t>
            </a:r>
            <a:endParaRPr lang="en-US" sz="1400" dirty="0"/>
          </a:p>
        </p:txBody>
      </p:sp>
      <p:sp>
        <p:nvSpPr>
          <p:cNvPr id="9" name="Shape 7"/>
          <p:cNvSpPr/>
          <p:nvPr/>
        </p:nvSpPr>
        <p:spPr>
          <a:xfrm>
            <a:off x="182880" y="1261872"/>
            <a:ext cx="4114800" cy="62179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0" name="Shape 8"/>
          <p:cNvSpPr/>
          <p:nvPr/>
        </p:nvSpPr>
        <p:spPr>
          <a:xfrm>
            <a:off x="182880" y="1261872"/>
            <a:ext cx="73152" cy="621792"/>
          </a:xfrm>
          <a:prstGeom prst="rect">
            <a:avLst/>
          </a:prstGeom>
          <a:solidFill>
            <a:srgbClr val="E8650A"/>
          </a:solidFill>
          <a:ln w="12700">
            <a:solidFill>
              <a:srgbClr val="E8650A"/>
            </a:solidFill>
            <a:prstDash val="solid"/>
          </a:ln>
        </p:spPr>
      </p:sp>
      <p:sp>
        <p:nvSpPr>
          <p:cNvPr id="11" name="Text 9"/>
          <p:cNvSpPr/>
          <p:nvPr/>
        </p:nvSpPr>
        <p:spPr>
          <a:xfrm>
            <a:off x="320040" y="1298448"/>
            <a:ext cx="3886200" cy="219456"/>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Quality Assurance</a:t>
            </a:r>
            <a:endParaRPr lang="en-US" sz="1150" dirty="0"/>
          </a:p>
        </p:txBody>
      </p:sp>
      <p:sp>
        <p:nvSpPr>
          <p:cNvPr id="12" name="Text 10"/>
          <p:cNvSpPr/>
          <p:nvPr/>
        </p:nvSpPr>
        <p:spPr>
          <a:xfrm>
            <a:off x="320040" y="1536192"/>
            <a:ext cx="3886200" cy="31089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Ensures every software release meets defined acceptance criteria and business requirements.</a:t>
            </a:r>
            <a:endParaRPr lang="en-US" sz="1000" dirty="0"/>
          </a:p>
        </p:txBody>
      </p:sp>
      <p:sp>
        <p:nvSpPr>
          <p:cNvPr id="13" name="Shape 11"/>
          <p:cNvSpPr/>
          <p:nvPr/>
        </p:nvSpPr>
        <p:spPr>
          <a:xfrm>
            <a:off x="182880" y="1965960"/>
            <a:ext cx="4114800" cy="62179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4" name="Shape 12"/>
          <p:cNvSpPr/>
          <p:nvPr/>
        </p:nvSpPr>
        <p:spPr>
          <a:xfrm>
            <a:off x="182880" y="1965960"/>
            <a:ext cx="73152" cy="621792"/>
          </a:xfrm>
          <a:prstGeom prst="rect">
            <a:avLst/>
          </a:prstGeom>
          <a:solidFill>
            <a:srgbClr val="E8650A"/>
          </a:solidFill>
          <a:ln w="12700">
            <a:solidFill>
              <a:srgbClr val="E8650A"/>
            </a:solidFill>
            <a:prstDash val="solid"/>
          </a:ln>
        </p:spPr>
      </p:sp>
      <p:sp>
        <p:nvSpPr>
          <p:cNvPr id="15" name="Text 13"/>
          <p:cNvSpPr/>
          <p:nvPr/>
        </p:nvSpPr>
        <p:spPr>
          <a:xfrm>
            <a:off x="320040" y="2002536"/>
            <a:ext cx="3886200" cy="219456"/>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Cost Reduction</a:t>
            </a:r>
            <a:endParaRPr lang="en-US" sz="1150" dirty="0"/>
          </a:p>
        </p:txBody>
      </p:sp>
      <p:sp>
        <p:nvSpPr>
          <p:cNvPr id="16" name="Text 14"/>
          <p:cNvSpPr/>
          <p:nvPr/>
        </p:nvSpPr>
        <p:spPr>
          <a:xfrm>
            <a:off x="320040" y="2240280"/>
            <a:ext cx="3886200" cy="31089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Finding defects early in the STLC is 10-100x cheaper than post-production defect resolution.</a:t>
            </a:r>
            <a:endParaRPr lang="en-US" sz="1000" dirty="0"/>
          </a:p>
        </p:txBody>
      </p:sp>
      <p:sp>
        <p:nvSpPr>
          <p:cNvPr id="17" name="Shape 15"/>
          <p:cNvSpPr/>
          <p:nvPr/>
        </p:nvSpPr>
        <p:spPr>
          <a:xfrm>
            <a:off x="182880" y="2670048"/>
            <a:ext cx="4114800" cy="62179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18" name="Shape 16"/>
          <p:cNvSpPr/>
          <p:nvPr/>
        </p:nvSpPr>
        <p:spPr>
          <a:xfrm>
            <a:off x="182880" y="2670048"/>
            <a:ext cx="73152" cy="621792"/>
          </a:xfrm>
          <a:prstGeom prst="rect">
            <a:avLst/>
          </a:prstGeom>
          <a:solidFill>
            <a:srgbClr val="E8650A"/>
          </a:solidFill>
          <a:ln w="12700">
            <a:solidFill>
              <a:srgbClr val="E8650A"/>
            </a:solidFill>
            <a:prstDash val="solid"/>
          </a:ln>
        </p:spPr>
      </p:sp>
      <p:sp>
        <p:nvSpPr>
          <p:cNvPr id="19" name="Text 17"/>
          <p:cNvSpPr/>
          <p:nvPr/>
        </p:nvSpPr>
        <p:spPr>
          <a:xfrm>
            <a:off x="320040" y="2706624"/>
            <a:ext cx="3886200" cy="219456"/>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Risk Control</a:t>
            </a:r>
            <a:endParaRPr lang="en-US" sz="1150" dirty="0"/>
          </a:p>
        </p:txBody>
      </p:sp>
      <p:sp>
        <p:nvSpPr>
          <p:cNvPr id="20" name="Text 18"/>
          <p:cNvSpPr/>
          <p:nvPr/>
        </p:nvSpPr>
        <p:spPr>
          <a:xfrm>
            <a:off x="320040" y="2944368"/>
            <a:ext cx="3886200" cy="31089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Proactively identifies high-risk areas, focusing testing effort where failure impact is greatest.</a:t>
            </a:r>
            <a:endParaRPr lang="en-US" sz="1000" dirty="0"/>
          </a:p>
        </p:txBody>
      </p:sp>
      <p:sp>
        <p:nvSpPr>
          <p:cNvPr id="21" name="Shape 19"/>
          <p:cNvSpPr/>
          <p:nvPr/>
        </p:nvSpPr>
        <p:spPr>
          <a:xfrm>
            <a:off x="182880" y="3374136"/>
            <a:ext cx="4114800" cy="62179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22" name="Shape 20"/>
          <p:cNvSpPr/>
          <p:nvPr/>
        </p:nvSpPr>
        <p:spPr>
          <a:xfrm>
            <a:off x="182880" y="3374136"/>
            <a:ext cx="73152" cy="621792"/>
          </a:xfrm>
          <a:prstGeom prst="rect">
            <a:avLst/>
          </a:prstGeom>
          <a:solidFill>
            <a:srgbClr val="E8650A"/>
          </a:solidFill>
          <a:ln w="12700">
            <a:solidFill>
              <a:srgbClr val="E8650A"/>
            </a:solidFill>
            <a:prstDash val="solid"/>
          </a:ln>
        </p:spPr>
      </p:sp>
      <p:sp>
        <p:nvSpPr>
          <p:cNvPr id="23" name="Text 21"/>
          <p:cNvSpPr/>
          <p:nvPr/>
        </p:nvSpPr>
        <p:spPr>
          <a:xfrm>
            <a:off x="320040" y="3410712"/>
            <a:ext cx="3886200" cy="219456"/>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Stakeholder Trust</a:t>
            </a:r>
            <a:endParaRPr lang="en-US" sz="1150" dirty="0"/>
          </a:p>
        </p:txBody>
      </p:sp>
      <p:sp>
        <p:nvSpPr>
          <p:cNvPr id="24" name="Text 22"/>
          <p:cNvSpPr/>
          <p:nvPr/>
        </p:nvSpPr>
        <p:spPr>
          <a:xfrm>
            <a:off x="320040" y="3648456"/>
            <a:ext cx="3886200" cy="31089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Systematic test reports provide transparent evidence of quality to clients and leadership.</a:t>
            </a:r>
            <a:endParaRPr lang="en-US" sz="1000" dirty="0"/>
          </a:p>
        </p:txBody>
      </p:sp>
      <p:sp>
        <p:nvSpPr>
          <p:cNvPr id="25" name="Shape 23"/>
          <p:cNvSpPr/>
          <p:nvPr/>
        </p:nvSpPr>
        <p:spPr>
          <a:xfrm>
            <a:off x="182880" y="4078224"/>
            <a:ext cx="4114800" cy="62179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26" name="Shape 24"/>
          <p:cNvSpPr/>
          <p:nvPr/>
        </p:nvSpPr>
        <p:spPr>
          <a:xfrm>
            <a:off x="182880" y="4078224"/>
            <a:ext cx="73152" cy="621792"/>
          </a:xfrm>
          <a:prstGeom prst="rect">
            <a:avLst/>
          </a:prstGeom>
          <a:solidFill>
            <a:srgbClr val="E8650A"/>
          </a:solidFill>
          <a:ln w="12700">
            <a:solidFill>
              <a:srgbClr val="E8650A"/>
            </a:solidFill>
            <a:prstDash val="solid"/>
          </a:ln>
        </p:spPr>
      </p:sp>
      <p:sp>
        <p:nvSpPr>
          <p:cNvPr id="27" name="Text 25"/>
          <p:cNvSpPr/>
          <p:nvPr/>
        </p:nvSpPr>
        <p:spPr>
          <a:xfrm>
            <a:off x="320040" y="4114800"/>
            <a:ext cx="3886200" cy="219456"/>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Regulatory Compliance</a:t>
            </a:r>
            <a:endParaRPr lang="en-US" sz="1150" dirty="0"/>
          </a:p>
        </p:txBody>
      </p:sp>
      <p:sp>
        <p:nvSpPr>
          <p:cNvPr id="28" name="Text 26"/>
          <p:cNvSpPr/>
          <p:nvPr/>
        </p:nvSpPr>
        <p:spPr>
          <a:xfrm>
            <a:off x="320040" y="4352544"/>
            <a:ext cx="3886200" cy="310896"/>
          </a:xfrm>
          <a:prstGeom prst="rect">
            <a:avLst/>
          </a:prstGeom>
          <a:noFill/>
          <a:ln/>
        </p:spPr>
        <p:txBody>
          <a:bodyPr wrap="square" lIns="0" tIns="0" rIns="0" bIns="0" rtlCol="0" anchor="ctr"/>
          <a:lstStyle/>
          <a:p>
            <a:pPr marL="0" indent="0">
              <a:buNone/>
            </a:pPr>
            <a:r>
              <a:rPr lang="en-US" sz="1000" dirty="0">
                <a:solidFill>
                  <a:srgbClr val="444444"/>
                </a:solidFill>
                <a:latin typeface="Arial" pitchFamily="34" charset="0"/>
                <a:ea typeface="Arial" pitchFamily="34" charset="-122"/>
                <a:cs typeface="Arial" pitchFamily="34" charset="-120"/>
              </a:rPr>
              <a:t>Industries like banking, healthcare, and aviation require documented, auditable QA processes.</a:t>
            </a:r>
            <a:endParaRPr lang="en-US" sz="1000" dirty="0"/>
          </a:p>
        </p:txBody>
      </p:sp>
      <p:sp>
        <p:nvSpPr>
          <p:cNvPr id="29" name="Text 27"/>
          <p:cNvSpPr/>
          <p:nvPr/>
        </p:nvSpPr>
        <p:spPr>
          <a:xfrm>
            <a:off x="4617720" y="822960"/>
            <a:ext cx="4206240" cy="347472"/>
          </a:xfrm>
          <a:prstGeom prst="rect">
            <a:avLst/>
          </a:prstGeom>
          <a:noFill/>
          <a:ln/>
        </p:spPr>
        <p:txBody>
          <a:bodyPr wrap="square" lIns="0" tIns="0" rIns="0" bIns="0"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Test Management Within the STLC</a:t>
            </a:r>
            <a:endParaRPr lang="en-US" sz="1400" dirty="0"/>
          </a:p>
        </p:txBody>
      </p:sp>
      <p:sp>
        <p:nvSpPr>
          <p:cNvPr id="30" name="Shape 28"/>
          <p:cNvSpPr/>
          <p:nvPr/>
        </p:nvSpPr>
        <p:spPr>
          <a:xfrm>
            <a:off x="4617720" y="1234440"/>
            <a:ext cx="4206240" cy="53035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31" name="Text 29"/>
          <p:cNvSpPr/>
          <p:nvPr/>
        </p:nvSpPr>
        <p:spPr>
          <a:xfrm>
            <a:off x="4663440" y="1298448"/>
            <a:ext cx="457200" cy="402336"/>
          </a:xfrm>
          <a:prstGeom prst="rect">
            <a:avLst/>
          </a:prstGeom>
          <a:noFill/>
          <a:ln/>
        </p:spPr>
        <p:txBody>
          <a:bodyPr wrap="square" lIns="0" tIns="0" rIns="0" bIns="0" rtlCol="0" anchor="ctr"/>
          <a:lstStyle/>
          <a:p>
            <a:pPr marL="0" indent="0" algn="ctr">
              <a:buNone/>
            </a:pPr>
            <a:r>
              <a:rPr lang="en-US" sz="1400" b="1" dirty="0">
                <a:solidFill>
                  <a:srgbClr val="AAAAAA"/>
                </a:solidFill>
                <a:latin typeface="Arial Black" pitchFamily="34" charset="0"/>
                <a:ea typeface="Arial Black" pitchFamily="34" charset="-122"/>
                <a:cs typeface="Arial Black" pitchFamily="34" charset="-120"/>
              </a:rPr>
              <a:t>01</a:t>
            </a:r>
            <a:endParaRPr lang="en-US" sz="1400" dirty="0"/>
          </a:p>
        </p:txBody>
      </p:sp>
      <p:sp>
        <p:nvSpPr>
          <p:cNvPr id="32" name="Text 30"/>
          <p:cNvSpPr/>
          <p:nvPr/>
        </p:nvSpPr>
        <p:spPr>
          <a:xfrm>
            <a:off x="5193792" y="1271016"/>
            <a:ext cx="347472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Requirements Analysis</a:t>
            </a:r>
            <a:endParaRPr lang="en-US" sz="1150" dirty="0"/>
          </a:p>
        </p:txBody>
      </p:sp>
      <p:sp>
        <p:nvSpPr>
          <p:cNvPr id="33" name="Text 31"/>
          <p:cNvSpPr/>
          <p:nvPr/>
        </p:nvSpPr>
        <p:spPr>
          <a:xfrm>
            <a:off x="5193792" y="1508760"/>
            <a:ext cx="3474720" cy="201168"/>
          </a:xfrm>
          <a:prstGeom prst="rect">
            <a:avLst/>
          </a:prstGeom>
          <a:noFill/>
          <a:ln/>
        </p:spPr>
        <p:txBody>
          <a:bodyPr wrap="square" lIns="0" tIns="0" rIns="0" bIns="0" rtlCol="0" anchor="ctr"/>
          <a:lstStyle/>
          <a:p>
            <a:pPr marL="0" indent="0">
              <a:buNone/>
            </a:pPr>
            <a:r>
              <a:rPr lang="en-US" sz="950" dirty="0">
                <a:solidFill>
                  <a:srgbClr val="666666"/>
                </a:solidFill>
                <a:latin typeface="Arial" pitchFamily="34" charset="0"/>
                <a:ea typeface="Arial" pitchFamily="34" charset="-122"/>
                <a:cs typeface="Arial" pitchFamily="34" charset="-120"/>
              </a:rPr>
              <a:t>Review &amp; clarify requirements</a:t>
            </a:r>
            <a:endParaRPr lang="en-US" sz="950" dirty="0"/>
          </a:p>
        </p:txBody>
      </p:sp>
      <p:sp>
        <p:nvSpPr>
          <p:cNvPr id="34" name="Text 32"/>
          <p:cNvSpPr/>
          <p:nvPr/>
        </p:nvSpPr>
        <p:spPr>
          <a:xfrm>
            <a:off x="6492240" y="1783080"/>
            <a:ext cx="365760" cy="91440"/>
          </a:xfrm>
          <a:prstGeom prst="rect">
            <a:avLst/>
          </a:prstGeom>
          <a:noFill/>
          <a:ln/>
        </p:spPr>
        <p:txBody>
          <a:bodyPr wrap="square" lIns="0" tIns="0" rIns="0" bIns="0" rtlCol="0" anchor="ctr"/>
          <a:lstStyle/>
          <a:p>
            <a:pPr marL="0" indent="0" algn="ctr">
              <a:buNone/>
            </a:pPr>
            <a:r>
              <a:rPr lang="en-US" sz="900" dirty="0">
                <a:solidFill>
                  <a:srgbClr val="E8650A"/>
                </a:solidFill>
              </a:rPr>
              <a:t>▼</a:t>
            </a:r>
            <a:endParaRPr lang="en-US" sz="900" dirty="0"/>
          </a:p>
        </p:txBody>
      </p:sp>
      <p:sp>
        <p:nvSpPr>
          <p:cNvPr id="35" name="Shape 33"/>
          <p:cNvSpPr/>
          <p:nvPr/>
        </p:nvSpPr>
        <p:spPr>
          <a:xfrm>
            <a:off x="4617720" y="1856232"/>
            <a:ext cx="4206240" cy="530352"/>
          </a:xfrm>
          <a:prstGeom prst="rect">
            <a:avLst/>
          </a:prstGeom>
          <a:solidFill>
            <a:srgbClr val="0D0D0D"/>
          </a:solidFill>
          <a:ln w="12700">
            <a:solidFill>
              <a:srgbClr val="E8650A"/>
            </a:solidFill>
            <a:prstDash val="solid"/>
          </a:ln>
          <a:effectLst>
            <a:outerShdw blurRad="50800" dist="25400" dir="8100000" algn="bl" rotWithShape="0">
              <a:srgbClr val="000000">
                <a:alpha val="8000"/>
              </a:srgbClr>
            </a:outerShdw>
          </a:effectLst>
        </p:spPr>
      </p:sp>
      <p:sp>
        <p:nvSpPr>
          <p:cNvPr id="36" name="Text 34"/>
          <p:cNvSpPr/>
          <p:nvPr/>
        </p:nvSpPr>
        <p:spPr>
          <a:xfrm>
            <a:off x="4663440" y="1920240"/>
            <a:ext cx="457200" cy="402336"/>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02</a:t>
            </a:r>
            <a:endParaRPr lang="en-US" sz="1400" dirty="0"/>
          </a:p>
        </p:txBody>
      </p:sp>
      <p:sp>
        <p:nvSpPr>
          <p:cNvPr id="37" name="Text 35"/>
          <p:cNvSpPr/>
          <p:nvPr/>
        </p:nvSpPr>
        <p:spPr>
          <a:xfrm>
            <a:off x="5193792" y="1892808"/>
            <a:ext cx="34747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Planning</a:t>
            </a:r>
            <a:endParaRPr lang="en-US" sz="1150" dirty="0"/>
          </a:p>
        </p:txBody>
      </p:sp>
      <p:sp>
        <p:nvSpPr>
          <p:cNvPr id="38" name="Text 36"/>
          <p:cNvSpPr/>
          <p:nvPr/>
        </p:nvSpPr>
        <p:spPr>
          <a:xfrm>
            <a:off x="5193792" y="2130552"/>
            <a:ext cx="3474720" cy="201168"/>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Strategy, plan, resources</a:t>
            </a:r>
            <a:endParaRPr lang="en-US" sz="950" dirty="0"/>
          </a:p>
        </p:txBody>
      </p:sp>
      <p:sp>
        <p:nvSpPr>
          <p:cNvPr id="39" name="Text 37"/>
          <p:cNvSpPr/>
          <p:nvPr/>
        </p:nvSpPr>
        <p:spPr>
          <a:xfrm>
            <a:off x="6492240" y="2404872"/>
            <a:ext cx="365760" cy="91440"/>
          </a:xfrm>
          <a:prstGeom prst="rect">
            <a:avLst/>
          </a:prstGeom>
          <a:noFill/>
          <a:ln/>
        </p:spPr>
        <p:txBody>
          <a:bodyPr wrap="square" lIns="0" tIns="0" rIns="0" bIns="0" rtlCol="0" anchor="ctr"/>
          <a:lstStyle/>
          <a:p>
            <a:pPr marL="0" indent="0" algn="ctr">
              <a:buNone/>
            </a:pPr>
            <a:r>
              <a:rPr lang="en-US" sz="900" dirty="0">
                <a:solidFill>
                  <a:srgbClr val="E8650A"/>
                </a:solidFill>
              </a:rPr>
              <a:t>▼</a:t>
            </a:r>
            <a:endParaRPr lang="en-US" sz="900" dirty="0"/>
          </a:p>
        </p:txBody>
      </p:sp>
      <p:sp>
        <p:nvSpPr>
          <p:cNvPr id="40" name="Shape 38"/>
          <p:cNvSpPr/>
          <p:nvPr/>
        </p:nvSpPr>
        <p:spPr>
          <a:xfrm>
            <a:off x="4617720" y="2478024"/>
            <a:ext cx="4206240" cy="530352"/>
          </a:xfrm>
          <a:prstGeom prst="rect">
            <a:avLst/>
          </a:prstGeom>
          <a:solidFill>
            <a:srgbClr val="0D0D0D"/>
          </a:solidFill>
          <a:ln w="12700">
            <a:solidFill>
              <a:srgbClr val="E8650A"/>
            </a:solidFill>
            <a:prstDash val="solid"/>
          </a:ln>
          <a:effectLst>
            <a:outerShdw blurRad="50800" dist="25400" dir="8100000" algn="bl" rotWithShape="0">
              <a:srgbClr val="000000">
                <a:alpha val="8000"/>
              </a:srgbClr>
            </a:outerShdw>
          </a:effectLst>
        </p:spPr>
      </p:sp>
      <p:sp>
        <p:nvSpPr>
          <p:cNvPr id="41" name="Text 39"/>
          <p:cNvSpPr/>
          <p:nvPr/>
        </p:nvSpPr>
        <p:spPr>
          <a:xfrm>
            <a:off x="4663440" y="2542032"/>
            <a:ext cx="457200" cy="402336"/>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03</a:t>
            </a:r>
            <a:endParaRPr lang="en-US" sz="1400" dirty="0"/>
          </a:p>
        </p:txBody>
      </p:sp>
      <p:sp>
        <p:nvSpPr>
          <p:cNvPr id="42" name="Text 40"/>
          <p:cNvSpPr/>
          <p:nvPr/>
        </p:nvSpPr>
        <p:spPr>
          <a:xfrm>
            <a:off x="5193792" y="2514600"/>
            <a:ext cx="34747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Design</a:t>
            </a:r>
            <a:endParaRPr lang="en-US" sz="1150" dirty="0"/>
          </a:p>
        </p:txBody>
      </p:sp>
      <p:sp>
        <p:nvSpPr>
          <p:cNvPr id="43" name="Text 41"/>
          <p:cNvSpPr/>
          <p:nvPr/>
        </p:nvSpPr>
        <p:spPr>
          <a:xfrm>
            <a:off x="5193792" y="2752344"/>
            <a:ext cx="3474720" cy="201168"/>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Write test cases &amp; scripts</a:t>
            </a:r>
            <a:endParaRPr lang="en-US" sz="950" dirty="0"/>
          </a:p>
        </p:txBody>
      </p:sp>
      <p:sp>
        <p:nvSpPr>
          <p:cNvPr id="44" name="Text 42"/>
          <p:cNvSpPr/>
          <p:nvPr/>
        </p:nvSpPr>
        <p:spPr>
          <a:xfrm>
            <a:off x="6492240" y="3026664"/>
            <a:ext cx="365760" cy="91440"/>
          </a:xfrm>
          <a:prstGeom prst="rect">
            <a:avLst/>
          </a:prstGeom>
          <a:noFill/>
          <a:ln/>
        </p:spPr>
        <p:txBody>
          <a:bodyPr wrap="square" lIns="0" tIns="0" rIns="0" bIns="0" rtlCol="0" anchor="ctr"/>
          <a:lstStyle/>
          <a:p>
            <a:pPr marL="0" indent="0" algn="ctr">
              <a:buNone/>
            </a:pPr>
            <a:r>
              <a:rPr lang="en-US" sz="900" dirty="0">
                <a:solidFill>
                  <a:srgbClr val="E8650A"/>
                </a:solidFill>
              </a:rPr>
              <a:t>▼</a:t>
            </a:r>
            <a:endParaRPr lang="en-US" sz="900" dirty="0"/>
          </a:p>
        </p:txBody>
      </p:sp>
      <p:sp>
        <p:nvSpPr>
          <p:cNvPr id="45" name="Shape 43"/>
          <p:cNvSpPr/>
          <p:nvPr/>
        </p:nvSpPr>
        <p:spPr>
          <a:xfrm>
            <a:off x="4617720" y="3099816"/>
            <a:ext cx="4206240" cy="530352"/>
          </a:xfrm>
          <a:prstGeom prst="rect">
            <a:avLst/>
          </a:prstGeom>
          <a:solidFill>
            <a:srgbClr val="FFFFFF"/>
          </a:solidFill>
          <a:ln w="12700">
            <a:solidFill>
              <a:srgbClr val="DDDDDD"/>
            </a:solidFill>
            <a:prstDash val="solid"/>
          </a:ln>
          <a:effectLst>
            <a:outerShdw blurRad="50800" dist="25400" dir="8100000" algn="bl" rotWithShape="0">
              <a:srgbClr val="000000">
                <a:alpha val="8000"/>
              </a:srgbClr>
            </a:outerShdw>
          </a:effectLst>
        </p:spPr>
      </p:sp>
      <p:sp>
        <p:nvSpPr>
          <p:cNvPr id="46" name="Text 44"/>
          <p:cNvSpPr/>
          <p:nvPr/>
        </p:nvSpPr>
        <p:spPr>
          <a:xfrm>
            <a:off x="4663440" y="3163824"/>
            <a:ext cx="457200" cy="402336"/>
          </a:xfrm>
          <a:prstGeom prst="rect">
            <a:avLst/>
          </a:prstGeom>
          <a:noFill/>
          <a:ln/>
        </p:spPr>
        <p:txBody>
          <a:bodyPr wrap="square" lIns="0" tIns="0" rIns="0" bIns="0" rtlCol="0" anchor="ctr"/>
          <a:lstStyle/>
          <a:p>
            <a:pPr marL="0" indent="0" algn="ctr">
              <a:buNone/>
            </a:pPr>
            <a:r>
              <a:rPr lang="en-US" sz="1400" b="1" dirty="0">
                <a:solidFill>
                  <a:srgbClr val="AAAAAA"/>
                </a:solidFill>
                <a:latin typeface="Arial Black" pitchFamily="34" charset="0"/>
                <a:ea typeface="Arial Black" pitchFamily="34" charset="-122"/>
                <a:cs typeface="Arial Black" pitchFamily="34" charset="-120"/>
              </a:rPr>
              <a:t>04</a:t>
            </a:r>
            <a:endParaRPr lang="en-US" sz="1400" dirty="0"/>
          </a:p>
        </p:txBody>
      </p:sp>
      <p:sp>
        <p:nvSpPr>
          <p:cNvPr id="47" name="Text 45"/>
          <p:cNvSpPr/>
          <p:nvPr/>
        </p:nvSpPr>
        <p:spPr>
          <a:xfrm>
            <a:off x="5193792" y="3136392"/>
            <a:ext cx="347472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Test Environment Setup</a:t>
            </a:r>
            <a:endParaRPr lang="en-US" sz="1150" dirty="0"/>
          </a:p>
        </p:txBody>
      </p:sp>
      <p:sp>
        <p:nvSpPr>
          <p:cNvPr id="48" name="Text 46"/>
          <p:cNvSpPr/>
          <p:nvPr/>
        </p:nvSpPr>
        <p:spPr>
          <a:xfrm>
            <a:off x="5193792" y="3374136"/>
            <a:ext cx="3474720" cy="201168"/>
          </a:xfrm>
          <a:prstGeom prst="rect">
            <a:avLst/>
          </a:prstGeom>
          <a:noFill/>
          <a:ln/>
        </p:spPr>
        <p:txBody>
          <a:bodyPr wrap="square" lIns="0" tIns="0" rIns="0" bIns="0" rtlCol="0" anchor="ctr"/>
          <a:lstStyle/>
          <a:p>
            <a:pPr marL="0" indent="0">
              <a:buNone/>
            </a:pPr>
            <a:r>
              <a:rPr lang="en-US" sz="950" dirty="0">
                <a:solidFill>
                  <a:srgbClr val="666666"/>
                </a:solidFill>
                <a:latin typeface="Arial" pitchFamily="34" charset="0"/>
                <a:ea typeface="Arial" pitchFamily="34" charset="-122"/>
                <a:cs typeface="Arial" pitchFamily="34" charset="-120"/>
              </a:rPr>
              <a:t>Configure tools &amp; environments</a:t>
            </a:r>
            <a:endParaRPr lang="en-US" sz="950" dirty="0"/>
          </a:p>
        </p:txBody>
      </p:sp>
      <p:sp>
        <p:nvSpPr>
          <p:cNvPr id="49" name="Text 47"/>
          <p:cNvSpPr/>
          <p:nvPr/>
        </p:nvSpPr>
        <p:spPr>
          <a:xfrm>
            <a:off x="6492240" y="3648456"/>
            <a:ext cx="365760" cy="91440"/>
          </a:xfrm>
          <a:prstGeom prst="rect">
            <a:avLst/>
          </a:prstGeom>
          <a:noFill/>
          <a:ln/>
        </p:spPr>
        <p:txBody>
          <a:bodyPr wrap="square" lIns="0" tIns="0" rIns="0" bIns="0" rtlCol="0" anchor="ctr"/>
          <a:lstStyle/>
          <a:p>
            <a:pPr marL="0" indent="0" algn="ctr">
              <a:buNone/>
            </a:pPr>
            <a:r>
              <a:rPr lang="en-US" sz="900" dirty="0">
                <a:solidFill>
                  <a:srgbClr val="E8650A"/>
                </a:solidFill>
              </a:rPr>
              <a:t>▼</a:t>
            </a:r>
            <a:endParaRPr lang="en-US" sz="900" dirty="0"/>
          </a:p>
        </p:txBody>
      </p:sp>
      <p:sp>
        <p:nvSpPr>
          <p:cNvPr id="50" name="Shape 48"/>
          <p:cNvSpPr/>
          <p:nvPr/>
        </p:nvSpPr>
        <p:spPr>
          <a:xfrm>
            <a:off x="4617720" y="3721608"/>
            <a:ext cx="4206240" cy="530352"/>
          </a:xfrm>
          <a:prstGeom prst="rect">
            <a:avLst/>
          </a:prstGeom>
          <a:solidFill>
            <a:srgbClr val="0D0D0D"/>
          </a:solidFill>
          <a:ln w="12700">
            <a:solidFill>
              <a:srgbClr val="E8650A"/>
            </a:solidFill>
            <a:prstDash val="solid"/>
          </a:ln>
          <a:effectLst>
            <a:outerShdw blurRad="50800" dist="25400" dir="8100000" algn="bl" rotWithShape="0">
              <a:srgbClr val="000000">
                <a:alpha val="8000"/>
              </a:srgbClr>
            </a:outerShdw>
          </a:effectLst>
        </p:spPr>
      </p:sp>
      <p:sp>
        <p:nvSpPr>
          <p:cNvPr id="51" name="Text 49"/>
          <p:cNvSpPr/>
          <p:nvPr/>
        </p:nvSpPr>
        <p:spPr>
          <a:xfrm>
            <a:off x="4663440" y="3785616"/>
            <a:ext cx="457200" cy="402336"/>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05</a:t>
            </a:r>
            <a:endParaRPr lang="en-US" sz="1400" dirty="0"/>
          </a:p>
        </p:txBody>
      </p:sp>
      <p:sp>
        <p:nvSpPr>
          <p:cNvPr id="52" name="Text 50"/>
          <p:cNvSpPr/>
          <p:nvPr/>
        </p:nvSpPr>
        <p:spPr>
          <a:xfrm>
            <a:off x="5193792" y="3758184"/>
            <a:ext cx="34747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Execution</a:t>
            </a:r>
            <a:endParaRPr lang="en-US" sz="1150" dirty="0"/>
          </a:p>
        </p:txBody>
      </p:sp>
      <p:sp>
        <p:nvSpPr>
          <p:cNvPr id="53" name="Text 51"/>
          <p:cNvSpPr/>
          <p:nvPr/>
        </p:nvSpPr>
        <p:spPr>
          <a:xfrm>
            <a:off x="5193792" y="3995928"/>
            <a:ext cx="3474720" cy="201168"/>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Run tests, log defects</a:t>
            </a:r>
            <a:endParaRPr lang="en-US" sz="950" dirty="0"/>
          </a:p>
        </p:txBody>
      </p:sp>
      <p:sp>
        <p:nvSpPr>
          <p:cNvPr id="54" name="Text 52"/>
          <p:cNvSpPr/>
          <p:nvPr/>
        </p:nvSpPr>
        <p:spPr>
          <a:xfrm>
            <a:off x="6492240" y="4270248"/>
            <a:ext cx="365760" cy="91440"/>
          </a:xfrm>
          <a:prstGeom prst="rect">
            <a:avLst/>
          </a:prstGeom>
          <a:noFill/>
          <a:ln/>
        </p:spPr>
        <p:txBody>
          <a:bodyPr wrap="square" lIns="0" tIns="0" rIns="0" bIns="0" rtlCol="0" anchor="ctr"/>
          <a:lstStyle/>
          <a:p>
            <a:pPr marL="0" indent="0" algn="ctr">
              <a:buNone/>
            </a:pPr>
            <a:r>
              <a:rPr lang="en-US" sz="900" dirty="0">
                <a:solidFill>
                  <a:srgbClr val="E8650A"/>
                </a:solidFill>
              </a:rPr>
              <a:t>▼</a:t>
            </a:r>
            <a:endParaRPr lang="en-US" sz="900" dirty="0"/>
          </a:p>
        </p:txBody>
      </p:sp>
      <p:sp>
        <p:nvSpPr>
          <p:cNvPr id="55" name="Shape 53"/>
          <p:cNvSpPr/>
          <p:nvPr/>
        </p:nvSpPr>
        <p:spPr>
          <a:xfrm>
            <a:off x="4617720" y="4343400"/>
            <a:ext cx="4206240" cy="530352"/>
          </a:xfrm>
          <a:prstGeom prst="rect">
            <a:avLst/>
          </a:prstGeom>
          <a:solidFill>
            <a:srgbClr val="0D0D0D"/>
          </a:solidFill>
          <a:ln w="12700">
            <a:solidFill>
              <a:srgbClr val="E8650A"/>
            </a:solidFill>
            <a:prstDash val="solid"/>
          </a:ln>
          <a:effectLst>
            <a:outerShdw blurRad="50800" dist="25400" dir="8100000" algn="bl" rotWithShape="0">
              <a:srgbClr val="000000">
                <a:alpha val="8000"/>
              </a:srgbClr>
            </a:outerShdw>
          </a:effectLst>
        </p:spPr>
      </p:sp>
      <p:sp>
        <p:nvSpPr>
          <p:cNvPr id="56" name="Text 54"/>
          <p:cNvSpPr/>
          <p:nvPr/>
        </p:nvSpPr>
        <p:spPr>
          <a:xfrm>
            <a:off x="4663440" y="4407408"/>
            <a:ext cx="457200" cy="402336"/>
          </a:xfrm>
          <a:prstGeom prst="rect">
            <a:avLst/>
          </a:prstGeom>
          <a:noFill/>
          <a:ln/>
        </p:spPr>
        <p:txBody>
          <a:bodyPr wrap="square" lIns="0" tIns="0" rIns="0" bIns="0" rtlCol="0" anchor="ctr"/>
          <a:lstStyle/>
          <a:p>
            <a:pPr marL="0" indent="0" algn="ctr">
              <a:buNone/>
            </a:pPr>
            <a:r>
              <a:rPr lang="en-US" sz="1400" b="1" dirty="0">
                <a:solidFill>
                  <a:srgbClr val="E8650A"/>
                </a:solidFill>
                <a:latin typeface="Arial Black" pitchFamily="34" charset="0"/>
                <a:ea typeface="Arial Black" pitchFamily="34" charset="-122"/>
                <a:cs typeface="Arial Black" pitchFamily="34" charset="-120"/>
              </a:rPr>
              <a:t>06</a:t>
            </a:r>
            <a:endParaRPr lang="en-US" sz="1400" dirty="0"/>
          </a:p>
        </p:txBody>
      </p:sp>
      <p:sp>
        <p:nvSpPr>
          <p:cNvPr id="57" name="Text 55"/>
          <p:cNvSpPr/>
          <p:nvPr/>
        </p:nvSpPr>
        <p:spPr>
          <a:xfrm>
            <a:off x="5193792" y="4379976"/>
            <a:ext cx="3474720" cy="237744"/>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Closure</a:t>
            </a:r>
            <a:endParaRPr lang="en-US" sz="1150" dirty="0"/>
          </a:p>
        </p:txBody>
      </p:sp>
      <p:sp>
        <p:nvSpPr>
          <p:cNvPr id="58" name="Text 56"/>
          <p:cNvSpPr/>
          <p:nvPr/>
        </p:nvSpPr>
        <p:spPr>
          <a:xfrm>
            <a:off x="5193792" y="4617720"/>
            <a:ext cx="3474720" cy="201168"/>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Reports, lessons learned</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02</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Objectives of</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Test Management</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Goals that Drive Quality Engineering Success</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Core Objectives of Test Management</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02  |  OBJECTIVES</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64592" y="804672"/>
            <a:ext cx="434340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9" name="Shape 7"/>
          <p:cNvSpPr/>
          <p:nvPr/>
        </p:nvSpPr>
        <p:spPr>
          <a:xfrm>
            <a:off x="4416552" y="804672"/>
            <a:ext cx="91440" cy="1097280"/>
          </a:xfrm>
          <a:prstGeom prst="rect">
            <a:avLst/>
          </a:prstGeom>
          <a:solidFill>
            <a:srgbClr val="E8650A"/>
          </a:solidFill>
          <a:ln w="12700">
            <a:solidFill>
              <a:srgbClr val="E8650A"/>
            </a:solidFill>
            <a:prstDash val="solid"/>
          </a:ln>
        </p:spPr>
      </p:sp>
      <p:sp>
        <p:nvSpPr>
          <p:cNvPr id="10" name="Text 8"/>
          <p:cNvSpPr/>
          <p:nvPr/>
        </p:nvSpPr>
        <p:spPr>
          <a:xfrm>
            <a:off x="274320" y="859536"/>
            <a:ext cx="4069080" cy="256032"/>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01  Planning &amp; Organization</a:t>
            </a:r>
            <a:endParaRPr lang="en-US" sz="1200" dirty="0"/>
          </a:p>
        </p:txBody>
      </p:sp>
      <p:sp>
        <p:nvSpPr>
          <p:cNvPr id="11" name="Text 9"/>
          <p:cNvSpPr/>
          <p:nvPr/>
        </p:nvSpPr>
        <p:spPr>
          <a:xfrm>
            <a:off x="274320" y="1106424"/>
            <a:ext cx="4069080" cy="45720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Define a structured test approach covering scope, schedule, entry/exit criteria, and milestones. Without a plan, testing is ad-hoc and unreliable. The plan aligns the team to a shared objective.</a:t>
            </a:r>
            <a:endParaRPr lang="en-US" sz="1000" dirty="0"/>
          </a:p>
        </p:txBody>
      </p:sp>
      <p:sp>
        <p:nvSpPr>
          <p:cNvPr id="12" name="Text 10"/>
          <p:cNvSpPr/>
          <p:nvPr/>
        </p:nvSpPr>
        <p:spPr>
          <a:xfrm>
            <a:off x="274320" y="1563624"/>
            <a:ext cx="4069080" cy="2743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A Test Manager creates a Master Test Plan for a banking app release identifying 3 test phases, 8 testers, and a 6-week schedule.</a:t>
            </a:r>
            <a:endParaRPr lang="en-US" sz="950" dirty="0"/>
          </a:p>
        </p:txBody>
      </p:sp>
      <p:sp>
        <p:nvSpPr>
          <p:cNvPr id="13" name="Shape 11"/>
          <p:cNvSpPr/>
          <p:nvPr/>
        </p:nvSpPr>
        <p:spPr>
          <a:xfrm>
            <a:off x="164592" y="1975104"/>
            <a:ext cx="434340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4" name="Shape 12"/>
          <p:cNvSpPr/>
          <p:nvPr/>
        </p:nvSpPr>
        <p:spPr>
          <a:xfrm>
            <a:off x="4416552" y="1975104"/>
            <a:ext cx="91440" cy="1097280"/>
          </a:xfrm>
          <a:prstGeom prst="rect">
            <a:avLst/>
          </a:prstGeom>
          <a:solidFill>
            <a:srgbClr val="E8650A"/>
          </a:solidFill>
          <a:ln w="12700">
            <a:solidFill>
              <a:srgbClr val="E8650A"/>
            </a:solidFill>
            <a:prstDash val="solid"/>
          </a:ln>
        </p:spPr>
      </p:sp>
      <p:sp>
        <p:nvSpPr>
          <p:cNvPr id="15" name="Text 13"/>
          <p:cNvSpPr/>
          <p:nvPr/>
        </p:nvSpPr>
        <p:spPr>
          <a:xfrm>
            <a:off x="274320" y="2029968"/>
            <a:ext cx="4069080" cy="256032"/>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02  Ensuring Quality Standards</a:t>
            </a:r>
            <a:endParaRPr lang="en-US" sz="1200" dirty="0"/>
          </a:p>
        </p:txBody>
      </p:sp>
      <p:sp>
        <p:nvSpPr>
          <p:cNvPr id="16" name="Text 14"/>
          <p:cNvSpPr/>
          <p:nvPr/>
        </p:nvSpPr>
        <p:spPr>
          <a:xfrm>
            <a:off x="274320" y="2276856"/>
            <a:ext cx="4069080" cy="45720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Enforce coding quality gates, peer reviews of test cases, defect thresholds, and test coverage requirements. These act as quality guardrails preventing substandard deliverables.</a:t>
            </a:r>
            <a:endParaRPr lang="en-US" sz="1000" dirty="0"/>
          </a:p>
        </p:txBody>
      </p:sp>
      <p:sp>
        <p:nvSpPr>
          <p:cNvPr id="17" name="Text 15"/>
          <p:cNvSpPr/>
          <p:nvPr/>
        </p:nvSpPr>
        <p:spPr>
          <a:xfrm>
            <a:off x="274320" y="2734056"/>
            <a:ext cx="4069080" cy="2743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A quality gate requires ≥85% test coverage before any build advances to UAT.</a:t>
            </a:r>
            <a:endParaRPr lang="en-US" sz="950" dirty="0"/>
          </a:p>
        </p:txBody>
      </p:sp>
      <p:sp>
        <p:nvSpPr>
          <p:cNvPr id="18" name="Shape 16"/>
          <p:cNvSpPr/>
          <p:nvPr/>
        </p:nvSpPr>
        <p:spPr>
          <a:xfrm>
            <a:off x="164592" y="3145536"/>
            <a:ext cx="434340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9" name="Shape 17"/>
          <p:cNvSpPr/>
          <p:nvPr/>
        </p:nvSpPr>
        <p:spPr>
          <a:xfrm>
            <a:off x="4416552" y="3145536"/>
            <a:ext cx="91440" cy="1097280"/>
          </a:xfrm>
          <a:prstGeom prst="rect">
            <a:avLst/>
          </a:prstGeom>
          <a:solidFill>
            <a:srgbClr val="E8650A"/>
          </a:solidFill>
          <a:ln w="12700">
            <a:solidFill>
              <a:srgbClr val="E8650A"/>
            </a:solidFill>
            <a:prstDash val="solid"/>
          </a:ln>
        </p:spPr>
      </p:sp>
      <p:sp>
        <p:nvSpPr>
          <p:cNvPr id="20" name="Text 18"/>
          <p:cNvSpPr/>
          <p:nvPr/>
        </p:nvSpPr>
        <p:spPr>
          <a:xfrm>
            <a:off x="274320" y="3200400"/>
            <a:ext cx="4069080" cy="256032"/>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03  Resource Allocation</a:t>
            </a:r>
            <a:endParaRPr lang="en-US" sz="1200" dirty="0"/>
          </a:p>
        </p:txBody>
      </p:sp>
      <p:sp>
        <p:nvSpPr>
          <p:cNvPr id="21" name="Text 19"/>
          <p:cNvSpPr/>
          <p:nvPr/>
        </p:nvSpPr>
        <p:spPr>
          <a:xfrm>
            <a:off x="274320" y="3447288"/>
            <a:ext cx="4069080" cy="45720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Assign the right testers to the right tasks based on skills, availability, and project complexity. Effective resource planning prevents bottlenecks and burnout.</a:t>
            </a:r>
            <a:endParaRPr lang="en-US" sz="1000" dirty="0"/>
          </a:p>
        </p:txBody>
      </p:sp>
      <p:sp>
        <p:nvSpPr>
          <p:cNvPr id="22" name="Text 20"/>
          <p:cNvSpPr/>
          <p:nvPr/>
        </p:nvSpPr>
        <p:spPr>
          <a:xfrm>
            <a:off x="274320" y="3904488"/>
            <a:ext cx="4069080" cy="2743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Senior testers are assigned to critical payment modules; junior testers cover UI regression.</a:t>
            </a:r>
            <a:endParaRPr lang="en-US" sz="950" dirty="0"/>
          </a:p>
        </p:txBody>
      </p:sp>
      <p:sp>
        <p:nvSpPr>
          <p:cNvPr id="23" name="Shape 21"/>
          <p:cNvSpPr/>
          <p:nvPr/>
        </p:nvSpPr>
        <p:spPr>
          <a:xfrm>
            <a:off x="4663440" y="804672"/>
            <a:ext cx="434340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4" name="Shape 22"/>
          <p:cNvSpPr/>
          <p:nvPr/>
        </p:nvSpPr>
        <p:spPr>
          <a:xfrm>
            <a:off x="8915400" y="804672"/>
            <a:ext cx="91440" cy="1097280"/>
          </a:xfrm>
          <a:prstGeom prst="rect">
            <a:avLst/>
          </a:prstGeom>
          <a:solidFill>
            <a:srgbClr val="E8650A"/>
          </a:solidFill>
          <a:ln w="12700">
            <a:solidFill>
              <a:srgbClr val="E8650A"/>
            </a:solidFill>
            <a:prstDash val="solid"/>
          </a:ln>
        </p:spPr>
      </p:sp>
      <p:sp>
        <p:nvSpPr>
          <p:cNvPr id="25" name="Text 23"/>
          <p:cNvSpPr/>
          <p:nvPr/>
        </p:nvSpPr>
        <p:spPr>
          <a:xfrm>
            <a:off x="4773168" y="859536"/>
            <a:ext cx="4069080" cy="256032"/>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04  Risk Mitigation</a:t>
            </a:r>
            <a:endParaRPr lang="en-US" sz="1200" dirty="0"/>
          </a:p>
        </p:txBody>
      </p:sp>
      <p:sp>
        <p:nvSpPr>
          <p:cNvPr id="26" name="Text 24"/>
          <p:cNvSpPr/>
          <p:nvPr/>
        </p:nvSpPr>
        <p:spPr>
          <a:xfrm>
            <a:off x="4773168" y="1106424"/>
            <a:ext cx="4069080" cy="45720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Proactively identify, assess, and mitigate testing risks (technical, schedule, and resource risks) before they disrupt delivery. Risk registers are maintained throughout the STLC.</a:t>
            </a:r>
            <a:endParaRPr lang="en-US" sz="1000" dirty="0"/>
          </a:p>
        </p:txBody>
      </p:sp>
      <p:sp>
        <p:nvSpPr>
          <p:cNvPr id="27" name="Text 25"/>
          <p:cNvSpPr/>
          <p:nvPr/>
        </p:nvSpPr>
        <p:spPr>
          <a:xfrm>
            <a:off x="4773168" y="1563624"/>
            <a:ext cx="4069080" cy="2743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If a key testing environment is unavailable, a fallback environment is pre-provisioned.</a:t>
            </a:r>
            <a:endParaRPr lang="en-US" sz="950" dirty="0"/>
          </a:p>
        </p:txBody>
      </p:sp>
      <p:sp>
        <p:nvSpPr>
          <p:cNvPr id="28" name="Shape 26"/>
          <p:cNvSpPr/>
          <p:nvPr/>
        </p:nvSpPr>
        <p:spPr>
          <a:xfrm>
            <a:off x="4663440" y="1975104"/>
            <a:ext cx="434340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9" name="Shape 27"/>
          <p:cNvSpPr/>
          <p:nvPr/>
        </p:nvSpPr>
        <p:spPr>
          <a:xfrm>
            <a:off x="8915400" y="1975104"/>
            <a:ext cx="91440" cy="1097280"/>
          </a:xfrm>
          <a:prstGeom prst="rect">
            <a:avLst/>
          </a:prstGeom>
          <a:solidFill>
            <a:srgbClr val="E8650A"/>
          </a:solidFill>
          <a:ln w="12700">
            <a:solidFill>
              <a:srgbClr val="E8650A"/>
            </a:solidFill>
            <a:prstDash val="solid"/>
          </a:ln>
        </p:spPr>
      </p:sp>
      <p:sp>
        <p:nvSpPr>
          <p:cNvPr id="30" name="Text 28"/>
          <p:cNvSpPr/>
          <p:nvPr/>
        </p:nvSpPr>
        <p:spPr>
          <a:xfrm>
            <a:off x="4773168" y="2029968"/>
            <a:ext cx="4069080" cy="256032"/>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05  Tracking &amp; Reporting</a:t>
            </a:r>
            <a:endParaRPr lang="en-US" sz="1200" dirty="0"/>
          </a:p>
        </p:txBody>
      </p:sp>
      <p:sp>
        <p:nvSpPr>
          <p:cNvPr id="31" name="Text 29"/>
          <p:cNvSpPr/>
          <p:nvPr/>
        </p:nvSpPr>
        <p:spPr>
          <a:xfrm>
            <a:off x="4773168" y="2276856"/>
            <a:ext cx="4069080" cy="45720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Monitor test execution progress in real time using dashboards, burn-down charts, and defect trend reports. Communicate status accurately and promptly to stakeholders.</a:t>
            </a:r>
            <a:endParaRPr lang="en-US" sz="1000" dirty="0"/>
          </a:p>
        </p:txBody>
      </p:sp>
      <p:sp>
        <p:nvSpPr>
          <p:cNvPr id="32" name="Text 30"/>
          <p:cNvSpPr/>
          <p:nvPr/>
        </p:nvSpPr>
        <p:spPr>
          <a:xfrm>
            <a:off x="4773168" y="2734056"/>
            <a:ext cx="4069080" cy="2743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Example: Daily status emails report pass rate (82%), defects raised (14), blockers (2) to project sponsors.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03</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Test Management Process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Test Planning · Test Monitoring · Test Control</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Planning — Creating the Test Strategy</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PLANNING</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229600" cy="320040"/>
          </a:xfrm>
          <a:prstGeom prst="rect">
            <a:avLst/>
          </a:prstGeom>
          <a:noFill/>
          <a:ln/>
        </p:spPr>
        <p:txBody>
          <a:bodyPr wrap="square" lIns="0" tIns="0" rIns="0" bIns="0" rtlCol="0" anchor="ctr"/>
          <a:lstStyle/>
          <a:p>
            <a:pPr marL="0" indent="0">
              <a:buNone/>
            </a:pPr>
            <a:r>
              <a:rPr lang="en-US" sz="1600" b="1" dirty="0">
                <a:solidFill>
                  <a:srgbClr val="E8650A"/>
                </a:solidFill>
                <a:latin typeface="Arial Black" pitchFamily="34" charset="0"/>
                <a:ea typeface="Arial Black" pitchFamily="34" charset="-122"/>
                <a:cs typeface="Arial Black" pitchFamily="34" charset="-120"/>
              </a:rPr>
              <a:t>What is a Test Strategy?</a:t>
            </a:r>
            <a:endParaRPr lang="en-US" sz="1600" dirty="0"/>
          </a:p>
        </p:txBody>
      </p:sp>
      <p:sp>
        <p:nvSpPr>
          <p:cNvPr id="9" name="Text 7"/>
          <p:cNvSpPr/>
          <p:nvPr/>
        </p:nvSpPr>
        <p:spPr>
          <a:xfrm>
            <a:off x="182880" y="1143000"/>
            <a:ext cx="8686800" cy="530352"/>
          </a:xfrm>
          <a:prstGeom prst="rect">
            <a:avLst/>
          </a:prstGeom>
          <a:noFill/>
          <a:ln/>
        </p:spPr>
        <p:txBody>
          <a:bodyPr wrap="square" lIns="0" tIns="0" rIns="0" bIns="0" rtlCol="0" anchor="ctr"/>
          <a:lstStyle/>
          <a:p>
            <a:pPr marL="0" indent="0">
              <a:buNone/>
            </a:pPr>
            <a:r>
              <a:rPr lang="en-US" sz="1150" dirty="0">
                <a:solidFill>
                  <a:srgbClr val="F5F5F5"/>
                </a:solidFill>
                <a:latin typeface="Arial" pitchFamily="34" charset="0"/>
                <a:ea typeface="Arial" pitchFamily="34" charset="-122"/>
                <a:cs typeface="Arial" pitchFamily="34" charset="-120"/>
              </a:rPr>
              <a:t>A Test Strategy is a high-level document that defines the overall testing approach for a project or organisation. It is typically authored by the Test Manager or QA Lead and remains stable across projects unless organizational policies change. It answers the 'How will we test?' question at a macro level.</a:t>
            </a:r>
            <a:endParaRPr lang="en-US" sz="1150" dirty="0"/>
          </a:p>
        </p:txBody>
      </p:sp>
      <p:sp>
        <p:nvSpPr>
          <p:cNvPr id="10" name="Shape 8"/>
          <p:cNvSpPr/>
          <p:nvPr/>
        </p:nvSpPr>
        <p:spPr>
          <a:xfrm>
            <a:off x="182880" y="178308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1" name="Shape 9"/>
          <p:cNvSpPr/>
          <p:nvPr/>
        </p:nvSpPr>
        <p:spPr>
          <a:xfrm>
            <a:off x="182880" y="1783080"/>
            <a:ext cx="73152" cy="896112"/>
          </a:xfrm>
          <a:prstGeom prst="rect">
            <a:avLst/>
          </a:prstGeom>
          <a:solidFill>
            <a:srgbClr val="E8650A"/>
          </a:solidFill>
          <a:ln w="12700">
            <a:solidFill>
              <a:srgbClr val="E8650A"/>
            </a:solidFill>
            <a:prstDash val="solid"/>
          </a:ln>
        </p:spPr>
      </p:sp>
      <p:sp>
        <p:nvSpPr>
          <p:cNvPr id="12" name="Text 10"/>
          <p:cNvSpPr/>
          <p:nvPr/>
        </p:nvSpPr>
        <p:spPr>
          <a:xfrm>
            <a:off x="347472" y="184708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Testing Scope &amp; Objectives</a:t>
            </a:r>
            <a:endParaRPr lang="en-US" sz="1200" dirty="0"/>
          </a:p>
        </p:txBody>
      </p:sp>
      <p:sp>
        <p:nvSpPr>
          <p:cNvPr id="13" name="Text 11"/>
          <p:cNvSpPr/>
          <p:nvPr/>
        </p:nvSpPr>
        <p:spPr>
          <a:xfrm>
            <a:off x="347472" y="213055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What will be tested and what will be explicitly excluded. Defines system boundaries.</a:t>
            </a:r>
            <a:endParaRPr lang="en-US" sz="1050" dirty="0"/>
          </a:p>
        </p:txBody>
      </p:sp>
      <p:sp>
        <p:nvSpPr>
          <p:cNvPr id="14" name="Shape 12"/>
          <p:cNvSpPr/>
          <p:nvPr/>
        </p:nvSpPr>
        <p:spPr>
          <a:xfrm>
            <a:off x="4663440" y="178308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5" name="Shape 13"/>
          <p:cNvSpPr/>
          <p:nvPr/>
        </p:nvSpPr>
        <p:spPr>
          <a:xfrm>
            <a:off x="4663440" y="1783080"/>
            <a:ext cx="73152" cy="896112"/>
          </a:xfrm>
          <a:prstGeom prst="rect">
            <a:avLst/>
          </a:prstGeom>
          <a:solidFill>
            <a:srgbClr val="E8650A"/>
          </a:solidFill>
          <a:ln w="12700">
            <a:solidFill>
              <a:srgbClr val="E8650A"/>
            </a:solidFill>
            <a:prstDash val="solid"/>
          </a:ln>
        </p:spPr>
      </p:sp>
      <p:sp>
        <p:nvSpPr>
          <p:cNvPr id="16" name="Text 14"/>
          <p:cNvSpPr/>
          <p:nvPr/>
        </p:nvSpPr>
        <p:spPr>
          <a:xfrm>
            <a:off x="4828032" y="184708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Testing Types &amp; Levels</a:t>
            </a:r>
            <a:endParaRPr lang="en-US" sz="1200" dirty="0"/>
          </a:p>
        </p:txBody>
      </p:sp>
      <p:sp>
        <p:nvSpPr>
          <p:cNvPr id="17" name="Text 15"/>
          <p:cNvSpPr/>
          <p:nvPr/>
        </p:nvSpPr>
        <p:spPr>
          <a:xfrm>
            <a:off x="4828032" y="213055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Unit, Integration, System, UAT, Performance, Security — which apply to this project.</a:t>
            </a:r>
            <a:endParaRPr lang="en-US" sz="1050" dirty="0"/>
          </a:p>
        </p:txBody>
      </p:sp>
      <p:sp>
        <p:nvSpPr>
          <p:cNvPr id="18" name="Shape 16"/>
          <p:cNvSpPr/>
          <p:nvPr/>
        </p:nvSpPr>
        <p:spPr>
          <a:xfrm>
            <a:off x="182880" y="278892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9" name="Shape 17"/>
          <p:cNvSpPr/>
          <p:nvPr/>
        </p:nvSpPr>
        <p:spPr>
          <a:xfrm>
            <a:off x="182880" y="2788920"/>
            <a:ext cx="73152" cy="896112"/>
          </a:xfrm>
          <a:prstGeom prst="rect">
            <a:avLst/>
          </a:prstGeom>
          <a:solidFill>
            <a:srgbClr val="E8650A"/>
          </a:solidFill>
          <a:ln w="12700">
            <a:solidFill>
              <a:srgbClr val="E8650A"/>
            </a:solidFill>
            <a:prstDash val="solid"/>
          </a:ln>
        </p:spPr>
      </p:sp>
      <p:sp>
        <p:nvSpPr>
          <p:cNvPr id="20" name="Text 18"/>
          <p:cNvSpPr/>
          <p:nvPr/>
        </p:nvSpPr>
        <p:spPr>
          <a:xfrm>
            <a:off x="347472" y="285292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Test Automation Approach</a:t>
            </a:r>
            <a:endParaRPr lang="en-US" sz="1200" dirty="0"/>
          </a:p>
        </p:txBody>
      </p:sp>
      <p:sp>
        <p:nvSpPr>
          <p:cNvPr id="21" name="Text 19"/>
          <p:cNvSpPr/>
          <p:nvPr/>
        </p:nvSpPr>
        <p:spPr>
          <a:xfrm>
            <a:off x="347472" y="313639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Which tests will be automated (e.g. regression using Selenium/Playwright) vs. manually executed.</a:t>
            </a:r>
            <a:endParaRPr lang="en-US" sz="1050" dirty="0"/>
          </a:p>
        </p:txBody>
      </p:sp>
      <p:sp>
        <p:nvSpPr>
          <p:cNvPr id="22" name="Shape 20"/>
          <p:cNvSpPr/>
          <p:nvPr/>
        </p:nvSpPr>
        <p:spPr>
          <a:xfrm>
            <a:off x="4663440" y="278892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3" name="Shape 21"/>
          <p:cNvSpPr/>
          <p:nvPr/>
        </p:nvSpPr>
        <p:spPr>
          <a:xfrm>
            <a:off x="4663440" y="2788920"/>
            <a:ext cx="73152" cy="896112"/>
          </a:xfrm>
          <a:prstGeom prst="rect">
            <a:avLst/>
          </a:prstGeom>
          <a:solidFill>
            <a:srgbClr val="E8650A"/>
          </a:solidFill>
          <a:ln w="12700">
            <a:solidFill>
              <a:srgbClr val="E8650A"/>
            </a:solidFill>
            <a:prstDash val="solid"/>
          </a:ln>
        </p:spPr>
      </p:sp>
      <p:sp>
        <p:nvSpPr>
          <p:cNvPr id="24" name="Text 22"/>
          <p:cNvSpPr/>
          <p:nvPr/>
        </p:nvSpPr>
        <p:spPr>
          <a:xfrm>
            <a:off x="4828032" y="285292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Entry &amp; Exit Criteria</a:t>
            </a:r>
            <a:endParaRPr lang="en-US" sz="1200" dirty="0"/>
          </a:p>
        </p:txBody>
      </p:sp>
      <p:sp>
        <p:nvSpPr>
          <p:cNvPr id="25" name="Text 23"/>
          <p:cNvSpPr/>
          <p:nvPr/>
        </p:nvSpPr>
        <p:spPr>
          <a:xfrm>
            <a:off x="4828032" y="313639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Conditions that must be met before testing starts (entry) and before it concludes (exit).</a:t>
            </a:r>
            <a:endParaRPr lang="en-US" sz="1050" dirty="0"/>
          </a:p>
        </p:txBody>
      </p:sp>
      <p:sp>
        <p:nvSpPr>
          <p:cNvPr id="26" name="Shape 24"/>
          <p:cNvSpPr/>
          <p:nvPr/>
        </p:nvSpPr>
        <p:spPr>
          <a:xfrm>
            <a:off x="182880" y="379476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7" name="Shape 25"/>
          <p:cNvSpPr/>
          <p:nvPr/>
        </p:nvSpPr>
        <p:spPr>
          <a:xfrm>
            <a:off x="182880" y="3794760"/>
            <a:ext cx="73152" cy="896112"/>
          </a:xfrm>
          <a:prstGeom prst="rect">
            <a:avLst/>
          </a:prstGeom>
          <a:solidFill>
            <a:srgbClr val="E8650A"/>
          </a:solidFill>
          <a:ln w="12700">
            <a:solidFill>
              <a:srgbClr val="E8650A"/>
            </a:solidFill>
            <a:prstDash val="solid"/>
          </a:ln>
        </p:spPr>
      </p:sp>
      <p:sp>
        <p:nvSpPr>
          <p:cNvPr id="28" name="Text 26"/>
          <p:cNvSpPr/>
          <p:nvPr/>
        </p:nvSpPr>
        <p:spPr>
          <a:xfrm>
            <a:off x="347472" y="385876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Defect Management Process</a:t>
            </a:r>
            <a:endParaRPr lang="en-US" sz="1200" dirty="0"/>
          </a:p>
        </p:txBody>
      </p:sp>
      <p:sp>
        <p:nvSpPr>
          <p:cNvPr id="29" name="Text 27"/>
          <p:cNvSpPr/>
          <p:nvPr/>
        </p:nvSpPr>
        <p:spPr>
          <a:xfrm>
            <a:off x="347472" y="414223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How defects are raised, triaged, tracked, and resolved using a bug tracking workflow.</a:t>
            </a:r>
            <a:endParaRPr lang="en-US" sz="1050" dirty="0"/>
          </a:p>
        </p:txBody>
      </p:sp>
      <p:sp>
        <p:nvSpPr>
          <p:cNvPr id="30" name="Shape 28"/>
          <p:cNvSpPr/>
          <p:nvPr/>
        </p:nvSpPr>
        <p:spPr>
          <a:xfrm>
            <a:off x="4663440" y="3794760"/>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1" name="Shape 29"/>
          <p:cNvSpPr/>
          <p:nvPr/>
        </p:nvSpPr>
        <p:spPr>
          <a:xfrm>
            <a:off x="4663440" y="3794760"/>
            <a:ext cx="73152" cy="896112"/>
          </a:xfrm>
          <a:prstGeom prst="rect">
            <a:avLst/>
          </a:prstGeom>
          <a:solidFill>
            <a:srgbClr val="E8650A"/>
          </a:solidFill>
          <a:ln w="12700">
            <a:solidFill>
              <a:srgbClr val="E8650A"/>
            </a:solidFill>
            <a:prstDash val="solid"/>
          </a:ln>
        </p:spPr>
      </p:sp>
      <p:sp>
        <p:nvSpPr>
          <p:cNvPr id="32" name="Text 30"/>
          <p:cNvSpPr/>
          <p:nvPr/>
        </p:nvSpPr>
        <p:spPr>
          <a:xfrm>
            <a:off x="4828032" y="3858768"/>
            <a:ext cx="4023360"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Risk Assessment</a:t>
            </a:r>
            <a:endParaRPr lang="en-US" sz="1200" dirty="0"/>
          </a:p>
        </p:txBody>
      </p:sp>
      <p:sp>
        <p:nvSpPr>
          <p:cNvPr id="33" name="Text 31"/>
          <p:cNvSpPr/>
          <p:nvPr/>
        </p:nvSpPr>
        <p:spPr>
          <a:xfrm>
            <a:off x="4828032" y="4142232"/>
            <a:ext cx="4023360" cy="475488"/>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High-level identification of testing risks and initial mitigation strategies.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Plan Document — Scope, Objectives &amp; Testing Types</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PLANNING</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365760"/>
          </a:xfrm>
          <a:prstGeom prst="rect">
            <a:avLst/>
          </a:prstGeom>
          <a:noFill/>
          <a:ln/>
        </p:spPr>
        <p:txBody>
          <a:bodyPr wrap="square" lIns="0" tIns="0" rIns="0" bIns="0" rtlCol="0" anchor="ctr"/>
          <a:lstStyle/>
          <a:p>
            <a:pPr marL="0" indent="0">
              <a:buNone/>
            </a:pPr>
            <a:r>
              <a:rPr lang="en-US" sz="1150" i="1" dirty="0">
                <a:solidFill>
                  <a:srgbClr val="F5F5F5"/>
                </a:solidFill>
                <a:latin typeface="Arial" pitchFamily="34" charset="0"/>
                <a:ea typeface="Arial" pitchFamily="34" charset="-122"/>
                <a:cs typeface="Arial" pitchFamily="34" charset="-120"/>
              </a:rPr>
              <a:t>The Test Plan is the master project-level document that operationalises the Test Strategy. IEEE 829 defines the standard structure.</a:t>
            </a:r>
            <a:endParaRPr lang="en-US" sz="1150" dirty="0"/>
          </a:p>
        </p:txBody>
      </p:sp>
      <p:sp>
        <p:nvSpPr>
          <p:cNvPr id="9" name="Shape 7"/>
          <p:cNvSpPr/>
          <p:nvPr/>
        </p:nvSpPr>
        <p:spPr>
          <a:xfrm>
            <a:off x="182880" y="1234440"/>
            <a:ext cx="8778240" cy="109728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0" name="Shape 8"/>
          <p:cNvSpPr/>
          <p:nvPr/>
        </p:nvSpPr>
        <p:spPr>
          <a:xfrm>
            <a:off x="182880" y="1234440"/>
            <a:ext cx="2011680" cy="274320"/>
          </a:xfrm>
          <a:prstGeom prst="rect">
            <a:avLst/>
          </a:prstGeom>
          <a:solidFill>
            <a:srgbClr val="C4500A"/>
          </a:solidFill>
          <a:ln w="12700">
            <a:solidFill>
              <a:srgbClr val="C4500A"/>
            </a:solidFill>
            <a:prstDash val="solid"/>
          </a:ln>
        </p:spPr>
      </p:sp>
      <p:sp>
        <p:nvSpPr>
          <p:cNvPr id="11" name="Text 9"/>
          <p:cNvSpPr/>
          <p:nvPr/>
        </p:nvSpPr>
        <p:spPr>
          <a:xfrm>
            <a:off x="256032" y="1252728"/>
            <a:ext cx="192024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  SCOPE</a:t>
            </a:r>
            <a:endParaRPr lang="en-US" sz="1100" dirty="0"/>
          </a:p>
        </p:txBody>
      </p:sp>
      <p:sp>
        <p:nvSpPr>
          <p:cNvPr id="12" name="Text 10"/>
          <p:cNvSpPr/>
          <p:nvPr/>
        </p:nvSpPr>
        <p:spPr>
          <a:xfrm>
            <a:off x="320040" y="1554480"/>
            <a:ext cx="8458200" cy="749808"/>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In-Scope: All functional modules defined in the SRS, regression suite, API integration layer, and database validation.</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Out-of-Scope: Third-party payment gateway internals, hardware-level testing, and performance benchmarking (handled by a separate workstream).</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Example: For an e-commerce platform, in-scope includes checkout flow, product search, and user authentication. Out-of-scope includes the logistics partner's delivery tracking API.</a:t>
            </a:r>
            <a:endParaRPr lang="en-US" sz="1050" dirty="0"/>
          </a:p>
        </p:txBody>
      </p:sp>
      <p:sp>
        <p:nvSpPr>
          <p:cNvPr id="13" name="Shape 11"/>
          <p:cNvSpPr/>
          <p:nvPr/>
        </p:nvSpPr>
        <p:spPr>
          <a:xfrm>
            <a:off x="182880" y="2404872"/>
            <a:ext cx="8778240" cy="111556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4" name="Shape 12"/>
          <p:cNvSpPr/>
          <p:nvPr/>
        </p:nvSpPr>
        <p:spPr>
          <a:xfrm>
            <a:off x="182880" y="2404872"/>
            <a:ext cx="2011680" cy="274320"/>
          </a:xfrm>
          <a:prstGeom prst="rect">
            <a:avLst/>
          </a:prstGeom>
          <a:solidFill>
            <a:srgbClr val="C4500A"/>
          </a:solidFill>
          <a:ln w="12700">
            <a:solidFill>
              <a:srgbClr val="C4500A"/>
            </a:solidFill>
            <a:prstDash val="solid"/>
          </a:ln>
        </p:spPr>
      </p:sp>
      <p:sp>
        <p:nvSpPr>
          <p:cNvPr id="15" name="Text 13"/>
          <p:cNvSpPr/>
          <p:nvPr/>
        </p:nvSpPr>
        <p:spPr>
          <a:xfrm>
            <a:off x="256032" y="2423160"/>
            <a:ext cx="192024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  OBJECTIVES</a:t>
            </a:r>
            <a:endParaRPr lang="en-US" sz="1100" dirty="0"/>
          </a:p>
        </p:txBody>
      </p:sp>
      <p:sp>
        <p:nvSpPr>
          <p:cNvPr id="16" name="Text 14"/>
          <p:cNvSpPr/>
          <p:nvPr/>
        </p:nvSpPr>
        <p:spPr>
          <a:xfrm>
            <a:off x="320040" y="2724912"/>
            <a:ext cx="8458200" cy="768096"/>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Validate that all software functions meet defined business requirements.</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Identify and document all defects with severity ≥ Medium before release.</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Achieve minimum 90% test case execution and 85% pass rate by release date.</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Ensure all critical user journeys are regression-tested after every sprint build.</a:t>
            </a:r>
            <a:endParaRPr lang="en-US" sz="1050" dirty="0"/>
          </a:p>
        </p:txBody>
      </p:sp>
      <p:sp>
        <p:nvSpPr>
          <p:cNvPr id="17" name="Shape 15"/>
          <p:cNvSpPr/>
          <p:nvPr/>
        </p:nvSpPr>
        <p:spPr>
          <a:xfrm>
            <a:off x="182880" y="3593592"/>
            <a:ext cx="8778240" cy="1645920"/>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8" name="Shape 16"/>
          <p:cNvSpPr/>
          <p:nvPr/>
        </p:nvSpPr>
        <p:spPr>
          <a:xfrm>
            <a:off x="182880" y="3593592"/>
            <a:ext cx="2011680" cy="274320"/>
          </a:xfrm>
          <a:prstGeom prst="rect">
            <a:avLst/>
          </a:prstGeom>
          <a:solidFill>
            <a:srgbClr val="C4500A"/>
          </a:solidFill>
          <a:ln w="12700">
            <a:solidFill>
              <a:srgbClr val="C4500A"/>
            </a:solidFill>
            <a:prstDash val="solid"/>
          </a:ln>
        </p:spPr>
      </p:sp>
      <p:sp>
        <p:nvSpPr>
          <p:cNvPr id="19" name="Text 17"/>
          <p:cNvSpPr/>
          <p:nvPr/>
        </p:nvSpPr>
        <p:spPr>
          <a:xfrm>
            <a:off x="256032" y="3611880"/>
            <a:ext cx="1920240" cy="256032"/>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  TESTING TYPES</a:t>
            </a:r>
            <a:endParaRPr lang="en-US" sz="1100" dirty="0"/>
          </a:p>
        </p:txBody>
      </p:sp>
      <p:sp>
        <p:nvSpPr>
          <p:cNvPr id="20" name="Text 18"/>
          <p:cNvSpPr/>
          <p:nvPr/>
        </p:nvSpPr>
        <p:spPr>
          <a:xfrm>
            <a:off x="320040" y="3913632"/>
            <a:ext cx="8458200" cy="1298448"/>
          </a:xfrm>
          <a:prstGeom prst="rect">
            <a:avLst/>
          </a:prstGeom>
          <a:noFill/>
          <a:ln/>
        </p:spPr>
        <p:txBody>
          <a:bodyPr wrap="square" lIns="0" tIns="0" rIns="0" bIns="0" rtlCol="0" anchor="ctr"/>
          <a:lstStyle/>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Functional Testing: Verify individual features behave per specifications.</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Regression Testing: Ensure new code does not break existing functionality. Automated using Selenium/Playwright.</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Integration Testing: Validate that modules communicate correctly via APIs.</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UAT (User Acceptance Testing): Business stakeholders validate system against use cases.</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Performance Testing: Validate response times and throughput under load (JMeter/Gatling).</a:t>
            </a:r>
            <a:endParaRPr lang="en-US" sz="1050" dirty="0"/>
          </a:p>
          <a:p>
            <a:pPr marL="342900" indent="-342900">
              <a:spcAft>
                <a:spcPts val="200"/>
              </a:spcAft>
              <a:buSzPct val="100000"/>
              <a:buChar char="•"/>
            </a:pPr>
            <a:r>
              <a:rPr lang="en-US" sz="1050" dirty="0">
                <a:solidFill>
                  <a:srgbClr val="F5F5F5"/>
                </a:solidFill>
                <a:latin typeface="Arial" pitchFamily="34" charset="0"/>
                <a:ea typeface="Arial" pitchFamily="34" charset="-122"/>
                <a:cs typeface="Arial" pitchFamily="34" charset="-120"/>
              </a:rPr>
              <a:t>Security Testing: Validate for OWASP Top 10 vulnerabilities.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Plan Document — Resources, Timeline &amp; Risks</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PLANNING</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22960"/>
            <a:ext cx="8229600" cy="301752"/>
          </a:xfrm>
          <a:prstGeom prst="rect">
            <a:avLst/>
          </a:prstGeom>
          <a:noFill/>
          <a:ln/>
        </p:spPr>
        <p:txBody>
          <a:bodyPr wrap="square" lIns="0" tIns="0" rIns="0" bIns="0" rtlCol="0" anchor="ctr"/>
          <a:lstStyle/>
          <a:p>
            <a:pPr marL="0" indent="0">
              <a:buNone/>
            </a:pPr>
            <a:r>
              <a:rPr lang="en-US" sz="1300" b="1" dirty="0">
                <a:solidFill>
                  <a:srgbClr val="0D0D0D"/>
                </a:solidFill>
                <a:latin typeface="Arial Black" pitchFamily="34" charset="0"/>
                <a:ea typeface="Arial Black" pitchFamily="34" charset="-122"/>
                <a:cs typeface="Arial Black" pitchFamily="34" charset="-120"/>
              </a:rPr>
              <a:t>👥  RESOURCES</a:t>
            </a:r>
            <a:endParaRPr lang="en-US" sz="1300" dirty="0"/>
          </a:p>
        </p:txBody>
      </p:sp>
      <p:sp>
        <p:nvSpPr>
          <p:cNvPr id="9" name="Shape 7"/>
          <p:cNvSpPr/>
          <p:nvPr/>
        </p:nvSpPr>
        <p:spPr>
          <a:xfrm>
            <a:off x="182880" y="1207008"/>
            <a:ext cx="2834640" cy="530352"/>
          </a:xfrm>
          <a:prstGeom prst="rect">
            <a:avLst/>
          </a:prstGeom>
          <a:solidFill>
            <a:srgbClr val="0D0D0D"/>
          </a:solidFill>
          <a:ln w="12700">
            <a:solidFill>
              <a:srgbClr val="0D0D0D"/>
            </a:solidFill>
            <a:prstDash val="solid"/>
          </a:ln>
          <a:effectLst>
            <a:outerShdw blurRad="50800" dist="25400" dir="8100000" algn="bl" rotWithShape="0">
              <a:srgbClr val="000000">
                <a:alpha val="10000"/>
              </a:srgbClr>
            </a:outerShdw>
          </a:effectLst>
        </p:spPr>
      </p:sp>
      <p:sp>
        <p:nvSpPr>
          <p:cNvPr id="10" name="Text 8"/>
          <p:cNvSpPr/>
          <p:nvPr/>
        </p:nvSpPr>
        <p:spPr>
          <a:xfrm>
            <a:off x="292608" y="1252728"/>
            <a:ext cx="2651760" cy="219456"/>
          </a:xfrm>
          <a:prstGeom prst="rect">
            <a:avLst/>
          </a:prstGeom>
          <a:noFill/>
          <a:ln/>
        </p:spPr>
        <p:txBody>
          <a:bodyPr wrap="square" lIns="0" tIns="0" rIns="0" bIns="0" rtlCol="0" anchor="ctr"/>
          <a:lstStyle/>
          <a:p>
            <a:pPr marL="0" indent="0">
              <a:buNone/>
            </a:pPr>
            <a:r>
              <a:rPr lang="en-US" sz="1100" b="1" dirty="0">
                <a:solidFill>
                  <a:srgbClr val="E8650A"/>
                </a:solidFill>
                <a:latin typeface="Arial Black" pitchFamily="34" charset="0"/>
                <a:ea typeface="Arial Black" pitchFamily="34" charset="-122"/>
                <a:cs typeface="Arial Black" pitchFamily="34" charset="-120"/>
              </a:rPr>
              <a:t>Test Manager</a:t>
            </a:r>
            <a:endParaRPr lang="en-US" sz="1100" dirty="0"/>
          </a:p>
        </p:txBody>
      </p:sp>
      <p:sp>
        <p:nvSpPr>
          <p:cNvPr id="11" name="Text 9"/>
          <p:cNvSpPr/>
          <p:nvPr/>
        </p:nvSpPr>
        <p:spPr>
          <a:xfrm>
            <a:off x="292608" y="1481328"/>
            <a:ext cx="2651760" cy="219456"/>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Owns test strategy, plan, and reports. Manages the team.</a:t>
            </a:r>
            <a:endParaRPr lang="en-US" sz="950" dirty="0"/>
          </a:p>
        </p:txBody>
      </p:sp>
      <p:sp>
        <p:nvSpPr>
          <p:cNvPr id="12" name="Shape 10"/>
          <p:cNvSpPr/>
          <p:nvPr/>
        </p:nvSpPr>
        <p:spPr>
          <a:xfrm>
            <a:off x="3127248" y="1207008"/>
            <a:ext cx="2834640" cy="530352"/>
          </a:xfrm>
          <a:prstGeom prst="rect">
            <a:avLst/>
          </a:prstGeom>
          <a:solidFill>
            <a:srgbClr val="0D0D0D"/>
          </a:solidFill>
          <a:ln w="12700">
            <a:solidFill>
              <a:srgbClr val="0D0D0D"/>
            </a:solidFill>
            <a:prstDash val="solid"/>
          </a:ln>
          <a:effectLst>
            <a:outerShdw blurRad="50800" dist="25400" dir="8100000" algn="bl" rotWithShape="0">
              <a:srgbClr val="000000">
                <a:alpha val="10000"/>
              </a:srgbClr>
            </a:outerShdw>
          </a:effectLst>
        </p:spPr>
      </p:sp>
      <p:sp>
        <p:nvSpPr>
          <p:cNvPr id="13" name="Text 11"/>
          <p:cNvSpPr/>
          <p:nvPr/>
        </p:nvSpPr>
        <p:spPr>
          <a:xfrm>
            <a:off x="3236976" y="1252728"/>
            <a:ext cx="2651760" cy="219456"/>
          </a:xfrm>
          <a:prstGeom prst="rect">
            <a:avLst/>
          </a:prstGeom>
          <a:noFill/>
          <a:ln/>
        </p:spPr>
        <p:txBody>
          <a:bodyPr wrap="square" lIns="0" tIns="0" rIns="0" bIns="0" rtlCol="0" anchor="ctr"/>
          <a:lstStyle/>
          <a:p>
            <a:pPr marL="0" indent="0">
              <a:buNone/>
            </a:pPr>
            <a:r>
              <a:rPr lang="en-US" sz="1100" b="1" dirty="0">
                <a:solidFill>
                  <a:srgbClr val="E8650A"/>
                </a:solidFill>
                <a:latin typeface="Arial Black" pitchFamily="34" charset="0"/>
                <a:ea typeface="Arial Black" pitchFamily="34" charset="-122"/>
                <a:cs typeface="Arial Black" pitchFamily="34" charset="-120"/>
              </a:rPr>
              <a:t>Senior Test Analyst</a:t>
            </a:r>
            <a:endParaRPr lang="en-US" sz="1100" dirty="0"/>
          </a:p>
        </p:txBody>
      </p:sp>
      <p:sp>
        <p:nvSpPr>
          <p:cNvPr id="14" name="Text 12"/>
          <p:cNvSpPr/>
          <p:nvPr/>
        </p:nvSpPr>
        <p:spPr>
          <a:xfrm>
            <a:off x="3236976" y="1481328"/>
            <a:ext cx="2651760" cy="219456"/>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Authors complex test cases, performs exploratory testing.</a:t>
            </a:r>
            <a:endParaRPr lang="en-US" sz="950" dirty="0"/>
          </a:p>
        </p:txBody>
      </p:sp>
      <p:sp>
        <p:nvSpPr>
          <p:cNvPr id="15" name="Shape 13"/>
          <p:cNvSpPr/>
          <p:nvPr/>
        </p:nvSpPr>
        <p:spPr>
          <a:xfrm>
            <a:off x="6071616" y="1207008"/>
            <a:ext cx="2834640" cy="530352"/>
          </a:xfrm>
          <a:prstGeom prst="rect">
            <a:avLst/>
          </a:prstGeom>
          <a:solidFill>
            <a:srgbClr val="0D0D0D"/>
          </a:solidFill>
          <a:ln w="12700">
            <a:solidFill>
              <a:srgbClr val="0D0D0D"/>
            </a:solidFill>
            <a:prstDash val="solid"/>
          </a:ln>
          <a:effectLst>
            <a:outerShdw blurRad="50800" dist="25400" dir="8100000" algn="bl" rotWithShape="0">
              <a:srgbClr val="000000">
                <a:alpha val="10000"/>
              </a:srgbClr>
            </a:outerShdw>
          </a:effectLst>
        </p:spPr>
      </p:sp>
      <p:sp>
        <p:nvSpPr>
          <p:cNvPr id="16" name="Text 14"/>
          <p:cNvSpPr/>
          <p:nvPr/>
        </p:nvSpPr>
        <p:spPr>
          <a:xfrm>
            <a:off x="6181344" y="1252728"/>
            <a:ext cx="2651760" cy="219456"/>
          </a:xfrm>
          <a:prstGeom prst="rect">
            <a:avLst/>
          </a:prstGeom>
          <a:noFill/>
          <a:ln/>
        </p:spPr>
        <p:txBody>
          <a:bodyPr wrap="square" lIns="0" tIns="0" rIns="0" bIns="0" rtlCol="0" anchor="ctr"/>
          <a:lstStyle/>
          <a:p>
            <a:pPr marL="0" indent="0">
              <a:buNone/>
            </a:pPr>
            <a:r>
              <a:rPr lang="en-US" sz="1100" b="1" dirty="0">
                <a:solidFill>
                  <a:srgbClr val="E8650A"/>
                </a:solidFill>
                <a:latin typeface="Arial Black" pitchFamily="34" charset="0"/>
                <a:ea typeface="Arial Black" pitchFamily="34" charset="-122"/>
                <a:cs typeface="Arial Black" pitchFamily="34" charset="-120"/>
              </a:rPr>
              <a:t>Automation Engineer</a:t>
            </a:r>
            <a:endParaRPr lang="en-US" sz="1100" dirty="0"/>
          </a:p>
        </p:txBody>
      </p:sp>
      <p:sp>
        <p:nvSpPr>
          <p:cNvPr id="17" name="Text 15"/>
          <p:cNvSpPr/>
          <p:nvPr/>
        </p:nvSpPr>
        <p:spPr>
          <a:xfrm>
            <a:off x="6181344" y="1481328"/>
            <a:ext cx="2651760" cy="219456"/>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Builds &amp; maintains Selenium / Playwright test frameworks.</a:t>
            </a:r>
            <a:endParaRPr lang="en-US" sz="950" dirty="0"/>
          </a:p>
        </p:txBody>
      </p:sp>
      <p:sp>
        <p:nvSpPr>
          <p:cNvPr id="18" name="Shape 16"/>
          <p:cNvSpPr/>
          <p:nvPr/>
        </p:nvSpPr>
        <p:spPr>
          <a:xfrm>
            <a:off x="182880" y="1801368"/>
            <a:ext cx="2834640" cy="530352"/>
          </a:xfrm>
          <a:prstGeom prst="rect">
            <a:avLst/>
          </a:prstGeom>
          <a:solidFill>
            <a:srgbClr val="0D0D0D"/>
          </a:solidFill>
          <a:ln w="12700">
            <a:solidFill>
              <a:srgbClr val="0D0D0D"/>
            </a:solidFill>
            <a:prstDash val="solid"/>
          </a:ln>
          <a:effectLst>
            <a:outerShdw blurRad="50800" dist="25400" dir="8100000" algn="bl" rotWithShape="0">
              <a:srgbClr val="000000">
                <a:alpha val="10000"/>
              </a:srgbClr>
            </a:outerShdw>
          </a:effectLst>
        </p:spPr>
      </p:sp>
      <p:sp>
        <p:nvSpPr>
          <p:cNvPr id="19" name="Text 17"/>
          <p:cNvSpPr/>
          <p:nvPr/>
        </p:nvSpPr>
        <p:spPr>
          <a:xfrm>
            <a:off x="292608" y="1847088"/>
            <a:ext cx="2651760" cy="219456"/>
          </a:xfrm>
          <a:prstGeom prst="rect">
            <a:avLst/>
          </a:prstGeom>
          <a:noFill/>
          <a:ln/>
        </p:spPr>
        <p:txBody>
          <a:bodyPr wrap="square" lIns="0" tIns="0" rIns="0" bIns="0" rtlCol="0" anchor="ctr"/>
          <a:lstStyle/>
          <a:p>
            <a:pPr marL="0" indent="0">
              <a:buNone/>
            </a:pPr>
            <a:r>
              <a:rPr lang="en-US" sz="1100" b="1" dirty="0">
                <a:solidFill>
                  <a:srgbClr val="E8650A"/>
                </a:solidFill>
                <a:latin typeface="Arial Black" pitchFamily="34" charset="0"/>
                <a:ea typeface="Arial Black" pitchFamily="34" charset="-122"/>
                <a:cs typeface="Arial Black" pitchFamily="34" charset="-120"/>
              </a:rPr>
              <a:t>Performance Tester</a:t>
            </a:r>
            <a:endParaRPr lang="en-US" sz="1100" dirty="0"/>
          </a:p>
        </p:txBody>
      </p:sp>
      <p:sp>
        <p:nvSpPr>
          <p:cNvPr id="20" name="Text 18"/>
          <p:cNvSpPr/>
          <p:nvPr/>
        </p:nvSpPr>
        <p:spPr>
          <a:xfrm>
            <a:off x="292608" y="2075688"/>
            <a:ext cx="2651760" cy="219456"/>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Designs and executes load and stress tests.</a:t>
            </a:r>
            <a:endParaRPr lang="en-US" sz="950" dirty="0"/>
          </a:p>
        </p:txBody>
      </p:sp>
      <p:sp>
        <p:nvSpPr>
          <p:cNvPr id="21" name="Shape 19"/>
          <p:cNvSpPr/>
          <p:nvPr/>
        </p:nvSpPr>
        <p:spPr>
          <a:xfrm>
            <a:off x="3127248" y="1801368"/>
            <a:ext cx="2834640" cy="530352"/>
          </a:xfrm>
          <a:prstGeom prst="rect">
            <a:avLst/>
          </a:prstGeom>
          <a:solidFill>
            <a:srgbClr val="0D0D0D"/>
          </a:solidFill>
          <a:ln w="12700">
            <a:solidFill>
              <a:srgbClr val="0D0D0D"/>
            </a:solidFill>
            <a:prstDash val="solid"/>
          </a:ln>
          <a:effectLst>
            <a:outerShdw blurRad="50800" dist="25400" dir="8100000" algn="bl" rotWithShape="0">
              <a:srgbClr val="000000">
                <a:alpha val="10000"/>
              </a:srgbClr>
            </a:outerShdw>
          </a:effectLst>
        </p:spPr>
      </p:sp>
      <p:sp>
        <p:nvSpPr>
          <p:cNvPr id="22" name="Text 20"/>
          <p:cNvSpPr/>
          <p:nvPr/>
        </p:nvSpPr>
        <p:spPr>
          <a:xfrm>
            <a:off x="3236976" y="1847088"/>
            <a:ext cx="2651760" cy="219456"/>
          </a:xfrm>
          <a:prstGeom prst="rect">
            <a:avLst/>
          </a:prstGeom>
          <a:noFill/>
          <a:ln/>
        </p:spPr>
        <p:txBody>
          <a:bodyPr wrap="square" lIns="0" tIns="0" rIns="0" bIns="0" rtlCol="0" anchor="ctr"/>
          <a:lstStyle/>
          <a:p>
            <a:pPr marL="0" indent="0">
              <a:buNone/>
            </a:pPr>
            <a:r>
              <a:rPr lang="en-US" sz="1100" b="1" dirty="0">
                <a:solidFill>
                  <a:srgbClr val="E8650A"/>
                </a:solidFill>
                <a:latin typeface="Arial Black" pitchFamily="34" charset="0"/>
                <a:ea typeface="Arial Black" pitchFamily="34" charset="-122"/>
                <a:cs typeface="Arial Black" pitchFamily="34" charset="-120"/>
              </a:rPr>
              <a:t>Junior Tester</a:t>
            </a:r>
            <a:endParaRPr lang="en-US" sz="1100" dirty="0"/>
          </a:p>
        </p:txBody>
      </p:sp>
      <p:sp>
        <p:nvSpPr>
          <p:cNvPr id="23" name="Text 21"/>
          <p:cNvSpPr/>
          <p:nvPr/>
        </p:nvSpPr>
        <p:spPr>
          <a:xfrm>
            <a:off x="3236976" y="2075688"/>
            <a:ext cx="2651760" cy="219456"/>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Executes manual test cases, raises defect reports.</a:t>
            </a:r>
            <a:endParaRPr lang="en-US" sz="950" dirty="0"/>
          </a:p>
        </p:txBody>
      </p:sp>
      <p:sp>
        <p:nvSpPr>
          <p:cNvPr id="24" name="Text 22"/>
          <p:cNvSpPr/>
          <p:nvPr/>
        </p:nvSpPr>
        <p:spPr>
          <a:xfrm>
            <a:off x="182880" y="2395728"/>
            <a:ext cx="8229600" cy="301752"/>
          </a:xfrm>
          <a:prstGeom prst="rect">
            <a:avLst/>
          </a:prstGeom>
          <a:noFill/>
          <a:ln/>
        </p:spPr>
        <p:txBody>
          <a:bodyPr wrap="square" lIns="0" tIns="0" rIns="0" bIns="0" rtlCol="0" anchor="ctr"/>
          <a:lstStyle/>
          <a:p>
            <a:pPr marL="0" indent="0">
              <a:buNone/>
            </a:pPr>
            <a:r>
              <a:rPr lang="en-US" sz="1300" b="1" dirty="0">
                <a:solidFill>
                  <a:srgbClr val="0D0D0D"/>
                </a:solidFill>
                <a:latin typeface="Arial Black" pitchFamily="34" charset="0"/>
                <a:ea typeface="Arial Black" pitchFamily="34" charset="-122"/>
                <a:cs typeface="Arial Black" pitchFamily="34" charset="-120"/>
              </a:rPr>
              <a:t>📅  TIMELINE</a:t>
            </a:r>
            <a:endParaRPr lang="en-US" sz="1300" dirty="0"/>
          </a:p>
        </p:txBody>
      </p:sp>
      <p:sp>
        <p:nvSpPr>
          <p:cNvPr id="25" name="Shape 23"/>
          <p:cNvSpPr/>
          <p:nvPr/>
        </p:nvSpPr>
        <p:spPr>
          <a:xfrm>
            <a:off x="182880" y="2788920"/>
            <a:ext cx="1325880" cy="384048"/>
          </a:xfrm>
          <a:prstGeom prst="rect">
            <a:avLst/>
          </a:prstGeom>
          <a:solidFill>
            <a:srgbClr val="E8650A"/>
          </a:solidFill>
          <a:ln w="12700">
            <a:solidFill>
              <a:srgbClr val="E8650A"/>
            </a:solidFill>
            <a:prstDash val="solid"/>
          </a:ln>
        </p:spPr>
      </p:sp>
      <p:sp>
        <p:nvSpPr>
          <p:cNvPr id="26" name="Text 24"/>
          <p:cNvSpPr/>
          <p:nvPr/>
        </p:nvSpPr>
        <p:spPr>
          <a:xfrm>
            <a:off x="18288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Test Planning</a:t>
            </a:r>
            <a:endParaRPr lang="en-US" sz="950" dirty="0"/>
          </a:p>
        </p:txBody>
      </p:sp>
      <p:sp>
        <p:nvSpPr>
          <p:cNvPr id="27" name="Text 25"/>
          <p:cNvSpPr/>
          <p:nvPr/>
        </p:nvSpPr>
        <p:spPr>
          <a:xfrm>
            <a:off x="18288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1-2</a:t>
            </a:r>
            <a:endParaRPr lang="en-US" sz="850" dirty="0"/>
          </a:p>
        </p:txBody>
      </p:sp>
      <p:sp>
        <p:nvSpPr>
          <p:cNvPr id="28" name="Text 26"/>
          <p:cNvSpPr/>
          <p:nvPr/>
        </p:nvSpPr>
        <p:spPr>
          <a:xfrm>
            <a:off x="1481328" y="2834640"/>
            <a:ext cx="201168" cy="292608"/>
          </a:xfrm>
          <a:prstGeom prst="rect">
            <a:avLst/>
          </a:prstGeom>
          <a:noFill/>
          <a:ln/>
        </p:spPr>
        <p:txBody>
          <a:bodyPr wrap="square" lIns="0" tIns="0" rIns="0" bIns="0" rtlCol="0" anchor="ctr"/>
          <a:lstStyle/>
          <a:p>
            <a:pPr marL="0" indent="0" algn="ctr">
              <a:buNone/>
            </a:pPr>
            <a:r>
              <a:rPr lang="en-US" sz="1400" dirty="0">
                <a:solidFill>
                  <a:srgbClr val="0D0D0D"/>
                </a:solidFill>
              </a:rPr>
              <a:t>→</a:t>
            </a:r>
            <a:endParaRPr lang="en-US" sz="1400" dirty="0"/>
          </a:p>
        </p:txBody>
      </p:sp>
      <p:sp>
        <p:nvSpPr>
          <p:cNvPr id="29" name="Shape 27"/>
          <p:cNvSpPr/>
          <p:nvPr/>
        </p:nvSpPr>
        <p:spPr>
          <a:xfrm>
            <a:off x="1645920" y="2788920"/>
            <a:ext cx="1325880" cy="384048"/>
          </a:xfrm>
          <a:prstGeom prst="rect">
            <a:avLst/>
          </a:prstGeom>
          <a:solidFill>
            <a:srgbClr val="E8650A"/>
          </a:solidFill>
          <a:ln w="12700">
            <a:solidFill>
              <a:srgbClr val="E8650A"/>
            </a:solidFill>
            <a:prstDash val="solid"/>
          </a:ln>
        </p:spPr>
      </p:sp>
      <p:sp>
        <p:nvSpPr>
          <p:cNvPr id="30" name="Text 28"/>
          <p:cNvSpPr/>
          <p:nvPr/>
        </p:nvSpPr>
        <p:spPr>
          <a:xfrm>
            <a:off x="164592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Test Design</a:t>
            </a:r>
            <a:endParaRPr lang="en-US" sz="950" dirty="0"/>
          </a:p>
        </p:txBody>
      </p:sp>
      <p:sp>
        <p:nvSpPr>
          <p:cNvPr id="31" name="Text 29"/>
          <p:cNvSpPr/>
          <p:nvPr/>
        </p:nvSpPr>
        <p:spPr>
          <a:xfrm>
            <a:off x="164592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2-3</a:t>
            </a:r>
            <a:endParaRPr lang="en-US" sz="850" dirty="0"/>
          </a:p>
        </p:txBody>
      </p:sp>
      <p:sp>
        <p:nvSpPr>
          <p:cNvPr id="32" name="Text 30"/>
          <p:cNvSpPr/>
          <p:nvPr/>
        </p:nvSpPr>
        <p:spPr>
          <a:xfrm>
            <a:off x="2944368" y="2834640"/>
            <a:ext cx="201168" cy="292608"/>
          </a:xfrm>
          <a:prstGeom prst="rect">
            <a:avLst/>
          </a:prstGeom>
          <a:noFill/>
          <a:ln/>
        </p:spPr>
        <p:txBody>
          <a:bodyPr wrap="square" lIns="0" tIns="0" rIns="0" bIns="0" rtlCol="0" anchor="ctr"/>
          <a:lstStyle/>
          <a:p>
            <a:pPr marL="0" indent="0" algn="ctr">
              <a:buNone/>
            </a:pPr>
            <a:r>
              <a:rPr lang="en-US" sz="1400" dirty="0">
                <a:solidFill>
                  <a:srgbClr val="0D0D0D"/>
                </a:solidFill>
              </a:rPr>
              <a:t>→</a:t>
            </a:r>
            <a:endParaRPr lang="en-US" sz="1400" dirty="0"/>
          </a:p>
        </p:txBody>
      </p:sp>
      <p:sp>
        <p:nvSpPr>
          <p:cNvPr id="33" name="Shape 31"/>
          <p:cNvSpPr/>
          <p:nvPr/>
        </p:nvSpPr>
        <p:spPr>
          <a:xfrm>
            <a:off x="3108960" y="2788920"/>
            <a:ext cx="1325880" cy="384048"/>
          </a:xfrm>
          <a:prstGeom prst="rect">
            <a:avLst/>
          </a:prstGeom>
          <a:solidFill>
            <a:srgbClr val="E8650A"/>
          </a:solidFill>
          <a:ln w="12700">
            <a:solidFill>
              <a:srgbClr val="E8650A"/>
            </a:solidFill>
            <a:prstDash val="solid"/>
          </a:ln>
        </p:spPr>
      </p:sp>
      <p:sp>
        <p:nvSpPr>
          <p:cNvPr id="34" name="Text 32"/>
          <p:cNvSpPr/>
          <p:nvPr/>
        </p:nvSpPr>
        <p:spPr>
          <a:xfrm>
            <a:off x="310896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Env. Setup</a:t>
            </a:r>
            <a:endParaRPr lang="en-US" sz="950" dirty="0"/>
          </a:p>
        </p:txBody>
      </p:sp>
      <p:sp>
        <p:nvSpPr>
          <p:cNvPr id="35" name="Text 33"/>
          <p:cNvSpPr/>
          <p:nvPr/>
        </p:nvSpPr>
        <p:spPr>
          <a:xfrm>
            <a:off x="310896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3</a:t>
            </a:r>
            <a:endParaRPr lang="en-US" sz="850" dirty="0"/>
          </a:p>
        </p:txBody>
      </p:sp>
      <p:sp>
        <p:nvSpPr>
          <p:cNvPr id="36" name="Text 34"/>
          <p:cNvSpPr/>
          <p:nvPr/>
        </p:nvSpPr>
        <p:spPr>
          <a:xfrm>
            <a:off x="4407408" y="2834640"/>
            <a:ext cx="201168" cy="292608"/>
          </a:xfrm>
          <a:prstGeom prst="rect">
            <a:avLst/>
          </a:prstGeom>
          <a:noFill/>
          <a:ln/>
        </p:spPr>
        <p:txBody>
          <a:bodyPr wrap="square" lIns="0" tIns="0" rIns="0" bIns="0" rtlCol="0" anchor="ctr"/>
          <a:lstStyle/>
          <a:p>
            <a:pPr marL="0" indent="0" algn="ctr">
              <a:buNone/>
            </a:pPr>
            <a:r>
              <a:rPr lang="en-US" sz="1400" dirty="0">
                <a:solidFill>
                  <a:srgbClr val="0D0D0D"/>
                </a:solidFill>
              </a:rPr>
              <a:t>→</a:t>
            </a:r>
            <a:endParaRPr lang="en-US" sz="1400" dirty="0"/>
          </a:p>
        </p:txBody>
      </p:sp>
      <p:sp>
        <p:nvSpPr>
          <p:cNvPr id="37" name="Shape 35"/>
          <p:cNvSpPr/>
          <p:nvPr/>
        </p:nvSpPr>
        <p:spPr>
          <a:xfrm>
            <a:off x="4572000" y="2788920"/>
            <a:ext cx="1325880" cy="384048"/>
          </a:xfrm>
          <a:prstGeom prst="rect">
            <a:avLst/>
          </a:prstGeom>
          <a:solidFill>
            <a:srgbClr val="E8650A"/>
          </a:solidFill>
          <a:ln w="12700">
            <a:solidFill>
              <a:srgbClr val="E8650A"/>
            </a:solidFill>
            <a:prstDash val="solid"/>
          </a:ln>
        </p:spPr>
      </p:sp>
      <p:sp>
        <p:nvSpPr>
          <p:cNvPr id="38" name="Text 36"/>
          <p:cNvSpPr/>
          <p:nvPr/>
        </p:nvSpPr>
        <p:spPr>
          <a:xfrm>
            <a:off x="457200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Execution</a:t>
            </a:r>
            <a:endParaRPr lang="en-US" sz="950" dirty="0"/>
          </a:p>
        </p:txBody>
      </p:sp>
      <p:sp>
        <p:nvSpPr>
          <p:cNvPr id="39" name="Text 37"/>
          <p:cNvSpPr/>
          <p:nvPr/>
        </p:nvSpPr>
        <p:spPr>
          <a:xfrm>
            <a:off x="457200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4-7</a:t>
            </a:r>
            <a:endParaRPr lang="en-US" sz="850" dirty="0"/>
          </a:p>
        </p:txBody>
      </p:sp>
      <p:sp>
        <p:nvSpPr>
          <p:cNvPr id="40" name="Text 38"/>
          <p:cNvSpPr/>
          <p:nvPr/>
        </p:nvSpPr>
        <p:spPr>
          <a:xfrm>
            <a:off x="5870448" y="2834640"/>
            <a:ext cx="201168" cy="292608"/>
          </a:xfrm>
          <a:prstGeom prst="rect">
            <a:avLst/>
          </a:prstGeom>
          <a:noFill/>
          <a:ln/>
        </p:spPr>
        <p:txBody>
          <a:bodyPr wrap="square" lIns="0" tIns="0" rIns="0" bIns="0" rtlCol="0" anchor="ctr"/>
          <a:lstStyle/>
          <a:p>
            <a:pPr marL="0" indent="0" algn="ctr">
              <a:buNone/>
            </a:pPr>
            <a:r>
              <a:rPr lang="en-US" sz="1400" dirty="0">
                <a:solidFill>
                  <a:srgbClr val="0D0D0D"/>
                </a:solidFill>
              </a:rPr>
              <a:t>→</a:t>
            </a:r>
            <a:endParaRPr lang="en-US" sz="1400" dirty="0"/>
          </a:p>
        </p:txBody>
      </p:sp>
      <p:sp>
        <p:nvSpPr>
          <p:cNvPr id="41" name="Shape 39"/>
          <p:cNvSpPr/>
          <p:nvPr/>
        </p:nvSpPr>
        <p:spPr>
          <a:xfrm>
            <a:off x="6035040" y="2788920"/>
            <a:ext cx="1325880" cy="384048"/>
          </a:xfrm>
          <a:prstGeom prst="rect">
            <a:avLst/>
          </a:prstGeom>
          <a:solidFill>
            <a:srgbClr val="E8650A"/>
          </a:solidFill>
          <a:ln w="12700">
            <a:solidFill>
              <a:srgbClr val="E8650A"/>
            </a:solidFill>
            <a:prstDash val="solid"/>
          </a:ln>
        </p:spPr>
      </p:sp>
      <p:sp>
        <p:nvSpPr>
          <p:cNvPr id="42" name="Text 40"/>
          <p:cNvSpPr/>
          <p:nvPr/>
        </p:nvSpPr>
        <p:spPr>
          <a:xfrm>
            <a:off x="603504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UAT</a:t>
            </a:r>
            <a:endParaRPr lang="en-US" sz="950" dirty="0"/>
          </a:p>
        </p:txBody>
      </p:sp>
      <p:sp>
        <p:nvSpPr>
          <p:cNvPr id="43" name="Text 41"/>
          <p:cNvSpPr/>
          <p:nvPr/>
        </p:nvSpPr>
        <p:spPr>
          <a:xfrm>
            <a:off x="603504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8</a:t>
            </a:r>
            <a:endParaRPr lang="en-US" sz="850" dirty="0"/>
          </a:p>
        </p:txBody>
      </p:sp>
      <p:sp>
        <p:nvSpPr>
          <p:cNvPr id="44" name="Text 42"/>
          <p:cNvSpPr/>
          <p:nvPr/>
        </p:nvSpPr>
        <p:spPr>
          <a:xfrm>
            <a:off x="7333488" y="2834640"/>
            <a:ext cx="201168" cy="292608"/>
          </a:xfrm>
          <a:prstGeom prst="rect">
            <a:avLst/>
          </a:prstGeom>
          <a:noFill/>
          <a:ln/>
        </p:spPr>
        <p:txBody>
          <a:bodyPr wrap="square" lIns="0" tIns="0" rIns="0" bIns="0" rtlCol="0" anchor="ctr"/>
          <a:lstStyle/>
          <a:p>
            <a:pPr marL="0" indent="0" algn="ctr">
              <a:buNone/>
            </a:pPr>
            <a:r>
              <a:rPr lang="en-US" sz="1400" dirty="0">
                <a:solidFill>
                  <a:srgbClr val="0D0D0D"/>
                </a:solidFill>
              </a:rPr>
              <a:t>→</a:t>
            </a:r>
            <a:endParaRPr lang="en-US" sz="1400" dirty="0"/>
          </a:p>
        </p:txBody>
      </p:sp>
      <p:sp>
        <p:nvSpPr>
          <p:cNvPr id="45" name="Shape 43"/>
          <p:cNvSpPr/>
          <p:nvPr/>
        </p:nvSpPr>
        <p:spPr>
          <a:xfrm>
            <a:off x="7498080" y="2788920"/>
            <a:ext cx="1325880" cy="384048"/>
          </a:xfrm>
          <a:prstGeom prst="rect">
            <a:avLst/>
          </a:prstGeom>
          <a:solidFill>
            <a:srgbClr val="E8650A"/>
          </a:solidFill>
          <a:ln w="12700">
            <a:solidFill>
              <a:srgbClr val="E8650A"/>
            </a:solidFill>
            <a:prstDash val="solid"/>
          </a:ln>
        </p:spPr>
      </p:sp>
      <p:sp>
        <p:nvSpPr>
          <p:cNvPr id="46" name="Text 44"/>
          <p:cNvSpPr/>
          <p:nvPr/>
        </p:nvSpPr>
        <p:spPr>
          <a:xfrm>
            <a:off x="7498080" y="2788920"/>
            <a:ext cx="1325880" cy="384048"/>
          </a:xfrm>
          <a:prstGeom prst="rect">
            <a:avLst/>
          </a:prstGeom>
          <a:noFill/>
          <a:ln/>
        </p:spPr>
        <p:txBody>
          <a:bodyPr wrap="square" lIns="0" tIns="0" rIns="0" bIns="0" rtlCol="0" anchor="ctr"/>
          <a:lstStyle/>
          <a:p>
            <a:pPr marL="0" indent="0" algn="ctr">
              <a:buNone/>
            </a:pPr>
            <a:r>
              <a:rPr lang="en-US" sz="950" b="1" dirty="0">
                <a:solidFill>
                  <a:srgbClr val="FFFFFF"/>
                </a:solidFill>
                <a:latin typeface="Arial Black" pitchFamily="34" charset="0"/>
                <a:ea typeface="Arial Black" pitchFamily="34" charset="-122"/>
                <a:cs typeface="Arial Black" pitchFamily="34" charset="-120"/>
              </a:rPr>
              <a:t>Closure</a:t>
            </a:r>
            <a:endParaRPr lang="en-US" sz="950" dirty="0"/>
          </a:p>
        </p:txBody>
      </p:sp>
      <p:sp>
        <p:nvSpPr>
          <p:cNvPr id="47" name="Text 45"/>
          <p:cNvSpPr/>
          <p:nvPr/>
        </p:nvSpPr>
        <p:spPr>
          <a:xfrm>
            <a:off x="7498080" y="3200400"/>
            <a:ext cx="1325880" cy="201168"/>
          </a:xfrm>
          <a:prstGeom prst="rect">
            <a:avLst/>
          </a:prstGeom>
          <a:noFill/>
          <a:ln/>
        </p:spPr>
        <p:txBody>
          <a:bodyPr wrap="square" lIns="0" tIns="0" rIns="0" bIns="0" rtlCol="0" anchor="ctr"/>
          <a:lstStyle/>
          <a:p>
            <a:pPr marL="0" indent="0" algn="ctr">
              <a:buNone/>
            </a:pPr>
            <a:r>
              <a:rPr lang="en-US" sz="850" dirty="0">
                <a:solidFill>
                  <a:srgbClr val="555555"/>
                </a:solidFill>
                <a:latin typeface="Arial" pitchFamily="34" charset="0"/>
                <a:ea typeface="Arial" pitchFamily="34" charset="-122"/>
                <a:cs typeface="Arial" pitchFamily="34" charset="-120"/>
              </a:rPr>
              <a:t>Week 9</a:t>
            </a:r>
            <a:endParaRPr lang="en-US" sz="850" dirty="0"/>
          </a:p>
        </p:txBody>
      </p:sp>
      <p:sp>
        <p:nvSpPr>
          <p:cNvPr id="48" name="Text 46"/>
          <p:cNvSpPr/>
          <p:nvPr/>
        </p:nvSpPr>
        <p:spPr>
          <a:xfrm>
            <a:off x="182880" y="3374136"/>
            <a:ext cx="8229600" cy="301752"/>
          </a:xfrm>
          <a:prstGeom prst="rect">
            <a:avLst/>
          </a:prstGeom>
          <a:noFill/>
          <a:ln/>
        </p:spPr>
        <p:txBody>
          <a:bodyPr wrap="square" lIns="0" tIns="0" rIns="0" bIns="0" rtlCol="0" anchor="ctr"/>
          <a:lstStyle/>
          <a:p>
            <a:pPr marL="0" indent="0">
              <a:buNone/>
            </a:pPr>
            <a:r>
              <a:rPr lang="en-US" sz="1300" b="1" dirty="0">
                <a:solidFill>
                  <a:srgbClr val="0D0D0D"/>
                </a:solidFill>
                <a:latin typeface="Arial Black" pitchFamily="34" charset="0"/>
                <a:ea typeface="Arial Black" pitchFamily="34" charset="-122"/>
                <a:cs typeface="Arial Black" pitchFamily="34" charset="-120"/>
              </a:rPr>
              <a:t>⚠️  RISKS IN THE TEST PLAN</a:t>
            </a:r>
            <a:endParaRPr lang="en-US" sz="1300" dirty="0"/>
          </a:p>
        </p:txBody>
      </p:sp>
      <p:graphicFrame>
        <p:nvGraphicFramePr>
          <p:cNvPr id="49" name="Table 0"/>
          <p:cNvGraphicFramePr>
            <a:graphicFrameLocks noGrp="1"/>
          </p:cNvGraphicFramePr>
          <p:nvPr>
            <p:extLst>
              <p:ext uri="{D42A27DB-BD31-4B8C-83A1-F6EECF244321}">
                <p14:modId xmlns:p14="http://schemas.microsoft.com/office/powerpoint/2010/main" val="4193278150"/>
              </p:ext>
            </p:extLst>
          </p:nvPr>
        </p:nvGraphicFramePr>
        <p:xfrm>
          <a:off x="182880" y="3749040"/>
          <a:ext cx="8778240" cy="1219200"/>
        </p:xfrm>
        <a:graphic>
          <a:graphicData uri="http://schemas.openxmlformats.org/drawingml/2006/table">
            <a:tbl>
              <a:tblPr/>
              <a:tblGrid>
                <a:gridCol w="2011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193853">
                <a:tc>
                  <a:txBody>
                    <a:bodyPr/>
                    <a:lstStyle/>
                    <a:p>
                      <a:pPr marL="0" indent="0">
                        <a:buNone/>
                      </a:pPr>
                      <a:r>
                        <a:rPr lang="en-US" sz="1000" b="1" dirty="0">
                          <a:solidFill>
                            <a:srgbClr val="FFFFFF"/>
                          </a:solidFill>
                        </a:rPr>
                        <a:t>Risk</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0D0D"/>
                    </a:solidFill>
                  </a:tcPr>
                </a:tc>
                <a:tc>
                  <a:txBody>
                    <a:bodyPr/>
                    <a:lstStyle/>
                    <a:p>
                      <a:pPr marL="0" indent="0">
                        <a:buNone/>
                      </a:pPr>
                      <a:r>
                        <a:rPr lang="en-US" sz="1000" b="1" dirty="0">
                          <a:solidFill>
                            <a:srgbClr val="FFFFFF"/>
                          </a:solidFill>
                        </a:rPr>
                        <a:t>Impact</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0D0D"/>
                    </a:solidFill>
                  </a:tcPr>
                </a:tc>
                <a:tc>
                  <a:txBody>
                    <a:bodyPr/>
                    <a:lstStyle/>
                    <a:p>
                      <a:pPr marL="0" indent="0">
                        <a:buNone/>
                      </a:pPr>
                      <a:r>
                        <a:rPr lang="en-US" sz="1000" b="1" dirty="0">
                          <a:solidFill>
                            <a:srgbClr val="FFFFFF"/>
                          </a:solidFill>
                        </a:rPr>
                        <a:t>Mitigation Strategy</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193853">
                <a:tc>
                  <a:txBody>
                    <a:bodyPr/>
                    <a:lstStyle/>
                    <a:p>
                      <a:pPr marL="0" indent="0">
                        <a:buNone/>
                      </a:pPr>
                      <a:r>
                        <a:rPr lang="en-US" sz="1000" dirty="0">
                          <a:solidFill>
                            <a:srgbClr val="0D0D0D"/>
                          </a:solidFill>
                        </a:rPr>
                        <a:t>Resource Unavailability</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b="1" dirty="0">
                          <a:solidFill>
                            <a:srgbClr val="CC0000"/>
                          </a:solidFill>
                        </a:rPr>
                        <a:t>High</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D0D0D"/>
                          </a:solidFill>
                        </a:rPr>
                        <a:t>Cross-train backup testers; maintain skills matrix.</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1"/>
                  </a:ext>
                </a:extLst>
              </a:tr>
              <a:tr h="193853">
                <a:tc>
                  <a:txBody>
                    <a:bodyPr/>
                    <a:lstStyle/>
                    <a:p>
                      <a:pPr marL="0" indent="0">
                        <a:buNone/>
                      </a:pPr>
                      <a:r>
                        <a:rPr lang="en-US" sz="1000" dirty="0">
                          <a:solidFill>
                            <a:srgbClr val="0D0D0D"/>
                          </a:solidFill>
                        </a:rPr>
                        <a:t>Unstable Test Environment</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b="1" dirty="0">
                          <a:solidFill>
                            <a:srgbClr val="CC0000"/>
                          </a:solidFill>
                        </a:rPr>
                        <a:t>High</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D0D0D"/>
                          </a:solidFill>
                        </a:rPr>
                        <a:t>Provision separate QA environments; use containerised setups (Docker).</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2"/>
                  </a:ext>
                </a:extLst>
              </a:tr>
              <a:tr h="193853">
                <a:tc>
                  <a:txBody>
                    <a:bodyPr/>
                    <a:lstStyle/>
                    <a:p>
                      <a:pPr marL="0" indent="0">
                        <a:buNone/>
                      </a:pPr>
                      <a:r>
                        <a:rPr lang="en-US" sz="1000" dirty="0">
                          <a:solidFill>
                            <a:srgbClr val="0D0D0D"/>
                          </a:solidFill>
                        </a:rPr>
                        <a:t>Requirements Changing Late</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b="1" dirty="0">
                          <a:solidFill>
                            <a:srgbClr val="CC6600"/>
                          </a:solidFill>
                        </a:rPr>
                        <a:t>Medium</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D0D0D"/>
                          </a:solidFill>
                        </a:rPr>
                        <a:t>Enforce a change-freeze period; re-assess scope with BA on every sprint.</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3"/>
                  </a:ext>
                </a:extLst>
              </a:tr>
              <a:tr h="193853">
                <a:tc>
                  <a:txBody>
                    <a:bodyPr/>
                    <a:lstStyle/>
                    <a:p>
                      <a:pPr marL="0" indent="0">
                        <a:buNone/>
                      </a:pPr>
                      <a:r>
                        <a:rPr lang="en-US" sz="1000" dirty="0">
                          <a:solidFill>
                            <a:srgbClr val="0D0D0D"/>
                          </a:solidFill>
                        </a:rPr>
                        <a:t>Insufficient Test Data</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b="1" dirty="0">
                          <a:solidFill>
                            <a:srgbClr val="CC6600"/>
                          </a:solidFill>
                        </a:rPr>
                        <a:t>Medium</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marL="0" indent="0">
                        <a:buNone/>
                      </a:pPr>
                      <a:r>
                        <a:rPr lang="en-US" sz="1000" dirty="0">
                          <a:solidFill>
                            <a:srgbClr val="0D0D0D"/>
                          </a:solidFill>
                        </a:rPr>
                        <a:t>Prepare synthetic test data sets; use masked production data.</a:t>
                      </a:r>
                      <a:endParaRPr lang="en-US" sz="1000" dirty="0"/>
                    </a:p>
                  </a:txBody>
                  <a:tcP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Estimation Techniques</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PLANNING</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384048"/>
          </a:xfrm>
          <a:prstGeom prst="rect">
            <a:avLst/>
          </a:prstGeom>
          <a:noFill/>
          <a:ln/>
        </p:spPr>
        <p:txBody>
          <a:bodyPr wrap="square" lIns="0" tIns="0" rIns="0" bIns="0" rtlCol="0" anchor="ctr"/>
          <a:lstStyle/>
          <a:p>
            <a:pPr marL="0" indent="0">
              <a:buNone/>
            </a:pPr>
            <a:r>
              <a:rPr lang="en-US" sz="1150" i="1" dirty="0">
                <a:solidFill>
                  <a:srgbClr val="F5F5F5"/>
                </a:solidFill>
                <a:latin typeface="Arial" pitchFamily="34" charset="0"/>
                <a:ea typeface="Arial" pitchFamily="34" charset="-122"/>
                <a:cs typeface="Arial" pitchFamily="34" charset="-120"/>
              </a:rPr>
              <a:t>Estimation determines HOW LONG testing will take and HOW MANY resources are needed — critical for meeting delivery deadlines.</a:t>
            </a:r>
            <a:endParaRPr lang="en-US" sz="1150" dirty="0"/>
          </a:p>
        </p:txBody>
      </p:sp>
      <p:sp>
        <p:nvSpPr>
          <p:cNvPr id="9" name="Shape 7"/>
          <p:cNvSpPr/>
          <p:nvPr/>
        </p:nvSpPr>
        <p:spPr>
          <a:xfrm>
            <a:off x="182880" y="1261872"/>
            <a:ext cx="8778240" cy="86868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0" name="Shape 8"/>
          <p:cNvSpPr/>
          <p:nvPr/>
        </p:nvSpPr>
        <p:spPr>
          <a:xfrm>
            <a:off x="182880" y="1261872"/>
            <a:ext cx="73152" cy="868680"/>
          </a:xfrm>
          <a:prstGeom prst="rect">
            <a:avLst/>
          </a:prstGeom>
          <a:solidFill>
            <a:srgbClr val="E8650A"/>
          </a:solidFill>
          <a:ln w="12700">
            <a:solidFill>
              <a:srgbClr val="E8650A"/>
            </a:solidFill>
            <a:prstDash val="solid"/>
          </a:ln>
        </p:spPr>
      </p:sp>
      <p:sp>
        <p:nvSpPr>
          <p:cNvPr id="11" name="Text 9"/>
          <p:cNvSpPr/>
          <p:nvPr/>
        </p:nvSpPr>
        <p:spPr>
          <a:xfrm>
            <a:off x="320040" y="1316736"/>
            <a:ext cx="548640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1. Work Breakdown Structure (WBS)</a:t>
            </a:r>
            <a:endParaRPr lang="en-US" sz="1200" dirty="0"/>
          </a:p>
        </p:txBody>
      </p:sp>
      <p:sp>
        <p:nvSpPr>
          <p:cNvPr id="12" name="Shape 10"/>
          <p:cNvSpPr/>
          <p:nvPr/>
        </p:nvSpPr>
        <p:spPr>
          <a:xfrm>
            <a:off x="6080760" y="1316736"/>
            <a:ext cx="2788920" cy="237744"/>
          </a:xfrm>
          <a:prstGeom prst="rect">
            <a:avLst/>
          </a:prstGeom>
          <a:solidFill>
            <a:srgbClr val="C4500A"/>
          </a:solidFill>
          <a:ln w="12700">
            <a:solidFill>
              <a:srgbClr val="C4500A"/>
            </a:solidFill>
            <a:prstDash val="solid"/>
          </a:ln>
        </p:spPr>
      </p:sp>
      <p:sp>
        <p:nvSpPr>
          <p:cNvPr id="13" name="Text 11"/>
          <p:cNvSpPr/>
          <p:nvPr/>
        </p:nvSpPr>
        <p:spPr>
          <a:xfrm>
            <a:off x="6126480" y="1316736"/>
            <a:ext cx="2743200" cy="237744"/>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Total Effort = Σ (Task Hours × No. of Tasks)</a:t>
            </a:r>
            <a:endParaRPr lang="en-US" sz="850" dirty="0"/>
          </a:p>
        </p:txBody>
      </p:sp>
      <p:sp>
        <p:nvSpPr>
          <p:cNvPr id="14" name="Text 12"/>
          <p:cNvSpPr/>
          <p:nvPr/>
        </p:nvSpPr>
        <p:spPr>
          <a:xfrm>
            <a:off x="320040" y="1591056"/>
            <a:ext cx="521208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Decompose the testing effort into smallest tasks (write test case, execute, retest, report). Estimate each task individually and sum up.</a:t>
            </a:r>
            <a:endParaRPr lang="en-US" sz="1000" dirty="0"/>
          </a:p>
        </p:txBody>
      </p:sp>
      <p:sp>
        <p:nvSpPr>
          <p:cNvPr id="15" name="Text 13"/>
          <p:cNvSpPr/>
          <p:nvPr/>
        </p:nvSpPr>
        <p:spPr>
          <a:xfrm>
            <a:off x="6080760" y="1591056"/>
            <a:ext cx="2788920" cy="5029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Writing 200 test cases × 0.5 hrs each = 100 hrs. Execution: 200 × 0.25 hrs = 50 hrs. Total = 150 hrs.</a:t>
            </a:r>
            <a:endParaRPr lang="en-US" sz="950" dirty="0"/>
          </a:p>
        </p:txBody>
      </p:sp>
      <p:sp>
        <p:nvSpPr>
          <p:cNvPr id="16" name="Shape 14"/>
          <p:cNvSpPr/>
          <p:nvPr/>
        </p:nvSpPr>
        <p:spPr>
          <a:xfrm>
            <a:off x="182880" y="2203704"/>
            <a:ext cx="8778240" cy="86868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7" name="Shape 15"/>
          <p:cNvSpPr/>
          <p:nvPr/>
        </p:nvSpPr>
        <p:spPr>
          <a:xfrm>
            <a:off x="182880" y="2203704"/>
            <a:ext cx="73152" cy="868680"/>
          </a:xfrm>
          <a:prstGeom prst="rect">
            <a:avLst/>
          </a:prstGeom>
          <a:solidFill>
            <a:srgbClr val="E8650A"/>
          </a:solidFill>
          <a:ln w="12700">
            <a:solidFill>
              <a:srgbClr val="E8650A"/>
            </a:solidFill>
            <a:prstDash val="solid"/>
          </a:ln>
        </p:spPr>
      </p:sp>
      <p:sp>
        <p:nvSpPr>
          <p:cNvPr id="18" name="Text 16"/>
          <p:cNvSpPr/>
          <p:nvPr/>
        </p:nvSpPr>
        <p:spPr>
          <a:xfrm>
            <a:off x="320040" y="2258568"/>
            <a:ext cx="548640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2. Function Point Analysis</a:t>
            </a:r>
            <a:endParaRPr lang="en-US" sz="1200" dirty="0"/>
          </a:p>
        </p:txBody>
      </p:sp>
      <p:sp>
        <p:nvSpPr>
          <p:cNvPr id="19" name="Shape 17"/>
          <p:cNvSpPr/>
          <p:nvPr/>
        </p:nvSpPr>
        <p:spPr>
          <a:xfrm>
            <a:off x="6080760" y="2258568"/>
            <a:ext cx="2788920" cy="237744"/>
          </a:xfrm>
          <a:prstGeom prst="rect">
            <a:avLst/>
          </a:prstGeom>
          <a:solidFill>
            <a:srgbClr val="C4500A"/>
          </a:solidFill>
          <a:ln w="12700">
            <a:solidFill>
              <a:srgbClr val="C4500A"/>
            </a:solidFill>
            <a:prstDash val="solid"/>
          </a:ln>
        </p:spPr>
      </p:sp>
      <p:sp>
        <p:nvSpPr>
          <p:cNvPr id="20" name="Text 18"/>
          <p:cNvSpPr/>
          <p:nvPr/>
        </p:nvSpPr>
        <p:spPr>
          <a:xfrm>
            <a:off x="6126480" y="2258568"/>
            <a:ext cx="2743200" cy="237744"/>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Test Effort = Function Points × Historical Effort Rate</a:t>
            </a:r>
            <a:endParaRPr lang="en-US" sz="850" dirty="0"/>
          </a:p>
        </p:txBody>
      </p:sp>
      <p:sp>
        <p:nvSpPr>
          <p:cNvPr id="21" name="Text 19"/>
          <p:cNvSpPr/>
          <p:nvPr/>
        </p:nvSpPr>
        <p:spPr>
          <a:xfrm>
            <a:off x="320040" y="2532888"/>
            <a:ext cx="521208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Calculate test effort based on the number and complexity of functional units (inputs, outputs, queries, files, interfaces).</a:t>
            </a:r>
            <a:endParaRPr lang="en-US" sz="1000" dirty="0"/>
          </a:p>
        </p:txBody>
      </p:sp>
      <p:sp>
        <p:nvSpPr>
          <p:cNvPr id="22" name="Text 20"/>
          <p:cNvSpPr/>
          <p:nvPr/>
        </p:nvSpPr>
        <p:spPr>
          <a:xfrm>
            <a:off x="6080760" y="2532888"/>
            <a:ext cx="2788920" cy="5029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System has 120 FPs. Historical rate is 0.6 hrs/FP. Effort = 120 × 0.6 = 72 hrs.</a:t>
            </a:r>
            <a:endParaRPr lang="en-US" sz="950" dirty="0"/>
          </a:p>
        </p:txBody>
      </p:sp>
      <p:sp>
        <p:nvSpPr>
          <p:cNvPr id="23" name="Shape 21"/>
          <p:cNvSpPr/>
          <p:nvPr/>
        </p:nvSpPr>
        <p:spPr>
          <a:xfrm>
            <a:off x="182880" y="3145536"/>
            <a:ext cx="8778240" cy="86868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4" name="Shape 22"/>
          <p:cNvSpPr/>
          <p:nvPr/>
        </p:nvSpPr>
        <p:spPr>
          <a:xfrm>
            <a:off x="182880" y="3145536"/>
            <a:ext cx="73152" cy="868680"/>
          </a:xfrm>
          <a:prstGeom prst="rect">
            <a:avLst/>
          </a:prstGeom>
          <a:solidFill>
            <a:srgbClr val="E8650A"/>
          </a:solidFill>
          <a:ln w="12700">
            <a:solidFill>
              <a:srgbClr val="E8650A"/>
            </a:solidFill>
            <a:prstDash val="solid"/>
          </a:ln>
        </p:spPr>
      </p:sp>
      <p:sp>
        <p:nvSpPr>
          <p:cNvPr id="25" name="Text 23"/>
          <p:cNvSpPr/>
          <p:nvPr/>
        </p:nvSpPr>
        <p:spPr>
          <a:xfrm>
            <a:off x="320040" y="3200400"/>
            <a:ext cx="548640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3. Use Case Point Method</a:t>
            </a:r>
            <a:endParaRPr lang="en-US" sz="1200" dirty="0"/>
          </a:p>
        </p:txBody>
      </p:sp>
      <p:sp>
        <p:nvSpPr>
          <p:cNvPr id="26" name="Shape 24"/>
          <p:cNvSpPr/>
          <p:nvPr/>
        </p:nvSpPr>
        <p:spPr>
          <a:xfrm>
            <a:off x="6080760" y="3200400"/>
            <a:ext cx="2788920" cy="237744"/>
          </a:xfrm>
          <a:prstGeom prst="rect">
            <a:avLst/>
          </a:prstGeom>
          <a:solidFill>
            <a:srgbClr val="C4500A"/>
          </a:solidFill>
          <a:ln w="12700">
            <a:solidFill>
              <a:srgbClr val="C4500A"/>
            </a:solidFill>
            <a:prstDash val="solid"/>
          </a:ln>
        </p:spPr>
      </p:sp>
      <p:sp>
        <p:nvSpPr>
          <p:cNvPr id="27" name="Text 25"/>
          <p:cNvSpPr/>
          <p:nvPr/>
        </p:nvSpPr>
        <p:spPr>
          <a:xfrm>
            <a:off x="6126480" y="3200400"/>
            <a:ext cx="2743200" cy="237744"/>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UCP = (Simple×5 + Avg×10 + Complex×15) × Environment Factor</a:t>
            </a:r>
            <a:endParaRPr lang="en-US" sz="850" dirty="0"/>
          </a:p>
        </p:txBody>
      </p:sp>
      <p:sp>
        <p:nvSpPr>
          <p:cNvPr id="28" name="Text 26"/>
          <p:cNvSpPr/>
          <p:nvPr/>
        </p:nvSpPr>
        <p:spPr>
          <a:xfrm>
            <a:off x="320040" y="3474720"/>
            <a:ext cx="521208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Estimate based on the number of use cases, categorised by complexity (Simple, Average, Complex).</a:t>
            </a:r>
            <a:endParaRPr lang="en-US" sz="1000" dirty="0"/>
          </a:p>
        </p:txBody>
      </p:sp>
      <p:sp>
        <p:nvSpPr>
          <p:cNvPr id="29" name="Text 27"/>
          <p:cNvSpPr/>
          <p:nvPr/>
        </p:nvSpPr>
        <p:spPr>
          <a:xfrm>
            <a:off x="6080760" y="3474720"/>
            <a:ext cx="2788920" cy="5029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10 simple + 8 average + 4 complex = 50+80+60 = 190 UCP × adjustment = ~228 hrs.</a:t>
            </a:r>
            <a:endParaRPr lang="en-US" sz="950" dirty="0"/>
          </a:p>
        </p:txBody>
      </p:sp>
      <p:sp>
        <p:nvSpPr>
          <p:cNvPr id="30" name="Shape 28"/>
          <p:cNvSpPr/>
          <p:nvPr/>
        </p:nvSpPr>
        <p:spPr>
          <a:xfrm>
            <a:off x="182880" y="4087368"/>
            <a:ext cx="8778240" cy="86868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1" name="Shape 29"/>
          <p:cNvSpPr/>
          <p:nvPr/>
        </p:nvSpPr>
        <p:spPr>
          <a:xfrm>
            <a:off x="182880" y="4087368"/>
            <a:ext cx="73152" cy="868680"/>
          </a:xfrm>
          <a:prstGeom prst="rect">
            <a:avLst/>
          </a:prstGeom>
          <a:solidFill>
            <a:srgbClr val="E8650A"/>
          </a:solidFill>
          <a:ln w="12700">
            <a:solidFill>
              <a:srgbClr val="E8650A"/>
            </a:solidFill>
            <a:prstDash val="solid"/>
          </a:ln>
        </p:spPr>
      </p:sp>
      <p:sp>
        <p:nvSpPr>
          <p:cNvPr id="32" name="Text 30"/>
          <p:cNvSpPr/>
          <p:nvPr/>
        </p:nvSpPr>
        <p:spPr>
          <a:xfrm>
            <a:off x="320040" y="4142232"/>
            <a:ext cx="5486400" cy="237744"/>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4. Three-Point Estimation (PERT)</a:t>
            </a:r>
            <a:endParaRPr lang="en-US" sz="1200" dirty="0"/>
          </a:p>
        </p:txBody>
      </p:sp>
      <p:sp>
        <p:nvSpPr>
          <p:cNvPr id="33" name="Shape 31"/>
          <p:cNvSpPr/>
          <p:nvPr/>
        </p:nvSpPr>
        <p:spPr>
          <a:xfrm>
            <a:off x="6080760" y="4142232"/>
            <a:ext cx="2788920" cy="237744"/>
          </a:xfrm>
          <a:prstGeom prst="rect">
            <a:avLst/>
          </a:prstGeom>
          <a:solidFill>
            <a:srgbClr val="C4500A"/>
          </a:solidFill>
          <a:ln w="12700">
            <a:solidFill>
              <a:srgbClr val="C4500A"/>
            </a:solidFill>
            <a:prstDash val="solid"/>
          </a:ln>
        </p:spPr>
      </p:sp>
      <p:sp>
        <p:nvSpPr>
          <p:cNvPr id="34" name="Text 32"/>
          <p:cNvSpPr/>
          <p:nvPr/>
        </p:nvSpPr>
        <p:spPr>
          <a:xfrm>
            <a:off x="6126480" y="4142232"/>
            <a:ext cx="2743200" cy="237744"/>
          </a:xfrm>
          <a:prstGeom prst="rect">
            <a:avLst/>
          </a:prstGeom>
          <a:noFill/>
          <a:ln/>
        </p:spPr>
        <p:txBody>
          <a:bodyPr wrap="square" lIns="0" tIns="0" rIns="0" bIns="0" rtlCol="0" anchor="ctr"/>
          <a:lstStyle/>
          <a:p>
            <a:pPr marL="0" indent="0">
              <a:buNone/>
            </a:pPr>
            <a:r>
              <a:rPr lang="en-US" sz="850" dirty="0">
                <a:solidFill>
                  <a:srgbClr val="FFFFFF"/>
                </a:solidFill>
                <a:latin typeface="Consolas" pitchFamily="34" charset="0"/>
                <a:ea typeface="Consolas" pitchFamily="34" charset="-122"/>
                <a:cs typeface="Consolas" pitchFamily="34" charset="-120"/>
              </a:rPr>
              <a:t>Expected = (O + 4M + P) / 6</a:t>
            </a:r>
            <a:endParaRPr lang="en-US" sz="850" dirty="0"/>
          </a:p>
        </p:txBody>
      </p:sp>
      <p:sp>
        <p:nvSpPr>
          <p:cNvPr id="35" name="Text 33"/>
          <p:cNvSpPr/>
          <p:nvPr/>
        </p:nvSpPr>
        <p:spPr>
          <a:xfrm>
            <a:off x="320040" y="4416552"/>
            <a:ext cx="521208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For each task, get Optimistic (O), Most Likely (M), and Pessimistic (P) estimates, then calculate a weighted average.</a:t>
            </a:r>
            <a:endParaRPr lang="en-US" sz="1000" dirty="0"/>
          </a:p>
        </p:txBody>
      </p:sp>
      <p:sp>
        <p:nvSpPr>
          <p:cNvPr id="36" name="Text 34"/>
          <p:cNvSpPr/>
          <p:nvPr/>
        </p:nvSpPr>
        <p:spPr>
          <a:xfrm>
            <a:off x="6080760" y="4416552"/>
            <a:ext cx="2788920" cy="502920"/>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 O=4 days, M=7 days, P=12 days → Expected = (4+28+12)/6 = 7.33 days.</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Monitoring — Tracking Progress &amp; Metrics</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MONITORING</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229600" cy="292608"/>
          </a:xfrm>
          <a:prstGeom prst="rect">
            <a:avLst/>
          </a:prstGeom>
          <a:noFill/>
          <a:ln/>
        </p:spPr>
        <p:txBody>
          <a:bodyPr wrap="square" lIns="0" tIns="0" rIns="0" bIns="0" rtlCol="0" anchor="ctr"/>
          <a:lstStyle/>
          <a:p>
            <a:pPr marL="0" indent="0">
              <a:buNone/>
            </a:pPr>
            <a:r>
              <a:rPr lang="en-US" sz="1500" b="1" dirty="0">
                <a:solidFill>
                  <a:srgbClr val="E8650A"/>
                </a:solidFill>
                <a:latin typeface="Arial Black" pitchFamily="34" charset="0"/>
                <a:ea typeface="Arial Black" pitchFamily="34" charset="-122"/>
                <a:cs typeface="Arial Black" pitchFamily="34" charset="-120"/>
              </a:rPr>
              <a:t>What is Test Monitoring?</a:t>
            </a:r>
            <a:endParaRPr lang="en-US" sz="1500" dirty="0"/>
          </a:p>
        </p:txBody>
      </p:sp>
      <p:sp>
        <p:nvSpPr>
          <p:cNvPr id="9" name="Text 7"/>
          <p:cNvSpPr/>
          <p:nvPr/>
        </p:nvSpPr>
        <p:spPr>
          <a:xfrm>
            <a:off x="182880" y="1124712"/>
            <a:ext cx="8686800" cy="502920"/>
          </a:xfrm>
          <a:prstGeom prst="rect">
            <a:avLst/>
          </a:prstGeom>
          <a:noFill/>
          <a:ln/>
        </p:spPr>
        <p:txBody>
          <a:bodyPr wrap="square" lIns="0" tIns="0" rIns="0" bIns="0" rtlCol="0" anchor="ctr"/>
          <a:lstStyle/>
          <a:p>
            <a:pPr marL="0" indent="0">
              <a:buNone/>
            </a:pPr>
            <a:r>
              <a:rPr lang="en-US" sz="1150" dirty="0">
                <a:solidFill>
                  <a:srgbClr val="F5F5F5"/>
                </a:solidFill>
                <a:latin typeface="Arial" pitchFamily="34" charset="0"/>
                <a:ea typeface="Arial" pitchFamily="34" charset="-122"/>
                <a:cs typeface="Arial" pitchFamily="34" charset="-120"/>
              </a:rPr>
              <a:t>Test Monitoring is the continuous observation and measurement of testing activities against the Test Plan. It provides real-time visibility into where the project stands and feeds this information into Test Control for corrective decision-making.</a:t>
            </a:r>
            <a:endParaRPr lang="en-US" sz="1150" dirty="0"/>
          </a:p>
        </p:txBody>
      </p:sp>
      <p:sp>
        <p:nvSpPr>
          <p:cNvPr id="10" name="Text 8"/>
          <p:cNvSpPr/>
          <p:nvPr/>
        </p:nvSpPr>
        <p:spPr>
          <a:xfrm>
            <a:off x="182880" y="1719072"/>
            <a:ext cx="8229600" cy="292608"/>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Key Metrics to Monitor:</a:t>
            </a:r>
            <a:endParaRPr lang="en-US" sz="1400" dirty="0"/>
          </a:p>
        </p:txBody>
      </p:sp>
      <p:sp>
        <p:nvSpPr>
          <p:cNvPr id="11" name="Shape 9"/>
          <p:cNvSpPr/>
          <p:nvPr/>
        </p:nvSpPr>
        <p:spPr>
          <a:xfrm>
            <a:off x="182880" y="208483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2" name="Shape 10"/>
          <p:cNvSpPr/>
          <p:nvPr/>
        </p:nvSpPr>
        <p:spPr>
          <a:xfrm>
            <a:off x="4425696" y="2084832"/>
            <a:ext cx="73152" cy="896112"/>
          </a:xfrm>
          <a:prstGeom prst="rect">
            <a:avLst/>
          </a:prstGeom>
          <a:solidFill>
            <a:srgbClr val="E8650A"/>
          </a:solidFill>
          <a:ln w="12700">
            <a:solidFill>
              <a:srgbClr val="E8650A"/>
            </a:solidFill>
            <a:prstDash val="solid"/>
          </a:ln>
        </p:spPr>
      </p:sp>
      <p:sp>
        <p:nvSpPr>
          <p:cNvPr id="13" name="Text 11"/>
          <p:cNvSpPr/>
          <p:nvPr/>
        </p:nvSpPr>
        <p:spPr>
          <a:xfrm>
            <a:off x="292608" y="213055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Execution Progress</a:t>
            </a:r>
            <a:endParaRPr lang="en-US" sz="1150" dirty="0"/>
          </a:p>
        </p:txBody>
      </p:sp>
      <p:sp>
        <p:nvSpPr>
          <p:cNvPr id="14" name="Text 12"/>
          <p:cNvSpPr/>
          <p:nvPr/>
        </p:nvSpPr>
        <p:spPr>
          <a:xfrm>
            <a:off x="292608" y="236829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Percentage of planned test cases that have been executed. Formula: (Executed / Total Planned) × 100</a:t>
            </a:r>
            <a:endParaRPr lang="en-US" sz="1000" dirty="0"/>
          </a:p>
        </p:txBody>
      </p:sp>
      <p:sp>
        <p:nvSpPr>
          <p:cNvPr id="15" name="Text 13"/>
          <p:cNvSpPr/>
          <p:nvPr/>
        </p:nvSpPr>
        <p:spPr>
          <a:xfrm>
            <a:off x="292608" y="266090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340 of 400 cases run = 85% executed. Target: ≥90% by day 20.</a:t>
            </a:r>
            <a:endParaRPr lang="en-US" sz="950" dirty="0"/>
          </a:p>
        </p:txBody>
      </p:sp>
      <p:sp>
        <p:nvSpPr>
          <p:cNvPr id="16" name="Shape 14"/>
          <p:cNvSpPr/>
          <p:nvPr/>
        </p:nvSpPr>
        <p:spPr>
          <a:xfrm>
            <a:off x="4663440" y="208483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7" name="Shape 15"/>
          <p:cNvSpPr/>
          <p:nvPr/>
        </p:nvSpPr>
        <p:spPr>
          <a:xfrm>
            <a:off x="8906256" y="2084832"/>
            <a:ext cx="73152" cy="896112"/>
          </a:xfrm>
          <a:prstGeom prst="rect">
            <a:avLst/>
          </a:prstGeom>
          <a:solidFill>
            <a:srgbClr val="FF8C3A"/>
          </a:solidFill>
          <a:ln w="12700">
            <a:solidFill>
              <a:srgbClr val="FF8C3A"/>
            </a:solidFill>
            <a:prstDash val="solid"/>
          </a:ln>
        </p:spPr>
      </p:sp>
      <p:sp>
        <p:nvSpPr>
          <p:cNvPr id="18" name="Text 16"/>
          <p:cNvSpPr/>
          <p:nvPr/>
        </p:nvSpPr>
        <p:spPr>
          <a:xfrm>
            <a:off x="4773168" y="213055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Defect Trend Chart</a:t>
            </a:r>
            <a:endParaRPr lang="en-US" sz="1150" dirty="0"/>
          </a:p>
        </p:txBody>
      </p:sp>
      <p:sp>
        <p:nvSpPr>
          <p:cNvPr id="19" name="Text 17"/>
          <p:cNvSpPr/>
          <p:nvPr/>
        </p:nvSpPr>
        <p:spPr>
          <a:xfrm>
            <a:off x="4773168" y="236829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Plot of new defects raised vs. defects closed over time. Rising open defects indicate systemic quality issues.</a:t>
            </a:r>
            <a:endParaRPr lang="en-US" sz="1000" dirty="0"/>
          </a:p>
        </p:txBody>
      </p:sp>
      <p:sp>
        <p:nvSpPr>
          <p:cNvPr id="20" name="Text 18"/>
          <p:cNvSpPr/>
          <p:nvPr/>
        </p:nvSpPr>
        <p:spPr>
          <a:xfrm>
            <a:off x="4773168" y="266090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Week 3: 45 open, 30 closed. Trend worsening — trigger Test Control review.</a:t>
            </a:r>
            <a:endParaRPr lang="en-US" sz="950" dirty="0"/>
          </a:p>
        </p:txBody>
      </p:sp>
      <p:sp>
        <p:nvSpPr>
          <p:cNvPr id="21" name="Shape 19"/>
          <p:cNvSpPr/>
          <p:nvPr/>
        </p:nvSpPr>
        <p:spPr>
          <a:xfrm>
            <a:off x="182880" y="304495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2" name="Shape 20"/>
          <p:cNvSpPr/>
          <p:nvPr/>
        </p:nvSpPr>
        <p:spPr>
          <a:xfrm>
            <a:off x="4425696" y="3044952"/>
            <a:ext cx="73152" cy="896112"/>
          </a:xfrm>
          <a:prstGeom prst="rect">
            <a:avLst/>
          </a:prstGeom>
          <a:solidFill>
            <a:srgbClr val="E8650A"/>
          </a:solidFill>
          <a:ln w="12700">
            <a:solidFill>
              <a:srgbClr val="E8650A"/>
            </a:solidFill>
            <a:prstDash val="solid"/>
          </a:ln>
        </p:spPr>
      </p:sp>
      <p:sp>
        <p:nvSpPr>
          <p:cNvPr id="23" name="Text 21"/>
          <p:cNvSpPr/>
          <p:nvPr/>
        </p:nvSpPr>
        <p:spPr>
          <a:xfrm>
            <a:off x="292608" y="309067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Test Coverage</a:t>
            </a:r>
            <a:endParaRPr lang="en-US" sz="1150" dirty="0"/>
          </a:p>
        </p:txBody>
      </p:sp>
      <p:sp>
        <p:nvSpPr>
          <p:cNvPr id="24" name="Text 22"/>
          <p:cNvSpPr/>
          <p:nvPr/>
        </p:nvSpPr>
        <p:spPr>
          <a:xfrm>
            <a:off x="292608" y="332841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Proportion of requirements or code paths covered by test cases. Low coverage = untested risk areas.</a:t>
            </a:r>
            <a:endParaRPr lang="en-US" sz="1000" dirty="0"/>
          </a:p>
        </p:txBody>
      </p:sp>
      <p:sp>
        <p:nvSpPr>
          <p:cNvPr id="25" name="Text 23"/>
          <p:cNvSpPr/>
          <p:nvPr/>
        </p:nvSpPr>
        <p:spPr>
          <a:xfrm>
            <a:off x="292608" y="362102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120 requirements mapped, 102 have test cases = 85% requirement coverage.</a:t>
            </a:r>
            <a:endParaRPr lang="en-US" sz="950" dirty="0"/>
          </a:p>
        </p:txBody>
      </p:sp>
      <p:sp>
        <p:nvSpPr>
          <p:cNvPr id="26" name="Shape 24"/>
          <p:cNvSpPr/>
          <p:nvPr/>
        </p:nvSpPr>
        <p:spPr>
          <a:xfrm>
            <a:off x="4663440" y="304495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7" name="Shape 25"/>
          <p:cNvSpPr/>
          <p:nvPr/>
        </p:nvSpPr>
        <p:spPr>
          <a:xfrm>
            <a:off x="8906256" y="3044952"/>
            <a:ext cx="73152" cy="896112"/>
          </a:xfrm>
          <a:prstGeom prst="rect">
            <a:avLst/>
          </a:prstGeom>
          <a:solidFill>
            <a:srgbClr val="FF8C3A"/>
          </a:solidFill>
          <a:ln w="12700">
            <a:solidFill>
              <a:srgbClr val="FF8C3A"/>
            </a:solidFill>
            <a:prstDash val="solid"/>
          </a:ln>
        </p:spPr>
      </p:sp>
      <p:sp>
        <p:nvSpPr>
          <p:cNvPr id="28" name="Text 26"/>
          <p:cNvSpPr/>
          <p:nvPr/>
        </p:nvSpPr>
        <p:spPr>
          <a:xfrm>
            <a:off x="4773168" y="309067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Blocked / Skipped Tests</a:t>
            </a:r>
            <a:endParaRPr lang="en-US" sz="1150" dirty="0"/>
          </a:p>
        </p:txBody>
      </p:sp>
      <p:sp>
        <p:nvSpPr>
          <p:cNvPr id="29" name="Text 27"/>
          <p:cNvSpPr/>
          <p:nvPr/>
        </p:nvSpPr>
        <p:spPr>
          <a:xfrm>
            <a:off x="4773168" y="332841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Count of tests unable to execute due to environment issues, missing data, or dependencies.</a:t>
            </a:r>
            <a:endParaRPr lang="en-US" sz="1000" dirty="0"/>
          </a:p>
        </p:txBody>
      </p:sp>
      <p:sp>
        <p:nvSpPr>
          <p:cNvPr id="30" name="Text 28"/>
          <p:cNvSpPr/>
          <p:nvPr/>
        </p:nvSpPr>
        <p:spPr>
          <a:xfrm>
            <a:off x="4773168" y="362102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18 tests blocked by missing API stub — escalated to Dev team on Day 14.</a:t>
            </a:r>
            <a:endParaRPr lang="en-US" sz="950" dirty="0"/>
          </a:p>
        </p:txBody>
      </p:sp>
      <p:sp>
        <p:nvSpPr>
          <p:cNvPr id="31" name="Shape 29"/>
          <p:cNvSpPr/>
          <p:nvPr/>
        </p:nvSpPr>
        <p:spPr>
          <a:xfrm>
            <a:off x="182880" y="400507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2" name="Shape 30"/>
          <p:cNvSpPr/>
          <p:nvPr/>
        </p:nvSpPr>
        <p:spPr>
          <a:xfrm>
            <a:off x="4425696" y="4005072"/>
            <a:ext cx="73152" cy="896112"/>
          </a:xfrm>
          <a:prstGeom prst="rect">
            <a:avLst/>
          </a:prstGeom>
          <a:solidFill>
            <a:srgbClr val="E8650A"/>
          </a:solidFill>
          <a:ln w="12700">
            <a:solidFill>
              <a:srgbClr val="E8650A"/>
            </a:solidFill>
            <a:prstDash val="solid"/>
          </a:ln>
        </p:spPr>
      </p:sp>
      <p:sp>
        <p:nvSpPr>
          <p:cNvPr id="33" name="Text 31"/>
          <p:cNvSpPr/>
          <p:nvPr/>
        </p:nvSpPr>
        <p:spPr>
          <a:xfrm>
            <a:off x="292608" y="405079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Defect Resolution Rate</a:t>
            </a:r>
            <a:endParaRPr lang="en-US" sz="1150" dirty="0"/>
          </a:p>
        </p:txBody>
      </p:sp>
      <p:sp>
        <p:nvSpPr>
          <p:cNvPr id="34" name="Text 32"/>
          <p:cNvSpPr/>
          <p:nvPr/>
        </p:nvSpPr>
        <p:spPr>
          <a:xfrm>
            <a:off x="292608" y="428853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Speed at which raised defects are being fixed and retested. Slow resolution risks release date.</a:t>
            </a:r>
            <a:endParaRPr lang="en-US" sz="1000" dirty="0"/>
          </a:p>
        </p:txBody>
      </p:sp>
      <p:sp>
        <p:nvSpPr>
          <p:cNvPr id="35" name="Text 33"/>
          <p:cNvSpPr/>
          <p:nvPr/>
        </p:nvSpPr>
        <p:spPr>
          <a:xfrm>
            <a:off x="292608" y="458114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Avg resolution: 2.4 days. Target is 2 days — marginal — SLA review triggered.</a:t>
            </a:r>
            <a:endParaRPr lang="en-US" sz="950" dirty="0"/>
          </a:p>
        </p:txBody>
      </p:sp>
      <p:sp>
        <p:nvSpPr>
          <p:cNvPr id="36" name="Shape 34"/>
          <p:cNvSpPr/>
          <p:nvPr/>
        </p:nvSpPr>
        <p:spPr>
          <a:xfrm>
            <a:off x="4663440" y="4005072"/>
            <a:ext cx="4315968" cy="8961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7" name="Shape 35"/>
          <p:cNvSpPr/>
          <p:nvPr/>
        </p:nvSpPr>
        <p:spPr>
          <a:xfrm>
            <a:off x="8906256" y="4005072"/>
            <a:ext cx="73152" cy="896112"/>
          </a:xfrm>
          <a:prstGeom prst="rect">
            <a:avLst/>
          </a:prstGeom>
          <a:solidFill>
            <a:srgbClr val="FF8C3A"/>
          </a:solidFill>
          <a:ln w="12700">
            <a:solidFill>
              <a:srgbClr val="FF8C3A"/>
            </a:solidFill>
            <a:prstDash val="solid"/>
          </a:ln>
        </p:spPr>
      </p:sp>
      <p:sp>
        <p:nvSpPr>
          <p:cNvPr id="38" name="Text 36"/>
          <p:cNvSpPr/>
          <p:nvPr/>
        </p:nvSpPr>
        <p:spPr>
          <a:xfrm>
            <a:off x="4773168" y="4050792"/>
            <a:ext cx="4023360" cy="219456"/>
          </a:xfrm>
          <a:prstGeom prst="rect">
            <a:avLst/>
          </a:prstGeom>
          <a:noFill/>
          <a:ln/>
        </p:spPr>
        <p:txBody>
          <a:bodyPr wrap="square" lIns="0" tIns="0" rIns="0" bIns="0" rtlCol="0" anchor="ctr"/>
          <a:lstStyle/>
          <a:p>
            <a:pPr marL="0" indent="0">
              <a:buNone/>
            </a:pPr>
            <a:r>
              <a:rPr lang="en-US" sz="1150" b="1" dirty="0">
                <a:solidFill>
                  <a:srgbClr val="FFFFFF"/>
                </a:solidFill>
                <a:latin typeface="Arial Black" pitchFamily="34" charset="0"/>
                <a:ea typeface="Arial Black" pitchFamily="34" charset="-122"/>
                <a:cs typeface="Arial Black" pitchFamily="34" charset="-120"/>
              </a:rPr>
              <a:t>Pass/Fail Rate</a:t>
            </a:r>
            <a:endParaRPr lang="en-US" sz="1150" dirty="0"/>
          </a:p>
        </p:txBody>
      </p:sp>
      <p:sp>
        <p:nvSpPr>
          <p:cNvPr id="39" name="Text 37"/>
          <p:cNvSpPr/>
          <p:nvPr/>
        </p:nvSpPr>
        <p:spPr>
          <a:xfrm>
            <a:off x="4773168" y="4288536"/>
            <a:ext cx="4023360" cy="27432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Ratio of passed test cases to executed ones. Reveals overall software quality at a glance.</a:t>
            </a:r>
            <a:endParaRPr lang="en-US" sz="1000" dirty="0"/>
          </a:p>
        </p:txBody>
      </p:sp>
      <p:sp>
        <p:nvSpPr>
          <p:cNvPr id="40" name="Text 38"/>
          <p:cNvSpPr/>
          <p:nvPr/>
        </p:nvSpPr>
        <p:spPr>
          <a:xfrm>
            <a:off x="4773168" y="4581144"/>
            <a:ext cx="4023360" cy="256032"/>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280 passed, 60 failed = 82.4% pass rate. Release threshold = 90%.</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Control — Corrective Actions &amp; Decision-Making</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03  |  TEST CONTROL</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229600" cy="292608"/>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Test Control Process Flow:</a:t>
            </a:r>
            <a:endParaRPr lang="en-US" sz="1400" dirty="0"/>
          </a:p>
        </p:txBody>
      </p:sp>
      <p:sp>
        <p:nvSpPr>
          <p:cNvPr id="9" name="Shape 7"/>
          <p:cNvSpPr/>
          <p:nvPr/>
        </p:nvSpPr>
        <p:spPr>
          <a:xfrm>
            <a:off x="182880" y="1188720"/>
            <a:ext cx="1353312" cy="777240"/>
          </a:xfrm>
          <a:prstGeom prst="rect">
            <a:avLst/>
          </a:prstGeom>
          <a:solidFill>
            <a:srgbClr val="2C2C2C"/>
          </a:solidFill>
          <a:ln w="12700">
            <a:solidFill>
              <a:srgbClr val="444444"/>
            </a:solidFill>
            <a:prstDash val="solid"/>
          </a:ln>
          <a:effectLst>
            <a:outerShdw blurRad="101600" dist="38100" dir="8100000" algn="bl" rotWithShape="0">
              <a:srgbClr val="000000">
                <a:alpha val="18000"/>
              </a:srgbClr>
            </a:outerShdw>
          </a:effectLst>
        </p:spPr>
      </p:sp>
      <p:sp>
        <p:nvSpPr>
          <p:cNvPr id="10" name="Text 8"/>
          <p:cNvSpPr/>
          <p:nvPr/>
        </p:nvSpPr>
        <p:spPr>
          <a:xfrm>
            <a:off x="182880"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Monitor</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Metrics</a:t>
            </a:r>
            <a:endParaRPr lang="en-US" sz="1050" dirty="0"/>
          </a:p>
        </p:txBody>
      </p:sp>
      <p:sp>
        <p:nvSpPr>
          <p:cNvPr id="11" name="Text 9"/>
          <p:cNvSpPr/>
          <p:nvPr/>
        </p:nvSpPr>
        <p:spPr>
          <a:xfrm>
            <a:off x="182880"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Collect data</a:t>
            </a:r>
            <a:endParaRPr lang="en-US" sz="850" dirty="0"/>
          </a:p>
        </p:txBody>
      </p:sp>
      <p:sp>
        <p:nvSpPr>
          <p:cNvPr id="12" name="Text 10"/>
          <p:cNvSpPr/>
          <p:nvPr/>
        </p:nvSpPr>
        <p:spPr>
          <a:xfrm>
            <a:off x="1536192" y="1325880"/>
            <a:ext cx="128016" cy="41148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13" name="Shape 11"/>
          <p:cNvSpPr/>
          <p:nvPr/>
        </p:nvSpPr>
        <p:spPr>
          <a:xfrm>
            <a:off x="1664208" y="1188720"/>
            <a:ext cx="1353312" cy="777240"/>
          </a:xfrm>
          <a:prstGeom prst="rect">
            <a:avLst/>
          </a:prstGeom>
          <a:solidFill>
            <a:srgbClr val="2C2C2C"/>
          </a:solidFill>
          <a:ln w="12700">
            <a:solidFill>
              <a:srgbClr val="444444"/>
            </a:solidFill>
            <a:prstDash val="solid"/>
          </a:ln>
          <a:effectLst>
            <a:outerShdw blurRad="101600" dist="38100" dir="8100000" algn="bl" rotWithShape="0">
              <a:srgbClr val="000000">
                <a:alpha val="18000"/>
              </a:srgbClr>
            </a:outerShdw>
          </a:effectLst>
        </p:spPr>
      </p:sp>
      <p:sp>
        <p:nvSpPr>
          <p:cNvPr id="14" name="Text 12"/>
          <p:cNvSpPr/>
          <p:nvPr/>
        </p:nvSpPr>
        <p:spPr>
          <a:xfrm>
            <a:off x="1664208"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Compare</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vs Plan</a:t>
            </a:r>
            <a:endParaRPr lang="en-US" sz="1050" dirty="0"/>
          </a:p>
        </p:txBody>
      </p:sp>
      <p:sp>
        <p:nvSpPr>
          <p:cNvPr id="15" name="Text 13"/>
          <p:cNvSpPr/>
          <p:nvPr/>
        </p:nvSpPr>
        <p:spPr>
          <a:xfrm>
            <a:off x="1664208"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Identify gaps</a:t>
            </a:r>
            <a:endParaRPr lang="en-US" sz="850" dirty="0"/>
          </a:p>
        </p:txBody>
      </p:sp>
      <p:sp>
        <p:nvSpPr>
          <p:cNvPr id="16" name="Text 14"/>
          <p:cNvSpPr/>
          <p:nvPr/>
        </p:nvSpPr>
        <p:spPr>
          <a:xfrm>
            <a:off x="3017520" y="1325880"/>
            <a:ext cx="128016" cy="41148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17" name="Shape 15"/>
          <p:cNvSpPr/>
          <p:nvPr/>
        </p:nvSpPr>
        <p:spPr>
          <a:xfrm>
            <a:off x="3145536" y="1188720"/>
            <a:ext cx="1353312" cy="777240"/>
          </a:xfrm>
          <a:prstGeom prst="rect">
            <a:avLst/>
          </a:prstGeom>
          <a:solidFill>
            <a:srgbClr val="2C2C2C"/>
          </a:solidFill>
          <a:ln w="12700">
            <a:solidFill>
              <a:srgbClr val="444444"/>
            </a:solidFill>
            <a:prstDash val="solid"/>
          </a:ln>
          <a:effectLst>
            <a:outerShdw blurRad="101600" dist="38100" dir="8100000" algn="bl" rotWithShape="0">
              <a:srgbClr val="000000">
                <a:alpha val="18000"/>
              </a:srgbClr>
            </a:outerShdw>
          </a:effectLst>
        </p:spPr>
      </p:sp>
      <p:sp>
        <p:nvSpPr>
          <p:cNvPr id="18" name="Text 16"/>
          <p:cNvSpPr/>
          <p:nvPr/>
        </p:nvSpPr>
        <p:spPr>
          <a:xfrm>
            <a:off x="3145536"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Identify</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Deviation</a:t>
            </a:r>
            <a:endParaRPr lang="en-US" sz="1050" dirty="0"/>
          </a:p>
        </p:txBody>
      </p:sp>
      <p:sp>
        <p:nvSpPr>
          <p:cNvPr id="19" name="Text 17"/>
          <p:cNvSpPr/>
          <p:nvPr/>
        </p:nvSpPr>
        <p:spPr>
          <a:xfrm>
            <a:off x="3145536"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Analyse cause</a:t>
            </a:r>
            <a:endParaRPr lang="en-US" sz="850" dirty="0"/>
          </a:p>
        </p:txBody>
      </p:sp>
      <p:sp>
        <p:nvSpPr>
          <p:cNvPr id="20" name="Text 18"/>
          <p:cNvSpPr/>
          <p:nvPr/>
        </p:nvSpPr>
        <p:spPr>
          <a:xfrm>
            <a:off x="4498848" y="1325880"/>
            <a:ext cx="128016" cy="41148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21" name="Shape 19"/>
          <p:cNvSpPr/>
          <p:nvPr/>
        </p:nvSpPr>
        <p:spPr>
          <a:xfrm>
            <a:off x="4626864" y="1188720"/>
            <a:ext cx="1353312" cy="777240"/>
          </a:xfrm>
          <a:prstGeom prst="rect">
            <a:avLst/>
          </a:prstGeom>
          <a:solidFill>
            <a:srgbClr val="E8650A"/>
          </a:solidFill>
          <a:ln w="12700">
            <a:solidFill>
              <a:srgbClr val="C4500A"/>
            </a:solidFill>
            <a:prstDash val="solid"/>
          </a:ln>
          <a:effectLst>
            <a:outerShdw blurRad="101600" dist="38100" dir="8100000" algn="bl" rotWithShape="0">
              <a:srgbClr val="000000">
                <a:alpha val="18000"/>
              </a:srgbClr>
            </a:outerShdw>
          </a:effectLst>
        </p:spPr>
      </p:sp>
      <p:sp>
        <p:nvSpPr>
          <p:cNvPr id="22" name="Text 20"/>
          <p:cNvSpPr/>
          <p:nvPr/>
        </p:nvSpPr>
        <p:spPr>
          <a:xfrm>
            <a:off x="4626864"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Decide</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Action</a:t>
            </a:r>
            <a:endParaRPr lang="en-US" sz="1050" dirty="0"/>
          </a:p>
        </p:txBody>
      </p:sp>
      <p:sp>
        <p:nvSpPr>
          <p:cNvPr id="23" name="Text 21"/>
          <p:cNvSpPr/>
          <p:nvPr/>
        </p:nvSpPr>
        <p:spPr>
          <a:xfrm>
            <a:off x="4626864"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Manager review</a:t>
            </a:r>
            <a:endParaRPr lang="en-US" sz="850" dirty="0"/>
          </a:p>
        </p:txBody>
      </p:sp>
      <p:sp>
        <p:nvSpPr>
          <p:cNvPr id="24" name="Text 22"/>
          <p:cNvSpPr/>
          <p:nvPr/>
        </p:nvSpPr>
        <p:spPr>
          <a:xfrm>
            <a:off x="5980176" y="1325880"/>
            <a:ext cx="128016" cy="41148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25" name="Shape 23"/>
          <p:cNvSpPr/>
          <p:nvPr/>
        </p:nvSpPr>
        <p:spPr>
          <a:xfrm>
            <a:off x="6108192" y="1188720"/>
            <a:ext cx="1353312" cy="777240"/>
          </a:xfrm>
          <a:prstGeom prst="rect">
            <a:avLst/>
          </a:prstGeom>
          <a:solidFill>
            <a:srgbClr val="2C2C2C"/>
          </a:solidFill>
          <a:ln w="12700">
            <a:solidFill>
              <a:srgbClr val="444444"/>
            </a:solidFill>
            <a:prstDash val="solid"/>
          </a:ln>
          <a:effectLst>
            <a:outerShdw blurRad="101600" dist="38100" dir="8100000" algn="bl" rotWithShape="0">
              <a:srgbClr val="000000">
                <a:alpha val="18000"/>
              </a:srgbClr>
            </a:outerShdw>
          </a:effectLst>
        </p:spPr>
      </p:sp>
      <p:sp>
        <p:nvSpPr>
          <p:cNvPr id="26" name="Text 24"/>
          <p:cNvSpPr/>
          <p:nvPr/>
        </p:nvSpPr>
        <p:spPr>
          <a:xfrm>
            <a:off x="6108192"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Implement</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Correction</a:t>
            </a:r>
            <a:endParaRPr lang="en-US" sz="1050" dirty="0"/>
          </a:p>
        </p:txBody>
      </p:sp>
      <p:sp>
        <p:nvSpPr>
          <p:cNvPr id="27" name="Text 25"/>
          <p:cNvSpPr/>
          <p:nvPr/>
        </p:nvSpPr>
        <p:spPr>
          <a:xfrm>
            <a:off x="6108192"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Execute plan</a:t>
            </a:r>
            <a:endParaRPr lang="en-US" sz="850" dirty="0"/>
          </a:p>
        </p:txBody>
      </p:sp>
      <p:sp>
        <p:nvSpPr>
          <p:cNvPr id="28" name="Text 26"/>
          <p:cNvSpPr/>
          <p:nvPr/>
        </p:nvSpPr>
        <p:spPr>
          <a:xfrm>
            <a:off x="7461504" y="1325880"/>
            <a:ext cx="128016" cy="41148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29" name="Shape 27"/>
          <p:cNvSpPr/>
          <p:nvPr/>
        </p:nvSpPr>
        <p:spPr>
          <a:xfrm>
            <a:off x="7589520" y="1188720"/>
            <a:ext cx="1353312" cy="777240"/>
          </a:xfrm>
          <a:prstGeom prst="rect">
            <a:avLst/>
          </a:prstGeom>
          <a:solidFill>
            <a:srgbClr val="2C2C2C"/>
          </a:solidFill>
          <a:ln w="12700">
            <a:solidFill>
              <a:srgbClr val="444444"/>
            </a:solidFill>
            <a:prstDash val="solid"/>
          </a:ln>
          <a:effectLst>
            <a:outerShdw blurRad="101600" dist="38100" dir="8100000" algn="bl" rotWithShape="0">
              <a:srgbClr val="000000">
                <a:alpha val="18000"/>
              </a:srgbClr>
            </a:outerShdw>
          </a:effectLst>
        </p:spPr>
      </p:sp>
      <p:sp>
        <p:nvSpPr>
          <p:cNvPr id="30" name="Text 28"/>
          <p:cNvSpPr/>
          <p:nvPr/>
        </p:nvSpPr>
        <p:spPr>
          <a:xfrm>
            <a:off x="7589520" y="1234440"/>
            <a:ext cx="1353312" cy="457200"/>
          </a:xfrm>
          <a:prstGeom prst="rect">
            <a:avLst/>
          </a:prstGeom>
          <a:noFill/>
          <a:ln/>
        </p:spPr>
        <p:txBody>
          <a:bodyPr wrap="square" lIns="0" tIns="0" rIns="0" bIns="0" rtlCol="0" anchor="ctr"/>
          <a:lstStyle/>
          <a:p>
            <a:pPr marL="0" indent="0" algn="ctr">
              <a:buNone/>
            </a:pPr>
            <a:r>
              <a:rPr lang="en-US" sz="1050" b="1" dirty="0">
                <a:solidFill>
                  <a:srgbClr val="FFFFFF"/>
                </a:solidFill>
                <a:latin typeface="Arial Black" pitchFamily="34" charset="0"/>
                <a:ea typeface="Arial Black" pitchFamily="34" charset="-122"/>
                <a:cs typeface="Arial Black" pitchFamily="34" charset="-120"/>
              </a:rPr>
              <a:t>Verify</a:t>
            </a:r>
            <a:endParaRPr lang="en-US" sz="1050" dirty="0"/>
          </a:p>
          <a:p>
            <a:pPr marL="0" indent="0" algn="ctr">
              <a:buNone/>
            </a:pPr>
            <a:r>
              <a:rPr lang="en-US" sz="1050" b="1" dirty="0">
                <a:solidFill>
                  <a:srgbClr val="FFFFFF"/>
                </a:solidFill>
                <a:latin typeface="Arial Black" pitchFamily="34" charset="0"/>
                <a:ea typeface="Arial Black" pitchFamily="34" charset="-122"/>
                <a:cs typeface="Arial Black" pitchFamily="34" charset="-120"/>
              </a:rPr>
              <a:t>Effect</a:t>
            </a:r>
            <a:endParaRPr lang="en-US" sz="1050" dirty="0"/>
          </a:p>
        </p:txBody>
      </p:sp>
      <p:sp>
        <p:nvSpPr>
          <p:cNvPr id="31" name="Text 29"/>
          <p:cNvSpPr/>
          <p:nvPr/>
        </p:nvSpPr>
        <p:spPr>
          <a:xfrm>
            <a:off x="7589520" y="1691640"/>
            <a:ext cx="1353312" cy="256032"/>
          </a:xfrm>
          <a:prstGeom prst="rect">
            <a:avLst/>
          </a:prstGeom>
          <a:noFill/>
          <a:ln/>
        </p:spPr>
        <p:txBody>
          <a:bodyPr wrap="square" lIns="0" tIns="0" rIns="0" bIns="0" rtlCol="0" anchor="ctr"/>
          <a:lstStyle/>
          <a:p>
            <a:pPr marL="0" indent="0" algn="ctr">
              <a:buNone/>
            </a:pPr>
            <a:r>
              <a:rPr lang="en-US" sz="850" dirty="0">
                <a:solidFill>
                  <a:srgbClr val="AAAAAA"/>
                </a:solidFill>
                <a:latin typeface="Arial" pitchFamily="34" charset="0"/>
                <a:ea typeface="Arial" pitchFamily="34" charset="-122"/>
                <a:cs typeface="Arial" pitchFamily="34" charset="-120"/>
              </a:rPr>
              <a:t>Monitor again</a:t>
            </a:r>
            <a:endParaRPr lang="en-US" sz="850" dirty="0"/>
          </a:p>
        </p:txBody>
      </p:sp>
      <p:sp>
        <p:nvSpPr>
          <p:cNvPr id="32" name="Text 30"/>
          <p:cNvSpPr/>
          <p:nvPr/>
        </p:nvSpPr>
        <p:spPr>
          <a:xfrm>
            <a:off x="182880" y="2121408"/>
            <a:ext cx="8229600" cy="301752"/>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Common Corrective Actions in Test Control:</a:t>
            </a:r>
            <a:endParaRPr lang="en-US" sz="1400" dirty="0"/>
          </a:p>
        </p:txBody>
      </p:sp>
      <p:sp>
        <p:nvSpPr>
          <p:cNvPr id="33" name="Shape 31"/>
          <p:cNvSpPr/>
          <p:nvPr/>
        </p:nvSpPr>
        <p:spPr>
          <a:xfrm>
            <a:off x="182880" y="2514600"/>
            <a:ext cx="8778240"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4" name="Shape 32"/>
          <p:cNvSpPr/>
          <p:nvPr/>
        </p:nvSpPr>
        <p:spPr>
          <a:xfrm>
            <a:off x="182880" y="2514600"/>
            <a:ext cx="8778240" cy="237744"/>
          </a:xfrm>
          <a:prstGeom prst="rect">
            <a:avLst/>
          </a:prstGeom>
          <a:solidFill>
            <a:srgbClr val="C4500A"/>
          </a:solidFill>
          <a:ln w="12700">
            <a:solidFill>
              <a:srgbClr val="C4500A"/>
            </a:solidFill>
            <a:prstDash val="solid"/>
          </a:ln>
        </p:spPr>
      </p:sp>
      <p:sp>
        <p:nvSpPr>
          <p:cNvPr id="35" name="Text 33"/>
          <p:cNvSpPr/>
          <p:nvPr/>
        </p:nvSpPr>
        <p:spPr>
          <a:xfrm>
            <a:off x="320040" y="2532888"/>
            <a:ext cx="8412480" cy="219456"/>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Trigger: Test execution is 30% behind schedule</a:t>
            </a:r>
            <a:endParaRPr lang="en-US" sz="1050" dirty="0"/>
          </a:p>
        </p:txBody>
      </p:sp>
      <p:sp>
        <p:nvSpPr>
          <p:cNvPr id="36" name="Text 34"/>
          <p:cNvSpPr/>
          <p:nvPr/>
        </p:nvSpPr>
        <p:spPr>
          <a:xfrm>
            <a:off x="320040" y="2788920"/>
            <a:ext cx="8412480" cy="457200"/>
          </a:xfrm>
          <a:prstGeom prst="rect">
            <a:avLst/>
          </a:prstGeom>
          <a:noFill/>
          <a:ln/>
        </p:spPr>
        <p:txBody>
          <a:bodyPr wrap="square" lIns="0" tIns="0" rIns="0" bIns="0" rtlCol="0" anchor="ctr"/>
          <a:lstStyle/>
          <a:p>
            <a:pPr marL="342900" indent="-342900">
              <a:buSzPct val="100000"/>
              <a:buChar char="•"/>
            </a:pPr>
            <a:r>
              <a:rPr lang="en-US" sz="1000" dirty="0">
                <a:solidFill>
                  <a:srgbClr val="F5F5F5"/>
                </a:solidFill>
                <a:latin typeface="Arial" pitchFamily="34" charset="0"/>
                <a:ea typeface="Arial" pitchFamily="34" charset="-122"/>
                <a:cs typeface="Arial" pitchFamily="34" charset="-120"/>
              </a:rPr>
              <a:t>Reassign additional testers from lower-priority features to the critical path.</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Implement shift-left testing by parallelising test design and execution.</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Escalate resource constraint to project sponsor for emergency allocation.</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Negotiate scope reduction with BA — defer low-priority test cases to regression phase.</a:t>
            </a:r>
            <a:endParaRPr lang="en-US" sz="1000" dirty="0"/>
          </a:p>
        </p:txBody>
      </p:sp>
      <p:sp>
        <p:nvSpPr>
          <p:cNvPr id="37" name="Shape 35"/>
          <p:cNvSpPr/>
          <p:nvPr/>
        </p:nvSpPr>
        <p:spPr>
          <a:xfrm>
            <a:off x="182880" y="3364992"/>
            <a:ext cx="8778240"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8" name="Shape 36"/>
          <p:cNvSpPr/>
          <p:nvPr/>
        </p:nvSpPr>
        <p:spPr>
          <a:xfrm>
            <a:off x="182880" y="3364992"/>
            <a:ext cx="8778240" cy="237744"/>
          </a:xfrm>
          <a:prstGeom prst="rect">
            <a:avLst/>
          </a:prstGeom>
          <a:solidFill>
            <a:srgbClr val="8B1A00"/>
          </a:solidFill>
          <a:ln w="12700">
            <a:solidFill>
              <a:srgbClr val="8B1A00"/>
            </a:solidFill>
            <a:prstDash val="solid"/>
          </a:ln>
        </p:spPr>
      </p:sp>
      <p:sp>
        <p:nvSpPr>
          <p:cNvPr id="39" name="Text 37"/>
          <p:cNvSpPr/>
          <p:nvPr/>
        </p:nvSpPr>
        <p:spPr>
          <a:xfrm>
            <a:off x="320040" y="3383280"/>
            <a:ext cx="8412480" cy="219456"/>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Trigger: Defect raise rate exceeds threshold (&gt;15 High per day)</a:t>
            </a:r>
            <a:endParaRPr lang="en-US" sz="1050" dirty="0"/>
          </a:p>
        </p:txBody>
      </p:sp>
      <p:sp>
        <p:nvSpPr>
          <p:cNvPr id="40" name="Text 38"/>
          <p:cNvSpPr/>
          <p:nvPr/>
        </p:nvSpPr>
        <p:spPr>
          <a:xfrm>
            <a:off x="320040" y="3639312"/>
            <a:ext cx="8412480" cy="457200"/>
          </a:xfrm>
          <a:prstGeom prst="rect">
            <a:avLst/>
          </a:prstGeom>
          <a:noFill/>
          <a:ln/>
        </p:spPr>
        <p:txBody>
          <a:bodyPr wrap="square" lIns="0" tIns="0" rIns="0" bIns="0" rtlCol="0" anchor="ctr"/>
          <a:lstStyle/>
          <a:p>
            <a:pPr marL="342900" indent="-342900">
              <a:buSzPct val="100000"/>
              <a:buChar char="•"/>
            </a:pPr>
            <a:r>
              <a:rPr lang="en-US" sz="1000" dirty="0">
                <a:solidFill>
                  <a:srgbClr val="F5F5F5"/>
                </a:solidFill>
                <a:latin typeface="Arial" pitchFamily="34" charset="0"/>
                <a:ea typeface="Arial" pitchFamily="34" charset="-122"/>
                <a:cs typeface="Arial" pitchFamily="34" charset="-120"/>
              </a:rPr>
              <a:t>Halt further testing and issue a Stop-Test recommendation to development.</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Convene an emergency defect triage meeting with Dev Lead and BA.</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Re-run failed builds through smoke testing before resuming full regression.</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Update the defect trend in the daily status report and notify stakeholders.</a:t>
            </a:r>
            <a:endParaRPr lang="en-US" sz="1000" dirty="0"/>
          </a:p>
        </p:txBody>
      </p:sp>
      <p:sp>
        <p:nvSpPr>
          <p:cNvPr id="41" name="Shape 39"/>
          <p:cNvSpPr/>
          <p:nvPr/>
        </p:nvSpPr>
        <p:spPr>
          <a:xfrm>
            <a:off x="182880" y="4215384"/>
            <a:ext cx="8778240"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42" name="Shape 40"/>
          <p:cNvSpPr/>
          <p:nvPr/>
        </p:nvSpPr>
        <p:spPr>
          <a:xfrm>
            <a:off x="182880" y="4215384"/>
            <a:ext cx="8778240" cy="237744"/>
          </a:xfrm>
          <a:prstGeom prst="rect">
            <a:avLst/>
          </a:prstGeom>
          <a:solidFill>
            <a:srgbClr val="1A3A5C"/>
          </a:solidFill>
          <a:ln w="12700">
            <a:solidFill>
              <a:srgbClr val="1A3A5C"/>
            </a:solidFill>
            <a:prstDash val="solid"/>
          </a:ln>
        </p:spPr>
      </p:sp>
      <p:sp>
        <p:nvSpPr>
          <p:cNvPr id="43" name="Text 41"/>
          <p:cNvSpPr/>
          <p:nvPr/>
        </p:nvSpPr>
        <p:spPr>
          <a:xfrm>
            <a:off x="320040" y="4233672"/>
            <a:ext cx="8412480" cy="219456"/>
          </a:xfrm>
          <a:prstGeom prst="rect">
            <a:avLst/>
          </a:prstGeom>
          <a:noFill/>
          <a:ln/>
        </p:spPr>
        <p:txBody>
          <a:bodyPr wrap="square" lIns="0" tIns="0" rIns="0" bIns="0" rtlCol="0" anchor="ctr"/>
          <a:lstStyle/>
          <a:p>
            <a:pPr marL="0" indent="0">
              <a:buNone/>
            </a:pPr>
            <a:r>
              <a:rPr lang="en-US" sz="1050" b="1" dirty="0">
                <a:solidFill>
                  <a:srgbClr val="FFFFFF"/>
                </a:solidFill>
                <a:latin typeface="Arial Black" pitchFamily="34" charset="0"/>
                <a:ea typeface="Arial Black" pitchFamily="34" charset="-122"/>
                <a:cs typeface="Arial Black" pitchFamily="34" charset="-120"/>
              </a:rPr>
              <a:t>⚡ Trigger: Test environment is unstable / unavailable</a:t>
            </a:r>
            <a:endParaRPr lang="en-US" sz="1050" dirty="0"/>
          </a:p>
        </p:txBody>
      </p:sp>
      <p:sp>
        <p:nvSpPr>
          <p:cNvPr id="44" name="Text 42"/>
          <p:cNvSpPr/>
          <p:nvPr/>
        </p:nvSpPr>
        <p:spPr>
          <a:xfrm>
            <a:off x="320040" y="4489704"/>
            <a:ext cx="8412480" cy="457200"/>
          </a:xfrm>
          <a:prstGeom prst="rect">
            <a:avLst/>
          </a:prstGeom>
          <a:noFill/>
          <a:ln/>
        </p:spPr>
        <p:txBody>
          <a:bodyPr wrap="square" lIns="0" tIns="0" rIns="0" bIns="0" rtlCol="0" anchor="ctr"/>
          <a:lstStyle/>
          <a:p>
            <a:pPr marL="342900" indent="-342900">
              <a:buSzPct val="100000"/>
              <a:buChar char="•"/>
            </a:pPr>
            <a:r>
              <a:rPr lang="en-US" sz="1000" dirty="0">
                <a:solidFill>
                  <a:srgbClr val="F5F5F5"/>
                </a:solidFill>
                <a:latin typeface="Arial" pitchFamily="34" charset="0"/>
                <a:ea typeface="Arial" pitchFamily="34" charset="-122"/>
                <a:cs typeface="Arial" pitchFamily="34" charset="-120"/>
              </a:rPr>
              <a:t>Switch to a backup environment or provision a new container (Docker/Kubernetes).</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Redirect testers to test design, documentation, or data preparation tasks.</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Raise an environment incident ticket — track SLA resolution with DevOps.</a:t>
            </a:r>
            <a:endParaRPr lang="en-US" sz="1000" dirty="0"/>
          </a:p>
          <a:p>
            <a:pPr marL="342900" indent="-342900">
              <a:buSzPct val="100000"/>
              <a:buChar char="•"/>
            </a:pPr>
            <a:r>
              <a:rPr lang="en-US" sz="1000" dirty="0">
                <a:solidFill>
                  <a:srgbClr val="F5F5F5"/>
                </a:solidFill>
                <a:latin typeface="Arial" pitchFamily="34" charset="0"/>
                <a:ea typeface="Arial" pitchFamily="34" charset="-122"/>
                <a:cs typeface="Arial" pitchFamily="34" charset="-120"/>
              </a:rPr>
              <a:t>Adjust the timeline to account for lost execution days.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04</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Test Management</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Deliverables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Documents that Define and Evidence Quality</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Management Deliverables — Overview</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04  |  DELIVERABLES</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22960"/>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9" name="Shape 7"/>
          <p:cNvSpPr/>
          <p:nvPr/>
        </p:nvSpPr>
        <p:spPr>
          <a:xfrm>
            <a:off x="182880" y="822960"/>
            <a:ext cx="73152" cy="1298448"/>
          </a:xfrm>
          <a:prstGeom prst="rect">
            <a:avLst/>
          </a:prstGeom>
          <a:solidFill>
            <a:srgbClr val="E8650A"/>
          </a:solidFill>
          <a:ln w="12700">
            <a:solidFill>
              <a:srgbClr val="E8650A"/>
            </a:solidFill>
            <a:prstDash val="solid"/>
          </a:ln>
        </p:spPr>
      </p:sp>
      <p:sp>
        <p:nvSpPr>
          <p:cNvPr id="10" name="Shape 8"/>
          <p:cNvSpPr/>
          <p:nvPr/>
        </p:nvSpPr>
        <p:spPr>
          <a:xfrm>
            <a:off x="292608" y="868680"/>
            <a:ext cx="402336" cy="292608"/>
          </a:xfrm>
          <a:prstGeom prst="rect">
            <a:avLst/>
          </a:prstGeom>
          <a:solidFill>
            <a:srgbClr val="0D0D0D"/>
          </a:solidFill>
          <a:ln w="12700">
            <a:solidFill>
              <a:srgbClr val="0D0D0D"/>
            </a:solidFill>
            <a:prstDash val="solid"/>
          </a:ln>
        </p:spPr>
      </p:sp>
      <p:sp>
        <p:nvSpPr>
          <p:cNvPr id="11" name="Text 9"/>
          <p:cNvSpPr/>
          <p:nvPr/>
        </p:nvSpPr>
        <p:spPr>
          <a:xfrm>
            <a:off x="292608" y="868680"/>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01</a:t>
            </a:r>
            <a:endParaRPr lang="en-US" sz="1100" dirty="0"/>
          </a:p>
        </p:txBody>
      </p:sp>
      <p:sp>
        <p:nvSpPr>
          <p:cNvPr id="12" name="Text 10"/>
          <p:cNvSpPr/>
          <p:nvPr/>
        </p:nvSpPr>
        <p:spPr>
          <a:xfrm>
            <a:off x="777240" y="886968"/>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Test Strategy Document</a:t>
            </a:r>
            <a:endParaRPr lang="en-US" sz="1200" dirty="0"/>
          </a:p>
        </p:txBody>
      </p:sp>
      <p:sp>
        <p:nvSpPr>
          <p:cNvPr id="13" name="Text 11"/>
          <p:cNvSpPr/>
          <p:nvPr/>
        </p:nvSpPr>
        <p:spPr>
          <a:xfrm>
            <a:off x="292608" y="1207008"/>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Test Manager / QA Lead  ·  Format: Word / Confluence Page  ·  When: Pre-project / Release Start</a:t>
            </a:r>
            <a:endParaRPr lang="en-US" sz="900" dirty="0"/>
          </a:p>
        </p:txBody>
      </p:sp>
      <p:sp>
        <p:nvSpPr>
          <p:cNvPr id="14" name="Text 12"/>
          <p:cNvSpPr/>
          <p:nvPr/>
        </p:nvSpPr>
        <p:spPr>
          <a:xfrm>
            <a:off x="292608" y="1426464"/>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High-level testing approach for the organisation or project. Defines testing types, tools, environments, automation strategy, and defect management guidelines.</a:t>
            </a:r>
            <a:endParaRPr lang="en-US" sz="1000" dirty="0"/>
          </a:p>
        </p:txBody>
      </p:sp>
      <p:sp>
        <p:nvSpPr>
          <p:cNvPr id="15" name="Shape 13"/>
          <p:cNvSpPr/>
          <p:nvPr/>
        </p:nvSpPr>
        <p:spPr>
          <a:xfrm>
            <a:off x="4663440" y="822960"/>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16" name="Shape 14"/>
          <p:cNvSpPr/>
          <p:nvPr/>
        </p:nvSpPr>
        <p:spPr>
          <a:xfrm>
            <a:off x="4663440" y="822960"/>
            <a:ext cx="73152" cy="1298448"/>
          </a:xfrm>
          <a:prstGeom prst="rect">
            <a:avLst/>
          </a:prstGeom>
          <a:solidFill>
            <a:srgbClr val="E8650A"/>
          </a:solidFill>
          <a:ln w="12700">
            <a:solidFill>
              <a:srgbClr val="E8650A"/>
            </a:solidFill>
            <a:prstDash val="solid"/>
          </a:ln>
        </p:spPr>
      </p:sp>
      <p:sp>
        <p:nvSpPr>
          <p:cNvPr id="17" name="Shape 15"/>
          <p:cNvSpPr/>
          <p:nvPr/>
        </p:nvSpPr>
        <p:spPr>
          <a:xfrm>
            <a:off x="4773168" y="868680"/>
            <a:ext cx="402336" cy="292608"/>
          </a:xfrm>
          <a:prstGeom prst="rect">
            <a:avLst/>
          </a:prstGeom>
          <a:solidFill>
            <a:srgbClr val="0D0D0D"/>
          </a:solidFill>
          <a:ln w="12700">
            <a:solidFill>
              <a:srgbClr val="0D0D0D"/>
            </a:solidFill>
            <a:prstDash val="solid"/>
          </a:ln>
        </p:spPr>
      </p:sp>
      <p:sp>
        <p:nvSpPr>
          <p:cNvPr id="18" name="Text 16"/>
          <p:cNvSpPr/>
          <p:nvPr/>
        </p:nvSpPr>
        <p:spPr>
          <a:xfrm>
            <a:off x="4773168" y="868680"/>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02</a:t>
            </a:r>
            <a:endParaRPr lang="en-US" sz="1100" dirty="0"/>
          </a:p>
        </p:txBody>
      </p:sp>
      <p:sp>
        <p:nvSpPr>
          <p:cNvPr id="19" name="Text 17"/>
          <p:cNvSpPr/>
          <p:nvPr/>
        </p:nvSpPr>
        <p:spPr>
          <a:xfrm>
            <a:off x="5257800" y="886968"/>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Test Plan Document</a:t>
            </a:r>
            <a:endParaRPr lang="en-US" sz="1200" dirty="0"/>
          </a:p>
        </p:txBody>
      </p:sp>
      <p:sp>
        <p:nvSpPr>
          <p:cNvPr id="20" name="Text 18"/>
          <p:cNvSpPr/>
          <p:nvPr/>
        </p:nvSpPr>
        <p:spPr>
          <a:xfrm>
            <a:off x="4773168" y="1207008"/>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Test Manager  ·  Format: Word / Jira Epic  ·  When: Sprint 0 / Project Kick-off</a:t>
            </a:r>
            <a:endParaRPr lang="en-US" sz="900" dirty="0"/>
          </a:p>
        </p:txBody>
      </p:sp>
      <p:sp>
        <p:nvSpPr>
          <p:cNvPr id="21" name="Text 19"/>
          <p:cNvSpPr/>
          <p:nvPr/>
        </p:nvSpPr>
        <p:spPr>
          <a:xfrm>
            <a:off x="4773168" y="1426464"/>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Project-specific plan covering scope, objectives, resources, schedule, risk register, entry/exit criteria, and test deliverable list. Governed by IEEE 829 standard.</a:t>
            </a:r>
            <a:endParaRPr lang="en-US" sz="1000" dirty="0"/>
          </a:p>
        </p:txBody>
      </p:sp>
      <p:sp>
        <p:nvSpPr>
          <p:cNvPr id="22" name="Shape 20"/>
          <p:cNvSpPr/>
          <p:nvPr/>
        </p:nvSpPr>
        <p:spPr>
          <a:xfrm>
            <a:off x="182880" y="2212848"/>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23" name="Shape 21"/>
          <p:cNvSpPr/>
          <p:nvPr/>
        </p:nvSpPr>
        <p:spPr>
          <a:xfrm>
            <a:off x="182880" y="2212848"/>
            <a:ext cx="73152" cy="1298448"/>
          </a:xfrm>
          <a:prstGeom prst="rect">
            <a:avLst/>
          </a:prstGeom>
          <a:solidFill>
            <a:srgbClr val="E8650A"/>
          </a:solidFill>
          <a:ln w="12700">
            <a:solidFill>
              <a:srgbClr val="E8650A"/>
            </a:solidFill>
            <a:prstDash val="solid"/>
          </a:ln>
        </p:spPr>
      </p:sp>
      <p:sp>
        <p:nvSpPr>
          <p:cNvPr id="24" name="Shape 22"/>
          <p:cNvSpPr/>
          <p:nvPr/>
        </p:nvSpPr>
        <p:spPr>
          <a:xfrm>
            <a:off x="292608" y="2258568"/>
            <a:ext cx="402336" cy="292608"/>
          </a:xfrm>
          <a:prstGeom prst="rect">
            <a:avLst/>
          </a:prstGeom>
          <a:solidFill>
            <a:srgbClr val="0D0D0D"/>
          </a:solidFill>
          <a:ln w="12700">
            <a:solidFill>
              <a:srgbClr val="0D0D0D"/>
            </a:solidFill>
            <a:prstDash val="solid"/>
          </a:ln>
        </p:spPr>
      </p:sp>
      <p:sp>
        <p:nvSpPr>
          <p:cNvPr id="25" name="Text 23"/>
          <p:cNvSpPr/>
          <p:nvPr/>
        </p:nvSpPr>
        <p:spPr>
          <a:xfrm>
            <a:off x="292608" y="2258568"/>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03</a:t>
            </a:r>
            <a:endParaRPr lang="en-US" sz="1100" dirty="0"/>
          </a:p>
        </p:txBody>
      </p:sp>
      <p:sp>
        <p:nvSpPr>
          <p:cNvPr id="26" name="Text 24"/>
          <p:cNvSpPr/>
          <p:nvPr/>
        </p:nvSpPr>
        <p:spPr>
          <a:xfrm>
            <a:off x="777240" y="2276856"/>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Test Cases</a:t>
            </a:r>
            <a:endParaRPr lang="en-US" sz="1200" dirty="0"/>
          </a:p>
        </p:txBody>
      </p:sp>
      <p:sp>
        <p:nvSpPr>
          <p:cNvPr id="27" name="Text 25"/>
          <p:cNvSpPr/>
          <p:nvPr/>
        </p:nvSpPr>
        <p:spPr>
          <a:xfrm>
            <a:off x="292608" y="2596896"/>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Test Analyst / Automation Engineer  ·  Format: Excel / Jira Xray / Zephyr  ·  When: Test Design Phase</a:t>
            </a:r>
            <a:endParaRPr lang="en-US" sz="900" dirty="0"/>
          </a:p>
        </p:txBody>
      </p:sp>
      <p:sp>
        <p:nvSpPr>
          <p:cNvPr id="28" name="Text 26"/>
          <p:cNvSpPr/>
          <p:nvPr/>
        </p:nvSpPr>
        <p:spPr>
          <a:xfrm>
            <a:off x="292608" y="2816352"/>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Detailed step-by-step test instructions with preconditions, test data, steps, and expected results. May be manual or automated (Selenium / Playwright scripts).</a:t>
            </a:r>
            <a:endParaRPr lang="en-US" sz="1000" dirty="0"/>
          </a:p>
        </p:txBody>
      </p:sp>
      <p:sp>
        <p:nvSpPr>
          <p:cNvPr id="29" name="Shape 27"/>
          <p:cNvSpPr/>
          <p:nvPr/>
        </p:nvSpPr>
        <p:spPr>
          <a:xfrm>
            <a:off x="4663440" y="2212848"/>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0" name="Shape 28"/>
          <p:cNvSpPr/>
          <p:nvPr/>
        </p:nvSpPr>
        <p:spPr>
          <a:xfrm>
            <a:off x="4663440" y="2212848"/>
            <a:ext cx="73152" cy="1298448"/>
          </a:xfrm>
          <a:prstGeom prst="rect">
            <a:avLst/>
          </a:prstGeom>
          <a:solidFill>
            <a:srgbClr val="E8650A"/>
          </a:solidFill>
          <a:ln w="12700">
            <a:solidFill>
              <a:srgbClr val="E8650A"/>
            </a:solidFill>
            <a:prstDash val="solid"/>
          </a:ln>
        </p:spPr>
      </p:sp>
      <p:sp>
        <p:nvSpPr>
          <p:cNvPr id="31" name="Shape 29"/>
          <p:cNvSpPr/>
          <p:nvPr/>
        </p:nvSpPr>
        <p:spPr>
          <a:xfrm>
            <a:off x="4773168" y="2258568"/>
            <a:ext cx="402336" cy="292608"/>
          </a:xfrm>
          <a:prstGeom prst="rect">
            <a:avLst/>
          </a:prstGeom>
          <a:solidFill>
            <a:srgbClr val="0D0D0D"/>
          </a:solidFill>
          <a:ln w="12700">
            <a:solidFill>
              <a:srgbClr val="0D0D0D"/>
            </a:solidFill>
            <a:prstDash val="solid"/>
          </a:ln>
        </p:spPr>
      </p:sp>
      <p:sp>
        <p:nvSpPr>
          <p:cNvPr id="32" name="Text 30"/>
          <p:cNvSpPr/>
          <p:nvPr/>
        </p:nvSpPr>
        <p:spPr>
          <a:xfrm>
            <a:off x="4773168" y="2258568"/>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04</a:t>
            </a:r>
            <a:endParaRPr lang="en-US" sz="1100" dirty="0"/>
          </a:p>
        </p:txBody>
      </p:sp>
      <p:sp>
        <p:nvSpPr>
          <p:cNvPr id="33" name="Text 31"/>
          <p:cNvSpPr/>
          <p:nvPr/>
        </p:nvSpPr>
        <p:spPr>
          <a:xfrm>
            <a:off x="5257800" y="2276856"/>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Test Execution Reports</a:t>
            </a:r>
            <a:endParaRPr lang="en-US" sz="1200" dirty="0"/>
          </a:p>
        </p:txBody>
      </p:sp>
      <p:sp>
        <p:nvSpPr>
          <p:cNvPr id="34" name="Text 32"/>
          <p:cNvSpPr/>
          <p:nvPr/>
        </p:nvSpPr>
        <p:spPr>
          <a:xfrm>
            <a:off x="4773168" y="2596896"/>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Test Lead / QA Engineer  ·  Format: Dashboard / Email / PDF  ·  When: During Execution</a:t>
            </a:r>
            <a:endParaRPr lang="en-US" sz="900" dirty="0"/>
          </a:p>
        </p:txBody>
      </p:sp>
      <p:sp>
        <p:nvSpPr>
          <p:cNvPr id="35" name="Text 33"/>
          <p:cNvSpPr/>
          <p:nvPr/>
        </p:nvSpPr>
        <p:spPr>
          <a:xfrm>
            <a:off x="4773168" y="2816352"/>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Real-time or daily reports showing test execution progress, pass/fail statistics, blockers, and remaining work. Drives stakeholder communication.</a:t>
            </a:r>
            <a:endParaRPr lang="en-US" sz="1000" dirty="0"/>
          </a:p>
        </p:txBody>
      </p:sp>
      <p:sp>
        <p:nvSpPr>
          <p:cNvPr id="36" name="Shape 34"/>
          <p:cNvSpPr/>
          <p:nvPr/>
        </p:nvSpPr>
        <p:spPr>
          <a:xfrm>
            <a:off x="182880" y="3602736"/>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37" name="Shape 35"/>
          <p:cNvSpPr/>
          <p:nvPr/>
        </p:nvSpPr>
        <p:spPr>
          <a:xfrm>
            <a:off x="182880" y="3602736"/>
            <a:ext cx="73152" cy="1298448"/>
          </a:xfrm>
          <a:prstGeom prst="rect">
            <a:avLst/>
          </a:prstGeom>
          <a:solidFill>
            <a:srgbClr val="E8650A"/>
          </a:solidFill>
          <a:ln w="12700">
            <a:solidFill>
              <a:srgbClr val="E8650A"/>
            </a:solidFill>
            <a:prstDash val="solid"/>
          </a:ln>
        </p:spPr>
      </p:sp>
      <p:sp>
        <p:nvSpPr>
          <p:cNvPr id="38" name="Shape 36"/>
          <p:cNvSpPr/>
          <p:nvPr/>
        </p:nvSpPr>
        <p:spPr>
          <a:xfrm>
            <a:off x="292608" y="3648456"/>
            <a:ext cx="402336" cy="292608"/>
          </a:xfrm>
          <a:prstGeom prst="rect">
            <a:avLst/>
          </a:prstGeom>
          <a:solidFill>
            <a:srgbClr val="0D0D0D"/>
          </a:solidFill>
          <a:ln w="12700">
            <a:solidFill>
              <a:srgbClr val="0D0D0D"/>
            </a:solidFill>
            <a:prstDash val="solid"/>
          </a:ln>
        </p:spPr>
      </p:sp>
      <p:sp>
        <p:nvSpPr>
          <p:cNvPr id="39" name="Text 37"/>
          <p:cNvSpPr/>
          <p:nvPr/>
        </p:nvSpPr>
        <p:spPr>
          <a:xfrm>
            <a:off x="292608" y="3648456"/>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05</a:t>
            </a:r>
            <a:endParaRPr lang="en-US" sz="1100" dirty="0"/>
          </a:p>
        </p:txBody>
      </p:sp>
      <p:sp>
        <p:nvSpPr>
          <p:cNvPr id="40" name="Text 38"/>
          <p:cNvSpPr/>
          <p:nvPr/>
        </p:nvSpPr>
        <p:spPr>
          <a:xfrm>
            <a:off x="777240" y="3666744"/>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Defect Reports</a:t>
            </a:r>
            <a:endParaRPr lang="en-US" sz="1200" dirty="0"/>
          </a:p>
        </p:txBody>
      </p:sp>
      <p:sp>
        <p:nvSpPr>
          <p:cNvPr id="41" name="Text 39"/>
          <p:cNvSpPr/>
          <p:nvPr/>
        </p:nvSpPr>
        <p:spPr>
          <a:xfrm>
            <a:off x="292608" y="398678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All Testers  ·  Format: Jira / Azure DevOps / Bugzilla  ·  When: During Execution &amp; Retesting</a:t>
            </a:r>
            <a:endParaRPr lang="en-US" sz="900" dirty="0"/>
          </a:p>
        </p:txBody>
      </p:sp>
      <p:sp>
        <p:nvSpPr>
          <p:cNvPr id="42" name="Text 40"/>
          <p:cNvSpPr/>
          <p:nvPr/>
        </p:nvSpPr>
        <p:spPr>
          <a:xfrm>
            <a:off x="292608" y="4206240"/>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Formal documentation of each defect found, including steps to reproduce, screenshots, severity, priority, environment, and defect lifecycle status.</a:t>
            </a:r>
            <a:endParaRPr lang="en-US" sz="1000" dirty="0"/>
          </a:p>
        </p:txBody>
      </p:sp>
      <p:sp>
        <p:nvSpPr>
          <p:cNvPr id="43" name="Shape 41"/>
          <p:cNvSpPr/>
          <p:nvPr/>
        </p:nvSpPr>
        <p:spPr>
          <a:xfrm>
            <a:off x="4663440" y="3602736"/>
            <a:ext cx="4315968" cy="1298448"/>
          </a:xfrm>
          <a:prstGeom prst="rect">
            <a:avLst/>
          </a:prstGeom>
          <a:solidFill>
            <a:srgbClr val="FFFFFF"/>
          </a:solidFill>
          <a:ln w="12700">
            <a:solidFill>
              <a:srgbClr val="DDDDDD"/>
            </a:solidFill>
            <a:prstDash val="solid"/>
          </a:ln>
          <a:effectLst>
            <a:outerShdw blurRad="63500" dist="25400" dir="8100000" algn="bl" rotWithShape="0">
              <a:srgbClr val="000000">
                <a:alpha val="9000"/>
              </a:srgbClr>
            </a:outerShdw>
          </a:effectLst>
        </p:spPr>
      </p:sp>
      <p:sp>
        <p:nvSpPr>
          <p:cNvPr id="44" name="Shape 42"/>
          <p:cNvSpPr/>
          <p:nvPr/>
        </p:nvSpPr>
        <p:spPr>
          <a:xfrm>
            <a:off x="4663440" y="3602736"/>
            <a:ext cx="73152" cy="1298448"/>
          </a:xfrm>
          <a:prstGeom prst="rect">
            <a:avLst/>
          </a:prstGeom>
          <a:solidFill>
            <a:srgbClr val="E8650A"/>
          </a:solidFill>
          <a:ln w="12700">
            <a:solidFill>
              <a:srgbClr val="E8650A"/>
            </a:solidFill>
            <a:prstDash val="solid"/>
          </a:ln>
        </p:spPr>
      </p:sp>
      <p:sp>
        <p:nvSpPr>
          <p:cNvPr id="45" name="Shape 43"/>
          <p:cNvSpPr/>
          <p:nvPr/>
        </p:nvSpPr>
        <p:spPr>
          <a:xfrm>
            <a:off x="4773168" y="3648456"/>
            <a:ext cx="402336" cy="292608"/>
          </a:xfrm>
          <a:prstGeom prst="rect">
            <a:avLst/>
          </a:prstGeom>
          <a:solidFill>
            <a:srgbClr val="0D0D0D"/>
          </a:solidFill>
          <a:ln w="12700">
            <a:solidFill>
              <a:srgbClr val="0D0D0D"/>
            </a:solidFill>
            <a:prstDash val="solid"/>
          </a:ln>
        </p:spPr>
      </p:sp>
      <p:sp>
        <p:nvSpPr>
          <p:cNvPr id="46" name="Text 44"/>
          <p:cNvSpPr/>
          <p:nvPr/>
        </p:nvSpPr>
        <p:spPr>
          <a:xfrm>
            <a:off x="4773168" y="3648456"/>
            <a:ext cx="402336" cy="292608"/>
          </a:xfrm>
          <a:prstGeom prst="rect">
            <a:avLst/>
          </a:prstGeom>
          <a:noFill/>
          <a:ln/>
        </p:spPr>
        <p:txBody>
          <a:bodyPr wrap="square" lIns="0" tIns="0" rIns="0" bIns="0" rtlCol="0" anchor="ctr"/>
          <a:lstStyle/>
          <a:p>
            <a:pPr marL="0" indent="0" algn="ctr">
              <a:buNone/>
            </a:pPr>
            <a:r>
              <a:rPr lang="en-US" sz="1100" b="1" dirty="0">
                <a:solidFill>
                  <a:srgbClr val="E8650A"/>
                </a:solidFill>
                <a:latin typeface="Arial Black" pitchFamily="34" charset="0"/>
                <a:ea typeface="Arial Black" pitchFamily="34" charset="-122"/>
                <a:cs typeface="Arial Black" pitchFamily="34" charset="-120"/>
              </a:rPr>
              <a:t>06</a:t>
            </a:r>
            <a:endParaRPr lang="en-US" sz="1100" dirty="0"/>
          </a:p>
        </p:txBody>
      </p:sp>
      <p:sp>
        <p:nvSpPr>
          <p:cNvPr id="47" name="Text 45"/>
          <p:cNvSpPr/>
          <p:nvPr/>
        </p:nvSpPr>
        <p:spPr>
          <a:xfrm>
            <a:off x="5257800" y="3666744"/>
            <a:ext cx="3611880" cy="256032"/>
          </a:xfrm>
          <a:prstGeom prst="rect">
            <a:avLst/>
          </a:prstGeom>
          <a:noFill/>
          <a:ln/>
        </p:spPr>
        <p:txBody>
          <a:bodyPr wrap="square" lIns="0" tIns="0" rIns="0" bIns="0" rtlCol="0" anchor="ctr"/>
          <a:lstStyle/>
          <a:p>
            <a:pPr marL="0" indent="0">
              <a:buNone/>
            </a:pPr>
            <a:r>
              <a:rPr lang="en-US" sz="1200" b="1" dirty="0">
                <a:solidFill>
                  <a:srgbClr val="0D0D0D"/>
                </a:solidFill>
                <a:latin typeface="Arial Black" pitchFamily="34" charset="0"/>
                <a:ea typeface="Arial Black" pitchFamily="34" charset="-122"/>
                <a:cs typeface="Arial Black" pitchFamily="34" charset="-120"/>
              </a:rPr>
              <a:t>Test Summary / Closure Report</a:t>
            </a:r>
            <a:endParaRPr lang="en-US" sz="1200" dirty="0"/>
          </a:p>
        </p:txBody>
      </p:sp>
      <p:sp>
        <p:nvSpPr>
          <p:cNvPr id="48" name="Text 46"/>
          <p:cNvSpPr/>
          <p:nvPr/>
        </p:nvSpPr>
        <p:spPr>
          <a:xfrm>
            <a:off x="4773168" y="3986784"/>
            <a:ext cx="4114800" cy="201168"/>
          </a:xfrm>
          <a:prstGeom prst="rect">
            <a:avLst/>
          </a:prstGeom>
          <a:noFill/>
          <a:ln/>
        </p:spPr>
        <p:txBody>
          <a:bodyPr wrap="square" lIns="0" tIns="0" rIns="0" bIns="0" rtlCol="0" anchor="ctr"/>
          <a:lstStyle/>
          <a:p>
            <a:pPr marL="0" indent="0">
              <a:buNone/>
            </a:pPr>
            <a:r>
              <a:rPr lang="en-US" sz="900" i="1" dirty="0">
                <a:solidFill>
                  <a:srgbClr val="E8650A"/>
                </a:solidFill>
                <a:latin typeface="Arial" pitchFamily="34" charset="0"/>
                <a:ea typeface="Arial" pitchFamily="34" charset="-122"/>
                <a:cs typeface="Arial" pitchFamily="34" charset="-120"/>
              </a:rPr>
              <a:t>Owner: Test Manager  ·  Format: PDF / Word  ·  When: Test Closure Phase</a:t>
            </a:r>
            <a:endParaRPr lang="en-US" sz="900" dirty="0"/>
          </a:p>
        </p:txBody>
      </p:sp>
      <p:sp>
        <p:nvSpPr>
          <p:cNvPr id="49" name="Text 47"/>
          <p:cNvSpPr/>
          <p:nvPr/>
        </p:nvSpPr>
        <p:spPr>
          <a:xfrm>
            <a:off x="4773168" y="4206240"/>
            <a:ext cx="4114800" cy="621792"/>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End-of-project report summarising testing scope, metrics achieved, outstanding defects, deferred items, lessons learned, and sign-off recommendation.</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05</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Test Metrics &amp; KPIs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Measuring Quality with Data-Driven Precision</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Test Coverage &amp; Defect Density</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05  |  METRICS &amp; KPIs</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384048"/>
          </a:xfrm>
          <a:prstGeom prst="rect">
            <a:avLst/>
          </a:prstGeom>
          <a:noFill/>
          <a:ln/>
        </p:spPr>
        <p:txBody>
          <a:bodyPr wrap="square" lIns="0" tIns="0" rIns="0" bIns="0" rtlCol="0" anchor="ctr"/>
          <a:lstStyle/>
          <a:p>
            <a:pPr marL="0" indent="0">
              <a:buNone/>
            </a:pPr>
            <a:r>
              <a:rPr lang="en-US" sz="1100" i="1" dirty="0">
                <a:solidFill>
                  <a:srgbClr val="F5F5F5"/>
                </a:solidFill>
                <a:latin typeface="Arial" pitchFamily="34" charset="0"/>
                <a:ea typeface="Arial" pitchFamily="34" charset="-122"/>
                <a:cs typeface="Arial" pitchFamily="34" charset="-120"/>
              </a:rPr>
              <a:t>Metrics provide objective, data-driven evidence of software quality. Every metric must be calculated, interpreted, and acted upon — not just reported.</a:t>
            </a:r>
            <a:endParaRPr lang="en-US" sz="1100" dirty="0"/>
          </a:p>
        </p:txBody>
      </p:sp>
      <p:sp>
        <p:nvSpPr>
          <p:cNvPr id="9" name="Shape 7"/>
          <p:cNvSpPr/>
          <p:nvPr/>
        </p:nvSpPr>
        <p:spPr>
          <a:xfrm>
            <a:off x="182880" y="1261872"/>
            <a:ext cx="4315968" cy="171907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0" name="Shape 8"/>
          <p:cNvSpPr/>
          <p:nvPr/>
        </p:nvSpPr>
        <p:spPr>
          <a:xfrm>
            <a:off x="182880" y="1261872"/>
            <a:ext cx="4315968" cy="320040"/>
          </a:xfrm>
          <a:prstGeom prst="rect">
            <a:avLst/>
          </a:prstGeom>
          <a:solidFill>
            <a:srgbClr val="E8650A"/>
          </a:solidFill>
          <a:ln w="12700">
            <a:solidFill>
              <a:srgbClr val="E8650A"/>
            </a:solidFill>
            <a:prstDash val="solid"/>
          </a:ln>
        </p:spPr>
      </p:sp>
      <p:sp>
        <p:nvSpPr>
          <p:cNvPr id="11" name="Text 9"/>
          <p:cNvSpPr/>
          <p:nvPr/>
        </p:nvSpPr>
        <p:spPr>
          <a:xfrm>
            <a:off x="274320" y="1261872"/>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Test Coverage</a:t>
            </a:r>
            <a:endParaRPr lang="en-US" sz="1300" dirty="0"/>
          </a:p>
        </p:txBody>
      </p:sp>
      <p:sp>
        <p:nvSpPr>
          <p:cNvPr id="12" name="Text 10"/>
          <p:cNvSpPr/>
          <p:nvPr/>
        </p:nvSpPr>
        <p:spPr>
          <a:xfrm>
            <a:off x="274320" y="1627632"/>
            <a:ext cx="4160520" cy="1316736"/>
          </a:xfrm>
          <a:prstGeom prst="rect">
            <a:avLst/>
          </a:prstGeom>
          <a:noFill/>
          <a:ln/>
        </p:spPr>
        <p:txBody>
          <a:bodyPr wrap="square" lIns="0" tIns="0" rIns="0" bIns="0" rtlCol="0" anchor="ctr"/>
          <a:lstStyle/>
          <a:p>
            <a:pPr marL="0" indent="0">
              <a:spcAft>
                <a:spcPts val="300"/>
              </a:spcAft>
              <a:buNone/>
            </a:pPr>
            <a:r>
              <a:rPr lang="en-US" sz="1050" b="1" dirty="0">
                <a:solidFill>
                  <a:srgbClr val="F5F5F5"/>
                </a:solidFill>
                <a:latin typeface="Arial" pitchFamily="34" charset="0"/>
                <a:ea typeface="Arial" pitchFamily="34" charset="-122"/>
                <a:cs typeface="Arial" pitchFamily="34" charset="-120"/>
              </a:rPr>
              <a:t>Definition: </a:t>
            </a:r>
            <a:r>
              <a:rPr lang="en-US" sz="1050" dirty="0">
                <a:solidFill>
                  <a:srgbClr val="F5F5F5"/>
                </a:solidFill>
                <a:latin typeface="Arial" pitchFamily="34" charset="0"/>
                <a:ea typeface="Arial" pitchFamily="34" charset="-122"/>
                <a:cs typeface="Arial" pitchFamily="34" charset="-120"/>
              </a:rPr>
              <a:t>Percentage of requirements, user stories, or code paths covered by test cases.
</a:t>
            </a:r>
            <a:r>
              <a:rPr lang="en-US" sz="1050" b="1" dirty="0">
                <a:solidFill>
                  <a:srgbClr val="F5F5F5"/>
                </a:solidFill>
                <a:latin typeface="Arial" pitchFamily="34" charset="0"/>
                <a:ea typeface="Arial" pitchFamily="34" charset="-122"/>
                <a:cs typeface="Arial" pitchFamily="34" charset="-120"/>
              </a:rPr>
              <a:t>Formula: </a:t>
            </a:r>
            <a:r>
              <a:rPr lang="en-US" sz="1050" dirty="0">
                <a:solidFill>
                  <a:srgbClr val="F5F5F5"/>
                </a:solidFill>
                <a:latin typeface="Arial" pitchFamily="34" charset="0"/>
                <a:ea typeface="Arial" pitchFamily="34" charset="-122"/>
                <a:cs typeface="Arial" pitchFamily="34" charset="-120"/>
              </a:rPr>
              <a:t>(No. of Requirements with Test Cases / Total Requirements) × 100
</a:t>
            </a:r>
            <a:r>
              <a:rPr lang="en-US" sz="1050" b="1" dirty="0">
                <a:solidFill>
                  <a:srgbClr val="F5F5F5"/>
                </a:solidFill>
                <a:latin typeface="Arial" pitchFamily="34" charset="0"/>
                <a:ea typeface="Arial" pitchFamily="34" charset="-122"/>
                <a:cs typeface="Arial" pitchFamily="34" charset="-120"/>
              </a:rPr>
              <a:t>Example: </a:t>
            </a:r>
            <a:r>
              <a:rPr lang="en-US" sz="1050" dirty="0">
                <a:solidFill>
                  <a:srgbClr val="F5F5F5"/>
                </a:solidFill>
                <a:latin typeface="Arial" pitchFamily="34" charset="0"/>
                <a:ea typeface="Arial" pitchFamily="34" charset="-122"/>
                <a:cs typeface="Arial" pitchFamily="34" charset="-120"/>
              </a:rPr>
              <a:t>120 requirements, 102 have test cases → 85% coverage.
</a:t>
            </a:r>
            <a:r>
              <a:rPr lang="en-US" sz="1050" b="1" dirty="0">
                <a:solidFill>
                  <a:srgbClr val="F5F5F5"/>
                </a:solidFill>
                <a:latin typeface="Arial" pitchFamily="34" charset="0"/>
                <a:ea typeface="Arial" pitchFamily="34" charset="-122"/>
                <a:cs typeface="Arial" pitchFamily="34" charset="-120"/>
              </a:rPr>
              <a:t>Interpretation: </a:t>
            </a:r>
            <a:r>
              <a:rPr lang="en-US" sz="1050" dirty="0">
                <a:solidFill>
                  <a:srgbClr val="F5F5F5"/>
                </a:solidFill>
                <a:latin typeface="Arial" pitchFamily="34" charset="0"/>
                <a:ea typeface="Arial" pitchFamily="34" charset="-122"/>
                <a:cs typeface="Arial" pitchFamily="34" charset="-120"/>
              </a:rPr>
              <a:t>Target ≥90%. Below 80% = high undetected risk. Coverage gaps must be documented and approved.</a:t>
            </a:r>
            <a:endParaRPr lang="en-US" sz="1050" dirty="0"/>
          </a:p>
        </p:txBody>
      </p:sp>
      <p:sp>
        <p:nvSpPr>
          <p:cNvPr id="13" name="Shape 11"/>
          <p:cNvSpPr/>
          <p:nvPr/>
        </p:nvSpPr>
        <p:spPr>
          <a:xfrm>
            <a:off x="4663440" y="1261872"/>
            <a:ext cx="4315968" cy="171907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4" name="Shape 12"/>
          <p:cNvSpPr/>
          <p:nvPr/>
        </p:nvSpPr>
        <p:spPr>
          <a:xfrm>
            <a:off x="4663440" y="1261872"/>
            <a:ext cx="4315968" cy="320040"/>
          </a:xfrm>
          <a:prstGeom prst="rect">
            <a:avLst/>
          </a:prstGeom>
          <a:solidFill>
            <a:srgbClr val="C4500A"/>
          </a:solidFill>
          <a:ln w="12700">
            <a:solidFill>
              <a:srgbClr val="C4500A"/>
            </a:solidFill>
            <a:prstDash val="solid"/>
          </a:ln>
        </p:spPr>
      </p:sp>
      <p:sp>
        <p:nvSpPr>
          <p:cNvPr id="15" name="Text 13"/>
          <p:cNvSpPr/>
          <p:nvPr/>
        </p:nvSpPr>
        <p:spPr>
          <a:xfrm>
            <a:off x="4754880" y="1261872"/>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Defect Density</a:t>
            </a:r>
            <a:endParaRPr lang="en-US" sz="1300" dirty="0"/>
          </a:p>
        </p:txBody>
      </p:sp>
      <p:sp>
        <p:nvSpPr>
          <p:cNvPr id="16" name="Text 14"/>
          <p:cNvSpPr/>
          <p:nvPr/>
        </p:nvSpPr>
        <p:spPr>
          <a:xfrm>
            <a:off x="4754880" y="1627632"/>
            <a:ext cx="4160520" cy="1316736"/>
          </a:xfrm>
          <a:prstGeom prst="rect">
            <a:avLst/>
          </a:prstGeom>
          <a:noFill/>
          <a:ln/>
        </p:spPr>
        <p:txBody>
          <a:bodyPr wrap="square" lIns="0" tIns="0" rIns="0" bIns="0" rtlCol="0" anchor="ctr"/>
          <a:lstStyle/>
          <a:p>
            <a:pPr marL="0" indent="0">
              <a:spcAft>
                <a:spcPts val="300"/>
              </a:spcAft>
              <a:buNone/>
            </a:pPr>
            <a:r>
              <a:rPr lang="en-US" sz="1050" b="1" dirty="0">
                <a:solidFill>
                  <a:srgbClr val="F5F5F5"/>
                </a:solidFill>
                <a:latin typeface="Arial" pitchFamily="34" charset="0"/>
                <a:ea typeface="Arial" pitchFamily="34" charset="-122"/>
                <a:cs typeface="Arial" pitchFamily="34" charset="-120"/>
              </a:rPr>
              <a:t>Definition: </a:t>
            </a:r>
            <a:r>
              <a:rPr lang="en-US" sz="1050" dirty="0">
                <a:solidFill>
                  <a:srgbClr val="F5F5F5"/>
                </a:solidFill>
                <a:latin typeface="Arial" pitchFamily="34" charset="0"/>
                <a:ea typeface="Arial" pitchFamily="34" charset="-122"/>
                <a:cs typeface="Arial" pitchFamily="34" charset="-120"/>
              </a:rPr>
              <a:t>Number of defects per unit of software size (e.g., per 1,000 lines of code or function point).
</a:t>
            </a:r>
            <a:r>
              <a:rPr lang="en-US" sz="1050" b="1" dirty="0">
                <a:solidFill>
                  <a:srgbClr val="F5F5F5"/>
                </a:solidFill>
                <a:latin typeface="Arial" pitchFamily="34" charset="0"/>
                <a:ea typeface="Arial" pitchFamily="34" charset="-122"/>
                <a:cs typeface="Arial" pitchFamily="34" charset="-120"/>
              </a:rPr>
              <a:t>Formula: </a:t>
            </a:r>
            <a:r>
              <a:rPr lang="en-US" sz="1050" dirty="0">
                <a:solidFill>
                  <a:srgbClr val="F5F5F5"/>
                </a:solidFill>
                <a:latin typeface="Arial" pitchFamily="34" charset="0"/>
                <a:ea typeface="Arial" pitchFamily="34" charset="-122"/>
                <a:cs typeface="Arial" pitchFamily="34" charset="-120"/>
              </a:rPr>
              <a:t>Defects Found / Size of Software (KLOC or FP)
</a:t>
            </a:r>
            <a:r>
              <a:rPr lang="en-US" sz="1050" b="1" dirty="0">
                <a:solidFill>
                  <a:srgbClr val="F5F5F5"/>
                </a:solidFill>
                <a:latin typeface="Arial" pitchFamily="34" charset="0"/>
                <a:ea typeface="Arial" pitchFamily="34" charset="-122"/>
                <a:cs typeface="Arial" pitchFamily="34" charset="-120"/>
              </a:rPr>
              <a:t>Example: </a:t>
            </a:r>
            <a:r>
              <a:rPr lang="en-US" sz="1050" dirty="0">
                <a:solidFill>
                  <a:srgbClr val="F5F5F5"/>
                </a:solidFill>
                <a:latin typeface="Arial" pitchFamily="34" charset="0"/>
                <a:ea typeface="Arial" pitchFamily="34" charset="-122"/>
                <a:cs typeface="Arial" pitchFamily="34" charset="-120"/>
              </a:rPr>
              <a:t>45 defects in a 15 KLOC codebase → Density = 3 defects/KLOC.
</a:t>
            </a:r>
            <a:r>
              <a:rPr lang="en-US" sz="1050" b="1" dirty="0">
                <a:solidFill>
                  <a:srgbClr val="F5F5F5"/>
                </a:solidFill>
                <a:latin typeface="Arial" pitchFamily="34" charset="0"/>
                <a:ea typeface="Arial" pitchFamily="34" charset="-122"/>
                <a:cs typeface="Arial" pitchFamily="34" charset="-120"/>
              </a:rPr>
              <a:t>Interpretation: </a:t>
            </a:r>
            <a:r>
              <a:rPr lang="en-US" sz="1050" dirty="0">
                <a:solidFill>
                  <a:srgbClr val="F5F5F5"/>
                </a:solidFill>
                <a:latin typeface="Arial" pitchFamily="34" charset="0"/>
                <a:ea typeface="Arial" pitchFamily="34" charset="-122"/>
                <a:cs typeface="Arial" pitchFamily="34" charset="-120"/>
              </a:rPr>
              <a:t>Industry average is 1-3/KLOC. High density = quality issues in dev process needing root cause analysis.</a:t>
            </a:r>
            <a:endParaRPr lang="en-US" sz="1050" dirty="0"/>
          </a:p>
        </p:txBody>
      </p:sp>
      <p:sp>
        <p:nvSpPr>
          <p:cNvPr id="17" name="Shape 15"/>
          <p:cNvSpPr/>
          <p:nvPr/>
        </p:nvSpPr>
        <p:spPr>
          <a:xfrm>
            <a:off x="182880" y="3090672"/>
            <a:ext cx="4315968" cy="171907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8" name="Shape 16"/>
          <p:cNvSpPr/>
          <p:nvPr/>
        </p:nvSpPr>
        <p:spPr>
          <a:xfrm>
            <a:off x="182880" y="3090672"/>
            <a:ext cx="4315968" cy="320040"/>
          </a:xfrm>
          <a:prstGeom prst="rect">
            <a:avLst/>
          </a:prstGeom>
          <a:solidFill>
            <a:srgbClr val="E8650A"/>
          </a:solidFill>
          <a:ln w="12700">
            <a:solidFill>
              <a:srgbClr val="E8650A"/>
            </a:solidFill>
            <a:prstDash val="solid"/>
          </a:ln>
        </p:spPr>
      </p:sp>
      <p:sp>
        <p:nvSpPr>
          <p:cNvPr id="19" name="Text 17"/>
          <p:cNvSpPr/>
          <p:nvPr/>
        </p:nvSpPr>
        <p:spPr>
          <a:xfrm>
            <a:off x="274320" y="3090672"/>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Defect Leakage</a:t>
            </a:r>
            <a:endParaRPr lang="en-US" sz="1300" dirty="0"/>
          </a:p>
        </p:txBody>
      </p:sp>
      <p:sp>
        <p:nvSpPr>
          <p:cNvPr id="20" name="Text 18"/>
          <p:cNvSpPr/>
          <p:nvPr/>
        </p:nvSpPr>
        <p:spPr>
          <a:xfrm>
            <a:off x="274320" y="3456432"/>
            <a:ext cx="4160520" cy="1316736"/>
          </a:xfrm>
          <a:prstGeom prst="rect">
            <a:avLst/>
          </a:prstGeom>
          <a:noFill/>
          <a:ln/>
        </p:spPr>
        <p:txBody>
          <a:bodyPr wrap="square" lIns="0" tIns="0" rIns="0" bIns="0" rtlCol="0" anchor="ctr"/>
          <a:lstStyle/>
          <a:p>
            <a:pPr marL="0" indent="0">
              <a:spcAft>
                <a:spcPts val="300"/>
              </a:spcAft>
              <a:buNone/>
            </a:pPr>
            <a:r>
              <a:rPr lang="en-US" sz="1050" b="1" dirty="0">
                <a:solidFill>
                  <a:srgbClr val="F5F5F5"/>
                </a:solidFill>
                <a:latin typeface="Arial" pitchFamily="34" charset="0"/>
                <a:ea typeface="Arial" pitchFamily="34" charset="-122"/>
                <a:cs typeface="Arial" pitchFamily="34" charset="-120"/>
              </a:rPr>
              <a:t>Definition: </a:t>
            </a:r>
            <a:r>
              <a:rPr lang="en-US" sz="1050" dirty="0">
                <a:solidFill>
                  <a:srgbClr val="F5F5F5"/>
                </a:solidFill>
                <a:latin typeface="Arial" pitchFamily="34" charset="0"/>
                <a:ea typeface="Arial" pitchFamily="34" charset="-122"/>
                <a:cs typeface="Arial" pitchFamily="34" charset="-120"/>
              </a:rPr>
              <a:t>Defects that escape QA testing and are found by users in production (post-release).
</a:t>
            </a:r>
            <a:r>
              <a:rPr lang="en-US" sz="1050" b="1" dirty="0">
                <a:solidFill>
                  <a:srgbClr val="F5F5F5"/>
                </a:solidFill>
                <a:latin typeface="Arial" pitchFamily="34" charset="0"/>
                <a:ea typeface="Arial" pitchFamily="34" charset="-122"/>
                <a:cs typeface="Arial" pitchFamily="34" charset="-120"/>
              </a:rPr>
              <a:t>Formula: </a:t>
            </a:r>
            <a:r>
              <a:rPr lang="en-US" sz="1050" dirty="0">
                <a:solidFill>
                  <a:srgbClr val="F5F5F5"/>
                </a:solidFill>
                <a:latin typeface="Arial" pitchFamily="34" charset="0"/>
                <a:ea typeface="Arial" pitchFamily="34" charset="-122"/>
                <a:cs typeface="Arial" pitchFamily="34" charset="-120"/>
              </a:rPr>
              <a:t>(Production Defects / Total Defects Found) × 100
</a:t>
            </a:r>
            <a:r>
              <a:rPr lang="en-US" sz="1050" b="1" dirty="0">
                <a:solidFill>
                  <a:srgbClr val="F5F5F5"/>
                </a:solidFill>
                <a:latin typeface="Arial" pitchFamily="34" charset="0"/>
                <a:ea typeface="Arial" pitchFamily="34" charset="-122"/>
                <a:cs typeface="Arial" pitchFamily="34" charset="-120"/>
              </a:rPr>
              <a:t>Example: </a:t>
            </a:r>
            <a:r>
              <a:rPr lang="en-US" sz="1050" dirty="0">
                <a:solidFill>
                  <a:srgbClr val="F5F5F5"/>
                </a:solidFill>
                <a:latin typeface="Arial" pitchFamily="34" charset="0"/>
                <a:ea typeface="Arial" pitchFamily="34" charset="-122"/>
                <a:cs typeface="Arial" pitchFamily="34" charset="-120"/>
              </a:rPr>
              <a:t>5 production defects out of 120 total = 4.2% leakage.
</a:t>
            </a:r>
            <a:r>
              <a:rPr lang="en-US" sz="1050" b="1" dirty="0">
                <a:solidFill>
                  <a:srgbClr val="F5F5F5"/>
                </a:solidFill>
                <a:latin typeface="Arial" pitchFamily="34" charset="0"/>
                <a:ea typeface="Arial" pitchFamily="34" charset="-122"/>
                <a:cs typeface="Arial" pitchFamily="34" charset="-120"/>
              </a:rPr>
              <a:t>Interpretation: </a:t>
            </a:r>
            <a:r>
              <a:rPr lang="en-US" sz="1050" dirty="0">
                <a:solidFill>
                  <a:srgbClr val="F5F5F5"/>
                </a:solidFill>
                <a:latin typeface="Arial" pitchFamily="34" charset="0"/>
                <a:ea typeface="Arial" pitchFamily="34" charset="-122"/>
                <a:cs typeface="Arial" pitchFamily="34" charset="-120"/>
              </a:rPr>
              <a:t>Target &lt;2%. High leakage signals gaps in test coverage, test design quality, or execution thoroughness.</a:t>
            </a:r>
            <a:endParaRPr lang="en-US" sz="1050" dirty="0"/>
          </a:p>
        </p:txBody>
      </p:sp>
      <p:sp>
        <p:nvSpPr>
          <p:cNvPr id="21" name="Shape 19"/>
          <p:cNvSpPr/>
          <p:nvPr/>
        </p:nvSpPr>
        <p:spPr>
          <a:xfrm>
            <a:off x="4663440" y="3090672"/>
            <a:ext cx="4315968" cy="171907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2" name="Shape 20"/>
          <p:cNvSpPr/>
          <p:nvPr/>
        </p:nvSpPr>
        <p:spPr>
          <a:xfrm>
            <a:off x="4663440" y="3090672"/>
            <a:ext cx="4315968" cy="320040"/>
          </a:xfrm>
          <a:prstGeom prst="rect">
            <a:avLst/>
          </a:prstGeom>
          <a:solidFill>
            <a:srgbClr val="C4500A"/>
          </a:solidFill>
          <a:ln w="12700">
            <a:solidFill>
              <a:srgbClr val="C4500A"/>
            </a:solidFill>
            <a:prstDash val="solid"/>
          </a:ln>
        </p:spPr>
      </p:sp>
      <p:sp>
        <p:nvSpPr>
          <p:cNvPr id="23" name="Text 21"/>
          <p:cNvSpPr/>
          <p:nvPr/>
        </p:nvSpPr>
        <p:spPr>
          <a:xfrm>
            <a:off x="4754880" y="3090672"/>
            <a:ext cx="4114800" cy="32004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Execution Rate &amp; Pass Rate</a:t>
            </a:r>
            <a:endParaRPr lang="en-US" sz="1300" dirty="0"/>
          </a:p>
        </p:txBody>
      </p:sp>
      <p:sp>
        <p:nvSpPr>
          <p:cNvPr id="24" name="Text 22"/>
          <p:cNvSpPr/>
          <p:nvPr/>
        </p:nvSpPr>
        <p:spPr>
          <a:xfrm>
            <a:off x="4754880" y="3456432"/>
            <a:ext cx="4160520" cy="1316736"/>
          </a:xfrm>
          <a:prstGeom prst="rect">
            <a:avLst/>
          </a:prstGeom>
          <a:noFill/>
          <a:ln/>
        </p:spPr>
        <p:txBody>
          <a:bodyPr wrap="square" lIns="0" tIns="0" rIns="0" bIns="0" rtlCol="0" anchor="ctr"/>
          <a:lstStyle/>
          <a:p>
            <a:pPr marL="0" indent="0">
              <a:spcAft>
                <a:spcPts val="300"/>
              </a:spcAft>
              <a:buNone/>
            </a:pPr>
            <a:r>
              <a:rPr lang="en-US" sz="1050" b="1" dirty="0">
                <a:solidFill>
                  <a:srgbClr val="F5F5F5"/>
                </a:solidFill>
                <a:latin typeface="Arial" pitchFamily="34" charset="0"/>
                <a:ea typeface="Arial" pitchFamily="34" charset="-122"/>
                <a:cs typeface="Arial" pitchFamily="34" charset="-120"/>
              </a:rPr>
              <a:t>Execution Rate: </a:t>
            </a:r>
            <a:r>
              <a:rPr lang="en-US" sz="1050" dirty="0">
                <a:solidFill>
                  <a:srgbClr val="F5F5F5"/>
                </a:solidFill>
                <a:latin typeface="Arial" pitchFamily="34" charset="0"/>
                <a:ea typeface="Arial" pitchFamily="34" charset="-122"/>
                <a:cs typeface="Arial" pitchFamily="34" charset="-120"/>
              </a:rPr>
              <a:t>(Executed / Planned) × 100  → Target: ≥90%
</a:t>
            </a:r>
            <a:r>
              <a:rPr lang="en-US" sz="1050" b="1" dirty="0">
                <a:solidFill>
                  <a:srgbClr val="F5F5F5"/>
                </a:solidFill>
                <a:latin typeface="Arial" pitchFamily="34" charset="0"/>
                <a:ea typeface="Arial" pitchFamily="34" charset="-122"/>
                <a:cs typeface="Arial" pitchFamily="34" charset="-120"/>
              </a:rPr>
              <a:t>Pass Rate: </a:t>
            </a:r>
            <a:r>
              <a:rPr lang="en-US" sz="1050" dirty="0">
                <a:solidFill>
                  <a:srgbClr val="F5F5F5"/>
                </a:solidFill>
                <a:latin typeface="Arial" pitchFamily="34" charset="0"/>
                <a:ea typeface="Arial" pitchFamily="34" charset="-122"/>
                <a:cs typeface="Arial" pitchFamily="34" charset="-120"/>
              </a:rPr>
              <a:t>(Passed / Executed) × 100  → Target: ≥90% for release
</a:t>
            </a:r>
            <a:r>
              <a:rPr lang="en-US" sz="1050" b="1" dirty="0">
                <a:solidFill>
                  <a:srgbClr val="F5F5F5"/>
                </a:solidFill>
                <a:latin typeface="Arial" pitchFamily="34" charset="0"/>
                <a:ea typeface="Arial" pitchFamily="34" charset="-122"/>
                <a:cs typeface="Arial" pitchFamily="34" charset="-120"/>
              </a:rPr>
              <a:t>Fail Rate: </a:t>
            </a:r>
            <a:r>
              <a:rPr lang="en-US" sz="1050" dirty="0">
                <a:solidFill>
                  <a:srgbClr val="F5F5F5"/>
                </a:solidFill>
                <a:latin typeface="Arial" pitchFamily="34" charset="0"/>
                <a:ea typeface="Arial" pitchFamily="34" charset="-122"/>
                <a:cs typeface="Arial" pitchFamily="34" charset="-120"/>
              </a:rPr>
              <a:t>(Failed / Executed) × 100  → Target: &lt;10% at release gate
</a:t>
            </a:r>
            <a:r>
              <a:rPr lang="en-US" sz="1050" b="1" dirty="0">
                <a:solidFill>
                  <a:srgbClr val="F5F5F5"/>
                </a:solidFill>
                <a:latin typeface="Arial" pitchFamily="34" charset="0"/>
                <a:ea typeface="Arial" pitchFamily="34" charset="-122"/>
                <a:cs typeface="Arial" pitchFamily="34" charset="-120"/>
              </a:rPr>
              <a:t>Example: </a:t>
            </a:r>
            <a:r>
              <a:rPr lang="en-US" sz="1050" dirty="0">
                <a:solidFill>
                  <a:srgbClr val="F5F5F5"/>
                </a:solidFill>
                <a:latin typeface="Arial" pitchFamily="34" charset="0"/>
                <a:ea typeface="Arial" pitchFamily="34" charset="-122"/>
                <a:cs typeface="Arial" pitchFamily="34" charset="-120"/>
              </a:rPr>
              <a:t>340 executed of 400 (85%). 294 passed = 86.5% pass rate. Both below threshold — release blocked.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06</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Defect Management</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Process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From Discovery to Resolution — The Full Lifecycle</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Defect Lifecycle — States &amp; Transitions</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06  |  DEFECT MANAGEMENT</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347472"/>
          </a:xfrm>
          <a:prstGeom prst="rect">
            <a:avLst/>
          </a:prstGeom>
          <a:noFill/>
          <a:ln/>
        </p:spPr>
        <p:txBody>
          <a:bodyPr wrap="square" lIns="0" tIns="0" rIns="0" bIns="0" rtlCol="0" anchor="ctr"/>
          <a:lstStyle/>
          <a:p>
            <a:pPr marL="0" indent="0">
              <a:buNone/>
            </a:pPr>
            <a:r>
              <a:rPr lang="en-US" sz="1100" i="1" dirty="0">
                <a:solidFill>
                  <a:srgbClr val="F5F5F5"/>
                </a:solidFill>
                <a:latin typeface="Arial" pitchFamily="34" charset="0"/>
                <a:ea typeface="Arial" pitchFamily="34" charset="-122"/>
                <a:cs typeface="Arial" pitchFamily="34" charset="-120"/>
              </a:rPr>
              <a:t>Every defect follows a defined lifecycle from initial discovery to final resolution. Skipping states or miscategorising defects compromises quality tracking accuracy.</a:t>
            </a:r>
            <a:endParaRPr lang="en-US" sz="1100" dirty="0"/>
          </a:p>
        </p:txBody>
      </p:sp>
      <p:sp>
        <p:nvSpPr>
          <p:cNvPr id="9" name="Shape 7"/>
          <p:cNvSpPr/>
          <p:nvPr/>
        </p:nvSpPr>
        <p:spPr>
          <a:xfrm>
            <a:off x="182880" y="1261872"/>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0" name="Shape 8"/>
          <p:cNvSpPr/>
          <p:nvPr/>
        </p:nvSpPr>
        <p:spPr>
          <a:xfrm>
            <a:off x="182880" y="1261872"/>
            <a:ext cx="960120" cy="859536"/>
          </a:xfrm>
          <a:prstGeom prst="rect">
            <a:avLst/>
          </a:prstGeom>
          <a:solidFill>
            <a:srgbClr val="3A6EA5"/>
          </a:solidFill>
          <a:ln w="12700">
            <a:solidFill>
              <a:srgbClr val="3A6EA5"/>
            </a:solidFill>
            <a:prstDash val="solid"/>
          </a:ln>
        </p:spPr>
      </p:sp>
      <p:sp>
        <p:nvSpPr>
          <p:cNvPr id="11" name="Text 9"/>
          <p:cNvSpPr/>
          <p:nvPr/>
        </p:nvSpPr>
        <p:spPr>
          <a:xfrm>
            <a:off x="182880" y="1261872"/>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NEW</a:t>
            </a:r>
            <a:endParaRPr lang="en-US" sz="1100" dirty="0"/>
          </a:p>
        </p:txBody>
      </p:sp>
      <p:sp>
        <p:nvSpPr>
          <p:cNvPr id="12" name="Text 10"/>
          <p:cNvSpPr/>
          <p:nvPr/>
        </p:nvSpPr>
        <p:spPr>
          <a:xfrm>
            <a:off x="1234440" y="1417320"/>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Tester discovers and logs defect with full details (steps, expected, actual, screenshots).</a:t>
            </a:r>
            <a:endParaRPr lang="en-US" sz="1050" dirty="0"/>
          </a:p>
        </p:txBody>
      </p:sp>
      <p:sp>
        <p:nvSpPr>
          <p:cNvPr id="13" name="Shape 11"/>
          <p:cNvSpPr/>
          <p:nvPr/>
        </p:nvSpPr>
        <p:spPr>
          <a:xfrm>
            <a:off x="4663440" y="1261872"/>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4" name="Shape 12"/>
          <p:cNvSpPr/>
          <p:nvPr/>
        </p:nvSpPr>
        <p:spPr>
          <a:xfrm>
            <a:off x="4663440" y="1261872"/>
            <a:ext cx="960120" cy="859536"/>
          </a:xfrm>
          <a:prstGeom prst="rect">
            <a:avLst/>
          </a:prstGeom>
          <a:solidFill>
            <a:srgbClr val="E8650A"/>
          </a:solidFill>
          <a:ln w="12700">
            <a:solidFill>
              <a:srgbClr val="E8650A"/>
            </a:solidFill>
            <a:prstDash val="solid"/>
          </a:ln>
        </p:spPr>
      </p:sp>
      <p:sp>
        <p:nvSpPr>
          <p:cNvPr id="15" name="Text 13"/>
          <p:cNvSpPr/>
          <p:nvPr/>
        </p:nvSpPr>
        <p:spPr>
          <a:xfrm>
            <a:off x="4663440" y="1261872"/>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ASSIGNED</a:t>
            </a:r>
            <a:endParaRPr lang="en-US" sz="1100" dirty="0"/>
          </a:p>
        </p:txBody>
      </p:sp>
      <p:sp>
        <p:nvSpPr>
          <p:cNvPr id="16" name="Text 14"/>
          <p:cNvSpPr/>
          <p:nvPr/>
        </p:nvSpPr>
        <p:spPr>
          <a:xfrm>
            <a:off x="5715000" y="1417320"/>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Test Lead reviews and assigns to responsible developer based on module ownership.</a:t>
            </a:r>
            <a:endParaRPr lang="en-US" sz="1050" dirty="0"/>
          </a:p>
        </p:txBody>
      </p:sp>
      <p:sp>
        <p:nvSpPr>
          <p:cNvPr id="17" name="Shape 15"/>
          <p:cNvSpPr/>
          <p:nvPr/>
        </p:nvSpPr>
        <p:spPr>
          <a:xfrm>
            <a:off x="182880" y="2194560"/>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8" name="Shape 16"/>
          <p:cNvSpPr/>
          <p:nvPr/>
        </p:nvSpPr>
        <p:spPr>
          <a:xfrm>
            <a:off x="182880" y="2194560"/>
            <a:ext cx="960120" cy="859536"/>
          </a:xfrm>
          <a:prstGeom prst="rect">
            <a:avLst/>
          </a:prstGeom>
          <a:solidFill>
            <a:srgbClr val="8B6914"/>
          </a:solidFill>
          <a:ln w="12700">
            <a:solidFill>
              <a:srgbClr val="8B6914"/>
            </a:solidFill>
            <a:prstDash val="solid"/>
          </a:ln>
        </p:spPr>
      </p:sp>
      <p:sp>
        <p:nvSpPr>
          <p:cNvPr id="19" name="Text 17"/>
          <p:cNvSpPr/>
          <p:nvPr/>
        </p:nvSpPr>
        <p:spPr>
          <a:xfrm>
            <a:off x="182880" y="2194560"/>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OPEN</a:t>
            </a:r>
            <a:endParaRPr lang="en-US" sz="1100" dirty="0"/>
          </a:p>
        </p:txBody>
      </p:sp>
      <p:sp>
        <p:nvSpPr>
          <p:cNvPr id="20" name="Text 18"/>
          <p:cNvSpPr/>
          <p:nvPr/>
        </p:nvSpPr>
        <p:spPr>
          <a:xfrm>
            <a:off x="1234440" y="2350008"/>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Developer acknowledges the defect and begins investigation and fix implementation.</a:t>
            </a:r>
            <a:endParaRPr lang="en-US" sz="1050" dirty="0"/>
          </a:p>
        </p:txBody>
      </p:sp>
      <p:sp>
        <p:nvSpPr>
          <p:cNvPr id="21" name="Shape 19"/>
          <p:cNvSpPr/>
          <p:nvPr/>
        </p:nvSpPr>
        <p:spPr>
          <a:xfrm>
            <a:off x="4663440" y="2194560"/>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2" name="Shape 20"/>
          <p:cNvSpPr/>
          <p:nvPr/>
        </p:nvSpPr>
        <p:spPr>
          <a:xfrm>
            <a:off x="4663440" y="2194560"/>
            <a:ext cx="960120" cy="859536"/>
          </a:xfrm>
          <a:prstGeom prst="rect">
            <a:avLst/>
          </a:prstGeom>
          <a:solidFill>
            <a:srgbClr val="2E8B57"/>
          </a:solidFill>
          <a:ln w="12700">
            <a:solidFill>
              <a:srgbClr val="2E8B57"/>
            </a:solidFill>
            <a:prstDash val="solid"/>
          </a:ln>
        </p:spPr>
      </p:sp>
      <p:sp>
        <p:nvSpPr>
          <p:cNvPr id="23" name="Text 21"/>
          <p:cNvSpPr/>
          <p:nvPr/>
        </p:nvSpPr>
        <p:spPr>
          <a:xfrm>
            <a:off x="4663440" y="2194560"/>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FIXED</a:t>
            </a:r>
            <a:endParaRPr lang="en-US" sz="1100" dirty="0"/>
          </a:p>
        </p:txBody>
      </p:sp>
      <p:sp>
        <p:nvSpPr>
          <p:cNvPr id="24" name="Text 22"/>
          <p:cNvSpPr/>
          <p:nvPr/>
        </p:nvSpPr>
        <p:spPr>
          <a:xfrm>
            <a:off x="5715000" y="2350008"/>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Developer completes the fix and marks the defect as ready for verification (code deployed to QA).</a:t>
            </a:r>
            <a:endParaRPr lang="en-US" sz="1050" dirty="0"/>
          </a:p>
        </p:txBody>
      </p:sp>
      <p:sp>
        <p:nvSpPr>
          <p:cNvPr id="25" name="Shape 23"/>
          <p:cNvSpPr/>
          <p:nvPr/>
        </p:nvSpPr>
        <p:spPr>
          <a:xfrm>
            <a:off x="182880" y="3127248"/>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6" name="Shape 24"/>
          <p:cNvSpPr/>
          <p:nvPr/>
        </p:nvSpPr>
        <p:spPr>
          <a:xfrm>
            <a:off x="182880" y="3127248"/>
            <a:ext cx="960120" cy="859536"/>
          </a:xfrm>
          <a:prstGeom prst="rect">
            <a:avLst/>
          </a:prstGeom>
          <a:solidFill>
            <a:srgbClr val="6A5ACD"/>
          </a:solidFill>
          <a:ln w="12700">
            <a:solidFill>
              <a:srgbClr val="6A5ACD"/>
            </a:solidFill>
            <a:prstDash val="solid"/>
          </a:ln>
        </p:spPr>
      </p:sp>
      <p:sp>
        <p:nvSpPr>
          <p:cNvPr id="27" name="Text 25"/>
          <p:cNvSpPr/>
          <p:nvPr/>
        </p:nvSpPr>
        <p:spPr>
          <a:xfrm>
            <a:off x="182880" y="3127248"/>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RETESTED</a:t>
            </a:r>
            <a:endParaRPr lang="en-US" sz="1100" dirty="0"/>
          </a:p>
        </p:txBody>
      </p:sp>
      <p:sp>
        <p:nvSpPr>
          <p:cNvPr id="28" name="Text 26"/>
          <p:cNvSpPr/>
          <p:nvPr/>
        </p:nvSpPr>
        <p:spPr>
          <a:xfrm>
            <a:off x="1234440" y="3282696"/>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Tester re-executes the original failing test case against the fix to verify resolution.</a:t>
            </a:r>
            <a:endParaRPr lang="en-US" sz="1050" dirty="0"/>
          </a:p>
        </p:txBody>
      </p:sp>
      <p:sp>
        <p:nvSpPr>
          <p:cNvPr id="29" name="Shape 27"/>
          <p:cNvSpPr/>
          <p:nvPr/>
        </p:nvSpPr>
        <p:spPr>
          <a:xfrm>
            <a:off x="4663440" y="3127248"/>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0" name="Shape 28"/>
          <p:cNvSpPr/>
          <p:nvPr/>
        </p:nvSpPr>
        <p:spPr>
          <a:xfrm>
            <a:off x="4663440" y="3127248"/>
            <a:ext cx="960120" cy="859536"/>
          </a:xfrm>
          <a:prstGeom prst="rect">
            <a:avLst/>
          </a:prstGeom>
          <a:solidFill>
            <a:srgbClr val="555555"/>
          </a:solidFill>
          <a:ln w="12700">
            <a:solidFill>
              <a:srgbClr val="555555"/>
            </a:solidFill>
            <a:prstDash val="solid"/>
          </a:ln>
        </p:spPr>
      </p:sp>
      <p:sp>
        <p:nvSpPr>
          <p:cNvPr id="31" name="Text 29"/>
          <p:cNvSpPr/>
          <p:nvPr/>
        </p:nvSpPr>
        <p:spPr>
          <a:xfrm>
            <a:off x="4663440" y="3127248"/>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CLOSED</a:t>
            </a:r>
            <a:endParaRPr lang="en-US" sz="1100" dirty="0"/>
          </a:p>
        </p:txBody>
      </p:sp>
      <p:sp>
        <p:nvSpPr>
          <p:cNvPr id="32" name="Text 30"/>
          <p:cNvSpPr/>
          <p:nvPr/>
        </p:nvSpPr>
        <p:spPr>
          <a:xfrm>
            <a:off x="5715000" y="3282696"/>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Defect confirmed resolved. Test Manager approves closure after successful retest.</a:t>
            </a:r>
            <a:endParaRPr lang="en-US" sz="1050" dirty="0"/>
          </a:p>
        </p:txBody>
      </p:sp>
      <p:sp>
        <p:nvSpPr>
          <p:cNvPr id="33" name="Shape 31"/>
          <p:cNvSpPr/>
          <p:nvPr/>
        </p:nvSpPr>
        <p:spPr>
          <a:xfrm>
            <a:off x="182880" y="4059936"/>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4" name="Shape 32"/>
          <p:cNvSpPr/>
          <p:nvPr/>
        </p:nvSpPr>
        <p:spPr>
          <a:xfrm>
            <a:off x="182880" y="4059936"/>
            <a:ext cx="960120" cy="859536"/>
          </a:xfrm>
          <a:prstGeom prst="rect">
            <a:avLst/>
          </a:prstGeom>
          <a:solidFill>
            <a:srgbClr val="CC2200"/>
          </a:solidFill>
          <a:ln w="12700">
            <a:solidFill>
              <a:srgbClr val="CC2200"/>
            </a:solidFill>
            <a:prstDash val="solid"/>
          </a:ln>
        </p:spPr>
      </p:sp>
      <p:sp>
        <p:nvSpPr>
          <p:cNvPr id="35" name="Text 33"/>
          <p:cNvSpPr/>
          <p:nvPr/>
        </p:nvSpPr>
        <p:spPr>
          <a:xfrm>
            <a:off x="182880" y="4059936"/>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REOPENED</a:t>
            </a:r>
            <a:endParaRPr lang="en-US" sz="1100" dirty="0"/>
          </a:p>
        </p:txBody>
      </p:sp>
      <p:sp>
        <p:nvSpPr>
          <p:cNvPr id="36" name="Text 34"/>
          <p:cNvSpPr/>
          <p:nvPr/>
        </p:nvSpPr>
        <p:spPr>
          <a:xfrm>
            <a:off x="1234440" y="4215384"/>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Fix was incomplete or introduced regression — defect re-enters the ASSIGNED state.</a:t>
            </a:r>
            <a:endParaRPr lang="en-US" sz="1050" dirty="0"/>
          </a:p>
        </p:txBody>
      </p:sp>
      <p:sp>
        <p:nvSpPr>
          <p:cNvPr id="37" name="Shape 35"/>
          <p:cNvSpPr/>
          <p:nvPr/>
        </p:nvSpPr>
        <p:spPr>
          <a:xfrm>
            <a:off x="4663440" y="4059936"/>
            <a:ext cx="4315968" cy="859536"/>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8" name="Shape 36"/>
          <p:cNvSpPr/>
          <p:nvPr/>
        </p:nvSpPr>
        <p:spPr>
          <a:xfrm>
            <a:off x="4663440" y="4059936"/>
            <a:ext cx="960120" cy="859536"/>
          </a:xfrm>
          <a:prstGeom prst="rect">
            <a:avLst/>
          </a:prstGeom>
          <a:solidFill>
            <a:srgbClr val="888888"/>
          </a:solidFill>
          <a:ln w="12700">
            <a:solidFill>
              <a:srgbClr val="888888"/>
            </a:solidFill>
            <a:prstDash val="solid"/>
          </a:ln>
        </p:spPr>
      </p:sp>
      <p:sp>
        <p:nvSpPr>
          <p:cNvPr id="39" name="Text 37"/>
          <p:cNvSpPr/>
          <p:nvPr/>
        </p:nvSpPr>
        <p:spPr>
          <a:xfrm>
            <a:off x="4663440" y="4059936"/>
            <a:ext cx="960120" cy="85953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Black" pitchFamily="34" charset="0"/>
                <a:ea typeface="Arial Black" pitchFamily="34" charset="-122"/>
                <a:cs typeface="Arial Black" pitchFamily="34" charset="-120"/>
              </a:rPr>
              <a:t>DEFERRED</a:t>
            </a:r>
            <a:endParaRPr lang="en-US" sz="1100" dirty="0"/>
          </a:p>
        </p:txBody>
      </p:sp>
      <p:sp>
        <p:nvSpPr>
          <p:cNvPr id="40" name="Text 38"/>
          <p:cNvSpPr/>
          <p:nvPr/>
        </p:nvSpPr>
        <p:spPr>
          <a:xfrm>
            <a:off x="5715000" y="4215384"/>
            <a:ext cx="3154680" cy="548640"/>
          </a:xfrm>
          <a:prstGeom prst="rect">
            <a:avLst/>
          </a:prstGeom>
          <a:noFill/>
          <a:ln/>
        </p:spPr>
        <p:txBody>
          <a:bodyPr wrap="square" lIns="0" tIns="0" rIns="0" bIns="0" rtlCol="0" anchor="ctr"/>
          <a:lstStyle/>
          <a:p>
            <a:pPr marL="0" indent="0">
              <a:buNone/>
            </a:pPr>
            <a:r>
              <a:rPr lang="en-US" sz="1050" dirty="0">
                <a:solidFill>
                  <a:srgbClr val="F5F5F5"/>
                </a:solidFill>
                <a:latin typeface="Arial" pitchFamily="34" charset="0"/>
                <a:ea typeface="Arial" pitchFamily="34" charset="-122"/>
                <a:cs typeface="Arial" pitchFamily="34" charset="-120"/>
              </a:rPr>
              <a:t>Defect acknowledged but postponed to a future release due to low priority or scope.</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Severity vs Priority &amp; Sample Defect Report</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06  |  DEFECT MANAGEMENT</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22960"/>
            <a:ext cx="8229600" cy="292608"/>
          </a:xfrm>
          <a:prstGeom prst="rect">
            <a:avLst/>
          </a:prstGeom>
          <a:noFill/>
          <a:ln/>
        </p:spPr>
        <p:txBody>
          <a:bodyPr wrap="square" lIns="0" tIns="0" rIns="0" bIns="0"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Severity vs Priority — A Critical Distinction:</a:t>
            </a:r>
            <a:endParaRPr lang="en-US" sz="1400" dirty="0"/>
          </a:p>
        </p:txBody>
      </p:sp>
      <p:sp>
        <p:nvSpPr>
          <p:cNvPr id="9" name="Shape 7"/>
          <p:cNvSpPr/>
          <p:nvPr/>
        </p:nvSpPr>
        <p:spPr>
          <a:xfrm>
            <a:off x="182880" y="1170432"/>
            <a:ext cx="4206240" cy="1389888"/>
          </a:xfrm>
          <a:prstGeom prst="rect">
            <a:avLst/>
          </a:prstGeom>
          <a:solidFill>
            <a:srgbClr val="0D0D0D"/>
          </a:solidFill>
          <a:ln w="12700">
            <a:solidFill>
              <a:srgbClr val="0D0D0D"/>
            </a:solidFill>
            <a:prstDash val="solid"/>
          </a:ln>
          <a:effectLst>
            <a:outerShdw blurRad="63500" dist="25400" dir="8100000" algn="bl" rotWithShape="0">
              <a:srgbClr val="000000">
                <a:alpha val="12000"/>
              </a:srgbClr>
            </a:outerShdw>
          </a:effectLst>
        </p:spPr>
      </p:sp>
      <p:sp>
        <p:nvSpPr>
          <p:cNvPr id="10" name="Text 8"/>
          <p:cNvSpPr/>
          <p:nvPr/>
        </p:nvSpPr>
        <p:spPr>
          <a:xfrm>
            <a:off x="274320" y="1234440"/>
            <a:ext cx="4023360" cy="256032"/>
          </a:xfrm>
          <a:prstGeom prst="rect">
            <a:avLst/>
          </a:prstGeom>
          <a:noFill/>
          <a:ln/>
        </p:spPr>
        <p:txBody>
          <a:bodyPr wrap="square" lIns="0" tIns="0" rIns="0" bIns="0" rtlCol="0" anchor="ctr"/>
          <a:lstStyle/>
          <a:p>
            <a:pPr marL="0" indent="0">
              <a:buNone/>
            </a:pPr>
            <a:r>
              <a:rPr lang="en-US" sz="1300" b="1" dirty="0">
                <a:solidFill>
                  <a:srgbClr val="E8650A"/>
                </a:solidFill>
                <a:latin typeface="Arial Black" pitchFamily="34" charset="0"/>
                <a:ea typeface="Arial Black" pitchFamily="34" charset="-122"/>
                <a:cs typeface="Arial Black" pitchFamily="34" charset="-120"/>
              </a:rPr>
              <a:t>SEVERITY</a:t>
            </a:r>
            <a:endParaRPr lang="en-US" sz="1300" dirty="0"/>
          </a:p>
        </p:txBody>
      </p:sp>
      <p:sp>
        <p:nvSpPr>
          <p:cNvPr id="11" name="Text 9"/>
          <p:cNvSpPr/>
          <p:nvPr/>
        </p:nvSpPr>
        <p:spPr>
          <a:xfrm>
            <a:off x="274320" y="1517904"/>
            <a:ext cx="397764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Measures the TECHNICAL IMPACT of the defect on system functionality. Assigned by the Tester.</a:t>
            </a:r>
            <a:endParaRPr lang="en-US" sz="1000" dirty="0"/>
          </a:p>
        </p:txBody>
      </p:sp>
      <p:sp>
        <p:nvSpPr>
          <p:cNvPr id="12" name="Text 10"/>
          <p:cNvSpPr/>
          <p:nvPr/>
        </p:nvSpPr>
        <p:spPr>
          <a:xfrm>
            <a:off x="274320" y="1847088"/>
            <a:ext cx="822960" cy="164592"/>
          </a:xfrm>
          <a:prstGeom prst="rect">
            <a:avLst/>
          </a:prstGeom>
          <a:noFill/>
          <a:ln/>
        </p:spPr>
        <p:txBody>
          <a:bodyPr wrap="square" lIns="0" tIns="0" rIns="0" bIns="0" rtlCol="0" anchor="ctr"/>
          <a:lstStyle/>
          <a:p>
            <a:pPr marL="0" indent="0">
              <a:buNone/>
            </a:pPr>
            <a:r>
              <a:rPr lang="en-US" sz="950" b="1" dirty="0">
                <a:solidFill>
                  <a:srgbClr val="CC0000"/>
                </a:solidFill>
                <a:latin typeface="Arial" pitchFamily="34" charset="0"/>
                <a:ea typeface="Arial" pitchFamily="34" charset="-122"/>
                <a:cs typeface="Arial" pitchFamily="34" charset="-120"/>
              </a:rPr>
              <a:t>Critical: </a:t>
            </a:r>
            <a:endParaRPr lang="en-US" sz="950" dirty="0"/>
          </a:p>
        </p:txBody>
      </p:sp>
      <p:sp>
        <p:nvSpPr>
          <p:cNvPr id="13" name="Text 11"/>
          <p:cNvSpPr/>
          <p:nvPr/>
        </p:nvSpPr>
        <p:spPr>
          <a:xfrm>
            <a:off x="1078992" y="1847088"/>
            <a:ext cx="320040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System crash, data loss, security breach</a:t>
            </a:r>
            <a:endParaRPr lang="en-US" sz="950" dirty="0"/>
          </a:p>
        </p:txBody>
      </p:sp>
      <p:sp>
        <p:nvSpPr>
          <p:cNvPr id="14" name="Text 12"/>
          <p:cNvSpPr/>
          <p:nvPr/>
        </p:nvSpPr>
        <p:spPr>
          <a:xfrm>
            <a:off x="274320" y="2020824"/>
            <a:ext cx="822960" cy="164592"/>
          </a:xfrm>
          <a:prstGeom prst="rect">
            <a:avLst/>
          </a:prstGeom>
          <a:noFill/>
          <a:ln/>
        </p:spPr>
        <p:txBody>
          <a:bodyPr wrap="square" lIns="0" tIns="0" rIns="0" bIns="0" rtlCol="0" anchor="ctr"/>
          <a:lstStyle/>
          <a:p>
            <a:pPr marL="0" indent="0">
              <a:buNone/>
            </a:pPr>
            <a:r>
              <a:rPr lang="en-US" sz="950" b="1" dirty="0">
                <a:solidFill>
                  <a:srgbClr val="FF6600"/>
                </a:solidFill>
                <a:latin typeface="Arial" pitchFamily="34" charset="0"/>
                <a:ea typeface="Arial" pitchFamily="34" charset="-122"/>
                <a:cs typeface="Arial" pitchFamily="34" charset="-120"/>
              </a:rPr>
              <a:t>High: </a:t>
            </a:r>
            <a:endParaRPr lang="en-US" sz="950" dirty="0"/>
          </a:p>
        </p:txBody>
      </p:sp>
      <p:sp>
        <p:nvSpPr>
          <p:cNvPr id="15" name="Text 13"/>
          <p:cNvSpPr/>
          <p:nvPr/>
        </p:nvSpPr>
        <p:spPr>
          <a:xfrm>
            <a:off x="1078992" y="2020824"/>
            <a:ext cx="320040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Major feature unusable</a:t>
            </a:r>
            <a:endParaRPr lang="en-US" sz="950" dirty="0"/>
          </a:p>
        </p:txBody>
      </p:sp>
      <p:sp>
        <p:nvSpPr>
          <p:cNvPr id="16" name="Text 14"/>
          <p:cNvSpPr/>
          <p:nvPr/>
        </p:nvSpPr>
        <p:spPr>
          <a:xfrm>
            <a:off x="274320" y="2194560"/>
            <a:ext cx="822960" cy="164592"/>
          </a:xfrm>
          <a:prstGeom prst="rect">
            <a:avLst/>
          </a:prstGeom>
          <a:noFill/>
          <a:ln/>
        </p:spPr>
        <p:txBody>
          <a:bodyPr wrap="square" lIns="0" tIns="0" rIns="0" bIns="0" rtlCol="0" anchor="ctr"/>
          <a:lstStyle/>
          <a:p>
            <a:pPr marL="0" indent="0">
              <a:buNone/>
            </a:pPr>
            <a:r>
              <a:rPr lang="en-US" sz="950" b="1" dirty="0">
                <a:solidFill>
                  <a:srgbClr val="CC8800"/>
                </a:solidFill>
                <a:latin typeface="Arial" pitchFamily="34" charset="0"/>
                <a:ea typeface="Arial" pitchFamily="34" charset="-122"/>
                <a:cs typeface="Arial" pitchFamily="34" charset="-120"/>
              </a:rPr>
              <a:t>Medium: </a:t>
            </a:r>
            <a:endParaRPr lang="en-US" sz="950" dirty="0"/>
          </a:p>
        </p:txBody>
      </p:sp>
      <p:sp>
        <p:nvSpPr>
          <p:cNvPr id="17" name="Text 15"/>
          <p:cNvSpPr/>
          <p:nvPr/>
        </p:nvSpPr>
        <p:spPr>
          <a:xfrm>
            <a:off x="1078992" y="2194560"/>
            <a:ext cx="320040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Feature works with workaround</a:t>
            </a:r>
            <a:endParaRPr lang="en-US" sz="950" dirty="0"/>
          </a:p>
        </p:txBody>
      </p:sp>
      <p:sp>
        <p:nvSpPr>
          <p:cNvPr id="18" name="Text 16"/>
          <p:cNvSpPr/>
          <p:nvPr/>
        </p:nvSpPr>
        <p:spPr>
          <a:xfrm>
            <a:off x="274320" y="2368296"/>
            <a:ext cx="822960" cy="164592"/>
          </a:xfrm>
          <a:prstGeom prst="rect">
            <a:avLst/>
          </a:prstGeom>
          <a:noFill/>
          <a:ln/>
        </p:spPr>
        <p:txBody>
          <a:bodyPr wrap="square" lIns="0" tIns="0" rIns="0" bIns="0" rtlCol="0" anchor="ctr"/>
          <a:lstStyle/>
          <a:p>
            <a:pPr marL="0" indent="0">
              <a:buNone/>
            </a:pPr>
            <a:r>
              <a:rPr lang="en-US" sz="950" b="1" dirty="0">
                <a:solidFill>
                  <a:srgbClr val="555555"/>
                </a:solidFill>
                <a:latin typeface="Arial" pitchFamily="34" charset="0"/>
                <a:ea typeface="Arial" pitchFamily="34" charset="-122"/>
                <a:cs typeface="Arial" pitchFamily="34" charset="-120"/>
              </a:rPr>
              <a:t>Low: </a:t>
            </a:r>
            <a:endParaRPr lang="en-US" sz="950" dirty="0"/>
          </a:p>
        </p:txBody>
      </p:sp>
      <p:sp>
        <p:nvSpPr>
          <p:cNvPr id="19" name="Text 17"/>
          <p:cNvSpPr/>
          <p:nvPr/>
        </p:nvSpPr>
        <p:spPr>
          <a:xfrm>
            <a:off x="1078992" y="2368296"/>
            <a:ext cx="320040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Cosmetic/UI issue</a:t>
            </a:r>
            <a:endParaRPr lang="en-US" sz="950" dirty="0"/>
          </a:p>
        </p:txBody>
      </p:sp>
      <p:sp>
        <p:nvSpPr>
          <p:cNvPr id="20" name="Shape 18"/>
          <p:cNvSpPr/>
          <p:nvPr/>
        </p:nvSpPr>
        <p:spPr>
          <a:xfrm>
            <a:off x="4663440" y="1170432"/>
            <a:ext cx="4206240" cy="1389888"/>
          </a:xfrm>
          <a:prstGeom prst="rect">
            <a:avLst/>
          </a:prstGeom>
          <a:solidFill>
            <a:srgbClr val="0D0D0D"/>
          </a:solidFill>
          <a:ln w="12700">
            <a:solidFill>
              <a:srgbClr val="0D0D0D"/>
            </a:solidFill>
            <a:prstDash val="solid"/>
          </a:ln>
          <a:effectLst>
            <a:outerShdw blurRad="63500" dist="25400" dir="8100000" algn="bl" rotWithShape="0">
              <a:srgbClr val="000000">
                <a:alpha val="12000"/>
              </a:srgbClr>
            </a:outerShdw>
          </a:effectLst>
        </p:spPr>
      </p:sp>
      <p:sp>
        <p:nvSpPr>
          <p:cNvPr id="21" name="Text 19"/>
          <p:cNvSpPr/>
          <p:nvPr/>
        </p:nvSpPr>
        <p:spPr>
          <a:xfrm>
            <a:off x="4754880" y="1234440"/>
            <a:ext cx="4023360" cy="256032"/>
          </a:xfrm>
          <a:prstGeom prst="rect">
            <a:avLst/>
          </a:prstGeom>
          <a:noFill/>
          <a:ln/>
        </p:spPr>
        <p:txBody>
          <a:bodyPr wrap="square" lIns="0" tIns="0" rIns="0" bIns="0" rtlCol="0" anchor="ctr"/>
          <a:lstStyle/>
          <a:p>
            <a:pPr marL="0" indent="0">
              <a:buNone/>
            </a:pPr>
            <a:r>
              <a:rPr lang="en-US" sz="1300" b="1" dirty="0">
                <a:solidFill>
                  <a:srgbClr val="E8650A"/>
                </a:solidFill>
                <a:latin typeface="Arial Black" pitchFamily="34" charset="0"/>
                <a:ea typeface="Arial Black" pitchFamily="34" charset="-122"/>
                <a:cs typeface="Arial Black" pitchFamily="34" charset="-120"/>
              </a:rPr>
              <a:t>PRIORITY</a:t>
            </a:r>
            <a:endParaRPr lang="en-US" sz="1300" dirty="0"/>
          </a:p>
        </p:txBody>
      </p:sp>
      <p:sp>
        <p:nvSpPr>
          <p:cNvPr id="22" name="Text 20"/>
          <p:cNvSpPr/>
          <p:nvPr/>
        </p:nvSpPr>
        <p:spPr>
          <a:xfrm>
            <a:off x="4754880" y="1517904"/>
            <a:ext cx="3977640" cy="292608"/>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Measures the BUSINESS URGENCY of fixing the defect. Assigned by the Product Owner / BA.</a:t>
            </a:r>
            <a:endParaRPr lang="en-US" sz="1000" dirty="0"/>
          </a:p>
        </p:txBody>
      </p:sp>
      <p:sp>
        <p:nvSpPr>
          <p:cNvPr id="23" name="Text 21"/>
          <p:cNvSpPr/>
          <p:nvPr/>
        </p:nvSpPr>
        <p:spPr>
          <a:xfrm>
            <a:off x="4754880" y="1847088"/>
            <a:ext cx="1371600" cy="164592"/>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P1 - Immediate: </a:t>
            </a:r>
            <a:endParaRPr lang="en-US" sz="950" dirty="0"/>
          </a:p>
        </p:txBody>
      </p:sp>
      <p:sp>
        <p:nvSpPr>
          <p:cNvPr id="24" name="Text 22"/>
          <p:cNvSpPr/>
          <p:nvPr/>
        </p:nvSpPr>
        <p:spPr>
          <a:xfrm>
            <a:off x="6108192" y="1847088"/>
            <a:ext cx="265176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Fix before any further testing</a:t>
            </a:r>
            <a:endParaRPr lang="en-US" sz="950" dirty="0"/>
          </a:p>
        </p:txBody>
      </p:sp>
      <p:sp>
        <p:nvSpPr>
          <p:cNvPr id="25" name="Text 23"/>
          <p:cNvSpPr/>
          <p:nvPr/>
        </p:nvSpPr>
        <p:spPr>
          <a:xfrm>
            <a:off x="4754880" y="2020824"/>
            <a:ext cx="1371600" cy="164592"/>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P2 - High: </a:t>
            </a:r>
            <a:endParaRPr lang="en-US" sz="950" dirty="0"/>
          </a:p>
        </p:txBody>
      </p:sp>
      <p:sp>
        <p:nvSpPr>
          <p:cNvPr id="26" name="Text 24"/>
          <p:cNvSpPr/>
          <p:nvPr/>
        </p:nvSpPr>
        <p:spPr>
          <a:xfrm>
            <a:off x="6108192" y="2020824"/>
            <a:ext cx="265176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Fix in current sprint</a:t>
            </a:r>
            <a:endParaRPr lang="en-US" sz="950" dirty="0"/>
          </a:p>
        </p:txBody>
      </p:sp>
      <p:sp>
        <p:nvSpPr>
          <p:cNvPr id="27" name="Text 25"/>
          <p:cNvSpPr/>
          <p:nvPr/>
        </p:nvSpPr>
        <p:spPr>
          <a:xfrm>
            <a:off x="4754880" y="2194560"/>
            <a:ext cx="1371600" cy="164592"/>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P3 - Medium: </a:t>
            </a:r>
            <a:endParaRPr lang="en-US" sz="950" dirty="0"/>
          </a:p>
        </p:txBody>
      </p:sp>
      <p:sp>
        <p:nvSpPr>
          <p:cNvPr id="28" name="Text 26"/>
          <p:cNvSpPr/>
          <p:nvPr/>
        </p:nvSpPr>
        <p:spPr>
          <a:xfrm>
            <a:off x="6108192" y="2194560"/>
            <a:ext cx="265176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Fix in next planned release</a:t>
            </a:r>
            <a:endParaRPr lang="en-US" sz="950" dirty="0"/>
          </a:p>
        </p:txBody>
      </p:sp>
      <p:sp>
        <p:nvSpPr>
          <p:cNvPr id="29" name="Text 27"/>
          <p:cNvSpPr/>
          <p:nvPr/>
        </p:nvSpPr>
        <p:spPr>
          <a:xfrm>
            <a:off x="4754880" y="2368296"/>
            <a:ext cx="1371600" cy="164592"/>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P4 - Low: </a:t>
            </a:r>
            <a:endParaRPr lang="en-US" sz="950" dirty="0"/>
          </a:p>
        </p:txBody>
      </p:sp>
      <p:sp>
        <p:nvSpPr>
          <p:cNvPr id="30" name="Text 28"/>
          <p:cNvSpPr/>
          <p:nvPr/>
        </p:nvSpPr>
        <p:spPr>
          <a:xfrm>
            <a:off x="6108192" y="2368296"/>
            <a:ext cx="2651760" cy="16459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Fix when time permits</a:t>
            </a:r>
            <a:endParaRPr lang="en-US" sz="950" dirty="0"/>
          </a:p>
        </p:txBody>
      </p:sp>
      <p:sp>
        <p:nvSpPr>
          <p:cNvPr id="31" name="Text 29"/>
          <p:cNvSpPr/>
          <p:nvPr/>
        </p:nvSpPr>
        <p:spPr>
          <a:xfrm>
            <a:off x="182880" y="2633472"/>
            <a:ext cx="8229600" cy="292608"/>
          </a:xfrm>
          <a:prstGeom prst="rect">
            <a:avLst/>
          </a:prstGeom>
          <a:noFill/>
          <a:ln/>
        </p:spPr>
        <p:txBody>
          <a:bodyPr wrap="square" lIns="0" tIns="0" rIns="0" bIns="0" rtlCol="0" anchor="ctr"/>
          <a:lstStyle/>
          <a:p>
            <a:pPr marL="0" indent="0">
              <a:buNone/>
            </a:pPr>
            <a:r>
              <a:rPr lang="en-US" sz="1400" b="1" dirty="0">
                <a:solidFill>
                  <a:srgbClr val="0D0D0D"/>
                </a:solidFill>
                <a:latin typeface="Arial Black" pitchFamily="34" charset="0"/>
                <a:ea typeface="Arial Black" pitchFamily="34" charset="-122"/>
                <a:cs typeface="Arial Black" pitchFamily="34" charset="-120"/>
              </a:rPr>
              <a:t>📋  Sample Defect Report Structure:</a:t>
            </a:r>
            <a:endParaRPr lang="en-US" sz="1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182880" y="2971800"/>
          <a:ext cx="8778240" cy="1908048"/>
        </p:xfrm>
        <a:graphic>
          <a:graphicData uri="http://schemas.openxmlformats.org/drawingml/2006/table">
            <a:tbl>
              <a:tblPr/>
              <a:tblGrid>
                <a:gridCol w="16459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237744">
                <a:tc>
                  <a:txBody>
                    <a:bodyPr/>
                    <a:lstStyle/>
                    <a:p>
                      <a:pPr marL="0" indent="0">
                        <a:buNone/>
                      </a:pPr>
                      <a:r>
                        <a:rPr lang="en-US" sz="1000" b="1" dirty="0">
                          <a:solidFill>
                            <a:srgbClr val="FFFFFF"/>
                          </a:solidFill>
                        </a:rPr>
                        <a:t>Field</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0D0D"/>
                    </a:solidFill>
                  </a:tcPr>
                </a:tc>
                <a:tc>
                  <a:txBody>
                    <a:bodyPr/>
                    <a:lstStyle/>
                    <a:p>
                      <a:pPr marL="0" indent="0">
                        <a:buNone/>
                      </a:pPr>
                      <a:r>
                        <a:rPr lang="en-US" sz="1000" b="1" dirty="0">
                          <a:solidFill>
                            <a:srgbClr val="FFFFFF"/>
                          </a:solidFill>
                        </a:rPr>
                        <a:t>Sample Entry</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0D0D"/>
                    </a:solidFill>
                  </a:tcPr>
                </a:tc>
                <a:tc>
                  <a:txBody>
                    <a:bodyPr/>
                    <a:lstStyle/>
                    <a:p>
                      <a:pPr marL="0" indent="0">
                        <a:buNone/>
                      </a:pPr>
                      <a:r>
                        <a:rPr lang="en-US" sz="1000" b="1" dirty="0">
                          <a:solidFill>
                            <a:srgbClr val="FFFFFF"/>
                          </a:solidFill>
                        </a:rPr>
                        <a:t>Field</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0D0D"/>
                    </a:solidFill>
                  </a:tcPr>
                </a:tc>
                <a:tc>
                  <a:txBody>
                    <a:bodyPr/>
                    <a:lstStyle/>
                    <a:p>
                      <a:pPr marL="0" indent="0">
                        <a:buNone/>
                      </a:pPr>
                      <a:r>
                        <a:rPr lang="en-US" sz="1000" b="1" dirty="0">
                          <a:solidFill>
                            <a:srgbClr val="FFFFFF"/>
                          </a:solidFill>
                        </a:rPr>
                        <a:t>Sample Entry</a:t>
                      </a:r>
                      <a:endParaRPr lang="en-US" sz="100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0D0D"/>
                    </a:solidFill>
                  </a:tcPr>
                </a:tc>
                <a:extLst>
                  <a:ext uri="{0D108BD9-81ED-4DB2-BD59-A6C34878D82A}">
                    <a16:rowId xmlns:a16="http://schemas.microsoft.com/office/drawing/2014/main" val="10000"/>
                  </a:ext>
                </a:extLst>
              </a:tr>
              <a:tr h="237744">
                <a:tc>
                  <a:txBody>
                    <a:bodyPr/>
                    <a:lstStyle/>
                    <a:p>
                      <a:pPr marL="0" indent="0">
                        <a:buNone/>
                      </a:pPr>
                      <a:r>
                        <a:rPr lang="en-US" sz="950" dirty="0">
                          <a:solidFill>
                            <a:srgbClr val="000000"/>
                          </a:solidFill>
                        </a:rPr>
                        <a:t>Defect ID</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DEF-20241105-042</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Severity</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b="1" dirty="0">
                          <a:solidFill>
                            <a:srgbClr val="CC4400"/>
                          </a:solidFill>
                        </a:rPr>
                        <a:t>High</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50" dirty="0">
                          <a:solidFill>
                            <a:srgbClr val="000000"/>
                          </a:solidFill>
                        </a:rPr>
                        <a:t>Title</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Login fails with valid credentials on Safari</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Priority</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b="1" dirty="0">
                          <a:solidFill>
                            <a:srgbClr val="CC0000"/>
                          </a:solidFill>
                        </a:rPr>
                        <a:t>P1 – Immediate</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50" dirty="0">
                          <a:solidFill>
                            <a:srgbClr val="000000"/>
                          </a:solidFill>
                        </a:rPr>
                        <a:t>Module</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User Authentication</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Status</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Open</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marL="0" indent="0">
                        <a:buNone/>
                      </a:pPr>
                      <a:r>
                        <a:rPr lang="en-US" sz="950" dirty="0">
                          <a:solidFill>
                            <a:srgbClr val="000000"/>
                          </a:solidFill>
                        </a:rPr>
                        <a:t>Environment</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QA | Safari 17 | macOS Ventura</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Assigned To</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50" dirty="0">
                          <a:solidFill>
                            <a:srgbClr val="000000"/>
                          </a:solidFill>
                        </a:rPr>
                        <a:t>Dev: J. Smith</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marL="0" indent="0">
                        <a:buNone/>
                      </a:pPr>
                      <a:r>
                        <a:rPr lang="en-US" sz="950" b="1" dirty="0">
                          <a:solidFill>
                            <a:srgbClr val="000000"/>
                          </a:solidFill>
                        </a:rPr>
                        <a:t>Steps to Reproduce</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gridSpan="3">
                  <a:txBody>
                    <a:bodyPr/>
                    <a:lstStyle/>
                    <a:p>
                      <a:pPr marL="0" indent="0">
                        <a:buNone/>
                      </a:pPr>
                      <a:r>
                        <a:rPr lang="en-US" sz="950" dirty="0">
                          <a:solidFill>
                            <a:srgbClr val="000000"/>
                          </a:solidFill>
                        </a:rPr>
                        <a:t>1) Open Safari  2) Navigate to /login  3) Enter valid credentials  4) Click 'Sign In'</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5"/>
                  </a:ext>
                </a:extLst>
              </a:tr>
              <a:tr h="237744">
                <a:tc>
                  <a:txBody>
                    <a:bodyPr/>
                    <a:lstStyle/>
                    <a:p>
                      <a:pPr marL="0" indent="0">
                        <a:buNone/>
                      </a:pPr>
                      <a:r>
                        <a:rPr lang="en-US" sz="950" b="1" dirty="0">
                          <a:solidFill>
                            <a:srgbClr val="000000"/>
                          </a:solidFill>
                        </a:rPr>
                        <a:t>Expected Result</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gridSpan="3">
                  <a:txBody>
                    <a:bodyPr/>
                    <a:lstStyle/>
                    <a:p>
                      <a:pPr marL="0" indent="0">
                        <a:buNone/>
                      </a:pPr>
                      <a:r>
                        <a:rPr lang="en-US" sz="950" dirty="0">
                          <a:solidFill>
                            <a:srgbClr val="000000"/>
                          </a:solidFill>
                        </a:rPr>
                        <a:t>User is authenticated and redirected to /dashboard</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6"/>
                  </a:ext>
                </a:extLst>
              </a:tr>
              <a:tr h="237744">
                <a:tc>
                  <a:txBody>
                    <a:bodyPr/>
                    <a:lstStyle/>
                    <a:p>
                      <a:pPr marL="0" indent="0">
                        <a:buNone/>
                      </a:pPr>
                      <a:r>
                        <a:rPr lang="en-US" sz="950" b="1" dirty="0">
                          <a:solidFill>
                            <a:srgbClr val="000000"/>
                          </a:solidFill>
                        </a:rPr>
                        <a:t>Actual Result</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gridSpan="3">
                  <a:txBody>
                    <a:bodyPr/>
                    <a:lstStyle/>
                    <a:p>
                      <a:pPr marL="0" indent="0">
                        <a:buNone/>
                      </a:pPr>
                      <a:r>
                        <a:rPr lang="en-US" sz="950" dirty="0">
                          <a:solidFill>
                            <a:srgbClr val="000000"/>
                          </a:solidFill>
                        </a:rPr>
                        <a:t>Error 401 displayed. Login succeeds on Chrome/Firefox. Safari-specific CORS header missing.</a:t>
                      </a:r>
                      <a:endParaRPr lang="en-US" sz="950" dirty="0"/>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07</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Risk Management</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in Testing</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Proactive Quality Protection</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Risk Identification, Analysis &amp; Mitigation</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07  |  RISK MANAGEMENT</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384048"/>
          </a:xfrm>
          <a:prstGeom prst="rect">
            <a:avLst/>
          </a:prstGeom>
          <a:noFill/>
          <a:ln/>
        </p:spPr>
        <p:txBody>
          <a:bodyPr wrap="square" lIns="0" tIns="0" rIns="0" bIns="0" rtlCol="0" anchor="ctr"/>
          <a:lstStyle/>
          <a:p>
            <a:pPr marL="0" indent="0">
              <a:buNone/>
            </a:pPr>
            <a:r>
              <a:rPr lang="en-US" sz="1100" i="1" dirty="0">
                <a:solidFill>
                  <a:srgbClr val="F5F5F5"/>
                </a:solidFill>
                <a:latin typeface="Arial" pitchFamily="34" charset="0"/>
                <a:ea typeface="Arial" pitchFamily="34" charset="-122"/>
                <a:cs typeface="Arial" pitchFamily="34" charset="-120"/>
              </a:rPr>
              <a:t>Risk-Based Testing (RBT) focuses testing effort proportionally on areas with the highest probability and impact of failure — maximising quality with limited time and resources.</a:t>
            </a:r>
            <a:endParaRPr lang="en-US" sz="1100" dirty="0"/>
          </a:p>
        </p:txBody>
      </p:sp>
      <p:sp>
        <p:nvSpPr>
          <p:cNvPr id="9" name="Text 7"/>
          <p:cNvSpPr/>
          <p:nvPr/>
        </p:nvSpPr>
        <p:spPr>
          <a:xfrm>
            <a:off x="182880" y="1261872"/>
            <a:ext cx="8229600" cy="292608"/>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Risk Management Process:</a:t>
            </a:r>
            <a:endParaRPr lang="en-US" sz="1400" dirty="0"/>
          </a:p>
        </p:txBody>
      </p:sp>
      <p:sp>
        <p:nvSpPr>
          <p:cNvPr id="10" name="Shape 8"/>
          <p:cNvSpPr/>
          <p:nvPr/>
        </p:nvSpPr>
        <p:spPr>
          <a:xfrm>
            <a:off x="182880" y="1627632"/>
            <a:ext cx="1609344" cy="120700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1" name="Shape 9"/>
          <p:cNvSpPr/>
          <p:nvPr/>
        </p:nvSpPr>
        <p:spPr>
          <a:xfrm>
            <a:off x="182880" y="1627632"/>
            <a:ext cx="1609344" cy="292608"/>
          </a:xfrm>
          <a:prstGeom prst="rect">
            <a:avLst/>
          </a:prstGeom>
          <a:solidFill>
            <a:srgbClr val="E8650A"/>
          </a:solidFill>
          <a:ln w="12700">
            <a:solidFill>
              <a:srgbClr val="E8650A"/>
            </a:solidFill>
            <a:prstDash val="solid"/>
          </a:ln>
        </p:spPr>
      </p:sp>
      <p:sp>
        <p:nvSpPr>
          <p:cNvPr id="12" name="Text 10"/>
          <p:cNvSpPr/>
          <p:nvPr/>
        </p:nvSpPr>
        <p:spPr>
          <a:xfrm>
            <a:off x="274320" y="1627632"/>
            <a:ext cx="1426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1. Identify</a:t>
            </a:r>
            <a:endParaRPr lang="en-US" sz="1200" dirty="0"/>
          </a:p>
        </p:txBody>
      </p:sp>
      <p:sp>
        <p:nvSpPr>
          <p:cNvPr id="13" name="Text 11"/>
          <p:cNvSpPr/>
          <p:nvPr/>
        </p:nvSpPr>
        <p:spPr>
          <a:xfrm>
            <a:off x="274320" y="1956816"/>
            <a:ext cx="1426464" cy="82296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Brainstorm with stakeholders. Review requirements, architecture docs, past project retrospectives.</a:t>
            </a:r>
            <a:endParaRPr lang="en-US" sz="1000" dirty="0"/>
          </a:p>
        </p:txBody>
      </p:sp>
      <p:sp>
        <p:nvSpPr>
          <p:cNvPr id="14" name="Text 12"/>
          <p:cNvSpPr/>
          <p:nvPr/>
        </p:nvSpPr>
        <p:spPr>
          <a:xfrm>
            <a:off x="1792224" y="1965960"/>
            <a:ext cx="146304" cy="45720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15" name="Shape 13"/>
          <p:cNvSpPr/>
          <p:nvPr/>
        </p:nvSpPr>
        <p:spPr>
          <a:xfrm>
            <a:off x="1938528" y="1627632"/>
            <a:ext cx="1609344" cy="120700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16" name="Shape 14"/>
          <p:cNvSpPr/>
          <p:nvPr/>
        </p:nvSpPr>
        <p:spPr>
          <a:xfrm>
            <a:off x="1938528" y="1627632"/>
            <a:ext cx="1609344" cy="292608"/>
          </a:xfrm>
          <a:prstGeom prst="rect">
            <a:avLst/>
          </a:prstGeom>
          <a:solidFill>
            <a:srgbClr val="E8650A"/>
          </a:solidFill>
          <a:ln w="12700">
            <a:solidFill>
              <a:srgbClr val="E8650A"/>
            </a:solidFill>
            <a:prstDash val="solid"/>
          </a:ln>
        </p:spPr>
      </p:sp>
      <p:sp>
        <p:nvSpPr>
          <p:cNvPr id="17" name="Text 15"/>
          <p:cNvSpPr/>
          <p:nvPr/>
        </p:nvSpPr>
        <p:spPr>
          <a:xfrm>
            <a:off x="2029968" y="1627632"/>
            <a:ext cx="1426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2. Analyse</a:t>
            </a:r>
            <a:endParaRPr lang="en-US" sz="1200" dirty="0"/>
          </a:p>
        </p:txBody>
      </p:sp>
      <p:sp>
        <p:nvSpPr>
          <p:cNvPr id="18" name="Text 16"/>
          <p:cNvSpPr/>
          <p:nvPr/>
        </p:nvSpPr>
        <p:spPr>
          <a:xfrm>
            <a:off x="2029968" y="1956816"/>
            <a:ext cx="1426464" cy="82296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Assess each risk: Likelihood (1-5) × Impact (1-5) = Risk Score. Plot on a Risk Matrix.</a:t>
            </a:r>
            <a:endParaRPr lang="en-US" sz="1000" dirty="0"/>
          </a:p>
        </p:txBody>
      </p:sp>
      <p:sp>
        <p:nvSpPr>
          <p:cNvPr id="19" name="Text 17"/>
          <p:cNvSpPr/>
          <p:nvPr/>
        </p:nvSpPr>
        <p:spPr>
          <a:xfrm>
            <a:off x="3547872" y="1965960"/>
            <a:ext cx="146304" cy="45720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20" name="Shape 18"/>
          <p:cNvSpPr/>
          <p:nvPr/>
        </p:nvSpPr>
        <p:spPr>
          <a:xfrm>
            <a:off x="3694176" y="1627632"/>
            <a:ext cx="1609344" cy="120700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1" name="Shape 19"/>
          <p:cNvSpPr/>
          <p:nvPr/>
        </p:nvSpPr>
        <p:spPr>
          <a:xfrm>
            <a:off x="3694176" y="1627632"/>
            <a:ext cx="1609344" cy="292608"/>
          </a:xfrm>
          <a:prstGeom prst="rect">
            <a:avLst/>
          </a:prstGeom>
          <a:solidFill>
            <a:srgbClr val="E8650A"/>
          </a:solidFill>
          <a:ln w="12700">
            <a:solidFill>
              <a:srgbClr val="E8650A"/>
            </a:solidFill>
            <a:prstDash val="solid"/>
          </a:ln>
        </p:spPr>
      </p:sp>
      <p:sp>
        <p:nvSpPr>
          <p:cNvPr id="22" name="Text 20"/>
          <p:cNvSpPr/>
          <p:nvPr/>
        </p:nvSpPr>
        <p:spPr>
          <a:xfrm>
            <a:off x="3785616" y="1627632"/>
            <a:ext cx="1426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3. Prioritise</a:t>
            </a:r>
            <a:endParaRPr lang="en-US" sz="1200" dirty="0"/>
          </a:p>
        </p:txBody>
      </p:sp>
      <p:sp>
        <p:nvSpPr>
          <p:cNvPr id="23" name="Text 21"/>
          <p:cNvSpPr/>
          <p:nvPr/>
        </p:nvSpPr>
        <p:spPr>
          <a:xfrm>
            <a:off x="3785616" y="1956816"/>
            <a:ext cx="1426464" cy="82296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High score = test first, most deeply. Low score = lighter coverage or accept residual risk.</a:t>
            </a:r>
            <a:endParaRPr lang="en-US" sz="1000" dirty="0"/>
          </a:p>
        </p:txBody>
      </p:sp>
      <p:sp>
        <p:nvSpPr>
          <p:cNvPr id="24" name="Text 22"/>
          <p:cNvSpPr/>
          <p:nvPr/>
        </p:nvSpPr>
        <p:spPr>
          <a:xfrm>
            <a:off x="5303520" y="1965960"/>
            <a:ext cx="146304" cy="45720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25" name="Shape 23"/>
          <p:cNvSpPr/>
          <p:nvPr/>
        </p:nvSpPr>
        <p:spPr>
          <a:xfrm>
            <a:off x="5449824" y="1627632"/>
            <a:ext cx="1609344" cy="120700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26" name="Shape 24"/>
          <p:cNvSpPr/>
          <p:nvPr/>
        </p:nvSpPr>
        <p:spPr>
          <a:xfrm>
            <a:off x="5449824" y="1627632"/>
            <a:ext cx="1609344" cy="292608"/>
          </a:xfrm>
          <a:prstGeom prst="rect">
            <a:avLst/>
          </a:prstGeom>
          <a:solidFill>
            <a:srgbClr val="E8650A"/>
          </a:solidFill>
          <a:ln w="12700">
            <a:solidFill>
              <a:srgbClr val="E8650A"/>
            </a:solidFill>
            <a:prstDash val="solid"/>
          </a:ln>
        </p:spPr>
      </p:sp>
      <p:sp>
        <p:nvSpPr>
          <p:cNvPr id="27" name="Text 25"/>
          <p:cNvSpPr/>
          <p:nvPr/>
        </p:nvSpPr>
        <p:spPr>
          <a:xfrm>
            <a:off x="5541264" y="1627632"/>
            <a:ext cx="1426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4. Mitigate</a:t>
            </a:r>
            <a:endParaRPr lang="en-US" sz="1200" dirty="0"/>
          </a:p>
        </p:txBody>
      </p:sp>
      <p:sp>
        <p:nvSpPr>
          <p:cNvPr id="28" name="Text 26"/>
          <p:cNvSpPr/>
          <p:nvPr/>
        </p:nvSpPr>
        <p:spPr>
          <a:xfrm>
            <a:off x="5541264" y="1956816"/>
            <a:ext cx="1426464" cy="82296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Define mitigation strategies: avoid, reduce, transfer, or accept each risk.</a:t>
            </a:r>
            <a:endParaRPr lang="en-US" sz="1000" dirty="0"/>
          </a:p>
        </p:txBody>
      </p:sp>
      <p:sp>
        <p:nvSpPr>
          <p:cNvPr id="29" name="Text 27"/>
          <p:cNvSpPr/>
          <p:nvPr/>
        </p:nvSpPr>
        <p:spPr>
          <a:xfrm>
            <a:off x="7059168" y="1965960"/>
            <a:ext cx="146304" cy="457200"/>
          </a:xfrm>
          <a:prstGeom prst="rect">
            <a:avLst/>
          </a:prstGeom>
          <a:noFill/>
          <a:ln/>
        </p:spPr>
        <p:txBody>
          <a:bodyPr wrap="square" lIns="0" tIns="0" rIns="0" bIns="0" rtlCol="0" anchor="ctr"/>
          <a:lstStyle/>
          <a:p>
            <a:pPr marL="0" indent="0" algn="ctr">
              <a:buNone/>
            </a:pPr>
            <a:r>
              <a:rPr lang="en-US" sz="1600" dirty="0">
                <a:solidFill>
                  <a:srgbClr val="E8650A"/>
                </a:solidFill>
              </a:rPr>
              <a:t>→</a:t>
            </a:r>
            <a:endParaRPr lang="en-US" sz="1600" dirty="0"/>
          </a:p>
        </p:txBody>
      </p:sp>
      <p:sp>
        <p:nvSpPr>
          <p:cNvPr id="30" name="Shape 28"/>
          <p:cNvSpPr/>
          <p:nvPr/>
        </p:nvSpPr>
        <p:spPr>
          <a:xfrm>
            <a:off x="7205472" y="1627632"/>
            <a:ext cx="1609344" cy="1207008"/>
          </a:xfrm>
          <a:prstGeom prst="rect">
            <a:avLst/>
          </a:prstGeom>
          <a:solidFill>
            <a:srgbClr val="2C2C2C"/>
          </a:solidFill>
          <a:ln w="12700">
            <a:solidFill>
              <a:srgbClr val="2C2C2C"/>
            </a:solidFill>
            <a:prstDash val="solid"/>
          </a:ln>
          <a:effectLst>
            <a:outerShdw blurRad="101600" dist="38100" dir="8100000" algn="bl" rotWithShape="0">
              <a:srgbClr val="000000">
                <a:alpha val="18000"/>
              </a:srgbClr>
            </a:outerShdw>
          </a:effectLst>
        </p:spPr>
      </p:sp>
      <p:sp>
        <p:nvSpPr>
          <p:cNvPr id="31" name="Shape 29"/>
          <p:cNvSpPr/>
          <p:nvPr/>
        </p:nvSpPr>
        <p:spPr>
          <a:xfrm>
            <a:off x="7205472" y="1627632"/>
            <a:ext cx="1609344" cy="292608"/>
          </a:xfrm>
          <a:prstGeom prst="rect">
            <a:avLst/>
          </a:prstGeom>
          <a:solidFill>
            <a:srgbClr val="E8650A"/>
          </a:solidFill>
          <a:ln w="12700">
            <a:solidFill>
              <a:srgbClr val="E8650A"/>
            </a:solidFill>
            <a:prstDash val="solid"/>
          </a:ln>
        </p:spPr>
      </p:sp>
      <p:sp>
        <p:nvSpPr>
          <p:cNvPr id="32" name="Text 30"/>
          <p:cNvSpPr/>
          <p:nvPr/>
        </p:nvSpPr>
        <p:spPr>
          <a:xfrm>
            <a:off x="7296912" y="1627632"/>
            <a:ext cx="1426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5. Monitor</a:t>
            </a:r>
            <a:endParaRPr lang="en-US" sz="1200" dirty="0"/>
          </a:p>
        </p:txBody>
      </p:sp>
      <p:sp>
        <p:nvSpPr>
          <p:cNvPr id="33" name="Text 31"/>
          <p:cNvSpPr/>
          <p:nvPr/>
        </p:nvSpPr>
        <p:spPr>
          <a:xfrm>
            <a:off x="7296912" y="1956816"/>
            <a:ext cx="1426464" cy="82296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Track risks throughout the STLC. Re-assess when project conditions change.</a:t>
            </a:r>
            <a:endParaRPr lang="en-US" sz="1000" dirty="0"/>
          </a:p>
        </p:txBody>
      </p:sp>
      <p:sp>
        <p:nvSpPr>
          <p:cNvPr id="34" name="Text 32"/>
          <p:cNvSpPr/>
          <p:nvPr/>
        </p:nvSpPr>
        <p:spPr>
          <a:xfrm>
            <a:off x="182880" y="2820924"/>
            <a:ext cx="8229600" cy="274320"/>
          </a:xfrm>
          <a:prstGeom prst="rect">
            <a:avLst/>
          </a:prstGeom>
          <a:noFill/>
          <a:ln/>
        </p:spPr>
        <p:txBody>
          <a:bodyPr wrap="square" lIns="0" tIns="0" rIns="0" bIns="0" rtlCol="0" anchor="ctr"/>
          <a:lstStyle/>
          <a:p>
            <a:pPr marL="0" indent="0">
              <a:buNone/>
            </a:pPr>
            <a:r>
              <a:rPr lang="en-US" sz="1400" b="1" dirty="0">
                <a:solidFill>
                  <a:srgbClr val="E8650A"/>
                </a:solidFill>
                <a:latin typeface="Arial Black" pitchFamily="34" charset="0"/>
                <a:ea typeface="Arial Black" pitchFamily="34" charset="-122"/>
                <a:cs typeface="Arial Black" pitchFamily="34" charset="-120"/>
              </a:rPr>
              <a:t>Sample Risk Register:</a:t>
            </a:r>
            <a:endParaRPr lang="en-US" sz="1400" dirty="0"/>
          </a:p>
        </p:txBody>
      </p:sp>
      <p:graphicFrame>
        <p:nvGraphicFramePr>
          <p:cNvPr id="35" name="Table 0"/>
          <p:cNvGraphicFramePr>
            <a:graphicFrameLocks noGrp="1"/>
          </p:cNvGraphicFramePr>
          <p:nvPr>
            <p:extLst>
              <p:ext uri="{D42A27DB-BD31-4B8C-83A1-F6EECF244321}">
                <p14:modId xmlns:p14="http://schemas.microsoft.com/office/powerpoint/2010/main" val="2986309179"/>
              </p:ext>
            </p:extLst>
          </p:nvPr>
        </p:nvGraphicFramePr>
        <p:xfrm>
          <a:off x="182880" y="3044248"/>
          <a:ext cx="8778240" cy="2185416"/>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2651760">
                  <a:extLst>
                    <a:ext uri="{9D8B030D-6E8A-4147-A177-3AD203B41FA5}">
                      <a16:colId xmlns:a16="http://schemas.microsoft.com/office/drawing/2014/main" val="20005"/>
                    </a:ext>
                  </a:extLst>
                </a:gridCol>
              </a:tblGrid>
              <a:tr h="356616">
                <a:tc>
                  <a:txBody>
                    <a:bodyPr/>
                    <a:lstStyle/>
                    <a:p>
                      <a:pPr marL="0" indent="0">
                        <a:buNone/>
                      </a:pPr>
                      <a:r>
                        <a:rPr lang="en-US" sz="1000" b="1" dirty="0">
                          <a:solidFill>
                            <a:schemeClr val="bg1"/>
                          </a:solidFill>
                        </a:rPr>
                        <a:t>Risk</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tc>
                  <a:txBody>
                    <a:bodyPr/>
                    <a:lstStyle/>
                    <a:p>
                      <a:pPr marL="0" indent="0">
                        <a:buNone/>
                      </a:pPr>
                      <a:r>
                        <a:rPr lang="en-US" sz="1000" b="1" dirty="0">
                          <a:solidFill>
                            <a:schemeClr val="bg1"/>
                          </a:solidFill>
                        </a:rPr>
                        <a:t>Category</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tc>
                  <a:txBody>
                    <a:bodyPr/>
                    <a:lstStyle/>
                    <a:p>
                      <a:pPr marL="0" indent="0">
                        <a:buNone/>
                      </a:pPr>
                      <a:r>
                        <a:rPr lang="en-US" sz="1000" b="1" dirty="0">
                          <a:solidFill>
                            <a:schemeClr val="bg1"/>
                          </a:solidFill>
                        </a:rPr>
                        <a:t>Likelihood</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tc>
                  <a:txBody>
                    <a:bodyPr/>
                    <a:lstStyle/>
                    <a:p>
                      <a:pPr marL="0" indent="0">
                        <a:buNone/>
                      </a:pPr>
                      <a:r>
                        <a:rPr lang="en-US" sz="1000" b="1" dirty="0">
                          <a:solidFill>
                            <a:schemeClr val="bg1"/>
                          </a:solidFill>
                        </a:rPr>
                        <a:t>Impact</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tc>
                  <a:txBody>
                    <a:bodyPr/>
                    <a:lstStyle/>
                    <a:p>
                      <a:pPr marL="0" indent="0">
                        <a:buNone/>
                      </a:pPr>
                      <a:r>
                        <a:rPr lang="en-US" sz="1000" b="1" dirty="0">
                          <a:solidFill>
                            <a:schemeClr val="bg1"/>
                          </a:solidFill>
                        </a:rPr>
                        <a:t>Score</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tc>
                  <a:txBody>
                    <a:bodyPr/>
                    <a:lstStyle/>
                    <a:p>
                      <a:pPr marL="0" indent="0">
                        <a:buNone/>
                      </a:pPr>
                      <a:r>
                        <a:rPr lang="en-US" sz="1000" b="1" dirty="0">
                          <a:solidFill>
                            <a:schemeClr val="bg1"/>
                          </a:solidFill>
                        </a:rPr>
                        <a:t>Mitigation</a:t>
                      </a:r>
                      <a:endParaRPr lang="en-US" sz="10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solidFill>
                      <a:srgbClr val="E8650A"/>
                    </a:solidFill>
                  </a:tcPr>
                </a:tc>
                <a:extLst>
                  <a:ext uri="{0D108BD9-81ED-4DB2-BD59-A6C34878D82A}">
                    <a16:rowId xmlns:a16="http://schemas.microsoft.com/office/drawing/2014/main" val="10000"/>
                  </a:ext>
                </a:extLst>
              </a:tr>
              <a:tr h="356616">
                <a:tc>
                  <a:txBody>
                    <a:bodyPr/>
                    <a:lstStyle/>
                    <a:p>
                      <a:pPr marL="0" indent="0">
                        <a:buNone/>
                      </a:pPr>
                      <a:r>
                        <a:rPr lang="en-US" sz="1200" dirty="0">
                          <a:solidFill>
                            <a:schemeClr val="bg1"/>
                          </a:solidFill>
                        </a:rPr>
                        <a:t>Env. instability delays execution</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Technical</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4</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5</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b="1" dirty="0">
                          <a:solidFill>
                            <a:schemeClr val="bg1"/>
                          </a:solidFill>
                        </a:rPr>
                        <a:t>20 🔴</a:t>
                      </a:r>
                      <a:endParaRPr lang="en-US" sz="12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Provision backup Docker env; daily env health checks</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200" dirty="0">
                          <a:solidFill>
                            <a:schemeClr val="bg1"/>
                          </a:solidFill>
                        </a:rPr>
                        <a:t>Key tester falls ill</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Resource</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3</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4</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b="1" dirty="0">
                          <a:solidFill>
                            <a:schemeClr val="bg1"/>
                          </a:solidFill>
                        </a:rPr>
                        <a:t>12 🟠</a:t>
                      </a:r>
                      <a:endParaRPr lang="en-US" sz="12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Cross-train 2 backup testers; maintain knowledge base</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200" dirty="0">
                          <a:solidFill>
                            <a:schemeClr val="bg1"/>
                          </a:solidFill>
                        </a:rPr>
                        <a:t>Late requirement changes</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Scope</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3</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3</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b="1" dirty="0">
                          <a:solidFill>
                            <a:schemeClr val="bg1"/>
                          </a:solidFill>
                        </a:rPr>
                        <a:t>9 🟡</a:t>
                      </a:r>
                      <a:endParaRPr lang="en-US" sz="12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Change-freeze after Sprint 3; impact assess via Change Board</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200" dirty="0">
                          <a:solidFill>
                            <a:schemeClr val="bg1"/>
                          </a:solidFill>
                        </a:rPr>
                        <a:t>Insufficient test data</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Data</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2</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3</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b="1" dirty="0">
                          <a:solidFill>
                            <a:schemeClr val="bg1"/>
                          </a:solidFill>
                        </a:rPr>
                        <a:t>6 🟢</a:t>
                      </a:r>
                      <a:endParaRPr lang="en-US" sz="1200" dirty="0">
                        <a:solidFill>
                          <a:schemeClr val="bg1"/>
                        </a:solidFill>
                      </a:endParaRP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tc>
                  <a:txBody>
                    <a:bodyPr/>
                    <a:lstStyle/>
                    <a:p>
                      <a:pPr marL="0" indent="0">
                        <a:buNone/>
                      </a:pPr>
                      <a:r>
                        <a:rPr lang="en-US" sz="1200" dirty="0">
                          <a:solidFill>
                            <a:schemeClr val="bg1"/>
                          </a:solidFill>
                        </a:rPr>
                        <a:t>Prepare synthetic data sets in advance with data masking</a:t>
                      </a:r>
                    </a:p>
                  </a:txBody>
                  <a:tcPr>
                    <a:lnL w="6350" cap="flat" cmpd="sng" algn="ctr">
                      <a:solidFill>
                        <a:srgbClr val="333333"/>
                      </a:solidFill>
                      <a:prstDash val="solid"/>
                      <a:round/>
                      <a:headEnd type="none" w="med" len="med"/>
                      <a:tailEnd type="none" w="med" len="med"/>
                    </a:lnL>
                    <a:lnR w="6350" cap="flat" cmpd="sng" algn="ctr">
                      <a:solidFill>
                        <a:srgbClr val="333333"/>
                      </a:solidFill>
                      <a:prstDash val="solid"/>
                      <a:round/>
                      <a:headEnd type="none" w="med" len="med"/>
                      <a:tailEnd type="none" w="med" len="med"/>
                    </a:lnR>
                    <a:lnT w="6350" cap="flat" cmpd="sng" algn="ctr">
                      <a:solidFill>
                        <a:srgbClr val="333333"/>
                      </a:solidFill>
                      <a:prstDash val="solid"/>
                      <a:round/>
                      <a:headEnd type="none" w="med" len="med"/>
                      <a:tailEnd type="none" w="med" len="med"/>
                    </a:lnT>
                    <a:lnB w="6350" cap="flat" cmpd="sng" algn="ctr">
                      <a:solidFill>
                        <a:srgbClr val="33333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08</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Test Reporting</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Communicating Quality Status with Precision</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Types of Test Reports &amp; What to Include</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08  |  TEST REPORTING</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8778240" cy="137160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2194560" cy="310896"/>
          </a:xfrm>
          <a:prstGeom prst="rect">
            <a:avLst/>
          </a:prstGeom>
          <a:solidFill>
            <a:srgbClr val="E8650A"/>
          </a:solidFill>
          <a:ln w="12700">
            <a:solidFill>
              <a:srgbClr val="E8650A"/>
            </a:solidFill>
            <a:prstDash val="solid"/>
          </a:ln>
        </p:spPr>
      </p:sp>
      <p:sp>
        <p:nvSpPr>
          <p:cNvPr id="10" name="Text 8"/>
          <p:cNvSpPr/>
          <p:nvPr/>
        </p:nvSpPr>
        <p:spPr>
          <a:xfrm>
            <a:off x="274320" y="822960"/>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Daily Status Report</a:t>
            </a:r>
            <a:endParaRPr lang="en-US" sz="1100" dirty="0"/>
          </a:p>
        </p:txBody>
      </p:sp>
      <p:sp>
        <p:nvSpPr>
          <p:cNvPr id="11" name="Text 9"/>
          <p:cNvSpPr/>
          <p:nvPr/>
        </p:nvSpPr>
        <p:spPr>
          <a:xfrm>
            <a:off x="2468880" y="859536"/>
            <a:ext cx="6309360" cy="21945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Audience: Test Lead, Project Manager, Dev Team  ·  Frequency: Every business day during execution</a:t>
            </a:r>
            <a:endParaRPr lang="en-US" sz="950" dirty="0"/>
          </a:p>
        </p:txBody>
      </p:sp>
      <p:sp>
        <p:nvSpPr>
          <p:cNvPr id="12" name="Text 10"/>
          <p:cNvSpPr/>
          <p:nvPr/>
        </p:nvSpPr>
        <p:spPr>
          <a:xfrm>
            <a:off x="274320" y="1170432"/>
            <a:ext cx="425196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Date and Build Version Under Test</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Test Execution Summary: Total / Executed / Passed / Failed / Blocked</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New defects raised today (with IDs and severity)</a:t>
            </a:r>
            <a:endParaRPr lang="en-US" sz="1000" dirty="0"/>
          </a:p>
        </p:txBody>
      </p:sp>
      <p:sp>
        <p:nvSpPr>
          <p:cNvPr id="13" name="Text 11"/>
          <p:cNvSpPr/>
          <p:nvPr/>
        </p:nvSpPr>
        <p:spPr>
          <a:xfrm>
            <a:off x="4709160" y="1170432"/>
            <a:ext cx="416052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Defects resolved and retested today</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Blockers and impediments (with owner and ETA)</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Plan for next day (priority tests scheduled)</a:t>
            </a:r>
            <a:endParaRPr lang="en-US" sz="1000" dirty="0"/>
          </a:p>
        </p:txBody>
      </p:sp>
      <p:sp>
        <p:nvSpPr>
          <p:cNvPr id="14" name="Shape 12"/>
          <p:cNvSpPr/>
          <p:nvPr/>
        </p:nvSpPr>
        <p:spPr>
          <a:xfrm>
            <a:off x="182880" y="2249424"/>
            <a:ext cx="8778240" cy="137160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5" name="Shape 13"/>
          <p:cNvSpPr/>
          <p:nvPr/>
        </p:nvSpPr>
        <p:spPr>
          <a:xfrm>
            <a:off x="182880" y="2249424"/>
            <a:ext cx="2194560" cy="310896"/>
          </a:xfrm>
          <a:prstGeom prst="rect">
            <a:avLst/>
          </a:prstGeom>
          <a:solidFill>
            <a:srgbClr val="C4500A"/>
          </a:solidFill>
          <a:ln w="12700">
            <a:solidFill>
              <a:srgbClr val="C4500A"/>
            </a:solidFill>
            <a:prstDash val="solid"/>
          </a:ln>
        </p:spPr>
      </p:sp>
      <p:sp>
        <p:nvSpPr>
          <p:cNvPr id="16" name="Text 14"/>
          <p:cNvSpPr/>
          <p:nvPr/>
        </p:nvSpPr>
        <p:spPr>
          <a:xfrm>
            <a:off x="274320" y="2267712"/>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Weekly Progress Report</a:t>
            </a:r>
            <a:endParaRPr lang="en-US" sz="1100" dirty="0"/>
          </a:p>
        </p:txBody>
      </p:sp>
      <p:sp>
        <p:nvSpPr>
          <p:cNvPr id="17" name="Text 15"/>
          <p:cNvSpPr/>
          <p:nvPr/>
        </p:nvSpPr>
        <p:spPr>
          <a:xfrm>
            <a:off x="2468880" y="2304288"/>
            <a:ext cx="6309360" cy="21945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Audience: Project Sponsor, Steering Committee, Client (if applicable)  ·  Frequency: Every Friday or end of sprint</a:t>
            </a:r>
            <a:endParaRPr lang="en-US" sz="950" dirty="0"/>
          </a:p>
        </p:txBody>
      </p:sp>
      <p:sp>
        <p:nvSpPr>
          <p:cNvPr id="18" name="Text 16"/>
          <p:cNvSpPr/>
          <p:nvPr/>
        </p:nvSpPr>
        <p:spPr>
          <a:xfrm>
            <a:off x="274320" y="2615184"/>
            <a:ext cx="425196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Week-over-week progress chart (test execution burn-down)</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Cumulative defect trend: open vs closed vs deferred</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Test coverage percentage achieved this week vs target</a:t>
            </a:r>
            <a:endParaRPr lang="en-US" sz="1000" dirty="0"/>
          </a:p>
        </p:txBody>
      </p:sp>
      <p:sp>
        <p:nvSpPr>
          <p:cNvPr id="19" name="Text 17"/>
          <p:cNvSpPr/>
          <p:nvPr/>
        </p:nvSpPr>
        <p:spPr>
          <a:xfrm>
            <a:off x="4709160" y="2615184"/>
            <a:ext cx="416052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Risk register updates: new risks, closed risks</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Resource utilisation and capacity for next week</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Overall RAG (Red-Amber-Green) status with narrative</a:t>
            </a:r>
            <a:endParaRPr lang="en-US" sz="1000" dirty="0"/>
          </a:p>
        </p:txBody>
      </p:sp>
      <p:sp>
        <p:nvSpPr>
          <p:cNvPr id="20" name="Shape 18"/>
          <p:cNvSpPr/>
          <p:nvPr/>
        </p:nvSpPr>
        <p:spPr>
          <a:xfrm>
            <a:off x="182880" y="3694176"/>
            <a:ext cx="8778240" cy="137160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1" name="Shape 19"/>
          <p:cNvSpPr/>
          <p:nvPr/>
        </p:nvSpPr>
        <p:spPr>
          <a:xfrm>
            <a:off x="182880" y="3694176"/>
            <a:ext cx="2194560" cy="310896"/>
          </a:xfrm>
          <a:prstGeom prst="rect">
            <a:avLst/>
          </a:prstGeom>
          <a:solidFill>
            <a:srgbClr val="E8650A"/>
          </a:solidFill>
          <a:ln w="12700">
            <a:solidFill>
              <a:srgbClr val="E8650A"/>
            </a:solidFill>
            <a:prstDash val="solid"/>
          </a:ln>
        </p:spPr>
      </p:sp>
      <p:sp>
        <p:nvSpPr>
          <p:cNvPr id="22" name="Text 20"/>
          <p:cNvSpPr/>
          <p:nvPr/>
        </p:nvSpPr>
        <p:spPr>
          <a:xfrm>
            <a:off x="274320" y="3712464"/>
            <a:ext cx="210312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Black" pitchFamily="34" charset="0"/>
                <a:ea typeface="Arial Black" pitchFamily="34" charset="-122"/>
                <a:cs typeface="Arial Black" pitchFamily="34" charset="-120"/>
              </a:rPr>
              <a:t>Test Summary / Closure Report</a:t>
            </a:r>
            <a:endParaRPr lang="en-US" sz="1100" dirty="0"/>
          </a:p>
        </p:txBody>
      </p:sp>
      <p:sp>
        <p:nvSpPr>
          <p:cNvPr id="23" name="Text 21"/>
          <p:cNvSpPr/>
          <p:nvPr/>
        </p:nvSpPr>
        <p:spPr>
          <a:xfrm>
            <a:off x="2468880" y="3749040"/>
            <a:ext cx="6309360" cy="219456"/>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Audience: All Stakeholders — sign-off required before release  ·  Frequency: End of testing phase / pre-release</a:t>
            </a:r>
            <a:endParaRPr lang="en-US" sz="950" dirty="0"/>
          </a:p>
        </p:txBody>
      </p:sp>
      <p:sp>
        <p:nvSpPr>
          <p:cNvPr id="24" name="Text 22"/>
          <p:cNvSpPr/>
          <p:nvPr/>
        </p:nvSpPr>
        <p:spPr>
          <a:xfrm>
            <a:off x="274320" y="4059936"/>
            <a:ext cx="425196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Scope: what was tested vs. what was deferred</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Test Execution Metrics: final pass/fail/blocked counts</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Defect Summary: total found, total closed, outstanding by severity</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Test Coverage achieved vs target</a:t>
            </a:r>
            <a:endParaRPr lang="en-US" sz="1000" dirty="0"/>
          </a:p>
        </p:txBody>
      </p:sp>
      <p:sp>
        <p:nvSpPr>
          <p:cNvPr id="25" name="Text 23"/>
          <p:cNvSpPr/>
          <p:nvPr/>
        </p:nvSpPr>
        <p:spPr>
          <a:xfrm>
            <a:off x="4709160" y="4059936"/>
            <a:ext cx="4160520" cy="950976"/>
          </a:xfrm>
          <a:prstGeom prst="rect">
            <a:avLst/>
          </a:prstGeom>
          <a:noFill/>
          <a:ln/>
        </p:spPr>
        <p:txBody>
          <a:bodyPr wrap="square" lIns="0" tIns="0" rIns="0" bIns="0" rtlCol="0" anchor="ctr"/>
          <a:lstStyle/>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Outstanding risks and accepted defects with business sign-off</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Lessons Learned and process improvement recommendations</a:t>
            </a:r>
            <a:endParaRPr lang="en-US" sz="1000" dirty="0"/>
          </a:p>
          <a:p>
            <a:pPr marL="342900" indent="-342900">
              <a:spcAft>
                <a:spcPts val="200"/>
              </a:spcAft>
              <a:buSzPct val="100000"/>
              <a:buChar char="•"/>
            </a:pPr>
            <a:r>
              <a:rPr lang="en-US" sz="1000" dirty="0">
                <a:solidFill>
                  <a:srgbClr val="F5F5F5"/>
                </a:solidFill>
                <a:latin typeface="Arial" pitchFamily="34" charset="0"/>
                <a:ea typeface="Arial" pitchFamily="34" charset="-122"/>
                <a:cs typeface="Arial" pitchFamily="34" charset="-120"/>
              </a:rPr>
              <a:t>Final QA Sign-off Recommendation (Pass / Conditional Pass / Fail to Release)</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09</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Test Tools — Management,</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Automation &amp; IDEs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Selenium · Playwright · IntelliJ · Eclipse</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Automation Tools — Selenium &amp; Playwright</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09  |  TEST TOOLS</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4315968" cy="411480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4315968" cy="384048"/>
          </a:xfrm>
          <a:prstGeom prst="rect">
            <a:avLst/>
          </a:prstGeom>
          <a:solidFill>
            <a:srgbClr val="44AA00"/>
          </a:solidFill>
          <a:ln w="12700">
            <a:solidFill>
              <a:srgbClr val="44AA00"/>
            </a:solidFill>
            <a:prstDash val="solid"/>
          </a:ln>
        </p:spPr>
      </p:sp>
      <p:sp>
        <p:nvSpPr>
          <p:cNvPr id="10" name="Text 8"/>
          <p:cNvSpPr/>
          <p:nvPr/>
        </p:nvSpPr>
        <p:spPr>
          <a:xfrm>
            <a:off x="274320" y="804672"/>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 SELENIUM</a:t>
            </a:r>
            <a:endParaRPr lang="en-US" sz="1600" dirty="0"/>
          </a:p>
        </p:txBody>
      </p:sp>
      <p:sp>
        <p:nvSpPr>
          <p:cNvPr id="11" name="Text 9"/>
          <p:cNvSpPr/>
          <p:nvPr/>
        </p:nvSpPr>
        <p:spPr>
          <a:xfrm>
            <a:off x="274320" y="12618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What it is:  </a:t>
            </a:r>
            <a:r>
              <a:rPr lang="en-US" sz="950" dirty="0">
                <a:solidFill>
                  <a:srgbClr val="CCCCCC"/>
                </a:solidFill>
                <a:latin typeface="Arial" pitchFamily="34" charset="0"/>
                <a:ea typeface="Arial" pitchFamily="34" charset="-122"/>
                <a:cs typeface="Arial" pitchFamily="34" charset="-120"/>
              </a:rPr>
              <a:t>Open-source browser automation framework supporting Java, Python, C#, JavaScript, Ruby.</a:t>
            </a:r>
            <a:endParaRPr lang="en-US" sz="950" dirty="0"/>
          </a:p>
        </p:txBody>
      </p:sp>
      <p:sp>
        <p:nvSpPr>
          <p:cNvPr id="12" name="Text 10"/>
          <p:cNvSpPr/>
          <p:nvPr/>
        </p:nvSpPr>
        <p:spPr>
          <a:xfrm>
            <a:off x="274320" y="17190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Architecture:  </a:t>
            </a:r>
            <a:r>
              <a:rPr lang="en-US" sz="950" dirty="0">
                <a:solidFill>
                  <a:srgbClr val="CCCCCC"/>
                </a:solidFill>
                <a:latin typeface="Arial" pitchFamily="34" charset="0"/>
                <a:ea typeface="Arial" pitchFamily="34" charset="-122"/>
                <a:cs typeface="Arial" pitchFamily="34" charset="-120"/>
              </a:rPr>
              <a:t>Selenium WebDriver communicates directly with browsers via browser drivers (ChromeDriver, GeckoDriver). No server needed for WebDriver.</a:t>
            </a:r>
            <a:endParaRPr lang="en-US" sz="950" dirty="0"/>
          </a:p>
        </p:txBody>
      </p:sp>
      <p:sp>
        <p:nvSpPr>
          <p:cNvPr id="13" name="Text 11"/>
          <p:cNvSpPr/>
          <p:nvPr/>
        </p:nvSpPr>
        <p:spPr>
          <a:xfrm>
            <a:off x="274320" y="21762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Key Components:  </a:t>
            </a:r>
            <a:r>
              <a:rPr lang="en-US" sz="950" dirty="0">
                <a:solidFill>
                  <a:srgbClr val="CCCCCC"/>
                </a:solidFill>
                <a:latin typeface="Arial" pitchFamily="34" charset="0"/>
                <a:ea typeface="Arial" pitchFamily="34" charset="-122"/>
                <a:cs typeface="Arial" pitchFamily="34" charset="-120"/>
              </a:rPr>
              <a:t>WebDriver (browser control), Selenium Grid (parallel execution across nodes), Selenium IDE (record-playback).</a:t>
            </a:r>
            <a:endParaRPr lang="en-US" sz="950" dirty="0"/>
          </a:p>
        </p:txBody>
      </p:sp>
      <p:sp>
        <p:nvSpPr>
          <p:cNvPr id="14" name="Text 12"/>
          <p:cNvSpPr/>
          <p:nvPr/>
        </p:nvSpPr>
        <p:spPr>
          <a:xfrm>
            <a:off x="274320" y="26334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Use in Test Management:  </a:t>
            </a:r>
            <a:r>
              <a:rPr lang="en-US" sz="950" dirty="0">
                <a:solidFill>
                  <a:srgbClr val="CCCCCC"/>
                </a:solidFill>
                <a:latin typeface="Arial" pitchFamily="34" charset="0"/>
                <a:ea typeface="Arial" pitchFamily="34" charset="-122"/>
                <a:cs typeface="Arial" pitchFamily="34" charset="-120"/>
              </a:rPr>
              <a:t>Automates regression suites, reducing manual execution time. Integrated with CI/CD pipelines (Jenkins/GitHub Actions) for automated nightly runs.</a:t>
            </a:r>
            <a:endParaRPr lang="en-US" sz="950" dirty="0"/>
          </a:p>
        </p:txBody>
      </p:sp>
      <p:sp>
        <p:nvSpPr>
          <p:cNvPr id="15" name="Text 13"/>
          <p:cNvSpPr/>
          <p:nvPr/>
        </p:nvSpPr>
        <p:spPr>
          <a:xfrm>
            <a:off x="274320" y="30906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IDE Integration:  </a:t>
            </a:r>
            <a:r>
              <a:rPr lang="en-US" sz="950" dirty="0">
                <a:solidFill>
                  <a:srgbClr val="CCCCCC"/>
                </a:solidFill>
                <a:latin typeface="Arial" pitchFamily="34" charset="0"/>
                <a:ea typeface="Arial" pitchFamily="34" charset="-122"/>
                <a:cs typeface="Arial" pitchFamily="34" charset="-120"/>
              </a:rPr>
              <a:t>Used with Eclipse (TestNG/JUnit) or IntelliJ IDEA (Maven/Gradle). Test results feed into management tools via plugins.</a:t>
            </a:r>
            <a:endParaRPr lang="en-US" sz="950" dirty="0"/>
          </a:p>
        </p:txBody>
      </p:sp>
      <p:sp>
        <p:nvSpPr>
          <p:cNvPr id="16" name="Text 14"/>
          <p:cNvSpPr/>
          <p:nvPr/>
        </p:nvSpPr>
        <p:spPr>
          <a:xfrm>
            <a:off x="274320" y="35478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Supported Browsers:  </a:t>
            </a:r>
            <a:r>
              <a:rPr lang="en-US" sz="950" dirty="0">
                <a:solidFill>
                  <a:srgbClr val="CCCCCC"/>
                </a:solidFill>
                <a:latin typeface="Arial" pitchFamily="34" charset="0"/>
                <a:ea typeface="Arial" pitchFamily="34" charset="-122"/>
                <a:cs typeface="Arial" pitchFamily="34" charset="-120"/>
              </a:rPr>
              <a:t>Chrome, Firefox, Safari, Edge, IE. Can run headlessly using ChromeOptions.</a:t>
            </a:r>
            <a:endParaRPr lang="en-US" sz="950" dirty="0"/>
          </a:p>
        </p:txBody>
      </p:sp>
      <p:sp>
        <p:nvSpPr>
          <p:cNvPr id="17" name="Text 15"/>
          <p:cNvSpPr/>
          <p:nvPr/>
        </p:nvSpPr>
        <p:spPr>
          <a:xfrm>
            <a:off x="274320" y="40050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Real-World Example:  </a:t>
            </a:r>
            <a:r>
              <a:rPr lang="en-US" sz="950" dirty="0">
                <a:solidFill>
                  <a:srgbClr val="CCCCCC"/>
                </a:solidFill>
                <a:latin typeface="Arial" pitchFamily="34" charset="0"/>
                <a:ea typeface="Arial" pitchFamily="34" charset="-122"/>
                <a:cs typeface="Arial" pitchFamily="34" charset="-120"/>
              </a:rPr>
              <a:t>Banking system regression: 400 Selenium tests run nightly. If &gt;10 fail, deployment is blocked and Test Manager is alerted via Slack.</a:t>
            </a:r>
            <a:endParaRPr lang="en-US" sz="950" dirty="0"/>
          </a:p>
        </p:txBody>
      </p:sp>
      <p:sp>
        <p:nvSpPr>
          <p:cNvPr id="18" name="Shape 16"/>
          <p:cNvSpPr/>
          <p:nvPr/>
        </p:nvSpPr>
        <p:spPr>
          <a:xfrm>
            <a:off x="4663440" y="804672"/>
            <a:ext cx="4315968" cy="411480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9" name="Shape 17"/>
          <p:cNvSpPr/>
          <p:nvPr/>
        </p:nvSpPr>
        <p:spPr>
          <a:xfrm>
            <a:off x="4663440" y="804672"/>
            <a:ext cx="4315968" cy="384048"/>
          </a:xfrm>
          <a:prstGeom prst="rect">
            <a:avLst/>
          </a:prstGeom>
          <a:solidFill>
            <a:srgbClr val="1565C0"/>
          </a:solidFill>
          <a:ln w="12700">
            <a:solidFill>
              <a:srgbClr val="1565C0"/>
            </a:solidFill>
            <a:prstDash val="solid"/>
          </a:ln>
        </p:spPr>
      </p:sp>
      <p:sp>
        <p:nvSpPr>
          <p:cNvPr id="20" name="Text 18"/>
          <p:cNvSpPr/>
          <p:nvPr/>
        </p:nvSpPr>
        <p:spPr>
          <a:xfrm>
            <a:off x="4754880" y="804672"/>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Arial Black" pitchFamily="34" charset="0"/>
                <a:ea typeface="Arial Black" pitchFamily="34" charset="-122"/>
                <a:cs typeface="Arial Black" pitchFamily="34" charset="-120"/>
              </a:rPr>
              <a:t>🎭 PLAYWRIGHT</a:t>
            </a:r>
            <a:endParaRPr lang="en-US" sz="1600" dirty="0"/>
          </a:p>
        </p:txBody>
      </p:sp>
      <p:sp>
        <p:nvSpPr>
          <p:cNvPr id="21" name="Text 19"/>
          <p:cNvSpPr/>
          <p:nvPr/>
        </p:nvSpPr>
        <p:spPr>
          <a:xfrm>
            <a:off x="4754880" y="12618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What it is:  </a:t>
            </a:r>
            <a:r>
              <a:rPr lang="en-US" sz="950" dirty="0">
                <a:solidFill>
                  <a:srgbClr val="CCCCCC"/>
                </a:solidFill>
                <a:latin typeface="Arial" pitchFamily="34" charset="0"/>
                <a:ea typeface="Arial" pitchFamily="34" charset="-122"/>
                <a:cs typeface="Arial" pitchFamily="34" charset="-120"/>
              </a:rPr>
              <a:t>Microsoft's modern end-to-end testing framework supporting Chromium, Firefox, and WebKit. Uses Node.js (TypeScript/JS) or Python, Java, .NET.</a:t>
            </a:r>
            <a:endParaRPr lang="en-US" sz="950" dirty="0"/>
          </a:p>
        </p:txBody>
      </p:sp>
      <p:sp>
        <p:nvSpPr>
          <p:cNvPr id="22" name="Text 20"/>
          <p:cNvSpPr/>
          <p:nvPr/>
        </p:nvSpPr>
        <p:spPr>
          <a:xfrm>
            <a:off x="4754880" y="17190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Key Advantages:  </a:t>
            </a:r>
            <a:r>
              <a:rPr lang="en-US" sz="950" dirty="0">
                <a:solidFill>
                  <a:srgbClr val="CCCCCC"/>
                </a:solidFill>
                <a:latin typeface="Arial" pitchFamily="34" charset="0"/>
                <a:ea typeface="Arial" pitchFamily="34" charset="-122"/>
                <a:cs typeface="Arial" pitchFamily="34" charset="-120"/>
              </a:rPr>
              <a:t>Auto-waits for elements, isolated browser contexts per test, built-in test runner (Playwright Test), trace viewer for debugging.</a:t>
            </a:r>
            <a:endParaRPr lang="en-US" sz="950" dirty="0"/>
          </a:p>
        </p:txBody>
      </p:sp>
      <p:sp>
        <p:nvSpPr>
          <p:cNvPr id="23" name="Text 21"/>
          <p:cNvSpPr/>
          <p:nvPr/>
        </p:nvSpPr>
        <p:spPr>
          <a:xfrm>
            <a:off x="4754880" y="21762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Architecture:  </a:t>
            </a:r>
            <a:r>
              <a:rPr lang="en-US" sz="950" dirty="0">
                <a:solidFill>
                  <a:srgbClr val="CCCCCC"/>
                </a:solidFill>
                <a:latin typeface="Arial" pitchFamily="34" charset="0"/>
                <a:ea typeface="Arial" pitchFamily="34" charset="-122"/>
                <a:cs typeface="Arial" pitchFamily="34" charset="-120"/>
              </a:rPr>
              <a:t>Communicates with browsers via the DevTools Protocol over WebSocket — faster and more reliable than Selenium WebDriver's HTTP protocol.</a:t>
            </a:r>
            <a:endParaRPr lang="en-US" sz="950" dirty="0"/>
          </a:p>
        </p:txBody>
      </p:sp>
      <p:sp>
        <p:nvSpPr>
          <p:cNvPr id="24" name="Text 22"/>
          <p:cNvSpPr/>
          <p:nvPr/>
        </p:nvSpPr>
        <p:spPr>
          <a:xfrm>
            <a:off x="4754880" y="26334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Use in Test Management:  </a:t>
            </a:r>
            <a:r>
              <a:rPr lang="en-US" sz="950" dirty="0">
                <a:solidFill>
                  <a:srgbClr val="CCCCCC"/>
                </a:solidFill>
                <a:latin typeface="Arial" pitchFamily="34" charset="0"/>
                <a:ea typeface="Arial" pitchFamily="34" charset="-122"/>
                <a:cs typeface="Arial" pitchFamily="34" charset="-120"/>
              </a:rPr>
              <a:t>Ideal for modern SPA (React/Angular) apps. Codegen tool records user actions into test scripts, reducing test authoring time.</a:t>
            </a:r>
            <a:endParaRPr lang="en-US" sz="950" dirty="0"/>
          </a:p>
        </p:txBody>
      </p:sp>
      <p:sp>
        <p:nvSpPr>
          <p:cNvPr id="25" name="Text 23"/>
          <p:cNvSpPr/>
          <p:nvPr/>
        </p:nvSpPr>
        <p:spPr>
          <a:xfrm>
            <a:off x="4754880" y="30906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Parallel Execution:  </a:t>
            </a:r>
            <a:r>
              <a:rPr lang="en-US" sz="950" dirty="0">
                <a:solidFill>
                  <a:srgbClr val="CCCCCC"/>
                </a:solidFill>
                <a:latin typeface="Arial" pitchFamily="34" charset="0"/>
                <a:ea typeface="Arial" pitchFamily="34" charset="-122"/>
                <a:cs typeface="Arial" pitchFamily="34" charset="-120"/>
              </a:rPr>
              <a:t>Native parallel test execution with full isolation. Dramatically reduces regression suite run time (e.g., 2 hrs → 25 mins).</a:t>
            </a:r>
            <a:endParaRPr lang="en-US" sz="950" dirty="0"/>
          </a:p>
        </p:txBody>
      </p:sp>
      <p:sp>
        <p:nvSpPr>
          <p:cNvPr id="26" name="Text 24"/>
          <p:cNvSpPr/>
          <p:nvPr/>
        </p:nvSpPr>
        <p:spPr>
          <a:xfrm>
            <a:off x="4754880" y="35478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Reporting:  </a:t>
            </a:r>
            <a:r>
              <a:rPr lang="en-US" sz="950" dirty="0">
                <a:solidFill>
                  <a:srgbClr val="CCCCCC"/>
                </a:solidFill>
                <a:latin typeface="Arial" pitchFamily="34" charset="0"/>
                <a:ea typeface="Arial" pitchFamily="34" charset="-122"/>
                <a:cs typeface="Arial" pitchFamily="34" charset="-120"/>
              </a:rPr>
              <a:t>Built-in HTML reporter with screenshots, video recordings, and trace files. Integrates with Allure Report for management-level dashboards.</a:t>
            </a:r>
            <a:endParaRPr lang="en-US" sz="950" dirty="0"/>
          </a:p>
        </p:txBody>
      </p:sp>
      <p:sp>
        <p:nvSpPr>
          <p:cNvPr id="27" name="Text 25"/>
          <p:cNvSpPr/>
          <p:nvPr/>
        </p:nvSpPr>
        <p:spPr>
          <a:xfrm>
            <a:off x="4754880" y="4005072"/>
            <a:ext cx="4114800" cy="402336"/>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Real-World Example:  </a:t>
            </a:r>
            <a:r>
              <a:rPr lang="en-US" sz="950" dirty="0">
                <a:solidFill>
                  <a:srgbClr val="CCCCCC"/>
                </a:solidFill>
                <a:latin typeface="Arial" pitchFamily="34" charset="0"/>
                <a:ea typeface="Arial" pitchFamily="34" charset="-122"/>
                <a:cs typeface="Arial" pitchFamily="34" charset="-120"/>
              </a:rPr>
              <a:t>E-commerce checkout flow: Playwright tests run on every PR in GitHub Actions. Failed traces show exact UI state at point of failure.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IDEs — IntelliJ IDEA &amp; Eclipse in Test Management</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09  |  TEST TOOLS</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22960"/>
            <a:ext cx="4206240" cy="4005072"/>
          </a:xfrm>
          <a:prstGeom prst="rect">
            <a:avLst/>
          </a:prstGeom>
          <a:solidFill>
            <a:srgbClr val="0D0D0D"/>
          </a:solidFill>
          <a:ln w="12700">
            <a:solidFill>
              <a:srgbClr val="0D0D0D"/>
            </a:solidFill>
            <a:prstDash val="solid"/>
          </a:ln>
          <a:effectLst>
            <a:outerShdw blurRad="76200" dist="38100" dir="8100000" algn="bl" rotWithShape="0">
              <a:srgbClr val="000000">
                <a:alpha val="12000"/>
              </a:srgbClr>
            </a:outerShdw>
          </a:effectLst>
        </p:spPr>
      </p:sp>
      <p:sp>
        <p:nvSpPr>
          <p:cNvPr id="9" name="Shape 7"/>
          <p:cNvSpPr/>
          <p:nvPr/>
        </p:nvSpPr>
        <p:spPr>
          <a:xfrm>
            <a:off x="182880" y="822960"/>
            <a:ext cx="4206240" cy="365760"/>
          </a:xfrm>
          <a:prstGeom prst="rect">
            <a:avLst/>
          </a:prstGeom>
          <a:solidFill>
            <a:srgbClr val="FF318C"/>
          </a:solidFill>
          <a:ln w="12700">
            <a:solidFill>
              <a:srgbClr val="FF318C"/>
            </a:solidFill>
            <a:prstDash val="solid"/>
          </a:ln>
        </p:spPr>
      </p:sp>
      <p:sp>
        <p:nvSpPr>
          <p:cNvPr id="10" name="Text 8"/>
          <p:cNvSpPr/>
          <p:nvPr/>
        </p:nvSpPr>
        <p:spPr>
          <a:xfrm>
            <a:off x="274320" y="822960"/>
            <a:ext cx="402336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IntelliJ IDEA (JetBrains)</a:t>
            </a:r>
            <a:endParaRPr lang="en-US" sz="1300" dirty="0"/>
          </a:p>
        </p:txBody>
      </p:sp>
      <p:sp>
        <p:nvSpPr>
          <p:cNvPr id="11" name="Text 9"/>
          <p:cNvSpPr/>
          <p:nvPr/>
        </p:nvSpPr>
        <p:spPr>
          <a:xfrm>
            <a:off x="274320" y="1261872"/>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Overview:  </a:t>
            </a:r>
            <a:r>
              <a:rPr lang="en-US" sz="900" dirty="0">
                <a:solidFill>
                  <a:srgbClr val="CCCCCC"/>
                </a:solidFill>
                <a:latin typeface="Arial" pitchFamily="34" charset="0"/>
                <a:ea typeface="Arial" pitchFamily="34" charset="-122"/>
                <a:cs typeface="Arial" pitchFamily="34" charset="-120"/>
              </a:rPr>
              <a:t>Industry-leading Java/Kotlin IDE by JetBrains. Ultimate edition supports full-stack development including Python, JavaScript, SQL, and Frameworks.</a:t>
            </a:r>
            <a:endParaRPr lang="en-US" sz="900" dirty="0"/>
          </a:p>
        </p:txBody>
      </p:sp>
      <p:sp>
        <p:nvSpPr>
          <p:cNvPr id="12" name="Text 10"/>
          <p:cNvSpPr/>
          <p:nvPr/>
        </p:nvSpPr>
        <p:spPr>
          <a:xfrm>
            <a:off x="274320" y="1700784"/>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Testing Frameworks:  </a:t>
            </a:r>
            <a:r>
              <a:rPr lang="en-US" sz="900" dirty="0">
                <a:solidFill>
                  <a:srgbClr val="CCCCCC"/>
                </a:solidFill>
                <a:latin typeface="Arial" pitchFamily="34" charset="0"/>
                <a:ea typeface="Arial" pitchFamily="34" charset="-122"/>
                <a:cs typeface="Arial" pitchFamily="34" charset="-120"/>
              </a:rPr>
              <a:t>Natively supports JUnit 4/5, TestNG, Cucumber (BDD), Spock. Run individual test classes or full suites with one click.</a:t>
            </a:r>
            <a:endParaRPr lang="en-US" sz="900" dirty="0"/>
          </a:p>
        </p:txBody>
      </p:sp>
      <p:sp>
        <p:nvSpPr>
          <p:cNvPr id="13" name="Text 11"/>
          <p:cNvSpPr/>
          <p:nvPr/>
        </p:nvSpPr>
        <p:spPr>
          <a:xfrm>
            <a:off x="274320" y="2139696"/>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Maven/Gradle Integration:  </a:t>
            </a:r>
            <a:r>
              <a:rPr lang="en-US" sz="900" dirty="0">
                <a:solidFill>
                  <a:srgbClr val="CCCCCC"/>
                </a:solidFill>
                <a:latin typeface="Arial" pitchFamily="34" charset="0"/>
                <a:ea typeface="Arial" pitchFamily="34" charset="-122"/>
                <a:cs typeface="Arial" pitchFamily="34" charset="-120"/>
              </a:rPr>
              <a:t>Manage Selenium, Playwright-Java, RestAssured, and TestNG dependencies via Maven pom.xml or Gradle build.gradle.</a:t>
            </a:r>
            <a:endParaRPr lang="en-US" sz="900" dirty="0"/>
          </a:p>
        </p:txBody>
      </p:sp>
      <p:sp>
        <p:nvSpPr>
          <p:cNvPr id="14" name="Text 12"/>
          <p:cNvSpPr/>
          <p:nvPr/>
        </p:nvSpPr>
        <p:spPr>
          <a:xfrm>
            <a:off x="274320" y="2578608"/>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Selenium in IntelliJ:  </a:t>
            </a:r>
            <a:r>
              <a:rPr lang="en-US" sz="900" dirty="0">
                <a:solidFill>
                  <a:srgbClr val="CCCCCC"/>
                </a:solidFill>
                <a:latin typeface="Arial" pitchFamily="34" charset="0"/>
                <a:ea typeface="Arial" pitchFamily="34" charset="-122"/>
                <a:cs typeface="Arial" pitchFamily="34" charset="-120"/>
              </a:rPr>
              <a:t>Import WebDriver JAR, write page objects and test classes. IntelliJ's intelligent code completion speeds up test authoring.</a:t>
            </a:r>
            <a:endParaRPr lang="en-US" sz="900" dirty="0"/>
          </a:p>
        </p:txBody>
      </p:sp>
      <p:sp>
        <p:nvSpPr>
          <p:cNvPr id="15" name="Text 13"/>
          <p:cNvSpPr/>
          <p:nvPr/>
        </p:nvSpPr>
        <p:spPr>
          <a:xfrm>
            <a:off x="274320" y="3017520"/>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Debugging Tests:  </a:t>
            </a:r>
            <a:r>
              <a:rPr lang="en-US" sz="900" dirty="0">
                <a:solidFill>
                  <a:srgbClr val="CCCCCC"/>
                </a:solidFill>
                <a:latin typeface="Arial" pitchFamily="34" charset="0"/>
                <a:ea typeface="Arial" pitchFamily="34" charset="-122"/>
                <a:cs typeface="Arial" pitchFamily="34" charset="-120"/>
              </a:rPr>
              <a:t>Set breakpoints inside test methods to inspect WebDriver state, element locators, and variable values — critical for automation debugging.</a:t>
            </a:r>
            <a:endParaRPr lang="en-US" sz="900" dirty="0"/>
          </a:p>
        </p:txBody>
      </p:sp>
      <p:sp>
        <p:nvSpPr>
          <p:cNvPr id="16" name="Text 14"/>
          <p:cNvSpPr/>
          <p:nvPr/>
        </p:nvSpPr>
        <p:spPr>
          <a:xfrm>
            <a:off x="274320" y="3456432"/>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Git Integration:  </a:t>
            </a:r>
            <a:r>
              <a:rPr lang="en-US" sz="900" dirty="0">
                <a:solidFill>
                  <a:srgbClr val="CCCCCC"/>
                </a:solidFill>
                <a:latin typeface="Arial" pitchFamily="34" charset="0"/>
                <a:ea typeface="Arial" pitchFamily="34" charset="-122"/>
                <a:cs typeface="Arial" pitchFamily="34" charset="-120"/>
              </a:rPr>
              <a:t>Built-in Git UI for branching, reviewing diffs, and committing test code. Ensures test scripts are version-controlled alongside application code.</a:t>
            </a:r>
            <a:endParaRPr lang="en-US" sz="900" dirty="0"/>
          </a:p>
        </p:txBody>
      </p:sp>
      <p:sp>
        <p:nvSpPr>
          <p:cNvPr id="17" name="Text 15"/>
          <p:cNvSpPr/>
          <p:nvPr/>
        </p:nvSpPr>
        <p:spPr>
          <a:xfrm>
            <a:off x="274320" y="3895344"/>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Plugins:  </a:t>
            </a:r>
            <a:r>
              <a:rPr lang="en-US" sz="900" dirty="0">
                <a:solidFill>
                  <a:srgbClr val="CCCCCC"/>
                </a:solidFill>
                <a:latin typeface="Arial" pitchFamily="34" charset="0"/>
                <a:ea typeface="Arial" pitchFamily="34" charset="-122"/>
                <a:cs typeface="Arial" pitchFamily="34" charset="-120"/>
              </a:rPr>
              <a:t>Allure, Cucumber, REST Client, SonarLint, TestNG — extend IntelliJ into a full QA workstation.</a:t>
            </a:r>
            <a:endParaRPr lang="en-US" sz="900" dirty="0"/>
          </a:p>
        </p:txBody>
      </p:sp>
      <p:sp>
        <p:nvSpPr>
          <p:cNvPr id="18" name="Text 16"/>
          <p:cNvSpPr/>
          <p:nvPr/>
        </p:nvSpPr>
        <p:spPr>
          <a:xfrm>
            <a:off x="274320" y="4334256"/>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Use in Management:  </a:t>
            </a:r>
            <a:r>
              <a:rPr lang="en-US" sz="900" dirty="0">
                <a:solidFill>
                  <a:srgbClr val="CCCCCC"/>
                </a:solidFill>
                <a:latin typeface="Arial" pitchFamily="34" charset="0"/>
                <a:ea typeface="Arial" pitchFamily="34" charset="-122"/>
                <a:cs typeface="Arial" pitchFamily="34" charset="-120"/>
              </a:rPr>
              <a:t>Automation engineers write, debug, and run test frameworks in IntelliJ. Results are published to CI/CD and test management tools.</a:t>
            </a:r>
            <a:endParaRPr lang="en-US" sz="900" dirty="0"/>
          </a:p>
        </p:txBody>
      </p:sp>
      <p:sp>
        <p:nvSpPr>
          <p:cNvPr id="19" name="Shape 17"/>
          <p:cNvSpPr/>
          <p:nvPr/>
        </p:nvSpPr>
        <p:spPr>
          <a:xfrm>
            <a:off x="4663440" y="822960"/>
            <a:ext cx="4206240" cy="4005072"/>
          </a:xfrm>
          <a:prstGeom prst="rect">
            <a:avLst/>
          </a:prstGeom>
          <a:solidFill>
            <a:srgbClr val="0D0D0D"/>
          </a:solidFill>
          <a:ln w="12700">
            <a:solidFill>
              <a:srgbClr val="0D0D0D"/>
            </a:solidFill>
            <a:prstDash val="solid"/>
          </a:ln>
          <a:effectLst>
            <a:outerShdw blurRad="76200" dist="38100" dir="8100000" algn="bl" rotWithShape="0">
              <a:srgbClr val="000000">
                <a:alpha val="12000"/>
              </a:srgbClr>
            </a:outerShdw>
          </a:effectLst>
        </p:spPr>
      </p:sp>
      <p:sp>
        <p:nvSpPr>
          <p:cNvPr id="20" name="Shape 18"/>
          <p:cNvSpPr/>
          <p:nvPr/>
        </p:nvSpPr>
        <p:spPr>
          <a:xfrm>
            <a:off x="4663440" y="822960"/>
            <a:ext cx="4206240" cy="365760"/>
          </a:xfrm>
          <a:prstGeom prst="rect">
            <a:avLst/>
          </a:prstGeom>
          <a:solidFill>
            <a:srgbClr val="2C3E7A"/>
          </a:solidFill>
          <a:ln w="12700">
            <a:solidFill>
              <a:srgbClr val="2C3E7A"/>
            </a:solidFill>
            <a:prstDash val="solid"/>
          </a:ln>
        </p:spPr>
      </p:sp>
      <p:sp>
        <p:nvSpPr>
          <p:cNvPr id="21" name="Text 19"/>
          <p:cNvSpPr/>
          <p:nvPr/>
        </p:nvSpPr>
        <p:spPr>
          <a:xfrm>
            <a:off x="4754880" y="822960"/>
            <a:ext cx="4023360" cy="365760"/>
          </a:xfrm>
          <a:prstGeom prst="rect">
            <a:avLst/>
          </a:prstGeom>
          <a:noFill/>
          <a:ln/>
        </p:spPr>
        <p:txBody>
          <a:bodyPr wrap="square" lIns="0" tIns="0" rIns="0" bIns="0" rtlCol="0" anchor="ctr"/>
          <a:lstStyle/>
          <a:p>
            <a:pPr marL="0" indent="0">
              <a:buNone/>
            </a:pPr>
            <a:r>
              <a:rPr lang="en-US" sz="1300" b="1" dirty="0">
                <a:solidFill>
                  <a:srgbClr val="FFFFFF"/>
                </a:solidFill>
                <a:latin typeface="Arial Black" pitchFamily="34" charset="0"/>
                <a:ea typeface="Arial Black" pitchFamily="34" charset="-122"/>
                <a:cs typeface="Arial Black" pitchFamily="34" charset="-120"/>
              </a:rPr>
              <a:t>🌑 Eclipse IDE (Eclipse Foundation)</a:t>
            </a:r>
            <a:endParaRPr lang="en-US" sz="1300" dirty="0"/>
          </a:p>
        </p:txBody>
      </p:sp>
      <p:sp>
        <p:nvSpPr>
          <p:cNvPr id="22" name="Text 20"/>
          <p:cNvSpPr/>
          <p:nvPr/>
        </p:nvSpPr>
        <p:spPr>
          <a:xfrm>
            <a:off x="4754880" y="1261872"/>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Overview:  </a:t>
            </a:r>
            <a:r>
              <a:rPr lang="en-US" sz="900" dirty="0">
                <a:solidFill>
                  <a:srgbClr val="CCCCCC"/>
                </a:solidFill>
                <a:latin typeface="Arial" pitchFamily="34" charset="0"/>
                <a:ea typeface="Arial" pitchFamily="34" charset="-122"/>
                <a:cs typeface="Arial" pitchFamily="34" charset="-120"/>
              </a:rPr>
              <a:t>Free, open-source IDE originally designed for Java. Widely adopted in enterprises for Java/Selenium automation development.</a:t>
            </a:r>
            <a:endParaRPr lang="en-US" sz="900" dirty="0"/>
          </a:p>
        </p:txBody>
      </p:sp>
      <p:sp>
        <p:nvSpPr>
          <p:cNvPr id="23" name="Text 21"/>
          <p:cNvSpPr/>
          <p:nvPr/>
        </p:nvSpPr>
        <p:spPr>
          <a:xfrm>
            <a:off x="4754880" y="1700784"/>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Plugin Architecture:  </a:t>
            </a:r>
            <a:r>
              <a:rPr lang="en-US" sz="900" dirty="0">
                <a:solidFill>
                  <a:srgbClr val="CCCCCC"/>
                </a:solidFill>
                <a:latin typeface="Arial" pitchFamily="34" charset="0"/>
                <a:ea typeface="Arial" pitchFamily="34" charset="-122"/>
                <a:cs typeface="Arial" pitchFamily="34" charset="-120"/>
              </a:rPr>
              <a:t>Eclipse's plugin system (Eclipse Marketplace) allows installation of TestNG, Maven, Cucumber, Git, and Allure plugins.</a:t>
            </a:r>
            <a:endParaRPr lang="en-US" sz="900" dirty="0"/>
          </a:p>
        </p:txBody>
      </p:sp>
      <p:sp>
        <p:nvSpPr>
          <p:cNvPr id="24" name="Text 22"/>
          <p:cNvSpPr/>
          <p:nvPr/>
        </p:nvSpPr>
        <p:spPr>
          <a:xfrm>
            <a:off x="4754880" y="2139696"/>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Testing Frameworks:  </a:t>
            </a:r>
            <a:r>
              <a:rPr lang="en-US" sz="900" dirty="0">
                <a:solidFill>
                  <a:srgbClr val="CCCCCC"/>
                </a:solidFill>
                <a:latin typeface="Arial" pitchFamily="34" charset="0"/>
                <a:ea typeface="Arial" pitchFamily="34" charset="-122"/>
                <a:cs typeface="Arial" pitchFamily="34" charset="-120"/>
              </a:rPr>
              <a:t>Supports JUnit, TestNG (popular for Selenium projects), Cucumber for BDD-style acceptance test scripting.</a:t>
            </a:r>
            <a:endParaRPr lang="en-US" sz="900" dirty="0"/>
          </a:p>
        </p:txBody>
      </p:sp>
      <p:sp>
        <p:nvSpPr>
          <p:cNvPr id="25" name="Text 23"/>
          <p:cNvSpPr/>
          <p:nvPr/>
        </p:nvSpPr>
        <p:spPr>
          <a:xfrm>
            <a:off x="4754880" y="2578608"/>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Selenium in Eclipse:  </a:t>
            </a:r>
            <a:r>
              <a:rPr lang="en-US" sz="900" dirty="0">
                <a:solidFill>
                  <a:srgbClr val="CCCCCC"/>
                </a:solidFill>
                <a:latin typeface="Arial" pitchFamily="34" charset="0"/>
                <a:ea typeface="Arial" pitchFamily="34" charset="-122"/>
                <a:cs typeface="Arial" pitchFamily="34" charset="-120"/>
              </a:rPr>
              <a:t>Add Selenium WebDriver JARs to the build path or use Maven. Structure test classes using Page Object Model (POM) design pattern.</a:t>
            </a:r>
            <a:endParaRPr lang="en-US" sz="900" dirty="0"/>
          </a:p>
        </p:txBody>
      </p:sp>
      <p:sp>
        <p:nvSpPr>
          <p:cNvPr id="26" name="Text 24"/>
          <p:cNvSpPr/>
          <p:nvPr/>
        </p:nvSpPr>
        <p:spPr>
          <a:xfrm>
            <a:off x="4754880" y="3017520"/>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Maven Integration:  </a:t>
            </a:r>
            <a:r>
              <a:rPr lang="en-US" sz="900" dirty="0">
                <a:solidFill>
                  <a:srgbClr val="CCCCCC"/>
                </a:solidFill>
                <a:latin typeface="Arial" pitchFamily="34" charset="0"/>
                <a:ea typeface="Arial" pitchFamily="34" charset="-122"/>
                <a:cs typeface="Arial" pitchFamily="34" charset="-120"/>
              </a:rPr>
              <a:t>m2e Maven plugin manages dependencies. Run `mvn test` directly from Eclipse to trigger TestNG suites against any browser.</a:t>
            </a:r>
            <a:endParaRPr lang="en-US" sz="900" dirty="0"/>
          </a:p>
        </p:txBody>
      </p:sp>
      <p:sp>
        <p:nvSpPr>
          <p:cNvPr id="27" name="Text 25"/>
          <p:cNvSpPr/>
          <p:nvPr/>
        </p:nvSpPr>
        <p:spPr>
          <a:xfrm>
            <a:off x="4754880" y="3456432"/>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Workspace Management:  </a:t>
            </a:r>
            <a:r>
              <a:rPr lang="en-US" sz="900" dirty="0">
                <a:solidFill>
                  <a:srgbClr val="CCCCCC"/>
                </a:solidFill>
                <a:latin typeface="Arial" pitchFamily="34" charset="0"/>
                <a:ea typeface="Arial" pitchFamily="34" charset="-122"/>
                <a:cs typeface="Arial" pitchFamily="34" charset="-120"/>
              </a:rPr>
              <a:t>Eclipse workspaces allow teams to manage multiple test projects simultaneously with shared code style and formatter settings.</a:t>
            </a:r>
            <a:endParaRPr lang="en-US" sz="900" dirty="0"/>
          </a:p>
        </p:txBody>
      </p:sp>
      <p:sp>
        <p:nvSpPr>
          <p:cNvPr id="28" name="Text 26"/>
          <p:cNvSpPr/>
          <p:nvPr/>
        </p:nvSpPr>
        <p:spPr>
          <a:xfrm>
            <a:off x="4754880" y="3895344"/>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Debugging:  </a:t>
            </a:r>
            <a:r>
              <a:rPr lang="en-US" sz="900" dirty="0">
                <a:solidFill>
                  <a:srgbClr val="CCCCCC"/>
                </a:solidFill>
                <a:latin typeface="Arial" pitchFamily="34" charset="0"/>
                <a:ea typeface="Arial" pitchFamily="34" charset="-122"/>
                <a:cs typeface="Arial" pitchFamily="34" charset="-120"/>
              </a:rPr>
              <a:t>Breakpoints, step-through, variable inspection — full-featured debugging for Selenium/Playwright Java test scripts.</a:t>
            </a:r>
            <a:endParaRPr lang="en-US" sz="900" dirty="0"/>
          </a:p>
        </p:txBody>
      </p:sp>
      <p:sp>
        <p:nvSpPr>
          <p:cNvPr id="29" name="Text 27"/>
          <p:cNvSpPr/>
          <p:nvPr/>
        </p:nvSpPr>
        <p:spPr>
          <a:xfrm>
            <a:off x="4754880" y="4334256"/>
            <a:ext cx="3977640" cy="393192"/>
          </a:xfrm>
          <a:prstGeom prst="rect">
            <a:avLst/>
          </a:prstGeom>
          <a:noFill/>
          <a:ln/>
        </p:spPr>
        <p:txBody>
          <a:bodyPr wrap="square" lIns="0" tIns="0" rIns="0" bIns="0" rtlCol="0" anchor="ctr"/>
          <a:lstStyle/>
          <a:p>
            <a:pPr marL="0" indent="0">
              <a:buNone/>
            </a:pPr>
            <a:r>
              <a:rPr lang="en-US" sz="900" b="1" dirty="0">
                <a:solidFill>
                  <a:srgbClr val="E8650A"/>
                </a:solidFill>
                <a:latin typeface="Arial" pitchFamily="34" charset="0"/>
                <a:ea typeface="Arial" pitchFamily="34" charset="-122"/>
                <a:cs typeface="Arial" pitchFamily="34" charset="-120"/>
              </a:rPr>
              <a:t>Use in Management:  </a:t>
            </a:r>
            <a:r>
              <a:rPr lang="en-US" sz="900" dirty="0">
                <a:solidFill>
                  <a:srgbClr val="CCCCCC"/>
                </a:solidFill>
                <a:latin typeface="Arial" pitchFamily="34" charset="0"/>
                <a:ea typeface="Arial" pitchFamily="34" charset="-122"/>
                <a:cs typeface="Arial" pitchFamily="34" charset="-120"/>
              </a:rPr>
              <a:t>Often used by QA teams in enterprise Java environments. Test framework outputs (XML reports) feed into management dashboards.</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10</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Real-World Workflow</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Example</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Test Management &amp; Control in a Live Project</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Real-World Project: E-Commerce Platform Release</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10  |  REAL-WORLD WORKFLOW</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Text 6"/>
          <p:cNvSpPr/>
          <p:nvPr/>
        </p:nvSpPr>
        <p:spPr>
          <a:xfrm>
            <a:off x="182880" y="804672"/>
            <a:ext cx="8686800" cy="438912"/>
          </a:xfrm>
          <a:prstGeom prst="rect">
            <a:avLst/>
          </a:prstGeom>
          <a:noFill/>
          <a:ln/>
        </p:spPr>
        <p:txBody>
          <a:bodyPr wrap="square" lIns="0" tIns="0" rIns="0" bIns="0" rtlCol="0" anchor="ctr"/>
          <a:lstStyle/>
          <a:p>
            <a:pPr marL="0" indent="0">
              <a:buNone/>
            </a:pPr>
            <a:r>
              <a:rPr lang="en-US" sz="1100" i="1" dirty="0">
                <a:solidFill>
                  <a:srgbClr val="F5F5F5"/>
                </a:solidFill>
                <a:latin typeface="Arial" pitchFamily="34" charset="0"/>
                <a:ea typeface="Arial" pitchFamily="34" charset="-122"/>
                <a:cs typeface="Arial" pitchFamily="34" charset="-120"/>
              </a:rPr>
              <a:t>Scenario: A large e-commerce company is releasing a new Checkout &amp; Payments module. You are the Test Manager. Here is how Test Management and Control plays out across the STLC:</a:t>
            </a:r>
            <a:endParaRPr lang="en-US" sz="1100" dirty="0"/>
          </a:p>
        </p:txBody>
      </p:sp>
      <p:sp>
        <p:nvSpPr>
          <p:cNvPr id="9" name="Shape 7"/>
          <p:cNvSpPr/>
          <p:nvPr/>
        </p:nvSpPr>
        <p:spPr>
          <a:xfrm>
            <a:off x="182880" y="1298448"/>
            <a:ext cx="8778240" cy="82296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0" name="Shape 8"/>
          <p:cNvSpPr/>
          <p:nvPr/>
        </p:nvSpPr>
        <p:spPr>
          <a:xfrm>
            <a:off x="182880" y="1298448"/>
            <a:ext cx="73152" cy="822960"/>
          </a:xfrm>
          <a:prstGeom prst="rect">
            <a:avLst/>
          </a:prstGeom>
          <a:solidFill>
            <a:srgbClr val="E8650A"/>
          </a:solidFill>
          <a:ln w="12700">
            <a:solidFill>
              <a:srgbClr val="E8650A"/>
            </a:solidFill>
            <a:prstDash val="solid"/>
          </a:ln>
        </p:spPr>
      </p:sp>
      <p:sp>
        <p:nvSpPr>
          <p:cNvPr id="11" name="Text 9"/>
          <p:cNvSpPr/>
          <p:nvPr/>
        </p:nvSpPr>
        <p:spPr>
          <a:xfrm>
            <a:off x="320040" y="1335024"/>
            <a:ext cx="8412480" cy="219456"/>
          </a:xfrm>
          <a:prstGeom prst="rect">
            <a:avLst/>
          </a:prstGeom>
          <a:noFill/>
          <a:ln/>
        </p:spPr>
        <p:txBody>
          <a:bodyPr wrap="square" lIns="0" tIns="0" rIns="0" bIns="0" rtlCol="0" anchor="ctr"/>
          <a:lstStyle/>
          <a:p>
            <a:pPr marL="0" indent="0">
              <a:buNone/>
            </a:pPr>
            <a:r>
              <a:rPr lang="en-US" sz="1200" b="1" dirty="0">
                <a:solidFill>
                  <a:srgbClr val="E8650A"/>
                </a:solidFill>
                <a:latin typeface="Arial Black" pitchFamily="34" charset="0"/>
                <a:ea typeface="Arial Black" pitchFamily="34" charset="-122"/>
                <a:cs typeface="Arial Black" pitchFamily="34" charset="-120"/>
              </a:rPr>
              <a:t>Week 1-2: Planning</a:t>
            </a:r>
            <a:endParaRPr lang="en-US" sz="1200" dirty="0"/>
          </a:p>
        </p:txBody>
      </p:sp>
      <p:sp>
        <p:nvSpPr>
          <p:cNvPr id="12" name="Text 10"/>
          <p:cNvSpPr/>
          <p:nvPr/>
        </p:nvSpPr>
        <p:spPr>
          <a:xfrm>
            <a:off x="320040" y="1572768"/>
            <a:ext cx="8412480" cy="512064"/>
          </a:xfrm>
          <a:prstGeom prst="rect">
            <a:avLst/>
          </a:prstGeom>
          <a:noFill/>
          <a:ln/>
        </p:spPr>
        <p:txBody>
          <a:bodyPr wrap="square" lIns="0" tIns="0" rIns="0" bIns="0" rtlCol="0" anchor="ctr"/>
          <a:lstStyle/>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Created Test Plan: 18 testers, 6-week timeline, 480 test cases planned across functional, regression, API, and UAT.</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Defined Entry Criteria: All P1 user stories peer-reviewed; QA environment deployed and smoke-tested.</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Identified Risk: Payment gateway sandbox may have rate limits — mitigation: mock service prepared.</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Tool Setup: IntelliJ + Selenium framework initialised; Playwright configured for UI regression; Jira project created.</a:t>
            </a:r>
            <a:endParaRPr lang="en-US" sz="950" dirty="0"/>
          </a:p>
        </p:txBody>
      </p:sp>
      <p:sp>
        <p:nvSpPr>
          <p:cNvPr id="13" name="Shape 11"/>
          <p:cNvSpPr/>
          <p:nvPr/>
        </p:nvSpPr>
        <p:spPr>
          <a:xfrm>
            <a:off x="182880" y="2194560"/>
            <a:ext cx="8778240" cy="82296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4" name="Shape 12"/>
          <p:cNvSpPr/>
          <p:nvPr/>
        </p:nvSpPr>
        <p:spPr>
          <a:xfrm>
            <a:off x="182880" y="2194560"/>
            <a:ext cx="73152" cy="822960"/>
          </a:xfrm>
          <a:prstGeom prst="rect">
            <a:avLst/>
          </a:prstGeom>
          <a:solidFill>
            <a:srgbClr val="1565C0"/>
          </a:solidFill>
          <a:ln w="12700">
            <a:solidFill>
              <a:srgbClr val="1565C0"/>
            </a:solidFill>
            <a:prstDash val="solid"/>
          </a:ln>
        </p:spPr>
      </p:sp>
      <p:sp>
        <p:nvSpPr>
          <p:cNvPr id="15" name="Text 13"/>
          <p:cNvSpPr/>
          <p:nvPr/>
        </p:nvSpPr>
        <p:spPr>
          <a:xfrm>
            <a:off x="320040" y="2231136"/>
            <a:ext cx="8412480" cy="219456"/>
          </a:xfrm>
          <a:prstGeom prst="rect">
            <a:avLst/>
          </a:prstGeom>
          <a:noFill/>
          <a:ln/>
        </p:spPr>
        <p:txBody>
          <a:bodyPr wrap="square" lIns="0" tIns="0" rIns="0" bIns="0" rtlCol="0" anchor="ctr"/>
          <a:lstStyle/>
          <a:p>
            <a:pPr marL="0" indent="0">
              <a:buNone/>
            </a:pPr>
            <a:r>
              <a:rPr lang="en-US" sz="1200" b="1" dirty="0">
                <a:solidFill>
                  <a:srgbClr val="1565C0"/>
                </a:solidFill>
                <a:latin typeface="Arial Black" pitchFamily="34" charset="0"/>
                <a:ea typeface="Arial Black" pitchFamily="34" charset="-122"/>
                <a:cs typeface="Arial Black" pitchFamily="34" charset="-120"/>
              </a:rPr>
              <a:t>Week 3-4: Test Design &amp; Env Setup</a:t>
            </a:r>
            <a:endParaRPr lang="en-US" sz="1200" dirty="0"/>
          </a:p>
        </p:txBody>
      </p:sp>
      <p:sp>
        <p:nvSpPr>
          <p:cNvPr id="16" name="Text 14"/>
          <p:cNvSpPr/>
          <p:nvPr/>
        </p:nvSpPr>
        <p:spPr>
          <a:xfrm>
            <a:off x="320040" y="2468880"/>
            <a:ext cx="8412480" cy="512064"/>
          </a:xfrm>
          <a:prstGeom prst="rect">
            <a:avLst/>
          </a:prstGeom>
          <a:noFill/>
          <a:ln/>
        </p:spPr>
        <p:txBody>
          <a:bodyPr wrap="square" lIns="0" tIns="0" rIns="0" bIns="0" rtlCol="0" anchor="ctr"/>
          <a:lstStyle/>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480 test cases authored in Zephyr (Jira plugin): 210 functional, 180 regression (automated), 90 integration/API.</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Playwright automated 180 regression scripts for checkout, basket, and product search flows.</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Test environment health check: 2 testers assigned to resolve failing smoke tests on payment sandbox.</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Entry criteria met on Day 12. Execution phase formally commenced.</a:t>
            </a:r>
            <a:endParaRPr lang="en-US" sz="950" dirty="0"/>
          </a:p>
        </p:txBody>
      </p:sp>
      <p:sp>
        <p:nvSpPr>
          <p:cNvPr id="17" name="Shape 15"/>
          <p:cNvSpPr/>
          <p:nvPr/>
        </p:nvSpPr>
        <p:spPr>
          <a:xfrm>
            <a:off x="182880" y="3090672"/>
            <a:ext cx="8778240" cy="82296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8" name="Shape 16"/>
          <p:cNvSpPr/>
          <p:nvPr/>
        </p:nvSpPr>
        <p:spPr>
          <a:xfrm>
            <a:off x="182880" y="3090672"/>
            <a:ext cx="73152" cy="822960"/>
          </a:xfrm>
          <a:prstGeom prst="rect">
            <a:avLst/>
          </a:prstGeom>
          <a:solidFill>
            <a:srgbClr val="8B1A00"/>
          </a:solidFill>
          <a:ln w="12700">
            <a:solidFill>
              <a:srgbClr val="8B1A00"/>
            </a:solidFill>
            <a:prstDash val="solid"/>
          </a:ln>
        </p:spPr>
      </p:sp>
      <p:sp>
        <p:nvSpPr>
          <p:cNvPr id="19" name="Text 17"/>
          <p:cNvSpPr/>
          <p:nvPr/>
        </p:nvSpPr>
        <p:spPr>
          <a:xfrm>
            <a:off x="320040" y="3127248"/>
            <a:ext cx="8412480" cy="219456"/>
          </a:xfrm>
          <a:prstGeom prst="rect">
            <a:avLst/>
          </a:prstGeom>
          <a:noFill/>
          <a:ln/>
        </p:spPr>
        <p:txBody>
          <a:bodyPr wrap="square" lIns="0" tIns="0" rIns="0" bIns="0" rtlCol="0" anchor="ctr"/>
          <a:lstStyle/>
          <a:p>
            <a:pPr marL="0" indent="0">
              <a:buNone/>
            </a:pPr>
            <a:r>
              <a:rPr lang="en-US" sz="1200" b="1" dirty="0">
                <a:solidFill>
                  <a:srgbClr val="8B1A00"/>
                </a:solidFill>
                <a:latin typeface="Arial Black" pitchFamily="34" charset="0"/>
                <a:ea typeface="Arial Black" pitchFamily="34" charset="-122"/>
                <a:cs typeface="Arial Black" pitchFamily="34" charset="-120"/>
              </a:rPr>
              <a:t>Week 5: Execution — Test Control Event!</a:t>
            </a:r>
            <a:endParaRPr lang="en-US" sz="1200" dirty="0"/>
          </a:p>
        </p:txBody>
      </p:sp>
      <p:sp>
        <p:nvSpPr>
          <p:cNvPr id="20" name="Text 18"/>
          <p:cNvSpPr/>
          <p:nvPr/>
        </p:nvSpPr>
        <p:spPr>
          <a:xfrm>
            <a:off x="320040" y="3364992"/>
            <a:ext cx="8412480" cy="512064"/>
          </a:xfrm>
          <a:prstGeom prst="rect">
            <a:avLst/>
          </a:prstGeom>
          <a:noFill/>
          <a:ln/>
        </p:spPr>
        <p:txBody>
          <a:bodyPr wrap="square" lIns="0" tIns="0" rIns="0" bIns="0" rtlCol="0" anchor="ctr"/>
          <a:lstStyle/>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Day 18 Monitoring: Only 54% execution completed (target: 65%). Defect raise rate: 18 High defects/day.</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TEST CONTROL ACTION: Emergency triage — 3 testers reallocated from UAT prep to critical payment module.</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Stop-test raised for Build 1.4.2 — 8 Critical defects in checkout. Dev team issued hotfix Build 1.4.3.</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Selenium regression suite ran automatically overnight — 23 new failures detected. Dev alerted at 07:00.</a:t>
            </a:r>
            <a:endParaRPr lang="en-US" sz="950" dirty="0"/>
          </a:p>
        </p:txBody>
      </p:sp>
      <p:sp>
        <p:nvSpPr>
          <p:cNvPr id="21" name="Shape 19"/>
          <p:cNvSpPr/>
          <p:nvPr/>
        </p:nvSpPr>
        <p:spPr>
          <a:xfrm>
            <a:off x="182880" y="3986784"/>
            <a:ext cx="8778240" cy="82296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2" name="Shape 20"/>
          <p:cNvSpPr/>
          <p:nvPr/>
        </p:nvSpPr>
        <p:spPr>
          <a:xfrm>
            <a:off x="182880" y="3986784"/>
            <a:ext cx="73152" cy="822960"/>
          </a:xfrm>
          <a:prstGeom prst="rect">
            <a:avLst/>
          </a:prstGeom>
          <a:solidFill>
            <a:srgbClr val="2E8B57"/>
          </a:solidFill>
          <a:ln w="12700">
            <a:solidFill>
              <a:srgbClr val="2E8B57"/>
            </a:solidFill>
            <a:prstDash val="solid"/>
          </a:ln>
        </p:spPr>
      </p:sp>
      <p:sp>
        <p:nvSpPr>
          <p:cNvPr id="23" name="Text 21"/>
          <p:cNvSpPr/>
          <p:nvPr/>
        </p:nvSpPr>
        <p:spPr>
          <a:xfrm>
            <a:off x="320040" y="4023360"/>
            <a:ext cx="8412480" cy="219456"/>
          </a:xfrm>
          <a:prstGeom prst="rect">
            <a:avLst/>
          </a:prstGeom>
          <a:noFill/>
          <a:ln/>
        </p:spPr>
        <p:txBody>
          <a:bodyPr wrap="square" lIns="0" tIns="0" rIns="0" bIns="0" rtlCol="0" anchor="ctr"/>
          <a:lstStyle/>
          <a:p>
            <a:pPr marL="0" indent="0">
              <a:buNone/>
            </a:pPr>
            <a:r>
              <a:rPr lang="en-US" sz="1200" b="1" dirty="0">
                <a:solidFill>
                  <a:srgbClr val="2E8B57"/>
                </a:solidFill>
                <a:latin typeface="Arial Black" pitchFamily="34" charset="0"/>
                <a:ea typeface="Arial Black" pitchFamily="34" charset="-122"/>
                <a:cs typeface="Arial Black" pitchFamily="34" charset="-120"/>
              </a:rPr>
              <a:t>Week 6-7: UAT &amp; Closure</a:t>
            </a:r>
            <a:endParaRPr lang="en-US" sz="1200" dirty="0"/>
          </a:p>
        </p:txBody>
      </p:sp>
      <p:sp>
        <p:nvSpPr>
          <p:cNvPr id="24" name="Text 22"/>
          <p:cNvSpPr/>
          <p:nvPr/>
        </p:nvSpPr>
        <p:spPr>
          <a:xfrm>
            <a:off x="320040" y="4261104"/>
            <a:ext cx="8412480" cy="512064"/>
          </a:xfrm>
          <a:prstGeom prst="rect">
            <a:avLst/>
          </a:prstGeom>
          <a:noFill/>
          <a:ln/>
        </p:spPr>
        <p:txBody>
          <a:bodyPr wrap="square" lIns="0" tIns="0" rIns="0" bIns="0" rtlCol="0" anchor="ctr"/>
          <a:lstStyle/>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UAT commenced with 5 business users. 12 business-identified issues — 9 fixed, 3 deferred with sign-off.</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Final metrics: 476/480 executed (99.2%), 441 passed (92.6%), 8 outstanding P3/P4 defects accepted.</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Test Summary Report issued: QA Manager signed off with Conditional Pass (3 known low-risk issues noted).</a:t>
            </a:r>
            <a:endParaRPr lang="en-US" sz="950" dirty="0"/>
          </a:p>
          <a:p>
            <a:pPr marL="342900" indent="-342900">
              <a:spcAft>
                <a:spcPts val="100"/>
              </a:spcAft>
              <a:buSzPct val="100000"/>
              <a:buChar char="•"/>
            </a:pPr>
            <a:r>
              <a:rPr lang="en-US" sz="950" dirty="0">
                <a:solidFill>
                  <a:srgbClr val="F5F5F5"/>
                </a:solidFill>
                <a:latin typeface="Arial" pitchFamily="34" charset="0"/>
                <a:ea typeface="Arial" pitchFamily="34" charset="-122"/>
                <a:cs typeface="Arial" pitchFamily="34" charset="-120"/>
              </a:rPr>
              <a:t>Lessons Learned: Payment sandbox issues should be resolved in Sprint 0 next release.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11</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Best Practices &amp;</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Common Challenges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Excellence in Test Management &amp; Control</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Best Practices in Test Management &amp; Control</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11  |  BEST PRACTICES</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402336" cy="1353312"/>
          </a:xfrm>
          <a:prstGeom prst="rect">
            <a:avLst/>
          </a:prstGeom>
          <a:solidFill>
            <a:srgbClr val="E8650A"/>
          </a:solidFill>
          <a:ln w="12700">
            <a:solidFill>
              <a:srgbClr val="E8650A"/>
            </a:solidFill>
            <a:prstDash val="solid"/>
          </a:ln>
        </p:spPr>
      </p:sp>
      <p:sp>
        <p:nvSpPr>
          <p:cNvPr id="10" name="Text 8"/>
          <p:cNvSpPr/>
          <p:nvPr/>
        </p:nvSpPr>
        <p:spPr>
          <a:xfrm>
            <a:off x="182880" y="80467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01</a:t>
            </a:r>
            <a:endParaRPr lang="en-US" sz="1600" dirty="0"/>
          </a:p>
        </p:txBody>
      </p:sp>
      <p:sp>
        <p:nvSpPr>
          <p:cNvPr id="11" name="Text 9"/>
          <p:cNvSpPr/>
          <p:nvPr/>
        </p:nvSpPr>
        <p:spPr>
          <a:xfrm>
            <a:off x="685800" y="85953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Clear &amp; Living Documentation</a:t>
            </a:r>
            <a:endParaRPr lang="en-US" sz="1200" dirty="0"/>
          </a:p>
        </p:txBody>
      </p:sp>
      <p:sp>
        <p:nvSpPr>
          <p:cNvPr id="12" name="Text 10"/>
          <p:cNvSpPr/>
          <p:nvPr/>
        </p:nvSpPr>
        <p:spPr>
          <a:xfrm>
            <a:off x="685800" y="113385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Test plans, strategies, and test cases must be maintained as living documents. They should be updated whenever requirements change, not written once and forgotten. Use version control (Git) for test documentation.</a:t>
            </a:r>
            <a:endParaRPr lang="en-US" sz="1000" dirty="0"/>
          </a:p>
        </p:txBody>
      </p:sp>
      <p:sp>
        <p:nvSpPr>
          <p:cNvPr id="13" name="Text 11"/>
          <p:cNvSpPr/>
          <p:nvPr/>
        </p:nvSpPr>
        <p:spPr>
          <a:xfrm>
            <a:off x="685800" y="171907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Use Confluence for test plans + Zephyr for test cases to maintain traceability from requirements to test to result.</a:t>
            </a:r>
            <a:endParaRPr lang="en-US" sz="950" dirty="0"/>
          </a:p>
        </p:txBody>
      </p:sp>
      <p:sp>
        <p:nvSpPr>
          <p:cNvPr id="14" name="Shape 12"/>
          <p:cNvSpPr/>
          <p:nvPr/>
        </p:nvSpPr>
        <p:spPr>
          <a:xfrm>
            <a:off x="4663440" y="80467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5" name="Shape 13"/>
          <p:cNvSpPr/>
          <p:nvPr/>
        </p:nvSpPr>
        <p:spPr>
          <a:xfrm>
            <a:off x="4663440" y="804672"/>
            <a:ext cx="402336" cy="1353312"/>
          </a:xfrm>
          <a:prstGeom prst="rect">
            <a:avLst/>
          </a:prstGeom>
          <a:solidFill>
            <a:srgbClr val="E8650A"/>
          </a:solidFill>
          <a:ln w="12700">
            <a:solidFill>
              <a:srgbClr val="E8650A"/>
            </a:solidFill>
            <a:prstDash val="solid"/>
          </a:ln>
        </p:spPr>
      </p:sp>
      <p:sp>
        <p:nvSpPr>
          <p:cNvPr id="16" name="Text 14"/>
          <p:cNvSpPr/>
          <p:nvPr/>
        </p:nvSpPr>
        <p:spPr>
          <a:xfrm>
            <a:off x="4663440" y="80467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02</a:t>
            </a:r>
            <a:endParaRPr lang="en-US" sz="1600" dirty="0"/>
          </a:p>
        </p:txBody>
      </p:sp>
      <p:sp>
        <p:nvSpPr>
          <p:cNvPr id="17" name="Text 15"/>
          <p:cNvSpPr/>
          <p:nvPr/>
        </p:nvSpPr>
        <p:spPr>
          <a:xfrm>
            <a:off x="5166360" y="85953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Continuous Monitoring with Real-Time Dashboards</a:t>
            </a:r>
            <a:endParaRPr lang="en-US" sz="1200" dirty="0"/>
          </a:p>
        </p:txBody>
      </p:sp>
      <p:sp>
        <p:nvSpPr>
          <p:cNvPr id="18" name="Text 16"/>
          <p:cNvSpPr/>
          <p:nvPr/>
        </p:nvSpPr>
        <p:spPr>
          <a:xfrm>
            <a:off x="5166360" y="113385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Do not wait for end-of-day reports to detect issues. Implement real-time dashboards (Jira, TestRail, Allure) that surface execution rate, defect velocity, and blocked tests the moment they occur.</a:t>
            </a:r>
            <a:endParaRPr lang="en-US" sz="1000" dirty="0"/>
          </a:p>
        </p:txBody>
      </p:sp>
      <p:sp>
        <p:nvSpPr>
          <p:cNvPr id="19" name="Text 17"/>
          <p:cNvSpPr/>
          <p:nvPr/>
        </p:nvSpPr>
        <p:spPr>
          <a:xfrm>
            <a:off x="5166360" y="171907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Set automated alerts (Slack/email) when blocked test count exceeds 5% or defect open rate spikes above threshold.</a:t>
            </a:r>
            <a:endParaRPr lang="en-US" sz="950" dirty="0"/>
          </a:p>
        </p:txBody>
      </p:sp>
      <p:sp>
        <p:nvSpPr>
          <p:cNvPr id="20" name="Shape 18"/>
          <p:cNvSpPr/>
          <p:nvPr/>
        </p:nvSpPr>
        <p:spPr>
          <a:xfrm>
            <a:off x="182880" y="222199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1" name="Shape 19"/>
          <p:cNvSpPr/>
          <p:nvPr/>
        </p:nvSpPr>
        <p:spPr>
          <a:xfrm>
            <a:off x="182880" y="2221992"/>
            <a:ext cx="402336" cy="1353312"/>
          </a:xfrm>
          <a:prstGeom prst="rect">
            <a:avLst/>
          </a:prstGeom>
          <a:solidFill>
            <a:srgbClr val="E8650A"/>
          </a:solidFill>
          <a:ln w="12700">
            <a:solidFill>
              <a:srgbClr val="E8650A"/>
            </a:solidFill>
            <a:prstDash val="solid"/>
          </a:ln>
        </p:spPr>
      </p:sp>
      <p:sp>
        <p:nvSpPr>
          <p:cNvPr id="22" name="Text 20"/>
          <p:cNvSpPr/>
          <p:nvPr/>
        </p:nvSpPr>
        <p:spPr>
          <a:xfrm>
            <a:off x="182880" y="222199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03</a:t>
            </a:r>
            <a:endParaRPr lang="en-US" sz="1600" dirty="0"/>
          </a:p>
        </p:txBody>
      </p:sp>
      <p:sp>
        <p:nvSpPr>
          <p:cNvPr id="23" name="Text 21"/>
          <p:cNvSpPr/>
          <p:nvPr/>
        </p:nvSpPr>
        <p:spPr>
          <a:xfrm>
            <a:off x="685800" y="227685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Effective Stakeholder Communication</a:t>
            </a:r>
            <a:endParaRPr lang="en-US" sz="1200" dirty="0"/>
          </a:p>
        </p:txBody>
      </p:sp>
      <p:sp>
        <p:nvSpPr>
          <p:cNvPr id="24" name="Text 22"/>
          <p:cNvSpPr/>
          <p:nvPr/>
        </p:nvSpPr>
        <p:spPr>
          <a:xfrm>
            <a:off x="685800" y="255117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Tailor communication by audience: daily technical status for Dev teams, weekly RAG-status summaries for sponsors. Never surprise stakeholders — surface risks early, not reactively.</a:t>
            </a:r>
            <a:endParaRPr lang="en-US" sz="1000" dirty="0"/>
          </a:p>
        </p:txBody>
      </p:sp>
      <p:sp>
        <p:nvSpPr>
          <p:cNvPr id="25" name="Text 23"/>
          <p:cNvSpPr/>
          <p:nvPr/>
        </p:nvSpPr>
        <p:spPr>
          <a:xfrm>
            <a:off x="685800" y="313639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Use a RAID log (Risks, Actions, Issues, Decisions) updated daily. Share it in all stakeholder meetings.</a:t>
            </a:r>
            <a:endParaRPr lang="en-US" sz="950" dirty="0"/>
          </a:p>
        </p:txBody>
      </p:sp>
      <p:sp>
        <p:nvSpPr>
          <p:cNvPr id="26" name="Shape 24"/>
          <p:cNvSpPr/>
          <p:nvPr/>
        </p:nvSpPr>
        <p:spPr>
          <a:xfrm>
            <a:off x="4663440" y="222199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7" name="Shape 25"/>
          <p:cNvSpPr/>
          <p:nvPr/>
        </p:nvSpPr>
        <p:spPr>
          <a:xfrm>
            <a:off x="4663440" y="2221992"/>
            <a:ext cx="402336" cy="1353312"/>
          </a:xfrm>
          <a:prstGeom prst="rect">
            <a:avLst/>
          </a:prstGeom>
          <a:solidFill>
            <a:srgbClr val="E8650A"/>
          </a:solidFill>
          <a:ln w="12700">
            <a:solidFill>
              <a:srgbClr val="E8650A"/>
            </a:solidFill>
            <a:prstDash val="solid"/>
          </a:ln>
        </p:spPr>
      </p:sp>
      <p:sp>
        <p:nvSpPr>
          <p:cNvPr id="28" name="Text 26"/>
          <p:cNvSpPr/>
          <p:nvPr/>
        </p:nvSpPr>
        <p:spPr>
          <a:xfrm>
            <a:off x="4663440" y="222199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04</a:t>
            </a:r>
            <a:endParaRPr lang="en-US" sz="1600" dirty="0"/>
          </a:p>
        </p:txBody>
      </p:sp>
      <p:sp>
        <p:nvSpPr>
          <p:cNvPr id="29" name="Text 27"/>
          <p:cNvSpPr/>
          <p:nvPr/>
        </p:nvSpPr>
        <p:spPr>
          <a:xfrm>
            <a:off x="5166360" y="227685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Proactive Risk Management</a:t>
            </a:r>
            <a:endParaRPr lang="en-US" sz="1200" dirty="0"/>
          </a:p>
        </p:txBody>
      </p:sp>
      <p:sp>
        <p:nvSpPr>
          <p:cNvPr id="30" name="Text 28"/>
          <p:cNvSpPr/>
          <p:nvPr/>
        </p:nvSpPr>
        <p:spPr>
          <a:xfrm>
            <a:off x="5166360" y="255117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Maintain a living risk register from day one. Review it weekly and update likelihood/impact as the project progresses. Never treat risk management as a one-time planning exercise.</a:t>
            </a:r>
            <a:endParaRPr lang="en-US" sz="1000" dirty="0"/>
          </a:p>
        </p:txBody>
      </p:sp>
      <p:sp>
        <p:nvSpPr>
          <p:cNvPr id="31" name="Text 29"/>
          <p:cNvSpPr/>
          <p:nvPr/>
        </p:nvSpPr>
        <p:spPr>
          <a:xfrm>
            <a:off x="5166360" y="313639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Categorise risks: Product Risk (feature quality) vs Project Risk (schedule, resources). Both need separate mitigation plans.</a:t>
            </a:r>
            <a:endParaRPr lang="en-US" sz="950" dirty="0"/>
          </a:p>
        </p:txBody>
      </p:sp>
      <p:sp>
        <p:nvSpPr>
          <p:cNvPr id="32" name="Shape 30"/>
          <p:cNvSpPr/>
          <p:nvPr/>
        </p:nvSpPr>
        <p:spPr>
          <a:xfrm>
            <a:off x="182880" y="363931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3" name="Shape 31"/>
          <p:cNvSpPr/>
          <p:nvPr/>
        </p:nvSpPr>
        <p:spPr>
          <a:xfrm>
            <a:off x="182880" y="3639312"/>
            <a:ext cx="402336" cy="1353312"/>
          </a:xfrm>
          <a:prstGeom prst="rect">
            <a:avLst/>
          </a:prstGeom>
          <a:solidFill>
            <a:srgbClr val="E8650A"/>
          </a:solidFill>
          <a:ln w="12700">
            <a:solidFill>
              <a:srgbClr val="E8650A"/>
            </a:solidFill>
            <a:prstDash val="solid"/>
          </a:ln>
        </p:spPr>
      </p:sp>
      <p:sp>
        <p:nvSpPr>
          <p:cNvPr id="34" name="Text 32"/>
          <p:cNvSpPr/>
          <p:nvPr/>
        </p:nvSpPr>
        <p:spPr>
          <a:xfrm>
            <a:off x="182880" y="363931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05</a:t>
            </a:r>
            <a:endParaRPr lang="en-US" sz="1600" dirty="0"/>
          </a:p>
        </p:txBody>
      </p:sp>
      <p:sp>
        <p:nvSpPr>
          <p:cNvPr id="35" name="Text 33"/>
          <p:cNvSpPr/>
          <p:nvPr/>
        </p:nvSpPr>
        <p:spPr>
          <a:xfrm>
            <a:off x="685800" y="369417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Data-Driven Decision Making</a:t>
            </a:r>
            <a:endParaRPr lang="en-US" sz="1200" dirty="0"/>
          </a:p>
        </p:txBody>
      </p:sp>
      <p:sp>
        <p:nvSpPr>
          <p:cNvPr id="36" name="Text 34"/>
          <p:cNvSpPr/>
          <p:nvPr/>
        </p:nvSpPr>
        <p:spPr>
          <a:xfrm>
            <a:off x="685800" y="396849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All test control decisions must be backed by metric data. Never extend timelines or reduce scope based on 'gut feel' — always reference defect trends, coverage %, and execution burn-down.</a:t>
            </a:r>
            <a:endParaRPr lang="en-US" sz="1000" dirty="0"/>
          </a:p>
        </p:txBody>
      </p:sp>
      <p:sp>
        <p:nvSpPr>
          <p:cNvPr id="37" name="Text 35"/>
          <p:cNvSpPr/>
          <p:nvPr/>
        </p:nvSpPr>
        <p:spPr>
          <a:xfrm>
            <a:off x="685800" y="455371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Establish metric thresholds in the test plan (e.g., pass rate &lt;85% = stop-test gate). Enforce them consistently.</a:t>
            </a:r>
            <a:endParaRPr lang="en-US" sz="950" dirty="0"/>
          </a:p>
        </p:txBody>
      </p:sp>
      <p:sp>
        <p:nvSpPr>
          <p:cNvPr id="38" name="Shape 36"/>
          <p:cNvSpPr/>
          <p:nvPr/>
        </p:nvSpPr>
        <p:spPr>
          <a:xfrm>
            <a:off x="4663440" y="3639312"/>
            <a:ext cx="4315968" cy="1353312"/>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9" name="Shape 37"/>
          <p:cNvSpPr/>
          <p:nvPr/>
        </p:nvSpPr>
        <p:spPr>
          <a:xfrm>
            <a:off x="4663440" y="3639312"/>
            <a:ext cx="402336" cy="1353312"/>
          </a:xfrm>
          <a:prstGeom prst="rect">
            <a:avLst/>
          </a:prstGeom>
          <a:solidFill>
            <a:srgbClr val="E8650A"/>
          </a:solidFill>
          <a:ln w="12700">
            <a:solidFill>
              <a:srgbClr val="E8650A"/>
            </a:solidFill>
            <a:prstDash val="solid"/>
          </a:ln>
        </p:spPr>
      </p:sp>
      <p:sp>
        <p:nvSpPr>
          <p:cNvPr id="40" name="Text 38"/>
          <p:cNvSpPr/>
          <p:nvPr/>
        </p:nvSpPr>
        <p:spPr>
          <a:xfrm>
            <a:off x="4663440" y="3639312"/>
            <a:ext cx="402336" cy="1353312"/>
          </a:xfrm>
          <a:prstGeom prst="rect">
            <a:avLst/>
          </a:prstGeom>
          <a:noFill/>
          <a:ln/>
        </p:spPr>
        <p:txBody>
          <a:bodyPr wrap="square" lIns="0" tIns="0" rIns="0" bIns="0" rtlCol="0" anchor="ctr"/>
          <a:lstStyle/>
          <a:p>
            <a:pPr marL="0" indent="0" algn="ctr">
              <a:buNone/>
            </a:pPr>
            <a:r>
              <a:rPr lang="en-US" sz="1600" b="1" dirty="0">
                <a:solidFill>
                  <a:srgbClr val="FFFFFF"/>
                </a:solidFill>
                <a:latin typeface="Arial Black" pitchFamily="34" charset="0"/>
                <a:ea typeface="Arial Black" pitchFamily="34" charset="-122"/>
                <a:cs typeface="Arial Black" pitchFamily="34" charset="-120"/>
              </a:rPr>
              <a:t>06</a:t>
            </a:r>
            <a:endParaRPr lang="en-US" sz="1600" dirty="0"/>
          </a:p>
        </p:txBody>
      </p:sp>
      <p:sp>
        <p:nvSpPr>
          <p:cNvPr id="41" name="Text 39"/>
          <p:cNvSpPr/>
          <p:nvPr/>
        </p:nvSpPr>
        <p:spPr>
          <a:xfrm>
            <a:off x="5166360" y="3694176"/>
            <a:ext cx="3730752" cy="256032"/>
          </a:xfrm>
          <a:prstGeom prst="rect">
            <a:avLst/>
          </a:prstGeom>
          <a:noFill/>
          <a:ln/>
        </p:spPr>
        <p:txBody>
          <a:bodyPr wrap="square" lIns="0" tIns="0" rIns="0" bIns="0" rtlCol="0" anchor="ctr"/>
          <a:lstStyle/>
          <a:p>
            <a:pPr marL="0" indent="0">
              <a:buNone/>
            </a:pPr>
            <a:r>
              <a:rPr lang="en-US" sz="1200" b="1" dirty="0">
                <a:solidFill>
                  <a:srgbClr val="FFFFFF"/>
                </a:solidFill>
                <a:latin typeface="Arial Black" pitchFamily="34" charset="0"/>
                <a:ea typeface="Arial Black" pitchFamily="34" charset="-122"/>
                <a:cs typeface="Arial Black" pitchFamily="34" charset="-120"/>
              </a:rPr>
              <a:t>Shift-Left Testing</a:t>
            </a:r>
            <a:endParaRPr lang="en-US" sz="1200" dirty="0"/>
          </a:p>
        </p:txBody>
      </p:sp>
      <p:sp>
        <p:nvSpPr>
          <p:cNvPr id="42" name="Text 40"/>
          <p:cNvSpPr/>
          <p:nvPr/>
        </p:nvSpPr>
        <p:spPr>
          <a:xfrm>
            <a:off x="5166360" y="3968496"/>
            <a:ext cx="3730752" cy="548640"/>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Involve QA from requirements analysis — not just execution. Early test design catches ambiguous requirements before they become expensive code defects. Prevention is cheaper than detection.</a:t>
            </a:r>
            <a:endParaRPr lang="en-US" sz="1000" dirty="0"/>
          </a:p>
        </p:txBody>
      </p:sp>
      <p:sp>
        <p:nvSpPr>
          <p:cNvPr id="43" name="Text 41"/>
          <p:cNvSpPr/>
          <p:nvPr/>
        </p:nvSpPr>
        <p:spPr>
          <a:xfrm>
            <a:off x="5166360" y="4553712"/>
            <a:ext cx="3730752" cy="384048"/>
          </a:xfrm>
          <a:prstGeom prst="rect">
            <a:avLst/>
          </a:prstGeom>
          <a:noFill/>
          <a:ln/>
        </p:spPr>
        <p:txBody>
          <a:bodyPr wrap="square" lIns="0" tIns="0" rIns="0" bIns="0" rtlCol="0" anchor="ctr"/>
          <a:lstStyle/>
          <a:p>
            <a:pPr marL="0" indent="0">
              <a:buNone/>
            </a:pPr>
            <a:r>
              <a:rPr lang="en-US" sz="950" i="1" dirty="0">
                <a:solidFill>
                  <a:srgbClr val="E8650A"/>
                </a:solidFill>
                <a:latin typeface="Arial" pitchFamily="34" charset="0"/>
                <a:ea typeface="Arial" pitchFamily="34" charset="-122"/>
                <a:cs typeface="Arial" pitchFamily="34" charset="-120"/>
              </a:rPr>
              <a:t>Pro Tip: Run Test Case Review sessions with BAs and Devs during sprint planning — before a single line of code is written.</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0D0D"/>
          </a:solidFill>
          <a:ln w="12700">
            <a:solidFill>
              <a:srgbClr val="0D0D0D"/>
            </a:solidFill>
            <a:prstDash val="solid"/>
          </a:ln>
        </p:spPr>
      </p:sp>
      <p:sp>
        <p:nvSpPr>
          <p:cNvPr id="3" name="Shape 1"/>
          <p:cNvSpPr/>
          <p:nvPr/>
        </p:nvSpPr>
        <p:spPr>
          <a:xfrm>
            <a:off x="0" y="658368"/>
            <a:ext cx="9144000" cy="36576"/>
          </a:xfrm>
          <a:prstGeom prst="rect">
            <a:avLst/>
          </a:prstGeom>
          <a:solidFill>
            <a:srgbClr val="E8650A"/>
          </a:solidFill>
          <a:ln w="12700">
            <a:solidFill>
              <a:srgbClr val="E8650A"/>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Common Challenges in Test Management &amp; How to Overcome Them</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11  |  CHALLENGES</a:t>
            </a:r>
            <a:endParaRPr lang="en-US" sz="1000" dirty="0"/>
          </a:p>
        </p:txBody>
      </p:sp>
      <p:sp>
        <p:nvSpPr>
          <p:cNvPr id="6" name="Shape 4"/>
          <p:cNvSpPr/>
          <p:nvPr/>
        </p:nvSpPr>
        <p:spPr>
          <a:xfrm>
            <a:off x="0" y="4983480"/>
            <a:ext cx="9144000" cy="160020"/>
          </a:xfrm>
          <a:prstGeom prst="rect">
            <a:avLst/>
          </a:prstGeom>
          <a:solidFill>
            <a:srgbClr val="0D0D0D"/>
          </a:solidFill>
          <a:ln w="12700">
            <a:solidFill>
              <a:srgbClr val="0D0D0D"/>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22960"/>
            <a:ext cx="8778240" cy="777240"/>
          </a:xfrm>
          <a:prstGeom prst="rect">
            <a:avLst/>
          </a:prstGeom>
          <a:solidFill>
            <a:srgbClr val="FFFFFF"/>
          </a:solidFill>
          <a:ln w="12700">
            <a:solidFill>
              <a:srgbClr val="DDDDDD"/>
            </a:solidFill>
            <a:prstDash val="solid"/>
          </a:ln>
          <a:effectLst>
            <a:outerShdw blurRad="50800" dist="25400" dir="8100000" algn="bl" rotWithShape="0">
              <a:srgbClr val="000000">
                <a:alpha val="7000"/>
              </a:srgbClr>
            </a:outerShdw>
          </a:effectLst>
        </p:spPr>
      </p:sp>
      <p:sp>
        <p:nvSpPr>
          <p:cNvPr id="9" name="Shape 7"/>
          <p:cNvSpPr/>
          <p:nvPr/>
        </p:nvSpPr>
        <p:spPr>
          <a:xfrm>
            <a:off x="182880" y="822960"/>
            <a:ext cx="73152" cy="777240"/>
          </a:xfrm>
          <a:prstGeom prst="rect">
            <a:avLst/>
          </a:prstGeom>
          <a:solidFill>
            <a:srgbClr val="E8650A"/>
          </a:solidFill>
          <a:ln w="12700">
            <a:solidFill>
              <a:srgbClr val="E8650A"/>
            </a:solidFill>
            <a:prstDash val="solid"/>
          </a:ln>
        </p:spPr>
      </p:sp>
      <p:sp>
        <p:nvSpPr>
          <p:cNvPr id="10" name="Text 8"/>
          <p:cNvSpPr/>
          <p:nvPr/>
        </p:nvSpPr>
        <p:spPr>
          <a:xfrm>
            <a:off x="320040" y="877824"/>
            <a:ext cx="228600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Poor or Absent Planning</a:t>
            </a:r>
            <a:endParaRPr lang="en-US" sz="1150" dirty="0"/>
          </a:p>
        </p:txBody>
      </p:sp>
      <p:sp>
        <p:nvSpPr>
          <p:cNvPr id="11" name="Text 9"/>
          <p:cNvSpPr/>
          <p:nvPr/>
        </p:nvSpPr>
        <p:spPr>
          <a:xfrm>
            <a:off x="320040" y="1152144"/>
            <a:ext cx="4023360" cy="164592"/>
          </a:xfrm>
          <a:prstGeom prst="rect">
            <a:avLst/>
          </a:prstGeom>
          <a:noFill/>
          <a:ln/>
        </p:spPr>
        <p:txBody>
          <a:bodyPr wrap="square" lIns="0" tIns="0" rIns="0" bIns="0" rtlCol="0" anchor="ctr"/>
          <a:lstStyle/>
          <a:p>
            <a:pPr marL="0" indent="0">
              <a:buNone/>
            </a:pPr>
            <a:r>
              <a:rPr lang="en-US" sz="950" i="1" dirty="0">
                <a:solidFill>
                  <a:srgbClr val="666666"/>
                </a:solidFill>
                <a:latin typeface="Arial" pitchFamily="34" charset="0"/>
                <a:ea typeface="Arial" pitchFamily="34" charset="-122"/>
                <a:cs typeface="Arial" pitchFamily="34" charset="-120"/>
              </a:rPr>
              <a:t>Symptom: Ad-hoc testing, no scope definition, no timelines</a:t>
            </a:r>
            <a:endParaRPr lang="en-US" sz="950" dirty="0"/>
          </a:p>
        </p:txBody>
      </p:sp>
      <p:sp>
        <p:nvSpPr>
          <p:cNvPr id="12" name="Text 10"/>
          <p:cNvSpPr/>
          <p:nvPr/>
        </p:nvSpPr>
        <p:spPr>
          <a:xfrm>
            <a:off x="320040" y="1335024"/>
            <a:ext cx="4023360" cy="164592"/>
          </a:xfrm>
          <a:prstGeom prst="rect">
            <a:avLst/>
          </a:prstGeom>
          <a:noFill/>
          <a:ln/>
        </p:spPr>
        <p:txBody>
          <a:bodyPr wrap="square" lIns="0" tIns="0" rIns="0" bIns="0" rtlCol="0" anchor="ctr"/>
          <a:lstStyle/>
          <a:p>
            <a:pPr marL="0" indent="0">
              <a:buNone/>
            </a:pPr>
            <a:r>
              <a:rPr lang="en-US" sz="950" i="1" dirty="0">
                <a:solidFill>
                  <a:srgbClr val="AA2200"/>
                </a:solidFill>
                <a:latin typeface="Arial" pitchFamily="34" charset="0"/>
                <a:ea typeface="Arial" pitchFamily="34" charset="-122"/>
                <a:cs typeface="Arial" pitchFamily="34" charset="-120"/>
              </a:rPr>
              <a:t>Impact: Unpredictable quality, constant fire-fighting, missed releases</a:t>
            </a:r>
            <a:endParaRPr lang="en-US" sz="950" dirty="0"/>
          </a:p>
        </p:txBody>
      </p:sp>
      <p:sp>
        <p:nvSpPr>
          <p:cNvPr id="13" name="Shape 11"/>
          <p:cNvSpPr/>
          <p:nvPr/>
        </p:nvSpPr>
        <p:spPr>
          <a:xfrm>
            <a:off x="4590288" y="877824"/>
            <a:ext cx="4279392" cy="658368"/>
          </a:xfrm>
          <a:prstGeom prst="rect">
            <a:avLst/>
          </a:prstGeom>
          <a:solidFill>
            <a:srgbClr val="0D0D0D"/>
          </a:solidFill>
          <a:ln w="12700">
            <a:solidFill>
              <a:srgbClr val="0D0D0D"/>
            </a:solidFill>
            <a:prstDash val="solid"/>
          </a:ln>
        </p:spPr>
      </p:sp>
      <p:sp>
        <p:nvSpPr>
          <p:cNvPr id="14" name="Text 12"/>
          <p:cNvSpPr/>
          <p:nvPr/>
        </p:nvSpPr>
        <p:spPr>
          <a:xfrm>
            <a:off x="4663440" y="877824"/>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  Solution:</a:t>
            </a:r>
            <a:endParaRPr lang="en-US" sz="950" dirty="0"/>
          </a:p>
        </p:txBody>
      </p:sp>
      <p:sp>
        <p:nvSpPr>
          <p:cNvPr id="15" name="Text 13"/>
          <p:cNvSpPr/>
          <p:nvPr/>
        </p:nvSpPr>
        <p:spPr>
          <a:xfrm>
            <a:off x="4663440" y="1078992"/>
            <a:ext cx="4114800" cy="43891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Always create a formal Test Plan before execution begins. Even on Agile projects, maintain a lightweight one-page test charter per sprint.</a:t>
            </a:r>
            <a:endParaRPr lang="en-US" sz="950" dirty="0"/>
          </a:p>
        </p:txBody>
      </p:sp>
      <p:sp>
        <p:nvSpPr>
          <p:cNvPr id="16" name="Shape 14"/>
          <p:cNvSpPr/>
          <p:nvPr/>
        </p:nvSpPr>
        <p:spPr>
          <a:xfrm>
            <a:off x="182880" y="1673352"/>
            <a:ext cx="8778240" cy="777240"/>
          </a:xfrm>
          <a:prstGeom prst="rect">
            <a:avLst/>
          </a:prstGeom>
          <a:solidFill>
            <a:srgbClr val="FFFFFF"/>
          </a:solidFill>
          <a:ln w="12700">
            <a:solidFill>
              <a:srgbClr val="DDDDDD"/>
            </a:solidFill>
            <a:prstDash val="solid"/>
          </a:ln>
          <a:effectLst>
            <a:outerShdw blurRad="50800" dist="25400" dir="8100000" algn="bl" rotWithShape="0">
              <a:srgbClr val="000000">
                <a:alpha val="7000"/>
              </a:srgbClr>
            </a:outerShdw>
          </a:effectLst>
        </p:spPr>
      </p:sp>
      <p:sp>
        <p:nvSpPr>
          <p:cNvPr id="17" name="Shape 15"/>
          <p:cNvSpPr/>
          <p:nvPr/>
        </p:nvSpPr>
        <p:spPr>
          <a:xfrm>
            <a:off x="182880" y="1673352"/>
            <a:ext cx="73152" cy="777240"/>
          </a:xfrm>
          <a:prstGeom prst="rect">
            <a:avLst/>
          </a:prstGeom>
          <a:solidFill>
            <a:srgbClr val="E8650A"/>
          </a:solidFill>
          <a:ln w="12700">
            <a:solidFill>
              <a:srgbClr val="E8650A"/>
            </a:solidFill>
            <a:prstDash val="solid"/>
          </a:ln>
        </p:spPr>
      </p:sp>
      <p:sp>
        <p:nvSpPr>
          <p:cNvPr id="18" name="Text 16"/>
          <p:cNvSpPr/>
          <p:nvPr/>
        </p:nvSpPr>
        <p:spPr>
          <a:xfrm>
            <a:off x="320040" y="1728216"/>
            <a:ext cx="228600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Lack of Stakeholder Communication</a:t>
            </a:r>
            <a:endParaRPr lang="en-US" sz="1150" dirty="0"/>
          </a:p>
        </p:txBody>
      </p:sp>
      <p:sp>
        <p:nvSpPr>
          <p:cNvPr id="19" name="Text 17"/>
          <p:cNvSpPr/>
          <p:nvPr/>
        </p:nvSpPr>
        <p:spPr>
          <a:xfrm>
            <a:off x="320040" y="2002536"/>
            <a:ext cx="4023360" cy="164592"/>
          </a:xfrm>
          <a:prstGeom prst="rect">
            <a:avLst/>
          </a:prstGeom>
          <a:noFill/>
          <a:ln/>
        </p:spPr>
        <p:txBody>
          <a:bodyPr wrap="square" lIns="0" tIns="0" rIns="0" bIns="0" rtlCol="0" anchor="ctr"/>
          <a:lstStyle/>
          <a:p>
            <a:pPr marL="0" indent="0">
              <a:buNone/>
            </a:pPr>
            <a:r>
              <a:rPr lang="en-US" sz="950" i="1" dirty="0">
                <a:solidFill>
                  <a:srgbClr val="666666"/>
                </a:solidFill>
                <a:latin typeface="Arial" pitchFamily="34" charset="0"/>
                <a:ea typeface="Arial" pitchFamily="34" charset="-122"/>
                <a:cs typeface="Arial" pitchFamily="34" charset="-120"/>
              </a:rPr>
              <a:t>Symptom: Stakeholders unaware of quality status until release day</a:t>
            </a:r>
            <a:endParaRPr lang="en-US" sz="950" dirty="0"/>
          </a:p>
        </p:txBody>
      </p:sp>
      <p:sp>
        <p:nvSpPr>
          <p:cNvPr id="20" name="Text 18"/>
          <p:cNvSpPr/>
          <p:nvPr/>
        </p:nvSpPr>
        <p:spPr>
          <a:xfrm>
            <a:off x="320040" y="2185416"/>
            <a:ext cx="4023360" cy="164592"/>
          </a:xfrm>
          <a:prstGeom prst="rect">
            <a:avLst/>
          </a:prstGeom>
          <a:noFill/>
          <a:ln/>
        </p:spPr>
        <p:txBody>
          <a:bodyPr wrap="square" lIns="0" tIns="0" rIns="0" bIns="0" rtlCol="0" anchor="ctr"/>
          <a:lstStyle/>
          <a:p>
            <a:pPr marL="0" indent="0">
              <a:buNone/>
            </a:pPr>
            <a:r>
              <a:rPr lang="en-US" sz="950" i="1" dirty="0">
                <a:solidFill>
                  <a:srgbClr val="AA2200"/>
                </a:solidFill>
                <a:latin typeface="Arial" pitchFamily="34" charset="0"/>
                <a:ea typeface="Arial" pitchFamily="34" charset="-122"/>
                <a:cs typeface="Arial" pitchFamily="34" charset="-120"/>
              </a:rPr>
              <a:t>Impact: Surprises at go-live, loss of trust, reactive escalation</a:t>
            </a:r>
            <a:endParaRPr lang="en-US" sz="950" dirty="0"/>
          </a:p>
        </p:txBody>
      </p:sp>
      <p:sp>
        <p:nvSpPr>
          <p:cNvPr id="21" name="Shape 19"/>
          <p:cNvSpPr/>
          <p:nvPr/>
        </p:nvSpPr>
        <p:spPr>
          <a:xfrm>
            <a:off x="4590288" y="1728216"/>
            <a:ext cx="4279392" cy="658368"/>
          </a:xfrm>
          <a:prstGeom prst="rect">
            <a:avLst/>
          </a:prstGeom>
          <a:solidFill>
            <a:srgbClr val="0D0D0D"/>
          </a:solidFill>
          <a:ln w="12700">
            <a:solidFill>
              <a:srgbClr val="0D0D0D"/>
            </a:solidFill>
            <a:prstDash val="solid"/>
          </a:ln>
        </p:spPr>
      </p:sp>
      <p:sp>
        <p:nvSpPr>
          <p:cNvPr id="22" name="Text 20"/>
          <p:cNvSpPr/>
          <p:nvPr/>
        </p:nvSpPr>
        <p:spPr>
          <a:xfrm>
            <a:off x="4663440" y="1728216"/>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  Solution:</a:t>
            </a:r>
            <a:endParaRPr lang="en-US" sz="950" dirty="0"/>
          </a:p>
        </p:txBody>
      </p:sp>
      <p:sp>
        <p:nvSpPr>
          <p:cNvPr id="23" name="Text 21"/>
          <p:cNvSpPr/>
          <p:nvPr/>
        </p:nvSpPr>
        <p:spPr>
          <a:xfrm>
            <a:off x="4663440" y="1929384"/>
            <a:ext cx="4114800" cy="43891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Establish a formal reporting cadence (daily / weekly). Use RAG status dashboards. Proactively surface risks rather than waiting for questions.</a:t>
            </a:r>
            <a:endParaRPr lang="en-US" sz="950" dirty="0"/>
          </a:p>
        </p:txBody>
      </p:sp>
      <p:sp>
        <p:nvSpPr>
          <p:cNvPr id="24" name="Shape 22"/>
          <p:cNvSpPr/>
          <p:nvPr/>
        </p:nvSpPr>
        <p:spPr>
          <a:xfrm>
            <a:off x="182880" y="2523744"/>
            <a:ext cx="8778240" cy="777240"/>
          </a:xfrm>
          <a:prstGeom prst="rect">
            <a:avLst/>
          </a:prstGeom>
          <a:solidFill>
            <a:srgbClr val="FFFFFF"/>
          </a:solidFill>
          <a:ln w="12700">
            <a:solidFill>
              <a:srgbClr val="DDDDDD"/>
            </a:solidFill>
            <a:prstDash val="solid"/>
          </a:ln>
          <a:effectLst>
            <a:outerShdw blurRad="50800" dist="25400" dir="8100000" algn="bl" rotWithShape="0">
              <a:srgbClr val="000000">
                <a:alpha val="7000"/>
              </a:srgbClr>
            </a:outerShdw>
          </a:effectLst>
        </p:spPr>
      </p:sp>
      <p:sp>
        <p:nvSpPr>
          <p:cNvPr id="25" name="Shape 23"/>
          <p:cNvSpPr/>
          <p:nvPr/>
        </p:nvSpPr>
        <p:spPr>
          <a:xfrm>
            <a:off x="182880" y="2523744"/>
            <a:ext cx="73152" cy="777240"/>
          </a:xfrm>
          <a:prstGeom prst="rect">
            <a:avLst/>
          </a:prstGeom>
          <a:solidFill>
            <a:srgbClr val="E8650A"/>
          </a:solidFill>
          <a:ln w="12700">
            <a:solidFill>
              <a:srgbClr val="E8650A"/>
            </a:solidFill>
            <a:prstDash val="solid"/>
          </a:ln>
        </p:spPr>
      </p:sp>
      <p:sp>
        <p:nvSpPr>
          <p:cNvPr id="26" name="Text 24"/>
          <p:cNvSpPr/>
          <p:nvPr/>
        </p:nvSpPr>
        <p:spPr>
          <a:xfrm>
            <a:off x="320040" y="2578608"/>
            <a:ext cx="228600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Inaccurate Test Estimations</a:t>
            </a:r>
            <a:endParaRPr lang="en-US" sz="1150" dirty="0"/>
          </a:p>
        </p:txBody>
      </p:sp>
      <p:sp>
        <p:nvSpPr>
          <p:cNvPr id="27" name="Text 25"/>
          <p:cNvSpPr/>
          <p:nvPr/>
        </p:nvSpPr>
        <p:spPr>
          <a:xfrm>
            <a:off x="320040" y="2852928"/>
            <a:ext cx="4023360" cy="164592"/>
          </a:xfrm>
          <a:prstGeom prst="rect">
            <a:avLst/>
          </a:prstGeom>
          <a:noFill/>
          <a:ln/>
        </p:spPr>
        <p:txBody>
          <a:bodyPr wrap="square" lIns="0" tIns="0" rIns="0" bIns="0" rtlCol="0" anchor="ctr"/>
          <a:lstStyle/>
          <a:p>
            <a:pPr marL="0" indent="0">
              <a:buNone/>
            </a:pPr>
            <a:r>
              <a:rPr lang="en-US" sz="950" i="1" dirty="0">
                <a:solidFill>
                  <a:srgbClr val="666666"/>
                </a:solidFill>
                <a:latin typeface="Arial" pitchFamily="34" charset="0"/>
                <a:ea typeface="Arial" pitchFamily="34" charset="-122"/>
                <a:cs typeface="Arial" pitchFamily="34" charset="-120"/>
              </a:rPr>
              <a:t>Symptom: Testing always runs over time / under-resources</a:t>
            </a:r>
            <a:endParaRPr lang="en-US" sz="950" dirty="0"/>
          </a:p>
        </p:txBody>
      </p:sp>
      <p:sp>
        <p:nvSpPr>
          <p:cNvPr id="28" name="Text 26"/>
          <p:cNvSpPr/>
          <p:nvPr/>
        </p:nvSpPr>
        <p:spPr>
          <a:xfrm>
            <a:off x="320040" y="3035808"/>
            <a:ext cx="4023360" cy="164592"/>
          </a:xfrm>
          <a:prstGeom prst="rect">
            <a:avLst/>
          </a:prstGeom>
          <a:noFill/>
          <a:ln/>
        </p:spPr>
        <p:txBody>
          <a:bodyPr wrap="square" lIns="0" tIns="0" rIns="0" bIns="0" rtlCol="0" anchor="ctr"/>
          <a:lstStyle/>
          <a:p>
            <a:pPr marL="0" indent="0">
              <a:buNone/>
            </a:pPr>
            <a:r>
              <a:rPr lang="en-US" sz="950" i="1" dirty="0">
                <a:solidFill>
                  <a:srgbClr val="AA2200"/>
                </a:solidFill>
                <a:latin typeface="Arial" pitchFamily="34" charset="0"/>
                <a:ea typeface="Arial" pitchFamily="34" charset="-122"/>
                <a:cs typeface="Arial" pitchFamily="34" charset="-120"/>
              </a:rPr>
              <a:t>Impact: Schedule overruns, reduced coverage, pressure to skip testing</a:t>
            </a:r>
            <a:endParaRPr lang="en-US" sz="950" dirty="0"/>
          </a:p>
        </p:txBody>
      </p:sp>
      <p:sp>
        <p:nvSpPr>
          <p:cNvPr id="29" name="Shape 27"/>
          <p:cNvSpPr/>
          <p:nvPr/>
        </p:nvSpPr>
        <p:spPr>
          <a:xfrm>
            <a:off x="4590288" y="2578608"/>
            <a:ext cx="4279392" cy="658368"/>
          </a:xfrm>
          <a:prstGeom prst="rect">
            <a:avLst/>
          </a:prstGeom>
          <a:solidFill>
            <a:srgbClr val="0D0D0D"/>
          </a:solidFill>
          <a:ln w="12700">
            <a:solidFill>
              <a:srgbClr val="0D0D0D"/>
            </a:solidFill>
            <a:prstDash val="solid"/>
          </a:ln>
        </p:spPr>
      </p:sp>
      <p:sp>
        <p:nvSpPr>
          <p:cNvPr id="30" name="Text 28"/>
          <p:cNvSpPr/>
          <p:nvPr/>
        </p:nvSpPr>
        <p:spPr>
          <a:xfrm>
            <a:off x="4663440" y="2578608"/>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  Solution:</a:t>
            </a:r>
            <a:endParaRPr lang="en-US" sz="950" dirty="0"/>
          </a:p>
        </p:txBody>
      </p:sp>
      <p:sp>
        <p:nvSpPr>
          <p:cNvPr id="31" name="Text 29"/>
          <p:cNvSpPr/>
          <p:nvPr/>
        </p:nvSpPr>
        <p:spPr>
          <a:xfrm>
            <a:off x="4663440" y="2779776"/>
            <a:ext cx="4114800" cy="43891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Use Three-Point Estimation (PERT). Track actuals vs estimates on every project to improve historical reference data for future planning.</a:t>
            </a:r>
            <a:endParaRPr lang="en-US" sz="950" dirty="0"/>
          </a:p>
        </p:txBody>
      </p:sp>
      <p:sp>
        <p:nvSpPr>
          <p:cNvPr id="32" name="Shape 30"/>
          <p:cNvSpPr/>
          <p:nvPr/>
        </p:nvSpPr>
        <p:spPr>
          <a:xfrm>
            <a:off x="182880" y="3374136"/>
            <a:ext cx="8778240" cy="777240"/>
          </a:xfrm>
          <a:prstGeom prst="rect">
            <a:avLst/>
          </a:prstGeom>
          <a:solidFill>
            <a:srgbClr val="FFFFFF"/>
          </a:solidFill>
          <a:ln w="12700">
            <a:solidFill>
              <a:srgbClr val="DDDDDD"/>
            </a:solidFill>
            <a:prstDash val="solid"/>
          </a:ln>
          <a:effectLst>
            <a:outerShdw blurRad="50800" dist="25400" dir="8100000" algn="bl" rotWithShape="0">
              <a:srgbClr val="000000">
                <a:alpha val="7000"/>
              </a:srgbClr>
            </a:outerShdw>
          </a:effectLst>
        </p:spPr>
      </p:sp>
      <p:sp>
        <p:nvSpPr>
          <p:cNvPr id="33" name="Shape 31"/>
          <p:cNvSpPr/>
          <p:nvPr/>
        </p:nvSpPr>
        <p:spPr>
          <a:xfrm>
            <a:off x="182880" y="3374136"/>
            <a:ext cx="73152" cy="777240"/>
          </a:xfrm>
          <a:prstGeom prst="rect">
            <a:avLst/>
          </a:prstGeom>
          <a:solidFill>
            <a:srgbClr val="E8650A"/>
          </a:solidFill>
          <a:ln w="12700">
            <a:solidFill>
              <a:srgbClr val="E8650A"/>
            </a:solidFill>
            <a:prstDash val="solid"/>
          </a:ln>
        </p:spPr>
      </p:sp>
      <p:sp>
        <p:nvSpPr>
          <p:cNvPr id="34" name="Text 32"/>
          <p:cNvSpPr/>
          <p:nvPr/>
        </p:nvSpPr>
        <p:spPr>
          <a:xfrm>
            <a:off x="320040" y="3429000"/>
            <a:ext cx="228600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Scope Creep in Testing</a:t>
            </a:r>
            <a:endParaRPr lang="en-US" sz="1150" dirty="0"/>
          </a:p>
        </p:txBody>
      </p:sp>
      <p:sp>
        <p:nvSpPr>
          <p:cNvPr id="35" name="Text 33"/>
          <p:cNvSpPr/>
          <p:nvPr/>
        </p:nvSpPr>
        <p:spPr>
          <a:xfrm>
            <a:off x="320040" y="3703320"/>
            <a:ext cx="4023360" cy="164592"/>
          </a:xfrm>
          <a:prstGeom prst="rect">
            <a:avLst/>
          </a:prstGeom>
          <a:noFill/>
          <a:ln/>
        </p:spPr>
        <p:txBody>
          <a:bodyPr wrap="square" lIns="0" tIns="0" rIns="0" bIns="0" rtlCol="0" anchor="ctr"/>
          <a:lstStyle/>
          <a:p>
            <a:pPr marL="0" indent="0">
              <a:buNone/>
            </a:pPr>
            <a:r>
              <a:rPr lang="en-US" sz="950" i="1" dirty="0">
                <a:solidFill>
                  <a:srgbClr val="666666"/>
                </a:solidFill>
                <a:latin typeface="Arial" pitchFamily="34" charset="0"/>
                <a:ea typeface="Arial" pitchFamily="34" charset="-122"/>
                <a:cs typeface="Arial" pitchFamily="34" charset="-120"/>
              </a:rPr>
              <a:t>Symptom: New features added mid-sprint without adjusting test plan</a:t>
            </a:r>
            <a:endParaRPr lang="en-US" sz="950" dirty="0"/>
          </a:p>
        </p:txBody>
      </p:sp>
      <p:sp>
        <p:nvSpPr>
          <p:cNvPr id="36" name="Text 34"/>
          <p:cNvSpPr/>
          <p:nvPr/>
        </p:nvSpPr>
        <p:spPr>
          <a:xfrm>
            <a:off x="320040" y="3886200"/>
            <a:ext cx="4023360" cy="164592"/>
          </a:xfrm>
          <a:prstGeom prst="rect">
            <a:avLst/>
          </a:prstGeom>
          <a:noFill/>
          <a:ln/>
        </p:spPr>
        <p:txBody>
          <a:bodyPr wrap="square" lIns="0" tIns="0" rIns="0" bIns="0" rtlCol="0" anchor="ctr"/>
          <a:lstStyle/>
          <a:p>
            <a:pPr marL="0" indent="0">
              <a:buNone/>
            </a:pPr>
            <a:r>
              <a:rPr lang="en-US" sz="950" i="1" dirty="0">
                <a:solidFill>
                  <a:srgbClr val="AA2200"/>
                </a:solidFill>
                <a:latin typeface="Arial" pitchFamily="34" charset="0"/>
                <a:ea typeface="Arial" pitchFamily="34" charset="-122"/>
                <a:cs typeface="Arial" pitchFamily="34" charset="-120"/>
              </a:rPr>
              <a:t>Impact: Team overloaded, coverage gaps, quality risks unidentified</a:t>
            </a:r>
            <a:endParaRPr lang="en-US" sz="950" dirty="0"/>
          </a:p>
        </p:txBody>
      </p:sp>
      <p:sp>
        <p:nvSpPr>
          <p:cNvPr id="37" name="Shape 35"/>
          <p:cNvSpPr/>
          <p:nvPr/>
        </p:nvSpPr>
        <p:spPr>
          <a:xfrm>
            <a:off x="4590288" y="3429000"/>
            <a:ext cx="4279392" cy="658368"/>
          </a:xfrm>
          <a:prstGeom prst="rect">
            <a:avLst/>
          </a:prstGeom>
          <a:solidFill>
            <a:srgbClr val="0D0D0D"/>
          </a:solidFill>
          <a:ln w="12700">
            <a:solidFill>
              <a:srgbClr val="0D0D0D"/>
            </a:solidFill>
            <a:prstDash val="solid"/>
          </a:ln>
        </p:spPr>
      </p:sp>
      <p:sp>
        <p:nvSpPr>
          <p:cNvPr id="38" name="Text 36"/>
          <p:cNvSpPr/>
          <p:nvPr/>
        </p:nvSpPr>
        <p:spPr>
          <a:xfrm>
            <a:off x="4663440" y="3429000"/>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  Solution:</a:t>
            </a:r>
            <a:endParaRPr lang="en-US" sz="950" dirty="0"/>
          </a:p>
        </p:txBody>
      </p:sp>
      <p:sp>
        <p:nvSpPr>
          <p:cNvPr id="39" name="Text 37"/>
          <p:cNvSpPr/>
          <p:nvPr/>
        </p:nvSpPr>
        <p:spPr>
          <a:xfrm>
            <a:off x="4663440" y="3630168"/>
            <a:ext cx="4114800" cy="43891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Enforce a change control process. Every scope addition must trigger a test impact assessment and re-estimation before approval.</a:t>
            </a:r>
            <a:endParaRPr lang="en-US" sz="950" dirty="0"/>
          </a:p>
        </p:txBody>
      </p:sp>
      <p:sp>
        <p:nvSpPr>
          <p:cNvPr id="40" name="Shape 38"/>
          <p:cNvSpPr/>
          <p:nvPr/>
        </p:nvSpPr>
        <p:spPr>
          <a:xfrm>
            <a:off x="182880" y="4224528"/>
            <a:ext cx="8778240" cy="777240"/>
          </a:xfrm>
          <a:prstGeom prst="rect">
            <a:avLst/>
          </a:prstGeom>
          <a:solidFill>
            <a:srgbClr val="FFFFFF"/>
          </a:solidFill>
          <a:ln w="12700">
            <a:solidFill>
              <a:srgbClr val="DDDDDD"/>
            </a:solidFill>
            <a:prstDash val="solid"/>
          </a:ln>
          <a:effectLst>
            <a:outerShdw blurRad="50800" dist="25400" dir="8100000" algn="bl" rotWithShape="0">
              <a:srgbClr val="000000">
                <a:alpha val="7000"/>
              </a:srgbClr>
            </a:outerShdw>
          </a:effectLst>
        </p:spPr>
      </p:sp>
      <p:sp>
        <p:nvSpPr>
          <p:cNvPr id="41" name="Shape 39"/>
          <p:cNvSpPr/>
          <p:nvPr/>
        </p:nvSpPr>
        <p:spPr>
          <a:xfrm>
            <a:off x="182880" y="4224528"/>
            <a:ext cx="73152" cy="777240"/>
          </a:xfrm>
          <a:prstGeom prst="rect">
            <a:avLst/>
          </a:prstGeom>
          <a:solidFill>
            <a:srgbClr val="E8650A"/>
          </a:solidFill>
          <a:ln w="12700">
            <a:solidFill>
              <a:srgbClr val="E8650A"/>
            </a:solidFill>
            <a:prstDash val="solid"/>
          </a:ln>
        </p:spPr>
      </p:sp>
      <p:sp>
        <p:nvSpPr>
          <p:cNvPr id="42" name="Text 40"/>
          <p:cNvSpPr/>
          <p:nvPr/>
        </p:nvSpPr>
        <p:spPr>
          <a:xfrm>
            <a:off x="320040" y="4279392"/>
            <a:ext cx="2286000" cy="237744"/>
          </a:xfrm>
          <a:prstGeom prst="rect">
            <a:avLst/>
          </a:prstGeom>
          <a:noFill/>
          <a:ln/>
        </p:spPr>
        <p:txBody>
          <a:bodyPr wrap="square" lIns="0" tIns="0" rIns="0" bIns="0" rtlCol="0" anchor="ctr"/>
          <a:lstStyle/>
          <a:p>
            <a:pPr marL="0" indent="0">
              <a:buNone/>
            </a:pPr>
            <a:r>
              <a:rPr lang="en-US" sz="1150" b="1" dirty="0">
                <a:solidFill>
                  <a:srgbClr val="0D0D0D"/>
                </a:solidFill>
                <a:latin typeface="Arial Black" pitchFamily="34" charset="0"/>
                <a:ea typeface="Arial Black" pitchFamily="34" charset="-122"/>
                <a:cs typeface="Arial Black" pitchFamily="34" charset="-120"/>
              </a:rPr>
              <a:t>Tool Mismanagement</a:t>
            </a:r>
            <a:endParaRPr lang="en-US" sz="1150" dirty="0"/>
          </a:p>
        </p:txBody>
      </p:sp>
      <p:sp>
        <p:nvSpPr>
          <p:cNvPr id="43" name="Text 41"/>
          <p:cNvSpPr/>
          <p:nvPr/>
        </p:nvSpPr>
        <p:spPr>
          <a:xfrm>
            <a:off x="320040" y="4553712"/>
            <a:ext cx="4023360" cy="164592"/>
          </a:xfrm>
          <a:prstGeom prst="rect">
            <a:avLst/>
          </a:prstGeom>
          <a:noFill/>
          <a:ln/>
        </p:spPr>
        <p:txBody>
          <a:bodyPr wrap="square" lIns="0" tIns="0" rIns="0" bIns="0" rtlCol="0" anchor="ctr"/>
          <a:lstStyle/>
          <a:p>
            <a:pPr marL="0" indent="0">
              <a:buNone/>
            </a:pPr>
            <a:r>
              <a:rPr lang="en-US" sz="950" i="1" dirty="0">
                <a:solidFill>
                  <a:srgbClr val="666666"/>
                </a:solidFill>
                <a:latin typeface="Arial" pitchFamily="34" charset="0"/>
                <a:ea typeface="Arial" pitchFamily="34" charset="-122"/>
                <a:cs typeface="Arial" pitchFamily="34" charset="-120"/>
              </a:rPr>
              <a:t>Symptom: Selenium scripts unmaintained; Jira board chaotic; no test management tool</a:t>
            </a:r>
            <a:endParaRPr lang="en-US" sz="950" dirty="0"/>
          </a:p>
        </p:txBody>
      </p:sp>
      <p:sp>
        <p:nvSpPr>
          <p:cNvPr id="44" name="Text 42"/>
          <p:cNvSpPr/>
          <p:nvPr/>
        </p:nvSpPr>
        <p:spPr>
          <a:xfrm>
            <a:off x="320040" y="4736592"/>
            <a:ext cx="4023360" cy="164592"/>
          </a:xfrm>
          <a:prstGeom prst="rect">
            <a:avLst/>
          </a:prstGeom>
          <a:noFill/>
          <a:ln/>
        </p:spPr>
        <p:txBody>
          <a:bodyPr wrap="square" lIns="0" tIns="0" rIns="0" bIns="0" rtlCol="0" anchor="ctr"/>
          <a:lstStyle/>
          <a:p>
            <a:pPr marL="0" indent="0">
              <a:buNone/>
            </a:pPr>
            <a:r>
              <a:rPr lang="en-US" sz="950" i="1" dirty="0">
                <a:solidFill>
                  <a:srgbClr val="AA2200"/>
                </a:solidFill>
                <a:latin typeface="Arial" pitchFamily="34" charset="0"/>
                <a:ea typeface="Arial" pitchFamily="34" charset="-122"/>
                <a:cs typeface="Arial" pitchFamily="34" charset="-120"/>
              </a:rPr>
              <a:t>Impact: Manual workarounds, duplicated effort, no audit trail</a:t>
            </a:r>
            <a:endParaRPr lang="en-US" sz="950" dirty="0"/>
          </a:p>
        </p:txBody>
      </p:sp>
      <p:sp>
        <p:nvSpPr>
          <p:cNvPr id="45" name="Shape 43"/>
          <p:cNvSpPr/>
          <p:nvPr/>
        </p:nvSpPr>
        <p:spPr>
          <a:xfrm>
            <a:off x="4590288" y="4279392"/>
            <a:ext cx="4279392" cy="658368"/>
          </a:xfrm>
          <a:prstGeom prst="rect">
            <a:avLst/>
          </a:prstGeom>
          <a:solidFill>
            <a:srgbClr val="0D0D0D"/>
          </a:solidFill>
          <a:ln w="12700">
            <a:solidFill>
              <a:srgbClr val="0D0D0D"/>
            </a:solidFill>
            <a:prstDash val="solid"/>
          </a:ln>
        </p:spPr>
      </p:sp>
      <p:sp>
        <p:nvSpPr>
          <p:cNvPr id="46" name="Text 44"/>
          <p:cNvSpPr/>
          <p:nvPr/>
        </p:nvSpPr>
        <p:spPr>
          <a:xfrm>
            <a:off x="4663440" y="4279392"/>
            <a:ext cx="4114800" cy="201168"/>
          </a:xfrm>
          <a:prstGeom prst="rect">
            <a:avLst/>
          </a:prstGeom>
          <a:noFill/>
          <a:ln/>
        </p:spPr>
        <p:txBody>
          <a:bodyPr wrap="square" lIns="0" tIns="0" rIns="0" bIns="0" rtlCol="0" anchor="ctr"/>
          <a:lstStyle/>
          <a:p>
            <a:pPr marL="0" indent="0">
              <a:buNone/>
            </a:pPr>
            <a:r>
              <a:rPr lang="en-US" sz="950" b="1" dirty="0">
                <a:solidFill>
                  <a:srgbClr val="E8650A"/>
                </a:solidFill>
                <a:latin typeface="Arial" pitchFamily="34" charset="0"/>
                <a:ea typeface="Arial" pitchFamily="34" charset="-122"/>
                <a:cs typeface="Arial" pitchFamily="34" charset="-120"/>
              </a:rPr>
              <a:t>✅  Solution:</a:t>
            </a:r>
            <a:endParaRPr lang="en-US" sz="950" dirty="0"/>
          </a:p>
        </p:txBody>
      </p:sp>
      <p:sp>
        <p:nvSpPr>
          <p:cNvPr id="47" name="Text 45"/>
          <p:cNvSpPr/>
          <p:nvPr/>
        </p:nvSpPr>
        <p:spPr>
          <a:xfrm>
            <a:off x="4663440" y="4480560"/>
            <a:ext cx="4114800" cy="438912"/>
          </a:xfrm>
          <a:prstGeom prst="rect">
            <a:avLst/>
          </a:prstGeom>
          <a:noFill/>
          <a:ln/>
        </p:spPr>
        <p:txBody>
          <a:bodyPr wrap="square" lIns="0" tIns="0" rIns="0" bIns="0" rtlCol="0" anchor="ctr"/>
          <a:lstStyle/>
          <a:p>
            <a:pPr marL="0" indent="0">
              <a:buNone/>
            </a:pPr>
            <a:r>
              <a:rPr lang="en-US" sz="950" dirty="0">
                <a:solidFill>
                  <a:srgbClr val="F5F5F5"/>
                </a:solidFill>
                <a:latin typeface="Arial" pitchFamily="34" charset="0"/>
                <a:ea typeface="Arial" pitchFamily="34" charset="-122"/>
                <a:cs typeface="Arial" pitchFamily="34" charset="-120"/>
              </a:rPr>
              <a:t>Define a tool governance policy: tool selection criteria, ownership, maintenance cadence, and integration standards (CI/CD, reporting).</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8650A"/>
          </a:solidFill>
          <a:ln w="12700">
            <a:solidFill>
              <a:srgbClr val="E8650A"/>
            </a:solidFill>
            <a:prstDash val="solid"/>
          </a:ln>
        </p:spPr>
      </p:sp>
      <p:sp>
        <p:nvSpPr>
          <p:cNvPr id="3" name="Shape 1"/>
          <p:cNvSpPr/>
          <p:nvPr/>
        </p:nvSpPr>
        <p:spPr>
          <a:xfrm>
            <a:off x="0" y="0"/>
            <a:ext cx="502920" cy="5143500"/>
          </a:xfrm>
          <a:prstGeom prst="rect">
            <a:avLst/>
          </a:prstGeom>
          <a:solidFill>
            <a:srgbClr val="E8650A"/>
          </a:solidFill>
          <a:ln w="12700">
            <a:solidFill>
              <a:srgbClr val="E8650A"/>
            </a:solidFill>
            <a:prstDash val="solid"/>
          </a:ln>
        </p:spPr>
      </p:sp>
      <p:sp>
        <p:nvSpPr>
          <p:cNvPr id="4" name="Text 2"/>
          <p:cNvSpPr/>
          <p:nvPr/>
        </p:nvSpPr>
        <p:spPr>
          <a:xfrm>
            <a:off x="594360" y="1280160"/>
            <a:ext cx="1828800" cy="1097280"/>
          </a:xfrm>
          <a:prstGeom prst="rect">
            <a:avLst/>
          </a:prstGeom>
          <a:noFill/>
          <a:ln/>
        </p:spPr>
        <p:txBody>
          <a:bodyPr wrap="square" lIns="0" tIns="0" rIns="0" bIns="0" rtlCol="0" anchor="ctr"/>
          <a:lstStyle/>
          <a:p>
            <a:pPr marL="0" indent="0">
              <a:buNone/>
            </a:pPr>
            <a:r>
              <a:rPr lang="en-US" sz="7200" b="1" dirty="0">
                <a:solidFill>
                  <a:srgbClr val="E8650A"/>
                </a:solidFill>
                <a:latin typeface="Arial Black" pitchFamily="34" charset="0"/>
                <a:ea typeface="Arial Black" pitchFamily="34" charset="-122"/>
                <a:cs typeface="Arial Black" pitchFamily="34" charset="-120"/>
              </a:rPr>
              <a:t>12</a:t>
            </a:r>
            <a:endParaRPr lang="en-US" sz="7200" dirty="0"/>
          </a:p>
        </p:txBody>
      </p:sp>
      <p:sp>
        <p:nvSpPr>
          <p:cNvPr id="5" name="Text 3"/>
          <p:cNvSpPr/>
          <p:nvPr/>
        </p:nvSpPr>
        <p:spPr>
          <a:xfrm>
            <a:off x="594360" y="2377440"/>
            <a:ext cx="7772400" cy="1005840"/>
          </a:xfrm>
          <a:prstGeom prst="rect">
            <a:avLst/>
          </a:prstGeom>
          <a:noFill/>
          <a:ln/>
        </p:spPr>
        <p:txBody>
          <a:bodyPr wrap="square" lIns="0" tIns="0" rIns="0" bIns="0" rtlCol="0" anchor="ctr"/>
          <a:lstStyle/>
          <a:p>
            <a:pPr marL="0" indent="0">
              <a:buNone/>
            </a:pPr>
            <a:r>
              <a:rPr lang="en-US" sz="3400" b="1" dirty="0">
                <a:solidFill>
                  <a:srgbClr val="FFFFFF"/>
                </a:solidFill>
                <a:latin typeface="Arial Black" pitchFamily="34" charset="0"/>
                <a:ea typeface="Arial Black" pitchFamily="34" charset="-122"/>
                <a:cs typeface="Arial Black" pitchFamily="34" charset="-120"/>
              </a:rPr>
              <a:t>Summary &amp;</a:t>
            </a:r>
            <a:endParaRPr lang="en-US" sz="3400" dirty="0"/>
          </a:p>
          <a:p>
            <a:pPr marL="0" indent="0">
              <a:buNone/>
            </a:pPr>
            <a:r>
              <a:rPr lang="en-US" sz="3400" b="1" dirty="0">
                <a:solidFill>
                  <a:srgbClr val="FFFFFF"/>
                </a:solidFill>
                <a:latin typeface="Arial Black" pitchFamily="34" charset="0"/>
                <a:ea typeface="Arial Black" pitchFamily="34" charset="-122"/>
                <a:cs typeface="Arial Black" pitchFamily="34" charset="-120"/>
              </a:rPr>
              <a:t>Key Takeaways</a:t>
            </a:r>
            <a:endParaRPr lang="en-US" sz="3400" dirty="0"/>
          </a:p>
        </p:txBody>
      </p:sp>
      <p:sp>
        <p:nvSpPr>
          <p:cNvPr id="6" name="Text 4"/>
          <p:cNvSpPr/>
          <p:nvPr/>
        </p:nvSpPr>
        <p:spPr>
          <a:xfrm>
            <a:off x="594360" y="3383280"/>
            <a:ext cx="7315200" cy="640080"/>
          </a:xfrm>
          <a:prstGeom prst="rect">
            <a:avLst/>
          </a:prstGeom>
          <a:noFill/>
          <a:ln/>
        </p:spPr>
        <p:txBody>
          <a:bodyPr wrap="square" lIns="0" tIns="0" rIns="0" bIns="0" rtlCol="0" anchor="ctr"/>
          <a:lstStyle/>
          <a:p>
            <a:pPr marL="0" indent="0">
              <a:buNone/>
            </a:pPr>
            <a:r>
              <a:rPr lang="en-US" sz="1600" i="1" dirty="0">
                <a:solidFill>
                  <a:srgbClr val="FF8C3A"/>
                </a:solidFill>
                <a:latin typeface="Arial" pitchFamily="34" charset="0"/>
                <a:ea typeface="Arial" pitchFamily="34" charset="-122"/>
                <a:cs typeface="Arial" pitchFamily="34" charset="-120"/>
              </a:rPr>
              <a:t>Consolidating Knowledge — Ready for Real-World Application</a:t>
            </a:r>
            <a:endParaRPr lang="en-US" sz="1600" dirty="0"/>
          </a:p>
        </p:txBody>
      </p:sp>
      <p:sp>
        <p:nvSpPr>
          <p:cNvPr id="7" name="Shape 5"/>
          <p:cNvSpPr/>
          <p:nvPr/>
        </p:nvSpPr>
        <p:spPr>
          <a:xfrm>
            <a:off x="0" y="4983480"/>
            <a:ext cx="9144000" cy="160020"/>
          </a:xfrm>
          <a:prstGeom prst="rect">
            <a:avLst/>
          </a:prstGeom>
          <a:solidFill>
            <a:srgbClr val="2C2C2C"/>
          </a:solidFill>
          <a:ln w="12700">
            <a:solidFill>
              <a:srgbClr val="2C2C2C"/>
            </a:solidFill>
            <a:prstDash val="solid"/>
          </a:ln>
        </p:spPr>
      </p:sp>
      <p:sp>
        <p:nvSpPr>
          <p:cNvPr id="8" name="Text 6"/>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Confidential</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E8650A"/>
          </a:solidFill>
          <a:ln w="12700">
            <a:solidFill>
              <a:srgbClr val="E8650A"/>
            </a:solidFill>
            <a:prstDash val="solid"/>
          </a:ln>
        </p:spPr>
      </p:sp>
      <p:sp>
        <p:nvSpPr>
          <p:cNvPr id="3" name="Shape 1"/>
          <p:cNvSpPr/>
          <p:nvPr/>
        </p:nvSpPr>
        <p:spPr>
          <a:xfrm>
            <a:off x="0" y="0"/>
            <a:ext cx="9144000" cy="685800"/>
          </a:xfrm>
          <a:prstGeom prst="rect">
            <a:avLst/>
          </a:prstGeom>
          <a:solidFill>
            <a:srgbClr val="2C2C2C"/>
          </a:solidFill>
          <a:ln w="12700">
            <a:solidFill>
              <a:srgbClr val="2C2C2C"/>
            </a:solidFill>
            <a:prstDash val="solid"/>
          </a:ln>
        </p:spPr>
      </p:sp>
      <p:sp>
        <p:nvSpPr>
          <p:cNvPr id="4" name="Text 2"/>
          <p:cNvSpPr/>
          <p:nvPr/>
        </p:nvSpPr>
        <p:spPr>
          <a:xfrm>
            <a:off x="228600" y="36576"/>
            <a:ext cx="8046720" cy="640080"/>
          </a:xfrm>
          <a:prstGeom prst="rect">
            <a:avLst/>
          </a:prstGeom>
          <a:noFill/>
          <a:ln/>
        </p:spPr>
        <p:txBody>
          <a:bodyPr wrap="square" lIns="0" tIns="0" rIns="0" bIns="0" rtlCol="0" anchor="ctr"/>
          <a:lstStyle/>
          <a:p>
            <a:pPr marL="0" indent="0">
              <a:buNone/>
            </a:pPr>
            <a:r>
              <a:rPr lang="en-US" sz="2200" b="1" dirty="0">
                <a:solidFill>
                  <a:srgbClr val="FFFFFF"/>
                </a:solidFill>
                <a:latin typeface="Arial Black" pitchFamily="34" charset="0"/>
                <a:ea typeface="Arial Black" pitchFamily="34" charset="-122"/>
                <a:cs typeface="Arial Black" pitchFamily="34" charset="-120"/>
              </a:rPr>
              <a:t>Key Takeaways — What You Must Remember</a:t>
            </a:r>
            <a:endParaRPr lang="en-US" sz="2200" dirty="0"/>
          </a:p>
        </p:txBody>
      </p:sp>
      <p:sp>
        <p:nvSpPr>
          <p:cNvPr id="5" name="Text 3"/>
          <p:cNvSpPr/>
          <p:nvPr/>
        </p:nvSpPr>
        <p:spPr>
          <a:xfrm>
            <a:off x="228600" y="36576"/>
            <a:ext cx="8686800" cy="640080"/>
          </a:xfrm>
          <a:prstGeom prst="rect">
            <a:avLst/>
          </a:prstGeom>
          <a:noFill/>
          <a:ln/>
        </p:spPr>
        <p:txBody>
          <a:bodyPr wrap="square" lIns="0" tIns="0" rIns="0" bIns="0" rtlCol="0" anchor="ctr"/>
          <a:lstStyle/>
          <a:p>
            <a:pPr marL="0" indent="0" algn="r">
              <a:buNone/>
            </a:pPr>
            <a:r>
              <a:rPr lang="en-US" sz="1000" dirty="0">
                <a:solidFill>
                  <a:srgbClr val="E8650A"/>
                </a:solidFill>
                <a:latin typeface="Arial" pitchFamily="34" charset="0"/>
                <a:ea typeface="Arial" pitchFamily="34" charset="-122"/>
                <a:cs typeface="Arial" pitchFamily="34" charset="-120"/>
              </a:rPr>
              <a:t>SECTION 12  |  SUMMARY</a:t>
            </a:r>
            <a:endParaRPr lang="en-US" sz="1000" dirty="0"/>
          </a:p>
        </p:txBody>
      </p:sp>
      <p:sp>
        <p:nvSpPr>
          <p:cNvPr id="6" name="Shape 4"/>
          <p:cNvSpPr/>
          <p:nvPr/>
        </p:nvSpPr>
        <p:spPr>
          <a:xfrm>
            <a:off x="0" y="4983480"/>
            <a:ext cx="9144000" cy="160020"/>
          </a:xfrm>
          <a:prstGeom prst="rect">
            <a:avLst/>
          </a:prstGeom>
          <a:solidFill>
            <a:srgbClr val="2C2C2C"/>
          </a:solidFill>
          <a:ln w="12700">
            <a:solidFill>
              <a:srgbClr val="2C2C2C"/>
            </a:solidFill>
            <a:prstDash val="solid"/>
          </a:ln>
        </p:spPr>
      </p:sp>
      <p:sp>
        <p:nvSpPr>
          <p:cNvPr id="7" name="Text 5"/>
          <p:cNvSpPr/>
          <p:nvPr/>
        </p:nvSpPr>
        <p:spPr>
          <a:xfrm>
            <a:off x="457200" y="4974336"/>
            <a:ext cx="8229600" cy="169164"/>
          </a:xfrm>
          <a:prstGeom prst="rect">
            <a:avLst/>
          </a:prstGeom>
          <a:noFill/>
          <a:ln/>
        </p:spPr>
        <p:txBody>
          <a:bodyPr wrap="square" lIns="0" tIns="0" rIns="0" bIns="0" rtlCol="0" anchor="ctr"/>
          <a:lstStyle/>
          <a:p>
            <a:pPr marL="0" indent="0" algn="r">
              <a:buNone/>
            </a:pPr>
            <a:r>
              <a:rPr lang="en-US" sz="800" dirty="0">
                <a:solidFill>
                  <a:srgbClr val="AAAAAA"/>
                </a:solidFill>
                <a:latin typeface="Arial" pitchFamily="34" charset="0"/>
                <a:ea typeface="Arial" pitchFamily="34" charset="-122"/>
                <a:cs typeface="Arial" pitchFamily="34" charset="-120"/>
              </a:rPr>
              <a:t>Quality Engineering Division  |  Test Management &amp; Control</a:t>
            </a:r>
            <a:endParaRPr lang="en-US" sz="800" dirty="0"/>
          </a:p>
        </p:txBody>
      </p:sp>
      <p:sp>
        <p:nvSpPr>
          <p:cNvPr id="8" name="Shape 6"/>
          <p:cNvSpPr/>
          <p:nvPr/>
        </p:nvSpPr>
        <p:spPr>
          <a:xfrm>
            <a:off x="182880" y="804672"/>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9" name="Shape 7"/>
          <p:cNvSpPr/>
          <p:nvPr/>
        </p:nvSpPr>
        <p:spPr>
          <a:xfrm>
            <a:off x="182880" y="804672"/>
            <a:ext cx="457200" cy="777240"/>
          </a:xfrm>
          <a:prstGeom prst="rect">
            <a:avLst/>
          </a:prstGeom>
          <a:solidFill>
            <a:srgbClr val="E8650A"/>
          </a:solidFill>
          <a:ln w="12700">
            <a:solidFill>
              <a:srgbClr val="E8650A"/>
            </a:solidFill>
            <a:prstDash val="solid"/>
          </a:ln>
        </p:spPr>
      </p:sp>
      <p:sp>
        <p:nvSpPr>
          <p:cNvPr id="10" name="Text 8"/>
          <p:cNvSpPr/>
          <p:nvPr/>
        </p:nvSpPr>
        <p:spPr>
          <a:xfrm>
            <a:off x="182880" y="804672"/>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01</a:t>
            </a:r>
            <a:endParaRPr lang="en-US" sz="1400" dirty="0"/>
          </a:p>
        </p:txBody>
      </p:sp>
      <p:sp>
        <p:nvSpPr>
          <p:cNvPr id="11" name="Text 9"/>
          <p:cNvSpPr/>
          <p:nvPr/>
        </p:nvSpPr>
        <p:spPr>
          <a:xfrm>
            <a:off x="749808" y="896112"/>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Test Management is the backbone of quality engineering — without it, testing is chaotic and unmeasurable. It covers planning, monitoring, control, and reporting.</a:t>
            </a:r>
            <a:endParaRPr lang="en-US" sz="1000" dirty="0"/>
          </a:p>
        </p:txBody>
      </p:sp>
      <p:sp>
        <p:nvSpPr>
          <p:cNvPr id="12" name="Shape 10"/>
          <p:cNvSpPr/>
          <p:nvPr/>
        </p:nvSpPr>
        <p:spPr>
          <a:xfrm>
            <a:off x="182880" y="1645920"/>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3" name="Shape 11"/>
          <p:cNvSpPr/>
          <p:nvPr/>
        </p:nvSpPr>
        <p:spPr>
          <a:xfrm>
            <a:off x="182880" y="1645920"/>
            <a:ext cx="457200" cy="777240"/>
          </a:xfrm>
          <a:prstGeom prst="rect">
            <a:avLst/>
          </a:prstGeom>
          <a:solidFill>
            <a:srgbClr val="E8650A"/>
          </a:solidFill>
          <a:ln w="12700">
            <a:solidFill>
              <a:srgbClr val="E8650A"/>
            </a:solidFill>
            <a:prstDash val="solid"/>
          </a:ln>
        </p:spPr>
      </p:sp>
      <p:sp>
        <p:nvSpPr>
          <p:cNvPr id="14" name="Text 12"/>
          <p:cNvSpPr/>
          <p:nvPr/>
        </p:nvSpPr>
        <p:spPr>
          <a:xfrm>
            <a:off x="182880" y="1645920"/>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02</a:t>
            </a:r>
            <a:endParaRPr lang="en-US" sz="1400" dirty="0"/>
          </a:p>
        </p:txBody>
      </p:sp>
      <p:sp>
        <p:nvSpPr>
          <p:cNvPr id="15" name="Text 13"/>
          <p:cNvSpPr/>
          <p:nvPr/>
        </p:nvSpPr>
        <p:spPr>
          <a:xfrm>
            <a:off x="749808" y="1737360"/>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Test Control is proactive, not reactive. It uses real-time monitoring data to trigger corrective actions (resource reallocation, scope adjustment, timeline revision) before issues escalate.</a:t>
            </a:r>
            <a:endParaRPr lang="en-US" sz="1000" dirty="0"/>
          </a:p>
        </p:txBody>
      </p:sp>
      <p:sp>
        <p:nvSpPr>
          <p:cNvPr id="16" name="Shape 14"/>
          <p:cNvSpPr/>
          <p:nvPr/>
        </p:nvSpPr>
        <p:spPr>
          <a:xfrm>
            <a:off x="182880" y="2487168"/>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17" name="Shape 15"/>
          <p:cNvSpPr/>
          <p:nvPr/>
        </p:nvSpPr>
        <p:spPr>
          <a:xfrm>
            <a:off x="182880" y="2487168"/>
            <a:ext cx="457200" cy="777240"/>
          </a:xfrm>
          <a:prstGeom prst="rect">
            <a:avLst/>
          </a:prstGeom>
          <a:solidFill>
            <a:srgbClr val="E8650A"/>
          </a:solidFill>
          <a:ln w="12700">
            <a:solidFill>
              <a:srgbClr val="E8650A"/>
            </a:solidFill>
            <a:prstDash val="solid"/>
          </a:ln>
        </p:spPr>
      </p:sp>
      <p:sp>
        <p:nvSpPr>
          <p:cNvPr id="18" name="Text 16"/>
          <p:cNvSpPr/>
          <p:nvPr/>
        </p:nvSpPr>
        <p:spPr>
          <a:xfrm>
            <a:off x="182880" y="2487168"/>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03</a:t>
            </a:r>
            <a:endParaRPr lang="en-US" sz="1400" dirty="0"/>
          </a:p>
        </p:txBody>
      </p:sp>
      <p:sp>
        <p:nvSpPr>
          <p:cNvPr id="19" name="Text 17"/>
          <p:cNvSpPr/>
          <p:nvPr/>
        </p:nvSpPr>
        <p:spPr>
          <a:xfrm>
            <a:off x="749808" y="2578608"/>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A Test Plan is a living document. It must be updated when scope, resources, or timelines change — not written once and filed away.</a:t>
            </a:r>
            <a:endParaRPr lang="en-US" sz="1000" dirty="0"/>
          </a:p>
        </p:txBody>
      </p:sp>
      <p:sp>
        <p:nvSpPr>
          <p:cNvPr id="20" name="Shape 18"/>
          <p:cNvSpPr/>
          <p:nvPr/>
        </p:nvSpPr>
        <p:spPr>
          <a:xfrm>
            <a:off x="182880" y="3328416"/>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1" name="Shape 19"/>
          <p:cNvSpPr/>
          <p:nvPr/>
        </p:nvSpPr>
        <p:spPr>
          <a:xfrm>
            <a:off x="182880" y="3328416"/>
            <a:ext cx="457200" cy="777240"/>
          </a:xfrm>
          <a:prstGeom prst="rect">
            <a:avLst/>
          </a:prstGeom>
          <a:solidFill>
            <a:srgbClr val="E8650A"/>
          </a:solidFill>
          <a:ln w="12700">
            <a:solidFill>
              <a:srgbClr val="E8650A"/>
            </a:solidFill>
            <a:prstDash val="solid"/>
          </a:ln>
        </p:spPr>
      </p:sp>
      <p:sp>
        <p:nvSpPr>
          <p:cNvPr id="22" name="Text 20"/>
          <p:cNvSpPr/>
          <p:nvPr/>
        </p:nvSpPr>
        <p:spPr>
          <a:xfrm>
            <a:off x="182880" y="3328416"/>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04</a:t>
            </a:r>
            <a:endParaRPr lang="en-US" sz="1400" dirty="0"/>
          </a:p>
        </p:txBody>
      </p:sp>
      <p:sp>
        <p:nvSpPr>
          <p:cNvPr id="23" name="Text 21"/>
          <p:cNvSpPr/>
          <p:nvPr/>
        </p:nvSpPr>
        <p:spPr>
          <a:xfrm>
            <a:off x="749808" y="3419856"/>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Metrics are meaningless without interpretation. Test Coverage, Defect Density, Defect Leakage, Pass Rate — each must be calculated, compared to targets, and acted upon.</a:t>
            </a:r>
            <a:endParaRPr lang="en-US" sz="1000" dirty="0"/>
          </a:p>
        </p:txBody>
      </p:sp>
      <p:sp>
        <p:nvSpPr>
          <p:cNvPr id="24" name="Shape 22"/>
          <p:cNvSpPr/>
          <p:nvPr/>
        </p:nvSpPr>
        <p:spPr>
          <a:xfrm>
            <a:off x="182880" y="4169664"/>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5" name="Shape 23"/>
          <p:cNvSpPr/>
          <p:nvPr/>
        </p:nvSpPr>
        <p:spPr>
          <a:xfrm>
            <a:off x="182880" y="4169664"/>
            <a:ext cx="457200" cy="777240"/>
          </a:xfrm>
          <a:prstGeom prst="rect">
            <a:avLst/>
          </a:prstGeom>
          <a:solidFill>
            <a:srgbClr val="E8650A"/>
          </a:solidFill>
          <a:ln w="12700">
            <a:solidFill>
              <a:srgbClr val="E8650A"/>
            </a:solidFill>
            <a:prstDash val="solid"/>
          </a:ln>
        </p:spPr>
      </p:sp>
      <p:sp>
        <p:nvSpPr>
          <p:cNvPr id="26" name="Text 24"/>
          <p:cNvSpPr/>
          <p:nvPr/>
        </p:nvSpPr>
        <p:spPr>
          <a:xfrm>
            <a:off x="182880" y="4169664"/>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05</a:t>
            </a:r>
            <a:endParaRPr lang="en-US" sz="1400" dirty="0"/>
          </a:p>
        </p:txBody>
      </p:sp>
      <p:sp>
        <p:nvSpPr>
          <p:cNvPr id="27" name="Text 25"/>
          <p:cNvSpPr/>
          <p:nvPr/>
        </p:nvSpPr>
        <p:spPr>
          <a:xfrm>
            <a:off x="749808" y="4261104"/>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Every defect has both a Severity (technical impact) and a Priority (business urgency). A cosmetic bug on the homepage may be Low Severity but High Priority before a CEO demo.</a:t>
            </a:r>
            <a:endParaRPr lang="en-US" sz="1000" dirty="0"/>
          </a:p>
        </p:txBody>
      </p:sp>
      <p:sp>
        <p:nvSpPr>
          <p:cNvPr id="28" name="Shape 26"/>
          <p:cNvSpPr/>
          <p:nvPr/>
        </p:nvSpPr>
        <p:spPr>
          <a:xfrm>
            <a:off x="4663440" y="804672"/>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29" name="Shape 27"/>
          <p:cNvSpPr/>
          <p:nvPr/>
        </p:nvSpPr>
        <p:spPr>
          <a:xfrm>
            <a:off x="4663440" y="804672"/>
            <a:ext cx="457200" cy="777240"/>
          </a:xfrm>
          <a:prstGeom prst="rect">
            <a:avLst/>
          </a:prstGeom>
          <a:solidFill>
            <a:srgbClr val="E8650A"/>
          </a:solidFill>
          <a:ln w="12700">
            <a:solidFill>
              <a:srgbClr val="E8650A"/>
            </a:solidFill>
            <a:prstDash val="solid"/>
          </a:ln>
        </p:spPr>
      </p:sp>
      <p:sp>
        <p:nvSpPr>
          <p:cNvPr id="30" name="Text 28"/>
          <p:cNvSpPr/>
          <p:nvPr/>
        </p:nvSpPr>
        <p:spPr>
          <a:xfrm>
            <a:off x="4663440" y="804672"/>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06</a:t>
            </a:r>
            <a:endParaRPr lang="en-US" sz="1400" dirty="0"/>
          </a:p>
        </p:txBody>
      </p:sp>
      <p:sp>
        <p:nvSpPr>
          <p:cNvPr id="31" name="Text 29"/>
          <p:cNvSpPr/>
          <p:nvPr/>
        </p:nvSpPr>
        <p:spPr>
          <a:xfrm>
            <a:off x="5230368" y="896112"/>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Selenium and Playwright automate regression testing — reducing manual effort and enabling continuous quality verification in CI/CD pipelines.</a:t>
            </a:r>
            <a:endParaRPr lang="en-US" sz="1000" dirty="0"/>
          </a:p>
        </p:txBody>
      </p:sp>
      <p:sp>
        <p:nvSpPr>
          <p:cNvPr id="32" name="Shape 30"/>
          <p:cNvSpPr/>
          <p:nvPr/>
        </p:nvSpPr>
        <p:spPr>
          <a:xfrm>
            <a:off x="4663440" y="1645920"/>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3" name="Shape 31"/>
          <p:cNvSpPr/>
          <p:nvPr/>
        </p:nvSpPr>
        <p:spPr>
          <a:xfrm>
            <a:off x="4663440" y="1645920"/>
            <a:ext cx="457200" cy="777240"/>
          </a:xfrm>
          <a:prstGeom prst="rect">
            <a:avLst/>
          </a:prstGeom>
          <a:solidFill>
            <a:srgbClr val="E8650A"/>
          </a:solidFill>
          <a:ln w="12700">
            <a:solidFill>
              <a:srgbClr val="E8650A"/>
            </a:solidFill>
            <a:prstDash val="solid"/>
          </a:ln>
        </p:spPr>
      </p:sp>
      <p:sp>
        <p:nvSpPr>
          <p:cNvPr id="34" name="Text 32"/>
          <p:cNvSpPr/>
          <p:nvPr/>
        </p:nvSpPr>
        <p:spPr>
          <a:xfrm>
            <a:off x="4663440" y="1645920"/>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07</a:t>
            </a:r>
            <a:endParaRPr lang="en-US" sz="1400" dirty="0"/>
          </a:p>
        </p:txBody>
      </p:sp>
      <p:sp>
        <p:nvSpPr>
          <p:cNvPr id="35" name="Text 33"/>
          <p:cNvSpPr/>
          <p:nvPr/>
        </p:nvSpPr>
        <p:spPr>
          <a:xfrm>
            <a:off x="5230368" y="1737360"/>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IntelliJ IDEA and Eclipse are the professional IDEs where automation frameworks are built, debugged, and version-controlled.</a:t>
            </a:r>
            <a:endParaRPr lang="en-US" sz="1000" dirty="0"/>
          </a:p>
        </p:txBody>
      </p:sp>
      <p:sp>
        <p:nvSpPr>
          <p:cNvPr id="36" name="Shape 34"/>
          <p:cNvSpPr/>
          <p:nvPr/>
        </p:nvSpPr>
        <p:spPr>
          <a:xfrm>
            <a:off x="4663440" y="2487168"/>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37" name="Shape 35"/>
          <p:cNvSpPr/>
          <p:nvPr/>
        </p:nvSpPr>
        <p:spPr>
          <a:xfrm>
            <a:off x="4663440" y="2487168"/>
            <a:ext cx="457200" cy="777240"/>
          </a:xfrm>
          <a:prstGeom prst="rect">
            <a:avLst/>
          </a:prstGeom>
          <a:solidFill>
            <a:srgbClr val="E8650A"/>
          </a:solidFill>
          <a:ln w="12700">
            <a:solidFill>
              <a:srgbClr val="E8650A"/>
            </a:solidFill>
            <a:prstDash val="solid"/>
          </a:ln>
        </p:spPr>
      </p:sp>
      <p:sp>
        <p:nvSpPr>
          <p:cNvPr id="38" name="Text 36"/>
          <p:cNvSpPr/>
          <p:nvPr/>
        </p:nvSpPr>
        <p:spPr>
          <a:xfrm>
            <a:off x="4663440" y="2487168"/>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08</a:t>
            </a:r>
            <a:endParaRPr lang="en-US" sz="1400" dirty="0"/>
          </a:p>
        </p:txBody>
      </p:sp>
      <p:sp>
        <p:nvSpPr>
          <p:cNvPr id="39" name="Text 37"/>
          <p:cNvSpPr/>
          <p:nvPr/>
        </p:nvSpPr>
        <p:spPr>
          <a:xfrm>
            <a:off x="5230368" y="2578608"/>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Risk-Based Testing ensures effort is focused on the highest-risk, highest-impact areas — maximising quality within fixed time and resource constraints.</a:t>
            </a:r>
            <a:endParaRPr lang="en-US" sz="1000" dirty="0"/>
          </a:p>
        </p:txBody>
      </p:sp>
      <p:sp>
        <p:nvSpPr>
          <p:cNvPr id="40" name="Shape 38"/>
          <p:cNvSpPr/>
          <p:nvPr/>
        </p:nvSpPr>
        <p:spPr>
          <a:xfrm>
            <a:off x="4663440" y="3328416"/>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41" name="Shape 39"/>
          <p:cNvSpPr/>
          <p:nvPr/>
        </p:nvSpPr>
        <p:spPr>
          <a:xfrm>
            <a:off x="4663440" y="3328416"/>
            <a:ext cx="457200" cy="777240"/>
          </a:xfrm>
          <a:prstGeom prst="rect">
            <a:avLst/>
          </a:prstGeom>
          <a:solidFill>
            <a:srgbClr val="E8650A"/>
          </a:solidFill>
          <a:ln w="12700">
            <a:solidFill>
              <a:srgbClr val="E8650A"/>
            </a:solidFill>
            <a:prstDash val="solid"/>
          </a:ln>
        </p:spPr>
      </p:sp>
      <p:sp>
        <p:nvSpPr>
          <p:cNvPr id="42" name="Text 40"/>
          <p:cNvSpPr/>
          <p:nvPr/>
        </p:nvSpPr>
        <p:spPr>
          <a:xfrm>
            <a:off x="4663440" y="3328416"/>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09</a:t>
            </a:r>
            <a:endParaRPr lang="en-US" sz="1400" dirty="0"/>
          </a:p>
        </p:txBody>
      </p:sp>
      <p:sp>
        <p:nvSpPr>
          <p:cNvPr id="43" name="Text 41"/>
          <p:cNvSpPr/>
          <p:nvPr/>
        </p:nvSpPr>
        <p:spPr>
          <a:xfrm>
            <a:off x="5230368" y="3419856"/>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Communication is a core QA skill. Test Managers must tailor daily, weekly, and summary reports to the right audience, at the right level of detail, at the right time.</a:t>
            </a:r>
            <a:endParaRPr lang="en-US" sz="1000" dirty="0"/>
          </a:p>
        </p:txBody>
      </p:sp>
      <p:sp>
        <p:nvSpPr>
          <p:cNvPr id="44" name="Shape 42"/>
          <p:cNvSpPr/>
          <p:nvPr/>
        </p:nvSpPr>
        <p:spPr>
          <a:xfrm>
            <a:off x="4663440" y="4169664"/>
            <a:ext cx="4315968" cy="777240"/>
          </a:xfrm>
          <a:prstGeom prst="rect">
            <a:avLst/>
          </a:prstGeom>
          <a:solidFill>
            <a:srgbClr val="2C2C2C"/>
          </a:solidFill>
          <a:ln w="12700">
            <a:solidFill>
              <a:srgbClr val="333333"/>
            </a:solidFill>
            <a:prstDash val="solid"/>
          </a:ln>
          <a:effectLst>
            <a:outerShdw blurRad="101600" dist="38100" dir="8100000" algn="bl" rotWithShape="0">
              <a:srgbClr val="000000">
                <a:alpha val="18000"/>
              </a:srgbClr>
            </a:outerShdw>
          </a:effectLst>
        </p:spPr>
      </p:sp>
      <p:sp>
        <p:nvSpPr>
          <p:cNvPr id="45" name="Shape 43"/>
          <p:cNvSpPr/>
          <p:nvPr/>
        </p:nvSpPr>
        <p:spPr>
          <a:xfrm>
            <a:off x="4663440" y="4169664"/>
            <a:ext cx="457200" cy="777240"/>
          </a:xfrm>
          <a:prstGeom prst="rect">
            <a:avLst/>
          </a:prstGeom>
          <a:solidFill>
            <a:srgbClr val="E8650A"/>
          </a:solidFill>
          <a:ln w="12700">
            <a:solidFill>
              <a:srgbClr val="E8650A"/>
            </a:solidFill>
            <a:prstDash val="solid"/>
          </a:ln>
        </p:spPr>
      </p:sp>
      <p:sp>
        <p:nvSpPr>
          <p:cNvPr id="46" name="Text 44"/>
          <p:cNvSpPr/>
          <p:nvPr/>
        </p:nvSpPr>
        <p:spPr>
          <a:xfrm>
            <a:off x="4663440" y="4169664"/>
            <a:ext cx="457200" cy="77724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Black" pitchFamily="34" charset="0"/>
                <a:ea typeface="Arial Black" pitchFamily="34" charset="-122"/>
                <a:cs typeface="Arial Black" pitchFamily="34" charset="-120"/>
              </a:rPr>
              <a:t>10</a:t>
            </a:r>
            <a:endParaRPr lang="en-US" sz="1400" dirty="0"/>
          </a:p>
        </p:txBody>
      </p:sp>
      <p:sp>
        <p:nvSpPr>
          <p:cNvPr id="47" name="Text 45"/>
          <p:cNvSpPr/>
          <p:nvPr/>
        </p:nvSpPr>
        <p:spPr>
          <a:xfrm>
            <a:off x="5230368" y="4261104"/>
            <a:ext cx="3657600" cy="621792"/>
          </a:xfrm>
          <a:prstGeom prst="rect">
            <a:avLst/>
          </a:prstGeom>
          <a:noFill/>
          <a:ln/>
        </p:spPr>
        <p:txBody>
          <a:bodyPr wrap="square" lIns="0" tIns="0" rIns="0" bIns="0" rtlCol="0" anchor="ctr"/>
          <a:lstStyle/>
          <a:p>
            <a:pPr marL="0" indent="0">
              <a:buNone/>
            </a:pPr>
            <a:r>
              <a:rPr lang="en-US" sz="1000" dirty="0">
                <a:solidFill>
                  <a:srgbClr val="F5F5F5"/>
                </a:solidFill>
                <a:latin typeface="Arial" pitchFamily="34" charset="0"/>
                <a:ea typeface="Arial" pitchFamily="34" charset="-122"/>
                <a:cs typeface="Arial" pitchFamily="34" charset="-120"/>
              </a:rPr>
              <a:t>Shift-Left: Involve QA from Requirements Analysis — prevention of defects is always cheaper than detection and rework.</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6237</Words>
  <Application>Microsoft Office PowerPoint</Application>
  <PresentationFormat>On-screen Show (16:9)</PresentationFormat>
  <Paragraphs>711</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Arial Black</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Management &amp; Test Control - STLC</dc:title>
  <dc:subject>PptxGenJS Presentation</dc:subject>
  <dc:creator>Quality Engineering Division</dc:creator>
  <cp:lastModifiedBy>Isaac Mahlangu (Lubanzi ICT Consulting)</cp:lastModifiedBy>
  <cp:revision>3</cp:revision>
  <dcterms:created xsi:type="dcterms:W3CDTF">2026-04-14T12:13:40Z</dcterms:created>
  <dcterms:modified xsi:type="dcterms:W3CDTF">2026-04-20T09:51:35Z</dcterms:modified>
</cp:coreProperties>
</file>