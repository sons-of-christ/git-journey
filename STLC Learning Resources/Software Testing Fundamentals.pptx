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1234" y="3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302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Presentation Agenda</a:t>
            </a:r>
            <a:endParaRPr lang="en-US" sz="20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OVERVIEW</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82880" y="822960"/>
            <a:ext cx="438912" cy="402336"/>
          </a:xfrm>
          <a:prstGeom prst="rect">
            <a:avLst/>
          </a:prstGeom>
          <a:solidFill>
            <a:srgbClr val="E8650A"/>
          </a:solidFill>
          <a:ln w="12700">
            <a:solidFill>
              <a:srgbClr val="E8650A"/>
            </a:solidFill>
            <a:prstDash val="solid"/>
          </a:ln>
        </p:spPr>
      </p:sp>
      <p:sp>
        <p:nvSpPr>
          <p:cNvPr id="10" name="Text 8"/>
          <p:cNvSpPr/>
          <p:nvPr/>
        </p:nvSpPr>
        <p:spPr>
          <a:xfrm>
            <a:off x="182880" y="822960"/>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01</a:t>
            </a:r>
            <a:endParaRPr lang="en-US" sz="1100" dirty="0"/>
          </a:p>
        </p:txBody>
      </p:sp>
      <p:sp>
        <p:nvSpPr>
          <p:cNvPr id="11" name="Text 9"/>
          <p:cNvSpPr/>
          <p:nvPr/>
        </p:nvSpPr>
        <p:spPr>
          <a:xfrm>
            <a:off x="713232" y="850392"/>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Introduction to Software Testing</a:t>
            </a:r>
            <a:endParaRPr lang="en-US" sz="1150" dirty="0"/>
          </a:p>
        </p:txBody>
      </p:sp>
      <p:sp>
        <p:nvSpPr>
          <p:cNvPr id="12" name="Shape 10"/>
          <p:cNvSpPr/>
          <p:nvPr/>
        </p:nvSpPr>
        <p:spPr>
          <a:xfrm>
            <a:off x="182880" y="1353312"/>
            <a:ext cx="438912" cy="402336"/>
          </a:xfrm>
          <a:prstGeom prst="rect">
            <a:avLst/>
          </a:prstGeom>
          <a:solidFill>
            <a:srgbClr val="E8650A"/>
          </a:solidFill>
          <a:ln w="12700">
            <a:solidFill>
              <a:srgbClr val="E8650A"/>
            </a:solidFill>
            <a:prstDash val="solid"/>
          </a:ln>
        </p:spPr>
      </p:sp>
      <p:sp>
        <p:nvSpPr>
          <p:cNvPr id="13" name="Text 11"/>
          <p:cNvSpPr/>
          <p:nvPr/>
        </p:nvSpPr>
        <p:spPr>
          <a:xfrm>
            <a:off x="182880" y="1353312"/>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02</a:t>
            </a:r>
            <a:endParaRPr lang="en-US" sz="1100" dirty="0"/>
          </a:p>
        </p:txBody>
      </p:sp>
      <p:sp>
        <p:nvSpPr>
          <p:cNvPr id="14" name="Text 12"/>
          <p:cNvSpPr/>
          <p:nvPr/>
        </p:nvSpPr>
        <p:spPr>
          <a:xfrm>
            <a:off x="713232" y="1380744"/>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Key Testing Terminology</a:t>
            </a:r>
            <a:endParaRPr lang="en-US" sz="1150" dirty="0"/>
          </a:p>
        </p:txBody>
      </p:sp>
      <p:sp>
        <p:nvSpPr>
          <p:cNvPr id="15" name="Shape 13"/>
          <p:cNvSpPr/>
          <p:nvPr/>
        </p:nvSpPr>
        <p:spPr>
          <a:xfrm>
            <a:off x="182880" y="1883664"/>
            <a:ext cx="438912" cy="402336"/>
          </a:xfrm>
          <a:prstGeom prst="rect">
            <a:avLst/>
          </a:prstGeom>
          <a:solidFill>
            <a:srgbClr val="E8650A"/>
          </a:solidFill>
          <a:ln w="12700">
            <a:solidFill>
              <a:srgbClr val="E8650A"/>
            </a:solidFill>
            <a:prstDash val="solid"/>
          </a:ln>
        </p:spPr>
      </p:sp>
      <p:sp>
        <p:nvSpPr>
          <p:cNvPr id="16" name="Text 14"/>
          <p:cNvSpPr/>
          <p:nvPr/>
        </p:nvSpPr>
        <p:spPr>
          <a:xfrm>
            <a:off x="182880" y="1883664"/>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03</a:t>
            </a:r>
            <a:endParaRPr lang="en-US" sz="1100" dirty="0"/>
          </a:p>
        </p:txBody>
      </p:sp>
      <p:sp>
        <p:nvSpPr>
          <p:cNvPr id="17" name="Text 15"/>
          <p:cNvSpPr/>
          <p:nvPr/>
        </p:nvSpPr>
        <p:spPr>
          <a:xfrm>
            <a:off x="713232" y="1911096"/>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7 Principles of Software Testing</a:t>
            </a:r>
            <a:endParaRPr lang="en-US" sz="1150" dirty="0"/>
          </a:p>
        </p:txBody>
      </p:sp>
      <p:sp>
        <p:nvSpPr>
          <p:cNvPr id="18" name="Shape 16"/>
          <p:cNvSpPr/>
          <p:nvPr/>
        </p:nvSpPr>
        <p:spPr>
          <a:xfrm>
            <a:off x="182880" y="2414016"/>
            <a:ext cx="438912" cy="402336"/>
          </a:xfrm>
          <a:prstGeom prst="rect">
            <a:avLst/>
          </a:prstGeom>
          <a:solidFill>
            <a:srgbClr val="E8650A"/>
          </a:solidFill>
          <a:ln w="12700">
            <a:solidFill>
              <a:srgbClr val="E8650A"/>
            </a:solidFill>
            <a:prstDash val="solid"/>
          </a:ln>
        </p:spPr>
      </p:sp>
      <p:sp>
        <p:nvSpPr>
          <p:cNvPr id="19" name="Text 17"/>
          <p:cNvSpPr/>
          <p:nvPr/>
        </p:nvSpPr>
        <p:spPr>
          <a:xfrm>
            <a:off x="182880" y="2414016"/>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04</a:t>
            </a:r>
            <a:endParaRPr lang="en-US" sz="1100" dirty="0"/>
          </a:p>
        </p:txBody>
      </p:sp>
      <p:sp>
        <p:nvSpPr>
          <p:cNvPr id="20" name="Text 18"/>
          <p:cNvSpPr/>
          <p:nvPr/>
        </p:nvSpPr>
        <p:spPr>
          <a:xfrm>
            <a:off x="713232" y="2441448"/>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SDLC Overview</a:t>
            </a:r>
            <a:endParaRPr lang="en-US" sz="1150" dirty="0"/>
          </a:p>
        </p:txBody>
      </p:sp>
      <p:sp>
        <p:nvSpPr>
          <p:cNvPr id="21" name="Shape 19"/>
          <p:cNvSpPr/>
          <p:nvPr/>
        </p:nvSpPr>
        <p:spPr>
          <a:xfrm>
            <a:off x="182880" y="2944368"/>
            <a:ext cx="438912" cy="402336"/>
          </a:xfrm>
          <a:prstGeom prst="rect">
            <a:avLst/>
          </a:prstGeom>
          <a:solidFill>
            <a:srgbClr val="E8650A"/>
          </a:solidFill>
          <a:ln w="12700">
            <a:solidFill>
              <a:srgbClr val="E8650A"/>
            </a:solidFill>
            <a:prstDash val="solid"/>
          </a:ln>
        </p:spPr>
      </p:sp>
      <p:sp>
        <p:nvSpPr>
          <p:cNvPr id="22" name="Text 20"/>
          <p:cNvSpPr/>
          <p:nvPr/>
        </p:nvSpPr>
        <p:spPr>
          <a:xfrm>
            <a:off x="182880" y="2944368"/>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05</a:t>
            </a:r>
            <a:endParaRPr lang="en-US" sz="1100" dirty="0"/>
          </a:p>
        </p:txBody>
      </p:sp>
      <p:sp>
        <p:nvSpPr>
          <p:cNvPr id="23" name="Text 21"/>
          <p:cNvSpPr/>
          <p:nvPr/>
        </p:nvSpPr>
        <p:spPr>
          <a:xfrm>
            <a:off x="713232" y="2971800"/>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STLC Overview</a:t>
            </a:r>
            <a:endParaRPr lang="en-US" sz="1150" dirty="0"/>
          </a:p>
        </p:txBody>
      </p:sp>
      <p:sp>
        <p:nvSpPr>
          <p:cNvPr id="24" name="Shape 22"/>
          <p:cNvSpPr/>
          <p:nvPr/>
        </p:nvSpPr>
        <p:spPr>
          <a:xfrm>
            <a:off x="182880" y="3474720"/>
            <a:ext cx="438912" cy="402336"/>
          </a:xfrm>
          <a:prstGeom prst="rect">
            <a:avLst/>
          </a:prstGeom>
          <a:solidFill>
            <a:srgbClr val="E8650A"/>
          </a:solidFill>
          <a:ln w="12700">
            <a:solidFill>
              <a:srgbClr val="E8650A"/>
            </a:solidFill>
            <a:prstDash val="solid"/>
          </a:ln>
        </p:spPr>
      </p:sp>
      <p:sp>
        <p:nvSpPr>
          <p:cNvPr id="25" name="Text 23"/>
          <p:cNvSpPr/>
          <p:nvPr/>
        </p:nvSpPr>
        <p:spPr>
          <a:xfrm>
            <a:off x="182880" y="3474720"/>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06</a:t>
            </a:r>
            <a:endParaRPr lang="en-US" sz="1100" dirty="0"/>
          </a:p>
        </p:txBody>
      </p:sp>
      <p:sp>
        <p:nvSpPr>
          <p:cNvPr id="26" name="Text 24"/>
          <p:cNvSpPr/>
          <p:nvPr/>
        </p:nvSpPr>
        <p:spPr>
          <a:xfrm>
            <a:off x="713232" y="3502152"/>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Types of Testing</a:t>
            </a:r>
            <a:endParaRPr lang="en-US" sz="1150" dirty="0"/>
          </a:p>
        </p:txBody>
      </p:sp>
      <p:sp>
        <p:nvSpPr>
          <p:cNvPr id="27" name="Shape 25"/>
          <p:cNvSpPr/>
          <p:nvPr/>
        </p:nvSpPr>
        <p:spPr>
          <a:xfrm>
            <a:off x="182880" y="4005072"/>
            <a:ext cx="438912" cy="402336"/>
          </a:xfrm>
          <a:prstGeom prst="rect">
            <a:avLst/>
          </a:prstGeom>
          <a:solidFill>
            <a:srgbClr val="E8650A"/>
          </a:solidFill>
          <a:ln w="12700">
            <a:solidFill>
              <a:srgbClr val="E8650A"/>
            </a:solidFill>
            <a:prstDash val="solid"/>
          </a:ln>
        </p:spPr>
      </p:sp>
      <p:sp>
        <p:nvSpPr>
          <p:cNvPr id="28" name="Text 26"/>
          <p:cNvSpPr/>
          <p:nvPr/>
        </p:nvSpPr>
        <p:spPr>
          <a:xfrm>
            <a:off x="182880" y="4005072"/>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07</a:t>
            </a:r>
            <a:endParaRPr lang="en-US" sz="1100" dirty="0"/>
          </a:p>
        </p:txBody>
      </p:sp>
      <p:sp>
        <p:nvSpPr>
          <p:cNvPr id="29" name="Text 27"/>
          <p:cNvSpPr/>
          <p:nvPr/>
        </p:nvSpPr>
        <p:spPr>
          <a:xfrm>
            <a:off x="713232" y="4032504"/>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Levels of Testing</a:t>
            </a:r>
            <a:endParaRPr lang="en-US" sz="1150" dirty="0"/>
          </a:p>
        </p:txBody>
      </p:sp>
      <p:sp>
        <p:nvSpPr>
          <p:cNvPr id="30" name="Shape 28"/>
          <p:cNvSpPr/>
          <p:nvPr/>
        </p:nvSpPr>
        <p:spPr>
          <a:xfrm>
            <a:off x="182880" y="4535424"/>
            <a:ext cx="438912" cy="402336"/>
          </a:xfrm>
          <a:prstGeom prst="rect">
            <a:avLst/>
          </a:prstGeom>
          <a:solidFill>
            <a:srgbClr val="E8650A"/>
          </a:solidFill>
          <a:ln w="12700">
            <a:solidFill>
              <a:srgbClr val="E8650A"/>
            </a:solidFill>
            <a:prstDash val="solid"/>
          </a:ln>
        </p:spPr>
      </p:sp>
      <p:sp>
        <p:nvSpPr>
          <p:cNvPr id="31" name="Text 29"/>
          <p:cNvSpPr/>
          <p:nvPr/>
        </p:nvSpPr>
        <p:spPr>
          <a:xfrm>
            <a:off x="182880" y="4535424"/>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08</a:t>
            </a:r>
            <a:endParaRPr lang="en-US" sz="1100" dirty="0"/>
          </a:p>
        </p:txBody>
      </p:sp>
      <p:sp>
        <p:nvSpPr>
          <p:cNvPr id="32" name="Text 30"/>
          <p:cNvSpPr/>
          <p:nvPr/>
        </p:nvSpPr>
        <p:spPr>
          <a:xfrm>
            <a:off x="713232" y="4562856"/>
            <a:ext cx="384048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Testing Methods</a:t>
            </a:r>
            <a:endParaRPr lang="en-US" sz="1150" dirty="0"/>
          </a:p>
        </p:txBody>
      </p:sp>
      <p:sp>
        <p:nvSpPr>
          <p:cNvPr id="33" name="Shape 31"/>
          <p:cNvSpPr/>
          <p:nvPr/>
        </p:nvSpPr>
        <p:spPr>
          <a:xfrm>
            <a:off x="4754880" y="822960"/>
            <a:ext cx="438912" cy="402336"/>
          </a:xfrm>
          <a:prstGeom prst="rect">
            <a:avLst/>
          </a:prstGeom>
          <a:solidFill>
            <a:srgbClr val="B84D00"/>
          </a:solidFill>
          <a:ln w="12700">
            <a:solidFill>
              <a:srgbClr val="B84D00"/>
            </a:solidFill>
            <a:prstDash val="solid"/>
          </a:ln>
        </p:spPr>
      </p:sp>
      <p:sp>
        <p:nvSpPr>
          <p:cNvPr id="34" name="Text 32"/>
          <p:cNvSpPr/>
          <p:nvPr/>
        </p:nvSpPr>
        <p:spPr>
          <a:xfrm>
            <a:off x="4754880" y="822960"/>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09</a:t>
            </a:r>
            <a:endParaRPr lang="en-US" sz="1100" dirty="0"/>
          </a:p>
        </p:txBody>
      </p:sp>
      <p:sp>
        <p:nvSpPr>
          <p:cNvPr id="35" name="Text 33"/>
          <p:cNvSpPr/>
          <p:nvPr/>
        </p:nvSpPr>
        <p:spPr>
          <a:xfrm>
            <a:off x="5285232" y="850392"/>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Manual vs Automated Testing</a:t>
            </a:r>
            <a:endParaRPr lang="en-US" sz="1150" dirty="0"/>
          </a:p>
        </p:txBody>
      </p:sp>
      <p:sp>
        <p:nvSpPr>
          <p:cNvPr id="36" name="Shape 34"/>
          <p:cNvSpPr/>
          <p:nvPr/>
        </p:nvSpPr>
        <p:spPr>
          <a:xfrm>
            <a:off x="4754880" y="1353312"/>
            <a:ext cx="438912" cy="402336"/>
          </a:xfrm>
          <a:prstGeom prst="rect">
            <a:avLst/>
          </a:prstGeom>
          <a:solidFill>
            <a:srgbClr val="B84D00"/>
          </a:solidFill>
          <a:ln w="12700">
            <a:solidFill>
              <a:srgbClr val="B84D00"/>
            </a:solidFill>
            <a:prstDash val="solid"/>
          </a:ln>
        </p:spPr>
      </p:sp>
      <p:sp>
        <p:nvSpPr>
          <p:cNvPr id="37" name="Text 35"/>
          <p:cNvSpPr/>
          <p:nvPr/>
        </p:nvSpPr>
        <p:spPr>
          <a:xfrm>
            <a:off x="4754880" y="1353312"/>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10</a:t>
            </a:r>
            <a:endParaRPr lang="en-US" sz="1100" dirty="0"/>
          </a:p>
        </p:txBody>
      </p:sp>
      <p:sp>
        <p:nvSpPr>
          <p:cNvPr id="38" name="Text 36"/>
          <p:cNvSpPr/>
          <p:nvPr/>
        </p:nvSpPr>
        <p:spPr>
          <a:xfrm>
            <a:off x="5285232" y="1380744"/>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Defect Lifecycle</a:t>
            </a:r>
            <a:endParaRPr lang="en-US" sz="1150" dirty="0"/>
          </a:p>
        </p:txBody>
      </p:sp>
      <p:sp>
        <p:nvSpPr>
          <p:cNvPr id="39" name="Shape 37"/>
          <p:cNvSpPr/>
          <p:nvPr/>
        </p:nvSpPr>
        <p:spPr>
          <a:xfrm>
            <a:off x="4754880" y="1883664"/>
            <a:ext cx="438912" cy="402336"/>
          </a:xfrm>
          <a:prstGeom prst="rect">
            <a:avLst/>
          </a:prstGeom>
          <a:solidFill>
            <a:srgbClr val="B84D00"/>
          </a:solidFill>
          <a:ln w="12700">
            <a:solidFill>
              <a:srgbClr val="B84D00"/>
            </a:solidFill>
            <a:prstDash val="solid"/>
          </a:ln>
        </p:spPr>
      </p:sp>
      <p:sp>
        <p:nvSpPr>
          <p:cNvPr id="40" name="Text 38"/>
          <p:cNvSpPr/>
          <p:nvPr/>
        </p:nvSpPr>
        <p:spPr>
          <a:xfrm>
            <a:off x="4754880" y="1883664"/>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11</a:t>
            </a:r>
            <a:endParaRPr lang="en-US" sz="1100" dirty="0"/>
          </a:p>
        </p:txBody>
      </p:sp>
      <p:sp>
        <p:nvSpPr>
          <p:cNvPr id="41" name="Text 39"/>
          <p:cNvSpPr/>
          <p:nvPr/>
        </p:nvSpPr>
        <p:spPr>
          <a:xfrm>
            <a:off x="5285232" y="1911096"/>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Test Case Structure</a:t>
            </a:r>
            <a:endParaRPr lang="en-US" sz="1150" dirty="0"/>
          </a:p>
        </p:txBody>
      </p:sp>
      <p:sp>
        <p:nvSpPr>
          <p:cNvPr id="42" name="Shape 40"/>
          <p:cNvSpPr/>
          <p:nvPr/>
        </p:nvSpPr>
        <p:spPr>
          <a:xfrm>
            <a:off x="4754880" y="2414016"/>
            <a:ext cx="438912" cy="402336"/>
          </a:xfrm>
          <a:prstGeom prst="rect">
            <a:avLst/>
          </a:prstGeom>
          <a:solidFill>
            <a:srgbClr val="B84D00"/>
          </a:solidFill>
          <a:ln w="12700">
            <a:solidFill>
              <a:srgbClr val="B84D00"/>
            </a:solidFill>
            <a:prstDash val="solid"/>
          </a:ln>
        </p:spPr>
      </p:sp>
      <p:sp>
        <p:nvSpPr>
          <p:cNvPr id="43" name="Text 41"/>
          <p:cNvSpPr/>
          <p:nvPr/>
        </p:nvSpPr>
        <p:spPr>
          <a:xfrm>
            <a:off x="4754880" y="2414016"/>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12</a:t>
            </a:r>
            <a:endParaRPr lang="en-US" sz="1100" dirty="0"/>
          </a:p>
        </p:txBody>
      </p:sp>
      <p:sp>
        <p:nvSpPr>
          <p:cNvPr id="44" name="Text 42"/>
          <p:cNvSpPr/>
          <p:nvPr/>
        </p:nvSpPr>
        <p:spPr>
          <a:xfrm>
            <a:off x="5285232" y="2441448"/>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Introduction to Test Automation</a:t>
            </a:r>
            <a:endParaRPr lang="en-US" sz="1150" dirty="0"/>
          </a:p>
        </p:txBody>
      </p:sp>
      <p:sp>
        <p:nvSpPr>
          <p:cNvPr id="45" name="Shape 43"/>
          <p:cNvSpPr/>
          <p:nvPr/>
        </p:nvSpPr>
        <p:spPr>
          <a:xfrm>
            <a:off x="4754880" y="2944368"/>
            <a:ext cx="438912" cy="402336"/>
          </a:xfrm>
          <a:prstGeom prst="rect">
            <a:avLst/>
          </a:prstGeom>
          <a:solidFill>
            <a:srgbClr val="B84D00"/>
          </a:solidFill>
          <a:ln w="12700">
            <a:solidFill>
              <a:srgbClr val="B84D00"/>
            </a:solidFill>
            <a:prstDash val="solid"/>
          </a:ln>
        </p:spPr>
      </p:sp>
      <p:sp>
        <p:nvSpPr>
          <p:cNvPr id="46" name="Text 44"/>
          <p:cNvSpPr/>
          <p:nvPr/>
        </p:nvSpPr>
        <p:spPr>
          <a:xfrm>
            <a:off x="4754880" y="2944368"/>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13</a:t>
            </a:r>
            <a:endParaRPr lang="en-US" sz="1100" dirty="0"/>
          </a:p>
        </p:txBody>
      </p:sp>
      <p:sp>
        <p:nvSpPr>
          <p:cNvPr id="47" name="Text 45"/>
          <p:cNvSpPr/>
          <p:nvPr/>
        </p:nvSpPr>
        <p:spPr>
          <a:xfrm>
            <a:off x="5285232" y="2971800"/>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Real-World Testing Example</a:t>
            </a:r>
            <a:endParaRPr lang="en-US" sz="1150" dirty="0"/>
          </a:p>
        </p:txBody>
      </p:sp>
      <p:sp>
        <p:nvSpPr>
          <p:cNvPr id="48" name="Shape 46"/>
          <p:cNvSpPr/>
          <p:nvPr/>
        </p:nvSpPr>
        <p:spPr>
          <a:xfrm>
            <a:off x="4754880" y="3474720"/>
            <a:ext cx="438912" cy="402336"/>
          </a:xfrm>
          <a:prstGeom prst="rect">
            <a:avLst/>
          </a:prstGeom>
          <a:solidFill>
            <a:srgbClr val="B84D00"/>
          </a:solidFill>
          <a:ln w="12700">
            <a:solidFill>
              <a:srgbClr val="B84D00"/>
            </a:solidFill>
            <a:prstDash val="solid"/>
          </a:ln>
        </p:spPr>
      </p:sp>
      <p:sp>
        <p:nvSpPr>
          <p:cNvPr id="49" name="Text 47"/>
          <p:cNvSpPr/>
          <p:nvPr/>
        </p:nvSpPr>
        <p:spPr>
          <a:xfrm>
            <a:off x="4754880" y="3474720"/>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14</a:t>
            </a:r>
            <a:endParaRPr lang="en-US" sz="1100" dirty="0"/>
          </a:p>
        </p:txBody>
      </p:sp>
      <p:sp>
        <p:nvSpPr>
          <p:cNvPr id="50" name="Text 48"/>
          <p:cNvSpPr/>
          <p:nvPr/>
        </p:nvSpPr>
        <p:spPr>
          <a:xfrm>
            <a:off x="5285232" y="3502152"/>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Best Practices</a:t>
            </a:r>
            <a:endParaRPr lang="en-US" sz="1150" dirty="0"/>
          </a:p>
        </p:txBody>
      </p:sp>
      <p:sp>
        <p:nvSpPr>
          <p:cNvPr id="51" name="Shape 49"/>
          <p:cNvSpPr/>
          <p:nvPr/>
        </p:nvSpPr>
        <p:spPr>
          <a:xfrm>
            <a:off x="4754880" y="4005072"/>
            <a:ext cx="438912" cy="402336"/>
          </a:xfrm>
          <a:prstGeom prst="rect">
            <a:avLst/>
          </a:prstGeom>
          <a:solidFill>
            <a:srgbClr val="B84D00"/>
          </a:solidFill>
          <a:ln w="12700">
            <a:solidFill>
              <a:srgbClr val="B84D00"/>
            </a:solidFill>
            <a:prstDash val="solid"/>
          </a:ln>
        </p:spPr>
      </p:sp>
      <p:sp>
        <p:nvSpPr>
          <p:cNvPr id="52" name="Text 50"/>
          <p:cNvSpPr/>
          <p:nvPr/>
        </p:nvSpPr>
        <p:spPr>
          <a:xfrm>
            <a:off x="4754880" y="4005072"/>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15</a:t>
            </a:r>
            <a:endParaRPr lang="en-US" sz="1100" dirty="0"/>
          </a:p>
        </p:txBody>
      </p:sp>
      <p:sp>
        <p:nvSpPr>
          <p:cNvPr id="53" name="Text 51"/>
          <p:cNvSpPr/>
          <p:nvPr/>
        </p:nvSpPr>
        <p:spPr>
          <a:xfrm>
            <a:off x="5285232" y="4032504"/>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Common Beginner Mistakes</a:t>
            </a:r>
            <a:endParaRPr lang="en-US" sz="1150" dirty="0"/>
          </a:p>
        </p:txBody>
      </p:sp>
      <p:sp>
        <p:nvSpPr>
          <p:cNvPr id="54" name="Shape 52"/>
          <p:cNvSpPr/>
          <p:nvPr/>
        </p:nvSpPr>
        <p:spPr>
          <a:xfrm>
            <a:off x="4754880" y="4535424"/>
            <a:ext cx="438912" cy="402336"/>
          </a:xfrm>
          <a:prstGeom prst="rect">
            <a:avLst/>
          </a:prstGeom>
          <a:solidFill>
            <a:srgbClr val="B84D00"/>
          </a:solidFill>
          <a:ln w="12700">
            <a:solidFill>
              <a:srgbClr val="B84D00"/>
            </a:solidFill>
            <a:prstDash val="solid"/>
          </a:ln>
        </p:spPr>
      </p:sp>
      <p:sp>
        <p:nvSpPr>
          <p:cNvPr id="55" name="Text 53"/>
          <p:cNvSpPr/>
          <p:nvPr/>
        </p:nvSpPr>
        <p:spPr>
          <a:xfrm>
            <a:off x="4754880" y="4535424"/>
            <a:ext cx="43891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16</a:t>
            </a:r>
            <a:endParaRPr lang="en-US" sz="1100" dirty="0"/>
          </a:p>
        </p:txBody>
      </p:sp>
      <p:sp>
        <p:nvSpPr>
          <p:cNvPr id="56" name="Text 54"/>
          <p:cNvSpPr/>
          <p:nvPr/>
        </p:nvSpPr>
        <p:spPr>
          <a:xfrm>
            <a:off x="5285232" y="4562856"/>
            <a:ext cx="3657600" cy="34747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Summary &amp; Q&amp;A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01</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Introduction to</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Software Testing</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What It Is · Why It Matters · Core Objectives</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What is Software Testing?</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01  |  INTRODUCTION</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64592" y="795528"/>
            <a:ext cx="8823960" cy="960120"/>
          </a:xfrm>
          <a:prstGeom prst="rect">
            <a:avLst/>
          </a:prstGeom>
          <a:solidFill>
            <a:srgbClr val="282828"/>
          </a:solidFill>
          <a:ln w="12700">
            <a:solidFill>
              <a:srgbClr val="E8650A"/>
            </a:solidFill>
            <a:prstDash val="solid"/>
          </a:ln>
          <a:effectLst>
            <a:outerShdw blurRad="101600" dist="38100" dir="8100000" algn="bl" rotWithShape="0">
              <a:srgbClr val="000000">
                <a:alpha val="20000"/>
              </a:srgbClr>
            </a:outerShdw>
          </a:effectLst>
        </p:spPr>
      </p:sp>
      <p:sp>
        <p:nvSpPr>
          <p:cNvPr id="10" name="Shape 8"/>
          <p:cNvSpPr/>
          <p:nvPr/>
        </p:nvSpPr>
        <p:spPr>
          <a:xfrm>
            <a:off x="164592" y="795528"/>
            <a:ext cx="91440" cy="960120"/>
          </a:xfrm>
          <a:prstGeom prst="rect">
            <a:avLst/>
          </a:prstGeom>
          <a:solidFill>
            <a:srgbClr val="E8650A"/>
          </a:solidFill>
          <a:ln w="12700">
            <a:solidFill>
              <a:srgbClr val="E8650A"/>
            </a:solidFill>
            <a:prstDash val="solid"/>
          </a:ln>
        </p:spPr>
      </p:sp>
      <p:sp>
        <p:nvSpPr>
          <p:cNvPr id="11" name="Text 9"/>
          <p:cNvSpPr/>
          <p:nvPr/>
        </p:nvSpPr>
        <p:spPr>
          <a:xfrm>
            <a:off x="347472" y="813816"/>
            <a:ext cx="8503920" cy="237744"/>
          </a:xfrm>
          <a:prstGeom prst="rect">
            <a:avLst/>
          </a:prstGeom>
          <a:noFill/>
          <a:ln/>
        </p:spPr>
        <p:txBody>
          <a:bodyPr wrap="square" lIns="0" tIns="0" rIns="0" bIns="0" rtlCol="0" anchor="ctr"/>
          <a:lstStyle/>
          <a:p>
            <a:pPr marL="0" indent="0">
              <a:buNone/>
            </a:pPr>
            <a:r>
              <a:rPr lang="en-US" sz="1000" b="1" dirty="0">
                <a:solidFill>
                  <a:srgbClr val="E8650A"/>
                </a:solidFill>
                <a:latin typeface="Arial" pitchFamily="34" charset="0"/>
                <a:ea typeface="Arial" pitchFamily="34" charset="-122"/>
                <a:cs typeface="Arial" pitchFamily="34" charset="-120"/>
              </a:rPr>
              <a:t>Definition</a:t>
            </a:r>
            <a:endParaRPr lang="en-US" sz="1000" dirty="0"/>
          </a:p>
        </p:txBody>
      </p:sp>
      <p:sp>
        <p:nvSpPr>
          <p:cNvPr id="12" name="Text 10"/>
          <p:cNvSpPr/>
          <p:nvPr/>
        </p:nvSpPr>
        <p:spPr>
          <a:xfrm>
            <a:off x="347472" y="1042416"/>
            <a:ext cx="8458200" cy="658368"/>
          </a:xfrm>
          <a:prstGeom prst="rect">
            <a:avLst/>
          </a:prstGeom>
          <a:noFill/>
          <a:ln/>
        </p:spPr>
        <p:txBody>
          <a:bodyPr wrap="square" lIns="0" tIns="0" rIns="0" bIns="0" rtlCol="0" anchor="ctr"/>
          <a:lstStyle/>
          <a:p>
            <a:pPr marL="0" indent="0">
              <a:buNone/>
            </a:pPr>
            <a:r>
              <a:rPr lang="en-US" sz="1200" dirty="0">
                <a:solidFill>
                  <a:srgbClr val="BBBBBB"/>
                </a:solidFill>
                <a:latin typeface="Arial" pitchFamily="34" charset="0"/>
                <a:ea typeface="Arial" pitchFamily="34" charset="-122"/>
                <a:cs typeface="Arial" pitchFamily="34" charset="-120"/>
              </a:rPr>
              <a:t>Software Testing is the systematic process of evaluating a software application to identify gaps, errors, or missing requirements compared to the actual requirements. It validates that the software behaves as expected under all conditions — both normal and abnormal — before it is delivered to end users.</a:t>
            </a:r>
            <a:endParaRPr lang="en-US" sz="1200" dirty="0"/>
          </a:p>
        </p:txBody>
      </p:sp>
      <p:sp>
        <p:nvSpPr>
          <p:cNvPr id="13" name="Text 11"/>
          <p:cNvSpPr/>
          <p:nvPr/>
        </p:nvSpPr>
        <p:spPr>
          <a:xfrm>
            <a:off x="164592" y="1874520"/>
            <a:ext cx="8823960" cy="320040"/>
          </a:xfrm>
          <a:prstGeom prst="rect">
            <a:avLst/>
          </a:prstGeom>
          <a:noFill/>
          <a:ln/>
        </p:spPr>
        <p:txBody>
          <a:bodyPr wrap="square" lIns="0" tIns="0" rIns="0" bIns="0" rtlCol="0" anchor="ctr"/>
          <a:lstStyle/>
          <a:p>
            <a:pPr marL="0" indent="0">
              <a:buNone/>
            </a:pPr>
            <a:r>
              <a:rPr lang="en-US" sz="1300" b="1" dirty="0">
                <a:solidFill>
                  <a:srgbClr val="E8650A"/>
                </a:solidFill>
                <a:latin typeface="Arial Black" pitchFamily="34" charset="0"/>
                <a:ea typeface="Arial Black" pitchFamily="34" charset="-122"/>
                <a:cs typeface="Arial Black" pitchFamily="34" charset="-120"/>
              </a:rPr>
              <a:t>Software testing is NOT just about finding bugs — it is about building confidence in quality.</a:t>
            </a:r>
            <a:endParaRPr lang="en-US" sz="1300" dirty="0"/>
          </a:p>
        </p:txBody>
      </p:sp>
      <p:sp>
        <p:nvSpPr>
          <p:cNvPr id="14" name="Shape 12"/>
          <p:cNvSpPr/>
          <p:nvPr/>
        </p:nvSpPr>
        <p:spPr>
          <a:xfrm>
            <a:off x="164592" y="2286000"/>
            <a:ext cx="4315968" cy="107899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5" name="Shape 13"/>
          <p:cNvSpPr/>
          <p:nvPr/>
        </p:nvSpPr>
        <p:spPr>
          <a:xfrm>
            <a:off x="164592" y="2286000"/>
            <a:ext cx="73152" cy="1078992"/>
          </a:xfrm>
          <a:prstGeom prst="rect">
            <a:avLst/>
          </a:prstGeom>
          <a:solidFill>
            <a:srgbClr val="E8650A"/>
          </a:solidFill>
          <a:ln w="12700">
            <a:solidFill>
              <a:srgbClr val="E8650A"/>
            </a:solidFill>
            <a:prstDash val="solid"/>
          </a:ln>
        </p:spPr>
      </p:sp>
      <p:sp>
        <p:nvSpPr>
          <p:cNvPr id="16" name="Text 14"/>
          <p:cNvSpPr/>
          <p:nvPr/>
        </p:nvSpPr>
        <p:spPr>
          <a:xfrm>
            <a:off x="329184" y="2340864"/>
            <a:ext cx="402336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Verification</a:t>
            </a:r>
            <a:endParaRPr lang="en-US" sz="1300" dirty="0"/>
          </a:p>
        </p:txBody>
      </p:sp>
      <p:sp>
        <p:nvSpPr>
          <p:cNvPr id="17" name="Text 15"/>
          <p:cNvSpPr/>
          <p:nvPr/>
        </p:nvSpPr>
        <p:spPr>
          <a:xfrm>
            <a:off x="329184" y="2670048"/>
            <a:ext cx="4023360" cy="621792"/>
          </a:xfrm>
          <a:prstGeom prst="rect">
            <a:avLst/>
          </a:prstGeom>
          <a:noFill/>
          <a:ln/>
        </p:spPr>
        <p:txBody>
          <a:bodyPr wrap="square" lIns="0" tIns="0" rIns="0" bIns="0" rtlCol="0" anchor="ctr"/>
          <a:lstStyle/>
          <a:p>
            <a:pPr marL="0" indent="0">
              <a:buNone/>
            </a:pPr>
            <a:r>
              <a:rPr lang="en-US" sz="1050" dirty="0">
                <a:solidFill>
                  <a:srgbClr val="BBBBBB"/>
                </a:solidFill>
                <a:latin typeface="Arial" pitchFamily="34" charset="0"/>
                <a:ea typeface="Arial" pitchFamily="34" charset="-122"/>
                <a:cs typeface="Arial" pitchFamily="34" charset="-120"/>
              </a:rPr>
              <a:t>Are we building the product RIGHT? Checking the software against its technical specifications and design documents.</a:t>
            </a:r>
            <a:endParaRPr lang="en-US" sz="1050" dirty="0"/>
          </a:p>
        </p:txBody>
      </p:sp>
      <p:sp>
        <p:nvSpPr>
          <p:cNvPr id="18" name="Shape 16"/>
          <p:cNvSpPr/>
          <p:nvPr/>
        </p:nvSpPr>
        <p:spPr>
          <a:xfrm>
            <a:off x="4663440" y="2286000"/>
            <a:ext cx="4315968" cy="107899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9" name="Shape 17"/>
          <p:cNvSpPr/>
          <p:nvPr/>
        </p:nvSpPr>
        <p:spPr>
          <a:xfrm>
            <a:off x="4663440" y="2286000"/>
            <a:ext cx="73152" cy="1078992"/>
          </a:xfrm>
          <a:prstGeom prst="rect">
            <a:avLst/>
          </a:prstGeom>
          <a:solidFill>
            <a:srgbClr val="E8650A"/>
          </a:solidFill>
          <a:ln w="12700">
            <a:solidFill>
              <a:srgbClr val="E8650A"/>
            </a:solidFill>
            <a:prstDash val="solid"/>
          </a:ln>
        </p:spPr>
      </p:sp>
      <p:sp>
        <p:nvSpPr>
          <p:cNvPr id="20" name="Text 18"/>
          <p:cNvSpPr/>
          <p:nvPr/>
        </p:nvSpPr>
        <p:spPr>
          <a:xfrm>
            <a:off x="4828032" y="2340864"/>
            <a:ext cx="402336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Validation</a:t>
            </a:r>
            <a:endParaRPr lang="en-US" sz="1300" dirty="0"/>
          </a:p>
        </p:txBody>
      </p:sp>
      <p:sp>
        <p:nvSpPr>
          <p:cNvPr id="21" name="Text 19"/>
          <p:cNvSpPr/>
          <p:nvPr/>
        </p:nvSpPr>
        <p:spPr>
          <a:xfrm>
            <a:off x="4828032" y="2670048"/>
            <a:ext cx="4023360" cy="621792"/>
          </a:xfrm>
          <a:prstGeom prst="rect">
            <a:avLst/>
          </a:prstGeom>
          <a:noFill/>
          <a:ln/>
        </p:spPr>
        <p:txBody>
          <a:bodyPr wrap="square" lIns="0" tIns="0" rIns="0" bIns="0" rtlCol="0" anchor="ctr"/>
          <a:lstStyle/>
          <a:p>
            <a:pPr marL="0" indent="0">
              <a:buNone/>
            </a:pPr>
            <a:r>
              <a:rPr lang="en-US" sz="1050" dirty="0">
                <a:solidFill>
                  <a:srgbClr val="BBBBBB"/>
                </a:solidFill>
                <a:latin typeface="Arial" pitchFamily="34" charset="0"/>
                <a:ea typeface="Arial" pitchFamily="34" charset="-122"/>
                <a:cs typeface="Arial" pitchFamily="34" charset="-120"/>
              </a:rPr>
              <a:t>Are we building the RIGHT product? Ensuring the final product meets the real-world needs and expectations of the end user.</a:t>
            </a:r>
            <a:endParaRPr lang="en-US" sz="1050" dirty="0"/>
          </a:p>
        </p:txBody>
      </p:sp>
      <p:sp>
        <p:nvSpPr>
          <p:cNvPr id="22" name="Shape 20"/>
          <p:cNvSpPr/>
          <p:nvPr/>
        </p:nvSpPr>
        <p:spPr>
          <a:xfrm>
            <a:off x="164592" y="3456432"/>
            <a:ext cx="4315968" cy="107899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3" name="Shape 21"/>
          <p:cNvSpPr/>
          <p:nvPr/>
        </p:nvSpPr>
        <p:spPr>
          <a:xfrm>
            <a:off x="164592" y="3456432"/>
            <a:ext cx="73152" cy="1078992"/>
          </a:xfrm>
          <a:prstGeom prst="rect">
            <a:avLst/>
          </a:prstGeom>
          <a:solidFill>
            <a:srgbClr val="E8650A"/>
          </a:solidFill>
          <a:ln w="12700">
            <a:solidFill>
              <a:srgbClr val="E8650A"/>
            </a:solidFill>
            <a:prstDash val="solid"/>
          </a:ln>
        </p:spPr>
      </p:sp>
      <p:sp>
        <p:nvSpPr>
          <p:cNvPr id="24" name="Text 22"/>
          <p:cNvSpPr/>
          <p:nvPr/>
        </p:nvSpPr>
        <p:spPr>
          <a:xfrm>
            <a:off x="329184" y="3511296"/>
            <a:ext cx="402336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Quality Assurance</a:t>
            </a:r>
            <a:endParaRPr lang="en-US" sz="1300" dirty="0"/>
          </a:p>
        </p:txBody>
      </p:sp>
      <p:sp>
        <p:nvSpPr>
          <p:cNvPr id="25" name="Text 23"/>
          <p:cNvSpPr/>
          <p:nvPr/>
        </p:nvSpPr>
        <p:spPr>
          <a:xfrm>
            <a:off x="329184" y="3840480"/>
            <a:ext cx="4023360" cy="621792"/>
          </a:xfrm>
          <a:prstGeom prst="rect">
            <a:avLst/>
          </a:prstGeom>
          <a:noFill/>
          <a:ln/>
        </p:spPr>
        <p:txBody>
          <a:bodyPr wrap="square" lIns="0" tIns="0" rIns="0" bIns="0" rtlCol="0" anchor="ctr"/>
          <a:lstStyle/>
          <a:p>
            <a:pPr marL="0" indent="0">
              <a:buNone/>
            </a:pPr>
            <a:r>
              <a:rPr lang="en-US" sz="1050" dirty="0">
                <a:solidFill>
                  <a:srgbClr val="BBBBBB"/>
                </a:solidFill>
                <a:latin typeface="Arial" pitchFamily="34" charset="0"/>
                <a:ea typeface="Arial" pitchFamily="34" charset="-122"/>
                <a:cs typeface="Arial" pitchFamily="34" charset="-120"/>
              </a:rPr>
              <a:t>Proactively preventing defects through process improvement, standards enforcement, and continuous evaluation throughout development.</a:t>
            </a:r>
            <a:endParaRPr lang="en-US" sz="1050" dirty="0"/>
          </a:p>
        </p:txBody>
      </p:sp>
      <p:sp>
        <p:nvSpPr>
          <p:cNvPr id="26" name="Shape 24"/>
          <p:cNvSpPr/>
          <p:nvPr/>
        </p:nvSpPr>
        <p:spPr>
          <a:xfrm>
            <a:off x="4663440" y="3456432"/>
            <a:ext cx="4315968" cy="107899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7" name="Shape 25"/>
          <p:cNvSpPr/>
          <p:nvPr/>
        </p:nvSpPr>
        <p:spPr>
          <a:xfrm>
            <a:off x="4663440" y="3456432"/>
            <a:ext cx="73152" cy="1078992"/>
          </a:xfrm>
          <a:prstGeom prst="rect">
            <a:avLst/>
          </a:prstGeom>
          <a:solidFill>
            <a:srgbClr val="E8650A"/>
          </a:solidFill>
          <a:ln w="12700">
            <a:solidFill>
              <a:srgbClr val="E8650A"/>
            </a:solidFill>
            <a:prstDash val="solid"/>
          </a:ln>
        </p:spPr>
      </p:sp>
      <p:sp>
        <p:nvSpPr>
          <p:cNvPr id="28" name="Text 26"/>
          <p:cNvSpPr/>
          <p:nvPr/>
        </p:nvSpPr>
        <p:spPr>
          <a:xfrm>
            <a:off x="4828032" y="3511296"/>
            <a:ext cx="402336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Measurement</a:t>
            </a:r>
            <a:endParaRPr lang="en-US" sz="1300" dirty="0"/>
          </a:p>
        </p:txBody>
      </p:sp>
      <p:sp>
        <p:nvSpPr>
          <p:cNvPr id="29" name="Text 27"/>
          <p:cNvSpPr/>
          <p:nvPr/>
        </p:nvSpPr>
        <p:spPr>
          <a:xfrm>
            <a:off x="4828032" y="3840480"/>
            <a:ext cx="4023360" cy="621792"/>
          </a:xfrm>
          <a:prstGeom prst="rect">
            <a:avLst/>
          </a:prstGeom>
          <a:noFill/>
          <a:ln/>
        </p:spPr>
        <p:txBody>
          <a:bodyPr wrap="square" lIns="0" tIns="0" rIns="0" bIns="0" rtlCol="0" anchor="ctr"/>
          <a:lstStyle/>
          <a:p>
            <a:pPr marL="0" indent="0">
              <a:buNone/>
            </a:pPr>
            <a:r>
              <a:rPr lang="en-US" sz="1050" dirty="0">
                <a:solidFill>
                  <a:srgbClr val="BBBBBB"/>
                </a:solidFill>
                <a:latin typeface="Arial" pitchFamily="34" charset="0"/>
                <a:ea typeface="Arial" pitchFamily="34" charset="-122"/>
                <a:cs typeface="Arial" pitchFamily="34" charset="-120"/>
              </a:rPr>
              <a:t>Quantifying quality through metrics — test coverage, defect density, pass rate — to make data-driven release decisions.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Why Software Testing is Critical</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01  |  INTRODUCTION</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Text 6"/>
          <p:cNvSpPr/>
          <p:nvPr/>
        </p:nvSpPr>
        <p:spPr>
          <a:xfrm>
            <a:off x="164592" y="804672"/>
            <a:ext cx="8229600" cy="292608"/>
          </a:xfrm>
          <a:prstGeom prst="rect">
            <a:avLst/>
          </a:prstGeom>
          <a:noFill/>
          <a:ln/>
        </p:spPr>
        <p:txBody>
          <a:bodyPr wrap="square" lIns="0" tIns="0" rIns="0" bIns="0" rtlCol="0" anchor="ctr"/>
          <a:lstStyle/>
          <a:p>
            <a:pPr marL="0" indent="0">
              <a:buNone/>
            </a:pPr>
            <a:r>
              <a:rPr lang="en-US" sz="1500" b="1" dirty="0">
                <a:solidFill>
                  <a:srgbClr val="0C0C0C"/>
                </a:solidFill>
                <a:latin typeface="Arial Black" pitchFamily="34" charset="0"/>
                <a:ea typeface="Arial Black" pitchFamily="34" charset="-122"/>
                <a:cs typeface="Arial Black" pitchFamily="34" charset="-120"/>
              </a:rPr>
              <a:t>The Cost of NOT Testing:</a:t>
            </a:r>
            <a:endParaRPr lang="en-US" sz="1500" dirty="0"/>
          </a:p>
        </p:txBody>
      </p:sp>
      <p:sp>
        <p:nvSpPr>
          <p:cNvPr id="9" name="Shape 7"/>
          <p:cNvSpPr/>
          <p:nvPr/>
        </p:nvSpPr>
        <p:spPr>
          <a:xfrm>
            <a:off x="164592" y="1143000"/>
            <a:ext cx="2834640" cy="1051560"/>
          </a:xfrm>
          <a:prstGeom prst="rect">
            <a:avLst/>
          </a:prstGeom>
          <a:solidFill>
            <a:srgbClr val="0C0C0C"/>
          </a:solidFill>
          <a:ln w="12700">
            <a:solidFill>
              <a:srgbClr val="0C0C0C"/>
            </a:solidFill>
            <a:prstDash val="solid"/>
          </a:ln>
          <a:effectLst>
            <a:outerShdw blurRad="63500" dist="25400" dir="8100000" algn="bl" rotWithShape="0">
              <a:srgbClr val="000000">
                <a:alpha val="9000"/>
              </a:srgbClr>
            </a:outerShdw>
          </a:effectLst>
        </p:spPr>
      </p:sp>
      <p:sp>
        <p:nvSpPr>
          <p:cNvPr id="10" name="Text 8"/>
          <p:cNvSpPr/>
          <p:nvPr/>
        </p:nvSpPr>
        <p:spPr>
          <a:xfrm>
            <a:off x="164592" y="1188720"/>
            <a:ext cx="2834640" cy="530352"/>
          </a:xfrm>
          <a:prstGeom prst="rect">
            <a:avLst/>
          </a:prstGeom>
          <a:noFill/>
          <a:ln/>
        </p:spPr>
        <p:txBody>
          <a:bodyPr wrap="square" lIns="0" tIns="0" rIns="0" bIns="0" rtlCol="0" anchor="ctr"/>
          <a:lstStyle/>
          <a:p>
            <a:pPr marL="0" indent="0" algn="ctr">
              <a:buNone/>
            </a:pPr>
            <a:r>
              <a:rPr lang="en-US" sz="3400" b="1" dirty="0">
                <a:solidFill>
                  <a:srgbClr val="E8650A"/>
                </a:solidFill>
                <a:latin typeface="Arial Black" pitchFamily="34" charset="0"/>
                <a:ea typeface="Arial Black" pitchFamily="34" charset="-122"/>
                <a:cs typeface="Arial Black" pitchFamily="34" charset="-120"/>
              </a:rPr>
              <a:t>$2.84T</a:t>
            </a:r>
            <a:endParaRPr lang="en-US" sz="3400" dirty="0"/>
          </a:p>
        </p:txBody>
      </p:sp>
      <p:sp>
        <p:nvSpPr>
          <p:cNvPr id="11" name="Text 9"/>
          <p:cNvSpPr/>
          <p:nvPr/>
        </p:nvSpPr>
        <p:spPr>
          <a:xfrm>
            <a:off x="256032" y="1737360"/>
            <a:ext cx="2651760" cy="384048"/>
          </a:xfrm>
          <a:prstGeom prst="rect">
            <a:avLst/>
          </a:prstGeom>
          <a:noFill/>
          <a:ln/>
        </p:spPr>
        <p:txBody>
          <a:bodyPr wrap="square" lIns="0" tIns="0" rIns="0" bIns="0" rtlCol="0" anchor="ctr"/>
          <a:lstStyle/>
          <a:p>
            <a:pPr marL="0" indent="0" algn="ctr">
              <a:buNone/>
            </a:pPr>
            <a:r>
              <a:rPr lang="en-US" sz="950" dirty="0">
                <a:solidFill>
                  <a:srgbClr val="BBBBBB"/>
                </a:solidFill>
                <a:latin typeface="Arial" pitchFamily="34" charset="0"/>
                <a:ea typeface="Arial" pitchFamily="34" charset="-122"/>
                <a:cs typeface="Arial" pitchFamily="34" charset="-120"/>
              </a:rPr>
              <a:t>Cost of poor software quality in the USA annually (CISQ 2022)</a:t>
            </a:r>
            <a:endParaRPr lang="en-US" sz="950" dirty="0"/>
          </a:p>
        </p:txBody>
      </p:sp>
      <p:sp>
        <p:nvSpPr>
          <p:cNvPr id="12" name="Shape 10"/>
          <p:cNvSpPr/>
          <p:nvPr/>
        </p:nvSpPr>
        <p:spPr>
          <a:xfrm>
            <a:off x="3136392" y="1143000"/>
            <a:ext cx="2834640" cy="1051560"/>
          </a:xfrm>
          <a:prstGeom prst="rect">
            <a:avLst/>
          </a:prstGeom>
          <a:solidFill>
            <a:srgbClr val="0C0C0C"/>
          </a:solidFill>
          <a:ln w="12700">
            <a:solidFill>
              <a:srgbClr val="0C0C0C"/>
            </a:solidFill>
            <a:prstDash val="solid"/>
          </a:ln>
          <a:effectLst>
            <a:outerShdw blurRad="63500" dist="25400" dir="8100000" algn="bl" rotWithShape="0">
              <a:srgbClr val="000000">
                <a:alpha val="9000"/>
              </a:srgbClr>
            </a:outerShdw>
          </a:effectLst>
        </p:spPr>
      </p:sp>
      <p:sp>
        <p:nvSpPr>
          <p:cNvPr id="13" name="Text 11"/>
          <p:cNvSpPr/>
          <p:nvPr/>
        </p:nvSpPr>
        <p:spPr>
          <a:xfrm>
            <a:off x="3136392" y="1188720"/>
            <a:ext cx="2834640" cy="530352"/>
          </a:xfrm>
          <a:prstGeom prst="rect">
            <a:avLst/>
          </a:prstGeom>
          <a:noFill/>
          <a:ln/>
        </p:spPr>
        <p:txBody>
          <a:bodyPr wrap="square" lIns="0" tIns="0" rIns="0" bIns="0" rtlCol="0" anchor="ctr"/>
          <a:lstStyle/>
          <a:p>
            <a:pPr marL="0" indent="0" algn="ctr">
              <a:buNone/>
            </a:pPr>
            <a:r>
              <a:rPr lang="en-US" sz="3400" b="1" dirty="0">
                <a:solidFill>
                  <a:srgbClr val="E8650A"/>
                </a:solidFill>
                <a:latin typeface="Arial Black" pitchFamily="34" charset="0"/>
                <a:ea typeface="Arial Black" pitchFamily="34" charset="-122"/>
                <a:cs typeface="Arial Black" pitchFamily="34" charset="-120"/>
              </a:rPr>
              <a:t>100×</a:t>
            </a:r>
            <a:endParaRPr lang="en-US" sz="3400" dirty="0"/>
          </a:p>
        </p:txBody>
      </p:sp>
      <p:sp>
        <p:nvSpPr>
          <p:cNvPr id="14" name="Text 12"/>
          <p:cNvSpPr/>
          <p:nvPr/>
        </p:nvSpPr>
        <p:spPr>
          <a:xfrm>
            <a:off x="3227832" y="1737360"/>
            <a:ext cx="2651760" cy="384048"/>
          </a:xfrm>
          <a:prstGeom prst="rect">
            <a:avLst/>
          </a:prstGeom>
          <a:noFill/>
          <a:ln/>
        </p:spPr>
        <p:txBody>
          <a:bodyPr wrap="square" lIns="0" tIns="0" rIns="0" bIns="0" rtlCol="0" anchor="ctr"/>
          <a:lstStyle/>
          <a:p>
            <a:pPr marL="0" indent="0" algn="ctr">
              <a:buNone/>
            </a:pPr>
            <a:r>
              <a:rPr lang="en-US" sz="950" dirty="0">
                <a:solidFill>
                  <a:srgbClr val="BBBBBB"/>
                </a:solidFill>
                <a:latin typeface="Arial" pitchFamily="34" charset="0"/>
                <a:ea typeface="Arial" pitchFamily="34" charset="-122"/>
                <a:cs typeface="Arial" pitchFamily="34" charset="-120"/>
              </a:rPr>
              <a:t>Cost to fix a bug in production vs during requirements phase</a:t>
            </a:r>
            <a:endParaRPr lang="en-US" sz="950" dirty="0"/>
          </a:p>
        </p:txBody>
      </p:sp>
      <p:sp>
        <p:nvSpPr>
          <p:cNvPr id="15" name="Shape 13"/>
          <p:cNvSpPr/>
          <p:nvPr/>
        </p:nvSpPr>
        <p:spPr>
          <a:xfrm>
            <a:off x="6108192" y="1143000"/>
            <a:ext cx="2834640" cy="1051560"/>
          </a:xfrm>
          <a:prstGeom prst="rect">
            <a:avLst/>
          </a:prstGeom>
          <a:solidFill>
            <a:srgbClr val="0C0C0C"/>
          </a:solidFill>
          <a:ln w="12700">
            <a:solidFill>
              <a:srgbClr val="0C0C0C"/>
            </a:solidFill>
            <a:prstDash val="solid"/>
          </a:ln>
          <a:effectLst>
            <a:outerShdw blurRad="63500" dist="25400" dir="8100000" algn="bl" rotWithShape="0">
              <a:srgbClr val="000000">
                <a:alpha val="9000"/>
              </a:srgbClr>
            </a:outerShdw>
          </a:effectLst>
        </p:spPr>
      </p:sp>
      <p:sp>
        <p:nvSpPr>
          <p:cNvPr id="16" name="Text 14"/>
          <p:cNvSpPr/>
          <p:nvPr/>
        </p:nvSpPr>
        <p:spPr>
          <a:xfrm>
            <a:off x="6108192" y="1188720"/>
            <a:ext cx="2834640" cy="530352"/>
          </a:xfrm>
          <a:prstGeom prst="rect">
            <a:avLst/>
          </a:prstGeom>
          <a:noFill/>
          <a:ln/>
        </p:spPr>
        <p:txBody>
          <a:bodyPr wrap="square" lIns="0" tIns="0" rIns="0" bIns="0" rtlCol="0" anchor="ctr"/>
          <a:lstStyle/>
          <a:p>
            <a:pPr marL="0" indent="0" algn="ctr">
              <a:buNone/>
            </a:pPr>
            <a:r>
              <a:rPr lang="en-US" sz="3400" b="1" dirty="0">
                <a:solidFill>
                  <a:srgbClr val="E8650A"/>
                </a:solidFill>
                <a:latin typeface="Arial Black" pitchFamily="34" charset="0"/>
                <a:ea typeface="Arial Black" pitchFamily="34" charset="-122"/>
                <a:cs typeface="Arial Black" pitchFamily="34" charset="-120"/>
              </a:rPr>
              <a:t>40%</a:t>
            </a:r>
            <a:endParaRPr lang="en-US" sz="3400" dirty="0"/>
          </a:p>
        </p:txBody>
      </p:sp>
      <p:sp>
        <p:nvSpPr>
          <p:cNvPr id="17" name="Text 15"/>
          <p:cNvSpPr/>
          <p:nvPr/>
        </p:nvSpPr>
        <p:spPr>
          <a:xfrm>
            <a:off x="6199632" y="1737360"/>
            <a:ext cx="2651760" cy="384048"/>
          </a:xfrm>
          <a:prstGeom prst="rect">
            <a:avLst/>
          </a:prstGeom>
          <a:noFill/>
          <a:ln/>
        </p:spPr>
        <p:txBody>
          <a:bodyPr wrap="square" lIns="0" tIns="0" rIns="0" bIns="0" rtlCol="0" anchor="ctr"/>
          <a:lstStyle/>
          <a:p>
            <a:pPr marL="0" indent="0" algn="ctr">
              <a:buNone/>
            </a:pPr>
            <a:r>
              <a:rPr lang="en-US" sz="950" dirty="0">
                <a:solidFill>
                  <a:srgbClr val="BBBBBB"/>
                </a:solidFill>
                <a:latin typeface="Arial" pitchFamily="34" charset="0"/>
                <a:ea typeface="Arial" pitchFamily="34" charset="-122"/>
                <a:cs typeface="Arial" pitchFamily="34" charset="-120"/>
              </a:rPr>
              <a:t>Of software projects fail due to quality issues, not technical ones</a:t>
            </a:r>
            <a:endParaRPr lang="en-US" sz="950" dirty="0"/>
          </a:p>
        </p:txBody>
      </p:sp>
      <p:sp>
        <p:nvSpPr>
          <p:cNvPr id="18" name="Text 16"/>
          <p:cNvSpPr/>
          <p:nvPr/>
        </p:nvSpPr>
        <p:spPr>
          <a:xfrm>
            <a:off x="164592" y="2331720"/>
            <a:ext cx="8229600" cy="292608"/>
          </a:xfrm>
          <a:prstGeom prst="rect">
            <a:avLst/>
          </a:prstGeom>
          <a:noFill/>
          <a:ln/>
        </p:spPr>
        <p:txBody>
          <a:bodyPr wrap="square" lIns="0" tIns="0" rIns="0" bIns="0" rtlCol="0" anchor="ctr"/>
          <a:lstStyle/>
          <a:p>
            <a:pPr marL="0" indent="0">
              <a:buNone/>
            </a:pPr>
            <a:r>
              <a:rPr lang="en-US" sz="1500" b="1" dirty="0">
                <a:solidFill>
                  <a:srgbClr val="0C0C0C"/>
                </a:solidFill>
                <a:latin typeface="Arial Black" pitchFamily="34" charset="0"/>
                <a:ea typeface="Arial Black" pitchFamily="34" charset="-122"/>
                <a:cs typeface="Arial Black" pitchFamily="34" charset="-120"/>
              </a:rPr>
              <a:t>Core Objectives of Software Testing:</a:t>
            </a:r>
            <a:endParaRPr lang="en-US" sz="1500" dirty="0"/>
          </a:p>
        </p:txBody>
      </p:sp>
      <p:sp>
        <p:nvSpPr>
          <p:cNvPr id="19" name="Shape 17"/>
          <p:cNvSpPr/>
          <p:nvPr/>
        </p:nvSpPr>
        <p:spPr>
          <a:xfrm>
            <a:off x="164592" y="2715768"/>
            <a:ext cx="8823960" cy="67665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0" name="Shape 18"/>
          <p:cNvSpPr/>
          <p:nvPr/>
        </p:nvSpPr>
        <p:spPr>
          <a:xfrm>
            <a:off x="164592" y="2715768"/>
            <a:ext cx="73152" cy="676656"/>
          </a:xfrm>
          <a:prstGeom prst="rect">
            <a:avLst/>
          </a:prstGeom>
          <a:solidFill>
            <a:srgbClr val="E8650A"/>
          </a:solidFill>
          <a:ln w="12700">
            <a:solidFill>
              <a:srgbClr val="E8650A"/>
            </a:solidFill>
            <a:prstDash val="solid"/>
          </a:ln>
        </p:spPr>
      </p:sp>
      <p:sp>
        <p:nvSpPr>
          <p:cNvPr id="21" name="Shape 19"/>
          <p:cNvSpPr/>
          <p:nvPr/>
        </p:nvSpPr>
        <p:spPr>
          <a:xfrm>
            <a:off x="256032" y="2770632"/>
            <a:ext cx="475488" cy="475488"/>
          </a:xfrm>
          <a:prstGeom prst="rect">
            <a:avLst/>
          </a:prstGeom>
          <a:solidFill>
            <a:srgbClr val="0C0C0C"/>
          </a:solidFill>
          <a:ln w="12700">
            <a:solidFill>
              <a:srgbClr val="0C0C0C"/>
            </a:solidFill>
            <a:prstDash val="solid"/>
          </a:ln>
        </p:spPr>
      </p:sp>
      <p:sp>
        <p:nvSpPr>
          <p:cNvPr id="22" name="Text 20"/>
          <p:cNvSpPr/>
          <p:nvPr/>
        </p:nvSpPr>
        <p:spPr>
          <a:xfrm>
            <a:off x="256032" y="2770632"/>
            <a:ext cx="475488" cy="475488"/>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01</a:t>
            </a:r>
            <a:endParaRPr lang="en-US" sz="1400" dirty="0"/>
          </a:p>
        </p:txBody>
      </p:sp>
      <p:sp>
        <p:nvSpPr>
          <p:cNvPr id="23" name="Text 21"/>
          <p:cNvSpPr/>
          <p:nvPr/>
        </p:nvSpPr>
        <p:spPr>
          <a:xfrm>
            <a:off x="822960" y="2779776"/>
            <a:ext cx="1920240" cy="237744"/>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Quality Assurance</a:t>
            </a:r>
            <a:endParaRPr lang="en-US" sz="1200" dirty="0"/>
          </a:p>
        </p:txBody>
      </p:sp>
      <p:sp>
        <p:nvSpPr>
          <p:cNvPr id="24" name="Text 22"/>
          <p:cNvSpPr/>
          <p:nvPr/>
        </p:nvSpPr>
        <p:spPr>
          <a:xfrm>
            <a:off x="822960" y="3044952"/>
            <a:ext cx="8046720" cy="274320"/>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Ensure the product consistently meets defined quality standards and business requirements before each release. QA is process-oriented — it focuses on preventing defects from entering the codebase in the first place.</a:t>
            </a:r>
            <a:endParaRPr lang="en-US" sz="1000" dirty="0"/>
          </a:p>
        </p:txBody>
      </p:sp>
      <p:sp>
        <p:nvSpPr>
          <p:cNvPr id="25" name="Shape 23"/>
          <p:cNvSpPr/>
          <p:nvPr/>
        </p:nvSpPr>
        <p:spPr>
          <a:xfrm>
            <a:off x="164592" y="3465576"/>
            <a:ext cx="8823960" cy="67665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6" name="Shape 24"/>
          <p:cNvSpPr/>
          <p:nvPr/>
        </p:nvSpPr>
        <p:spPr>
          <a:xfrm>
            <a:off x="164592" y="3465576"/>
            <a:ext cx="73152" cy="676656"/>
          </a:xfrm>
          <a:prstGeom prst="rect">
            <a:avLst/>
          </a:prstGeom>
          <a:solidFill>
            <a:srgbClr val="E8650A"/>
          </a:solidFill>
          <a:ln w="12700">
            <a:solidFill>
              <a:srgbClr val="E8650A"/>
            </a:solidFill>
            <a:prstDash val="solid"/>
          </a:ln>
        </p:spPr>
      </p:sp>
      <p:sp>
        <p:nvSpPr>
          <p:cNvPr id="27" name="Shape 25"/>
          <p:cNvSpPr/>
          <p:nvPr/>
        </p:nvSpPr>
        <p:spPr>
          <a:xfrm>
            <a:off x="256032" y="3520440"/>
            <a:ext cx="475488" cy="475488"/>
          </a:xfrm>
          <a:prstGeom prst="rect">
            <a:avLst/>
          </a:prstGeom>
          <a:solidFill>
            <a:srgbClr val="0C0C0C"/>
          </a:solidFill>
          <a:ln w="12700">
            <a:solidFill>
              <a:srgbClr val="0C0C0C"/>
            </a:solidFill>
            <a:prstDash val="solid"/>
          </a:ln>
        </p:spPr>
      </p:sp>
      <p:sp>
        <p:nvSpPr>
          <p:cNvPr id="28" name="Text 26"/>
          <p:cNvSpPr/>
          <p:nvPr/>
        </p:nvSpPr>
        <p:spPr>
          <a:xfrm>
            <a:off x="256032" y="3520440"/>
            <a:ext cx="475488" cy="475488"/>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02</a:t>
            </a:r>
            <a:endParaRPr lang="en-US" sz="1400" dirty="0"/>
          </a:p>
        </p:txBody>
      </p:sp>
      <p:sp>
        <p:nvSpPr>
          <p:cNvPr id="29" name="Text 27"/>
          <p:cNvSpPr/>
          <p:nvPr/>
        </p:nvSpPr>
        <p:spPr>
          <a:xfrm>
            <a:off x="822960" y="3529584"/>
            <a:ext cx="1920240" cy="237744"/>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Defect Detection</a:t>
            </a:r>
            <a:endParaRPr lang="en-US" sz="1200" dirty="0"/>
          </a:p>
        </p:txBody>
      </p:sp>
      <p:sp>
        <p:nvSpPr>
          <p:cNvPr id="30" name="Text 28"/>
          <p:cNvSpPr/>
          <p:nvPr/>
        </p:nvSpPr>
        <p:spPr>
          <a:xfrm>
            <a:off x="822960" y="3794760"/>
            <a:ext cx="8046720" cy="274320"/>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Identify and document defects (deviations from expected behaviour) as early as possible. The earlier a defect is found in the SDLC, the cheaper and faster it is to fix — reducing rework and preventing downstream failures.</a:t>
            </a:r>
            <a:endParaRPr lang="en-US" sz="1000" dirty="0"/>
          </a:p>
        </p:txBody>
      </p:sp>
      <p:sp>
        <p:nvSpPr>
          <p:cNvPr id="31" name="Shape 29"/>
          <p:cNvSpPr/>
          <p:nvPr/>
        </p:nvSpPr>
        <p:spPr>
          <a:xfrm>
            <a:off x="164592" y="4215384"/>
            <a:ext cx="8823960" cy="67665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2" name="Shape 30"/>
          <p:cNvSpPr/>
          <p:nvPr/>
        </p:nvSpPr>
        <p:spPr>
          <a:xfrm>
            <a:off x="164592" y="4215384"/>
            <a:ext cx="73152" cy="676656"/>
          </a:xfrm>
          <a:prstGeom prst="rect">
            <a:avLst/>
          </a:prstGeom>
          <a:solidFill>
            <a:srgbClr val="E8650A"/>
          </a:solidFill>
          <a:ln w="12700">
            <a:solidFill>
              <a:srgbClr val="E8650A"/>
            </a:solidFill>
            <a:prstDash val="solid"/>
          </a:ln>
        </p:spPr>
      </p:sp>
      <p:sp>
        <p:nvSpPr>
          <p:cNvPr id="33" name="Shape 31"/>
          <p:cNvSpPr/>
          <p:nvPr/>
        </p:nvSpPr>
        <p:spPr>
          <a:xfrm>
            <a:off x="256032" y="4270248"/>
            <a:ext cx="475488" cy="475488"/>
          </a:xfrm>
          <a:prstGeom prst="rect">
            <a:avLst/>
          </a:prstGeom>
          <a:solidFill>
            <a:srgbClr val="0C0C0C"/>
          </a:solidFill>
          <a:ln w="12700">
            <a:solidFill>
              <a:srgbClr val="0C0C0C"/>
            </a:solidFill>
            <a:prstDash val="solid"/>
          </a:ln>
        </p:spPr>
      </p:sp>
      <p:sp>
        <p:nvSpPr>
          <p:cNvPr id="34" name="Text 32"/>
          <p:cNvSpPr/>
          <p:nvPr/>
        </p:nvSpPr>
        <p:spPr>
          <a:xfrm>
            <a:off x="256032" y="4270248"/>
            <a:ext cx="475488" cy="475488"/>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03</a:t>
            </a:r>
            <a:endParaRPr lang="en-US" sz="1400" dirty="0"/>
          </a:p>
        </p:txBody>
      </p:sp>
      <p:sp>
        <p:nvSpPr>
          <p:cNvPr id="35" name="Text 33"/>
          <p:cNvSpPr/>
          <p:nvPr/>
        </p:nvSpPr>
        <p:spPr>
          <a:xfrm>
            <a:off x="822960" y="4279392"/>
            <a:ext cx="1920240" cy="237744"/>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Risk Reduction</a:t>
            </a:r>
            <a:endParaRPr lang="en-US" sz="1200" dirty="0"/>
          </a:p>
        </p:txBody>
      </p:sp>
      <p:sp>
        <p:nvSpPr>
          <p:cNvPr id="36" name="Text 34"/>
          <p:cNvSpPr/>
          <p:nvPr/>
        </p:nvSpPr>
        <p:spPr>
          <a:xfrm>
            <a:off x="822960" y="4544568"/>
            <a:ext cx="8046720" cy="274320"/>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Reduce the business and technical risk of releasing software with undiscovered issues. Risk-based testing prioritises effort on the highest-risk areas of the application to maximise quality within time constraints.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Real-World Example — When Testing Fails</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01  |  INTRODUCTION</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347472"/>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  Case Study: NASA Mars Climate Orbiter — $327 Million Lost (1999)</a:t>
            </a:r>
            <a:endParaRPr lang="en-US" sz="1400" dirty="0"/>
          </a:p>
        </p:txBody>
      </p:sp>
      <p:sp>
        <p:nvSpPr>
          <p:cNvPr id="10" name="Shape 8"/>
          <p:cNvSpPr/>
          <p:nvPr/>
        </p:nvSpPr>
        <p:spPr>
          <a:xfrm>
            <a:off x="164592" y="1188720"/>
            <a:ext cx="8823960" cy="621792"/>
          </a:xfrm>
          <a:prstGeom prst="rect">
            <a:avLst/>
          </a:prstGeom>
          <a:solidFill>
            <a:srgbClr val="282828"/>
          </a:solidFill>
          <a:ln w="12700">
            <a:solidFill>
              <a:srgbClr val="282828"/>
            </a:solidFill>
            <a:prstDash val="solid"/>
          </a:ln>
          <a:effectLst>
            <a:outerShdw blurRad="101600" dist="38100" dir="8100000" algn="bl" rotWithShape="0">
              <a:srgbClr val="000000">
                <a:alpha val="20000"/>
              </a:srgbClr>
            </a:outerShdw>
          </a:effectLst>
        </p:spPr>
      </p:sp>
      <p:sp>
        <p:nvSpPr>
          <p:cNvPr id="11" name="Text 9"/>
          <p:cNvSpPr/>
          <p:nvPr/>
        </p:nvSpPr>
        <p:spPr>
          <a:xfrm>
            <a:off x="256032" y="1225296"/>
            <a:ext cx="8595360" cy="548640"/>
          </a:xfrm>
          <a:prstGeom prst="rect">
            <a:avLst/>
          </a:prstGeom>
          <a:noFill/>
          <a:ln/>
        </p:spPr>
        <p:txBody>
          <a:bodyPr wrap="square" lIns="0" tIns="0" rIns="0" bIns="0" rtlCol="0" anchor="ctr"/>
          <a:lstStyle/>
          <a:p>
            <a:pPr marL="0" indent="0">
              <a:buNone/>
            </a:pPr>
            <a:r>
              <a:rPr lang="en-US" sz="1100" dirty="0">
                <a:solidFill>
                  <a:srgbClr val="BBBBBB"/>
                </a:solidFill>
                <a:latin typeface="Arial" pitchFamily="34" charset="0"/>
                <a:ea typeface="Arial" pitchFamily="34" charset="-122"/>
                <a:cs typeface="Arial" pitchFamily="34" charset="-120"/>
              </a:rPr>
              <a:t>The orbiter was lost because one engineering team used metric units (Newton-seconds) while another used imperial units (pound-force-seconds) for navigation calculations. No integration testing validated the unit consistency between the two systems. The spacecraft entered the Martian atmosphere at the wrong angle and disintegrated.</a:t>
            </a:r>
            <a:endParaRPr lang="en-US" sz="1100" dirty="0"/>
          </a:p>
        </p:txBody>
      </p:sp>
      <p:sp>
        <p:nvSpPr>
          <p:cNvPr id="12" name="Shape 10"/>
          <p:cNvSpPr/>
          <p:nvPr/>
        </p:nvSpPr>
        <p:spPr>
          <a:xfrm>
            <a:off x="164592" y="1920240"/>
            <a:ext cx="4315968" cy="11704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3" name="Shape 11"/>
          <p:cNvSpPr/>
          <p:nvPr/>
        </p:nvSpPr>
        <p:spPr>
          <a:xfrm>
            <a:off x="164592" y="1920240"/>
            <a:ext cx="73152" cy="1170432"/>
          </a:xfrm>
          <a:prstGeom prst="rect">
            <a:avLst/>
          </a:prstGeom>
          <a:solidFill>
            <a:srgbClr val="E8650A"/>
          </a:solidFill>
          <a:ln w="12700">
            <a:solidFill>
              <a:srgbClr val="E8650A"/>
            </a:solidFill>
            <a:prstDash val="solid"/>
          </a:ln>
        </p:spPr>
      </p:sp>
      <p:sp>
        <p:nvSpPr>
          <p:cNvPr id="14" name="Text 12"/>
          <p:cNvSpPr/>
          <p:nvPr/>
        </p:nvSpPr>
        <p:spPr>
          <a:xfrm>
            <a:off x="329184" y="1984248"/>
            <a:ext cx="4023360" cy="237744"/>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What Was Missing</a:t>
            </a:r>
            <a:endParaRPr lang="en-US" sz="1200" dirty="0"/>
          </a:p>
        </p:txBody>
      </p:sp>
      <p:sp>
        <p:nvSpPr>
          <p:cNvPr id="15" name="Text 13"/>
          <p:cNvSpPr/>
          <p:nvPr/>
        </p:nvSpPr>
        <p:spPr>
          <a:xfrm>
            <a:off x="329184" y="2249424"/>
            <a:ext cx="4023360" cy="74980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Integration testing between the two navigation software components was never performed. A simple data validation test would have caught the unit mismatch before launch.</a:t>
            </a:r>
            <a:endParaRPr lang="en-US" sz="1000" dirty="0"/>
          </a:p>
        </p:txBody>
      </p:sp>
      <p:sp>
        <p:nvSpPr>
          <p:cNvPr id="16" name="Shape 14"/>
          <p:cNvSpPr/>
          <p:nvPr/>
        </p:nvSpPr>
        <p:spPr>
          <a:xfrm>
            <a:off x="4663440" y="1920240"/>
            <a:ext cx="4315968" cy="11704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7" name="Shape 15"/>
          <p:cNvSpPr/>
          <p:nvPr/>
        </p:nvSpPr>
        <p:spPr>
          <a:xfrm>
            <a:off x="4663440" y="1920240"/>
            <a:ext cx="73152" cy="1170432"/>
          </a:xfrm>
          <a:prstGeom prst="rect">
            <a:avLst/>
          </a:prstGeom>
          <a:solidFill>
            <a:srgbClr val="E8650A"/>
          </a:solidFill>
          <a:ln w="12700">
            <a:solidFill>
              <a:srgbClr val="E8650A"/>
            </a:solidFill>
            <a:prstDash val="solid"/>
          </a:ln>
        </p:spPr>
      </p:sp>
      <p:sp>
        <p:nvSpPr>
          <p:cNvPr id="18" name="Text 16"/>
          <p:cNvSpPr/>
          <p:nvPr/>
        </p:nvSpPr>
        <p:spPr>
          <a:xfrm>
            <a:off x="4828032" y="1984248"/>
            <a:ext cx="4023360" cy="237744"/>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The Real Cost</a:t>
            </a:r>
            <a:endParaRPr lang="en-US" sz="1200" dirty="0"/>
          </a:p>
        </p:txBody>
      </p:sp>
      <p:sp>
        <p:nvSpPr>
          <p:cNvPr id="19" name="Text 17"/>
          <p:cNvSpPr/>
          <p:nvPr/>
        </p:nvSpPr>
        <p:spPr>
          <a:xfrm>
            <a:off x="4828032" y="2249424"/>
            <a:ext cx="4023360" cy="74980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$327.6 million spacecraft destroyed. Years of scientific research lost. Reputation damage to NASA. The mission could not be recovered — unlike a software bug that can be patched.</a:t>
            </a:r>
            <a:endParaRPr lang="en-US" sz="1000" dirty="0"/>
          </a:p>
        </p:txBody>
      </p:sp>
      <p:sp>
        <p:nvSpPr>
          <p:cNvPr id="20" name="Shape 18"/>
          <p:cNvSpPr/>
          <p:nvPr/>
        </p:nvSpPr>
        <p:spPr>
          <a:xfrm>
            <a:off x="164592" y="3182112"/>
            <a:ext cx="4315968" cy="11704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1" name="Shape 19"/>
          <p:cNvSpPr/>
          <p:nvPr/>
        </p:nvSpPr>
        <p:spPr>
          <a:xfrm>
            <a:off x="164592" y="3182112"/>
            <a:ext cx="73152" cy="1170432"/>
          </a:xfrm>
          <a:prstGeom prst="rect">
            <a:avLst/>
          </a:prstGeom>
          <a:solidFill>
            <a:srgbClr val="E8650A"/>
          </a:solidFill>
          <a:ln w="12700">
            <a:solidFill>
              <a:srgbClr val="E8650A"/>
            </a:solidFill>
            <a:prstDash val="solid"/>
          </a:ln>
        </p:spPr>
      </p:sp>
      <p:sp>
        <p:nvSpPr>
          <p:cNvPr id="22" name="Text 20"/>
          <p:cNvSpPr/>
          <p:nvPr/>
        </p:nvSpPr>
        <p:spPr>
          <a:xfrm>
            <a:off x="329184" y="3246120"/>
            <a:ext cx="4023360" cy="237744"/>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The Testing Lesson</a:t>
            </a:r>
            <a:endParaRPr lang="en-US" sz="1200" dirty="0"/>
          </a:p>
        </p:txBody>
      </p:sp>
      <p:sp>
        <p:nvSpPr>
          <p:cNvPr id="23" name="Text 21"/>
          <p:cNvSpPr/>
          <p:nvPr/>
        </p:nvSpPr>
        <p:spPr>
          <a:xfrm>
            <a:off x="329184" y="3511296"/>
            <a:ext cx="4023360" cy="74980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Testing is not optional for critical systems. Integration testing specifically validates that independently built components communicate correctly — exactly what was missing here.</a:t>
            </a:r>
            <a:endParaRPr lang="en-US" sz="1000" dirty="0"/>
          </a:p>
        </p:txBody>
      </p:sp>
      <p:sp>
        <p:nvSpPr>
          <p:cNvPr id="24" name="Shape 22"/>
          <p:cNvSpPr/>
          <p:nvPr/>
        </p:nvSpPr>
        <p:spPr>
          <a:xfrm>
            <a:off x="4663440" y="3182112"/>
            <a:ext cx="4315968" cy="11704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5" name="Shape 23"/>
          <p:cNvSpPr/>
          <p:nvPr/>
        </p:nvSpPr>
        <p:spPr>
          <a:xfrm>
            <a:off x="4663440" y="3182112"/>
            <a:ext cx="73152" cy="1170432"/>
          </a:xfrm>
          <a:prstGeom prst="rect">
            <a:avLst/>
          </a:prstGeom>
          <a:solidFill>
            <a:srgbClr val="E8650A"/>
          </a:solidFill>
          <a:ln w="12700">
            <a:solidFill>
              <a:srgbClr val="E8650A"/>
            </a:solidFill>
            <a:prstDash val="solid"/>
          </a:ln>
        </p:spPr>
      </p:sp>
      <p:sp>
        <p:nvSpPr>
          <p:cNvPr id="26" name="Text 24"/>
          <p:cNvSpPr/>
          <p:nvPr/>
        </p:nvSpPr>
        <p:spPr>
          <a:xfrm>
            <a:off x="4828032" y="3246120"/>
            <a:ext cx="4023360" cy="237744"/>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Modern Relevance</a:t>
            </a:r>
            <a:endParaRPr lang="en-US" sz="1200" dirty="0"/>
          </a:p>
        </p:txBody>
      </p:sp>
      <p:sp>
        <p:nvSpPr>
          <p:cNvPr id="27" name="Text 25"/>
          <p:cNvSpPr/>
          <p:nvPr/>
        </p:nvSpPr>
        <p:spPr>
          <a:xfrm>
            <a:off x="4828032" y="3511296"/>
            <a:ext cx="4023360" cy="74980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Today: financial systems (wrong decimal point = millions lost), medical devices (wrong dosage calculation = patient harm), banking apps (race conditions = double charges).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02</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Key Terminology</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in Testing</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Bug · Defect · Error · Failure · Test Case · Test Scenario · Test Suite</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Bug · Defect · Error · Failure — The Differences</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02  |  TERMINOLOGY</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320040"/>
          </a:xfrm>
          <a:prstGeom prst="rect">
            <a:avLst/>
          </a:prstGeom>
          <a:noFill/>
          <a:ln/>
        </p:spPr>
        <p:txBody>
          <a:bodyPr wrap="square" lIns="0" tIns="0" rIns="0" bIns="0" rtlCol="0" anchor="ctr"/>
          <a:lstStyle/>
          <a:p>
            <a:pPr marL="0" indent="0">
              <a:buNone/>
            </a:pPr>
            <a:r>
              <a:rPr lang="en-US" sz="1150" i="1" dirty="0">
                <a:solidFill>
                  <a:srgbClr val="BBBBBB"/>
                </a:solidFill>
                <a:latin typeface="Arial" pitchFamily="34" charset="0"/>
                <a:ea typeface="Arial" pitchFamily="34" charset="-122"/>
                <a:cs typeface="Arial" pitchFamily="34" charset="-120"/>
              </a:rPr>
              <a:t>These four terms are often used interchangeably but have PRECISE definitions in professional testing:</a:t>
            </a:r>
            <a:endParaRPr lang="en-US" sz="1150" dirty="0"/>
          </a:p>
        </p:txBody>
      </p:sp>
      <p:sp>
        <p:nvSpPr>
          <p:cNvPr id="10" name="Shape 8"/>
          <p:cNvSpPr/>
          <p:nvPr/>
        </p:nvSpPr>
        <p:spPr>
          <a:xfrm>
            <a:off x="164592" y="1188720"/>
            <a:ext cx="4315968" cy="1792224"/>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1" name="Shape 9"/>
          <p:cNvSpPr/>
          <p:nvPr/>
        </p:nvSpPr>
        <p:spPr>
          <a:xfrm>
            <a:off x="164592" y="1188720"/>
            <a:ext cx="4315968" cy="347472"/>
          </a:xfrm>
          <a:prstGeom prst="rect">
            <a:avLst/>
          </a:prstGeom>
          <a:solidFill>
            <a:srgbClr val="4A90D9"/>
          </a:solidFill>
          <a:ln w="12700">
            <a:solidFill>
              <a:srgbClr val="4A90D9"/>
            </a:solidFill>
            <a:prstDash val="solid"/>
          </a:ln>
        </p:spPr>
      </p:sp>
      <p:sp>
        <p:nvSpPr>
          <p:cNvPr id="12" name="Text 10"/>
          <p:cNvSpPr/>
          <p:nvPr/>
        </p:nvSpPr>
        <p:spPr>
          <a:xfrm>
            <a:off x="256032" y="1188720"/>
            <a:ext cx="2286000" cy="347472"/>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ERROR</a:t>
            </a:r>
            <a:endParaRPr lang="en-US" sz="1400" dirty="0"/>
          </a:p>
        </p:txBody>
      </p:sp>
      <p:sp>
        <p:nvSpPr>
          <p:cNvPr id="13" name="Text 11"/>
          <p:cNvSpPr/>
          <p:nvPr/>
        </p:nvSpPr>
        <p:spPr>
          <a:xfrm>
            <a:off x="2542032" y="1225296"/>
            <a:ext cx="1828800" cy="274320"/>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Human Mistake</a:t>
            </a:r>
            <a:endParaRPr lang="en-US" sz="1000" dirty="0"/>
          </a:p>
        </p:txBody>
      </p:sp>
      <p:sp>
        <p:nvSpPr>
          <p:cNvPr id="14" name="Text 12"/>
          <p:cNvSpPr/>
          <p:nvPr/>
        </p:nvSpPr>
        <p:spPr>
          <a:xfrm>
            <a:off x="274320" y="1572768"/>
            <a:ext cx="4114800" cy="74980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An error is a human action that produces an incorrect result. It occurs in the MIND of a developer, analyst, or tester — typically a misunderstanding of requirements or an incorrect logical decision during coding.</a:t>
            </a:r>
            <a:endParaRPr lang="en-US" sz="950" dirty="0"/>
          </a:p>
        </p:txBody>
      </p:sp>
      <p:sp>
        <p:nvSpPr>
          <p:cNvPr id="15" name="Text 13"/>
          <p:cNvSpPr/>
          <p:nvPr/>
        </p:nvSpPr>
        <p:spPr>
          <a:xfrm>
            <a:off x="274320" y="2350008"/>
            <a:ext cx="4114800" cy="56692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A developer misunderstands that the discount should apply AFTER tax, not before. They write code based on this incorrect understanding.</a:t>
            </a:r>
            <a:endParaRPr lang="en-US" sz="950" dirty="0"/>
          </a:p>
        </p:txBody>
      </p:sp>
      <p:sp>
        <p:nvSpPr>
          <p:cNvPr id="16" name="Shape 14"/>
          <p:cNvSpPr/>
          <p:nvPr/>
        </p:nvSpPr>
        <p:spPr>
          <a:xfrm>
            <a:off x="4663440" y="1188720"/>
            <a:ext cx="4315968" cy="1792224"/>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7" name="Shape 15"/>
          <p:cNvSpPr/>
          <p:nvPr/>
        </p:nvSpPr>
        <p:spPr>
          <a:xfrm>
            <a:off x="4663440" y="1188720"/>
            <a:ext cx="4315968" cy="347472"/>
          </a:xfrm>
          <a:prstGeom prst="rect">
            <a:avLst/>
          </a:prstGeom>
          <a:solidFill>
            <a:srgbClr val="E8650A"/>
          </a:solidFill>
          <a:ln w="12700">
            <a:solidFill>
              <a:srgbClr val="E8650A"/>
            </a:solidFill>
            <a:prstDash val="solid"/>
          </a:ln>
        </p:spPr>
      </p:sp>
      <p:sp>
        <p:nvSpPr>
          <p:cNvPr id="18" name="Text 16"/>
          <p:cNvSpPr/>
          <p:nvPr/>
        </p:nvSpPr>
        <p:spPr>
          <a:xfrm>
            <a:off x="4754880" y="1188720"/>
            <a:ext cx="2286000" cy="347472"/>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DEFECT</a:t>
            </a:r>
            <a:endParaRPr lang="en-US" sz="1400" dirty="0"/>
          </a:p>
        </p:txBody>
      </p:sp>
      <p:sp>
        <p:nvSpPr>
          <p:cNvPr id="19" name="Text 17"/>
          <p:cNvSpPr/>
          <p:nvPr/>
        </p:nvSpPr>
        <p:spPr>
          <a:xfrm>
            <a:off x="7040880" y="1225296"/>
            <a:ext cx="1828800" cy="274320"/>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Code Flaw</a:t>
            </a:r>
            <a:endParaRPr lang="en-US" sz="1000" dirty="0"/>
          </a:p>
        </p:txBody>
      </p:sp>
      <p:sp>
        <p:nvSpPr>
          <p:cNvPr id="20" name="Text 18"/>
          <p:cNvSpPr/>
          <p:nvPr/>
        </p:nvSpPr>
        <p:spPr>
          <a:xfrm>
            <a:off x="4773168" y="1572768"/>
            <a:ext cx="4114800" cy="74980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A defect (also called a bug) is the manifestation of an error IN THE CODE. It is a deviation between the actual implementation and the expected specification — a fault that exists in the software artifact.</a:t>
            </a:r>
            <a:endParaRPr lang="en-US" sz="950" dirty="0"/>
          </a:p>
        </p:txBody>
      </p:sp>
      <p:sp>
        <p:nvSpPr>
          <p:cNvPr id="21" name="Text 19"/>
          <p:cNvSpPr/>
          <p:nvPr/>
        </p:nvSpPr>
        <p:spPr>
          <a:xfrm>
            <a:off x="4773168" y="2350008"/>
            <a:ext cx="4114800" cy="56692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The code in the checkout module calculates discount before tax — this incorrect code in the repository is the defect.</a:t>
            </a:r>
            <a:endParaRPr lang="en-US" sz="950" dirty="0"/>
          </a:p>
        </p:txBody>
      </p:sp>
      <p:sp>
        <p:nvSpPr>
          <p:cNvPr id="22" name="Shape 20"/>
          <p:cNvSpPr/>
          <p:nvPr/>
        </p:nvSpPr>
        <p:spPr>
          <a:xfrm>
            <a:off x="164592" y="3072384"/>
            <a:ext cx="4315968" cy="1792224"/>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3" name="Shape 21"/>
          <p:cNvSpPr/>
          <p:nvPr/>
        </p:nvSpPr>
        <p:spPr>
          <a:xfrm>
            <a:off x="164592" y="3072384"/>
            <a:ext cx="4315968" cy="347472"/>
          </a:xfrm>
          <a:prstGeom prst="rect">
            <a:avLst/>
          </a:prstGeom>
          <a:solidFill>
            <a:srgbClr val="CC2200"/>
          </a:solidFill>
          <a:ln w="12700">
            <a:solidFill>
              <a:srgbClr val="CC2200"/>
            </a:solidFill>
            <a:prstDash val="solid"/>
          </a:ln>
        </p:spPr>
      </p:sp>
      <p:sp>
        <p:nvSpPr>
          <p:cNvPr id="24" name="Text 22"/>
          <p:cNvSpPr/>
          <p:nvPr/>
        </p:nvSpPr>
        <p:spPr>
          <a:xfrm>
            <a:off x="256032" y="3072384"/>
            <a:ext cx="2286000" cy="347472"/>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FAILURE</a:t>
            </a:r>
            <a:endParaRPr lang="en-US" sz="1400" dirty="0"/>
          </a:p>
        </p:txBody>
      </p:sp>
      <p:sp>
        <p:nvSpPr>
          <p:cNvPr id="25" name="Text 23"/>
          <p:cNvSpPr/>
          <p:nvPr/>
        </p:nvSpPr>
        <p:spPr>
          <a:xfrm>
            <a:off x="2542032" y="3108960"/>
            <a:ext cx="1828800" cy="274320"/>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Observable Problem</a:t>
            </a:r>
            <a:endParaRPr lang="en-US" sz="1000" dirty="0"/>
          </a:p>
        </p:txBody>
      </p:sp>
      <p:sp>
        <p:nvSpPr>
          <p:cNvPr id="26" name="Text 24"/>
          <p:cNvSpPr/>
          <p:nvPr/>
        </p:nvSpPr>
        <p:spPr>
          <a:xfrm>
            <a:off x="274320" y="3456432"/>
            <a:ext cx="4114800" cy="74980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A failure is what USERS or TESTERS observe when a defect is triggered during execution. It is the external, visible symptom of a defect — the system behaves differently from what was expected or specified.</a:t>
            </a:r>
            <a:endParaRPr lang="en-US" sz="950" dirty="0"/>
          </a:p>
        </p:txBody>
      </p:sp>
      <p:sp>
        <p:nvSpPr>
          <p:cNvPr id="27" name="Text 25"/>
          <p:cNvSpPr/>
          <p:nvPr/>
        </p:nvSpPr>
        <p:spPr>
          <a:xfrm>
            <a:off x="274320" y="4233672"/>
            <a:ext cx="4114800" cy="56692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During testing, the final price shown is £10 lower than it should be. This wrong output on screen is the failure the tester observes.</a:t>
            </a:r>
            <a:endParaRPr lang="en-US" sz="950" dirty="0"/>
          </a:p>
        </p:txBody>
      </p:sp>
      <p:sp>
        <p:nvSpPr>
          <p:cNvPr id="28" name="Shape 26"/>
          <p:cNvSpPr/>
          <p:nvPr/>
        </p:nvSpPr>
        <p:spPr>
          <a:xfrm>
            <a:off x="4663440" y="3072384"/>
            <a:ext cx="4315968" cy="1792224"/>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9" name="Shape 27"/>
          <p:cNvSpPr/>
          <p:nvPr/>
        </p:nvSpPr>
        <p:spPr>
          <a:xfrm>
            <a:off x="4663440" y="3072384"/>
            <a:ext cx="4315968" cy="347472"/>
          </a:xfrm>
          <a:prstGeom prst="rect">
            <a:avLst/>
          </a:prstGeom>
          <a:solidFill>
            <a:srgbClr val="8B6914"/>
          </a:solidFill>
          <a:ln w="12700">
            <a:solidFill>
              <a:srgbClr val="8B6914"/>
            </a:solidFill>
            <a:prstDash val="solid"/>
          </a:ln>
        </p:spPr>
      </p:sp>
      <p:sp>
        <p:nvSpPr>
          <p:cNvPr id="30" name="Text 28"/>
          <p:cNvSpPr/>
          <p:nvPr/>
        </p:nvSpPr>
        <p:spPr>
          <a:xfrm>
            <a:off x="4754880" y="3072384"/>
            <a:ext cx="2286000" cy="347472"/>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BUG</a:t>
            </a:r>
            <a:endParaRPr lang="en-US" sz="1400" dirty="0"/>
          </a:p>
        </p:txBody>
      </p:sp>
      <p:sp>
        <p:nvSpPr>
          <p:cNvPr id="31" name="Text 29"/>
          <p:cNvSpPr/>
          <p:nvPr/>
        </p:nvSpPr>
        <p:spPr>
          <a:xfrm>
            <a:off x="7040880" y="3108960"/>
            <a:ext cx="1828800" cy="274320"/>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Informal / Colloquial</a:t>
            </a:r>
            <a:endParaRPr lang="en-US" sz="1000" dirty="0"/>
          </a:p>
        </p:txBody>
      </p:sp>
      <p:sp>
        <p:nvSpPr>
          <p:cNvPr id="32" name="Text 30"/>
          <p:cNvSpPr/>
          <p:nvPr/>
        </p:nvSpPr>
        <p:spPr>
          <a:xfrm>
            <a:off x="4773168" y="3456432"/>
            <a:ext cx="4114800" cy="74980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'Bug' is the informal, industry-colloquial term encompassing errors, defects, and failures. In day-to-day communication, 'bug' typically refers to a defect in the code. It carries no additional formal precision beyond that.</a:t>
            </a:r>
            <a:endParaRPr lang="en-US" sz="950" dirty="0"/>
          </a:p>
        </p:txBody>
      </p:sp>
      <p:sp>
        <p:nvSpPr>
          <p:cNvPr id="33" name="Text 31"/>
          <p:cNvSpPr/>
          <p:nvPr/>
        </p:nvSpPr>
        <p:spPr>
          <a:xfrm>
            <a:off x="4773168" y="4233672"/>
            <a:ext cx="4114800" cy="56692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A developer says 'I found a bug in the payment module' — meaning they found a defect in the code causing incorrect behaviour.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Test Case · Test Scenario · Test Suite</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02  |  TERMINOLOGY</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Shape 6"/>
          <p:cNvSpPr/>
          <p:nvPr/>
        </p:nvSpPr>
        <p:spPr>
          <a:xfrm>
            <a:off x="164592" y="804672"/>
            <a:ext cx="8823960"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9" name="Shape 7"/>
          <p:cNvSpPr/>
          <p:nvPr/>
        </p:nvSpPr>
        <p:spPr>
          <a:xfrm>
            <a:off x="164592" y="804672"/>
            <a:ext cx="73152" cy="1298448"/>
          </a:xfrm>
          <a:prstGeom prst="rect">
            <a:avLst/>
          </a:prstGeom>
          <a:solidFill>
            <a:srgbClr val="E8650A"/>
          </a:solidFill>
          <a:ln w="12700">
            <a:solidFill>
              <a:srgbClr val="E8650A"/>
            </a:solidFill>
            <a:prstDash val="solid"/>
          </a:ln>
        </p:spPr>
      </p:sp>
      <p:sp>
        <p:nvSpPr>
          <p:cNvPr id="10" name="Shape 8"/>
          <p:cNvSpPr/>
          <p:nvPr/>
        </p:nvSpPr>
        <p:spPr>
          <a:xfrm>
            <a:off x="256032" y="868680"/>
            <a:ext cx="548640" cy="548640"/>
          </a:xfrm>
          <a:prstGeom prst="rect">
            <a:avLst/>
          </a:prstGeom>
          <a:solidFill>
            <a:srgbClr val="0C0C0C"/>
          </a:solidFill>
          <a:ln w="12700">
            <a:solidFill>
              <a:srgbClr val="0C0C0C"/>
            </a:solidFill>
            <a:prstDash val="solid"/>
          </a:ln>
        </p:spPr>
      </p:sp>
      <p:sp>
        <p:nvSpPr>
          <p:cNvPr id="11" name="Text 9"/>
          <p:cNvSpPr/>
          <p:nvPr/>
        </p:nvSpPr>
        <p:spPr>
          <a:xfrm>
            <a:off x="256032" y="868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896112" y="896112"/>
            <a:ext cx="2743200" cy="274320"/>
          </a:xfrm>
          <a:prstGeom prst="rect">
            <a:avLst/>
          </a:prstGeom>
          <a:noFill/>
          <a:ln/>
        </p:spPr>
        <p:txBody>
          <a:bodyPr wrap="square" lIns="0" tIns="0" rIns="0" bIns="0" rtlCol="0" anchor="ctr"/>
          <a:lstStyle/>
          <a:p>
            <a:pPr marL="0" indent="0">
              <a:buNone/>
            </a:pPr>
            <a:r>
              <a:rPr lang="en-US" sz="1300" b="1" dirty="0">
                <a:solidFill>
                  <a:srgbClr val="0C0C0C"/>
                </a:solidFill>
                <a:latin typeface="Arial Black" pitchFamily="34" charset="0"/>
                <a:ea typeface="Arial Black" pitchFamily="34" charset="-122"/>
                <a:cs typeface="Arial Black" pitchFamily="34" charset="-120"/>
              </a:rPr>
              <a:t>TEST SCENARIO</a:t>
            </a:r>
            <a:endParaRPr lang="en-US" sz="1300" dirty="0"/>
          </a:p>
        </p:txBody>
      </p:sp>
      <p:sp>
        <p:nvSpPr>
          <p:cNvPr id="13" name="Text 11"/>
          <p:cNvSpPr/>
          <p:nvPr/>
        </p:nvSpPr>
        <p:spPr>
          <a:xfrm>
            <a:off x="3749040" y="896112"/>
            <a:ext cx="5120640" cy="274320"/>
          </a:xfrm>
          <a:prstGeom prst="rect">
            <a:avLst/>
          </a:prstGeom>
          <a:noFill/>
          <a:ln/>
        </p:spPr>
        <p:txBody>
          <a:bodyPr wrap="square" lIns="0" tIns="0" rIns="0" bIns="0" rtlCol="0" anchor="ctr"/>
          <a:lstStyle/>
          <a:p>
            <a:pPr marL="0" indent="0" algn="r">
              <a:buNone/>
            </a:pPr>
            <a:r>
              <a:rPr lang="en-US" sz="950" i="1" dirty="0">
                <a:solidFill>
                  <a:srgbClr val="E8650A"/>
                </a:solidFill>
                <a:latin typeface="Arial" pitchFamily="34" charset="0"/>
                <a:ea typeface="Arial" pitchFamily="34" charset="-122"/>
                <a:cs typeface="Arial" pitchFamily="34" charset="-120"/>
              </a:rPr>
              <a:t>Scenarios are broad. One scenario can produce multiple test cases.</a:t>
            </a:r>
            <a:endParaRPr lang="en-US" sz="950" dirty="0"/>
          </a:p>
        </p:txBody>
      </p:sp>
      <p:sp>
        <p:nvSpPr>
          <p:cNvPr id="14" name="Text 12"/>
          <p:cNvSpPr/>
          <p:nvPr/>
        </p:nvSpPr>
        <p:spPr>
          <a:xfrm>
            <a:off x="896112" y="1188720"/>
            <a:ext cx="7955280" cy="402336"/>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A test scenario is a high-level description of what needs to be tested, derived from a user story or business requirement. It describes a USE CASE — what the user will do — without specifying the exact step-by-step details.</a:t>
            </a:r>
            <a:endParaRPr lang="en-US" sz="1000" dirty="0"/>
          </a:p>
        </p:txBody>
      </p:sp>
      <p:sp>
        <p:nvSpPr>
          <p:cNvPr id="15" name="Text 13"/>
          <p:cNvSpPr/>
          <p:nvPr/>
        </p:nvSpPr>
        <p:spPr>
          <a:xfrm>
            <a:off x="896112" y="1627632"/>
            <a:ext cx="7955280" cy="402336"/>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Test Scenario: Verify that a registered user can successfully log in to the application using valid credentials.</a:t>
            </a:r>
            <a:endParaRPr lang="en-US" sz="950" dirty="0"/>
          </a:p>
        </p:txBody>
      </p:sp>
      <p:sp>
        <p:nvSpPr>
          <p:cNvPr id="16" name="Shape 14"/>
          <p:cNvSpPr/>
          <p:nvPr/>
        </p:nvSpPr>
        <p:spPr>
          <a:xfrm>
            <a:off x="164592" y="2176272"/>
            <a:ext cx="8823960"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7" name="Shape 15"/>
          <p:cNvSpPr/>
          <p:nvPr/>
        </p:nvSpPr>
        <p:spPr>
          <a:xfrm>
            <a:off x="164592" y="2176272"/>
            <a:ext cx="73152" cy="1298448"/>
          </a:xfrm>
          <a:prstGeom prst="rect">
            <a:avLst/>
          </a:prstGeom>
          <a:solidFill>
            <a:srgbClr val="E8650A"/>
          </a:solidFill>
          <a:ln w="12700">
            <a:solidFill>
              <a:srgbClr val="E8650A"/>
            </a:solidFill>
            <a:prstDash val="solid"/>
          </a:ln>
        </p:spPr>
      </p:sp>
      <p:sp>
        <p:nvSpPr>
          <p:cNvPr id="18" name="Shape 16"/>
          <p:cNvSpPr/>
          <p:nvPr/>
        </p:nvSpPr>
        <p:spPr>
          <a:xfrm>
            <a:off x="256032" y="2240280"/>
            <a:ext cx="548640" cy="548640"/>
          </a:xfrm>
          <a:prstGeom prst="rect">
            <a:avLst/>
          </a:prstGeom>
          <a:solidFill>
            <a:srgbClr val="0C0C0C"/>
          </a:solidFill>
          <a:ln w="12700">
            <a:solidFill>
              <a:srgbClr val="0C0C0C"/>
            </a:solidFill>
            <a:prstDash val="solid"/>
          </a:ln>
        </p:spPr>
      </p:sp>
      <p:sp>
        <p:nvSpPr>
          <p:cNvPr id="19" name="Text 17"/>
          <p:cNvSpPr/>
          <p:nvPr/>
        </p:nvSpPr>
        <p:spPr>
          <a:xfrm>
            <a:off x="256032" y="22402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896112" y="2267712"/>
            <a:ext cx="2743200" cy="274320"/>
          </a:xfrm>
          <a:prstGeom prst="rect">
            <a:avLst/>
          </a:prstGeom>
          <a:noFill/>
          <a:ln/>
        </p:spPr>
        <p:txBody>
          <a:bodyPr wrap="square" lIns="0" tIns="0" rIns="0" bIns="0" rtlCol="0" anchor="ctr"/>
          <a:lstStyle/>
          <a:p>
            <a:pPr marL="0" indent="0">
              <a:buNone/>
            </a:pPr>
            <a:r>
              <a:rPr lang="en-US" sz="1300" b="1" dirty="0">
                <a:solidFill>
                  <a:srgbClr val="0C0C0C"/>
                </a:solidFill>
                <a:latin typeface="Arial Black" pitchFamily="34" charset="0"/>
                <a:ea typeface="Arial Black" pitchFamily="34" charset="-122"/>
                <a:cs typeface="Arial Black" pitchFamily="34" charset="-120"/>
              </a:rPr>
              <a:t>TEST CASE</a:t>
            </a:r>
            <a:endParaRPr lang="en-US" sz="1300" dirty="0"/>
          </a:p>
        </p:txBody>
      </p:sp>
      <p:sp>
        <p:nvSpPr>
          <p:cNvPr id="21" name="Text 19"/>
          <p:cNvSpPr/>
          <p:nvPr/>
        </p:nvSpPr>
        <p:spPr>
          <a:xfrm>
            <a:off x="3749040" y="2267712"/>
            <a:ext cx="5120640" cy="274320"/>
          </a:xfrm>
          <a:prstGeom prst="rect">
            <a:avLst/>
          </a:prstGeom>
          <a:noFill/>
          <a:ln/>
        </p:spPr>
        <p:txBody>
          <a:bodyPr wrap="square" lIns="0" tIns="0" rIns="0" bIns="0" rtlCol="0" anchor="ctr"/>
          <a:lstStyle/>
          <a:p>
            <a:pPr marL="0" indent="0" algn="r">
              <a:buNone/>
            </a:pPr>
            <a:r>
              <a:rPr lang="en-US" sz="950" i="1" dirty="0">
                <a:solidFill>
                  <a:srgbClr val="E8650A"/>
                </a:solidFill>
                <a:latin typeface="Arial" pitchFamily="34" charset="0"/>
                <a:ea typeface="Arial" pitchFamily="34" charset="-122"/>
                <a:cs typeface="Arial" pitchFamily="34" charset="-120"/>
              </a:rPr>
              <a:t>One test scenario typically generates 3-10 test cases (valid, invalid, edge cases).</a:t>
            </a:r>
            <a:endParaRPr lang="en-US" sz="950" dirty="0"/>
          </a:p>
        </p:txBody>
      </p:sp>
      <p:sp>
        <p:nvSpPr>
          <p:cNvPr id="22" name="Text 20"/>
          <p:cNvSpPr/>
          <p:nvPr/>
        </p:nvSpPr>
        <p:spPr>
          <a:xfrm>
            <a:off x="896112" y="2560320"/>
            <a:ext cx="7955280" cy="402336"/>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A test case is the detailed, step-by-step specification of a single testable condition. It includes exact input data, precise steps to execute, expected results, and pass/fail criteria. It is derived FROM test scenarios.</a:t>
            </a:r>
            <a:endParaRPr lang="en-US" sz="1000" dirty="0"/>
          </a:p>
        </p:txBody>
      </p:sp>
      <p:sp>
        <p:nvSpPr>
          <p:cNvPr id="23" name="Text 21"/>
          <p:cNvSpPr/>
          <p:nvPr/>
        </p:nvSpPr>
        <p:spPr>
          <a:xfrm>
            <a:off x="896112" y="2999232"/>
            <a:ext cx="7955280" cy="402336"/>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TC-001: Enter 'valid@email.com' + 'Correct@Pass1' → Click Login → Expect: Redirected to /dashboard with user name displayed.</a:t>
            </a:r>
            <a:endParaRPr lang="en-US" sz="950" dirty="0"/>
          </a:p>
        </p:txBody>
      </p:sp>
      <p:sp>
        <p:nvSpPr>
          <p:cNvPr id="24" name="Shape 22"/>
          <p:cNvSpPr/>
          <p:nvPr/>
        </p:nvSpPr>
        <p:spPr>
          <a:xfrm>
            <a:off x="164592" y="3547872"/>
            <a:ext cx="8823960"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5" name="Shape 23"/>
          <p:cNvSpPr/>
          <p:nvPr/>
        </p:nvSpPr>
        <p:spPr>
          <a:xfrm>
            <a:off x="164592" y="3547872"/>
            <a:ext cx="73152" cy="1298448"/>
          </a:xfrm>
          <a:prstGeom prst="rect">
            <a:avLst/>
          </a:prstGeom>
          <a:solidFill>
            <a:srgbClr val="E8650A"/>
          </a:solidFill>
          <a:ln w="12700">
            <a:solidFill>
              <a:srgbClr val="E8650A"/>
            </a:solidFill>
            <a:prstDash val="solid"/>
          </a:ln>
        </p:spPr>
      </p:sp>
      <p:sp>
        <p:nvSpPr>
          <p:cNvPr id="26" name="Shape 24"/>
          <p:cNvSpPr/>
          <p:nvPr/>
        </p:nvSpPr>
        <p:spPr>
          <a:xfrm>
            <a:off x="256032" y="3611880"/>
            <a:ext cx="548640" cy="548640"/>
          </a:xfrm>
          <a:prstGeom prst="rect">
            <a:avLst/>
          </a:prstGeom>
          <a:solidFill>
            <a:srgbClr val="0C0C0C"/>
          </a:solidFill>
          <a:ln w="12700">
            <a:solidFill>
              <a:srgbClr val="0C0C0C"/>
            </a:solidFill>
            <a:prstDash val="solid"/>
          </a:ln>
        </p:spPr>
      </p:sp>
      <p:sp>
        <p:nvSpPr>
          <p:cNvPr id="27" name="Text 25"/>
          <p:cNvSpPr/>
          <p:nvPr/>
        </p:nvSpPr>
        <p:spPr>
          <a:xfrm>
            <a:off x="256032" y="36118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8" name="Text 26"/>
          <p:cNvSpPr/>
          <p:nvPr/>
        </p:nvSpPr>
        <p:spPr>
          <a:xfrm>
            <a:off x="896112" y="3639312"/>
            <a:ext cx="2743200" cy="274320"/>
          </a:xfrm>
          <a:prstGeom prst="rect">
            <a:avLst/>
          </a:prstGeom>
          <a:noFill/>
          <a:ln/>
        </p:spPr>
        <p:txBody>
          <a:bodyPr wrap="square" lIns="0" tIns="0" rIns="0" bIns="0" rtlCol="0" anchor="ctr"/>
          <a:lstStyle/>
          <a:p>
            <a:pPr marL="0" indent="0">
              <a:buNone/>
            </a:pPr>
            <a:r>
              <a:rPr lang="en-US" sz="1300" b="1" dirty="0">
                <a:solidFill>
                  <a:srgbClr val="0C0C0C"/>
                </a:solidFill>
                <a:latin typeface="Arial Black" pitchFamily="34" charset="0"/>
                <a:ea typeface="Arial Black" pitchFamily="34" charset="-122"/>
                <a:cs typeface="Arial Black" pitchFamily="34" charset="-120"/>
              </a:rPr>
              <a:t>TEST SUITE</a:t>
            </a:r>
            <a:endParaRPr lang="en-US" sz="1300" dirty="0"/>
          </a:p>
        </p:txBody>
      </p:sp>
      <p:sp>
        <p:nvSpPr>
          <p:cNvPr id="29" name="Text 27"/>
          <p:cNvSpPr/>
          <p:nvPr/>
        </p:nvSpPr>
        <p:spPr>
          <a:xfrm>
            <a:off x="3749040" y="3639312"/>
            <a:ext cx="5120640" cy="274320"/>
          </a:xfrm>
          <a:prstGeom prst="rect">
            <a:avLst/>
          </a:prstGeom>
          <a:noFill/>
          <a:ln/>
        </p:spPr>
        <p:txBody>
          <a:bodyPr wrap="square" lIns="0" tIns="0" rIns="0" bIns="0" rtlCol="0" anchor="ctr"/>
          <a:lstStyle/>
          <a:p>
            <a:pPr marL="0" indent="0" algn="r">
              <a:buNone/>
            </a:pPr>
            <a:r>
              <a:rPr lang="en-US" sz="950" i="1" dirty="0">
                <a:solidFill>
                  <a:srgbClr val="E8650A"/>
                </a:solidFill>
                <a:latin typeface="Arial" pitchFamily="34" charset="0"/>
                <a:ea typeface="Arial" pitchFamily="34" charset="-122"/>
                <a:cs typeface="Arial" pitchFamily="34" charset="-120"/>
              </a:rPr>
              <a:t>Suites can be manual (in Jira/TestRail) or automated (TestNG/JUnit XML suite files in Selenium/Playwright).</a:t>
            </a:r>
            <a:endParaRPr lang="en-US" sz="950" dirty="0"/>
          </a:p>
        </p:txBody>
      </p:sp>
      <p:sp>
        <p:nvSpPr>
          <p:cNvPr id="30" name="Text 28"/>
          <p:cNvSpPr/>
          <p:nvPr/>
        </p:nvSpPr>
        <p:spPr>
          <a:xfrm>
            <a:off x="896112" y="3931920"/>
            <a:ext cx="7955280" cy="402336"/>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A test suite is a collection of related test cases grouped together for a specific purpose — such as testing a feature, module, or regression scope. It provides a structured way to organise, execute, and report on related tests.</a:t>
            </a:r>
            <a:endParaRPr lang="en-US" sz="1000" dirty="0"/>
          </a:p>
        </p:txBody>
      </p:sp>
      <p:sp>
        <p:nvSpPr>
          <p:cNvPr id="31" name="Text 29"/>
          <p:cNvSpPr/>
          <p:nvPr/>
        </p:nvSpPr>
        <p:spPr>
          <a:xfrm>
            <a:off x="896112" y="4370832"/>
            <a:ext cx="7955280" cy="402336"/>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'Login Module Regression Suite' contains 25 test cases: 8 positive, 12 negative, 5 boundary value cases.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03</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7 Principles of</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Software Testing</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The Foundational Laws That Govern All Testing Practice</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Testing Principles 1 — 4</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7 PRINCIPLES</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64592" y="795528"/>
            <a:ext cx="4315968" cy="20848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0" name="Shape 8"/>
          <p:cNvSpPr/>
          <p:nvPr/>
        </p:nvSpPr>
        <p:spPr>
          <a:xfrm>
            <a:off x="164592" y="795528"/>
            <a:ext cx="4315968" cy="347472"/>
          </a:xfrm>
          <a:prstGeom prst="rect">
            <a:avLst/>
          </a:prstGeom>
          <a:solidFill>
            <a:srgbClr val="E8650A"/>
          </a:solidFill>
          <a:ln w="12700">
            <a:solidFill>
              <a:srgbClr val="E8650A"/>
            </a:solidFill>
            <a:prstDash val="solid"/>
          </a:ln>
        </p:spPr>
      </p:sp>
      <p:sp>
        <p:nvSpPr>
          <p:cNvPr id="11" name="Text 9"/>
          <p:cNvSpPr/>
          <p:nvPr/>
        </p:nvSpPr>
        <p:spPr>
          <a:xfrm>
            <a:off x="256032" y="795528"/>
            <a:ext cx="4133088" cy="34747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01  Testing Shows Presence of Defects</a:t>
            </a:r>
            <a:endParaRPr lang="en-US" sz="1150" dirty="0"/>
          </a:p>
        </p:txBody>
      </p:sp>
      <p:sp>
        <p:nvSpPr>
          <p:cNvPr id="12" name="Text 10"/>
          <p:cNvSpPr/>
          <p:nvPr/>
        </p:nvSpPr>
        <p:spPr>
          <a:xfrm>
            <a:off x="274320" y="1179576"/>
            <a:ext cx="4114800" cy="93268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Testing can prove that defects EXIST but can NEVER prove that there are NO defects. Even after extensive testing, there may still be undiscovered issues. Testing reduces the probability of undiscovered defects but cannot guarantee zero defects.</a:t>
            </a:r>
            <a:endParaRPr lang="en-US" sz="1000" dirty="0"/>
          </a:p>
        </p:txBody>
      </p:sp>
      <p:sp>
        <p:nvSpPr>
          <p:cNvPr id="13" name="Text 11"/>
          <p:cNvSpPr/>
          <p:nvPr/>
        </p:nvSpPr>
        <p:spPr>
          <a:xfrm>
            <a:off x="274320" y="2139696"/>
            <a:ext cx="4114800" cy="68580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You test 500 login scenarios and all pass. This does NOT mean login is defect-free — it means none of your test cases triggered a known failure.</a:t>
            </a:r>
            <a:endParaRPr lang="en-US" sz="950" dirty="0"/>
          </a:p>
        </p:txBody>
      </p:sp>
      <p:sp>
        <p:nvSpPr>
          <p:cNvPr id="14" name="Shape 12"/>
          <p:cNvSpPr/>
          <p:nvPr/>
        </p:nvSpPr>
        <p:spPr>
          <a:xfrm>
            <a:off x="4663440" y="795528"/>
            <a:ext cx="4315968" cy="20848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5" name="Shape 13"/>
          <p:cNvSpPr/>
          <p:nvPr/>
        </p:nvSpPr>
        <p:spPr>
          <a:xfrm>
            <a:off x="4663440" y="795528"/>
            <a:ext cx="4315968" cy="347472"/>
          </a:xfrm>
          <a:prstGeom prst="rect">
            <a:avLst/>
          </a:prstGeom>
          <a:solidFill>
            <a:srgbClr val="4A90D9"/>
          </a:solidFill>
          <a:ln w="12700">
            <a:solidFill>
              <a:srgbClr val="4A90D9"/>
            </a:solidFill>
            <a:prstDash val="solid"/>
          </a:ln>
        </p:spPr>
      </p:sp>
      <p:sp>
        <p:nvSpPr>
          <p:cNvPr id="16" name="Text 14"/>
          <p:cNvSpPr/>
          <p:nvPr/>
        </p:nvSpPr>
        <p:spPr>
          <a:xfrm>
            <a:off x="4754880" y="795528"/>
            <a:ext cx="4133088" cy="34747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02  Exhaustive Testing is Impossible</a:t>
            </a:r>
            <a:endParaRPr lang="en-US" sz="1150" dirty="0"/>
          </a:p>
        </p:txBody>
      </p:sp>
      <p:sp>
        <p:nvSpPr>
          <p:cNvPr id="17" name="Text 15"/>
          <p:cNvSpPr/>
          <p:nvPr/>
        </p:nvSpPr>
        <p:spPr>
          <a:xfrm>
            <a:off x="4773168" y="1179576"/>
            <a:ext cx="4114800" cy="93268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Testing every possible combination of inputs, paths, and conditions is mathematically impossible for any real-world system. A simple login form with 2 fields has millions of possible combinations. Risk-based testing prioritises coverage strategically.</a:t>
            </a:r>
            <a:endParaRPr lang="en-US" sz="1000" dirty="0"/>
          </a:p>
        </p:txBody>
      </p:sp>
      <p:sp>
        <p:nvSpPr>
          <p:cNvPr id="18" name="Text 16"/>
          <p:cNvSpPr/>
          <p:nvPr/>
        </p:nvSpPr>
        <p:spPr>
          <a:xfrm>
            <a:off x="4773168" y="2139696"/>
            <a:ext cx="4114800" cy="68580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A 10-character password field using standard ASCII has 95^10 ≈ 59 trillion possible inputs. Testing them all at 1 per second = ~1.87 million years.</a:t>
            </a:r>
            <a:endParaRPr lang="en-US" sz="950" dirty="0"/>
          </a:p>
        </p:txBody>
      </p:sp>
      <p:sp>
        <p:nvSpPr>
          <p:cNvPr id="19" name="Shape 17"/>
          <p:cNvSpPr/>
          <p:nvPr/>
        </p:nvSpPr>
        <p:spPr>
          <a:xfrm>
            <a:off x="164592" y="2971800"/>
            <a:ext cx="4315968" cy="20848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0" name="Shape 18"/>
          <p:cNvSpPr/>
          <p:nvPr/>
        </p:nvSpPr>
        <p:spPr>
          <a:xfrm>
            <a:off x="164592" y="2971800"/>
            <a:ext cx="4315968" cy="347472"/>
          </a:xfrm>
          <a:prstGeom prst="rect">
            <a:avLst/>
          </a:prstGeom>
          <a:solidFill>
            <a:srgbClr val="2E8B57"/>
          </a:solidFill>
          <a:ln w="12700">
            <a:solidFill>
              <a:srgbClr val="2E8B57"/>
            </a:solidFill>
            <a:prstDash val="solid"/>
          </a:ln>
        </p:spPr>
      </p:sp>
      <p:sp>
        <p:nvSpPr>
          <p:cNvPr id="21" name="Text 19"/>
          <p:cNvSpPr/>
          <p:nvPr/>
        </p:nvSpPr>
        <p:spPr>
          <a:xfrm>
            <a:off x="256032" y="2971800"/>
            <a:ext cx="4133088" cy="34747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03  Early Testing Saves Money</a:t>
            </a:r>
            <a:endParaRPr lang="en-US" sz="1150" dirty="0"/>
          </a:p>
        </p:txBody>
      </p:sp>
      <p:sp>
        <p:nvSpPr>
          <p:cNvPr id="22" name="Text 20"/>
          <p:cNvSpPr/>
          <p:nvPr/>
        </p:nvSpPr>
        <p:spPr>
          <a:xfrm>
            <a:off x="274320" y="3355848"/>
            <a:ext cx="4114800" cy="93268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Testing activities should begin as early as possible in the SDLC — during requirements analysis, not just execution. Defects found in requirements cost 100-200× less to fix than defects found in production. This is the foundation of 'Shift-Left Testing'.</a:t>
            </a:r>
            <a:endParaRPr lang="en-US" sz="1000" dirty="0"/>
          </a:p>
        </p:txBody>
      </p:sp>
      <p:sp>
        <p:nvSpPr>
          <p:cNvPr id="23" name="Text 21"/>
          <p:cNvSpPr/>
          <p:nvPr/>
        </p:nvSpPr>
        <p:spPr>
          <a:xfrm>
            <a:off x="274320" y="4315968"/>
            <a:ext cx="4114800" cy="68580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A requirement ambiguity caught in sprint planning costs 1 hour to clarify. The same issue found in production causes a 3-week hotfix, customer refunds, and reputational damage.</a:t>
            </a:r>
            <a:endParaRPr lang="en-US" sz="950" dirty="0"/>
          </a:p>
        </p:txBody>
      </p:sp>
      <p:sp>
        <p:nvSpPr>
          <p:cNvPr id="24" name="Shape 22"/>
          <p:cNvSpPr/>
          <p:nvPr/>
        </p:nvSpPr>
        <p:spPr>
          <a:xfrm>
            <a:off x="4663440" y="2971800"/>
            <a:ext cx="4315968" cy="208483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5" name="Shape 23"/>
          <p:cNvSpPr/>
          <p:nvPr/>
        </p:nvSpPr>
        <p:spPr>
          <a:xfrm>
            <a:off x="4663440" y="2971800"/>
            <a:ext cx="4315968" cy="347472"/>
          </a:xfrm>
          <a:prstGeom prst="rect">
            <a:avLst/>
          </a:prstGeom>
          <a:solidFill>
            <a:srgbClr val="8B4513"/>
          </a:solidFill>
          <a:ln w="12700">
            <a:solidFill>
              <a:srgbClr val="8B4513"/>
            </a:solidFill>
            <a:prstDash val="solid"/>
          </a:ln>
        </p:spPr>
      </p:sp>
      <p:sp>
        <p:nvSpPr>
          <p:cNvPr id="26" name="Text 24"/>
          <p:cNvSpPr/>
          <p:nvPr/>
        </p:nvSpPr>
        <p:spPr>
          <a:xfrm>
            <a:off x="4754880" y="2971800"/>
            <a:ext cx="4133088" cy="34747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04  Defect Clustering</a:t>
            </a:r>
            <a:endParaRPr lang="en-US" sz="1150" dirty="0"/>
          </a:p>
        </p:txBody>
      </p:sp>
      <p:sp>
        <p:nvSpPr>
          <p:cNvPr id="27" name="Text 25"/>
          <p:cNvSpPr/>
          <p:nvPr/>
        </p:nvSpPr>
        <p:spPr>
          <a:xfrm>
            <a:off x="4773168" y="3355848"/>
            <a:ext cx="4114800" cy="932688"/>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In practice, a small number of modules or features contain the majority of defects. Roughly 80% of defects are found in 20% of the code (Pareto Principle). This concentration guides where to focus testing effort most intensively.</a:t>
            </a:r>
            <a:endParaRPr lang="en-US" sz="1000" dirty="0"/>
          </a:p>
        </p:txBody>
      </p:sp>
      <p:sp>
        <p:nvSpPr>
          <p:cNvPr id="28" name="Text 26"/>
          <p:cNvSpPr/>
          <p:nvPr/>
        </p:nvSpPr>
        <p:spPr>
          <a:xfrm>
            <a:off x="4773168" y="4315968"/>
            <a:ext cx="4114800" cy="68580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In a banking app, the payment processing and interest calculation modules may contain 75% of all defects, while the settings and profile pages have very few.</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Testing Principles 5 — 7</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7 PRINCIPLES</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64592" y="795528"/>
            <a:ext cx="8823960" cy="12070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0" name="Shape 8"/>
          <p:cNvSpPr/>
          <p:nvPr/>
        </p:nvSpPr>
        <p:spPr>
          <a:xfrm>
            <a:off x="164592" y="795528"/>
            <a:ext cx="8823960" cy="310896"/>
          </a:xfrm>
          <a:prstGeom prst="rect">
            <a:avLst/>
          </a:prstGeom>
          <a:solidFill>
            <a:srgbClr val="E8650A"/>
          </a:solidFill>
          <a:ln w="12700">
            <a:solidFill>
              <a:srgbClr val="E8650A"/>
            </a:solidFill>
            <a:prstDash val="solid"/>
          </a:ln>
        </p:spPr>
      </p:sp>
      <p:sp>
        <p:nvSpPr>
          <p:cNvPr id="11" name="Text 9"/>
          <p:cNvSpPr/>
          <p:nvPr/>
        </p:nvSpPr>
        <p:spPr>
          <a:xfrm>
            <a:off x="256032" y="795528"/>
            <a:ext cx="8595360" cy="310896"/>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05  Pesticide Paradox</a:t>
            </a:r>
            <a:endParaRPr lang="en-US" sz="1300" dirty="0"/>
          </a:p>
        </p:txBody>
      </p:sp>
      <p:sp>
        <p:nvSpPr>
          <p:cNvPr id="12" name="Text 10"/>
          <p:cNvSpPr/>
          <p:nvPr/>
        </p:nvSpPr>
        <p:spPr>
          <a:xfrm>
            <a:off x="256032" y="1143000"/>
            <a:ext cx="5486400" cy="78638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Running the same test cases repeatedly eventually stops finding new defects. Like pesticides that stop killing insects once they adapt, tests that are never updated lose their effectiveness. Test suites must be reviewed, updated, and extended continuously.</a:t>
            </a:r>
            <a:endParaRPr lang="en-US" sz="1000" dirty="0"/>
          </a:p>
        </p:txBody>
      </p:sp>
      <p:sp>
        <p:nvSpPr>
          <p:cNvPr id="13" name="Text 11"/>
          <p:cNvSpPr/>
          <p:nvPr/>
        </p:nvSpPr>
        <p:spPr>
          <a:xfrm>
            <a:off x="5870448" y="1143000"/>
            <a:ext cx="2999232" cy="786384"/>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Running the same 200 regression tests for 6 months: existing tests catch the same old defects but miss new ones introduced by new features. Rotate and expand.</a:t>
            </a:r>
            <a:endParaRPr lang="en-US" sz="950" dirty="0"/>
          </a:p>
        </p:txBody>
      </p:sp>
      <p:sp>
        <p:nvSpPr>
          <p:cNvPr id="14" name="Shape 12"/>
          <p:cNvSpPr/>
          <p:nvPr/>
        </p:nvSpPr>
        <p:spPr>
          <a:xfrm>
            <a:off x="164592" y="2093976"/>
            <a:ext cx="8823960" cy="12070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5" name="Shape 13"/>
          <p:cNvSpPr/>
          <p:nvPr/>
        </p:nvSpPr>
        <p:spPr>
          <a:xfrm>
            <a:off x="164592" y="2093976"/>
            <a:ext cx="8823960" cy="310896"/>
          </a:xfrm>
          <a:prstGeom prst="rect">
            <a:avLst/>
          </a:prstGeom>
          <a:solidFill>
            <a:srgbClr val="4A90D9"/>
          </a:solidFill>
          <a:ln w="12700">
            <a:solidFill>
              <a:srgbClr val="4A90D9"/>
            </a:solidFill>
            <a:prstDash val="solid"/>
          </a:ln>
        </p:spPr>
      </p:sp>
      <p:sp>
        <p:nvSpPr>
          <p:cNvPr id="16" name="Text 14"/>
          <p:cNvSpPr/>
          <p:nvPr/>
        </p:nvSpPr>
        <p:spPr>
          <a:xfrm>
            <a:off x="256032" y="2093976"/>
            <a:ext cx="8595360" cy="310896"/>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06  Testing is Context-Dependent</a:t>
            </a:r>
            <a:endParaRPr lang="en-US" sz="1300" dirty="0"/>
          </a:p>
        </p:txBody>
      </p:sp>
      <p:sp>
        <p:nvSpPr>
          <p:cNvPr id="17" name="Text 15"/>
          <p:cNvSpPr/>
          <p:nvPr/>
        </p:nvSpPr>
        <p:spPr>
          <a:xfrm>
            <a:off x="256032" y="2441448"/>
            <a:ext cx="5486400" cy="78638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No single testing approach applies to all software. Type, depth, and intensity must be tailored to the application's nature, risk profile, industry regulations, and stakeholder expectations. Context defines the strategy.</a:t>
            </a:r>
            <a:endParaRPr lang="en-US" sz="1000" dirty="0"/>
          </a:p>
        </p:txBody>
      </p:sp>
      <p:sp>
        <p:nvSpPr>
          <p:cNvPr id="18" name="Text 16"/>
          <p:cNvSpPr/>
          <p:nvPr/>
        </p:nvSpPr>
        <p:spPr>
          <a:xfrm>
            <a:off x="5870448" y="2441448"/>
            <a:ext cx="2999232" cy="786384"/>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FDA-regulated medical device: exhaustive formal testing, 100% code coverage, full compliance documentation. A simple to-do app: light manual testing. Same principle, opposite approach.</a:t>
            </a:r>
            <a:endParaRPr lang="en-US" sz="950" dirty="0"/>
          </a:p>
        </p:txBody>
      </p:sp>
      <p:sp>
        <p:nvSpPr>
          <p:cNvPr id="19" name="Shape 17"/>
          <p:cNvSpPr/>
          <p:nvPr/>
        </p:nvSpPr>
        <p:spPr>
          <a:xfrm>
            <a:off x="164592" y="3392424"/>
            <a:ext cx="8823960" cy="12070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0" name="Shape 18"/>
          <p:cNvSpPr/>
          <p:nvPr/>
        </p:nvSpPr>
        <p:spPr>
          <a:xfrm>
            <a:off x="164592" y="3392424"/>
            <a:ext cx="8823960" cy="310896"/>
          </a:xfrm>
          <a:prstGeom prst="rect">
            <a:avLst/>
          </a:prstGeom>
          <a:solidFill>
            <a:srgbClr val="2E8B57"/>
          </a:solidFill>
          <a:ln w="12700">
            <a:solidFill>
              <a:srgbClr val="2E8B57"/>
            </a:solidFill>
            <a:prstDash val="solid"/>
          </a:ln>
        </p:spPr>
      </p:sp>
      <p:sp>
        <p:nvSpPr>
          <p:cNvPr id="21" name="Text 19"/>
          <p:cNvSpPr/>
          <p:nvPr/>
        </p:nvSpPr>
        <p:spPr>
          <a:xfrm>
            <a:off x="256032" y="3392424"/>
            <a:ext cx="8595360" cy="310896"/>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07  Absence-of-Errors Fallacy</a:t>
            </a:r>
            <a:endParaRPr lang="en-US" sz="1300" dirty="0"/>
          </a:p>
        </p:txBody>
      </p:sp>
      <p:sp>
        <p:nvSpPr>
          <p:cNvPr id="22" name="Text 20"/>
          <p:cNvSpPr/>
          <p:nvPr/>
        </p:nvSpPr>
        <p:spPr>
          <a:xfrm>
            <a:off x="256032" y="3739896"/>
            <a:ext cx="5486400" cy="78638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Fixing all known defects does NOT guarantee success. Software built on wrong requirements or that fails to meet real user needs will fail even if technically defect-free. Testing requirements and UX is as important as testing code.</a:t>
            </a:r>
            <a:endParaRPr lang="en-US" sz="1000" dirty="0"/>
          </a:p>
        </p:txBody>
      </p:sp>
      <p:sp>
        <p:nvSpPr>
          <p:cNvPr id="23" name="Text 21"/>
          <p:cNvSpPr/>
          <p:nvPr/>
        </p:nvSpPr>
        <p:spPr>
          <a:xfrm>
            <a:off x="5870448" y="3739896"/>
            <a:ext cx="2999232" cy="786384"/>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A banking app with zero defects — but UX so confusing users can't complete a transfer. Technically perfect. Practically useless. Requirements testing earlier prevents this.</a:t>
            </a:r>
            <a:endParaRPr lang="en-US" sz="950" dirty="0"/>
          </a:p>
        </p:txBody>
      </p:sp>
      <p:sp>
        <p:nvSpPr>
          <p:cNvPr id="24" name="Shape 22"/>
          <p:cNvSpPr/>
          <p:nvPr/>
        </p:nvSpPr>
        <p:spPr>
          <a:xfrm>
            <a:off x="164592" y="4617720"/>
            <a:ext cx="8823960" cy="384048"/>
          </a:xfrm>
          <a:prstGeom prst="rect">
            <a:avLst/>
          </a:prstGeom>
          <a:solidFill>
            <a:srgbClr val="B84D00"/>
          </a:solidFill>
          <a:ln w="12700">
            <a:solidFill>
              <a:srgbClr val="B84D00"/>
            </a:solidFill>
            <a:prstDash val="solid"/>
          </a:ln>
        </p:spPr>
      </p:sp>
      <p:sp>
        <p:nvSpPr>
          <p:cNvPr id="25" name="Shape 23"/>
          <p:cNvSpPr/>
          <p:nvPr/>
        </p:nvSpPr>
        <p:spPr>
          <a:xfrm>
            <a:off x="164592" y="4453128"/>
            <a:ext cx="8823960" cy="384048"/>
          </a:xfrm>
          <a:prstGeom prst="rect">
            <a:avLst/>
          </a:prstGeom>
          <a:solidFill>
            <a:srgbClr val="B84D00"/>
          </a:solidFill>
          <a:ln w="12700">
            <a:solidFill>
              <a:srgbClr val="B84D00"/>
            </a:solidFill>
            <a:prstDash val="solid"/>
          </a:ln>
        </p:spPr>
      </p:sp>
      <p:sp>
        <p:nvSpPr>
          <p:cNvPr id="26" name="Text 24"/>
          <p:cNvSpPr/>
          <p:nvPr/>
        </p:nvSpPr>
        <p:spPr>
          <a:xfrm>
            <a:off x="256032" y="4453128"/>
            <a:ext cx="8595360" cy="384048"/>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Remember: All 7 principles work TOGETHER. A master tester applies every principle on every project.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04</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Software Development</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Life Cycle (SDLC)</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Understanding Where Testing Fits in the Bigger Picture</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SDLC Phases &amp; Where Testing Fits</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04  |  SDLC</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Text 6"/>
          <p:cNvSpPr/>
          <p:nvPr/>
        </p:nvSpPr>
        <p:spPr>
          <a:xfrm>
            <a:off x="164592" y="804672"/>
            <a:ext cx="8823960" cy="365760"/>
          </a:xfrm>
          <a:prstGeom prst="rect">
            <a:avLst/>
          </a:prstGeom>
          <a:noFill/>
          <a:ln/>
        </p:spPr>
        <p:txBody>
          <a:bodyPr wrap="square" lIns="0" tIns="0" rIns="0" bIns="0" rtlCol="0" anchor="ctr"/>
          <a:lstStyle/>
          <a:p>
            <a:pPr marL="0" indent="0">
              <a:buNone/>
            </a:pPr>
            <a:r>
              <a:rPr lang="en-US" sz="1100" i="1" dirty="0">
                <a:solidFill>
                  <a:srgbClr val="333333"/>
                </a:solidFill>
                <a:latin typeface="Arial" pitchFamily="34" charset="0"/>
                <a:ea typeface="Arial" pitchFamily="34" charset="-122"/>
                <a:cs typeface="Arial" pitchFamily="34" charset="-120"/>
              </a:rPr>
              <a:t>The SDLC is the structured process used to design, develop, and deliver software. Testing is NOT a single phase — it runs through the ENTIRE cycle.</a:t>
            </a:r>
            <a:endParaRPr lang="en-US" sz="1100" dirty="0"/>
          </a:p>
        </p:txBody>
      </p:sp>
      <p:sp>
        <p:nvSpPr>
          <p:cNvPr id="9" name="Shape 7"/>
          <p:cNvSpPr/>
          <p:nvPr/>
        </p:nvSpPr>
        <p:spPr>
          <a:xfrm>
            <a:off x="164592" y="1261872"/>
            <a:ext cx="2560320" cy="530352"/>
          </a:xfrm>
          <a:prstGeom prst="rect">
            <a:avLst/>
          </a:prstGeom>
          <a:solidFill>
            <a:srgbClr val="0C0C0C"/>
          </a:solidFill>
          <a:ln w="12700">
            <a:solidFill>
              <a:srgbClr val="0C0C0C"/>
            </a:solidFill>
            <a:prstDash val="solid"/>
          </a:ln>
        </p:spPr>
      </p:sp>
      <p:sp>
        <p:nvSpPr>
          <p:cNvPr id="10" name="Text 8"/>
          <p:cNvSpPr/>
          <p:nvPr/>
        </p:nvSpPr>
        <p:spPr>
          <a:xfrm>
            <a:off x="201168" y="1261872"/>
            <a:ext cx="2468880" cy="53035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1. Requirements</a:t>
            </a:r>
            <a:endParaRPr lang="en-US" sz="1150" dirty="0"/>
          </a:p>
          <a:p>
            <a:pPr marL="0" indent="0">
              <a:buNone/>
            </a:pPr>
            <a:r>
              <a:rPr lang="en-US" sz="1150" b="1" dirty="0">
                <a:solidFill>
                  <a:srgbClr val="FFFFFF"/>
                </a:solidFill>
                <a:latin typeface="Arial Black" pitchFamily="34" charset="0"/>
                <a:ea typeface="Arial Black" pitchFamily="34" charset="-122"/>
                <a:cs typeface="Arial Black" pitchFamily="34" charset="-120"/>
              </a:rPr>
              <a:t>Analysis</a:t>
            </a:r>
            <a:endParaRPr lang="en-US" sz="1150" dirty="0"/>
          </a:p>
        </p:txBody>
      </p:sp>
      <p:sp>
        <p:nvSpPr>
          <p:cNvPr id="11" name="Text 9"/>
          <p:cNvSpPr/>
          <p:nvPr/>
        </p:nvSpPr>
        <p:spPr>
          <a:xfrm>
            <a:off x="2788920" y="1353312"/>
            <a:ext cx="274320" cy="347472"/>
          </a:xfrm>
          <a:prstGeom prst="rect">
            <a:avLst/>
          </a:prstGeom>
          <a:noFill/>
          <a:ln/>
        </p:spPr>
        <p:txBody>
          <a:bodyPr wrap="square" lIns="0" tIns="0" rIns="0" bIns="0" rtlCol="0" anchor="ctr"/>
          <a:lstStyle/>
          <a:p>
            <a:pPr marL="0" indent="0" algn="ctr">
              <a:buNone/>
            </a:pPr>
            <a:r>
              <a:rPr lang="en-US" sz="1800" dirty="0">
                <a:solidFill>
                  <a:srgbClr val="E8650A"/>
                </a:solidFill>
              </a:rPr>
              <a:t>→</a:t>
            </a:r>
            <a:endParaRPr lang="en-US" sz="1800" dirty="0"/>
          </a:p>
        </p:txBody>
      </p:sp>
      <p:sp>
        <p:nvSpPr>
          <p:cNvPr id="12" name="Shape 10"/>
          <p:cNvSpPr/>
          <p:nvPr/>
        </p:nvSpPr>
        <p:spPr>
          <a:xfrm>
            <a:off x="3127248" y="1261872"/>
            <a:ext cx="5806440" cy="53035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3" name="Shape 11"/>
          <p:cNvSpPr/>
          <p:nvPr/>
        </p:nvSpPr>
        <p:spPr>
          <a:xfrm>
            <a:off x="3127248" y="1261872"/>
            <a:ext cx="73152" cy="530352"/>
          </a:xfrm>
          <a:prstGeom prst="rect">
            <a:avLst/>
          </a:prstGeom>
          <a:solidFill>
            <a:srgbClr val="BBBBBB"/>
          </a:solidFill>
          <a:ln w="12700">
            <a:solidFill>
              <a:srgbClr val="BBBBBB"/>
            </a:solidFill>
            <a:prstDash val="solid"/>
          </a:ln>
        </p:spPr>
      </p:sp>
      <p:sp>
        <p:nvSpPr>
          <p:cNvPr id="14" name="Text 12"/>
          <p:cNvSpPr/>
          <p:nvPr/>
        </p:nvSpPr>
        <p:spPr>
          <a:xfrm>
            <a:off x="3291840" y="1325880"/>
            <a:ext cx="5577840" cy="40233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QA reviews requirements for ambiguity, contradictions, and testability. Test Strategy drafted.</a:t>
            </a:r>
            <a:endParaRPr lang="en-US" sz="1000" dirty="0"/>
          </a:p>
        </p:txBody>
      </p:sp>
      <p:sp>
        <p:nvSpPr>
          <p:cNvPr id="15" name="Shape 13"/>
          <p:cNvSpPr/>
          <p:nvPr/>
        </p:nvSpPr>
        <p:spPr>
          <a:xfrm>
            <a:off x="164592" y="1865376"/>
            <a:ext cx="2560320" cy="530352"/>
          </a:xfrm>
          <a:prstGeom prst="rect">
            <a:avLst/>
          </a:prstGeom>
          <a:solidFill>
            <a:srgbClr val="1A3A5C"/>
          </a:solidFill>
          <a:ln w="12700">
            <a:solidFill>
              <a:srgbClr val="1A3A5C"/>
            </a:solidFill>
            <a:prstDash val="solid"/>
          </a:ln>
        </p:spPr>
      </p:sp>
      <p:sp>
        <p:nvSpPr>
          <p:cNvPr id="16" name="Text 14"/>
          <p:cNvSpPr/>
          <p:nvPr/>
        </p:nvSpPr>
        <p:spPr>
          <a:xfrm>
            <a:off x="201168" y="1865376"/>
            <a:ext cx="2468880" cy="53035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2. System</a:t>
            </a:r>
            <a:endParaRPr lang="en-US" sz="1150" dirty="0"/>
          </a:p>
          <a:p>
            <a:pPr marL="0" indent="0">
              <a:buNone/>
            </a:pPr>
            <a:r>
              <a:rPr lang="en-US" sz="1150" b="1" dirty="0">
                <a:solidFill>
                  <a:srgbClr val="FFFFFF"/>
                </a:solidFill>
                <a:latin typeface="Arial Black" pitchFamily="34" charset="0"/>
                <a:ea typeface="Arial Black" pitchFamily="34" charset="-122"/>
                <a:cs typeface="Arial Black" pitchFamily="34" charset="-120"/>
              </a:rPr>
              <a:t>Design</a:t>
            </a:r>
            <a:endParaRPr lang="en-US" sz="1150" dirty="0"/>
          </a:p>
        </p:txBody>
      </p:sp>
      <p:sp>
        <p:nvSpPr>
          <p:cNvPr id="17" name="Text 15"/>
          <p:cNvSpPr/>
          <p:nvPr/>
        </p:nvSpPr>
        <p:spPr>
          <a:xfrm>
            <a:off x="2788920" y="1956816"/>
            <a:ext cx="274320" cy="347472"/>
          </a:xfrm>
          <a:prstGeom prst="rect">
            <a:avLst/>
          </a:prstGeom>
          <a:noFill/>
          <a:ln/>
        </p:spPr>
        <p:txBody>
          <a:bodyPr wrap="square" lIns="0" tIns="0" rIns="0" bIns="0" rtlCol="0" anchor="ctr"/>
          <a:lstStyle/>
          <a:p>
            <a:pPr marL="0" indent="0" algn="ctr">
              <a:buNone/>
            </a:pPr>
            <a:r>
              <a:rPr lang="en-US" sz="1800" dirty="0">
                <a:solidFill>
                  <a:srgbClr val="E8650A"/>
                </a:solidFill>
              </a:rPr>
              <a:t>→</a:t>
            </a:r>
            <a:endParaRPr lang="en-US" sz="1800" dirty="0"/>
          </a:p>
        </p:txBody>
      </p:sp>
      <p:sp>
        <p:nvSpPr>
          <p:cNvPr id="18" name="Shape 16"/>
          <p:cNvSpPr/>
          <p:nvPr/>
        </p:nvSpPr>
        <p:spPr>
          <a:xfrm>
            <a:off x="3127248" y="1865376"/>
            <a:ext cx="5806440" cy="53035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9" name="Shape 17"/>
          <p:cNvSpPr/>
          <p:nvPr/>
        </p:nvSpPr>
        <p:spPr>
          <a:xfrm>
            <a:off x="3127248" y="1865376"/>
            <a:ext cx="73152" cy="530352"/>
          </a:xfrm>
          <a:prstGeom prst="rect">
            <a:avLst/>
          </a:prstGeom>
          <a:solidFill>
            <a:srgbClr val="BBBBBB"/>
          </a:solidFill>
          <a:ln w="12700">
            <a:solidFill>
              <a:srgbClr val="BBBBBB"/>
            </a:solidFill>
            <a:prstDash val="solid"/>
          </a:ln>
        </p:spPr>
      </p:sp>
      <p:sp>
        <p:nvSpPr>
          <p:cNvPr id="20" name="Text 18"/>
          <p:cNvSpPr/>
          <p:nvPr/>
        </p:nvSpPr>
        <p:spPr>
          <a:xfrm>
            <a:off x="3291840" y="1929384"/>
            <a:ext cx="5577840" cy="40233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Test Plan created. Test environments defined. High-level test cases drafted from design docs.</a:t>
            </a:r>
            <a:endParaRPr lang="en-US" sz="1000" dirty="0"/>
          </a:p>
        </p:txBody>
      </p:sp>
      <p:sp>
        <p:nvSpPr>
          <p:cNvPr id="21" name="Shape 19"/>
          <p:cNvSpPr/>
          <p:nvPr/>
        </p:nvSpPr>
        <p:spPr>
          <a:xfrm>
            <a:off x="164592" y="2468880"/>
            <a:ext cx="2560320" cy="530352"/>
          </a:xfrm>
          <a:prstGeom prst="rect">
            <a:avLst/>
          </a:prstGeom>
          <a:solidFill>
            <a:srgbClr val="2E5E2E"/>
          </a:solidFill>
          <a:ln w="12700">
            <a:solidFill>
              <a:srgbClr val="2E5E2E"/>
            </a:solidFill>
            <a:prstDash val="solid"/>
          </a:ln>
        </p:spPr>
      </p:sp>
      <p:sp>
        <p:nvSpPr>
          <p:cNvPr id="22" name="Text 20"/>
          <p:cNvSpPr/>
          <p:nvPr/>
        </p:nvSpPr>
        <p:spPr>
          <a:xfrm>
            <a:off x="201168" y="2468880"/>
            <a:ext cx="2468880" cy="53035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3. Implementation</a:t>
            </a:r>
            <a:endParaRPr lang="en-US" sz="1150" dirty="0"/>
          </a:p>
          <a:p>
            <a:pPr marL="0" indent="0">
              <a:buNone/>
            </a:pPr>
            <a:r>
              <a:rPr lang="en-US" sz="1150" b="1" dirty="0">
                <a:solidFill>
                  <a:srgbClr val="FFFFFF"/>
                </a:solidFill>
                <a:latin typeface="Arial Black" pitchFamily="34" charset="0"/>
                <a:ea typeface="Arial Black" pitchFamily="34" charset="-122"/>
                <a:cs typeface="Arial Black" pitchFamily="34" charset="-120"/>
              </a:rPr>
              <a:t>(Coding)</a:t>
            </a:r>
            <a:endParaRPr lang="en-US" sz="1150" dirty="0"/>
          </a:p>
        </p:txBody>
      </p:sp>
      <p:sp>
        <p:nvSpPr>
          <p:cNvPr id="23" name="Text 21"/>
          <p:cNvSpPr/>
          <p:nvPr/>
        </p:nvSpPr>
        <p:spPr>
          <a:xfrm>
            <a:off x="2788920" y="2560320"/>
            <a:ext cx="274320" cy="347472"/>
          </a:xfrm>
          <a:prstGeom prst="rect">
            <a:avLst/>
          </a:prstGeom>
          <a:noFill/>
          <a:ln/>
        </p:spPr>
        <p:txBody>
          <a:bodyPr wrap="square" lIns="0" tIns="0" rIns="0" bIns="0" rtlCol="0" anchor="ctr"/>
          <a:lstStyle/>
          <a:p>
            <a:pPr marL="0" indent="0" algn="ctr">
              <a:buNone/>
            </a:pPr>
            <a:r>
              <a:rPr lang="en-US" sz="1800" dirty="0">
                <a:solidFill>
                  <a:srgbClr val="E8650A"/>
                </a:solidFill>
              </a:rPr>
              <a:t>→</a:t>
            </a:r>
            <a:endParaRPr lang="en-US" sz="1800" dirty="0"/>
          </a:p>
        </p:txBody>
      </p:sp>
      <p:sp>
        <p:nvSpPr>
          <p:cNvPr id="24" name="Shape 22"/>
          <p:cNvSpPr/>
          <p:nvPr/>
        </p:nvSpPr>
        <p:spPr>
          <a:xfrm>
            <a:off x="3127248" y="2468880"/>
            <a:ext cx="5806440" cy="53035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5" name="Shape 23"/>
          <p:cNvSpPr/>
          <p:nvPr/>
        </p:nvSpPr>
        <p:spPr>
          <a:xfrm>
            <a:off x="3127248" y="2468880"/>
            <a:ext cx="73152" cy="530352"/>
          </a:xfrm>
          <a:prstGeom prst="rect">
            <a:avLst/>
          </a:prstGeom>
          <a:solidFill>
            <a:srgbClr val="BBBBBB"/>
          </a:solidFill>
          <a:ln w="12700">
            <a:solidFill>
              <a:srgbClr val="BBBBBB"/>
            </a:solidFill>
            <a:prstDash val="solid"/>
          </a:ln>
        </p:spPr>
      </p:sp>
      <p:sp>
        <p:nvSpPr>
          <p:cNvPr id="26" name="Text 24"/>
          <p:cNvSpPr/>
          <p:nvPr/>
        </p:nvSpPr>
        <p:spPr>
          <a:xfrm>
            <a:off x="3291840" y="2532888"/>
            <a:ext cx="5577840" cy="40233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Unit tests written by developers alongside code (TDD). Test data prepared.</a:t>
            </a:r>
            <a:endParaRPr lang="en-US" sz="1000" dirty="0"/>
          </a:p>
        </p:txBody>
      </p:sp>
      <p:sp>
        <p:nvSpPr>
          <p:cNvPr id="27" name="Shape 25"/>
          <p:cNvSpPr/>
          <p:nvPr/>
        </p:nvSpPr>
        <p:spPr>
          <a:xfrm>
            <a:off x="164592" y="3072384"/>
            <a:ext cx="2560320" cy="530352"/>
          </a:xfrm>
          <a:prstGeom prst="rect">
            <a:avLst/>
          </a:prstGeom>
          <a:solidFill>
            <a:srgbClr val="B84D00"/>
          </a:solidFill>
          <a:ln w="12700">
            <a:solidFill>
              <a:srgbClr val="B84D00"/>
            </a:solidFill>
            <a:prstDash val="solid"/>
          </a:ln>
        </p:spPr>
      </p:sp>
      <p:sp>
        <p:nvSpPr>
          <p:cNvPr id="28" name="Text 26"/>
          <p:cNvSpPr/>
          <p:nvPr/>
        </p:nvSpPr>
        <p:spPr>
          <a:xfrm>
            <a:off x="201168" y="3072384"/>
            <a:ext cx="2468880" cy="53035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4. Testing</a:t>
            </a:r>
            <a:endParaRPr lang="en-US" sz="1150" dirty="0"/>
          </a:p>
          <a:p>
            <a:pPr marL="0" indent="0">
              <a:buNone/>
            </a:pPr>
            <a:r>
              <a:rPr lang="en-US" sz="1150" b="1" dirty="0">
                <a:solidFill>
                  <a:srgbClr val="FFFFFF"/>
                </a:solidFill>
                <a:latin typeface="Arial Black" pitchFamily="34" charset="0"/>
                <a:ea typeface="Arial Black" pitchFamily="34" charset="-122"/>
                <a:cs typeface="Arial Black" pitchFamily="34" charset="-120"/>
              </a:rPr>
              <a:t>&amp; QA</a:t>
            </a:r>
            <a:endParaRPr lang="en-US" sz="1150" dirty="0"/>
          </a:p>
        </p:txBody>
      </p:sp>
      <p:sp>
        <p:nvSpPr>
          <p:cNvPr id="29" name="Text 27"/>
          <p:cNvSpPr/>
          <p:nvPr/>
        </p:nvSpPr>
        <p:spPr>
          <a:xfrm>
            <a:off x="2788920" y="3163824"/>
            <a:ext cx="274320" cy="347472"/>
          </a:xfrm>
          <a:prstGeom prst="rect">
            <a:avLst/>
          </a:prstGeom>
          <a:noFill/>
          <a:ln/>
        </p:spPr>
        <p:txBody>
          <a:bodyPr wrap="square" lIns="0" tIns="0" rIns="0" bIns="0" rtlCol="0" anchor="ctr"/>
          <a:lstStyle/>
          <a:p>
            <a:pPr marL="0" indent="0" algn="ctr">
              <a:buNone/>
            </a:pPr>
            <a:r>
              <a:rPr lang="en-US" sz="1800" dirty="0">
                <a:solidFill>
                  <a:srgbClr val="E8650A"/>
                </a:solidFill>
              </a:rPr>
              <a:t>→</a:t>
            </a:r>
            <a:endParaRPr lang="en-US" sz="1800" dirty="0"/>
          </a:p>
        </p:txBody>
      </p:sp>
      <p:sp>
        <p:nvSpPr>
          <p:cNvPr id="30" name="Shape 28"/>
          <p:cNvSpPr/>
          <p:nvPr/>
        </p:nvSpPr>
        <p:spPr>
          <a:xfrm>
            <a:off x="3127248" y="3072384"/>
            <a:ext cx="5806440" cy="53035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1" name="Shape 29"/>
          <p:cNvSpPr/>
          <p:nvPr/>
        </p:nvSpPr>
        <p:spPr>
          <a:xfrm>
            <a:off x="3127248" y="3072384"/>
            <a:ext cx="73152" cy="530352"/>
          </a:xfrm>
          <a:prstGeom prst="rect">
            <a:avLst/>
          </a:prstGeom>
          <a:solidFill>
            <a:srgbClr val="E8650A"/>
          </a:solidFill>
          <a:ln w="12700">
            <a:solidFill>
              <a:srgbClr val="E8650A"/>
            </a:solidFill>
            <a:prstDash val="solid"/>
          </a:ln>
        </p:spPr>
      </p:sp>
      <p:sp>
        <p:nvSpPr>
          <p:cNvPr id="32" name="Text 30"/>
          <p:cNvSpPr/>
          <p:nvPr/>
        </p:nvSpPr>
        <p:spPr>
          <a:xfrm>
            <a:off x="3291840" y="3136392"/>
            <a:ext cx="5577840" cy="402336"/>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Formal test execution: Functional, Integration, System, Regression, Performance, UAT.</a:t>
            </a:r>
            <a:endParaRPr lang="en-US" sz="1000" dirty="0"/>
          </a:p>
        </p:txBody>
      </p:sp>
      <p:sp>
        <p:nvSpPr>
          <p:cNvPr id="33" name="Shape 31"/>
          <p:cNvSpPr/>
          <p:nvPr/>
        </p:nvSpPr>
        <p:spPr>
          <a:xfrm>
            <a:off x="164592" y="3675888"/>
            <a:ext cx="2560320" cy="530352"/>
          </a:xfrm>
          <a:prstGeom prst="rect">
            <a:avLst/>
          </a:prstGeom>
          <a:solidFill>
            <a:srgbClr val="5A1E5A"/>
          </a:solidFill>
          <a:ln w="12700">
            <a:solidFill>
              <a:srgbClr val="5A1E5A"/>
            </a:solidFill>
            <a:prstDash val="solid"/>
          </a:ln>
        </p:spPr>
      </p:sp>
      <p:sp>
        <p:nvSpPr>
          <p:cNvPr id="34" name="Text 32"/>
          <p:cNvSpPr/>
          <p:nvPr/>
        </p:nvSpPr>
        <p:spPr>
          <a:xfrm>
            <a:off x="201168" y="3675888"/>
            <a:ext cx="2468880" cy="53035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5. Deployment</a:t>
            </a:r>
            <a:endParaRPr lang="en-US" sz="1150" dirty="0"/>
          </a:p>
        </p:txBody>
      </p:sp>
      <p:sp>
        <p:nvSpPr>
          <p:cNvPr id="35" name="Text 33"/>
          <p:cNvSpPr/>
          <p:nvPr/>
        </p:nvSpPr>
        <p:spPr>
          <a:xfrm>
            <a:off x="2788920" y="3767328"/>
            <a:ext cx="274320" cy="347472"/>
          </a:xfrm>
          <a:prstGeom prst="rect">
            <a:avLst/>
          </a:prstGeom>
          <a:noFill/>
          <a:ln/>
        </p:spPr>
        <p:txBody>
          <a:bodyPr wrap="square" lIns="0" tIns="0" rIns="0" bIns="0" rtlCol="0" anchor="ctr"/>
          <a:lstStyle/>
          <a:p>
            <a:pPr marL="0" indent="0" algn="ctr">
              <a:buNone/>
            </a:pPr>
            <a:r>
              <a:rPr lang="en-US" sz="1800" dirty="0">
                <a:solidFill>
                  <a:srgbClr val="E8650A"/>
                </a:solidFill>
              </a:rPr>
              <a:t>→</a:t>
            </a:r>
            <a:endParaRPr lang="en-US" sz="1800" dirty="0"/>
          </a:p>
        </p:txBody>
      </p:sp>
      <p:sp>
        <p:nvSpPr>
          <p:cNvPr id="36" name="Shape 34"/>
          <p:cNvSpPr/>
          <p:nvPr/>
        </p:nvSpPr>
        <p:spPr>
          <a:xfrm>
            <a:off x="3127248" y="3675888"/>
            <a:ext cx="5806440" cy="53035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7" name="Shape 35"/>
          <p:cNvSpPr/>
          <p:nvPr/>
        </p:nvSpPr>
        <p:spPr>
          <a:xfrm>
            <a:off x="3127248" y="3675888"/>
            <a:ext cx="73152" cy="530352"/>
          </a:xfrm>
          <a:prstGeom prst="rect">
            <a:avLst/>
          </a:prstGeom>
          <a:solidFill>
            <a:srgbClr val="BBBBBB"/>
          </a:solidFill>
          <a:ln w="12700">
            <a:solidFill>
              <a:srgbClr val="BBBBBB"/>
            </a:solidFill>
            <a:prstDash val="solid"/>
          </a:ln>
        </p:spPr>
      </p:sp>
      <p:sp>
        <p:nvSpPr>
          <p:cNvPr id="38" name="Text 36"/>
          <p:cNvSpPr/>
          <p:nvPr/>
        </p:nvSpPr>
        <p:spPr>
          <a:xfrm>
            <a:off x="3291840" y="3739896"/>
            <a:ext cx="5577840" cy="40233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Smoke testing in production environment. Deployment verification checks executed.</a:t>
            </a:r>
            <a:endParaRPr lang="en-US" sz="1000" dirty="0"/>
          </a:p>
        </p:txBody>
      </p:sp>
      <p:sp>
        <p:nvSpPr>
          <p:cNvPr id="39" name="Shape 37"/>
          <p:cNvSpPr/>
          <p:nvPr/>
        </p:nvSpPr>
        <p:spPr>
          <a:xfrm>
            <a:off x="164592" y="4279392"/>
            <a:ext cx="2560320" cy="530352"/>
          </a:xfrm>
          <a:prstGeom prst="rect">
            <a:avLst/>
          </a:prstGeom>
          <a:solidFill>
            <a:srgbClr val="3A3A3A"/>
          </a:solidFill>
          <a:ln w="12700">
            <a:solidFill>
              <a:srgbClr val="3A3A3A"/>
            </a:solidFill>
            <a:prstDash val="solid"/>
          </a:ln>
        </p:spPr>
      </p:sp>
      <p:sp>
        <p:nvSpPr>
          <p:cNvPr id="40" name="Text 38"/>
          <p:cNvSpPr/>
          <p:nvPr/>
        </p:nvSpPr>
        <p:spPr>
          <a:xfrm>
            <a:off x="201168" y="4279392"/>
            <a:ext cx="2468880" cy="530352"/>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6. Maintenance</a:t>
            </a:r>
            <a:endParaRPr lang="en-US" sz="1150" dirty="0"/>
          </a:p>
        </p:txBody>
      </p:sp>
      <p:sp>
        <p:nvSpPr>
          <p:cNvPr id="41" name="Text 39"/>
          <p:cNvSpPr/>
          <p:nvPr/>
        </p:nvSpPr>
        <p:spPr>
          <a:xfrm>
            <a:off x="2788920" y="4370832"/>
            <a:ext cx="274320" cy="347472"/>
          </a:xfrm>
          <a:prstGeom prst="rect">
            <a:avLst/>
          </a:prstGeom>
          <a:noFill/>
          <a:ln/>
        </p:spPr>
        <p:txBody>
          <a:bodyPr wrap="square" lIns="0" tIns="0" rIns="0" bIns="0" rtlCol="0" anchor="ctr"/>
          <a:lstStyle/>
          <a:p>
            <a:pPr marL="0" indent="0" algn="ctr">
              <a:buNone/>
            </a:pPr>
            <a:r>
              <a:rPr lang="en-US" sz="1800" dirty="0">
                <a:solidFill>
                  <a:srgbClr val="E8650A"/>
                </a:solidFill>
              </a:rPr>
              <a:t>→</a:t>
            </a:r>
            <a:endParaRPr lang="en-US" sz="1800" dirty="0"/>
          </a:p>
        </p:txBody>
      </p:sp>
      <p:sp>
        <p:nvSpPr>
          <p:cNvPr id="42" name="Shape 40"/>
          <p:cNvSpPr/>
          <p:nvPr/>
        </p:nvSpPr>
        <p:spPr>
          <a:xfrm>
            <a:off x="3127248" y="4279392"/>
            <a:ext cx="5806440" cy="53035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43" name="Shape 41"/>
          <p:cNvSpPr/>
          <p:nvPr/>
        </p:nvSpPr>
        <p:spPr>
          <a:xfrm>
            <a:off x="3127248" y="4279392"/>
            <a:ext cx="73152" cy="530352"/>
          </a:xfrm>
          <a:prstGeom prst="rect">
            <a:avLst/>
          </a:prstGeom>
          <a:solidFill>
            <a:srgbClr val="BBBBBB"/>
          </a:solidFill>
          <a:ln w="12700">
            <a:solidFill>
              <a:srgbClr val="BBBBBB"/>
            </a:solidFill>
            <a:prstDash val="solid"/>
          </a:ln>
        </p:spPr>
      </p:sp>
      <p:sp>
        <p:nvSpPr>
          <p:cNvPr id="44" name="Text 42"/>
          <p:cNvSpPr/>
          <p:nvPr/>
        </p:nvSpPr>
        <p:spPr>
          <a:xfrm>
            <a:off x="3291840" y="4343400"/>
            <a:ext cx="5577840" cy="40233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Regression testing on patches. Bug verification. New feature regression cycles.</a:t>
            </a:r>
            <a:endParaRPr lang="en-US" sz="1000" dirty="0"/>
          </a:p>
        </p:txBody>
      </p:sp>
      <p:sp>
        <p:nvSpPr>
          <p:cNvPr id="45" name="Shape 43"/>
          <p:cNvSpPr/>
          <p:nvPr/>
        </p:nvSpPr>
        <p:spPr>
          <a:xfrm>
            <a:off x="164592" y="4846320"/>
            <a:ext cx="8823960" cy="73152"/>
          </a:xfrm>
          <a:prstGeom prst="rect">
            <a:avLst/>
          </a:prstGeom>
          <a:solidFill>
            <a:srgbClr val="E8650A"/>
          </a:solidFill>
          <a:ln w="12700">
            <a:solidFill>
              <a:srgbClr val="E8650A"/>
            </a:solidFill>
            <a:prstDash val="solid"/>
          </a:ln>
        </p:spPr>
      </p:sp>
      <p:sp>
        <p:nvSpPr>
          <p:cNvPr id="46" name="Text 44"/>
          <p:cNvSpPr/>
          <p:nvPr/>
        </p:nvSpPr>
        <p:spPr>
          <a:xfrm>
            <a:off x="164592" y="4800600"/>
            <a:ext cx="8823960" cy="164592"/>
          </a:xfrm>
          <a:prstGeom prst="rect">
            <a:avLst/>
          </a:prstGeom>
          <a:noFill/>
          <a:ln/>
        </p:spPr>
        <p:txBody>
          <a:bodyPr wrap="square" lIns="0" tIns="0" rIns="0" bIns="0" rtlCol="0" anchor="ctr"/>
          <a:lstStyle/>
          <a:p>
            <a:pPr marL="0" indent="0" algn="ctr">
              <a:buNone/>
            </a:pPr>
            <a:r>
              <a:rPr lang="en-US" sz="900" i="1" dirty="0">
                <a:solidFill>
                  <a:srgbClr val="E8650A"/>
                </a:solidFill>
                <a:latin typeface="Arial" pitchFamily="34" charset="0"/>
                <a:ea typeface="Arial" pitchFamily="34" charset="-122"/>
                <a:cs typeface="Arial" pitchFamily="34" charset="-120"/>
              </a:rPr>
              <a:t>Phase 4 (Testing &amp; QA) is highlighted — but testing contribution appears in ALL 6 phases.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Developer &amp; Tester Collaboration</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04  |  SDLC</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329184"/>
          </a:xfrm>
          <a:prstGeom prst="rect">
            <a:avLst/>
          </a:prstGeom>
          <a:noFill/>
          <a:ln/>
        </p:spPr>
        <p:txBody>
          <a:bodyPr wrap="square" lIns="0" tIns="0" rIns="0" bIns="0" rtlCol="0" anchor="ctr"/>
          <a:lstStyle/>
          <a:p>
            <a:pPr marL="0" indent="0">
              <a:buNone/>
            </a:pPr>
            <a:r>
              <a:rPr lang="en-US" sz="1200" b="1" i="1" dirty="0">
                <a:solidFill>
                  <a:srgbClr val="E8650A"/>
                </a:solidFill>
                <a:latin typeface="Arial" pitchFamily="34" charset="0"/>
                <a:ea typeface="Arial" pitchFamily="34" charset="-122"/>
                <a:cs typeface="Arial" pitchFamily="34" charset="-120"/>
              </a:rPr>
              <a:t>Modern software quality is a SHARED responsibility — not 'developers build, testers test'.</a:t>
            </a:r>
            <a:endParaRPr lang="en-US" sz="1200" dirty="0"/>
          </a:p>
        </p:txBody>
      </p:sp>
      <p:sp>
        <p:nvSpPr>
          <p:cNvPr id="10" name="Shape 8"/>
          <p:cNvSpPr/>
          <p:nvPr/>
        </p:nvSpPr>
        <p:spPr>
          <a:xfrm>
            <a:off x="164592" y="1207008"/>
            <a:ext cx="4315968" cy="201168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1" name="Shape 9"/>
          <p:cNvSpPr/>
          <p:nvPr/>
        </p:nvSpPr>
        <p:spPr>
          <a:xfrm>
            <a:off x="164592" y="1207008"/>
            <a:ext cx="73152" cy="2011680"/>
          </a:xfrm>
          <a:prstGeom prst="rect">
            <a:avLst/>
          </a:prstGeom>
          <a:solidFill>
            <a:srgbClr val="E8650A"/>
          </a:solidFill>
          <a:ln w="12700">
            <a:solidFill>
              <a:srgbClr val="E8650A"/>
            </a:solidFill>
            <a:prstDash val="solid"/>
          </a:ln>
        </p:spPr>
      </p:sp>
      <p:sp>
        <p:nvSpPr>
          <p:cNvPr id="12" name="Shape 10"/>
          <p:cNvSpPr/>
          <p:nvPr/>
        </p:nvSpPr>
        <p:spPr>
          <a:xfrm>
            <a:off x="164592" y="1207008"/>
            <a:ext cx="4315968" cy="384048"/>
          </a:xfrm>
          <a:prstGeom prst="rect">
            <a:avLst/>
          </a:prstGeom>
          <a:solidFill>
            <a:srgbClr val="1565C0"/>
          </a:solidFill>
          <a:ln w="12700">
            <a:solidFill>
              <a:srgbClr val="1565C0"/>
            </a:solidFill>
            <a:prstDash val="solid"/>
          </a:ln>
        </p:spPr>
      </p:sp>
      <p:sp>
        <p:nvSpPr>
          <p:cNvPr id="13" name="Text 11"/>
          <p:cNvSpPr/>
          <p:nvPr/>
        </p:nvSpPr>
        <p:spPr>
          <a:xfrm>
            <a:off x="256032" y="1207008"/>
            <a:ext cx="4114800" cy="384048"/>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  Developers</a:t>
            </a:r>
            <a:endParaRPr lang="en-US" sz="1400" dirty="0"/>
          </a:p>
        </p:txBody>
      </p:sp>
      <p:sp>
        <p:nvSpPr>
          <p:cNvPr id="14" name="Text 12"/>
          <p:cNvSpPr/>
          <p:nvPr/>
        </p:nvSpPr>
        <p:spPr>
          <a:xfrm>
            <a:off x="329184" y="1645920"/>
            <a:ext cx="4023360" cy="14630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Write unit tests for their own code (TDD/BDD)</a:t>
            </a:r>
            <a:endParaRPr lang="en-US" sz="1100" dirty="0"/>
          </a:p>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Review test cases with QA to ensure coverage</a:t>
            </a:r>
            <a:endParaRPr lang="en-US" sz="1100" dirty="0"/>
          </a:p>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Fix defects and document root cause analysis</a:t>
            </a:r>
            <a:endParaRPr lang="en-US" sz="1100" dirty="0"/>
          </a:p>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Provide QA access to builds via CI/CD pipelines</a:t>
            </a:r>
            <a:endParaRPr lang="en-US" sz="1100" dirty="0"/>
          </a:p>
        </p:txBody>
      </p:sp>
      <p:sp>
        <p:nvSpPr>
          <p:cNvPr id="15" name="Shape 13"/>
          <p:cNvSpPr/>
          <p:nvPr/>
        </p:nvSpPr>
        <p:spPr>
          <a:xfrm>
            <a:off x="4663440" y="1207008"/>
            <a:ext cx="4315968" cy="201168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6" name="Shape 14"/>
          <p:cNvSpPr/>
          <p:nvPr/>
        </p:nvSpPr>
        <p:spPr>
          <a:xfrm>
            <a:off x="4663440" y="1207008"/>
            <a:ext cx="73152" cy="2011680"/>
          </a:xfrm>
          <a:prstGeom prst="rect">
            <a:avLst/>
          </a:prstGeom>
          <a:solidFill>
            <a:srgbClr val="E8650A"/>
          </a:solidFill>
          <a:ln w="12700">
            <a:solidFill>
              <a:srgbClr val="E8650A"/>
            </a:solidFill>
            <a:prstDash val="solid"/>
          </a:ln>
        </p:spPr>
      </p:sp>
      <p:sp>
        <p:nvSpPr>
          <p:cNvPr id="17" name="Shape 15"/>
          <p:cNvSpPr/>
          <p:nvPr/>
        </p:nvSpPr>
        <p:spPr>
          <a:xfrm>
            <a:off x="4663440" y="1207008"/>
            <a:ext cx="4315968" cy="384048"/>
          </a:xfrm>
          <a:prstGeom prst="rect">
            <a:avLst/>
          </a:prstGeom>
          <a:solidFill>
            <a:srgbClr val="B84D00"/>
          </a:solidFill>
          <a:ln w="12700">
            <a:solidFill>
              <a:srgbClr val="B84D00"/>
            </a:solidFill>
            <a:prstDash val="solid"/>
          </a:ln>
        </p:spPr>
      </p:sp>
      <p:sp>
        <p:nvSpPr>
          <p:cNvPr id="18" name="Text 16"/>
          <p:cNvSpPr/>
          <p:nvPr/>
        </p:nvSpPr>
        <p:spPr>
          <a:xfrm>
            <a:off x="4754880" y="1207008"/>
            <a:ext cx="4114800" cy="384048"/>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  QA Testers</a:t>
            </a:r>
            <a:endParaRPr lang="en-US" sz="1400" dirty="0"/>
          </a:p>
        </p:txBody>
      </p:sp>
      <p:sp>
        <p:nvSpPr>
          <p:cNvPr id="19" name="Text 17"/>
          <p:cNvSpPr/>
          <p:nvPr/>
        </p:nvSpPr>
        <p:spPr>
          <a:xfrm>
            <a:off x="4828032" y="1645920"/>
            <a:ext cx="4023360" cy="14630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Review requirements before developers start coding</a:t>
            </a:r>
            <a:endParaRPr lang="en-US" sz="1100" dirty="0"/>
          </a:p>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Prepare test data and environments in parallel with dev</a:t>
            </a:r>
            <a:endParaRPr lang="en-US" sz="1100" dirty="0"/>
          </a:p>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Raise defects with full reproduction steps and evidence</a:t>
            </a:r>
            <a:endParaRPr lang="en-US" sz="1100" dirty="0"/>
          </a:p>
          <a:p>
            <a:pPr marL="342900" indent="-342900">
              <a:spcAft>
                <a:spcPts val="400"/>
              </a:spcAft>
              <a:buSzPct val="100000"/>
              <a:buChar char="•"/>
            </a:pPr>
            <a:r>
              <a:rPr lang="en-US" sz="1100" dirty="0">
                <a:solidFill>
                  <a:srgbClr val="BBBBBB"/>
                </a:solidFill>
                <a:latin typeface="Arial" pitchFamily="34" charset="0"/>
                <a:ea typeface="Arial" pitchFamily="34" charset="-122"/>
                <a:cs typeface="Arial" pitchFamily="34" charset="-120"/>
              </a:rPr>
              <a:t>Verify fixes and close defect loops promptly</a:t>
            </a:r>
            <a:endParaRPr lang="en-US" sz="1100" dirty="0"/>
          </a:p>
        </p:txBody>
      </p:sp>
      <p:sp>
        <p:nvSpPr>
          <p:cNvPr id="20" name="Text 18"/>
          <p:cNvSpPr/>
          <p:nvPr/>
        </p:nvSpPr>
        <p:spPr>
          <a:xfrm>
            <a:off x="164592" y="3310128"/>
            <a:ext cx="8229600" cy="274320"/>
          </a:xfrm>
          <a:prstGeom prst="rect">
            <a:avLst/>
          </a:prstGeom>
          <a:noFill/>
          <a:ln/>
        </p:spPr>
        <p:txBody>
          <a:bodyPr wrap="square" lIns="0" tIns="0" rIns="0" bIns="0" rtlCol="0" anchor="ctr"/>
          <a:lstStyle/>
          <a:p>
            <a:pPr marL="0" indent="0">
              <a:buNone/>
            </a:pPr>
            <a:r>
              <a:rPr lang="en-US" sz="1300" b="1" dirty="0">
                <a:solidFill>
                  <a:srgbClr val="E8650A"/>
                </a:solidFill>
                <a:latin typeface="Arial Black" pitchFamily="34" charset="0"/>
                <a:ea typeface="Arial Black" pitchFamily="34" charset="-122"/>
                <a:cs typeface="Arial Black" pitchFamily="34" charset="-120"/>
              </a:rPr>
              <a:t>Key Collaboration Practices:</a:t>
            </a:r>
            <a:endParaRPr lang="en-US" sz="1300" dirty="0"/>
          </a:p>
        </p:txBody>
      </p:sp>
      <p:sp>
        <p:nvSpPr>
          <p:cNvPr id="21" name="Shape 19"/>
          <p:cNvSpPr/>
          <p:nvPr/>
        </p:nvSpPr>
        <p:spPr>
          <a:xfrm>
            <a:off x="164592" y="3657600"/>
            <a:ext cx="237744" cy="237744"/>
          </a:xfrm>
          <a:prstGeom prst="rect">
            <a:avLst/>
          </a:prstGeom>
          <a:solidFill>
            <a:srgbClr val="E8650A"/>
          </a:solidFill>
          <a:ln w="12700">
            <a:solidFill>
              <a:srgbClr val="E8650A"/>
            </a:solidFill>
            <a:prstDash val="solid"/>
          </a:ln>
        </p:spPr>
      </p:sp>
      <p:sp>
        <p:nvSpPr>
          <p:cNvPr id="22" name="Text 20"/>
          <p:cNvSpPr/>
          <p:nvPr/>
        </p:nvSpPr>
        <p:spPr>
          <a:xfrm>
            <a:off x="164592" y="365760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1</a:t>
            </a:r>
            <a:endParaRPr lang="en-US" sz="1000" dirty="0"/>
          </a:p>
        </p:txBody>
      </p:sp>
      <p:sp>
        <p:nvSpPr>
          <p:cNvPr id="23" name="Text 21"/>
          <p:cNvSpPr/>
          <p:nvPr/>
        </p:nvSpPr>
        <p:spPr>
          <a:xfrm>
            <a:off x="493776" y="3675888"/>
            <a:ext cx="8412480" cy="219456"/>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Daily standups: Testers share blockers, developers share build status — every morning, 15 minutes.</a:t>
            </a:r>
            <a:endParaRPr lang="en-US" sz="1000" dirty="0"/>
          </a:p>
        </p:txBody>
      </p:sp>
      <p:sp>
        <p:nvSpPr>
          <p:cNvPr id="24" name="Shape 22"/>
          <p:cNvSpPr/>
          <p:nvPr/>
        </p:nvSpPr>
        <p:spPr>
          <a:xfrm>
            <a:off x="164592" y="3950208"/>
            <a:ext cx="237744" cy="237744"/>
          </a:xfrm>
          <a:prstGeom prst="rect">
            <a:avLst/>
          </a:prstGeom>
          <a:solidFill>
            <a:srgbClr val="E8650A"/>
          </a:solidFill>
          <a:ln w="12700">
            <a:solidFill>
              <a:srgbClr val="E8650A"/>
            </a:solidFill>
            <a:prstDash val="solid"/>
          </a:ln>
        </p:spPr>
      </p:sp>
      <p:sp>
        <p:nvSpPr>
          <p:cNvPr id="25" name="Text 23"/>
          <p:cNvSpPr/>
          <p:nvPr/>
        </p:nvSpPr>
        <p:spPr>
          <a:xfrm>
            <a:off x="164592" y="395020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2</a:t>
            </a:r>
            <a:endParaRPr lang="en-US" sz="1000" dirty="0"/>
          </a:p>
        </p:txBody>
      </p:sp>
      <p:sp>
        <p:nvSpPr>
          <p:cNvPr id="26" name="Text 24"/>
          <p:cNvSpPr/>
          <p:nvPr/>
        </p:nvSpPr>
        <p:spPr>
          <a:xfrm>
            <a:off x="493776" y="3968496"/>
            <a:ext cx="8412480" cy="219456"/>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Test case reviews: QA shares test cases with Dev BEFORE execution — devs can self-test their features first.</a:t>
            </a:r>
            <a:endParaRPr lang="en-US" sz="1000" dirty="0"/>
          </a:p>
        </p:txBody>
      </p:sp>
      <p:sp>
        <p:nvSpPr>
          <p:cNvPr id="27" name="Shape 25"/>
          <p:cNvSpPr/>
          <p:nvPr/>
        </p:nvSpPr>
        <p:spPr>
          <a:xfrm>
            <a:off x="164592" y="4242816"/>
            <a:ext cx="237744" cy="237744"/>
          </a:xfrm>
          <a:prstGeom prst="rect">
            <a:avLst/>
          </a:prstGeom>
          <a:solidFill>
            <a:srgbClr val="E8650A"/>
          </a:solidFill>
          <a:ln w="12700">
            <a:solidFill>
              <a:srgbClr val="E8650A"/>
            </a:solidFill>
            <a:prstDash val="solid"/>
          </a:ln>
        </p:spPr>
      </p:sp>
      <p:sp>
        <p:nvSpPr>
          <p:cNvPr id="28" name="Text 26"/>
          <p:cNvSpPr/>
          <p:nvPr/>
        </p:nvSpPr>
        <p:spPr>
          <a:xfrm>
            <a:off x="164592" y="4242816"/>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3</a:t>
            </a:r>
            <a:endParaRPr lang="en-US" sz="1000" dirty="0"/>
          </a:p>
        </p:txBody>
      </p:sp>
      <p:sp>
        <p:nvSpPr>
          <p:cNvPr id="29" name="Text 27"/>
          <p:cNvSpPr/>
          <p:nvPr/>
        </p:nvSpPr>
        <p:spPr>
          <a:xfrm>
            <a:off x="493776" y="4261104"/>
            <a:ext cx="8412480" cy="219456"/>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Defect triage: Joint meeting 3x per week — Dev + QA + BA evaluate severity, priority, and root cause together.</a:t>
            </a:r>
            <a:endParaRPr lang="en-US" sz="1000" dirty="0"/>
          </a:p>
        </p:txBody>
      </p:sp>
      <p:sp>
        <p:nvSpPr>
          <p:cNvPr id="30" name="Shape 28"/>
          <p:cNvSpPr/>
          <p:nvPr/>
        </p:nvSpPr>
        <p:spPr>
          <a:xfrm>
            <a:off x="164592" y="4535424"/>
            <a:ext cx="237744" cy="237744"/>
          </a:xfrm>
          <a:prstGeom prst="rect">
            <a:avLst/>
          </a:prstGeom>
          <a:solidFill>
            <a:srgbClr val="E8650A"/>
          </a:solidFill>
          <a:ln w="12700">
            <a:solidFill>
              <a:srgbClr val="E8650A"/>
            </a:solidFill>
            <a:prstDash val="solid"/>
          </a:ln>
        </p:spPr>
      </p:sp>
      <p:sp>
        <p:nvSpPr>
          <p:cNvPr id="31" name="Text 29"/>
          <p:cNvSpPr/>
          <p:nvPr/>
        </p:nvSpPr>
        <p:spPr>
          <a:xfrm>
            <a:off x="164592" y="453542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4</a:t>
            </a:r>
            <a:endParaRPr lang="en-US" sz="1000" dirty="0"/>
          </a:p>
        </p:txBody>
      </p:sp>
      <p:sp>
        <p:nvSpPr>
          <p:cNvPr id="32" name="Text 30"/>
          <p:cNvSpPr/>
          <p:nvPr/>
        </p:nvSpPr>
        <p:spPr>
          <a:xfrm>
            <a:off x="493776" y="4553712"/>
            <a:ext cx="8412480" cy="219456"/>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Definition of Done: A user story is only DONE when it has passing test cases, not just working code.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05</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Software Testing</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Life Cycle (STLC)</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The 6 Phases of Structured Testing — From Analysis to Closure</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STLC — All 6 Phases in Detail</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05  |  STLC</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Shape 6"/>
          <p:cNvSpPr/>
          <p:nvPr/>
        </p:nvSpPr>
        <p:spPr>
          <a:xfrm>
            <a:off x="164592" y="804672"/>
            <a:ext cx="4315968" cy="131673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9" name="Shape 7"/>
          <p:cNvSpPr/>
          <p:nvPr/>
        </p:nvSpPr>
        <p:spPr>
          <a:xfrm>
            <a:off x="164592" y="804672"/>
            <a:ext cx="4315968" cy="310896"/>
          </a:xfrm>
          <a:prstGeom prst="rect">
            <a:avLst/>
          </a:prstGeom>
          <a:solidFill>
            <a:srgbClr val="0C0C0C"/>
          </a:solidFill>
          <a:ln w="12700">
            <a:solidFill>
              <a:srgbClr val="0C0C0C"/>
            </a:solidFill>
            <a:prstDash val="solid"/>
          </a:ln>
        </p:spPr>
      </p:sp>
      <p:sp>
        <p:nvSpPr>
          <p:cNvPr id="10" name="Text 8"/>
          <p:cNvSpPr/>
          <p:nvPr/>
        </p:nvSpPr>
        <p:spPr>
          <a:xfrm>
            <a:off x="256032" y="804672"/>
            <a:ext cx="4133088"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01  Requirement Analysis</a:t>
            </a:r>
            <a:endParaRPr lang="en-US" sz="1150" dirty="0"/>
          </a:p>
        </p:txBody>
      </p:sp>
      <p:sp>
        <p:nvSpPr>
          <p:cNvPr id="11" name="Text 9"/>
          <p:cNvSpPr/>
          <p:nvPr/>
        </p:nvSpPr>
        <p:spPr>
          <a:xfrm>
            <a:off x="274320" y="1152144"/>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QA reviews functional and non-functional requirements with BAs and stakeholders. Testability is assessed. Ambiguous or missing requirements are escalated immediately.</a:t>
            </a:r>
            <a:endParaRPr lang="en-US" sz="950" dirty="0"/>
          </a:p>
        </p:txBody>
      </p:sp>
      <p:sp>
        <p:nvSpPr>
          <p:cNvPr id="12" name="Text 10"/>
          <p:cNvSpPr/>
          <p:nvPr/>
        </p:nvSpPr>
        <p:spPr>
          <a:xfrm>
            <a:off x="274320" y="1755648"/>
            <a:ext cx="4114800" cy="31089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Output: RTM (Requirement Traceability Matrix), List of clarifications</a:t>
            </a:r>
            <a:endParaRPr lang="en-US" sz="900" dirty="0"/>
          </a:p>
        </p:txBody>
      </p:sp>
      <p:sp>
        <p:nvSpPr>
          <p:cNvPr id="13" name="Shape 11"/>
          <p:cNvSpPr/>
          <p:nvPr/>
        </p:nvSpPr>
        <p:spPr>
          <a:xfrm>
            <a:off x="4663440" y="804672"/>
            <a:ext cx="4315968" cy="131673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4" name="Shape 12"/>
          <p:cNvSpPr/>
          <p:nvPr/>
        </p:nvSpPr>
        <p:spPr>
          <a:xfrm>
            <a:off x="4663440" y="804672"/>
            <a:ext cx="4315968" cy="310896"/>
          </a:xfrm>
          <a:prstGeom prst="rect">
            <a:avLst/>
          </a:prstGeom>
          <a:solidFill>
            <a:srgbClr val="1A3A5C"/>
          </a:solidFill>
          <a:ln w="12700">
            <a:solidFill>
              <a:srgbClr val="1A3A5C"/>
            </a:solidFill>
            <a:prstDash val="solid"/>
          </a:ln>
        </p:spPr>
      </p:sp>
      <p:sp>
        <p:nvSpPr>
          <p:cNvPr id="15" name="Text 13"/>
          <p:cNvSpPr/>
          <p:nvPr/>
        </p:nvSpPr>
        <p:spPr>
          <a:xfrm>
            <a:off x="4754880" y="804672"/>
            <a:ext cx="4133088"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02  Test Planning</a:t>
            </a:r>
            <a:endParaRPr lang="en-US" sz="1150" dirty="0"/>
          </a:p>
        </p:txBody>
      </p:sp>
      <p:sp>
        <p:nvSpPr>
          <p:cNvPr id="16" name="Text 14"/>
          <p:cNvSpPr/>
          <p:nvPr/>
        </p:nvSpPr>
        <p:spPr>
          <a:xfrm>
            <a:off x="4773168" y="1152144"/>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Test Manager creates the Test Plan document: scope, schedule, resource allocation, tools, risk register, entry/exit criteria, and estimation. The test strategy is formalised.</a:t>
            </a:r>
            <a:endParaRPr lang="en-US" sz="950" dirty="0"/>
          </a:p>
        </p:txBody>
      </p:sp>
      <p:sp>
        <p:nvSpPr>
          <p:cNvPr id="17" name="Text 15"/>
          <p:cNvSpPr/>
          <p:nvPr/>
        </p:nvSpPr>
        <p:spPr>
          <a:xfrm>
            <a:off x="4773168" y="1755648"/>
            <a:ext cx="4114800" cy="31089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Output: Test Plan Document, Test Effort Estimation, Resource Plan</a:t>
            </a:r>
            <a:endParaRPr lang="en-US" sz="900" dirty="0"/>
          </a:p>
        </p:txBody>
      </p:sp>
      <p:sp>
        <p:nvSpPr>
          <p:cNvPr id="18" name="Shape 16"/>
          <p:cNvSpPr/>
          <p:nvPr/>
        </p:nvSpPr>
        <p:spPr>
          <a:xfrm>
            <a:off x="164592" y="2194560"/>
            <a:ext cx="4315968" cy="131673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9" name="Shape 17"/>
          <p:cNvSpPr/>
          <p:nvPr/>
        </p:nvSpPr>
        <p:spPr>
          <a:xfrm>
            <a:off x="164592" y="2194560"/>
            <a:ext cx="4315968" cy="310896"/>
          </a:xfrm>
          <a:prstGeom prst="rect">
            <a:avLst/>
          </a:prstGeom>
          <a:solidFill>
            <a:srgbClr val="2E5E2E"/>
          </a:solidFill>
          <a:ln w="12700">
            <a:solidFill>
              <a:srgbClr val="2E5E2E"/>
            </a:solidFill>
            <a:prstDash val="solid"/>
          </a:ln>
        </p:spPr>
      </p:sp>
      <p:sp>
        <p:nvSpPr>
          <p:cNvPr id="20" name="Text 18"/>
          <p:cNvSpPr/>
          <p:nvPr/>
        </p:nvSpPr>
        <p:spPr>
          <a:xfrm>
            <a:off x="256032" y="2194560"/>
            <a:ext cx="4133088"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03  Test Case Development</a:t>
            </a:r>
            <a:endParaRPr lang="en-US" sz="1150" dirty="0"/>
          </a:p>
        </p:txBody>
      </p:sp>
      <p:sp>
        <p:nvSpPr>
          <p:cNvPr id="21" name="Text 19"/>
          <p:cNvSpPr/>
          <p:nvPr/>
        </p:nvSpPr>
        <p:spPr>
          <a:xfrm>
            <a:off x="274320" y="2542032"/>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Test Analysts write detailed test cases, test scripts, and automated scripts. Test data is prepared. Peer reviews of test cases are conducted. Cases are linked to requirements in the RTM.</a:t>
            </a:r>
            <a:endParaRPr lang="en-US" sz="950" dirty="0"/>
          </a:p>
        </p:txBody>
      </p:sp>
      <p:sp>
        <p:nvSpPr>
          <p:cNvPr id="22" name="Text 20"/>
          <p:cNvSpPr/>
          <p:nvPr/>
        </p:nvSpPr>
        <p:spPr>
          <a:xfrm>
            <a:off x="274320" y="3145536"/>
            <a:ext cx="4114800" cy="31089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Output: Test Cases, Automated Scripts, Test Data, Updated RTM</a:t>
            </a:r>
            <a:endParaRPr lang="en-US" sz="900" dirty="0"/>
          </a:p>
        </p:txBody>
      </p:sp>
      <p:sp>
        <p:nvSpPr>
          <p:cNvPr id="23" name="Shape 21"/>
          <p:cNvSpPr/>
          <p:nvPr/>
        </p:nvSpPr>
        <p:spPr>
          <a:xfrm>
            <a:off x="4663440" y="2194560"/>
            <a:ext cx="4315968" cy="131673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4" name="Shape 22"/>
          <p:cNvSpPr/>
          <p:nvPr/>
        </p:nvSpPr>
        <p:spPr>
          <a:xfrm>
            <a:off x="4663440" y="2194560"/>
            <a:ext cx="4315968" cy="310896"/>
          </a:xfrm>
          <a:prstGeom prst="rect">
            <a:avLst/>
          </a:prstGeom>
          <a:solidFill>
            <a:srgbClr val="5A3E00"/>
          </a:solidFill>
          <a:ln w="12700">
            <a:solidFill>
              <a:srgbClr val="5A3E00"/>
            </a:solidFill>
            <a:prstDash val="solid"/>
          </a:ln>
        </p:spPr>
      </p:sp>
      <p:sp>
        <p:nvSpPr>
          <p:cNvPr id="25" name="Text 23"/>
          <p:cNvSpPr/>
          <p:nvPr/>
        </p:nvSpPr>
        <p:spPr>
          <a:xfrm>
            <a:off x="4754880" y="2194560"/>
            <a:ext cx="4133088"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04  Test Environment Setup</a:t>
            </a:r>
            <a:endParaRPr lang="en-US" sz="1150" dirty="0"/>
          </a:p>
        </p:txBody>
      </p:sp>
      <p:sp>
        <p:nvSpPr>
          <p:cNvPr id="26" name="Text 24"/>
          <p:cNvSpPr/>
          <p:nvPr/>
        </p:nvSpPr>
        <p:spPr>
          <a:xfrm>
            <a:off x="4773168" y="2542032"/>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DevOps and QA collaborate to set up test environments (dev, QA, staging). Tools are installed and configured: Selenium, Playwright, IntelliJ, Eclipse, Jira, Jenkins. Smoke testing confirms environment readiness.</a:t>
            </a:r>
            <a:endParaRPr lang="en-US" sz="950" dirty="0"/>
          </a:p>
        </p:txBody>
      </p:sp>
      <p:sp>
        <p:nvSpPr>
          <p:cNvPr id="27" name="Text 25"/>
          <p:cNvSpPr/>
          <p:nvPr/>
        </p:nvSpPr>
        <p:spPr>
          <a:xfrm>
            <a:off x="4773168" y="3145536"/>
            <a:ext cx="4114800" cy="31089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Output: Test Environment, CI/CD Pipeline, Entry Criteria Met Confirmation</a:t>
            </a:r>
            <a:endParaRPr lang="en-US" sz="900" dirty="0"/>
          </a:p>
        </p:txBody>
      </p:sp>
      <p:sp>
        <p:nvSpPr>
          <p:cNvPr id="28" name="Shape 26"/>
          <p:cNvSpPr/>
          <p:nvPr/>
        </p:nvSpPr>
        <p:spPr>
          <a:xfrm>
            <a:off x="164592" y="3584448"/>
            <a:ext cx="4315968" cy="131673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9" name="Shape 27"/>
          <p:cNvSpPr/>
          <p:nvPr/>
        </p:nvSpPr>
        <p:spPr>
          <a:xfrm>
            <a:off x="164592" y="3584448"/>
            <a:ext cx="4315968" cy="310896"/>
          </a:xfrm>
          <a:prstGeom prst="rect">
            <a:avLst/>
          </a:prstGeom>
          <a:solidFill>
            <a:srgbClr val="B84D00"/>
          </a:solidFill>
          <a:ln w="12700">
            <a:solidFill>
              <a:srgbClr val="B84D00"/>
            </a:solidFill>
            <a:prstDash val="solid"/>
          </a:ln>
        </p:spPr>
      </p:sp>
      <p:sp>
        <p:nvSpPr>
          <p:cNvPr id="30" name="Text 28"/>
          <p:cNvSpPr/>
          <p:nvPr/>
        </p:nvSpPr>
        <p:spPr>
          <a:xfrm>
            <a:off x="256032" y="3584448"/>
            <a:ext cx="4133088"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05  Test Execution</a:t>
            </a:r>
            <a:endParaRPr lang="en-US" sz="1150" dirty="0"/>
          </a:p>
        </p:txBody>
      </p:sp>
      <p:sp>
        <p:nvSpPr>
          <p:cNvPr id="31" name="Text 29"/>
          <p:cNvSpPr/>
          <p:nvPr/>
        </p:nvSpPr>
        <p:spPr>
          <a:xfrm>
            <a:off x="274320" y="3931920"/>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Test cases are executed against the build. Defects are logged with full reproduction details. Daily status reports are issued. Failed tests are retested after fixes. Regression cycles run.</a:t>
            </a:r>
            <a:endParaRPr lang="en-US" sz="950" dirty="0"/>
          </a:p>
        </p:txBody>
      </p:sp>
      <p:sp>
        <p:nvSpPr>
          <p:cNvPr id="32" name="Text 30"/>
          <p:cNvSpPr/>
          <p:nvPr/>
        </p:nvSpPr>
        <p:spPr>
          <a:xfrm>
            <a:off x="274320" y="4535424"/>
            <a:ext cx="4114800" cy="31089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Output: Test Execution Report, Defect Reports, Retest Evidence</a:t>
            </a:r>
            <a:endParaRPr lang="en-US" sz="900" dirty="0"/>
          </a:p>
        </p:txBody>
      </p:sp>
      <p:sp>
        <p:nvSpPr>
          <p:cNvPr id="33" name="Shape 31"/>
          <p:cNvSpPr/>
          <p:nvPr/>
        </p:nvSpPr>
        <p:spPr>
          <a:xfrm>
            <a:off x="4663440" y="3584448"/>
            <a:ext cx="4315968" cy="1316736"/>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4" name="Shape 32"/>
          <p:cNvSpPr/>
          <p:nvPr/>
        </p:nvSpPr>
        <p:spPr>
          <a:xfrm>
            <a:off x="4663440" y="3584448"/>
            <a:ext cx="4315968" cy="310896"/>
          </a:xfrm>
          <a:prstGeom prst="rect">
            <a:avLst/>
          </a:prstGeom>
          <a:solidFill>
            <a:srgbClr val="3A3A3A"/>
          </a:solidFill>
          <a:ln w="12700">
            <a:solidFill>
              <a:srgbClr val="3A3A3A"/>
            </a:solidFill>
            <a:prstDash val="solid"/>
          </a:ln>
        </p:spPr>
      </p:sp>
      <p:sp>
        <p:nvSpPr>
          <p:cNvPr id="35" name="Text 33"/>
          <p:cNvSpPr/>
          <p:nvPr/>
        </p:nvSpPr>
        <p:spPr>
          <a:xfrm>
            <a:off x="4754880" y="3584448"/>
            <a:ext cx="4133088"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06  Test Closure</a:t>
            </a:r>
            <a:endParaRPr lang="en-US" sz="1150" dirty="0"/>
          </a:p>
        </p:txBody>
      </p:sp>
      <p:sp>
        <p:nvSpPr>
          <p:cNvPr id="36" name="Text 34"/>
          <p:cNvSpPr/>
          <p:nvPr/>
        </p:nvSpPr>
        <p:spPr>
          <a:xfrm>
            <a:off x="4773168" y="3931920"/>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Testing is formally concluded. Metrics are compiled. Test Summary Report is written. Lessons learned are documented. Exit criteria are verified. QA sign-off is issued for release.</a:t>
            </a:r>
            <a:endParaRPr lang="en-US" sz="950" dirty="0"/>
          </a:p>
        </p:txBody>
      </p:sp>
      <p:sp>
        <p:nvSpPr>
          <p:cNvPr id="37" name="Text 35"/>
          <p:cNvSpPr/>
          <p:nvPr/>
        </p:nvSpPr>
        <p:spPr>
          <a:xfrm>
            <a:off x="4773168" y="4535424"/>
            <a:ext cx="4114800" cy="31089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Output: Test Summary Report, Defect Closure Report, Lessons Learned, Sign-Off</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06</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Types of Testing</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 Overview</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Functional · Non-Functional · Manual · Automated</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The Four Dimensions of Software Testing</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06  |  TYPES OF TESTING</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365760"/>
          </a:xfrm>
          <a:prstGeom prst="rect">
            <a:avLst/>
          </a:prstGeom>
          <a:noFill/>
          <a:ln/>
        </p:spPr>
        <p:txBody>
          <a:bodyPr wrap="square" lIns="0" tIns="0" rIns="0" bIns="0" rtlCol="0" anchor="ctr"/>
          <a:lstStyle/>
          <a:p>
            <a:pPr marL="0" indent="0">
              <a:buNone/>
            </a:pPr>
            <a:r>
              <a:rPr lang="en-US" sz="1100" i="1" dirty="0">
                <a:solidFill>
                  <a:srgbClr val="BBBBBB"/>
                </a:solidFill>
                <a:latin typeface="Arial" pitchFamily="34" charset="0"/>
                <a:ea typeface="Arial" pitchFamily="34" charset="-122"/>
                <a:cs typeface="Arial" pitchFamily="34" charset="-120"/>
              </a:rPr>
              <a:t>Every type of testing falls into one or more of these four broad categories. Understanding how they relate helps you plan the right testing approach for any project.</a:t>
            </a:r>
            <a:endParaRPr lang="en-US" sz="1100" dirty="0"/>
          </a:p>
        </p:txBody>
      </p:sp>
      <p:sp>
        <p:nvSpPr>
          <p:cNvPr id="10" name="Shape 8"/>
          <p:cNvSpPr/>
          <p:nvPr/>
        </p:nvSpPr>
        <p:spPr>
          <a:xfrm>
            <a:off x="164592" y="1252728"/>
            <a:ext cx="4315968" cy="178308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1" name="Shape 9"/>
          <p:cNvSpPr/>
          <p:nvPr/>
        </p:nvSpPr>
        <p:spPr>
          <a:xfrm>
            <a:off x="164592" y="1252728"/>
            <a:ext cx="4315968" cy="329184"/>
          </a:xfrm>
          <a:prstGeom prst="rect">
            <a:avLst/>
          </a:prstGeom>
          <a:solidFill>
            <a:srgbClr val="E8650A"/>
          </a:solidFill>
          <a:ln w="12700">
            <a:solidFill>
              <a:srgbClr val="E8650A"/>
            </a:solidFill>
            <a:prstDash val="solid"/>
          </a:ln>
        </p:spPr>
      </p:sp>
      <p:sp>
        <p:nvSpPr>
          <p:cNvPr id="12" name="Text 10"/>
          <p:cNvSpPr/>
          <p:nvPr/>
        </p:nvSpPr>
        <p:spPr>
          <a:xfrm>
            <a:off x="256032" y="1252728"/>
            <a:ext cx="4133088" cy="32918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  Functional Testing</a:t>
            </a:r>
            <a:endParaRPr lang="en-US" sz="1200" dirty="0"/>
          </a:p>
        </p:txBody>
      </p:sp>
      <p:sp>
        <p:nvSpPr>
          <p:cNvPr id="13" name="Text 11"/>
          <p:cNvSpPr/>
          <p:nvPr/>
        </p:nvSpPr>
        <p:spPr>
          <a:xfrm>
            <a:off x="274320" y="1618488"/>
            <a:ext cx="4114800" cy="73152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Verifies that the software functions according to its specified requirements. It tests WHAT the system does — does the login work? Does the checkout process complete? Does the search return correct results?</a:t>
            </a:r>
            <a:endParaRPr lang="en-US" sz="950" dirty="0"/>
          </a:p>
        </p:txBody>
      </p:sp>
      <p:sp>
        <p:nvSpPr>
          <p:cNvPr id="14" name="Text 12"/>
          <p:cNvSpPr/>
          <p:nvPr/>
        </p:nvSpPr>
        <p:spPr>
          <a:xfrm>
            <a:off x="274320" y="2386584"/>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Tools: Selenium, Playwright, Postman (APIs), Cucumber (BDD)</a:t>
            </a:r>
            <a:endParaRPr lang="en-US" sz="900" dirty="0"/>
          </a:p>
        </p:txBody>
      </p:sp>
      <p:sp>
        <p:nvSpPr>
          <p:cNvPr id="15" name="Text 13"/>
          <p:cNvSpPr/>
          <p:nvPr/>
        </p:nvSpPr>
        <p:spPr>
          <a:xfrm>
            <a:off x="274320" y="2624328"/>
            <a:ext cx="4114800" cy="347472"/>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Smoke Testing: Basic sanity check after a new build</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Regression Testing: Ensure new code doesn't break old features</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+more</a:t>
            </a:r>
            <a:endParaRPr lang="en-US" sz="900" dirty="0"/>
          </a:p>
        </p:txBody>
      </p:sp>
      <p:sp>
        <p:nvSpPr>
          <p:cNvPr id="16" name="Shape 14"/>
          <p:cNvSpPr/>
          <p:nvPr/>
        </p:nvSpPr>
        <p:spPr>
          <a:xfrm>
            <a:off x="4663440" y="1252728"/>
            <a:ext cx="4315968" cy="178308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7" name="Shape 15"/>
          <p:cNvSpPr/>
          <p:nvPr/>
        </p:nvSpPr>
        <p:spPr>
          <a:xfrm>
            <a:off x="4663440" y="1252728"/>
            <a:ext cx="4315968" cy="329184"/>
          </a:xfrm>
          <a:prstGeom prst="rect">
            <a:avLst/>
          </a:prstGeom>
          <a:solidFill>
            <a:srgbClr val="4A90D9"/>
          </a:solidFill>
          <a:ln w="12700">
            <a:solidFill>
              <a:srgbClr val="4A90D9"/>
            </a:solidFill>
            <a:prstDash val="solid"/>
          </a:ln>
        </p:spPr>
      </p:sp>
      <p:sp>
        <p:nvSpPr>
          <p:cNvPr id="18" name="Text 16"/>
          <p:cNvSpPr/>
          <p:nvPr/>
        </p:nvSpPr>
        <p:spPr>
          <a:xfrm>
            <a:off x="4754880" y="1252728"/>
            <a:ext cx="4133088" cy="32918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  Non-Functional Testing</a:t>
            </a:r>
            <a:endParaRPr lang="en-US" sz="1200" dirty="0"/>
          </a:p>
        </p:txBody>
      </p:sp>
      <p:sp>
        <p:nvSpPr>
          <p:cNvPr id="19" name="Text 17"/>
          <p:cNvSpPr/>
          <p:nvPr/>
        </p:nvSpPr>
        <p:spPr>
          <a:xfrm>
            <a:off x="4773168" y="1618488"/>
            <a:ext cx="4114800" cy="73152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Verifies HOW the system performs under various conditions — not just if it works, but how well. Covers performance, reliability, usability, security, and scalability. Often overlooked by beginners but critical for production readiness.</a:t>
            </a:r>
            <a:endParaRPr lang="en-US" sz="950" dirty="0"/>
          </a:p>
        </p:txBody>
      </p:sp>
      <p:sp>
        <p:nvSpPr>
          <p:cNvPr id="20" name="Text 18"/>
          <p:cNvSpPr/>
          <p:nvPr/>
        </p:nvSpPr>
        <p:spPr>
          <a:xfrm>
            <a:off x="4773168" y="2386584"/>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Tools: JMeter, Gatling (Performance), OWASP ZAP (Security), Lighthouse (UX)</a:t>
            </a:r>
            <a:endParaRPr lang="en-US" sz="900" dirty="0"/>
          </a:p>
        </p:txBody>
      </p:sp>
      <p:sp>
        <p:nvSpPr>
          <p:cNvPr id="21" name="Text 19"/>
          <p:cNvSpPr/>
          <p:nvPr/>
        </p:nvSpPr>
        <p:spPr>
          <a:xfrm>
            <a:off x="4773168" y="2624328"/>
            <a:ext cx="4114800" cy="347472"/>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Performance Testing: Speed under normal load</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Load Testing: Behaviour under peak concurrent users</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+more</a:t>
            </a:r>
            <a:endParaRPr lang="en-US" sz="900" dirty="0"/>
          </a:p>
        </p:txBody>
      </p:sp>
      <p:sp>
        <p:nvSpPr>
          <p:cNvPr id="22" name="Shape 20"/>
          <p:cNvSpPr/>
          <p:nvPr/>
        </p:nvSpPr>
        <p:spPr>
          <a:xfrm>
            <a:off x="164592" y="3127248"/>
            <a:ext cx="4315968" cy="178308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3" name="Shape 21"/>
          <p:cNvSpPr/>
          <p:nvPr/>
        </p:nvSpPr>
        <p:spPr>
          <a:xfrm>
            <a:off x="164592" y="3127248"/>
            <a:ext cx="4315968" cy="329184"/>
          </a:xfrm>
          <a:prstGeom prst="rect">
            <a:avLst/>
          </a:prstGeom>
          <a:solidFill>
            <a:srgbClr val="2E8B57"/>
          </a:solidFill>
          <a:ln w="12700">
            <a:solidFill>
              <a:srgbClr val="2E8B57"/>
            </a:solidFill>
            <a:prstDash val="solid"/>
          </a:ln>
        </p:spPr>
      </p:sp>
      <p:sp>
        <p:nvSpPr>
          <p:cNvPr id="24" name="Text 22"/>
          <p:cNvSpPr/>
          <p:nvPr/>
        </p:nvSpPr>
        <p:spPr>
          <a:xfrm>
            <a:off x="256032" y="3127248"/>
            <a:ext cx="4133088" cy="32918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  Manual Testing</a:t>
            </a:r>
            <a:endParaRPr lang="en-US" sz="1200" dirty="0"/>
          </a:p>
        </p:txBody>
      </p:sp>
      <p:sp>
        <p:nvSpPr>
          <p:cNvPr id="25" name="Text 23"/>
          <p:cNvSpPr/>
          <p:nvPr/>
        </p:nvSpPr>
        <p:spPr>
          <a:xfrm>
            <a:off x="274320" y="3493008"/>
            <a:ext cx="4114800" cy="73152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Test cases are executed by a human tester without the use of automation tools. The tester interacts directly with the application, observes behaviour, and compares actual results to expected results. Ideal for exploratory, usability, and complex-scenario testing.</a:t>
            </a:r>
            <a:endParaRPr lang="en-US" sz="950" dirty="0"/>
          </a:p>
        </p:txBody>
      </p:sp>
      <p:sp>
        <p:nvSpPr>
          <p:cNvPr id="26" name="Text 24"/>
          <p:cNvSpPr/>
          <p:nvPr/>
        </p:nvSpPr>
        <p:spPr>
          <a:xfrm>
            <a:off x="274320" y="4261104"/>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Tools: Jira (defect tracking), TestRail / Zephyr (test management), Browser DevTools</a:t>
            </a:r>
            <a:endParaRPr lang="en-US" sz="900" dirty="0"/>
          </a:p>
        </p:txBody>
      </p:sp>
      <p:sp>
        <p:nvSpPr>
          <p:cNvPr id="27" name="Text 25"/>
          <p:cNvSpPr/>
          <p:nvPr/>
        </p:nvSpPr>
        <p:spPr>
          <a:xfrm>
            <a:off x="274320" y="4498848"/>
            <a:ext cx="4114800" cy="347472"/>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Exploratory Testing: Unscripted investigation</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Usability Testing: Human perception of UX</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+more</a:t>
            </a:r>
            <a:endParaRPr lang="en-US" sz="900" dirty="0"/>
          </a:p>
        </p:txBody>
      </p:sp>
      <p:sp>
        <p:nvSpPr>
          <p:cNvPr id="28" name="Shape 26"/>
          <p:cNvSpPr/>
          <p:nvPr/>
        </p:nvSpPr>
        <p:spPr>
          <a:xfrm>
            <a:off x="4663440" y="3127248"/>
            <a:ext cx="4315968" cy="178308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9" name="Shape 27"/>
          <p:cNvSpPr/>
          <p:nvPr/>
        </p:nvSpPr>
        <p:spPr>
          <a:xfrm>
            <a:off x="4663440" y="3127248"/>
            <a:ext cx="4315968" cy="329184"/>
          </a:xfrm>
          <a:prstGeom prst="rect">
            <a:avLst/>
          </a:prstGeom>
          <a:solidFill>
            <a:srgbClr val="8B4513"/>
          </a:solidFill>
          <a:ln w="12700">
            <a:solidFill>
              <a:srgbClr val="8B4513"/>
            </a:solidFill>
            <a:prstDash val="solid"/>
          </a:ln>
        </p:spPr>
      </p:sp>
      <p:sp>
        <p:nvSpPr>
          <p:cNvPr id="30" name="Text 28"/>
          <p:cNvSpPr/>
          <p:nvPr/>
        </p:nvSpPr>
        <p:spPr>
          <a:xfrm>
            <a:off x="4754880" y="3127248"/>
            <a:ext cx="4133088" cy="32918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  Automated Testing</a:t>
            </a:r>
            <a:endParaRPr lang="en-US" sz="1200" dirty="0"/>
          </a:p>
        </p:txBody>
      </p:sp>
      <p:sp>
        <p:nvSpPr>
          <p:cNvPr id="31" name="Text 29"/>
          <p:cNvSpPr/>
          <p:nvPr/>
        </p:nvSpPr>
        <p:spPr>
          <a:xfrm>
            <a:off x="4773168" y="3493008"/>
            <a:ext cx="4114800" cy="73152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Test scripts are written in code and executed by automation tools without human intervention. Ideal for repetitive, stable, high-volume tests such as regression suites. Provides fast feedback on code changes in CI/CD pipelines.</a:t>
            </a:r>
            <a:endParaRPr lang="en-US" sz="950" dirty="0"/>
          </a:p>
        </p:txBody>
      </p:sp>
      <p:sp>
        <p:nvSpPr>
          <p:cNvPr id="32" name="Text 30"/>
          <p:cNvSpPr/>
          <p:nvPr/>
        </p:nvSpPr>
        <p:spPr>
          <a:xfrm>
            <a:off x="4773168" y="4261104"/>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Tools: Selenium (Java/Python), Playwright (TypeScript/JS), IntelliJ, Eclipse, Jenkins</a:t>
            </a:r>
            <a:endParaRPr lang="en-US" sz="900" dirty="0"/>
          </a:p>
        </p:txBody>
      </p:sp>
      <p:sp>
        <p:nvSpPr>
          <p:cNvPr id="33" name="Text 31"/>
          <p:cNvSpPr/>
          <p:nvPr/>
        </p:nvSpPr>
        <p:spPr>
          <a:xfrm>
            <a:off x="4773168" y="4498848"/>
            <a:ext cx="4114800" cy="347472"/>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Regression Automation: Run 500 tests in 20 minutes</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API Testing: Validate endpoints automatically</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+more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07</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Levels of Testing</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Unit · Integration · System · User Acceptance Testing</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The 4 Levels of Testing — The Testing Pyramid</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07  |  LEVELS</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Text 6"/>
          <p:cNvSpPr/>
          <p:nvPr/>
        </p:nvSpPr>
        <p:spPr>
          <a:xfrm>
            <a:off x="164592" y="804672"/>
            <a:ext cx="8823960" cy="347472"/>
          </a:xfrm>
          <a:prstGeom prst="rect">
            <a:avLst/>
          </a:prstGeom>
          <a:noFill/>
          <a:ln/>
        </p:spPr>
        <p:txBody>
          <a:bodyPr wrap="square" lIns="0" tIns="0" rIns="0" bIns="0" rtlCol="0" anchor="ctr"/>
          <a:lstStyle/>
          <a:p>
            <a:pPr marL="0" indent="0">
              <a:buNone/>
            </a:pPr>
            <a:r>
              <a:rPr lang="en-US" sz="1100" i="1" dirty="0">
                <a:solidFill>
                  <a:srgbClr val="444444"/>
                </a:solidFill>
                <a:latin typeface="Arial" pitchFamily="34" charset="0"/>
                <a:ea typeface="Arial" pitchFamily="34" charset="-122"/>
                <a:cs typeface="Arial" pitchFamily="34" charset="-120"/>
              </a:rPr>
              <a:t>Tests are organised into levels that correspond to stages of software development. Lower levels = faster, cheaper, more numerous. Higher levels = slower, more complex, fewer in number.</a:t>
            </a:r>
            <a:endParaRPr lang="en-US" sz="1100" dirty="0"/>
          </a:p>
        </p:txBody>
      </p:sp>
      <p:sp>
        <p:nvSpPr>
          <p:cNvPr id="9" name="Shape 7"/>
          <p:cNvSpPr/>
          <p:nvPr/>
        </p:nvSpPr>
        <p:spPr>
          <a:xfrm>
            <a:off x="2011680" y="1234440"/>
            <a:ext cx="5120640" cy="841248"/>
          </a:xfrm>
          <a:prstGeom prst="rect">
            <a:avLst/>
          </a:prstGeom>
          <a:solidFill>
            <a:srgbClr val="0C0C0C"/>
          </a:solidFill>
          <a:ln w="12700">
            <a:solidFill>
              <a:srgbClr val="0C0C0C"/>
            </a:solidFill>
            <a:prstDash val="solid"/>
          </a:ln>
          <a:effectLst>
            <a:outerShdw blurRad="63500" dist="25400" dir="8100000" algn="bl" rotWithShape="0">
              <a:srgbClr val="000000">
                <a:alpha val="9000"/>
              </a:srgbClr>
            </a:outerShdw>
          </a:effectLst>
        </p:spPr>
      </p:sp>
      <p:sp>
        <p:nvSpPr>
          <p:cNvPr id="10" name="Text 8"/>
          <p:cNvSpPr/>
          <p:nvPr/>
        </p:nvSpPr>
        <p:spPr>
          <a:xfrm>
            <a:off x="2121408" y="1280160"/>
            <a:ext cx="2743200" cy="237744"/>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L1 — UNIT TESTING</a:t>
            </a:r>
            <a:endParaRPr lang="en-US" sz="1100" dirty="0"/>
          </a:p>
        </p:txBody>
      </p:sp>
      <p:sp>
        <p:nvSpPr>
          <p:cNvPr id="11" name="Text 9"/>
          <p:cNvSpPr/>
          <p:nvPr/>
        </p:nvSpPr>
        <p:spPr>
          <a:xfrm>
            <a:off x="2121408" y="1508760"/>
            <a:ext cx="2560320" cy="182880"/>
          </a:xfrm>
          <a:prstGeom prst="rect">
            <a:avLst/>
          </a:prstGeom>
          <a:noFill/>
          <a:ln/>
        </p:spPr>
        <p:txBody>
          <a:bodyPr wrap="square" lIns="0" tIns="0" rIns="0" bIns="0" rtlCol="0" anchor="ctr"/>
          <a:lstStyle/>
          <a:p>
            <a:pPr marL="0" indent="0">
              <a:buNone/>
            </a:pPr>
            <a:r>
              <a:rPr lang="en-US" sz="900" dirty="0">
                <a:solidFill>
                  <a:srgbClr val="E8650A"/>
                </a:solidFill>
                <a:latin typeface="Arial" pitchFamily="34" charset="0"/>
                <a:ea typeface="Arial" pitchFamily="34" charset="-122"/>
                <a:cs typeface="Arial" pitchFamily="34" charset="-120"/>
              </a:rPr>
              <a:t>Who: Written by Developers</a:t>
            </a:r>
            <a:endParaRPr lang="en-US" sz="900" dirty="0"/>
          </a:p>
        </p:txBody>
      </p:sp>
      <p:sp>
        <p:nvSpPr>
          <p:cNvPr id="12" name="Text 10"/>
          <p:cNvSpPr/>
          <p:nvPr/>
        </p:nvSpPr>
        <p:spPr>
          <a:xfrm>
            <a:off x="2121408" y="1691640"/>
            <a:ext cx="320040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Tools: JUnit / TestNG (Java), PyTest (Python), NUnit (.NET)</a:t>
            </a:r>
            <a:endParaRPr lang="en-US" sz="850" dirty="0"/>
          </a:p>
        </p:txBody>
      </p:sp>
      <p:sp>
        <p:nvSpPr>
          <p:cNvPr id="13" name="Text 11"/>
          <p:cNvSpPr/>
          <p:nvPr/>
        </p:nvSpPr>
        <p:spPr>
          <a:xfrm>
            <a:off x="3950208" y="1297747"/>
            <a:ext cx="3273552" cy="275022"/>
          </a:xfrm>
          <a:prstGeom prst="rect">
            <a:avLst/>
          </a:prstGeom>
          <a:noFill/>
          <a:ln/>
        </p:spPr>
        <p:txBody>
          <a:bodyPr wrap="square" lIns="0" tIns="0" rIns="0" bIns="0" rtlCol="0" anchor="ctr"/>
          <a:lstStyle/>
          <a:p>
            <a:pPr marL="0" indent="0">
              <a:buNone/>
            </a:pPr>
            <a:r>
              <a:rPr lang="en-US" sz="800" dirty="0">
                <a:solidFill>
                  <a:srgbClr val="BBBBBB"/>
                </a:solidFill>
                <a:latin typeface="Arial" pitchFamily="34" charset="0"/>
                <a:ea typeface="Arial" pitchFamily="34" charset="-122"/>
                <a:cs typeface="Arial" pitchFamily="34" charset="-120"/>
              </a:rPr>
              <a:t>Tests individual functions, methods, or classes in complete isolation from the rest of the system. External dependencies (databases, APIs) are replaced with 'mocks' or 'stubs'.</a:t>
            </a:r>
            <a:endParaRPr lang="en-US" sz="800" dirty="0"/>
          </a:p>
        </p:txBody>
      </p:sp>
      <p:sp>
        <p:nvSpPr>
          <p:cNvPr id="14" name="Text 12"/>
          <p:cNvSpPr/>
          <p:nvPr/>
        </p:nvSpPr>
        <p:spPr>
          <a:xfrm>
            <a:off x="5029200" y="1709928"/>
            <a:ext cx="2103120" cy="329184"/>
          </a:xfrm>
          <a:prstGeom prst="rect">
            <a:avLst/>
          </a:prstGeom>
          <a:noFill/>
          <a:ln/>
        </p:spPr>
        <p:txBody>
          <a:bodyPr wrap="square" lIns="0" tIns="0" rIns="0" bIns="0" rtlCol="0" anchor="ctr"/>
          <a:lstStyle/>
          <a:p>
            <a:pPr marL="0" indent="0">
              <a:buNone/>
            </a:pPr>
            <a:r>
              <a:rPr lang="en-US" sz="800" i="1" dirty="0">
                <a:solidFill>
                  <a:srgbClr val="FFFFFF"/>
                </a:solidFill>
                <a:latin typeface="Arial" pitchFamily="34" charset="0"/>
                <a:ea typeface="Arial" pitchFamily="34" charset="-122"/>
                <a:cs typeface="Arial" pitchFamily="34" charset="-120"/>
              </a:rPr>
              <a:t>📌 A unit test verifies that the calculateDiscount(price, rate) method returns 90 when given price=100 and rate=10.</a:t>
            </a:r>
            <a:endParaRPr lang="en-US" sz="800" dirty="0"/>
          </a:p>
        </p:txBody>
      </p:sp>
      <p:sp>
        <p:nvSpPr>
          <p:cNvPr id="15" name="Shape 13"/>
          <p:cNvSpPr/>
          <p:nvPr/>
        </p:nvSpPr>
        <p:spPr>
          <a:xfrm>
            <a:off x="1188720" y="2148840"/>
            <a:ext cx="6766560" cy="841248"/>
          </a:xfrm>
          <a:prstGeom prst="rect">
            <a:avLst/>
          </a:prstGeom>
          <a:solidFill>
            <a:srgbClr val="1A3A5C"/>
          </a:solidFill>
          <a:ln w="12700">
            <a:solidFill>
              <a:srgbClr val="1A3A5C"/>
            </a:solidFill>
            <a:prstDash val="solid"/>
          </a:ln>
          <a:effectLst>
            <a:outerShdw blurRad="63500" dist="25400" dir="8100000" algn="bl" rotWithShape="0">
              <a:srgbClr val="000000">
                <a:alpha val="9000"/>
              </a:srgbClr>
            </a:outerShdw>
          </a:effectLst>
        </p:spPr>
      </p:sp>
      <p:sp>
        <p:nvSpPr>
          <p:cNvPr id="16" name="Text 14"/>
          <p:cNvSpPr/>
          <p:nvPr/>
        </p:nvSpPr>
        <p:spPr>
          <a:xfrm>
            <a:off x="1298448" y="2194560"/>
            <a:ext cx="2743200" cy="237744"/>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L2 — INTEGRATION TESTING</a:t>
            </a:r>
            <a:endParaRPr lang="en-US" sz="1100" dirty="0"/>
          </a:p>
        </p:txBody>
      </p:sp>
      <p:sp>
        <p:nvSpPr>
          <p:cNvPr id="17" name="Text 15"/>
          <p:cNvSpPr/>
          <p:nvPr/>
        </p:nvSpPr>
        <p:spPr>
          <a:xfrm>
            <a:off x="1298448" y="2423160"/>
            <a:ext cx="2560320" cy="182880"/>
          </a:xfrm>
          <a:prstGeom prst="rect">
            <a:avLst/>
          </a:prstGeom>
          <a:noFill/>
          <a:ln/>
        </p:spPr>
        <p:txBody>
          <a:bodyPr wrap="square" lIns="0" tIns="0" rIns="0" bIns="0" rtlCol="0" anchor="ctr"/>
          <a:lstStyle/>
          <a:p>
            <a:pPr marL="0" indent="0">
              <a:buNone/>
            </a:pPr>
            <a:r>
              <a:rPr lang="en-US" sz="900" dirty="0">
                <a:solidFill>
                  <a:srgbClr val="E8650A"/>
                </a:solidFill>
                <a:latin typeface="Arial" pitchFamily="34" charset="0"/>
                <a:ea typeface="Arial" pitchFamily="34" charset="-122"/>
                <a:cs typeface="Arial" pitchFamily="34" charset="-120"/>
              </a:rPr>
              <a:t>Who: Testers or Developers</a:t>
            </a:r>
            <a:endParaRPr lang="en-US" sz="900" dirty="0"/>
          </a:p>
        </p:txBody>
      </p:sp>
      <p:sp>
        <p:nvSpPr>
          <p:cNvPr id="18" name="Text 16"/>
          <p:cNvSpPr/>
          <p:nvPr/>
        </p:nvSpPr>
        <p:spPr>
          <a:xfrm>
            <a:off x="1298448" y="2606040"/>
            <a:ext cx="320040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Tools: Selenium (basic), REST-Assured, Postman</a:t>
            </a:r>
            <a:endParaRPr lang="en-US" sz="850" dirty="0"/>
          </a:p>
        </p:txBody>
      </p:sp>
      <p:sp>
        <p:nvSpPr>
          <p:cNvPr id="19" name="Text 17"/>
          <p:cNvSpPr/>
          <p:nvPr/>
        </p:nvSpPr>
        <p:spPr>
          <a:xfrm>
            <a:off x="4206240" y="2194560"/>
            <a:ext cx="3566160" cy="38404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Tests how multiple components or modules WORK TOGETHER. Validates data flow between integrated units, API contracts, and database interactions.</a:t>
            </a:r>
            <a:endParaRPr lang="en-US" sz="950" dirty="0"/>
          </a:p>
        </p:txBody>
      </p:sp>
      <p:sp>
        <p:nvSpPr>
          <p:cNvPr id="20" name="Text 18"/>
          <p:cNvSpPr/>
          <p:nvPr/>
        </p:nvSpPr>
        <p:spPr>
          <a:xfrm>
            <a:off x="4206240" y="2624328"/>
            <a:ext cx="3566160" cy="329184"/>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 Integration test verifies: User registers → DB record created → confirmation email triggered by email service — all 3 components validated together.</a:t>
            </a:r>
            <a:endParaRPr lang="en-US" sz="900" dirty="0"/>
          </a:p>
        </p:txBody>
      </p:sp>
      <p:sp>
        <p:nvSpPr>
          <p:cNvPr id="21" name="Shape 19"/>
          <p:cNvSpPr/>
          <p:nvPr/>
        </p:nvSpPr>
        <p:spPr>
          <a:xfrm>
            <a:off x="457200" y="3063240"/>
            <a:ext cx="8229600" cy="841248"/>
          </a:xfrm>
          <a:prstGeom prst="rect">
            <a:avLst/>
          </a:prstGeom>
          <a:solidFill>
            <a:srgbClr val="B84D00"/>
          </a:solidFill>
          <a:ln w="12700">
            <a:solidFill>
              <a:srgbClr val="B84D00"/>
            </a:solidFill>
            <a:prstDash val="solid"/>
          </a:ln>
          <a:effectLst>
            <a:outerShdw blurRad="63500" dist="25400" dir="8100000" algn="bl" rotWithShape="0">
              <a:srgbClr val="000000">
                <a:alpha val="9000"/>
              </a:srgbClr>
            </a:outerShdw>
          </a:effectLst>
        </p:spPr>
      </p:sp>
      <p:sp>
        <p:nvSpPr>
          <p:cNvPr id="22" name="Text 20"/>
          <p:cNvSpPr/>
          <p:nvPr/>
        </p:nvSpPr>
        <p:spPr>
          <a:xfrm>
            <a:off x="566928" y="3108960"/>
            <a:ext cx="2743200" cy="237744"/>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L3 — SYSTEM TESTING</a:t>
            </a:r>
            <a:endParaRPr lang="en-US" sz="1100" dirty="0"/>
          </a:p>
        </p:txBody>
      </p:sp>
      <p:sp>
        <p:nvSpPr>
          <p:cNvPr id="23" name="Text 21"/>
          <p:cNvSpPr/>
          <p:nvPr/>
        </p:nvSpPr>
        <p:spPr>
          <a:xfrm>
            <a:off x="566928" y="3337560"/>
            <a:ext cx="2560320" cy="182880"/>
          </a:xfrm>
          <a:prstGeom prst="rect">
            <a:avLst/>
          </a:prstGeom>
          <a:noFill/>
          <a:ln/>
        </p:spPr>
        <p:txBody>
          <a:bodyPr wrap="square" lIns="0" tIns="0" rIns="0" bIns="0" rtlCol="0" anchor="ctr"/>
          <a:lstStyle/>
          <a:p>
            <a:pPr marL="0" indent="0">
              <a:buNone/>
            </a:pPr>
            <a:r>
              <a:rPr lang="en-US" sz="900" dirty="0">
                <a:solidFill>
                  <a:srgbClr val="E8650A"/>
                </a:solidFill>
                <a:latin typeface="Arial" pitchFamily="34" charset="0"/>
                <a:ea typeface="Arial" pitchFamily="34" charset="-122"/>
                <a:cs typeface="Arial" pitchFamily="34" charset="-120"/>
              </a:rPr>
              <a:t>Who: QA Team</a:t>
            </a:r>
            <a:endParaRPr lang="en-US" sz="900" dirty="0"/>
          </a:p>
        </p:txBody>
      </p:sp>
      <p:sp>
        <p:nvSpPr>
          <p:cNvPr id="24" name="Text 22"/>
          <p:cNvSpPr/>
          <p:nvPr/>
        </p:nvSpPr>
        <p:spPr>
          <a:xfrm>
            <a:off x="566928" y="3520440"/>
            <a:ext cx="320040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Tools: Selenium, Playwright, Postman, JMeter</a:t>
            </a:r>
            <a:endParaRPr lang="en-US" sz="850" dirty="0"/>
          </a:p>
        </p:txBody>
      </p:sp>
      <p:sp>
        <p:nvSpPr>
          <p:cNvPr id="25" name="Text 23"/>
          <p:cNvSpPr/>
          <p:nvPr/>
        </p:nvSpPr>
        <p:spPr>
          <a:xfrm>
            <a:off x="3474720" y="3108960"/>
            <a:ext cx="5029200" cy="38404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Tests the COMPLETE, INTEGRATED system against the full specification. Functional, performance, security, and regression tests are all executed at system level.</a:t>
            </a:r>
            <a:endParaRPr lang="en-US" sz="950" dirty="0"/>
          </a:p>
        </p:txBody>
      </p:sp>
      <p:sp>
        <p:nvSpPr>
          <p:cNvPr id="26" name="Text 24"/>
          <p:cNvSpPr/>
          <p:nvPr/>
        </p:nvSpPr>
        <p:spPr>
          <a:xfrm>
            <a:off x="3474720" y="3538728"/>
            <a:ext cx="5029200" cy="329184"/>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 System test: Complete order placement journey — product search → add to cart → enter delivery → payment → order confirmation → stock reduction in DB.</a:t>
            </a:r>
            <a:endParaRPr lang="en-US" sz="900" dirty="0"/>
          </a:p>
        </p:txBody>
      </p:sp>
      <p:sp>
        <p:nvSpPr>
          <p:cNvPr id="27" name="Shape 25"/>
          <p:cNvSpPr/>
          <p:nvPr/>
        </p:nvSpPr>
        <p:spPr>
          <a:xfrm>
            <a:off x="164592" y="3977640"/>
            <a:ext cx="8823960" cy="841248"/>
          </a:xfrm>
          <a:prstGeom prst="rect">
            <a:avLst/>
          </a:prstGeom>
          <a:solidFill>
            <a:srgbClr val="2E5E2E"/>
          </a:solidFill>
          <a:ln w="12700">
            <a:solidFill>
              <a:srgbClr val="2E5E2E"/>
            </a:solidFill>
            <a:prstDash val="solid"/>
          </a:ln>
          <a:effectLst>
            <a:outerShdw blurRad="63500" dist="25400" dir="8100000" algn="bl" rotWithShape="0">
              <a:srgbClr val="000000">
                <a:alpha val="9000"/>
              </a:srgbClr>
            </a:outerShdw>
          </a:effectLst>
        </p:spPr>
      </p:sp>
      <p:sp>
        <p:nvSpPr>
          <p:cNvPr id="28" name="Text 26"/>
          <p:cNvSpPr/>
          <p:nvPr/>
        </p:nvSpPr>
        <p:spPr>
          <a:xfrm>
            <a:off x="274320" y="4023360"/>
            <a:ext cx="2743200" cy="237744"/>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L4 — UAT TESTING</a:t>
            </a:r>
            <a:endParaRPr lang="en-US" sz="1100" dirty="0"/>
          </a:p>
        </p:txBody>
      </p:sp>
      <p:sp>
        <p:nvSpPr>
          <p:cNvPr id="29" name="Text 27"/>
          <p:cNvSpPr/>
          <p:nvPr/>
        </p:nvSpPr>
        <p:spPr>
          <a:xfrm>
            <a:off x="274320" y="4251960"/>
            <a:ext cx="2560320" cy="182880"/>
          </a:xfrm>
          <a:prstGeom prst="rect">
            <a:avLst/>
          </a:prstGeom>
          <a:noFill/>
          <a:ln/>
        </p:spPr>
        <p:txBody>
          <a:bodyPr wrap="square" lIns="0" tIns="0" rIns="0" bIns="0" rtlCol="0" anchor="ctr"/>
          <a:lstStyle/>
          <a:p>
            <a:pPr marL="0" indent="0">
              <a:buNone/>
            </a:pPr>
            <a:r>
              <a:rPr lang="en-US" sz="900" dirty="0">
                <a:solidFill>
                  <a:srgbClr val="E8650A"/>
                </a:solidFill>
                <a:latin typeface="Arial" pitchFamily="34" charset="0"/>
                <a:ea typeface="Arial" pitchFamily="34" charset="-122"/>
                <a:cs typeface="Arial" pitchFamily="34" charset="-120"/>
              </a:rPr>
              <a:t>Who: Business Users / Clients</a:t>
            </a:r>
            <a:endParaRPr lang="en-US" sz="900" dirty="0"/>
          </a:p>
        </p:txBody>
      </p:sp>
      <p:sp>
        <p:nvSpPr>
          <p:cNvPr id="30" name="Text 28"/>
          <p:cNvSpPr/>
          <p:nvPr/>
        </p:nvSpPr>
        <p:spPr>
          <a:xfrm>
            <a:off x="274320" y="4434840"/>
            <a:ext cx="320040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Tools: Manual execution, TestRail for tracking</a:t>
            </a:r>
            <a:endParaRPr lang="en-US" sz="850" dirty="0"/>
          </a:p>
        </p:txBody>
      </p:sp>
      <p:sp>
        <p:nvSpPr>
          <p:cNvPr id="31" name="Text 29"/>
          <p:cNvSpPr/>
          <p:nvPr/>
        </p:nvSpPr>
        <p:spPr>
          <a:xfrm>
            <a:off x="3182112" y="4023360"/>
            <a:ext cx="5623560" cy="384048"/>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The FINAL level before production release. Business users validate the software meets real-world business requirements. Formal sign-off is obtained. Defects at this stage are expensive.</a:t>
            </a:r>
            <a:endParaRPr lang="en-US" sz="950" dirty="0"/>
          </a:p>
        </p:txBody>
      </p:sp>
      <p:sp>
        <p:nvSpPr>
          <p:cNvPr id="32" name="Text 30"/>
          <p:cNvSpPr/>
          <p:nvPr/>
        </p:nvSpPr>
        <p:spPr>
          <a:xfrm>
            <a:off x="3182112" y="4453128"/>
            <a:ext cx="5623560" cy="329184"/>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 Business analyst tests: 'Can I process an end-of-month payroll run for 500 employees and generate the correct BACS file and payslips?'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08</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Testing Methods</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Black Box · White Box · Grey Box Testing</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Black Box, White Box &amp; Grey Box Testing</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08  |  TESTING METHODS</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329184"/>
          </a:xfrm>
          <a:prstGeom prst="rect">
            <a:avLst/>
          </a:prstGeom>
          <a:noFill/>
          <a:ln/>
        </p:spPr>
        <p:txBody>
          <a:bodyPr wrap="square" lIns="0" tIns="0" rIns="0" bIns="0" rtlCol="0" anchor="ctr"/>
          <a:lstStyle/>
          <a:p>
            <a:pPr marL="0" indent="0">
              <a:buNone/>
            </a:pPr>
            <a:r>
              <a:rPr lang="en-US" sz="1100" i="1" dirty="0">
                <a:solidFill>
                  <a:srgbClr val="BBBBBB"/>
                </a:solidFill>
                <a:latin typeface="Arial" pitchFamily="34" charset="0"/>
                <a:ea typeface="Arial" pitchFamily="34" charset="-122"/>
                <a:cs typeface="Arial" pitchFamily="34" charset="-120"/>
              </a:rPr>
              <a:t>Testing methods describe WHAT KNOWLEDGE the tester has about the system internals when designing and executing tests:</a:t>
            </a:r>
            <a:endParaRPr lang="en-US" sz="1100" dirty="0"/>
          </a:p>
        </p:txBody>
      </p:sp>
      <p:sp>
        <p:nvSpPr>
          <p:cNvPr id="10" name="Shape 8"/>
          <p:cNvSpPr/>
          <p:nvPr/>
        </p:nvSpPr>
        <p:spPr>
          <a:xfrm>
            <a:off x="164592" y="1188720"/>
            <a:ext cx="2816352" cy="3611880"/>
          </a:xfrm>
          <a:prstGeom prst="rect">
            <a:avLst/>
          </a:prstGeom>
          <a:solidFill>
            <a:srgbClr val="282828"/>
          </a:solidFill>
          <a:ln w="12700">
            <a:solidFill>
              <a:srgbClr val="E8650A"/>
            </a:solidFill>
            <a:prstDash val="solid"/>
          </a:ln>
          <a:effectLst>
            <a:outerShdw blurRad="101600" dist="38100" dir="8100000" algn="bl" rotWithShape="0">
              <a:srgbClr val="000000">
                <a:alpha val="20000"/>
              </a:srgbClr>
            </a:outerShdw>
          </a:effectLst>
        </p:spPr>
      </p:sp>
      <p:sp>
        <p:nvSpPr>
          <p:cNvPr id="11" name="Shape 9"/>
          <p:cNvSpPr/>
          <p:nvPr/>
        </p:nvSpPr>
        <p:spPr>
          <a:xfrm>
            <a:off x="164592" y="1188720"/>
            <a:ext cx="2816352" cy="384048"/>
          </a:xfrm>
          <a:prstGeom prst="rect">
            <a:avLst/>
          </a:prstGeom>
          <a:solidFill>
            <a:srgbClr val="E8650A"/>
          </a:solidFill>
          <a:ln w="12700">
            <a:solidFill>
              <a:srgbClr val="E8650A"/>
            </a:solidFill>
            <a:prstDash val="solid"/>
          </a:ln>
        </p:spPr>
      </p:sp>
      <p:sp>
        <p:nvSpPr>
          <p:cNvPr id="12" name="Text 10"/>
          <p:cNvSpPr/>
          <p:nvPr/>
        </p:nvSpPr>
        <p:spPr>
          <a:xfrm>
            <a:off x="256032" y="1188720"/>
            <a:ext cx="2651760"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BLACK BOX TESTING</a:t>
            </a:r>
            <a:endParaRPr lang="en-US" sz="1050" dirty="0"/>
          </a:p>
        </p:txBody>
      </p:sp>
      <p:sp>
        <p:nvSpPr>
          <p:cNvPr id="13" name="Text 11"/>
          <p:cNvSpPr/>
          <p:nvPr/>
        </p:nvSpPr>
        <p:spPr>
          <a:xfrm>
            <a:off x="256032" y="1609344"/>
            <a:ext cx="2651760" cy="40233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You receive a locked box. You can only interact with the input/output slots — you cannot see inside.</a:t>
            </a:r>
            <a:endParaRPr lang="en-US" sz="900" dirty="0"/>
          </a:p>
        </p:txBody>
      </p:sp>
      <p:sp>
        <p:nvSpPr>
          <p:cNvPr id="14" name="Text 12"/>
          <p:cNvSpPr/>
          <p:nvPr/>
        </p:nvSpPr>
        <p:spPr>
          <a:xfrm>
            <a:off x="256032" y="2048256"/>
            <a:ext cx="2651760" cy="804672"/>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The tester has NO knowledge of the internal code, architecture, or implementation. Test cases are designed entirely from requirements, specifications, and expected user behaviour. The tester focuses on inputs and observable outputs.</a:t>
            </a:r>
            <a:endParaRPr lang="en-US" sz="900" dirty="0"/>
          </a:p>
        </p:txBody>
      </p:sp>
      <p:sp>
        <p:nvSpPr>
          <p:cNvPr id="15" name="Text 13"/>
          <p:cNvSpPr/>
          <p:nvPr/>
        </p:nvSpPr>
        <p:spPr>
          <a:xfrm>
            <a:off x="256032" y="2880360"/>
            <a:ext cx="2651760" cy="182880"/>
          </a:xfrm>
          <a:prstGeom prst="rect">
            <a:avLst/>
          </a:prstGeom>
          <a:noFill/>
          <a:ln/>
        </p:spPr>
        <p:txBody>
          <a:bodyPr wrap="square" lIns="0" tIns="0" rIns="0" bIns="0" rtlCol="0" anchor="ctr"/>
          <a:lstStyle/>
          <a:p>
            <a:pPr marL="0" indent="0">
              <a:buNone/>
            </a:pPr>
            <a:r>
              <a:rPr lang="en-US" sz="850" dirty="0">
                <a:solidFill>
                  <a:srgbClr val="E8650A"/>
                </a:solidFill>
                <a:latin typeface="Arial" pitchFamily="34" charset="0"/>
                <a:ea typeface="Arial" pitchFamily="34" charset="-122"/>
                <a:cs typeface="Arial" pitchFamily="34" charset="-120"/>
              </a:rPr>
              <a:t>Who: QA Testers, Business Analysts, End Users</a:t>
            </a:r>
            <a:endParaRPr lang="en-US" sz="850" dirty="0"/>
          </a:p>
        </p:txBody>
      </p:sp>
      <p:sp>
        <p:nvSpPr>
          <p:cNvPr id="16" name="Text 14"/>
          <p:cNvSpPr/>
          <p:nvPr/>
        </p:nvSpPr>
        <p:spPr>
          <a:xfrm>
            <a:off x="256032" y="3063240"/>
            <a:ext cx="265176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Level: System Testing, UAT</a:t>
            </a:r>
            <a:endParaRPr lang="en-US" sz="850" dirty="0"/>
          </a:p>
        </p:txBody>
      </p:sp>
      <p:sp>
        <p:nvSpPr>
          <p:cNvPr id="17" name="Text 15"/>
          <p:cNvSpPr/>
          <p:nvPr/>
        </p:nvSpPr>
        <p:spPr>
          <a:xfrm>
            <a:off x="256032" y="3273552"/>
            <a:ext cx="2651760" cy="27432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Techniques: Equivalence Partitioning, Boundary Value Analysis, Decision Table, State Transition</a:t>
            </a:r>
            <a:endParaRPr lang="en-US" sz="850" dirty="0"/>
          </a:p>
        </p:txBody>
      </p:sp>
      <p:sp>
        <p:nvSpPr>
          <p:cNvPr id="18" name="Text 16"/>
          <p:cNvSpPr/>
          <p:nvPr/>
        </p:nvSpPr>
        <p:spPr>
          <a:xfrm>
            <a:off x="256032" y="3584448"/>
            <a:ext cx="2651760" cy="402336"/>
          </a:xfrm>
          <a:prstGeom prst="rect">
            <a:avLst/>
          </a:prstGeom>
          <a:noFill/>
          <a:ln/>
        </p:spPr>
        <p:txBody>
          <a:bodyPr wrap="square" lIns="0" tIns="0" rIns="0" bIns="0" rtlCol="0" anchor="ctr"/>
          <a:lstStyle/>
          <a:p>
            <a:pPr marL="0" indent="0">
              <a:buNone/>
            </a:pPr>
            <a:r>
              <a:rPr lang="en-US" sz="850" i="1" dirty="0">
                <a:solidFill>
                  <a:srgbClr val="E8650A"/>
                </a:solidFill>
                <a:latin typeface="Arial" pitchFamily="34" charset="0"/>
                <a:ea typeface="Arial" pitchFamily="34" charset="-122"/>
                <a:cs typeface="Arial" pitchFamily="34" charset="-120"/>
              </a:rPr>
              <a:t>📌 Test login: Enter valid credentials → Expect success. Enter invalid → Expect error message. Do NOT look at the authentication code.</a:t>
            </a:r>
            <a:endParaRPr lang="en-US" sz="850" dirty="0"/>
          </a:p>
        </p:txBody>
      </p:sp>
      <p:sp>
        <p:nvSpPr>
          <p:cNvPr id="19" name="Text 17"/>
          <p:cNvSpPr/>
          <p:nvPr/>
        </p:nvSpPr>
        <p:spPr>
          <a:xfrm>
            <a:off x="256032" y="4023360"/>
            <a:ext cx="2651760" cy="201168"/>
          </a:xfrm>
          <a:prstGeom prst="rect">
            <a:avLst/>
          </a:prstGeom>
          <a:noFill/>
          <a:ln/>
        </p:spPr>
        <p:txBody>
          <a:bodyPr wrap="square" lIns="0" tIns="0" rIns="0" bIns="0" rtlCol="0" anchor="ctr"/>
          <a:lstStyle/>
          <a:p>
            <a:pPr marL="0" indent="0">
              <a:buNone/>
            </a:pPr>
            <a:r>
              <a:rPr lang="en-US" sz="800" dirty="0">
                <a:solidFill>
                  <a:srgbClr val="55DD55"/>
                </a:solidFill>
                <a:latin typeface="Arial" pitchFamily="34" charset="0"/>
                <a:ea typeface="Arial" pitchFamily="34" charset="-122"/>
                <a:cs typeface="Arial" pitchFamily="34" charset="-120"/>
              </a:rPr>
              <a:t>✅ No coding knowledge required  ✅ Tests from user perspective  ✅ Finds requirement gaps</a:t>
            </a:r>
            <a:endParaRPr lang="en-US" sz="800" dirty="0"/>
          </a:p>
        </p:txBody>
      </p:sp>
      <p:sp>
        <p:nvSpPr>
          <p:cNvPr id="20" name="Text 18"/>
          <p:cNvSpPr/>
          <p:nvPr/>
        </p:nvSpPr>
        <p:spPr>
          <a:xfrm>
            <a:off x="256032" y="4224528"/>
            <a:ext cx="2651760" cy="201168"/>
          </a:xfrm>
          <a:prstGeom prst="rect">
            <a:avLst/>
          </a:prstGeom>
          <a:noFill/>
          <a:ln/>
        </p:spPr>
        <p:txBody>
          <a:bodyPr wrap="square" lIns="0" tIns="0" rIns="0" bIns="0" rtlCol="0" anchor="ctr"/>
          <a:lstStyle/>
          <a:p>
            <a:pPr marL="0" indent="0">
              <a:buNone/>
            </a:pPr>
            <a:r>
              <a:rPr lang="en-US" sz="800" dirty="0">
                <a:solidFill>
                  <a:srgbClr val="FF9944"/>
                </a:solidFill>
                <a:latin typeface="Arial" pitchFamily="34" charset="0"/>
                <a:ea typeface="Arial" pitchFamily="34" charset="-122"/>
                <a:cs typeface="Arial" pitchFamily="34" charset="-120"/>
              </a:rPr>
              <a:t>⚠️ Cannot optimise path coverage  ⚠️ May miss internal edge cases</a:t>
            </a:r>
            <a:endParaRPr lang="en-US" sz="800" dirty="0"/>
          </a:p>
        </p:txBody>
      </p:sp>
      <p:sp>
        <p:nvSpPr>
          <p:cNvPr id="21" name="Shape 19"/>
          <p:cNvSpPr/>
          <p:nvPr/>
        </p:nvSpPr>
        <p:spPr>
          <a:xfrm>
            <a:off x="3163824" y="1188720"/>
            <a:ext cx="2816352" cy="3611880"/>
          </a:xfrm>
          <a:prstGeom prst="rect">
            <a:avLst/>
          </a:prstGeom>
          <a:solidFill>
            <a:srgbClr val="282828"/>
          </a:solidFill>
          <a:ln w="12700">
            <a:solidFill>
              <a:srgbClr val="1565C0"/>
            </a:solidFill>
            <a:prstDash val="solid"/>
          </a:ln>
          <a:effectLst>
            <a:outerShdw blurRad="101600" dist="38100" dir="8100000" algn="bl" rotWithShape="0">
              <a:srgbClr val="000000">
                <a:alpha val="20000"/>
              </a:srgbClr>
            </a:outerShdw>
          </a:effectLst>
        </p:spPr>
      </p:sp>
      <p:sp>
        <p:nvSpPr>
          <p:cNvPr id="22" name="Shape 20"/>
          <p:cNvSpPr/>
          <p:nvPr/>
        </p:nvSpPr>
        <p:spPr>
          <a:xfrm>
            <a:off x="3163824" y="1188720"/>
            <a:ext cx="2816352" cy="384048"/>
          </a:xfrm>
          <a:prstGeom prst="rect">
            <a:avLst/>
          </a:prstGeom>
          <a:solidFill>
            <a:srgbClr val="1565C0"/>
          </a:solidFill>
          <a:ln w="12700">
            <a:solidFill>
              <a:srgbClr val="1565C0"/>
            </a:solidFill>
            <a:prstDash val="solid"/>
          </a:ln>
        </p:spPr>
      </p:sp>
      <p:sp>
        <p:nvSpPr>
          <p:cNvPr id="23" name="Text 21"/>
          <p:cNvSpPr/>
          <p:nvPr/>
        </p:nvSpPr>
        <p:spPr>
          <a:xfrm>
            <a:off x="3255264" y="1188720"/>
            <a:ext cx="2651760"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WHITE BOX TESTING</a:t>
            </a:r>
            <a:endParaRPr lang="en-US" sz="1050" dirty="0"/>
          </a:p>
        </p:txBody>
      </p:sp>
      <p:sp>
        <p:nvSpPr>
          <p:cNvPr id="24" name="Text 22"/>
          <p:cNvSpPr/>
          <p:nvPr/>
        </p:nvSpPr>
        <p:spPr>
          <a:xfrm>
            <a:off x="3255264" y="1609344"/>
            <a:ext cx="2651760" cy="40233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The box is transparent glass. You can see every wire, circuit, and mechanism inside.</a:t>
            </a:r>
            <a:endParaRPr lang="en-US" sz="900" dirty="0"/>
          </a:p>
        </p:txBody>
      </p:sp>
      <p:sp>
        <p:nvSpPr>
          <p:cNvPr id="25" name="Text 23"/>
          <p:cNvSpPr/>
          <p:nvPr/>
        </p:nvSpPr>
        <p:spPr>
          <a:xfrm>
            <a:off x="3255264" y="2048256"/>
            <a:ext cx="2651760" cy="804672"/>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The tester has FULL knowledge of the internal code, logic, and architecture. Tests are designed to exercise specific code paths, branches, loops, and conditions. Requires programming knowledge.</a:t>
            </a:r>
            <a:endParaRPr lang="en-US" sz="900" dirty="0"/>
          </a:p>
        </p:txBody>
      </p:sp>
      <p:sp>
        <p:nvSpPr>
          <p:cNvPr id="26" name="Text 24"/>
          <p:cNvSpPr/>
          <p:nvPr/>
        </p:nvSpPr>
        <p:spPr>
          <a:xfrm>
            <a:off x="3255264" y="2880360"/>
            <a:ext cx="2651760" cy="182880"/>
          </a:xfrm>
          <a:prstGeom prst="rect">
            <a:avLst/>
          </a:prstGeom>
          <a:noFill/>
          <a:ln/>
        </p:spPr>
        <p:txBody>
          <a:bodyPr wrap="square" lIns="0" tIns="0" rIns="0" bIns="0" rtlCol="0" anchor="ctr"/>
          <a:lstStyle/>
          <a:p>
            <a:pPr marL="0" indent="0">
              <a:buNone/>
            </a:pPr>
            <a:r>
              <a:rPr lang="en-US" sz="850" dirty="0">
                <a:solidFill>
                  <a:srgbClr val="E8650A"/>
                </a:solidFill>
                <a:latin typeface="Arial" pitchFamily="34" charset="0"/>
                <a:ea typeface="Arial" pitchFamily="34" charset="-122"/>
                <a:cs typeface="Arial" pitchFamily="34" charset="-120"/>
              </a:rPr>
              <a:t>Who: Developers, Senior Automation Engineers</a:t>
            </a:r>
            <a:endParaRPr lang="en-US" sz="850" dirty="0"/>
          </a:p>
        </p:txBody>
      </p:sp>
      <p:sp>
        <p:nvSpPr>
          <p:cNvPr id="27" name="Text 25"/>
          <p:cNvSpPr/>
          <p:nvPr/>
        </p:nvSpPr>
        <p:spPr>
          <a:xfrm>
            <a:off x="3255264" y="3063240"/>
            <a:ext cx="265176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Level: Unit Testing, Integration Testing</a:t>
            </a:r>
            <a:endParaRPr lang="en-US" sz="850" dirty="0"/>
          </a:p>
        </p:txBody>
      </p:sp>
      <p:sp>
        <p:nvSpPr>
          <p:cNvPr id="28" name="Text 26"/>
          <p:cNvSpPr/>
          <p:nvPr/>
        </p:nvSpPr>
        <p:spPr>
          <a:xfrm>
            <a:off x="3255264" y="3273552"/>
            <a:ext cx="2651760" cy="27432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Techniques: Statement Coverage, Branch Coverage, Path Coverage, Condition Coverage</a:t>
            </a:r>
            <a:endParaRPr lang="en-US" sz="850" dirty="0"/>
          </a:p>
        </p:txBody>
      </p:sp>
      <p:sp>
        <p:nvSpPr>
          <p:cNvPr id="29" name="Text 27"/>
          <p:cNvSpPr/>
          <p:nvPr/>
        </p:nvSpPr>
        <p:spPr>
          <a:xfrm>
            <a:off x="3255264" y="3584448"/>
            <a:ext cx="2651760" cy="402336"/>
          </a:xfrm>
          <a:prstGeom prst="rect">
            <a:avLst/>
          </a:prstGeom>
          <a:noFill/>
          <a:ln/>
        </p:spPr>
        <p:txBody>
          <a:bodyPr wrap="square" lIns="0" tIns="0" rIns="0" bIns="0" rtlCol="0" anchor="ctr"/>
          <a:lstStyle/>
          <a:p>
            <a:pPr marL="0" indent="0">
              <a:buNone/>
            </a:pPr>
            <a:r>
              <a:rPr lang="en-US" sz="850" i="1" dirty="0">
                <a:solidFill>
                  <a:srgbClr val="E8650A"/>
                </a:solidFill>
                <a:latin typeface="Arial" pitchFamily="34" charset="0"/>
                <a:ea typeface="Arial" pitchFamily="34" charset="-122"/>
                <a:cs typeface="Arial" pitchFamily="34" charset="-120"/>
              </a:rPr>
              <a:t>📌 Write a unit test that ensures BOTH the if-branch AND else-branch of the authentication check are exercised, achieving 100% branch coverage.</a:t>
            </a:r>
            <a:endParaRPr lang="en-US" sz="850" dirty="0"/>
          </a:p>
        </p:txBody>
      </p:sp>
      <p:sp>
        <p:nvSpPr>
          <p:cNvPr id="30" name="Text 28"/>
          <p:cNvSpPr/>
          <p:nvPr/>
        </p:nvSpPr>
        <p:spPr>
          <a:xfrm>
            <a:off x="3255264" y="4023360"/>
            <a:ext cx="2651760" cy="201168"/>
          </a:xfrm>
          <a:prstGeom prst="rect">
            <a:avLst/>
          </a:prstGeom>
          <a:noFill/>
          <a:ln/>
        </p:spPr>
        <p:txBody>
          <a:bodyPr wrap="square" lIns="0" tIns="0" rIns="0" bIns="0" rtlCol="0" anchor="ctr"/>
          <a:lstStyle/>
          <a:p>
            <a:pPr marL="0" indent="0">
              <a:buNone/>
            </a:pPr>
            <a:r>
              <a:rPr lang="en-US" sz="800" dirty="0">
                <a:solidFill>
                  <a:srgbClr val="55DD55"/>
                </a:solidFill>
                <a:latin typeface="Arial" pitchFamily="34" charset="0"/>
                <a:ea typeface="Arial" pitchFamily="34" charset="-122"/>
                <a:cs typeface="Arial" pitchFamily="34" charset="-120"/>
              </a:rPr>
              <a:t>✅ Thorough code path coverage  ✅ Finds hidden logic errors  ✅ Optimises test efficiency</a:t>
            </a:r>
            <a:endParaRPr lang="en-US" sz="800" dirty="0"/>
          </a:p>
        </p:txBody>
      </p:sp>
      <p:sp>
        <p:nvSpPr>
          <p:cNvPr id="31" name="Text 29"/>
          <p:cNvSpPr/>
          <p:nvPr/>
        </p:nvSpPr>
        <p:spPr>
          <a:xfrm>
            <a:off x="3255264" y="4224528"/>
            <a:ext cx="2651760" cy="201168"/>
          </a:xfrm>
          <a:prstGeom prst="rect">
            <a:avLst/>
          </a:prstGeom>
          <a:noFill/>
          <a:ln/>
        </p:spPr>
        <p:txBody>
          <a:bodyPr wrap="square" lIns="0" tIns="0" rIns="0" bIns="0" rtlCol="0" anchor="ctr"/>
          <a:lstStyle/>
          <a:p>
            <a:pPr marL="0" indent="0">
              <a:buNone/>
            </a:pPr>
            <a:r>
              <a:rPr lang="en-US" sz="800" dirty="0">
                <a:solidFill>
                  <a:srgbClr val="FF9944"/>
                </a:solidFill>
                <a:latin typeface="Arial" pitchFamily="34" charset="0"/>
                <a:ea typeface="Arial" pitchFamily="34" charset="-122"/>
                <a:cs typeface="Arial" pitchFamily="34" charset="-120"/>
              </a:rPr>
              <a:t>⚠️ Requires coding expertise  ⚠️ May miss requirement gaps</a:t>
            </a:r>
            <a:endParaRPr lang="en-US" sz="800" dirty="0"/>
          </a:p>
        </p:txBody>
      </p:sp>
      <p:sp>
        <p:nvSpPr>
          <p:cNvPr id="32" name="Shape 30"/>
          <p:cNvSpPr/>
          <p:nvPr/>
        </p:nvSpPr>
        <p:spPr>
          <a:xfrm>
            <a:off x="6163056" y="1188720"/>
            <a:ext cx="2816352" cy="3611880"/>
          </a:xfrm>
          <a:prstGeom prst="rect">
            <a:avLst/>
          </a:prstGeom>
          <a:solidFill>
            <a:srgbClr val="282828"/>
          </a:solidFill>
          <a:ln w="12700">
            <a:solidFill>
              <a:srgbClr val="2E8B57"/>
            </a:solidFill>
            <a:prstDash val="solid"/>
          </a:ln>
          <a:effectLst>
            <a:outerShdw blurRad="101600" dist="38100" dir="8100000" algn="bl" rotWithShape="0">
              <a:srgbClr val="000000">
                <a:alpha val="20000"/>
              </a:srgbClr>
            </a:outerShdw>
          </a:effectLst>
        </p:spPr>
      </p:sp>
      <p:sp>
        <p:nvSpPr>
          <p:cNvPr id="33" name="Shape 31"/>
          <p:cNvSpPr/>
          <p:nvPr/>
        </p:nvSpPr>
        <p:spPr>
          <a:xfrm>
            <a:off x="6163056" y="1188720"/>
            <a:ext cx="2816352" cy="384048"/>
          </a:xfrm>
          <a:prstGeom prst="rect">
            <a:avLst/>
          </a:prstGeom>
          <a:solidFill>
            <a:srgbClr val="2E8B57"/>
          </a:solidFill>
          <a:ln w="12700">
            <a:solidFill>
              <a:srgbClr val="2E8B57"/>
            </a:solidFill>
            <a:prstDash val="solid"/>
          </a:ln>
        </p:spPr>
      </p:sp>
      <p:sp>
        <p:nvSpPr>
          <p:cNvPr id="34" name="Text 32"/>
          <p:cNvSpPr/>
          <p:nvPr/>
        </p:nvSpPr>
        <p:spPr>
          <a:xfrm>
            <a:off x="6254496" y="1188720"/>
            <a:ext cx="2651760"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GREY BOX TESTING</a:t>
            </a:r>
            <a:endParaRPr lang="en-US" sz="1050" dirty="0"/>
          </a:p>
        </p:txBody>
      </p:sp>
      <p:sp>
        <p:nvSpPr>
          <p:cNvPr id="35" name="Text 33"/>
          <p:cNvSpPr/>
          <p:nvPr/>
        </p:nvSpPr>
        <p:spPr>
          <a:xfrm>
            <a:off x="6254496" y="1609344"/>
            <a:ext cx="2651760" cy="402336"/>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You have the box schematics (architecture diagram) but the box itself is still sealed.</a:t>
            </a:r>
            <a:endParaRPr lang="en-US" sz="900" dirty="0"/>
          </a:p>
        </p:txBody>
      </p:sp>
      <p:sp>
        <p:nvSpPr>
          <p:cNvPr id="36" name="Text 34"/>
          <p:cNvSpPr/>
          <p:nvPr/>
        </p:nvSpPr>
        <p:spPr>
          <a:xfrm>
            <a:off x="6254496" y="2048256"/>
            <a:ext cx="2651760" cy="804672"/>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The tester has PARTIAL knowledge of internal structure — typically architecture, database schema, APIs, and data flows — but not the complete source code. Combines black box test design with internal knowledge for more intelligent test cases.</a:t>
            </a:r>
            <a:endParaRPr lang="en-US" sz="900" dirty="0"/>
          </a:p>
        </p:txBody>
      </p:sp>
      <p:sp>
        <p:nvSpPr>
          <p:cNvPr id="37" name="Text 35"/>
          <p:cNvSpPr/>
          <p:nvPr/>
        </p:nvSpPr>
        <p:spPr>
          <a:xfrm>
            <a:off x="6254496" y="2880360"/>
            <a:ext cx="2651760" cy="182880"/>
          </a:xfrm>
          <a:prstGeom prst="rect">
            <a:avLst/>
          </a:prstGeom>
          <a:noFill/>
          <a:ln/>
        </p:spPr>
        <p:txBody>
          <a:bodyPr wrap="square" lIns="0" tIns="0" rIns="0" bIns="0" rtlCol="0" anchor="ctr"/>
          <a:lstStyle/>
          <a:p>
            <a:pPr marL="0" indent="0">
              <a:buNone/>
            </a:pPr>
            <a:r>
              <a:rPr lang="en-US" sz="850" dirty="0">
                <a:solidFill>
                  <a:srgbClr val="E8650A"/>
                </a:solidFill>
                <a:latin typeface="Arial" pitchFamily="34" charset="0"/>
                <a:ea typeface="Arial" pitchFamily="34" charset="-122"/>
                <a:cs typeface="Arial" pitchFamily="34" charset="-120"/>
              </a:rPr>
              <a:t>Who: QA Leads, Senior Testers, Integration Testers</a:t>
            </a:r>
            <a:endParaRPr lang="en-US" sz="850" dirty="0"/>
          </a:p>
        </p:txBody>
      </p:sp>
      <p:sp>
        <p:nvSpPr>
          <p:cNvPr id="38" name="Text 36"/>
          <p:cNvSpPr/>
          <p:nvPr/>
        </p:nvSpPr>
        <p:spPr>
          <a:xfrm>
            <a:off x="6254496" y="3063240"/>
            <a:ext cx="2651760" cy="18288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Level: Integration Testing, System Testing</a:t>
            </a:r>
            <a:endParaRPr lang="en-US" sz="850" dirty="0"/>
          </a:p>
        </p:txBody>
      </p:sp>
      <p:sp>
        <p:nvSpPr>
          <p:cNvPr id="39" name="Text 37"/>
          <p:cNvSpPr/>
          <p:nvPr/>
        </p:nvSpPr>
        <p:spPr>
          <a:xfrm>
            <a:off x="6254496" y="3273552"/>
            <a:ext cx="2651760" cy="274320"/>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Techniques: Matrix Testing, Pattern Testing, Orthogonal Array Testing, Regression Testing</a:t>
            </a:r>
            <a:endParaRPr lang="en-US" sz="850" dirty="0"/>
          </a:p>
        </p:txBody>
      </p:sp>
      <p:sp>
        <p:nvSpPr>
          <p:cNvPr id="40" name="Text 38"/>
          <p:cNvSpPr/>
          <p:nvPr/>
        </p:nvSpPr>
        <p:spPr>
          <a:xfrm>
            <a:off x="6254496" y="3584448"/>
            <a:ext cx="2651760" cy="402336"/>
          </a:xfrm>
          <a:prstGeom prst="rect">
            <a:avLst/>
          </a:prstGeom>
          <a:noFill/>
          <a:ln/>
        </p:spPr>
        <p:txBody>
          <a:bodyPr wrap="square" lIns="0" tIns="0" rIns="0" bIns="0" rtlCol="0" anchor="ctr"/>
          <a:lstStyle/>
          <a:p>
            <a:pPr marL="0" indent="0">
              <a:buNone/>
            </a:pPr>
            <a:r>
              <a:rPr lang="en-US" sz="850" i="1" dirty="0">
                <a:solidFill>
                  <a:srgbClr val="E8650A"/>
                </a:solidFill>
                <a:latin typeface="Arial" pitchFamily="34" charset="0"/>
                <a:ea typeface="Arial" pitchFamily="34" charset="-122"/>
                <a:cs typeface="Arial" pitchFamily="34" charset="-120"/>
              </a:rPr>
              <a:t>📌 Tester knows the DB schema and API contract. Designs test to verify: API call → correct DB record created → correct JSON response returned.</a:t>
            </a:r>
            <a:endParaRPr lang="en-US" sz="850" dirty="0"/>
          </a:p>
        </p:txBody>
      </p:sp>
      <p:sp>
        <p:nvSpPr>
          <p:cNvPr id="41" name="Text 39"/>
          <p:cNvSpPr/>
          <p:nvPr/>
        </p:nvSpPr>
        <p:spPr>
          <a:xfrm>
            <a:off x="6254496" y="4023360"/>
            <a:ext cx="2651760" cy="201168"/>
          </a:xfrm>
          <a:prstGeom prst="rect">
            <a:avLst/>
          </a:prstGeom>
          <a:noFill/>
          <a:ln/>
        </p:spPr>
        <p:txBody>
          <a:bodyPr wrap="square" lIns="0" tIns="0" rIns="0" bIns="0" rtlCol="0" anchor="ctr"/>
          <a:lstStyle/>
          <a:p>
            <a:pPr marL="0" indent="0">
              <a:buNone/>
            </a:pPr>
            <a:r>
              <a:rPr lang="en-US" sz="800" dirty="0">
                <a:solidFill>
                  <a:srgbClr val="55DD55"/>
                </a:solidFill>
                <a:latin typeface="Arial" pitchFamily="34" charset="0"/>
                <a:ea typeface="Arial" pitchFamily="34" charset="-122"/>
                <a:cs typeface="Arial" pitchFamily="34" charset="-120"/>
              </a:rPr>
              <a:t>✅ More targeted than black box  ✅ Accessible without full code access  ✅ Excellent for integration layers</a:t>
            </a:r>
            <a:endParaRPr lang="en-US" sz="800" dirty="0"/>
          </a:p>
        </p:txBody>
      </p:sp>
      <p:sp>
        <p:nvSpPr>
          <p:cNvPr id="42" name="Text 40"/>
          <p:cNvSpPr/>
          <p:nvPr/>
        </p:nvSpPr>
        <p:spPr>
          <a:xfrm>
            <a:off x="6254496" y="4224528"/>
            <a:ext cx="2651760" cy="201168"/>
          </a:xfrm>
          <a:prstGeom prst="rect">
            <a:avLst/>
          </a:prstGeom>
          <a:noFill/>
          <a:ln/>
        </p:spPr>
        <p:txBody>
          <a:bodyPr wrap="square" lIns="0" tIns="0" rIns="0" bIns="0" rtlCol="0" anchor="ctr"/>
          <a:lstStyle/>
          <a:p>
            <a:pPr marL="0" indent="0">
              <a:buNone/>
            </a:pPr>
            <a:r>
              <a:rPr lang="en-US" sz="800" dirty="0">
                <a:solidFill>
                  <a:srgbClr val="FF9944"/>
                </a:solidFill>
                <a:latin typeface="Arial" pitchFamily="34" charset="0"/>
                <a:ea typeface="Arial" pitchFamily="34" charset="-122"/>
                <a:cs typeface="Arial" pitchFamily="34" charset="-120"/>
              </a:rPr>
              <a:t>⚠️ Partial knowledge can create blind spots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09</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Manual vs</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Automated Testing</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Definitions · Differences · When to Use Each · Selenium &amp; Playwright</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Manual vs Automated Testing — Full Comparison</a:t>
            </a:r>
            <a:endParaRPr lang="en-US" sz="2100" dirty="0"/>
          </a:p>
        </p:txBody>
      </p:sp>
      <p:sp>
        <p:nvSpPr>
          <p:cNvPr id="6" name="Text 4"/>
          <p:cNvSpPr/>
          <p:nvPr/>
        </p:nvSpPr>
        <p:spPr>
          <a:xfrm>
            <a:off x="182880" y="192024"/>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09  |  MANUAL vs AUTOMATED</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2651760" y="795528"/>
            <a:ext cx="3017520" cy="329184"/>
          </a:xfrm>
          <a:prstGeom prst="rect">
            <a:avLst/>
          </a:prstGeom>
          <a:solidFill>
            <a:srgbClr val="1565C0"/>
          </a:solidFill>
          <a:ln w="12700">
            <a:solidFill>
              <a:srgbClr val="1565C0"/>
            </a:solidFill>
            <a:prstDash val="solid"/>
          </a:ln>
        </p:spPr>
      </p:sp>
      <p:sp>
        <p:nvSpPr>
          <p:cNvPr id="10" name="Shape 8"/>
          <p:cNvSpPr/>
          <p:nvPr/>
        </p:nvSpPr>
        <p:spPr>
          <a:xfrm>
            <a:off x="5833872" y="795528"/>
            <a:ext cx="3145536" cy="329184"/>
          </a:xfrm>
          <a:prstGeom prst="rect">
            <a:avLst/>
          </a:prstGeom>
          <a:solidFill>
            <a:srgbClr val="B84D00"/>
          </a:solidFill>
          <a:ln w="12700">
            <a:solidFill>
              <a:srgbClr val="B84D00"/>
            </a:solidFill>
            <a:prstDash val="solid"/>
          </a:ln>
        </p:spPr>
      </p:sp>
      <p:sp>
        <p:nvSpPr>
          <p:cNvPr id="11" name="Text 9"/>
          <p:cNvSpPr/>
          <p:nvPr/>
        </p:nvSpPr>
        <p:spPr>
          <a:xfrm>
            <a:off x="2651760" y="795528"/>
            <a:ext cx="30175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  MANUAL TESTING</a:t>
            </a:r>
            <a:endParaRPr lang="en-US" sz="1100" dirty="0"/>
          </a:p>
        </p:txBody>
      </p:sp>
      <p:sp>
        <p:nvSpPr>
          <p:cNvPr id="12" name="Text 10"/>
          <p:cNvSpPr/>
          <p:nvPr/>
        </p:nvSpPr>
        <p:spPr>
          <a:xfrm>
            <a:off x="5833872" y="795528"/>
            <a:ext cx="31455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  AUTOMATED TESTING</a:t>
            </a:r>
            <a:endParaRPr lang="en-US" sz="1100" dirty="0"/>
          </a:p>
        </p:txBody>
      </p:sp>
      <p:sp>
        <p:nvSpPr>
          <p:cNvPr id="13" name="Shape 11"/>
          <p:cNvSpPr/>
          <p:nvPr/>
        </p:nvSpPr>
        <p:spPr>
          <a:xfrm>
            <a:off x="164592" y="1197864"/>
            <a:ext cx="8823960" cy="457200"/>
          </a:xfrm>
          <a:prstGeom prst="rect">
            <a:avLst/>
          </a:prstGeom>
          <a:solidFill>
            <a:srgbClr val="282828"/>
          </a:solidFill>
          <a:ln w="12700">
            <a:solidFill>
              <a:srgbClr val="282828"/>
            </a:solidFill>
            <a:prstDash val="solid"/>
          </a:ln>
        </p:spPr>
      </p:sp>
      <p:sp>
        <p:nvSpPr>
          <p:cNvPr id="14" name="Text 12"/>
          <p:cNvSpPr/>
          <p:nvPr/>
        </p:nvSpPr>
        <p:spPr>
          <a:xfrm>
            <a:off x="201168" y="1234440"/>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Definition</a:t>
            </a:r>
            <a:endParaRPr lang="en-US" sz="1000" dirty="0"/>
          </a:p>
        </p:txBody>
      </p:sp>
      <p:sp>
        <p:nvSpPr>
          <p:cNvPr id="15" name="Text 13"/>
          <p:cNvSpPr/>
          <p:nvPr/>
        </p:nvSpPr>
        <p:spPr>
          <a:xfrm>
            <a:off x="2651760" y="1225296"/>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A human tester manually executes test cases by interacting with the application directly — clicking, typing, observing.</a:t>
            </a:r>
            <a:endParaRPr lang="en-US" sz="850" dirty="0"/>
          </a:p>
        </p:txBody>
      </p:sp>
      <p:sp>
        <p:nvSpPr>
          <p:cNvPr id="16" name="Text 14"/>
          <p:cNvSpPr/>
          <p:nvPr/>
        </p:nvSpPr>
        <p:spPr>
          <a:xfrm>
            <a:off x="5833872" y="1225296"/>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Test scripts written in code are executed by automation tools (Selenium, Playwright) without human intervention.</a:t>
            </a:r>
            <a:endParaRPr lang="en-US" sz="850" dirty="0"/>
          </a:p>
        </p:txBody>
      </p:sp>
      <p:sp>
        <p:nvSpPr>
          <p:cNvPr id="17" name="Shape 15"/>
          <p:cNvSpPr/>
          <p:nvPr/>
        </p:nvSpPr>
        <p:spPr>
          <a:xfrm>
            <a:off x="164592" y="1691640"/>
            <a:ext cx="8823960" cy="457200"/>
          </a:xfrm>
          <a:prstGeom prst="rect">
            <a:avLst/>
          </a:prstGeom>
          <a:solidFill>
            <a:srgbClr val="323232"/>
          </a:solidFill>
          <a:ln w="12700">
            <a:solidFill>
              <a:srgbClr val="323232"/>
            </a:solidFill>
            <a:prstDash val="solid"/>
          </a:ln>
        </p:spPr>
      </p:sp>
      <p:sp>
        <p:nvSpPr>
          <p:cNvPr id="18" name="Text 16"/>
          <p:cNvSpPr/>
          <p:nvPr/>
        </p:nvSpPr>
        <p:spPr>
          <a:xfrm>
            <a:off x="201168" y="1728216"/>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Speed</a:t>
            </a:r>
            <a:endParaRPr lang="en-US" sz="1000" dirty="0"/>
          </a:p>
        </p:txBody>
      </p:sp>
      <p:sp>
        <p:nvSpPr>
          <p:cNvPr id="19" name="Text 17"/>
          <p:cNvSpPr/>
          <p:nvPr/>
        </p:nvSpPr>
        <p:spPr>
          <a:xfrm>
            <a:off x="2651760" y="1719072"/>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Slow — a single tester may execute 50-100 test cases per day depending on complexity.</a:t>
            </a:r>
            <a:endParaRPr lang="en-US" sz="850" dirty="0"/>
          </a:p>
        </p:txBody>
      </p:sp>
      <p:sp>
        <p:nvSpPr>
          <p:cNvPr id="20" name="Text 18"/>
          <p:cNvSpPr/>
          <p:nvPr/>
        </p:nvSpPr>
        <p:spPr>
          <a:xfrm>
            <a:off x="5833872" y="1719072"/>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Fast — 500+ test cases can execute in under 30 minutes. Runs unattended overnight.</a:t>
            </a:r>
            <a:endParaRPr lang="en-US" sz="850" dirty="0"/>
          </a:p>
        </p:txBody>
      </p:sp>
      <p:sp>
        <p:nvSpPr>
          <p:cNvPr id="21" name="Shape 19"/>
          <p:cNvSpPr/>
          <p:nvPr/>
        </p:nvSpPr>
        <p:spPr>
          <a:xfrm>
            <a:off x="164592" y="2185416"/>
            <a:ext cx="8823960" cy="457200"/>
          </a:xfrm>
          <a:prstGeom prst="rect">
            <a:avLst/>
          </a:prstGeom>
          <a:solidFill>
            <a:srgbClr val="282828"/>
          </a:solidFill>
          <a:ln w="12700">
            <a:solidFill>
              <a:srgbClr val="282828"/>
            </a:solidFill>
            <a:prstDash val="solid"/>
          </a:ln>
        </p:spPr>
      </p:sp>
      <p:sp>
        <p:nvSpPr>
          <p:cNvPr id="22" name="Text 20"/>
          <p:cNvSpPr/>
          <p:nvPr/>
        </p:nvSpPr>
        <p:spPr>
          <a:xfrm>
            <a:off x="201168" y="2221992"/>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Accuracy</a:t>
            </a:r>
            <a:endParaRPr lang="en-US" sz="1000" dirty="0"/>
          </a:p>
        </p:txBody>
      </p:sp>
      <p:sp>
        <p:nvSpPr>
          <p:cNvPr id="23" name="Text 21"/>
          <p:cNvSpPr/>
          <p:nvPr/>
        </p:nvSpPr>
        <p:spPr>
          <a:xfrm>
            <a:off x="2651760" y="2212848"/>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Prone to human error, especially in repetitive tests. Fatigue reduces accuracy over time.</a:t>
            </a:r>
            <a:endParaRPr lang="en-US" sz="850" dirty="0"/>
          </a:p>
        </p:txBody>
      </p:sp>
      <p:sp>
        <p:nvSpPr>
          <p:cNvPr id="24" name="Text 22"/>
          <p:cNvSpPr/>
          <p:nvPr/>
        </p:nvSpPr>
        <p:spPr>
          <a:xfrm>
            <a:off x="5833872" y="2212848"/>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100% consistent execution. A script runs identically every single time, eliminating human error.</a:t>
            </a:r>
            <a:endParaRPr lang="en-US" sz="850" dirty="0"/>
          </a:p>
        </p:txBody>
      </p:sp>
      <p:sp>
        <p:nvSpPr>
          <p:cNvPr id="25" name="Shape 23"/>
          <p:cNvSpPr/>
          <p:nvPr/>
        </p:nvSpPr>
        <p:spPr>
          <a:xfrm>
            <a:off x="164592" y="2679192"/>
            <a:ext cx="8823960" cy="457200"/>
          </a:xfrm>
          <a:prstGeom prst="rect">
            <a:avLst/>
          </a:prstGeom>
          <a:solidFill>
            <a:srgbClr val="323232"/>
          </a:solidFill>
          <a:ln w="12700">
            <a:solidFill>
              <a:srgbClr val="323232"/>
            </a:solidFill>
            <a:prstDash val="solid"/>
          </a:ln>
        </p:spPr>
      </p:sp>
      <p:sp>
        <p:nvSpPr>
          <p:cNvPr id="26" name="Text 24"/>
          <p:cNvSpPr/>
          <p:nvPr/>
        </p:nvSpPr>
        <p:spPr>
          <a:xfrm>
            <a:off x="201168" y="2715768"/>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Upfront Cost</a:t>
            </a:r>
            <a:endParaRPr lang="en-US" sz="1000" dirty="0"/>
          </a:p>
        </p:txBody>
      </p:sp>
      <p:sp>
        <p:nvSpPr>
          <p:cNvPr id="27" name="Text 25"/>
          <p:cNvSpPr/>
          <p:nvPr/>
        </p:nvSpPr>
        <p:spPr>
          <a:xfrm>
            <a:off x="2651760" y="2706624"/>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Low — no tooling investment required. Testers need only access and documentation.</a:t>
            </a:r>
            <a:endParaRPr lang="en-US" sz="850" dirty="0"/>
          </a:p>
        </p:txBody>
      </p:sp>
      <p:sp>
        <p:nvSpPr>
          <p:cNvPr id="28" name="Text 26"/>
          <p:cNvSpPr/>
          <p:nvPr/>
        </p:nvSpPr>
        <p:spPr>
          <a:xfrm>
            <a:off x="5833872" y="2706624"/>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High — requires development time to write scripts, maintain frameworks, and manage infrastructure.</a:t>
            </a:r>
            <a:endParaRPr lang="en-US" sz="850" dirty="0"/>
          </a:p>
        </p:txBody>
      </p:sp>
      <p:sp>
        <p:nvSpPr>
          <p:cNvPr id="29" name="Shape 27"/>
          <p:cNvSpPr/>
          <p:nvPr/>
        </p:nvSpPr>
        <p:spPr>
          <a:xfrm>
            <a:off x="164592" y="3172968"/>
            <a:ext cx="8823960" cy="457200"/>
          </a:xfrm>
          <a:prstGeom prst="rect">
            <a:avLst/>
          </a:prstGeom>
          <a:solidFill>
            <a:srgbClr val="282828"/>
          </a:solidFill>
          <a:ln w="12700">
            <a:solidFill>
              <a:srgbClr val="282828"/>
            </a:solidFill>
            <a:prstDash val="solid"/>
          </a:ln>
        </p:spPr>
      </p:sp>
      <p:sp>
        <p:nvSpPr>
          <p:cNvPr id="30" name="Text 28"/>
          <p:cNvSpPr/>
          <p:nvPr/>
        </p:nvSpPr>
        <p:spPr>
          <a:xfrm>
            <a:off x="201168" y="3209544"/>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Exploratory</a:t>
            </a:r>
            <a:endParaRPr lang="en-US" sz="1000" dirty="0"/>
          </a:p>
        </p:txBody>
      </p:sp>
      <p:sp>
        <p:nvSpPr>
          <p:cNvPr id="31" name="Text 29"/>
          <p:cNvSpPr/>
          <p:nvPr/>
        </p:nvSpPr>
        <p:spPr>
          <a:xfrm>
            <a:off x="2651760" y="3200400"/>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Excellent — humans can intuitively deviate from scripts, notice unexpected UI behaviour, and 'think outside the box'.</a:t>
            </a:r>
            <a:endParaRPr lang="en-US" sz="850" dirty="0"/>
          </a:p>
        </p:txBody>
      </p:sp>
      <p:sp>
        <p:nvSpPr>
          <p:cNvPr id="32" name="Text 30"/>
          <p:cNvSpPr/>
          <p:nvPr/>
        </p:nvSpPr>
        <p:spPr>
          <a:xfrm>
            <a:off x="5833872" y="3200400"/>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Cannot explore. Automation only does exactly what it is programmed to do. It cannot reason.</a:t>
            </a:r>
            <a:endParaRPr lang="en-US" sz="850" dirty="0"/>
          </a:p>
        </p:txBody>
      </p:sp>
      <p:sp>
        <p:nvSpPr>
          <p:cNvPr id="33" name="Shape 31"/>
          <p:cNvSpPr/>
          <p:nvPr/>
        </p:nvSpPr>
        <p:spPr>
          <a:xfrm>
            <a:off x="164592" y="3666744"/>
            <a:ext cx="8823960" cy="457200"/>
          </a:xfrm>
          <a:prstGeom prst="rect">
            <a:avLst/>
          </a:prstGeom>
          <a:solidFill>
            <a:srgbClr val="323232"/>
          </a:solidFill>
          <a:ln w="12700">
            <a:solidFill>
              <a:srgbClr val="323232"/>
            </a:solidFill>
            <a:prstDash val="solid"/>
          </a:ln>
        </p:spPr>
      </p:sp>
      <p:sp>
        <p:nvSpPr>
          <p:cNvPr id="34" name="Text 32"/>
          <p:cNvSpPr/>
          <p:nvPr/>
        </p:nvSpPr>
        <p:spPr>
          <a:xfrm>
            <a:off x="201168" y="3703320"/>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Best For</a:t>
            </a:r>
            <a:endParaRPr lang="en-US" sz="1000" dirty="0"/>
          </a:p>
        </p:txBody>
      </p:sp>
      <p:sp>
        <p:nvSpPr>
          <p:cNvPr id="35" name="Text 33"/>
          <p:cNvSpPr/>
          <p:nvPr/>
        </p:nvSpPr>
        <p:spPr>
          <a:xfrm>
            <a:off x="2651760" y="3694176"/>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New features (unstable), exploratory testing, UX/usability, complex business logic, short-term projects.</a:t>
            </a:r>
            <a:endParaRPr lang="en-US" sz="850" dirty="0"/>
          </a:p>
        </p:txBody>
      </p:sp>
      <p:sp>
        <p:nvSpPr>
          <p:cNvPr id="36" name="Text 34"/>
          <p:cNvSpPr/>
          <p:nvPr/>
        </p:nvSpPr>
        <p:spPr>
          <a:xfrm>
            <a:off x="5833872" y="3694176"/>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Stable regression suites, repetitive tests, CI/CD pipelines, cross-browser, data-driven, long-term projects.</a:t>
            </a:r>
            <a:endParaRPr lang="en-US" sz="850" dirty="0"/>
          </a:p>
        </p:txBody>
      </p:sp>
      <p:sp>
        <p:nvSpPr>
          <p:cNvPr id="37" name="Shape 35"/>
          <p:cNvSpPr/>
          <p:nvPr/>
        </p:nvSpPr>
        <p:spPr>
          <a:xfrm>
            <a:off x="164592" y="4160520"/>
            <a:ext cx="8823960" cy="457200"/>
          </a:xfrm>
          <a:prstGeom prst="rect">
            <a:avLst/>
          </a:prstGeom>
          <a:solidFill>
            <a:srgbClr val="282828"/>
          </a:solidFill>
          <a:ln w="12700">
            <a:solidFill>
              <a:srgbClr val="282828"/>
            </a:solidFill>
            <a:prstDash val="solid"/>
          </a:ln>
        </p:spPr>
      </p:sp>
      <p:sp>
        <p:nvSpPr>
          <p:cNvPr id="38" name="Text 36"/>
          <p:cNvSpPr/>
          <p:nvPr/>
        </p:nvSpPr>
        <p:spPr>
          <a:xfrm>
            <a:off x="201168" y="4197096"/>
            <a:ext cx="2331720" cy="384048"/>
          </a:xfrm>
          <a:prstGeom prst="rect">
            <a:avLst/>
          </a:prstGeom>
          <a:noFill/>
          <a:ln/>
        </p:spPr>
        <p:txBody>
          <a:bodyPr wrap="square" lIns="0" tIns="0" rIns="0" bIns="0" rtlCol="0" anchor="ctr"/>
          <a:lstStyle/>
          <a:p>
            <a:pPr marL="0" indent="0">
              <a:buNone/>
            </a:pPr>
            <a:r>
              <a:rPr lang="en-US" sz="1000" b="1" dirty="0">
                <a:solidFill>
                  <a:srgbClr val="E8650A"/>
                </a:solidFill>
                <a:latin typeface="Arial Black" pitchFamily="34" charset="0"/>
                <a:ea typeface="Arial Black" pitchFamily="34" charset="-122"/>
                <a:cs typeface="Arial Black" pitchFamily="34" charset="-120"/>
              </a:rPr>
              <a:t>ROI Threshold</a:t>
            </a:r>
            <a:endParaRPr lang="en-US" sz="1000" dirty="0"/>
          </a:p>
        </p:txBody>
      </p:sp>
      <p:sp>
        <p:nvSpPr>
          <p:cNvPr id="39" name="Text 37"/>
          <p:cNvSpPr/>
          <p:nvPr/>
        </p:nvSpPr>
        <p:spPr>
          <a:xfrm>
            <a:off x="2651760" y="4187952"/>
            <a:ext cx="301752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Immediate. Any test case can be executed manually right away.</a:t>
            </a:r>
            <a:endParaRPr lang="en-US" sz="850" dirty="0"/>
          </a:p>
        </p:txBody>
      </p:sp>
      <p:sp>
        <p:nvSpPr>
          <p:cNvPr id="40" name="Text 38"/>
          <p:cNvSpPr/>
          <p:nvPr/>
        </p:nvSpPr>
        <p:spPr>
          <a:xfrm>
            <a:off x="5833872" y="4187952"/>
            <a:ext cx="3108960" cy="402336"/>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Break-even typically at 3-5 re-runs of the same test. Long-term savings are substantial.</a:t>
            </a:r>
            <a:endParaRPr lang="en-US" sz="850" dirty="0"/>
          </a:p>
        </p:txBody>
      </p:sp>
      <p:sp>
        <p:nvSpPr>
          <p:cNvPr id="41" name="Shape 39"/>
          <p:cNvSpPr/>
          <p:nvPr/>
        </p:nvSpPr>
        <p:spPr>
          <a:xfrm>
            <a:off x="2624328" y="1170432"/>
            <a:ext cx="27432" cy="3474720"/>
          </a:xfrm>
          <a:prstGeom prst="rect">
            <a:avLst/>
          </a:prstGeom>
          <a:solidFill>
            <a:srgbClr val="E8650A"/>
          </a:solidFill>
          <a:ln w="12700">
            <a:solidFill>
              <a:srgbClr val="E8650A"/>
            </a:solidFill>
            <a:prstDash val="solid"/>
          </a:ln>
        </p:spPr>
      </p:sp>
      <p:sp>
        <p:nvSpPr>
          <p:cNvPr id="42" name="Shape 40"/>
          <p:cNvSpPr/>
          <p:nvPr/>
        </p:nvSpPr>
        <p:spPr>
          <a:xfrm>
            <a:off x="5806440" y="1170432"/>
            <a:ext cx="27432" cy="3474720"/>
          </a:xfrm>
          <a:prstGeom prst="rect">
            <a:avLst/>
          </a:prstGeom>
          <a:solidFill>
            <a:srgbClr val="E8650A"/>
          </a:solidFill>
          <a:ln w="12700">
            <a:solidFill>
              <a:srgbClr val="E8650A"/>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Automation Tools — Selenium &amp; Playwright</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09  |  MANUAL vs AUTOMATED</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Shape 6"/>
          <p:cNvSpPr/>
          <p:nvPr/>
        </p:nvSpPr>
        <p:spPr>
          <a:xfrm>
            <a:off x="164592" y="804672"/>
            <a:ext cx="4315968" cy="40416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9" name="Shape 7"/>
          <p:cNvSpPr/>
          <p:nvPr/>
        </p:nvSpPr>
        <p:spPr>
          <a:xfrm>
            <a:off x="164592" y="804672"/>
            <a:ext cx="4315968" cy="384048"/>
          </a:xfrm>
          <a:prstGeom prst="rect">
            <a:avLst/>
          </a:prstGeom>
          <a:solidFill>
            <a:srgbClr val="0C0C0C"/>
          </a:solidFill>
          <a:ln w="12700">
            <a:solidFill>
              <a:srgbClr val="0C0C0C"/>
            </a:solidFill>
            <a:prstDash val="solid"/>
          </a:ln>
        </p:spPr>
      </p:sp>
      <p:sp>
        <p:nvSpPr>
          <p:cNvPr id="10" name="Text 8"/>
          <p:cNvSpPr/>
          <p:nvPr/>
        </p:nvSpPr>
        <p:spPr>
          <a:xfrm>
            <a:off x="256032" y="804672"/>
            <a:ext cx="320040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Selenium WebDriver</a:t>
            </a:r>
            <a:endParaRPr lang="en-US" sz="1300" dirty="0"/>
          </a:p>
        </p:txBody>
      </p:sp>
      <p:sp>
        <p:nvSpPr>
          <p:cNvPr id="11" name="Text 9"/>
          <p:cNvSpPr/>
          <p:nvPr/>
        </p:nvSpPr>
        <p:spPr>
          <a:xfrm>
            <a:off x="3456432" y="841248"/>
            <a:ext cx="914400" cy="310896"/>
          </a:xfrm>
          <a:prstGeom prst="rect">
            <a:avLst/>
          </a:prstGeom>
          <a:noFill/>
          <a:ln/>
        </p:spPr>
        <p:txBody>
          <a:bodyPr wrap="square" lIns="0" tIns="0" rIns="0" bIns="0" rtlCol="0" anchor="ctr"/>
          <a:lstStyle/>
          <a:p>
            <a:pPr marL="0" indent="0" algn="r">
              <a:buNone/>
            </a:pPr>
            <a:r>
              <a:rPr lang="en-US" sz="900" i="1" dirty="0">
                <a:solidFill>
                  <a:srgbClr val="E8650A"/>
                </a:solidFill>
                <a:latin typeface="Arial" pitchFamily="34" charset="0"/>
                <a:ea typeface="Arial" pitchFamily="34" charset="-122"/>
                <a:cs typeface="Arial" pitchFamily="34" charset="-120"/>
              </a:rPr>
              <a:t>Since 2004</a:t>
            </a:r>
            <a:endParaRPr lang="en-US" sz="900" dirty="0"/>
          </a:p>
        </p:txBody>
      </p:sp>
      <p:sp>
        <p:nvSpPr>
          <p:cNvPr id="12" name="Text 10"/>
          <p:cNvSpPr/>
          <p:nvPr/>
        </p:nvSpPr>
        <p:spPr>
          <a:xfrm>
            <a:off x="274320" y="1225296"/>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Languages: Java, Python, C#, JavaScript, Ruby, Kotlin</a:t>
            </a:r>
            <a:endParaRPr lang="en-US" sz="950" dirty="0"/>
          </a:p>
        </p:txBody>
      </p:sp>
      <p:sp>
        <p:nvSpPr>
          <p:cNvPr id="13" name="Text 11"/>
          <p:cNvSpPr/>
          <p:nvPr/>
        </p:nvSpPr>
        <p:spPr>
          <a:xfrm>
            <a:off x="274320" y="1444752"/>
            <a:ext cx="4114800" cy="5303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The world's most widely-used open-source browser automation framework. Selenium WebDriver communicates directly with browsers using browser-native APIs (ChromeDriver, GeckoDriver). It is the industry standard for web UI automation.</a:t>
            </a:r>
            <a:endParaRPr lang="en-US" sz="950" dirty="0"/>
          </a:p>
        </p:txBody>
      </p:sp>
      <p:sp>
        <p:nvSpPr>
          <p:cNvPr id="14" name="Text 12"/>
          <p:cNvSpPr/>
          <p:nvPr/>
        </p:nvSpPr>
        <p:spPr>
          <a:xfrm>
            <a:off x="274320" y="2011680"/>
            <a:ext cx="4114800" cy="182880"/>
          </a:xfrm>
          <a:prstGeom prst="rect">
            <a:avLst/>
          </a:prstGeom>
          <a:noFill/>
          <a:ln/>
        </p:spPr>
        <p:txBody>
          <a:bodyPr wrap="square" lIns="0" tIns="0" rIns="0" bIns="0" rtlCol="0" anchor="ctr"/>
          <a:lstStyle/>
          <a:p>
            <a:pPr marL="0" indent="0">
              <a:buNone/>
            </a:pPr>
            <a:r>
              <a:rPr lang="en-US" sz="950" b="1" dirty="0">
                <a:solidFill>
                  <a:srgbClr val="0C0C0C"/>
                </a:solidFill>
                <a:latin typeface="Arial" pitchFamily="34" charset="0"/>
                <a:ea typeface="Arial" pitchFamily="34" charset="-122"/>
                <a:cs typeface="Arial" pitchFamily="34" charset="-120"/>
              </a:rPr>
              <a:t>Architecture:</a:t>
            </a:r>
            <a:endParaRPr lang="en-US" sz="950" dirty="0"/>
          </a:p>
        </p:txBody>
      </p:sp>
      <p:sp>
        <p:nvSpPr>
          <p:cNvPr id="15" name="Text 13"/>
          <p:cNvSpPr/>
          <p:nvPr/>
        </p:nvSpPr>
        <p:spPr>
          <a:xfrm>
            <a:off x="274320" y="2194560"/>
            <a:ext cx="4114800" cy="201168"/>
          </a:xfrm>
          <a:prstGeom prst="rect">
            <a:avLst/>
          </a:prstGeom>
          <a:noFill/>
          <a:ln/>
        </p:spPr>
        <p:txBody>
          <a:bodyPr wrap="square" lIns="0" tIns="0" rIns="0" bIns="0" rtlCol="0" anchor="ctr"/>
          <a:lstStyle/>
          <a:p>
            <a:pPr marL="0" indent="0">
              <a:buNone/>
            </a:pPr>
            <a:r>
              <a:rPr lang="en-US" sz="900" dirty="0">
                <a:solidFill>
                  <a:srgbClr val="555555"/>
                </a:solidFill>
                <a:latin typeface="Consolas" pitchFamily="34" charset="0"/>
                <a:ea typeface="Consolas" pitchFamily="34" charset="-122"/>
                <a:cs typeface="Consolas" pitchFamily="34" charset="-120"/>
              </a:rPr>
              <a:t>Test Code → WebDriver API → Browser Driver (e.g. ChromeDriver) → Chrome Browser</a:t>
            </a:r>
            <a:endParaRPr lang="en-US" sz="900" dirty="0"/>
          </a:p>
        </p:txBody>
      </p:sp>
      <p:sp>
        <p:nvSpPr>
          <p:cNvPr id="16" name="Text 14"/>
          <p:cNvSpPr/>
          <p:nvPr/>
        </p:nvSpPr>
        <p:spPr>
          <a:xfrm>
            <a:off x="274320" y="2450592"/>
            <a:ext cx="4114800" cy="182880"/>
          </a:xfrm>
          <a:prstGeom prst="rect">
            <a:avLst/>
          </a:prstGeom>
          <a:noFill/>
          <a:ln/>
        </p:spPr>
        <p:txBody>
          <a:bodyPr wrap="square" lIns="0" tIns="0" rIns="0" bIns="0" rtlCol="0" anchor="ctr"/>
          <a:lstStyle/>
          <a:p>
            <a:pPr marL="0" indent="0">
              <a:buNone/>
            </a:pPr>
            <a:r>
              <a:rPr lang="en-US" sz="950" b="1" dirty="0">
                <a:solidFill>
                  <a:srgbClr val="0C0C0C"/>
                </a:solidFill>
                <a:latin typeface="Arial" pitchFamily="34" charset="0"/>
                <a:ea typeface="Arial" pitchFamily="34" charset="-122"/>
                <a:cs typeface="Arial" pitchFamily="34" charset="-120"/>
              </a:rPr>
              <a:t>Key Strengths:</a:t>
            </a:r>
            <a:endParaRPr lang="en-US" sz="950" dirty="0"/>
          </a:p>
        </p:txBody>
      </p:sp>
      <p:sp>
        <p:nvSpPr>
          <p:cNvPr id="17" name="Text 15"/>
          <p:cNvSpPr/>
          <p:nvPr/>
        </p:nvSpPr>
        <p:spPr>
          <a:xfrm>
            <a:off x="274320" y="2633472"/>
            <a:ext cx="4114800" cy="9509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Massive community and extensive documentation</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Supports all major browsers (Chrome, Firefox, Edge, Safari)</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Integrates with TestNG, JUnit, Cucumber, Maven, Gradle</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Works with Jenkins/GitHub Actions for CI/CD</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Used with Eclipse and IntelliJ IDEA</a:t>
            </a:r>
            <a:endParaRPr lang="en-US" sz="900" dirty="0"/>
          </a:p>
        </p:txBody>
      </p:sp>
      <p:sp>
        <p:nvSpPr>
          <p:cNvPr id="18" name="Text 16"/>
          <p:cNvSpPr/>
          <p:nvPr/>
        </p:nvSpPr>
        <p:spPr>
          <a:xfrm>
            <a:off x="274320" y="3621024"/>
            <a:ext cx="4114800" cy="274320"/>
          </a:xfrm>
          <a:prstGeom prst="rect">
            <a:avLst/>
          </a:prstGeom>
          <a:noFill/>
          <a:ln/>
        </p:spPr>
        <p:txBody>
          <a:bodyPr wrap="square" lIns="0" tIns="0" rIns="0" bIns="0" rtlCol="0" anchor="ctr"/>
          <a:lstStyle/>
          <a:p>
            <a:pPr marL="0" indent="0">
              <a:buNone/>
            </a:pPr>
            <a:r>
              <a:rPr lang="en-US" sz="900" dirty="0">
                <a:solidFill>
                  <a:srgbClr val="AA4400"/>
                </a:solidFill>
                <a:latin typeface="Arial" pitchFamily="34" charset="0"/>
                <a:ea typeface="Arial" pitchFamily="34" charset="-122"/>
                <a:cs typeface="Arial" pitchFamily="34" charset="-120"/>
              </a:rPr>
              <a:t>⚠️ Requires third-party test runner (TestNG/JUnit). Slower setup than Playwright. Manual waits needed.</a:t>
            </a:r>
            <a:endParaRPr lang="en-US" sz="900" dirty="0"/>
          </a:p>
        </p:txBody>
      </p:sp>
      <p:sp>
        <p:nvSpPr>
          <p:cNvPr id="19" name="Text 17"/>
          <p:cNvSpPr/>
          <p:nvPr/>
        </p:nvSpPr>
        <p:spPr>
          <a:xfrm>
            <a:off x="274320" y="3913632"/>
            <a:ext cx="4114800" cy="237744"/>
          </a:xfrm>
          <a:prstGeom prst="rect">
            <a:avLst/>
          </a:prstGeom>
          <a:noFill/>
          <a:ln/>
        </p:spPr>
        <p:txBody>
          <a:bodyPr wrap="square" lIns="0" tIns="0" rIns="0" bIns="0" rtlCol="0" anchor="ctr"/>
          <a:lstStyle/>
          <a:p>
            <a:pPr marL="0" indent="0">
              <a:buNone/>
            </a:pPr>
            <a:r>
              <a:rPr lang="en-US" sz="850" i="1" dirty="0">
                <a:solidFill>
                  <a:srgbClr val="E8650A"/>
                </a:solidFill>
                <a:latin typeface="Arial" pitchFamily="34" charset="0"/>
                <a:ea typeface="Arial" pitchFamily="34" charset="-122"/>
                <a:cs typeface="Arial" pitchFamily="34" charset="-120"/>
              </a:rPr>
              <a:t>📌 Selenium + Java + TestNG + IntelliJ: Write PageObject classes, run suite.xml via Maven, publish Allure report.</a:t>
            </a:r>
            <a:endParaRPr lang="en-US" sz="850" dirty="0"/>
          </a:p>
        </p:txBody>
      </p:sp>
      <p:sp>
        <p:nvSpPr>
          <p:cNvPr id="20" name="Shape 18"/>
          <p:cNvSpPr/>
          <p:nvPr/>
        </p:nvSpPr>
        <p:spPr>
          <a:xfrm>
            <a:off x="4663440" y="804672"/>
            <a:ext cx="4315968" cy="40416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1" name="Shape 19"/>
          <p:cNvSpPr/>
          <p:nvPr/>
        </p:nvSpPr>
        <p:spPr>
          <a:xfrm>
            <a:off x="4663440" y="804672"/>
            <a:ext cx="4315968" cy="384048"/>
          </a:xfrm>
          <a:prstGeom prst="rect">
            <a:avLst/>
          </a:prstGeom>
          <a:solidFill>
            <a:srgbClr val="1A3A5C"/>
          </a:solidFill>
          <a:ln w="12700">
            <a:solidFill>
              <a:srgbClr val="1A3A5C"/>
            </a:solidFill>
            <a:prstDash val="solid"/>
          </a:ln>
        </p:spPr>
      </p:sp>
      <p:sp>
        <p:nvSpPr>
          <p:cNvPr id="22" name="Text 20"/>
          <p:cNvSpPr/>
          <p:nvPr/>
        </p:nvSpPr>
        <p:spPr>
          <a:xfrm>
            <a:off x="4754880" y="804672"/>
            <a:ext cx="320040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Playwright</a:t>
            </a:r>
            <a:endParaRPr lang="en-US" sz="1300" dirty="0"/>
          </a:p>
        </p:txBody>
      </p:sp>
      <p:sp>
        <p:nvSpPr>
          <p:cNvPr id="23" name="Text 21"/>
          <p:cNvSpPr/>
          <p:nvPr/>
        </p:nvSpPr>
        <p:spPr>
          <a:xfrm>
            <a:off x="7955280" y="841248"/>
            <a:ext cx="914400" cy="310896"/>
          </a:xfrm>
          <a:prstGeom prst="rect">
            <a:avLst/>
          </a:prstGeom>
          <a:noFill/>
          <a:ln/>
        </p:spPr>
        <p:txBody>
          <a:bodyPr wrap="square" lIns="0" tIns="0" rIns="0" bIns="0" rtlCol="0" anchor="ctr"/>
          <a:lstStyle/>
          <a:p>
            <a:pPr marL="0" indent="0" algn="r">
              <a:buNone/>
            </a:pPr>
            <a:r>
              <a:rPr lang="en-US" sz="900" i="1" dirty="0">
                <a:solidFill>
                  <a:srgbClr val="E8650A"/>
                </a:solidFill>
                <a:latin typeface="Arial" pitchFamily="34" charset="0"/>
                <a:ea typeface="Arial" pitchFamily="34" charset="-122"/>
                <a:cs typeface="Arial" pitchFamily="34" charset="-120"/>
              </a:rPr>
              <a:t>Since 2020 (Microsoft)</a:t>
            </a:r>
            <a:endParaRPr lang="en-US" sz="900" dirty="0"/>
          </a:p>
        </p:txBody>
      </p:sp>
      <p:sp>
        <p:nvSpPr>
          <p:cNvPr id="24" name="Text 22"/>
          <p:cNvSpPr/>
          <p:nvPr/>
        </p:nvSpPr>
        <p:spPr>
          <a:xfrm>
            <a:off x="4773168" y="1225296"/>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Languages: TypeScript, JavaScript, Python, Java, .NET</a:t>
            </a:r>
            <a:endParaRPr lang="en-US" sz="950" dirty="0"/>
          </a:p>
        </p:txBody>
      </p:sp>
      <p:sp>
        <p:nvSpPr>
          <p:cNvPr id="25" name="Text 23"/>
          <p:cNvSpPr/>
          <p:nvPr/>
        </p:nvSpPr>
        <p:spPr>
          <a:xfrm>
            <a:off x="4773168" y="1444752"/>
            <a:ext cx="4114800" cy="5303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Microsoft's modern end-to-end testing framework designed for contemporary single-page applications. Uses the DevTools Protocol (WebSocket) — faster and more reliable than Selenium's HTTP-based protocol. Has a built-in test runner.</a:t>
            </a:r>
            <a:endParaRPr lang="en-US" sz="950" dirty="0"/>
          </a:p>
        </p:txBody>
      </p:sp>
      <p:sp>
        <p:nvSpPr>
          <p:cNvPr id="26" name="Text 24"/>
          <p:cNvSpPr/>
          <p:nvPr/>
        </p:nvSpPr>
        <p:spPr>
          <a:xfrm>
            <a:off x="4773168" y="2011680"/>
            <a:ext cx="4114800" cy="182880"/>
          </a:xfrm>
          <a:prstGeom prst="rect">
            <a:avLst/>
          </a:prstGeom>
          <a:noFill/>
          <a:ln/>
        </p:spPr>
        <p:txBody>
          <a:bodyPr wrap="square" lIns="0" tIns="0" rIns="0" bIns="0" rtlCol="0" anchor="ctr"/>
          <a:lstStyle/>
          <a:p>
            <a:pPr marL="0" indent="0">
              <a:buNone/>
            </a:pPr>
            <a:r>
              <a:rPr lang="en-US" sz="950" b="1" dirty="0">
                <a:solidFill>
                  <a:srgbClr val="0C0C0C"/>
                </a:solidFill>
                <a:latin typeface="Arial" pitchFamily="34" charset="0"/>
                <a:ea typeface="Arial" pitchFamily="34" charset="-122"/>
                <a:cs typeface="Arial" pitchFamily="34" charset="-120"/>
              </a:rPr>
              <a:t>Architecture:</a:t>
            </a:r>
            <a:endParaRPr lang="en-US" sz="950" dirty="0"/>
          </a:p>
        </p:txBody>
      </p:sp>
      <p:sp>
        <p:nvSpPr>
          <p:cNvPr id="27" name="Text 25"/>
          <p:cNvSpPr/>
          <p:nvPr/>
        </p:nvSpPr>
        <p:spPr>
          <a:xfrm>
            <a:off x="4773168" y="2194560"/>
            <a:ext cx="4114800" cy="201168"/>
          </a:xfrm>
          <a:prstGeom prst="rect">
            <a:avLst/>
          </a:prstGeom>
          <a:noFill/>
          <a:ln/>
        </p:spPr>
        <p:txBody>
          <a:bodyPr wrap="square" lIns="0" tIns="0" rIns="0" bIns="0" rtlCol="0" anchor="ctr"/>
          <a:lstStyle/>
          <a:p>
            <a:pPr marL="0" indent="0">
              <a:buNone/>
            </a:pPr>
            <a:r>
              <a:rPr lang="en-US" sz="900" dirty="0">
                <a:solidFill>
                  <a:srgbClr val="555555"/>
                </a:solidFill>
                <a:latin typeface="Consolas" pitchFamily="34" charset="0"/>
                <a:ea typeface="Consolas" pitchFamily="34" charset="-122"/>
                <a:cs typeface="Consolas" pitchFamily="34" charset="-120"/>
              </a:rPr>
              <a:t>Test Script → Playwright Library → Browser DevTools Protocol → Chromium / Firefox / WebKit</a:t>
            </a:r>
            <a:endParaRPr lang="en-US" sz="900" dirty="0"/>
          </a:p>
        </p:txBody>
      </p:sp>
      <p:sp>
        <p:nvSpPr>
          <p:cNvPr id="28" name="Text 26"/>
          <p:cNvSpPr/>
          <p:nvPr/>
        </p:nvSpPr>
        <p:spPr>
          <a:xfrm>
            <a:off x="4773168" y="2450592"/>
            <a:ext cx="4114800" cy="182880"/>
          </a:xfrm>
          <a:prstGeom prst="rect">
            <a:avLst/>
          </a:prstGeom>
          <a:noFill/>
          <a:ln/>
        </p:spPr>
        <p:txBody>
          <a:bodyPr wrap="square" lIns="0" tIns="0" rIns="0" bIns="0" rtlCol="0" anchor="ctr"/>
          <a:lstStyle/>
          <a:p>
            <a:pPr marL="0" indent="0">
              <a:buNone/>
            </a:pPr>
            <a:r>
              <a:rPr lang="en-US" sz="950" b="1" dirty="0">
                <a:solidFill>
                  <a:srgbClr val="0C0C0C"/>
                </a:solidFill>
                <a:latin typeface="Arial" pitchFamily="34" charset="0"/>
                <a:ea typeface="Arial" pitchFamily="34" charset="-122"/>
                <a:cs typeface="Arial" pitchFamily="34" charset="-120"/>
              </a:rPr>
              <a:t>Key Strengths:</a:t>
            </a:r>
            <a:endParaRPr lang="en-US" sz="950" dirty="0"/>
          </a:p>
        </p:txBody>
      </p:sp>
      <p:sp>
        <p:nvSpPr>
          <p:cNvPr id="29" name="Text 27"/>
          <p:cNvSpPr/>
          <p:nvPr/>
        </p:nvSpPr>
        <p:spPr>
          <a:xfrm>
            <a:off x="4773168" y="2633472"/>
            <a:ext cx="4114800" cy="9509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Auto-wait: Automatically waits for elements — no manual waits</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Isolated browser contexts: Tests never interfere with each other</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Built-in test runner (Playwright Test) with HTML reporter</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Codegen: Records user interactions as test code automatically</a:t>
            </a:r>
            <a:endParaRPr lang="en-US" sz="900" dirty="0"/>
          </a:p>
          <a:p>
            <a:pPr marL="342900" indent="-342900">
              <a:spcAft>
                <a:spcPts val="200"/>
              </a:spcAft>
              <a:buSzPct val="100000"/>
              <a:buChar char="•"/>
            </a:pPr>
            <a:r>
              <a:rPr lang="en-US" sz="900" dirty="0">
                <a:solidFill>
                  <a:srgbClr val="333333"/>
                </a:solidFill>
                <a:latin typeface="Arial" pitchFamily="34" charset="0"/>
                <a:ea typeface="Arial" pitchFamily="34" charset="-122"/>
                <a:cs typeface="Arial" pitchFamily="34" charset="-120"/>
              </a:rPr>
              <a:t>Trace Viewer: Full execution trace with screenshots and video</a:t>
            </a:r>
            <a:endParaRPr lang="en-US" sz="900" dirty="0"/>
          </a:p>
        </p:txBody>
      </p:sp>
      <p:sp>
        <p:nvSpPr>
          <p:cNvPr id="30" name="Text 28"/>
          <p:cNvSpPr/>
          <p:nvPr/>
        </p:nvSpPr>
        <p:spPr>
          <a:xfrm>
            <a:off x="4773168" y="3621024"/>
            <a:ext cx="4114800" cy="274320"/>
          </a:xfrm>
          <a:prstGeom prst="rect">
            <a:avLst/>
          </a:prstGeom>
          <a:noFill/>
          <a:ln/>
        </p:spPr>
        <p:txBody>
          <a:bodyPr wrap="square" lIns="0" tIns="0" rIns="0" bIns="0" rtlCol="0" anchor="ctr"/>
          <a:lstStyle/>
          <a:p>
            <a:pPr marL="0" indent="0">
              <a:buNone/>
            </a:pPr>
            <a:r>
              <a:rPr lang="en-US" sz="900" dirty="0">
                <a:solidFill>
                  <a:srgbClr val="AA4400"/>
                </a:solidFill>
                <a:latin typeface="Arial" pitchFamily="34" charset="0"/>
                <a:ea typeface="Arial" pitchFamily="34" charset="-122"/>
                <a:cs typeface="Arial" pitchFamily="34" charset="-120"/>
              </a:rPr>
              <a:t>⚠️ Smaller community than Selenium (but growing rapidly). Best suited for modern SPA frameworks.</a:t>
            </a:r>
            <a:endParaRPr lang="en-US" sz="900" dirty="0"/>
          </a:p>
        </p:txBody>
      </p:sp>
      <p:sp>
        <p:nvSpPr>
          <p:cNvPr id="31" name="Text 29"/>
          <p:cNvSpPr/>
          <p:nvPr/>
        </p:nvSpPr>
        <p:spPr>
          <a:xfrm>
            <a:off x="4773168" y="3913632"/>
            <a:ext cx="4114800" cy="237744"/>
          </a:xfrm>
          <a:prstGeom prst="rect">
            <a:avLst/>
          </a:prstGeom>
          <a:noFill/>
          <a:ln/>
        </p:spPr>
        <p:txBody>
          <a:bodyPr wrap="square" lIns="0" tIns="0" rIns="0" bIns="0" rtlCol="0" anchor="ctr"/>
          <a:lstStyle/>
          <a:p>
            <a:pPr marL="0" indent="0">
              <a:buNone/>
            </a:pPr>
            <a:r>
              <a:rPr lang="en-US" sz="850" i="1" dirty="0">
                <a:solidFill>
                  <a:srgbClr val="E8650A"/>
                </a:solidFill>
                <a:latin typeface="Arial" pitchFamily="34" charset="0"/>
                <a:ea typeface="Arial" pitchFamily="34" charset="-122"/>
                <a:cs typeface="Arial" pitchFamily="34" charset="-120"/>
              </a:rPr>
              <a:t>📌 Playwright + TypeScript: Write tests in .spec.ts files, run via `npx playwright test`, view HTML report with traces.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10</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Defect Lifecycle</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From Discovery to Closure — Full Process Detail</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Defect Lifecycle — All Stages</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10  |  DEFECT LIFECYCLE</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329184"/>
          </a:xfrm>
          <a:prstGeom prst="rect">
            <a:avLst/>
          </a:prstGeom>
          <a:noFill/>
          <a:ln/>
        </p:spPr>
        <p:txBody>
          <a:bodyPr wrap="square" lIns="0" tIns="0" rIns="0" bIns="0" rtlCol="0" anchor="ctr"/>
          <a:lstStyle/>
          <a:p>
            <a:pPr marL="0" indent="0">
              <a:buNone/>
            </a:pPr>
            <a:r>
              <a:rPr lang="en-US" sz="1100" i="1" dirty="0">
                <a:solidFill>
                  <a:srgbClr val="BBBBBB"/>
                </a:solidFill>
                <a:latin typeface="Arial" pitchFamily="34" charset="0"/>
                <a:ea typeface="Arial" pitchFamily="34" charset="-122"/>
                <a:cs typeface="Arial" pitchFamily="34" charset="-120"/>
              </a:rPr>
              <a:t>Every defect follows a formalised lifecycle from the moment it is discovered until it is permanently resolved and verified.</a:t>
            </a:r>
            <a:endParaRPr lang="en-US" sz="1100" dirty="0"/>
          </a:p>
        </p:txBody>
      </p:sp>
      <p:sp>
        <p:nvSpPr>
          <p:cNvPr id="10" name="Shape 8"/>
          <p:cNvSpPr/>
          <p:nvPr/>
        </p:nvSpPr>
        <p:spPr>
          <a:xfrm>
            <a:off x="164592" y="1188720"/>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1" name="Shape 9"/>
          <p:cNvSpPr/>
          <p:nvPr/>
        </p:nvSpPr>
        <p:spPr>
          <a:xfrm>
            <a:off x="164592" y="1188720"/>
            <a:ext cx="960120" cy="822960"/>
          </a:xfrm>
          <a:prstGeom prst="rect">
            <a:avLst/>
          </a:prstGeom>
          <a:solidFill>
            <a:srgbClr val="3A6EA5"/>
          </a:solidFill>
          <a:ln w="12700">
            <a:solidFill>
              <a:srgbClr val="3A6EA5"/>
            </a:solidFill>
            <a:prstDash val="solid"/>
          </a:ln>
        </p:spPr>
      </p:sp>
      <p:sp>
        <p:nvSpPr>
          <p:cNvPr id="12" name="Text 10"/>
          <p:cNvSpPr/>
          <p:nvPr/>
        </p:nvSpPr>
        <p:spPr>
          <a:xfrm>
            <a:off x="164592" y="1188720"/>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NEW</a:t>
            </a:r>
            <a:endParaRPr lang="en-US" sz="1100" dirty="0"/>
          </a:p>
        </p:txBody>
      </p:sp>
      <p:sp>
        <p:nvSpPr>
          <p:cNvPr id="13" name="Text 11"/>
          <p:cNvSpPr/>
          <p:nvPr/>
        </p:nvSpPr>
        <p:spPr>
          <a:xfrm>
            <a:off x="1216152" y="1234440"/>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Tester discovers a defect during test execution. They log it in the defect tracking tool (Jira / Azure DevOps / Bugzilla) with: unique ID, title, severity, priority, environment, build version, steps to reproduce, expected result, actual result, screenshots/logs.</a:t>
            </a:r>
            <a:endParaRPr lang="en-US" sz="850" dirty="0"/>
          </a:p>
        </p:txBody>
      </p:sp>
      <p:sp>
        <p:nvSpPr>
          <p:cNvPr id="14" name="Text 12"/>
          <p:cNvSpPr/>
          <p:nvPr/>
        </p:nvSpPr>
        <p:spPr>
          <a:xfrm>
            <a:off x="1216152" y="1874520"/>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Assigned</a:t>
            </a:r>
            <a:endParaRPr lang="en-US" sz="800" dirty="0"/>
          </a:p>
        </p:txBody>
      </p:sp>
      <p:sp>
        <p:nvSpPr>
          <p:cNvPr id="15" name="Shape 13"/>
          <p:cNvSpPr/>
          <p:nvPr/>
        </p:nvSpPr>
        <p:spPr>
          <a:xfrm>
            <a:off x="4663440" y="1188720"/>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6" name="Shape 14"/>
          <p:cNvSpPr/>
          <p:nvPr/>
        </p:nvSpPr>
        <p:spPr>
          <a:xfrm>
            <a:off x="4663440" y="1188720"/>
            <a:ext cx="960120" cy="822960"/>
          </a:xfrm>
          <a:prstGeom prst="rect">
            <a:avLst/>
          </a:prstGeom>
          <a:solidFill>
            <a:srgbClr val="E8650A"/>
          </a:solidFill>
          <a:ln w="12700">
            <a:solidFill>
              <a:srgbClr val="E8650A"/>
            </a:solidFill>
            <a:prstDash val="solid"/>
          </a:ln>
        </p:spPr>
      </p:sp>
      <p:sp>
        <p:nvSpPr>
          <p:cNvPr id="17" name="Text 15"/>
          <p:cNvSpPr/>
          <p:nvPr/>
        </p:nvSpPr>
        <p:spPr>
          <a:xfrm>
            <a:off x="4663440" y="1188720"/>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ASSIGNED</a:t>
            </a:r>
            <a:endParaRPr lang="en-US" sz="1100" dirty="0"/>
          </a:p>
        </p:txBody>
      </p:sp>
      <p:sp>
        <p:nvSpPr>
          <p:cNvPr id="18" name="Text 16"/>
          <p:cNvSpPr/>
          <p:nvPr/>
        </p:nvSpPr>
        <p:spPr>
          <a:xfrm>
            <a:off x="5715000" y="1234440"/>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Test Lead or Test Manager reviews the defect report for validity and completeness. If valid, it is assigned to the responsible developer. If invalid (not a defect, works as designed), it is rejected with justification.</a:t>
            </a:r>
            <a:endParaRPr lang="en-US" sz="850" dirty="0"/>
          </a:p>
        </p:txBody>
      </p:sp>
      <p:sp>
        <p:nvSpPr>
          <p:cNvPr id="19" name="Text 17"/>
          <p:cNvSpPr/>
          <p:nvPr/>
        </p:nvSpPr>
        <p:spPr>
          <a:xfrm>
            <a:off x="5715000" y="1874520"/>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Open</a:t>
            </a:r>
            <a:endParaRPr lang="en-US" sz="800" dirty="0"/>
          </a:p>
        </p:txBody>
      </p:sp>
      <p:sp>
        <p:nvSpPr>
          <p:cNvPr id="20" name="Shape 18"/>
          <p:cNvSpPr/>
          <p:nvPr/>
        </p:nvSpPr>
        <p:spPr>
          <a:xfrm>
            <a:off x="164592" y="2084832"/>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1" name="Shape 19"/>
          <p:cNvSpPr/>
          <p:nvPr/>
        </p:nvSpPr>
        <p:spPr>
          <a:xfrm>
            <a:off x="164592" y="2084832"/>
            <a:ext cx="960120" cy="822960"/>
          </a:xfrm>
          <a:prstGeom prst="rect">
            <a:avLst/>
          </a:prstGeom>
          <a:solidFill>
            <a:srgbClr val="8B6914"/>
          </a:solidFill>
          <a:ln w="12700">
            <a:solidFill>
              <a:srgbClr val="8B6914"/>
            </a:solidFill>
            <a:prstDash val="solid"/>
          </a:ln>
        </p:spPr>
      </p:sp>
      <p:sp>
        <p:nvSpPr>
          <p:cNvPr id="22" name="Text 20"/>
          <p:cNvSpPr/>
          <p:nvPr/>
        </p:nvSpPr>
        <p:spPr>
          <a:xfrm>
            <a:off x="164592" y="2084832"/>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OPEN</a:t>
            </a:r>
            <a:endParaRPr lang="en-US" sz="1100" dirty="0"/>
          </a:p>
        </p:txBody>
      </p:sp>
      <p:sp>
        <p:nvSpPr>
          <p:cNvPr id="23" name="Text 21"/>
          <p:cNvSpPr/>
          <p:nvPr/>
        </p:nvSpPr>
        <p:spPr>
          <a:xfrm>
            <a:off x="1216152" y="2130552"/>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The assigned developer acknowledges the defect. They begin root cause analysis and start implementing a fix. Status is set to Open once the developer actively starts work. They may request additional information from the tester.</a:t>
            </a:r>
            <a:endParaRPr lang="en-US" sz="850" dirty="0"/>
          </a:p>
        </p:txBody>
      </p:sp>
      <p:sp>
        <p:nvSpPr>
          <p:cNvPr id="24" name="Text 22"/>
          <p:cNvSpPr/>
          <p:nvPr/>
        </p:nvSpPr>
        <p:spPr>
          <a:xfrm>
            <a:off x="1216152" y="2770632"/>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Fixed</a:t>
            </a:r>
            <a:endParaRPr lang="en-US" sz="800" dirty="0"/>
          </a:p>
        </p:txBody>
      </p:sp>
      <p:sp>
        <p:nvSpPr>
          <p:cNvPr id="25" name="Shape 23"/>
          <p:cNvSpPr/>
          <p:nvPr/>
        </p:nvSpPr>
        <p:spPr>
          <a:xfrm>
            <a:off x="4663440" y="2084832"/>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6" name="Shape 24"/>
          <p:cNvSpPr/>
          <p:nvPr/>
        </p:nvSpPr>
        <p:spPr>
          <a:xfrm>
            <a:off x="4663440" y="2084832"/>
            <a:ext cx="960120" cy="822960"/>
          </a:xfrm>
          <a:prstGeom prst="rect">
            <a:avLst/>
          </a:prstGeom>
          <a:solidFill>
            <a:srgbClr val="2E8B57"/>
          </a:solidFill>
          <a:ln w="12700">
            <a:solidFill>
              <a:srgbClr val="2E8B57"/>
            </a:solidFill>
            <a:prstDash val="solid"/>
          </a:ln>
        </p:spPr>
      </p:sp>
      <p:sp>
        <p:nvSpPr>
          <p:cNvPr id="27" name="Text 25"/>
          <p:cNvSpPr/>
          <p:nvPr/>
        </p:nvSpPr>
        <p:spPr>
          <a:xfrm>
            <a:off x="4663440" y="2084832"/>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FIXED</a:t>
            </a:r>
            <a:endParaRPr lang="en-US" sz="1100" dirty="0"/>
          </a:p>
        </p:txBody>
      </p:sp>
      <p:sp>
        <p:nvSpPr>
          <p:cNvPr id="28" name="Text 26"/>
          <p:cNvSpPr/>
          <p:nvPr/>
        </p:nvSpPr>
        <p:spPr>
          <a:xfrm>
            <a:off x="5715000" y="2130552"/>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Developer completes the code fix and marks the defect as Fixed. They deploy the fixed build to the QA environment. A brief technical note describing what was changed is added to the defect ticket for QA reference.</a:t>
            </a:r>
            <a:endParaRPr lang="en-US" sz="850" dirty="0"/>
          </a:p>
        </p:txBody>
      </p:sp>
      <p:sp>
        <p:nvSpPr>
          <p:cNvPr id="29" name="Text 27"/>
          <p:cNvSpPr/>
          <p:nvPr/>
        </p:nvSpPr>
        <p:spPr>
          <a:xfrm>
            <a:off x="5715000" y="2770632"/>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Retested</a:t>
            </a:r>
            <a:endParaRPr lang="en-US" sz="800" dirty="0"/>
          </a:p>
        </p:txBody>
      </p:sp>
      <p:sp>
        <p:nvSpPr>
          <p:cNvPr id="30" name="Shape 28"/>
          <p:cNvSpPr/>
          <p:nvPr/>
        </p:nvSpPr>
        <p:spPr>
          <a:xfrm>
            <a:off x="164592" y="2980944"/>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1" name="Shape 29"/>
          <p:cNvSpPr/>
          <p:nvPr/>
        </p:nvSpPr>
        <p:spPr>
          <a:xfrm>
            <a:off x="164592" y="2980944"/>
            <a:ext cx="960120" cy="822960"/>
          </a:xfrm>
          <a:prstGeom prst="rect">
            <a:avLst/>
          </a:prstGeom>
          <a:solidFill>
            <a:srgbClr val="6A5ACD"/>
          </a:solidFill>
          <a:ln w="12700">
            <a:solidFill>
              <a:srgbClr val="6A5ACD"/>
            </a:solidFill>
            <a:prstDash val="solid"/>
          </a:ln>
        </p:spPr>
      </p:sp>
      <p:sp>
        <p:nvSpPr>
          <p:cNvPr id="32" name="Text 30"/>
          <p:cNvSpPr/>
          <p:nvPr/>
        </p:nvSpPr>
        <p:spPr>
          <a:xfrm>
            <a:off x="164592" y="2980944"/>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RETESTED</a:t>
            </a:r>
            <a:endParaRPr lang="en-US" sz="1100" dirty="0"/>
          </a:p>
        </p:txBody>
      </p:sp>
      <p:sp>
        <p:nvSpPr>
          <p:cNvPr id="33" name="Text 31"/>
          <p:cNvSpPr/>
          <p:nvPr/>
        </p:nvSpPr>
        <p:spPr>
          <a:xfrm>
            <a:off x="1216152" y="3026664"/>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The tester re-executes the ORIGINAL failing test case on the fixed build to verify the defect is resolved. They also run a quick impact check to ensure the fix hasn't introduced regressions in adjacent functionality.</a:t>
            </a:r>
            <a:endParaRPr lang="en-US" sz="850" dirty="0"/>
          </a:p>
        </p:txBody>
      </p:sp>
      <p:sp>
        <p:nvSpPr>
          <p:cNvPr id="34" name="Text 32"/>
          <p:cNvSpPr/>
          <p:nvPr/>
        </p:nvSpPr>
        <p:spPr>
          <a:xfrm>
            <a:off x="1216152" y="3666744"/>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Closed or Reopened</a:t>
            </a:r>
            <a:endParaRPr lang="en-US" sz="800" dirty="0"/>
          </a:p>
        </p:txBody>
      </p:sp>
      <p:sp>
        <p:nvSpPr>
          <p:cNvPr id="35" name="Shape 33"/>
          <p:cNvSpPr/>
          <p:nvPr/>
        </p:nvSpPr>
        <p:spPr>
          <a:xfrm>
            <a:off x="4663440" y="2980944"/>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6" name="Shape 34"/>
          <p:cNvSpPr/>
          <p:nvPr/>
        </p:nvSpPr>
        <p:spPr>
          <a:xfrm>
            <a:off x="4663440" y="2980944"/>
            <a:ext cx="960120" cy="822960"/>
          </a:xfrm>
          <a:prstGeom prst="rect">
            <a:avLst/>
          </a:prstGeom>
          <a:solidFill>
            <a:srgbClr val="555555"/>
          </a:solidFill>
          <a:ln w="12700">
            <a:solidFill>
              <a:srgbClr val="555555"/>
            </a:solidFill>
            <a:prstDash val="solid"/>
          </a:ln>
        </p:spPr>
      </p:sp>
      <p:sp>
        <p:nvSpPr>
          <p:cNvPr id="37" name="Text 35"/>
          <p:cNvSpPr/>
          <p:nvPr/>
        </p:nvSpPr>
        <p:spPr>
          <a:xfrm>
            <a:off x="4663440" y="2980944"/>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CLOSED</a:t>
            </a:r>
            <a:endParaRPr lang="en-US" sz="1100" dirty="0"/>
          </a:p>
        </p:txBody>
      </p:sp>
      <p:sp>
        <p:nvSpPr>
          <p:cNvPr id="38" name="Text 36"/>
          <p:cNvSpPr/>
          <p:nvPr/>
        </p:nvSpPr>
        <p:spPr>
          <a:xfrm>
            <a:off x="5715000" y="3026664"/>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The defect is confirmed as fixed. Test Manager approves closure. Defect metrics are updated. This is the happy-path end state.</a:t>
            </a:r>
            <a:endParaRPr lang="en-US" sz="850" dirty="0"/>
          </a:p>
        </p:txBody>
      </p:sp>
      <p:sp>
        <p:nvSpPr>
          <p:cNvPr id="39" name="Text 37"/>
          <p:cNvSpPr/>
          <p:nvPr/>
        </p:nvSpPr>
        <p:spPr>
          <a:xfrm>
            <a:off x="5715000" y="3666744"/>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a:t>
            </a:r>
            <a:endParaRPr lang="en-US" sz="800" dirty="0"/>
          </a:p>
        </p:txBody>
      </p:sp>
      <p:sp>
        <p:nvSpPr>
          <p:cNvPr id="40" name="Shape 38"/>
          <p:cNvSpPr/>
          <p:nvPr/>
        </p:nvSpPr>
        <p:spPr>
          <a:xfrm>
            <a:off x="164592" y="3877056"/>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1" name="Shape 39"/>
          <p:cNvSpPr/>
          <p:nvPr/>
        </p:nvSpPr>
        <p:spPr>
          <a:xfrm>
            <a:off x="164592" y="3877056"/>
            <a:ext cx="960120" cy="822960"/>
          </a:xfrm>
          <a:prstGeom prst="rect">
            <a:avLst/>
          </a:prstGeom>
          <a:solidFill>
            <a:srgbClr val="CC2200"/>
          </a:solidFill>
          <a:ln w="12700">
            <a:solidFill>
              <a:srgbClr val="CC2200"/>
            </a:solidFill>
            <a:prstDash val="solid"/>
          </a:ln>
        </p:spPr>
      </p:sp>
      <p:sp>
        <p:nvSpPr>
          <p:cNvPr id="42" name="Text 40"/>
          <p:cNvSpPr/>
          <p:nvPr/>
        </p:nvSpPr>
        <p:spPr>
          <a:xfrm>
            <a:off x="164592" y="3877056"/>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REOPENED</a:t>
            </a:r>
            <a:endParaRPr lang="en-US" sz="1100" dirty="0"/>
          </a:p>
        </p:txBody>
      </p:sp>
      <p:sp>
        <p:nvSpPr>
          <p:cNvPr id="43" name="Text 41"/>
          <p:cNvSpPr/>
          <p:nvPr/>
        </p:nvSpPr>
        <p:spPr>
          <a:xfrm>
            <a:off x="1216152" y="3922776"/>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The fix was incomplete, incorrect, or introduced a regression. The tester re-opens the defect with detailed evidence (screenshots, log comparison). It re-enters the ASSIGNED state for the developer to re-address.</a:t>
            </a:r>
            <a:endParaRPr lang="en-US" sz="850" dirty="0"/>
          </a:p>
        </p:txBody>
      </p:sp>
      <p:sp>
        <p:nvSpPr>
          <p:cNvPr id="44" name="Text 42"/>
          <p:cNvSpPr/>
          <p:nvPr/>
        </p:nvSpPr>
        <p:spPr>
          <a:xfrm>
            <a:off x="1216152" y="4562856"/>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Open</a:t>
            </a:r>
            <a:endParaRPr lang="en-US" sz="800" dirty="0"/>
          </a:p>
        </p:txBody>
      </p:sp>
      <p:sp>
        <p:nvSpPr>
          <p:cNvPr id="45" name="Shape 43"/>
          <p:cNvSpPr/>
          <p:nvPr/>
        </p:nvSpPr>
        <p:spPr>
          <a:xfrm>
            <a:off x="4663440" y="3877056"/>
            <a:ext cx="4315968" cy="82296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6" name="Shape 44"/>
          <p:cNvSpPr/>
          <p:nvPr/>
        </p:nvSpPr>
        <p:spPr>
          <a:xfrm>
            <a:off x="4663440" y="3877056"/>
            <a:ext cx="960120" cy="822960"/>
          </a:xfrm>
          <a:prstGeom prst="rect">
            <a:avLst/>
          </a:prstGeom>
          <a:solidFill>
            <a:srgbClr val="887700"/>
          </a:solidFill>
          <a:ln w="12700">
            <a:solidFill>
              <a:srgbClr val="887700"/>
            </a:solidFill>
            <a:prstDash val="solid"/>
          </a:ln>
        </p:spPr>
      </p:sp>
      <p:sp>
        <p:nvSpPr>
          <p:cNvPr id="47" name="Text 45"/>
          <p:cNvSpPr/>
          <p:nvPr/>
        </p:nvSpPr>
        <p:spPr>
          <a:xfrm>
            <a:off x="4663440" y="3877056"/>
            <a:ext cx="9601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DEFERRED</a:t>
            </a:r>
            <a:endParaRPr lang="en-US" sz="1100" dirty="0"/>
          </a:p>
        </p:txBody>
      </p:sp>
      <p:sp>
        <p:nvSpPr>
          <p:cNvPr id="48" name="Text 46"/>
          <p:cNvSpPr/>
          <p:nvPr/>
        </p:nvSpPr>
        <p:spPr>
          <a:xfrm>
            <a:off x="5715000" y="3922776"/>
            <a:ext cx="3154680" cy="658368"/>
          </a:xfrm>
          <a:prstGeom prst="rect">
            <a:avLst/>
          </a:prstGeom>
          <a:noFill/>
          <a:ln/>
        </p:spPr>
        <p:txBody>
          <a:bodyPr wrap="square" lIns="0" tIns="0" rIns="0" bIns="0" rtlCol="0" anchor="ctr"/>
          <a:lstStyle/>
          <a:p>
            <a:pPr marL="0" indent="0">
              <a:buNone/>
            </a:pPr>
            <a:r>
              <a:rPr lang="en-US" sz="850" dirty="0">
                <a:solidFill>
                  <a:srgbClr val="BBBBBB"/>
                </a:solidFill>
                <a:latin typeface="Arial" pitchFamily="34" charset="0"/>
                <a:ea typeface="Arial" pitchFamily="34" charset="-122"/>
                <a:cs typeface="Arial" pitchFamily="34" charset="-120"/>
              </a:rPr>
              <a:t>The defect is acknowledged but its fix is postponed to a future release. Business decision — typically low priority, low impact, or resource-constrained. Must have documented approval from the Product Owner.</a:t>
            </a:r>
            <a:endParaRPr lang="en-US" sz="850" dirty="0"/>
          </a:p>
        </p:txBody>
      </p:sp>
      <p:sp>
        <p:nvSpPr>
          <p:cNvPr id="49" name="Text 47"/>
          <p:cNvSpPr/>
          <p:nvPr/>
        </p:nvSpPr>
        <p:spPr>
          <a:xfrm>
            <a:off x="5715000" y="4562856"/>
            <a:ext cx="3154680" cy="164592"/>
          </a:xfrm>
          <a:prstGeom prst="rect">
            <a:avLst/>
          </a:prstGeom>
          <a:noFill/>
          <a:ln/>
        </p:spPr>
        <p:txBody>
          <a:bodyPr wrap="square" lIns="0" tIns="0" rIns="0" bIns="0" rtlCol="0" anchor="ctr"/>
          <a:lstStyle/>
          <a:p>
            <a:pPr marL="0" indent="0">
              <a:buNone/>
            </a:pPr>
            <a:r>
              <a:rPr lang="en-US" sz="800" i="1" dirty="0">
                <a:solidFill>
                  <a:srgbClr val="E8650A"/>
                </a:solidFill>
                <a:latin typeface="Arial" pitchFamily="34" charset="0"/>
                <a:ea typeface="Arial" pitchFamily="34" charset="-122"/>
                <a:cs typeface="Arial" pitchFamily="34" charset="-120"/>
              </a:rPr>
              <a:t>→ Next: Next Release</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Severity vs Priority — A Critical Distinction</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10  |  DEFECT LIFECYCLE</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Shape 6"/>
          <p:cNvSpPr/>
          <p:nvPr/>
        </p:nvSpPr>
        <p:spPr>
          <a:xfrm>
            <a:off x="164592" y="804672"/>
            <a:ext cx="4315968" cy="299923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9" name="Shape 7"/>
          <p:cNvSpPr/>
          <p:nvPr/>
        </p:nvSpPr>
        <p:spPr>
          <a:xfrm>
            <a:off x="164592" y="804672"/>
            <a:ext cx="4315968" cy="365760"/>
          </a:xfrm>
          <a:prstGeom prst="rect">
            <a:avLst/>
          </a:prstGeom>
          <a:solidFill>
            <a:srgbClr val="0C0C0C"/>
          </a:solidFill>
          <a:ln w="12700">
            <a:solidFill>
              <a:srgbClr val="0C0C0C"/>
            </a:solidFill>
            <a:prstDash val="solid"/>
          </a:ln>
        </p:spPr>
      </p:sp>
      <p:sp>
        <p:nvSpPr>
          <p:cNvPr id="10" name="Text 8"/>
          <p:cNvSpPr/>
          <p:nvPr/>
        </p:nvSpPr>
        <p:spPr>
          <a:xfrm>
            <a:off x="274320" y="804672"/>
            <a:ext cx="228600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SEVERITY</a:t>
            </a:r>
            <a:endParaRPr lang="en-US" sz="1400" dirty="0"/>
          </a:p>
        </p:txBody>
      </p:sp>
      <p:sp>
        <p:nvSpPr>
          <p:cNvPr id="11" name="Text 9"/>
          <p:cNvSpPr/>
          <p:nvPr/>
        </p:nvSpPr>
        <p:spPr>
          <a:xfrm>
            <a:off x="2587752" y="822960"/>
            <a:ext cx="1783080" cy="329184"/>
          </a:xfrm>
          <a:prstGeom prst="rect">
            <a:avLst/>
          </a:prstGeom>
          <a:noFill/>
          <a:ln/>
        </p:spPr>
        <p:txBody>
          <a:bodyPr wrap="square" lIns="0" tIns="0" rIns="0" bIns="0" rtlCol="0" anchor="ctr"/>
          <a:lstStyle/>
          <a:p>
            <a:pPr marL="0" indent="0" algn="r">
              <a:buNone/>
            </a:pPr>
            <a:r>
              <a:rPr lang="en-US" sz="900" i="1" dirty="0">
                <a:solidFill>
                  <a:srgbClr val="E8650A"/>
                </a:solidFill>
                <a:latin typeface="Arial" pitchFamily="34" charset="0"/>
                <a:ea typeface="Arial" pitchFamily="34" charset="-122"/>
                <a:cs typeface="Arial" pitchFamily="34" charset="-120"/>
              </a:rPr>
              <a:t>Set by: Set by Tester</a:t>
            </a:r>
            <a:endParaRPr lang="en-US" sz="900" dirty="0"/>
          </a:p>
        </p:txBody>
      </p:sp>
      <p:sp>
        <p:nvSpPr>
          <p:cNvPr id="12" name="Text 10"/>
          <p:cNvSpPr/>
          <p:nvPr/>
        </p:nvSpPr>
        <p:spPr>
          <a:xfrm>
            <a:off x="274320" y="1207008"/>
            <a:ext cx="4114800" cy="402336"/>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Measures the TECHNICAL IMPACT of the defect on the functionality of the system. How badly does this defect affect the system's behaviour?</a:t>
            </a:r>
            <a:endParaRPr lang="en-US" sz="1000" dirty="0"/>
          </a:p>
        </p:txBody>
      </p:sp>
      <p:sp>
        <p:nvSpPr>
          <p:cNvPr id="13" name="Shape 11"/>
          <p:cNvSpPr/>
          <p:nvPr/>
        </p:nvSpPr>
        <p:spPr>
          <a:xfrm>
            <a:off x="274320" y="1664208"/>
            <a:ext cx="822960" cy="438912"/>
          </a:xfrm>
          <a:prstGeom prst="rect">
            <a:avLst/>
          </a:prstGeom>
          <a:solidFill>
            <a:srgbClr val="CC0000"/>
          </a:solidFill>
          <a:ln w="12700">
            <a:solidFill>
              <a:srgbClr val="CC0000"/>
            </a:solidFill>
            <a:prstDash val="solid"/>
          </a:ln>
        </p:spPr>
      </p:sp>
      <p:sp>
        <p:nvSpPr>
          <p:cNvPr id="14" name="Text 12"/>
          <p:cNvSpPr/>
          <p:nvPr/>
        </p:nvSpPr>
        <p:spPr>
          <a:xfrm>
            <a:off x="274320" y="1664208"/>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Critical</a:t>
            </a:r>
            <a:endParaRPr lang="en-US" sz="850" dirty="0"/>
          </a:p>
        </p:txBody>
      </p:sp>
      <p:sp>
        <p:nvSpPr>
          <p:cNvPr id="15" name="Text 13"/>
          <p:cNvSpPr/>
          <p:nvPr/>
        </p:nvSpPr>
        <p:spPr>
          <a:xfrm>
            <a:off x="1188720" y="1709928"/>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System crash, data loss, complete feature unusable, security breach. No workaround exists.</a:t>
            </a:r>
            <a:endParaRPr lang="en-US" sz="950" dirty="0"/>
          </a:p>
        </p:txBody>
      </p:sp>
      <p:sp>
        <p:nvSpPr>
          <p:cNvPr id="16" name="Shape 14"/>
          <p:cNvSpPr/>
          <p:nvPr/>
        </p:nvSpPr>
        <p:spPr>
          <a:xfrm>
            <a:off x="274320" y="2194560"/>
            <a:ext cx="822960" cy="438912"/>
          </a:xfrm>
          <a:prstGeom prst="rect">
            <a:avLst/>
          </a:prstGeom>
          <a:solidFill>
            <a:srgbClr val="DD4400"/>
          </a:solidFill>
          <a:ln w="12700">
            <a:solidFill>
              <a:srgbClr val="DD4400"/>
            </a:solidFill>
            <a:prstDash val="solid"/>
          </a:ln>
        </p:spPr>
      </p:sp>
      <p:sp>
        <p:nvSpPr>
          <p:cNvPr id="17" name="Text 15"/>
          <p:cNvSpPr/>
          <p:nvPr/>
        </p:nvSpPr>
        <p:spPr>
          <a:xfrm>
            <a:off x="274320" y="2194560"/>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High</a:t>
            </a:r>
            <a:endParaRPr lang="en-US" sz="850" dirty="0"/>
          </a:p>
        </p:txBody>
      </p:sp>
      <p:sp>
        <p:nvSpPr>
          <p:cNvPr id="18" name="Text 16"/>
          <p:cNvSpPr/>
          <p:nvPr/>
        </p:nvSpPr>
        <p:spPr>
          <a:xfrm>
            <a:off x="1188720" y="2240280"/>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Major feature significantly impaired. Workaround possible but difficult or time-consuming.</a:t>
            </a:r>
            <a:endParaRPr lang="en-US" sz="950" dirty="0"/>
          </a:p>
        </p:txBody>
      </p:sp>
      <p:sp>
        <p:nvSpPr>
          <p:cNvPr id="19" name="Shape 17"/>
          <p:cNvSpPr/>
          <p:nvPr/>
        </p:nvSpPr>
        <p:spPr>
          <a:xfrm>
            <a:off x="274320" y="2724912"/>
            <a:ext cx="822960" cy="438912"/>
          </a:xfrm>
          <a:prstGeom prst="rect">
            <a:avLst/>
          </a:prstGeom>
          <a:solidFill>
            <a:srgbClr val="BB7700"/>
          </a:solidFill>
          <a:ln w="12700">
            <a:solidFill>
              <a:srgbClr val="BB7700"/>
            </a:solidFill>
            <a:prstDash val="solid"/>
          </a:ln>
        </p:spPr>
      </p:sp>
      <p:sp>
        <p:nvSpPr>
          <p:cNvPr id="20" name="Text 18"/>
          <p:cNvSpPr/>
          <p:nvPr/>
        </p:nvSpPr>
        <p:spPr>
          <a:xfrm>
            <a:off x="274320" y="2724912"/>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Medium</a:t>
            </a:r>
            <a:endParaRPr lang="en-US" sz="850" dirty="0"/>
          </a:p>
        </p:txBody>
      </p:sp>
      <p:sp>
        <p:nvSpPr>
          <p:cNvPr id="21" name="Text 19"/>
          <p:cNvSpPr/>
          <p:nvPr/>
        </p:nvSpPr>
        <p:spPr>
          <a:xfrm>
            <a:off x="1188720" y="2770632"/>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Feature works but with minor limitations. Easy workaround available.</a:t>
            </a:r>
            <a:endParaRPr lang="en-US" sz="950" dirty="0"/>
          </a:p>
        </p:txBody>
      </p:sp>
      <p:sp>
        <p:nvSpPr>
          <p:cNvPr id="22" name="Shape 20"/>
          <p:cNvSpPr/>
          <p:nvPr/>
        </p:nvSpPr>
        <p:spPr>
          <a:xfrm>
            <a:off x="274320" y="3255264"/>
            <a:ext cx="822960" cy="438912"/>
          </a:xfrm>
          <a:prstGeom prst="rect">
            <a:avLst/>
          </a:prstGeom>
          <a:solidFill>
            <a:srgbClr val="777777"/>
          </a:solidFill>
          <a:ln w="12700">
            <a:solidFill>
              <a:srgbClr val="777777"/>
            </a:solidFill>
            <a:prstDash val="solid"/>
          </a:ln>
        </p:spPr>
      </p:sp>
      <p:sp>
        <p:nvSpPr>
          <p:cNvPr id="23" name="Text 21"/>
          <p:cNvSpPr/>
          <p:nvPr/>
        </p:nvSpPr>
        <p:spPr>
          <a:xfrm>
            <a:off x="274320" y="3255264"/>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Low</a:t>
            </a:r>
            <a:endParaRPr lang="en-US" sz="850" dirty="0"/>
          </a:p>
        </p:txBody>
      </p:sp>
      <p:sp>
        <p:nvSpPr>
          <p:cNvPr id="24" name="Text 22"/>
          <p:cNvSpPr/>
          <p:nvPr/>
        </p:nvSpPr>
        <p:spPr>
          <a:xfrm>
            <a:off x="1188720" y="3300984"/>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Cosmetic issues — typos, minor UI misalignment, aesthetic inconsistencies.</a:t>
            </a:r>
            <a:endParaRPr lang="en-US" sz="950" dirty="0"/>
          </a:p>
        </p:txBody>
      </p:sp>
      <p:sp>
        <p:nvSpPr>
          <p:cNvPr id="25" name="Shape 23"/>
          <p:cNvSpPr/>
          <p:nvPr/>
        </p:nvSpPr>
        <p:spPr>
          <a:xfrm>
            <a:off x="4663440" y="804672"/>
            <a:ext cx="4315968" cy="299923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6" name="Shape 24"/>
          <p:cNvSpPr/>
          <p:nvPr/>
        </p:nvSpPr>
        <p:spPr>
          <a:xfrm>
            <a:off x="4663440" y="804672"/>
            <a:ext cx="4315968" cy="365760"/>
          </a:xfrm>
          <a:prstGeom prst="rect">
            <a:avLst/>
          </a:prstGeom>
          <a:solidFill>
            <a:srgbClr val="1A3A5C"/>
          </a:solidFill>
          <a:ln w="12700">
            <a:solidFill>
              <a:srgbClr val="1A3A5C"/>
            </a:solidFill>
            <a:prstDash val="solid"/>
          </a:ln>
        </p:spPr>
      </p:sp>
      <p:sp>
        <p:nvSpPr>
          <p:cNvPr id="27" name="Text 25"/>
          <p:cNvSpPr/>
          <p:nvPr/>
        </p:nvSpPr>
        <p:spPr>
          <a:xfrm>
            <a:off x="4773168" y="804672"/>
            <a:ext cx="228600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PRIORITY</a:t>
            </a:r>
            <a:endParaRPr lang="en-US" sz="1400" dirty="0"/>
          </a:p>
        </p:txBody>
      </p:sp>
      <p:sp>
        <p:nvSpPr>
          <p:cNvPr id="28" name="Text 26"/>
          <p:cNvSpPr/>
          <p:nvPr/>
        </p:nvSpPr>
        <p:spPr>
          <a:xfrm>
            <a:off x="7086600" y="822960"/>
            <a:ext cx="1783080" cy="329184"/>
          </a:xfrm>
          <a:prstGeom prst="rect">
            <a:avLst/>
          </a:prstGeom>
          <a:noFill/>
          <a:ln/>
        </p:spPr>
        <p:txBody>
          <a:bodyPr wrap="square" lIns="0" tIns="0" rIns="0" bIns="0" rtlCol="0" anchor="ctr"/>
          <a:lstStyle/>
          <a:p>
            <a:pPr marL="0" indent="0" algn="r">
              <a:buNone/>
            </a:pPr>
            <a:r>
              <a:rPr lang="en-US" sz="900" i="1" dirty="0">
                <a:solidFill>
                  <a:srgbClr val="E8650A"/>
                </a:solidFill>
                <a:latin typeface="Arial" pitchFamily="34" charset="0"/>
                <a:ea typeface="Arial" pitchFamily="34" charset="-122"/>
                <a:cs typeface="Arial" pitchFamily="34" charset="-120"/>
              </a:rPr>
              <a:t>Set by: Set by Product Owner / BA</a:t>
            </a:r>
            <a:endParaRPr lang="en-US" sz="900" dirty="0"/>
          </a:p>
        </p:txBody>
      </p:sp>
      <p:sp>
        <p:nvSpPr>
          <p:cNvPr id="29" name="Text 27"/>
          <p:cNvSpPr/>
          <p:nvPr/>
        </p:nvSpPr>
        <p:spPr>
          <a:xfrm>
            <a:off x="4773168" y="1207008"/>
            <a:ext cx="4114800" cy="402336"/>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Measures the BUSINESS URGENCY of fixing the defect. How quickly does the business need this fixed relative to other work?</a:t>
            </a:r>
            <a:endParaRPr lang="en-US" sz="1000" dirty="0"/>
          </a:p>
        </p:txBody>
      </p:sp>
      <p:sp>
        <p:nvSpPr>
          <p:cNvPr id="30" name="Shape 28"/>
          <p:cNvSpPr/>
          <p:nvPr/>
        </p:nvSpPr>
        <p:spPr>
          <a:xfrm>
            <a:off x="4773168" y="1664208"/>
            <a:ext cx="822960" cy="438912"/>
          </a:xfrm>
          <a:prstGeom prst="rect">
            <a:avLst/>
          </a:prstGeom>
          <a:solidFill>
            <a:srgbClr val="CC0000"/>
          </a:solidFill>
          <a:ln w="12700">
            <a:solidFill>
              <a:srgbClr val="CC0000"/>
            </a:solidFill>
            <a:prstDash val="solid"/>
          </a:ln>
        </p:spPr>
      </p:sp>
      <p:sp>
        <p:nvSpPr>
          <p:cNvPr id="31" name="Text 29"/>
          <p:cNvSpPr/>
          <p:nvPr/>
        </p:nvSpPr>
        <p:spPr>
          <a:xfrm>
            <a:off x="4773168" y="1664208"/>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P1 – Immediate</a:t>
            </a:r>
            <a:endParaRPr lang="en-US" sz="850" dirty="0"/>
          </a:p>
        </p:txBody>
      </p:sp>
      <p:sp>
        <p:nvSpPr>
          <p:cNvPr id="32" name="Text 30"/>
          <p:cNvSpPr/>
          <p:nvPr/>
        </p:nvSpPr>
        <p:spPr>
          <a:xfrm>
            <a:off x="5687568" y="1709928"/>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Must be fixed before any further testing. Release is blocked until resolved.</a:t>
            </a:r>
            <a:endParaRPr lang="en-US" sz="950" dirty="0"/>
          </a:p>
        </p:txBody>
      </p:sp>
      <p:sp>
        <p:nvSpPr>
          <p:cNvPr id="33" name="Shape 31"/>
          <p:cNvSpPr/>
          <p:nvPr/>
        </p:nvSpPr>
        <p:spPr>
          <a:xfrm>
            <a:off x="4773168" y="2194560"/>
            <a:ext cx="822960" cy="438912"/>
          </a:xfrm>
          <a:prstGeom prst="rect">
            <a:avLst/>
          </a:prstGeom>
          <a:solidFill>
            <a:srgbClr val="DD4400"/>
          </a:solidFill>
          <a:ln w="12700">
            <a:solidFill>
              <a:srgbClr val="DD4400"/>
            </a:solidFill>
            <a:prstDash val="solid"/>
          </a:ln>
        </p:spPr>
      </p:sp>
      <p:sp>
        <p:nvSpPr>
          <p:cNvPr id="34" name="Text 32"/>
          <p:cNvSpPr/>
          <p:nvPr/>
        </p:nvSpPr>
        <p:spPr>
          <a:xfrm>
            <a:off x="4773168" y="2194560"/>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P2 – High</a:t>
            </a:r>
            <a:endParaRPr lang="en-US" sz="850" dirty="0"/>
          </a:p>
        </p:txBody>
      </p:sp>
      <p:sp>
        <p:nvSpPr>
          <p:cNvPr id="35" name="Text 33"/>
          <p:cNvSpPr/>
          <p:nvPr/>
        </p:nvSpPr>
        <p:spPr>
          <a:xfrm>
            <a:off x="5687568" y="2240280"/>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Must be fixed within the current sprint or release cycle.</a:t>
            </a:r>
            <a:endParaRPr lang="en-US" sz="950" dirty="0"/>
          </a:p>
        </p:txBody>
      </p:sp>
      <p:sp>
        <p:nvSpPr>
          <p:cNvPr id="36" name="Shape 34"/>
          <p:cNvSpPr/>
          <p:nvPr/>
        </p:nvSpPr>
        <p:spPr>
          <a:xfrm>
            <a:off x="4773168" y="2724912"/>
            <a:ext cx="822960" cy="438912"/>
          </a:xfrm>
          <a:prstGeom prst="rect">
            <a:avLst/>
          </a:prstGeom>
          <a:solidFill>
            <a:srgbClr val="BB7700"/>
          </a:solidFill>
          <a:ln w="12700">
            <a:solidFill>
              <a:srgbClr val="BB7700"/>
            </a:solidFill>
            <a:prstDash val="solid"/>
          </a:ln>
        </p:spPr>
      </p:sp>
      <p:sp>
        <p:nvSpPr>
          <p:cNvPr id="37" name="Text 35"/>
          <p:cNvSpPr/>
          <p:nvPr/>
        </p:nvSpPr>
        <p:spPr>
          <a:xfrm>
            <a:off x="4773168" y="2724912"/>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P3 – Medium</a:t>
            </a:r>
            <a:endParaRPr lang="en-US" sz="850" dirty="0"/>
          </a:p>
        </p:txBody>
      </p:sp>
      <p:sp>
        <p:nvSpPr>
          <p:cNvPr id="38" name="Text 36"/>
          <p:cNvSpPr/>
          <p:nvPr/>
        </p:nvSpPr>
        <p:spPr>
          <a:xfrm>
            <a:off x="5687568" y="2770632"/>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Should be fixed in the next planned release if resources allow.</a:t>
            </a:r>
            <a:endParaRPr lang="en-US" sz="950" dirty="0"/>
          </a:p>
        </p:txBody>
      </p:sp>
      <p:sp>
        <p:nvSpPr>
          <p:cNvPr id="39" name="Shape 37"/>
          <p:cNvSpPr/>
          <p:nvPr/>
        </p:nvSpPr>
        <p:spPr>
          <a:xfrm>
            <a:off x="4773168" y="3255264"/>
            <a:ext cx="822960" cy="438912"/>
          </a:xfrm>
          <a:prstGeom prst="rect">
            <a:avLst/>
          </a:prstGeom>
          <a:solidFill>
            <a:srgbClr val="777777"/>
          </a:solidFill>
          <a:ln w="12700">
            <a:solidFill>
              <a:srgbClr val="777777"/>
            </a:solidFill>
            <a:prstDash val="solid"/>
          </a:ln>
        </p:spPr>
      </p:sp>
      <p:sp>
        <p:nvSpPr>
          <p:cNvPr id="40" name="Text 38"/>
          <p:cNvSpPr/>
          <p:nvPr/>
        </p:nvSpPr>
        <p:spPr>
          <a:xfrm>
            <a:off x="4773168" y="3255264"/>
            <a:ext cx="822960" cy="438912"/>
          </a:xfrm>
          <a:prstGeom prst="rect">
            <a:avLst/>
          </a:prstGeom>
          <a:noFill/>
          <a:ln/>
        </p:spPr>
        <p:txBody>
          <a:bodyPr wrap="square" lIns="0" tIns="0" rIns="0" bIns="0" rtlCol="0" anchor="ctr"/>
          <a:lstStyle/>
          <a:p>
            <a:pPr marL="0" indent="0" algn="ctr">
              <a:buNone/>
            </a:pPr>
            <a:r>
              <a:rPr lang="en-US" sz="850" b="1" dirty="0">
                <a:solidFill>
                  <a:srgbClr val="FFFFFF"/>
                </a:solidFill>
                <a:latin typeface="Arial Black" pitchFamily="34" charset="0"/>
                <a:ea typeface="Arial Black" pitchFamily="34" charset="-122"/>
                <a:cs typeface="Arial Black" pitchFamily="34" charset="-120"/>
              </a:rPr>
              <a:t>P4 – Low</a:t>
            </a:r>
            <a:endParaRPr lang="en-US" sz="850" dirty="0"/>
          </a:p>
        </p:txBody>
      </p:sp>
      <p:sp>
        <p:nvSpPr>
          <p:cNvPr id="41" name="Text 39"/>
          <p:cNvSpPr/>
          <p:nvPr/>
        </p:nvSpPr>
        <p:spPr>
          <a:xfrm>
            <a:off x="5687568" y="3300984"/>
            <a:ext cx="320040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Nice-to-fix but can be deferred indefinitely without business impact.</a:t>
            </a:r>
            <a:endParaRPr lang="en-US" sz="950" dirty="0"/>
          </a:p>
        </p:txBody>
      </p:sp>
      <p:sp>
        <p:nvSpPr>
          <p:cNvPr id="42" name="Text 40"/>
          <p:cNvSpPr/>
          <p:nvPr/>
        </p:nvSpPr>
        <p:spPr>
          <a:xfrm>
            <a:off x="182880" y="3739896"/>
            <a:ext cx="8229600" cy="274320"/>
          </a:xfrm>
          <a:prstGeom prst="rect">
            <a:avLst/>
          </a:prstGeom>
          <a:noFill/>
          <a:ln/>
        </p:spPr>
        <p:txBody>
          <a:bodyPr wrap="square" lIns="0" tIns="0" rIns="0" bIns="0" rtlCol="0" anchor="ctr"/>
          <a:lstStyle/>
          <a:p>
            <a:pPr marL="0" indent="0">
              <a:buNone/>
            </a:pPr>
            <a:r>
              <a:rPr lang="en-US" sz="1300" b="1" dirty="0">
                <a:solidFill>
                  <a:srgbClr val="0C0C0C"/>
                </a:solidFill>
                <a:latin typeface="Arial Black" pitchFamily="34" charset="0"/>
                <a:ea typeface="Arial Black" pitchFamily="34" charset="-122"/>
                <a:cs typeface="Arial Black" pitchFamily="34" charset="-120"/>
              </a:rPr>
              <a:t>Severity × Priority Matrix — Understanding Conflicts:</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3476884294"/>
              </p:ext>
            </p:extLst>
          </p:nvPr>
        </p:nvGraphicFramePr>
        <p:xfrm>
          <a:off x="164592" y="3950560"/>
          <a:ext cx="8595359" cy="1060202"/>
        </p:xfrm>
        <a:graphic>
          <a:graphicData uri="http://schemas.openxmlformats.org/drawingml/2006/table">
            <a:tbl>
              <a:tblPr/>
              <a:tblGrid>
                <a:gridCol w="2493990">
                  <a:extLst>
                    <a:ext uri="{9D8B030D-6E8A-4147-A177-3AD203B41FA5}">
                      <a16:colId xmlns:a16="http://schemas.microsoft.com/office/drawing/2014/main" val="20000"/>
                    </a:ext>
                  </a:extLst>
                </a:gridCol>
                <a:gridCol w="4319948">
                  <a:extLst>
                    <a:ext uri="{9D8B030D-6E8A-4147-A177-3AD203B41FA5}">
                      <a16:colId xmlns:a16="http://schemas.microsoft.com/office/drawing/2014/main" val="20001"/>
                    </a:ext>
                  </a:extLst>
                </a:gridCol>
                <a:gridCol w="1781421">
                  <a:extLst>
                    <a:ext uri="{9D8B030D-6E8A-4147-A177-3AD203B41FA5}">
                      <a16:colId xmlns:a16="http://schemas.microsoft.com/office/drawing/2014/main" val="20002"/>
                    </a:ext>
                  </a:extLst>
                </a:gridCol>
              </a:tblGrid>
              <a:tr h="149069">
                <a:tc>
                  <a:txBody>
                    <a:bodyPr/>
                    <a:lstStyle/>
                    <a:p>
                      <a:pPr marL="0" indent="0">
                        <a:buNone/>
                      </a:pPr>
                      <a:r>
                        <a:rPr lang="en-US" sz="700" b="1" dirty="0">
                          <a:solidFill>
                            <a:srgbClr val="FFFFFF"/>
                          </a:solidFill>
                        </a:rPr>
                        <a:t>Combination</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C0C0C"/>
                    </a:solidFill>
                  </a:tcPr>
                </a:tc>
                <a:tc>
                  <a:txBody>
                    <a:bodyPr/>
                    <a:lstStyle/>
                    <a:p>
                      <a:pPr marL="0" indent="0">
                        <a:buNone/>
                      </a:pPr>
                      <a:r>
                        <a:rPr lang="en-US" sz="700" b="1" dirty="0">
                          <a:solidFill>
                            <a:srgbClr val="FFFFFF"/>
                          </a:solidFill>
                        </a:rPr>
                        <a:t>Example</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C0C0C"/>
                    </a:solidFill>
                  </a:tcPr>
                </a:tc>
                <a:tc>
                  <a:txBody>
                    <a:bodyPr/>
                    <a:lstStyle/>
                    <a:p>
                      <a:pPr marL="0" indent="0">
                        <a:buNone/>
                      </a:pPr>
                      <a:r>
                        <a:rPr lang="en-US" sz="700" b="1" dirty="0">
                          <a:solidFill>
                            <a:srgbClr val="FFFFFF"/>
                          </a:solidFill>
                        </a:rPr>
                        <a:t>Decision</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C0C0C"/>
                    </a:solidFill>
                  </a:tcPr>
                </a:tc>
                <a:extLst>
                  <a:ext uri="{0D108BD9-81ED-4DB2-BD59-A6C34878D82A}">
                    <a16:rowId xmlns:a16="http://schemas.microsoft.com/office/drawing/2014/main" val="10000"/>
                  </a:ext>
                </a:extLst>
              </a:tr>
              <a:tr h="232921">
                <a:tc>
                  <a:txBody>
                    <a:bodyPr/>
                    <a:lstStyle/>
                    <a:p>
                      <a:pPr marL="0" indent="0">
                        <a:buNone/>
                      </a:pPr>
                      <a:r>
                        <a:rPr lang="en-US" sz="700" dirty="0">
                          <a:solidFill>
                            <a:srgbClr val="0C0C0C"/>
                          </a:solidFill>
                        </a:rPr>
                        <a:t>High Severity, Low Priority</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dirty="0">
                          <a:solidFill>
                            <a:srgbClr val="0C0C0C"/>
                          </a:solidFill>
                        </a:rPr>
                        <a:t>Application crashes on very rare edge case. Fix it eventually but not blocking release.</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b="1" dirty="0">
                          <a:solidFill>
                            <a:srgbClr val="0C0C0C"/>
                          </a:solidFill>
                        </a:rPr>
                        <a:t>Accepted with documented risk</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32921">
                <a:tc>
                  <a:txBody>
                    <a:bodyPr/>
                    <a:lstStyle/>
                    <a:p>
                      <a:pPr marL="0" indent="0">
                        <a:buNone/>
                      </a:pPr>
                      <a:r>
                        <a:rPr lang="en-US" sz="700" dirty="0">
                          <a:solidFill>
                            <a:srgbClr val="0C0C0C"/>
                          </a:solidFill>
                        </a:rPr>
                        <a:t>Low Severity, High Priority</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dirty="0">
                          <a:solidFill>
                            <a:srgbClr val="0C0C0C"/>
                          </a:solidFill>
                        </a:rPr>
                        <a:t>Company logo is wrong on the homepage (visible to millions). No technical impact but high brand urgency.</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b="1" dirty="0">
                          <a:solidFill>
                            <a:srgbClr val="0C0C0C"/>
                          </a:solidFill>
                        </a:rPr>
                        <a:t>Fix before release</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144411">
                <a:tc>
                  <a:txBody>
                    <a:bodyPr/>
                    <a:lstStyle/>
                    <a:p>
                      <a:pPr marL="0" indent="0">
                        <a:buNone/>
                      </a:pPr>
                      <a:r>
                        <a:rPr lang="en-US" sz="700" dirty="0">
                          <a:solidFill>
                            <a:srgbClr val="0C0C0C"/>
                          </a:solidFill>
                        </a:rPr>
                        <a:t>High Severity, High Priority</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dirty="0">
                          <a:solidFill>
                            <a:srgbClr val="0C0C0C"/>
                          </a:solidFill>
                        </a:rPr>
                        <a:t>Payment checkout is completely broken. Critical blocker.</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b="1" dirty="0">
                          <a:solidFill>
                            <a:srgbClr val="0C0C0C"/>
                          </a:solidFill>
                        </a:rPr>
                        <a:t>Stop-test. Fix immediately</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144411">
                <a:tc>
                  <a:txBody>
                    <a:bodyPr/>
                    <a:lstStyle/>
                    <a:p>
                      <a:pPr marL="0" indent="0">
                        <a:buNone/>
                      </a:pPr>
                      <a:r>
                        <a:rPr lang="en-US" sz="700" dirty="0">
                          <a:solidFill>
                            <a:srgbClr val="0C0C0C"/>
                          </a:solidFill>
                        </a:rPr>
                        <a:t>Low Severity, Low Priority</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dirty="0">
                          <a:solidFill>
                            <a:srgbClr val="0C0C0C"/>
                          </a:solidFill>
                        </a:rPr>
                        <a:t>Footer copyright year shows 2023 instead of 2024.</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700" b="1" dirty="0">
                          <a:solidFill>
                            <a:srgbClr val="0C0C0C"/>
                          </a:solidFill>
                        </a:rPr>
                        <a:t>Defer to next sprint</a:t>
                      </a:r>
                      <a:endParaRPr lang="en-US" sz="7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11</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Basic Test Case</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Structure</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Components, Template &amp; Worked Example</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Anatomy of a Well-Written Test Case</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11  |  TEST CASE STRUCTURE</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64592" y="79552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0" name="Shape 8"/>
          <p:cNvSpPr/>
          <p:nvPr/>
        </p:nvSpPr>
        <p:spPr>
          <a:xfrm>
            <a:off x="164592" y="795528"/>
            <a:ext cx="73152" cy="749808"/>
          </a:xfrm>
          <a:prstGeom prst="rect">
            <a:avLst/>
          </a:prstGeom>
          <a:solidFill>
            <a:srgbClr val="E8650A"/>
          </a:solidFill>
          <a:ln w="12700">
            <a:solidFill>
              <a:srgbClr val="E8650A"/>
            </a:solidFill>
            <a:prstDash val="solid"/>
          </a:ln>
        </p:spPr>
      </p:sp>
      <p:sp>
        <p:nvSpPr>
          <p:cNvPr id="11" name="Text 9"/>
          <p:cNvSpPr/>
          <p:nvPr/>
        </p:nvSpPr>
        <p:spPr>
          <a:xfrm>
            <a:off x="329184" y="84124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TC ID</a:t>
            </a:r>
            <a:endParaRPr lang="en-US" sz="1050" dirty="0"/>
          </a:p>
        </p:txBody>
      </p:sp>
      <p:sp>
        <p:nvSpPr>
          <p:cNvPr id="12" name="Text 10"/>
          <p:cNvSpPr/>
          <p:nvPr/>
        </p:nvSpPr>
        <p:spPr>
          <a:xfrm>
            <a:off x="329184" y="109728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Unique identifier for tracking and traceability. Format: [Module]-[Number]. Example: LOGIN-TC-001</a:t>
            </a:r>
            <a:endParaRPr lang="en-US" sz="950" dirty="0"/>
          </a:p>
        </p:txBody>
      </p:sp>
      <p:sp>
        <p:nvSpPr>
          <p:cNvPr id="13" name="Shape 11"/>
          <p:cNvSpPr/>
          <p:nvPr/>
        </p:nvSpPr>
        <p:spPr>
          <a:xfrm>
            <a:off x="4663440" y="79552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4" name="Shape 12"/>
          <p:cNvSpPr/>
          <p:nvPr/>
        </p:nvSpPr>
        <p:spPr>
          <a:xfrm>
            <a:off x="4663440" y="795528"/>
            <a:ext cx="73152" cy="749808"/>
          </a:xfrm>
          <a:prstGeom prst="rect">
            <a:avLst/>
          </a:prstGeom>
          <a:solidFill>
            <a:srgbClr val="4A90D9"/>
          </a:solidFill>
          <a:ln w="12700">
            <a:solidFill>
              <a:srgbClr val="4A90D9"/>
            </a:solidFill>
            <a:prstDash val="solid"/>
          </a:ln>
        </p:spPr>
      </p:sp>
      <p:sp>
        <p:nvSpPr>
          <p:cNvPr id="15" name="Text 13"/>
          <p:cNvSpPr/>
          <p:nvPr/>
        </p:nvSpPr>
        <p:spPr>
          <a:xfrm>
            <a:off x="4828032" y="84124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Test Case Title</a:t>
            </a:r>
            <a:endParaRPr lang="en-US" sz="1050" dirty="0"/>
          </a:p>
        </p:txBody>
      </p:sp>
      <p:sp>
        <p:nvSpPr>
          <p:cNvPr id="16" name="Text 14"/>
          <p:cNvSpPr/>
          <p:nvPr/>
        </p:nvSpPr>
        <p:spPr>
          <a:xfrm>
            <a:off x="4828032" y="109728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Concise, action-oriented name. Clearly states what is being tested. Example: 'Verify successful login with valid credentials'</a:t>
            </a:r>
            <a:endParaRPr lang="en-US" sz="950" dirty="0"/>
          </a:p>
        </p:txBody>
      </p:sp>
      <p:sp>
        <p:nvSpPr>
          <p:cNvPr id="17" name="Shape 15"/>
          <p:cNvSpPr/>
          <p:nvPr/>
        </p:nvSpPr>
        <p:spPr>
          <a:xfrm>
            <a:off x="164592" y="161848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8" name="Shape 16"/>
          <p:cNvSpPr/>
          <p:nvPr/>
        </p:nvSpPr>
        <p:spPr>
          <a:xfrm>
            <a:off x="164592" y="1618488"/>
            <a:ext cx="73152" cy="749808"/>
          </a:xfrm>
          <a:prstGeom prst="rect">
            <a:avLst/>
          </a:prstGeom>
          <a:solidFill>
            <a:srgbClr val="2E8B57"/>
          </a:solidFill>
          <a:ln w="12700">
            <a:solidFill>
              <a:srgbClr val="2E8B57"/>
            </a:solidFill>
            <a:prstDash val="solid"/>
          </a:ln>
        </p:spPr>
      </p:sp>
      <p:sp>
        <p:nvSpPr>
          <p:cNvPr id="19" name="Text 17"/>
          <p:cNvSpPr/>
          <p:nvPr/>
        </p:nvSpPr>
        <p:spPr>
          <a:xfrm>
            <a:off x="329184" y="166420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Module / Feature</a:t>
            </a:r>
            <a:endParaRPr lang="en-US" sz="1050" dirty="0"/>
          </a:p>
        </p:txBody>
      </p:sp>
      <p:sp>
        <p:nvSpPr>
          <p:cNvPr id="20" name="Text 18"/>
          <p:cNvSpPr/>
          <p:nvPr/>
        </p:nvSpPr>
        <p:spPr>
          <a:xfrm>
            <a:off x="329184" y="192024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The system component being tested. Enables grouping and filtered reporting. Example: User Authentication Module</a:t>
            </a:r>
            <a:endParaRPr lang="en-US" sz="950" dirty="0"/>
          </a:p>
        </p:txBody>
      </p:sp>
      <p:sp>
        <p:nvSpPr>
          <p:cNvPr id="21" name="Shape 19"/>
          <p:cNvSpPr/>
          <p:nvPr/>
        </p:nvSpPr>
        <p:spPr>
          <a:xfrm>
            <a:off x="4663440" y="161848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2" name="Shape 20"/>
          <p:cNvSpPr/>
          <p:nvPr/>
        </p:nvSpPr>
        <p:spPr>
          <a:xfrm>
            <a:off x="4663440" y="1618488"/>
            <a:ext cx="73152" cy="749808"/>
          </a:xfrm>
          <a:prstGeom prst="rect">
            <a:avLst/>
          </a:prstGeom>
          <a:solidFill>
            <a:srgbClr val="8B4513"/>
          </a:solidFill>
          <a:ln w="12700">
            <a:solidFill>
              <a:srgbClr val="8B4513"/>
            </a:solidFill>
            <a:prstDash val="solid"/>
          </a:ln>
        </p:spPr>
      </p:sp>
      <p:sp>
        <p:nvSpPr>
          <p:cNvPr id="23" name="Text 21"/>
          <p:cNvSpPr/>
          <p:nvPr/>
        </p:nvSpPr>
        <p:spPr>
          <a:xfrm>
            <a:off x="4828032" y="166420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Preconditions</a:t>
            </a:r>
            <a:endParaRPr lang="en-US" sz="1050" dirty="0"/>
          </a:p>
        </p:txBody>
      </p:sp>
      <p:sp>
        <p:nvSpPr>
          <p:cNvPr id="24" name="Text 22"/>
          <p:cNvSpPr/>
          <p:nvPr/>
        </p:nvSpPr>
        <p:spPr>
          <a:xfrm>
            <a:off x="4828032" y="192024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Conditions that MUST be true before execution begins. Example: User account exists in DB, application is running on QA environment</a:t>
            </a:r>
            <a:endParaRPr lang="en-US" sz="950" dirty="0"/>
          </a:p>
        </p:txBody>
      </p:sp>
      <p:sp>
        <p:nvSpPr>
          <p:cNvPr id="25" name="Shape 23"/>
          <p:cNvSpPr/>
          <p:nvPr/>
        </p:nvSpPr>
        <p:spPr>
          <a:xfrm>
            <a:off x="164592" y="244144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6" name="Shape 24"/>
          <p:cNvSpPr/>
          <p:nvPr/>
        </p:nvSpPr>
        <p:spPr>
          <a:xfrm>
            <a:off x="164592" y="2441448"/>
            <a:ext cx="73152" cy="749808"/>
          </a:xfrm>
          <a:prstGeom prst="rect">
            <a:avLst/>
          </a:prstGeom>
          <a:solidFill>
            <a:srgbClr val="E8650A"/>
          </a:solidFill>
          <a:ln w="12700">
            <a:solidFill>
              <a:srgbClr val="E8650A"/>
            </a:solidFill>
            <a:prstDash val="solid"/>
          </a:ln>
        </p:spPr>
      </p:sp>
      <p:sp>
        <p:nvSpPr>
          <p:cNvPr id="27" name="Text 25"/>
          <p:cNvSpPr/>
          <p:nvPr/>
        </p:nvSpPr>
        <p:spPr>
          <a:xfrm>
            <a:off x="329184" y="248716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Test Steps</a:t>
            </a:r>
            <a:endParaRPr lang="en-US" sz="1050" dirty="0"/>
          </a:p>
        </p:txBody>
      </p:sp>
      <p:sp>
        <p:nvSpPr>
          <p:cNvPr id="28" name="Text 26"/>
          <p:cNvSpPr/>
          <p:nvPr/>
        </p:nvSpPr>
        <p:spPr>
          <a:xfrm>
            <a:off x="329184" y="274320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Numbered, sequential, exact actions the tester performs. Every step must be atomic and unambiguous. Example: 1. Navigate to /login  2. Enter email  3. Enter password  4. Click 'Sign In'</a:t>
            </a:r>
            <a:endParaRPr lang="en-US" sz="950" dirty="0"/>
          </a:p>
        </p:txBody>
      </p:sp>
      <p:sp>
        <p:nvSpPr>
          <p:cNvPr id="29" name="Shape 27"/>
          <p:cNvSpPr/>
          <p:nvPr/>
        </p:nvSpPr>
        <p:spPr>
          <a:xfrm>
            <a:off x="4663440" y="244144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0" name="Shape 28"/>
          <p:cNvSpPr/>
          <p:nvPr/>
        </p:nvSpPr>
        <p:spPr>
          <a:xfrm>
            <a:off x="4663440" y="2441448"/>
            <a:ext cx="73152" cy="749808"/>
          </a:xfrm>
          <a:prstGeom prst="rect">
            <a:avLst/>
          </a:prstGeom>
          <a:solidFill>
            <a:srgbClr val="4A90D9"/>
          </a:solidFill>
          <a:ln w="12700">
            <a:solidFill>
              <a:srgbClr val="4A90D9"/>
            </a:solidFill>
            <a:prstDash val="solid"/>
          </a:ln>
        </p:spPr>
      </p:sp>
      <p:sp>
        <p:nvSpPr>
          <p:cNvPr id="31" name="Text 29"/>
          <p:cNvSpPr/>
          <p:nvPr/>
        </p:nvSpPr>
        <p:spPr>
          <a:xfrm>
            <a:off x="4828032" y="248716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Test Data</a:t>
            </a:r>
            <a:endParaRPr lang="en-US" sz="1050" dirty="0"/>
          </a:p>
        </p:txBody>
      </p:sp>
      <p:sp>
        <p:nvSpPr>
          <p:cNvPr id="32" name="Text 30"/>
          <p:cNvSpPr/>
          <p:nvPr/>
        </p:nvSpPr>
        <p:spPr>
          <a:xfrm>
            <a:off x="4828032" y="274320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Exact input values to use during execution. Example: Email: qa.user@test.com | Password: ValidP@ss123 | Browser: Chrome 118</a:t>
            </a:r>
            <a:endParaRPr lang="en-US" sz="950" dirty="0"/>
          </a:p>
        </p:txBody>
      </p:sp>
      <p:sp>
        <p:nvSpPr>
          <p:cNvPr id="33" name="Shape 31"/>
          <p:cNvSpPr/>
          <p:nvPr/>
        </p:nvSpPr>
        <p:spPr>
          <a:xfrm>
            <a:off x="164592" y="326440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4" name="Shape 32"/>
          <p:cNvSpPr/>
          <p:nvPr/>
        </p:nvSpPr>
        <p:spPr>
          <a:xfrm>
            <a:off x="164592" y="3264408"/>
            <a:ext cx="73152" cy="749808"/>
          </a:xfrm>
          <a:prstGeom prst="rect">
            <a:avLst/>
          </a:prstGeom>
          <a:solidFill>
            <a:srgbClr val="2E8B57"/>
          </a:solidFill>
          <a:ln w="12700">
            <a:solidFill>
              <a:srgbClr val="2E8B57"/>
            </a:solidFill>
            <a:prstDash val="solid"/>
          </a:ln>
        </p:spPr>
      </p:sp>
      <p:sp>
        <p:nvSpPr>
          <p:cNvPr id="35" name="Text 33"/>
          <p:cNvSpPr/>
          <p:nvPr/>
        </p:nvSpPr>
        <p:spPr>
          <a:xfrm>
            <a:off x="329184" y="331012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Expected Result</a:t>
            </a:r>
            <a:endParaRPr lang="en-US" sz="1050" dirty="0"/>
          </a:p>
        </p:txBody>
      </p:sp>
      <p:sp>
        <p:nvSpPr>
          <p:cNvPr id="36" name="Text 34"/>
          <p:cNvSpPr/>
          <p:nvPr/>
        </p:nvSpPr>
        <p:spPr>
          <a:xfrm>
            <a:off x="329184" y="356616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Precise description of what SHOULD happen after executing the steps. Must be specific, not vague. Example: User is redirected to /dashboard. Username 'QA User' is displayed in the header.</a:t>
            </a:r>
            <a:endParaRPr lang="en-US" sz="950" dirty="0"/>
          </a:p>
        </p:txBody>
      </p:sp>
      <p:sp>
        <p:nvSpPr>
          <p:cNvPr id="37" name="Shape 35"/>
          <p:cNvSpPr/>
          <p:nvPr/>
        </p:nvSpPr>
        <p:spPr>
          <a:xfrm>
            <a:off x="4663440" y="326440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8" name="Shape 36"/>
          <p:cNvSpPr/>
          <p:nvPr/>
        </p:nvSpPr>
        <p:spPr>
          <a:xfrm>
            <a:off x="4663440" y="3264408"/>
            <a:ext cx="73152" cy="749808"/>
          </a:xfrm>
          <a:prstGeom prst="rect">
            <a:avLst/>
          </a:prstGeom>
          <a:solidFill>
            <a:srgbClr val="8B4513"/>
          </a:solidFill>
          <a:ln w="12700">
            <a:solidFill>
              <a:srgbClr val="8B4513"/>
            </a:solidFill>
            <a:prstDash val="solid"/>
          </a:ln>
        </p:spPr>
      </p:sp>
      <p:sp>
        <p:nvSpPr>
          <p:cNvPr id="39" name="Text 37"/>
          <p:cNvSpPr/>
          <p:nvPr/>
        </p:nvSpPr>
        <p:spPr>
          <a:xfrm>
            <a:off x="4828032" y="331012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Actual Result</a:t>
            </a:r>
            <a:endParaRPr lang="en-US" sz="1050" dirty="0"/>
          </a:p>
        </p:txBody>
      </p:sp>
      <p:sp>
        <p:nvSpPr>
          <p:cNvPr id="40" name="Text 38"/>
          <p:cNvSpPr/>
          <p:nvPr/>
        </p:nvSpPr>
        <p:spPr>
          <a:xfrm>
            <a:off x="4828032" y="356616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What ACTUALLY happened during execution. Filled in only during/after execution. For passed tests: matches expected. For failed: describe the deviation precisely.</a:t>
            </a:r>
            <a:endParaRPr lang="en-US" sz="950" dirty="0"/>
          </a:p>
        </p:txBody>
      </p:sp>
      <p:sp>
        <p:nvSpPr>
          <p:cNvPr id="41" name="Shape 39"/>
          <p:cNvSpPr/>
          <p:nvPr/>
        </p:nvSpPr>
        <p:spPr>
          <a:xfrm>
            <a:off x="164592" y="408736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2" name="Shape 40"/>
          <p:cNvSpPr/>
          <p:nvPr/>
        </p:nvSpPr>
        <p:spPr>
          <a:xfrm>
            <a:off x="164592" y="4087368"/>
            <a:ext cx="73152" cy="749808"/>
          </a:xfrm>
          <a:prstGeom prst="rect">
            <a:avLst/>
          </a:prstGeom>
          <a:solidFill>
            <a:srgbClr val="E8650A"/>
          </a:solidFill>
          <a:ln w="12700">
            <a:solidFill>
              <a:srgbClr val="E8650A"/>
            </a:solidFill>
            <a:prstDash val="solid"/>
          </a:ln>
        </p:spPr>
      </p:sp>
      <p:sp>
        <p:nvSpPr>
          <p:cNvPr id="43" name="Text 41"/>
          <p:cNvSpPr/>
          <p:nvPr/>
        </p:nvSpPr>
        <p:spPr>
          <a:xfrm>
            <a:off x="329184" y="413308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Status</a:t>
            </a:r>
            <a:endParaRPr lang="en-US" sz="1050" dirty="0"/>
          </a:p>
        </p:txBody>
      </p:sp>
      <p:sp>
        <p:nvSpPr>
          <p:cNvPr id="44" name="Text 42"/>
          <p:cNvSpPr/>
          <p:nvPr/>
        </p:nvSpPr>
        <p:spPr>
          <a:xfrm>
            <a:off x="329184" y="438912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Pass / Fail / Blocked / Skipped / Not Executed. Updated after each execution cycle. Drives reporting and release decisions.</a:t>
            </a:r>
            <a:endParaRPr lang="en-US" sz="950" dirty="0"/>
          </a:p>
        </p:txBody>
      </p:sp>
      <p:sp>
        <p:nvSpPr>
          <p:cNvPr id="45" name="Shape 43"/>
          <p:cNvSpPr/>
          <p:nvPr/>
        </p:nvSpPr>
        <p:spPr>
          <a:xfrm>
            <a:off x="4663440" y="4087368"/>
            <a:ext cx="4315968" cy="74980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6" name="Shape 44"/>
          <p:cNvSpPr/>
          <p:nvPr/>
        </p:nvSpPr>
        <p:spPr>
          <a:xfrm>
            <a:off x="4663440" y="4087368"/>
            <a:ext cx="73152" cy="749808"/>
          </a:xfrm>
          <a:prstGeom prst="rect">
            <a:avLst/>
          </a:prstGeom>
          <a:solidFill>
            <a:srgbClr val="4A90D9"/>
          </a:solidFill>
          <a:ln w="12700">
            <a:solidFill>
              <a:srgbClr val="4A90D9"/>
            </a:solidFill>
            <a:prstDash val="solid"/>
          </a:ln>
        </p:spPr>
      </p:sp>
      <p:sp>
        <p:nvSpPr>
          <p:cNvPr id="47" name="Text 45"/>
          <p:cNvSpPr/>
          <p:nvPr/>
        </p:nvSpPr>
        <p:spPr>
          <a:xfrm>
            <a:off x="4828032" y="4133088"/>
            <a:ext cx="2011680" cy="237744"/>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Priority / Severity</a:t>
            </a:r>
            <a:endParaRPr lang="en-US" sz="1050" dirty="0"/>
          </a:p>
        </p:txBody>
      </p:sp>
      <p:sp>
        <p:nvSpPr>
          <p:cNvPr id="48" name="Text 46"/>
          <p:cNvSpPr/>
          <p:nvPr/>
        </p:nvSpPr>
        <p:spPr>
          <a:xfrm>
            <a:off x="4828032" y="4389120"/>
            <a:ext cx="4023360" cy="402336"/>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Importance of the test case. High priority test cases are executed first in constrained time situations.</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Sample Test Case — Login Feature</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11  |  TEST CASE STRUCTURE</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Text 6"/>
          <p:cNvSpPr/>
          <p:nvPr/>
        </p:nvSpPr>
        <p:spPr>
          <a:xfrm>
            <a:off x="164592" y="804672"/>
            <a:ext cx="8823960" cy="274320"/>
          </a:xfrm>
          <a:prstGeom prst="rect">
            <a:avLst/>
          </a:prstGeom>
          <a:noFill/>
          <a:ln/>
        </p:spPr>
        <p:txBody>
          <a:bodyPr wrap="square" lIns="0" tIns="0" rIns="0" bIns="0" rtlCol="0" anchor="ctr"/>
          <a:lstStyle/>
          <a:p>
            <a:pPr marL="0" indent="0">
              <a:buNone/>
            </a:pPr>
            <a:r>
              <a:rPr lang="en-US" sz="1100" i="1" dirty="0">
                <a:solidFill>
                  <a:srgbClr val="444444"/>
                </a:solidFill>
                <a:latin typeface="Arial" pitchFamily="34" charset="0"/>
                <a:ea typeface="Arial" pitchFamily="34" charset="-122"/>
                <a:cs typeface="Arial" pitchFamily="34" charset="-120"/>
              </a:rPr>
              <a:t>The following is a complete, professionally written test case following industry standards:</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164592" y="1124712"/>
          <a:ext cx="8823960" cy="4033520"/>
        </p:xfrm>
        <a:graphic>
          <a:graphicData uri="http://schemas.openxmlformats.org/drawingml/2006/table">
            <a:tbl>
              <a:tblPr/>
              <a:tblGrid>
                <a:gridCol w="164592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tblGrid>
              <a:tr h="416560">
                <a:tc>
                  <a:txBody>
                    <a:bodyPr/>
                    <a:lstStyle/>
                    <a:p>
                      <a:pPr marL="0" indent="0">
                        <a:buNone/>
                      </a:pPr>
                      <a:r>
                        <a:rPr lang="en-US" sz="1100" b="1" dirty="0">
                          <a:solidFill>
                            <a:srgbClr val="FFFFFF"/>
                          </a:solidFill>
                        </a:rPr>
                        <a:t>Test Case ID</a:t>
                      </a:r>
                      <a:endParaRPr lang="en-US" sz="11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C0C0C"/>
                    </a:solidFill>
                  </a:tcPr>
                </a:tc>
                <a:tc>
                  <a:txBody>
                    <a:bodyPr/>
                    <a:lstStyle/>
                    <a:p>
                      <a:pPr marL="0" indent="0">
                        <a:buNone/>
                      </a:pPr>
                      <a:r>
                        <a:rPr lang="en-US" sz="1100" b="1" dirty="0">
                          <a:solidFill>
                            <a:srgbClr val="E8650A"/>
                          </a:solidFill>
                        </a:rPr>
                        <a:t>LOGIN-TC-001</a:t>
                      </a:r>
                      <a:endParaRPr lang="en-US" sz="11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0"/>
                  </a:ext>
                </a:extLst>
              </a:tr>
              <a:tr h="416560">
                <a:tc>
                  <a:txBody>
                    <a:bodyPr/>
                    <a:lstStyle/>
                    <a:p>
                      <a:pPr marL="0" indent="0">
                        <a:buNone/>
                      </a:pPr>
                      <a:r>
                        <a:rPr lang="en-US" sz="1000" b="1" dirty="0">
                          <a:solidFill>
                            <a:srgbClr val="000000"/>
                          </a:solidFill>
                        </a:rPr>
                        <a:t>Title</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000000"/>
                          </a:solidFill>
                        </a:rPr>
                        <a:t>Verify that a registered user can log in successfully using valid credentials</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416560">
                <a:tc>
                  <a:txBody>
                    <a:bodyPr/>
                    <a:lstStyle/>
                    <a:p>
                      <a:pPr marL="0" indent="0">
                        <a:buNone/>
                      </a:pPr>
                      <a:r>
                        <a:rPr lang="en-US" sz="1000" b="1" dirty="0">
                          <a:solidFill>
                            <a:srgbClr val="000000"/>
                          </a:solidFill>
                        </a:rPr>
                        <a:t>Module</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000000"/>
                          </a:solidFill>
                        </a:rPr>
                        <a:t>User Authentication</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416560">
                <a:tc>
                  <a:txBody>
                    <a:bodyPr/>
                    <a:lstStyle/>
                    <a:p>
                      <a:pPr marL="0" indent="0">
                        <a:buNone/>
                      </a:pPr>
                      <a:r>
                        <a:rPr lang="en-US" sz="1000" b="1" dirty="0">
                          <a:solidFill>
                            <a:srgbClr val="000000"/>
                          </a:solidFill>
                        </a:rPr>
                        <a:t>Priority</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000000"/>
                          </a:solidFill>
                        </a:rPr>
                        <a:t>High  |  Severity: Critical  |  Type: Functional (Positive)</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3"/>
                  </a:ext>
                </a:extLst>
              </a:tr>
              <a:tr h="416560">
                <a:tc>
                  <a:txBody>
                    <a:bodyPr/>
                    <a:lstStyle/>
                    <a:p>
                      <a:pPr marL="0" indent="0">
                        <a:buNone/>
                      </a:pPr>
                      <a:r>
                        <a:rPr lang="en-US" sz="1000" b="1" dirty="0">
                          <a:solidFill>
                            <a:srgbClr val="000000"/>
                          </a:solidFill>
                        </a:rPr>
                        <a:t>Preconditions</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000000"/>
                          </a:solidFill>
                        </a:rPr>
                        <a:t>1. Valid user account exists: qa.user@test.com / ValidP@ss123  2. QA environment running Build 2.4.1  3. Chrome 118 browser launched</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4"/>
                  </a:ext>
                </a:extLst>
              </a:tr>
              <a:tr h="416560">
                <a:tc>
                  <a:txBody>
                    <a:bodyPr/>
                    <a:lstStyle/>
                    <a:p>
                      <a:pPr marL="0" indent="0">
                        <a:buNone/>
                      </a:pPr>
                      <a:r>
                        <a:rPr lang="en-US" sz="1000" b="1" dirty="0">
                          <a:solidFill>
                            <a:srgbClr val="000000"/>
                          </a:solidFill>
                        </a:rPr>
                        <a:t>Test Steps</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000000"/>
                          </a:solidFill>
                        </a:rPr>
                        <a:t>1. Navigate to https://qa.app.com/login</a:t>
                      </a:r>
                      <a:endParaRPr lang="en-US" sz="1000" dirty="0"/>
                    </a:p>
                    <a:p>
                      <a:pPr marL="0" indent="0">
                        <a:buNone/>
                      </a:pPr>
                      <a:r>
                        <a:rPr lang="en-US" sz="1000" dirty="0">
                          <a:solidFill>
                            <a:srgbClr val="000000"/>
                          </a:solidFill>
                        </a:rPr>
                        <a:t>2. In the Email field, enter: qa.user@test.com</a:t>
                      </a:r>
                      <a:endParaRPr lang="en-US" sz="1000" dirty="0"/>
                    </a:p>
                    <a:p>
                      <a:pPr marL="0" indent="0">
                        <a:buNone/>
                      </a:pPr>
                      <a:r>
                        <a:rPr lang="en-US" sz="1000" dirty="0">
                          <a:solidFill>
                            <a:srgbClr val="000000"/>
                          </a:solidFill>
                        </a:rPr>
                        <a:t>3. In the Password field, enter: ValidP@ss123</a:t>
                      </a:r>
                      <a:endParaRPr lang="en-US" sz="1000" dirty="0"/>
                    </a:p>
                    <a:p>
                      <a:pPr marL="0" indent="0">
                        <a:buNone/>
                      </a:pPr>
                      <a:r>
                        <a:rPr lang="en-US" sz="1000" dirty="0">
                          <a:solidFill>
                            <a:srgbClr val="000000"/>
                          </a:solidFill>
                        </a:rPr>
                        <a:t>4. Click the 'Sign In' button</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5"/>
                  </a:ext>
                </a:extLst>
              </a:tr>
              <a:tr h="416560">
                <a:tc>
                  <a:txBody>
                    <a:bodyPr/>
                    <a:lstStyle/>
                    <a:p>
                      <a:pPr marL="0" indent="0">
                        <a:buNone/>
                      </a:pPr>
                      <a:r>
                        <a:rPr lang="en-US" sz="1000" b="1" dirty="0">
                          <a:solidFill>
                            <a:srgbClr val="000000"/>
                          </a:solidFill>
                        </a:rPr>
                        <a:t>Expected Result</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000000"/>
                          </a:solidFill>
                        </a:rPr>
                        <a:t>User is redirected to /dashboard. Header shows 'Welcome, QA User'. No error messages displayed. Session cookie created successfully.</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6"/>
                  </a:ext>
                </a:extLst>
              </a:tr>
              <a:tr h="416560">
                <a:tc>
                  <a:txBody>
                    <a:bodyPr/>
                    <a:lstStyle/>
                    <a:p>
                      <a:pPr marL="0" indent="0">
                        <a:buNone/>
                      </a:pPr>
                      <a:r>
                        <a:rPr lang="en-US" sz="1000" b="1" dirty="0">
                          <a:solidFill>
                            <a:srgbClr val="000000"/>
                          </a:solidFill>
                        </a:rPr>
                        <a:t>Actual Result</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2E8B57"/>
                          </a:solidFill>
                        </a:rPr>
                        <a:t>User successfully redirected to /dashboard. Welcome message and name displayed correctly. Session active. ✅ Matches Expected.</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7"/>
                  </a:ext>
                </a:extLst>
              </a:tr>
              <a:tr h="416560">
                <a:tc>
                  <a:txBody>
                    <a:bodyPr/>
                    <a:lstStyle/>
                    <a:p>
                      <a:pPr marL="0" indent="0">
                        <a:buNone/>
                      </a:pPr>
                      <a:r>
                        <a:rPr lang="en-US" sz="1000" b="1" dirty="0">
                          <a:solidFill>
                            <a:srgbClr val="000000"/>
                          </a:solidFill>
                        </a:rPr>
                        <a:t>Status</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b="1" dirty="0">
                          <a:solidFill>
                            <a:srgbClr val="2E8B57"/>
                          </a:solidFill>
                        </a:rPr>
                        <a:t>✅ PASSED  |  Executed by: T. Nkosi  |  Date: 2024-11-05  |  Build: 2.4.1</a:t>
                      </a:r>
                      <a:endParaRPr lang="en-US" sz="1000" dirty="0"/>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12</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Introduction to</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Test Automation</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What It Is · Why It Matters · Tools &amp; Basic Workflow</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What is Test Automation &amp; Why Does it Matter?</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12  |  AUTOMATION</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420624"/>
          </a:xfrm>
          <a:prstGeom prst="rect">
            <a:avLst/>
          </a:prstGeom>
          <a:noFill/>
          <a:ln/>
        </p:spPr>
        <p:txBody>
          <a:bodyPr wrap="square" lIns="0" tIns="0" rIns="0" bIns="0" rtlCol="0" anchor="ctr"/>
          <a:lstStyle/>
          <a:p>
            <a:pPr marL="0" indent="0">
              <a:buNone/>
            </a:pPr>
            <a:r>
              <a:rPr lang="en-US" sz="1150" dirty="0">
                <a:solidFill>
                  <a:srgbClr val="BBBBBB"/>
                </a:solidFill>
                <a:latin typeface="Arial" pitchFamily="34" charset="0"/>
                <a:ea typeface="Arial" pitchFamily="34" charset="-122"/>
                <a:cs typeface="Arial" pitchFamily="34" charset="-120"/>
              </a:rPr>
              <a:t>Test automation is the use of software tools to execute pre-defined test cases automatically, compare actual outcomes to expected outcomes, and report results — without human intervention during execution.</a:t>
            </a:r>
            <a:endParaRPr lang="en-US" sz="1150" dirty="0"/>
          </a:p>
        </p:txBody>
      </p:sp>
      <p:sp>
        <p:nvSpPr>
          <p:cNvPr id="10" name="Shape 8"/>
          <p:cNvSpPr/>
          <p:nvPr/>
        </p:nvSpPr>
        <p:spPr>
          <a:xfrm>
            <a:off x="164592" y="1298448"/>
            <a:ext cx="4315968" cy="102412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1" name="Shape 9"/>
          <p:cNvSpPr/>
          <p:nvPr/>
        </p:nvSpPr>
        <p:spPr>
          <a:xfrm>
            <a:off x="164592" y="1298448"/>
            <a:ext cx="73152" cy="1024128"/>
          </a:xfrm>
          <a:prstGeom prst="rect">
            <a:avLst/>
          </a:prstGeom>
          <a:solidFill>
            <a:srgbClr val="E8650A"/>
          </a:solidFill>
          <a:ln w="12700">
            <a:solidFill>
              <a:srgbClr val="E8650A"/>
            </a:solidFill>
            <a:prstDash val="solid"/>
          </a:ln>
        </p:spPr>
      </p:sp>
      <p:sp>
        <p:nvSpPr>
          <p:cNvPr id="12" name="Text 10"/>
          <p:cNvSpPr/>
          <p:nvPr/>
        </p:nvSpPr>
        <p:spPr>
          <a:xfrm>
            <a:off x="329184" y="1362456"/>
            <a:ext cx="4023360"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Black" pitchFamily="34" charset="0"/>
                <a:ea typeface="Arial Black" pitchFamily="34" charset="-122"/>
                <a:cs typeface="Arial Black" pitchFamily="34" charset="-120"/>
              </a:rPr>
              <a:t>⚡  Speed</a:t>
            </a:r>
            <a:endParaRPr lang="en-US" sz="1250" dirty="0"/>
          </a:p>
        </p:txBody>
      </p:sp>
      <p:sp>
        <p:nvSpPr>
          <p:cNvPr id="13" name="Text 11"/>
          <p:cNvSpPr/>
          <p:nvPr/>
        </p:nvSpPr>
        <p:spPr>
          <a:xfrm>
            <a:off x="329184" y="1645920"/>
            <a:ext cx="4023360" cy="60350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A regression suite of 500 test cases that takes 2 human-days to execute manually can run in 25 minutes with Playwright or Selenium. This enables multiple testing cycles per day.</a:t>
            </a:r>
            <a:endParaRPr lang="en-US" sz="1000" dirty="0"/>
          </a:p>
        </p:txBody>
      </p:sp>
      <p:sp>
        <p:nvSpPr>
          <p:cNvPr id="14" name="Shape 12"/>
          <p:cNvSpPr/>
          <p:nvPr/>
        </p:nvSpPr>
        <p:spPr>
          <a:xfrm>
            <a:off x="4663440" y="1298448"/>
            <a:ext cx="4315968" cy="102412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5" name="Shape 13"/>
          <p:cNvSpPr/>
          <p:nvPr/>
        </p:nvSpPr>
        <p:spPr>
          <a:xfrm>
            <a:off x="4663440" y="1298448"/>
            <a:ext cx="73152" cy="1024128"/>
          </a:xfrm>
          <a:prstGeom prst="rect">
            <a:avLst/>
          </a:prstGeom>
          <a:solidFill>
            <a:srgbClr val="E8650A"/>
          </a:solidFill>
          <a:ln w="12700">
            <a:solidFill>
              <a:srgbClr val="E8650A"/>
            </a:solidFill>
            <a:prstDash val="solid"/>
          </a:ln>
        </p:spPr>
      </p:sp>
      <p:sp>
        <p:nvSpPr>
          <p:cNvPr id="16" name="Text 14"/>
          <p:cNvSpPr/>
          <p:nvPr/>
        </p:nvSpPr>
        <p:spPr>
          <a:xfrm>
            <a:off x="4828032" y="1362456"/>
            <a:ext cx="4023360"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Black" pitchFamily="34" charset="0"/>
                <a:ea typeface="Arial Black" pitchFamily="34" charset="-122"/>
                <a:cs typeface="Arial Black" pitchFamily="34" charset="-120"/>
              </a:rPr>
              <a:t>🔁  Repeatability</a:t>
            </a:r>
            <a:endParaRPr lang="en-US" sz="1250" dirty="0"/>
          </a:p>
        </p:txBody>
      </p:sp>
      <p:sp>
        <p:nvSpPr>
          <p:cNvPr id="17" name="Text 15"/>
          <p:cNvSpPr/>
          <p:nvPr/>
        </p:nvSpPr>
        <p:spPr>
          <a:xfrm>
            <a:off x="4828032" y="1645920"/>
            <a:ext cx="4023360" cy="60350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Automated tests execute IDENTICALLY every single run. No variations from tester fatigue, distraction, or interpretation differences — guaranteed consistency.</a:t>
            </a:r>
            <a:endParaRPr lang="en-US" sz="1000" dirty="0"/>
          </a:p>
        </p:txBody>
      </p:sp>
      <p:sp>
        <p:nvSpPr>
          <p:cNvPr id="18" name="Shape 16"/>
          <p:cNvSpPr/>
          <p:nvPr/>
        </p:nvSpPr>
        <p:spPr>
          <a:xfrm>
            <a:off x="164592" y="2395728"/>
            <a:ext cx="4315968" cy="102412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9" name="Shape 17"/>
          <p:cNvSpPr/>
          <p:nvPr/>
        </p:nvSpPr>
        <p:spPr>
          <a:xfrm>
            <a:off x="164592" y="2395728"/>
            <a:ext cx="73152" cy="1024128"/>
          </a:xfrm>
          <a:prstGeom prst="rect">
            <a:avLst/>
          </a:prstGeom>
          <a:solidFill>
            <a:srgbClr val="E8650A"/>
          </a:solidFill>
          <a:ln w="12700">
            <a:solidFill>
              <a:srgbClr val="E8650A"/>
            </a:solidFill>
            <a:prstDash val="solid"/>
          </a:ln>
        </p:spPr>
      </p:sp>
      <p:sp>
        <p:nvSpPr>
          <p:cNvPr id="20" name="Text 18"/>
          <p:cNvSpPr/>
          <p:nvPr/>
        </p:nvSpPr>
        <p:spPr>
          <a:xfrm>
            <a:off x="329184" y="2459736"/>
            <a:ext cx="4023360"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Black" pitchFamily="34" charset="0"/>
                <a:ea typeface="Arial Black" pitchFamily="34" charset="-122"/>
                <a:cs typeface="Arial Black" pitchFamily="34" charset="-120"/>
              </a:rPr>
              <a:t>🔗  CI/CD Integration</a:t>
            </a:r>
            <a:endParaRPr lang="en-US" sz="1250" dirty="0"/>
          </a:p>
        </p:txBody>
      </p:sp>
      <p:sp>
        <p:nvSpPr>
          <p:cNvPr id="21" name="Text 19"/>
          <p:cNvSpPr/>
          <p:nvPr/>
        </p:nvSpPr>
        <p:spPr>
          <a:xfrm>
            <a:off x="329184" y="2743200"/>
            <a:ext cx="4023360" cy="60350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Tests can be triggered automatically on every code commit via Jenkins, GitHub Actions, or Azure DevOps. Defects are caught within minutes of introduction — not days later.</a:t>
            </a:r>
            <a:endParaRPr lang="en-US" sz="1000" dirty="0"/>
          </a:p>
        </p:txBody>
      </p:sp>
      <p:sp>
        <p:nvSpPr>
          <p:cNvPr id="22" name="Shape 20"/>
          <p:cNvSpPr/>
          <p:nvPr/>
        </p:nvSpPr>
        <p:spPr>
          <a:xfrm>
            <a:off x="4663440" y="2395728"/>
            <a:ext cx="4315968" cy="102412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3" name="Shape 21"/>
          <p:cNvSpPr/>
          <p:nvPr/>
        </p:nvSpPr>
        <p:spPr>
          <a:xfrm>
            <a:off x="4663440" y="2395728"/>
            <a:ext cx="73152" cy="1024128"/>
          </a:xfrm>
          <a:prstGeom prst="rect">
            <a:avLst/>
          </a:prstGeom>
          <a:solidFill>
            <a:srgbClr val="E8650A"/>
          </a:solidFill>
          <a:ln w="12700">
            <a:solidFill>
              <a:srgbClr val="E8650A"/>
            </a:solidFill>
            <a:prstDash val="solid"/>
          </a:ln>
        </p:spPr>
      </p:sp>
      <p:sp>
        <p:nvSpPr>
          <p:cNvPr id="24" name="Text 22"/>
          <p:cNvSpPr/>
          <p:nvPr/>
        </p:nvSpPr>
        <p:spPr>
          <a:xfrm>
            <a:off x="4828032" y="2459736"/>
            <a:ext cx="4023360"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Black" pitchFamily="34" charset="0"/>
                <a:ea typeface="Arial Black" pitchFamily="34" charset="-122"/>
                <a:cs typeface="Arial Black" pitchFamily="34" charset="-120"/>
              </a:rPr>
              <a:t>📊  Coverage at Scale</a:t>
            </a:r>
            <a:endParaRPr lang="en-US" sz="1250" dirty="0"/>
          </a:p>
        </p:txBody>
      </p:sp>
      <p:sp>
        <p:nvSpPr>
          <p:cNvPr id="25" name="Text 23"/>
          <p:cNvSpPr/>
          <p:nvPr/>
        </p:nvSpPr>
        <p:spPr>
          <a:xfrm>
            <a:off x="4828032" y="2743200"/>
            <a:ext cx="4023360" cy="60350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Run 1000+ tests across Chrome, Firefox, and Safari simultaneously using parallel execution. This level of cross-browser coverage is simply impractical manually.</a:t>
            </a:r>
            <a:endParaRPr lang="en-US" sz="1000" dirty="0"/>
          </a:p>
        </p:txBody>
      </p:sp>
      <p:sp>
        <p:nvSpPr>
          <p:cNvPr id="26" name="Shape 24"/>
          <p:cNvSpPr/>
          <p:nvPr/>
        </p:nvSpPr>
        <p:spPr>
          <a:xfrm>
            <a:off x="164592" y="3493008"/>
            <a:ext cx="4315968" cy="102412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7" name="Shape 25"/>
          <p:cNvSpPr/>
          <p:nvPr/>
        </p:nvSpPr>
        <p:spPr>
          <a:xfrm>
            <a:off x="164592" y="3493008"/>
            <a:ext cx="73152" cy="1024128"/>
          </a:xfrm>
          <a:prstGeom prst="rect">
            <a:avLst/>
          </a:prstGeom>
          <a:solidFill>
            <a:srgbClr val="E8650A"/>
          </a:solidFill>
          <a:ln w="12700">
            <a:solidFill>
              <a:srgbClr val="E8650A"/>
            </a:solidFill>
            <a:prstDash val="solid"/>
          </a:ln>
        </p:spPr>
      </p:sp>
      <p:sp>
        <p:nvSpPr>
          <p:cNvPr id="28" name="Text 26"/>
          <p:cNvSpPr/>
          <p:nvPr/>
        </p:nvSpPr>
        <p:spPr>
          <a:xfrm>
            <a:off x="329184" y="3557016"/>
            <a:ext cx="4023360"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Black" pitchFamily="34" charset="0"/>
                <a:ea typeface="Arial Black" pitchFamily="34" charset="-122"/>
                <a:cs typeface="Arial Black" pitchFamily="34" charset="-120"/>
              </a:rPr>
              <a:t>💰  Long-Term ROI</a:t>
            </a:r>
            <a:endParaRPr lang="en-US" sz="1250" dirty="0"/>
          </a:p>
        </p:txBody>
      </p:sp>
      <p:sp>
        <p:nvSpPr>
          <p:cNvPr id="29" name="Text 27"/>
          <p:cNvSpPr/>
          <p:nvPr/>
        </p:nvSpPr>
        <p:spPr>
          <a:xfrm>
            <a:off x="329184" y="3840480"/>
            <a:ext cx="4023360" cy="60350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High upfront investment in writing scripts, but once built, re-running 500 automated tests costs near-zero. ROI typically achieved after 3-5 re-runs of the same suite.</a:t>
            </a:r>
            <a:endParaRPr lang="en-US" sz="1000" dirty="0"/>
          </a:p>
        </p:txBody>
      </p:sp>
      <p:sp>
        <p:nvSpPr>
          <p:cNvPr id="30" name="Shape 28"/>
          <p:cNvSpPr/>
          <p:nvPr/>
        </p:nvSpPr>
        <p:spPr>
          <a:xfrm>
            <a:off x="4663440" y="3493008"/>
            <a:ext cx="4315968" cy="1024128"/>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1" name="Shape 29"/>
          <p:cNvSpPr/>
          <p:nvPr/>
        </p:nvSpPr>
        <p:spPr>
          <a:xfrm>
            <a:off x="4663440" y="3493008"/>
            <a:ext cx="73152" cy="1024128"/>
          </a:xfrm>
          <a:prstGeom prst="rect">
            <a:avLst/>
          </a:prstGeom>
          <a:solidFill>
            <a:srgbClr val="E8650A"/>
          </a:solidFill>
          <a:ln w="12700">
            <a:solidFill>
              <a:srgbClr val="E8650A"/>
            </a:solidFill>
            <a:prstDash val="solid"/>
          </a:ln>
        </p:spPr>
      </p:sp>
      <p:sp>
        <p:nvSpPr>
          <p:cNvPr id="32" name="Text 30"/>
          <p:cNvSpPr/>
          <p:nvPr/>
        </p:nvSpPr>
        <p:spPr>
          <a:xfrm>
            <a:off x="4828032" y="3557016"/>
            <a:ext cx="4023360"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Black" pitchFamily="34" charset="0"/>
                <a:ea typeface="Arial Black" pitchFamily="34" charset="-122"/>
                <a:cs typeface="Arial Black" pitchFamily="34" charset="-120"/>
              </a:rPr>
              <a:t>📈  Continuous Quality</a:t>
            </a:r>
            <a:endParaRPr lang="en-US" sz="1250" dirty="0"/>
          </a:p>
        </p:txBody>
      </p:sp>
      <p:sp>
        <p:nvSpPr>
          <p:cNvPr id="33" name="Text 31"/>
          <p:cNvSpPr/>
          <p:nvPr/>
        </p:nvSpPr>
        <p:spPr>
          <a:xfrm>
            <a:off x="4828032" y="3840480"/>
            <a:ext cx="4023360" cy="603504"/>
          </a:xfrm>
          <a:prstGeom prst="rect">
            <a:avLst/>
          </a:prstGeom>
          <a:noFill/>
          <a:ln/>
        </p:spPr>
        <p:txBody>
          <a:bodyPr wrap="square" lIns="0" tIns="0" rIns="0" bIns="0" rtlCol="0" anchor="ctr"/>
          <a:lstStyle/>
          <a:p>
            <a:pPr marL="0" indent="0">
              <a:buNone/>
            </a:pPr>
            <a:r>
              <a:rPr lang="en-US" sz="1000" dirty="0">
                <a:solidFill>
                  <a:srgbClr val="BBBBBB"/>
                </a:solidFill>
                <a:latin typeface="Arial" pitchFamily="34" charset="0"/>
                <a:ea typeface="Arial" pitchFamily="34" charset="-122"/>
                <a:cs typeface="Arial" pitchFamily="34" charset="-120"/>
              </a:rPr>
              <a:t>Automated tests provide real-time quality feedback on every build, transforming testing from a milestone activity into a continuous quality gate embedded in the development process.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Test Automation Workflow — From Script to Report</a:t>
            </a:r>
            <a:endParaRPr lang="en-US" sz="2100" dirty="0"/>
          </a:p>
        </p:txBody>
      </p:sp>
      <p:sp>
        <p:nvSpPr>
          <p:cNvPr id="5" name="Text 3"/>
          <p:cNvSpPr/>
          <p:nvPr/>
        </p:nvSpPr>
        <p:spPr>
          <a:xfrm>
            <a:off x="256032" y="205740"/>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12  |  AUTOMATION</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Text 6"/>
          <p:cNvSpPr/>
          <p:nvPr/>
        </p:nvSpPr>
        <p:spPr>
          <a:xfrm>
            <a:off x="164592" y="804672"/>
            <a:ext cx="8823960" cy="274320"/>
          </a:xfrm>
          <a:prstGeom prst="rect">
            <a:avLst/>
          </a:prstGeom>
          <a:noFill/>
          <a:ln/>
        </p:spPr>
        <p:txBody>
          <a:bodyPr wrap="square" lIns="0" tIns="0" rIns="0" bIns="0" rtlCol="0" anchor="ctr"/>
          <a:lstStyle/>
          <a:p>
            <a:pPr marL="0" indent="0">
              <a:buNone/>
            </a:pPr>
            <a:r>
              <a:rPr lang="en-US" sz="1100" i="1" dirty="0">
                <a:solidFill>
                  <a:srgbClr val="444444"/>
                </a:solidFill>
                <a:latin typeface="Arial" pitchFamily="34" charset="0"/>
                <a:ea typeface="Arial" pitchFamily="34" charset="-122"/>
                <a:cs typeface="Arial" pitchFamily="34" charset="-120"/>
              </a:rPr>
              <a:t>A professional test automation workflow in a real project using Selenium (Java + IntelliJ) or Playwright (TypeScript):</a:t>
            </a:r>
            <a:endParaRPr lang="en-US" sz="1100" dirty="0"/>
          </a:p>
        </p:txBody>
      </p:sp>
      <p:sp>
        <p:nvSpPr>
          <p:cNvPr id="9" name="Shape 7"/>
          <p:cNvSpPr/>
          <p:nvPr/>
        </p:nvSpPr>
        <p:spPr>
          <a:xfrm>
            <a:off x="164592" y="1143000"/>
            <a:ext cx="4315968" cy="120700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0" name="Shape 8"/>
          <p:cNvSpPr/>
          <p:nvPr/>
        </p:nvSpPr>
        <p:spPr>
          <a:xfrm>
            <a:off x="164592" y="1143000"/>
            <a:ext cx="4315968" cy="329184"/>
          </a:xfrm>
          <a:prstGeom prst="rect">
            <a:avLst/>
          </a:prstGeom>
          <a:solidFill>
            <a:srgbClr val="0C0C0C"/>
          </a:solidFill>
          <a:ln w="12700">
            <a:solidFill>
              <a:srgbClr val="0C0C0C"/>
            </a:solidFill>
            <a:prstDash val="solid"/>
          </a:ln>
        </p:spPr>
      </p:sp>
      <p:sp>
        <p:nvSpPr>
          <p:cNvPr id="11" name="Text 9"/>
          <p:cNvSpPr/>
          <p:nvPr/>
        </p:nvSpPr>
        <p:spPr>
          <a:xfrm>
            <a:off x="256032" y="1143000"/>
            <a:ext cx="41148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01  Identify Automation Candidates</a:t>
            </a:r>
            <a:endParaRPr lang="en-US" sz="1150" dirty="0"/>
          </a:p>
        </p:txBody>
      </p:sp>
      <p:sp>
        <p:nvSpPr>
          <p:cNvPr id="12" name="Text 10"/>
          <p:cNvSpPr/>
          <p:nvPr/>
        </p:nvSpPr>
        <p:spPr>
          <a:xfrm>
            <a:off x="256032" y="1508760"/>
            <a:ext cx="4133088" cy="786384"/>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Select stable, high-value, repetitive tests for automation. New features (unstable), exploratory tests, and one-off tests stay manual. Typical automation candidates: login, checkout, search, API validation, critical user journeys.</a:t>
            </a:r>
            <a:endParaRPr lang="en-US" sz="950" dirty="0"/>
          </a:p>
        </p:txBody>
      </p:sp>
      <p:sp>
        <p:nvSpPr>
          <p:cNvPr id="13" name="Shape 11"/>
          <p:cNvSpPr/>
          <p:nvPr/>
        </p:nvSpPr>
        <p:spPr>
          <a:xfrm>
            <a:off x="4663440" y="1143000"/>
            <a:ext cx="4315968" cy="120700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4" name="Shape 12"/>
          <p:cNvSpPr/>
          <p:nvPr/>
        </p:nvSpPr>
        <p:spPr>
          <a:xfrm>
            <a:off x="4663440" y="1143000"/>
            <a:ext cx="4315968" cy="329184"/>
          </a:xfrm>
          <a:prstGeom prst="rect">
            <a:avLst/>
          </a:prstGeom>
          <a:solidFill>
            <a:srgbClr val="1A3A5C"/>
          </a:solidFill>
          <a:ln w="12700">
            <a:solidFill>
              <a:srgbClr val="1A3A5C"/>
            </a:solidFill>
            <a:prstDash val="solid"/>
          </a:ln>
        </p:spPr>
      </p:sp>
      <p:sp>
        <p:nvSpPr>
          <p:cNvPr id="15" name="Text 13"/>
          <p:cNvSpPr/>
          <p:nvPr/>
        </p:nvSpPr>
        <p:spPr>
          <a:xfrm>
            <a:off x="4754880" y="1143000"/>
            <a:ext cx="41148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02  Set Up the Framework</a:t>
            </a:r>
            <a:endParaRPr lang="en-US" sz="1150" dirty="0"/>
          </a:p>
        </p:txBody>
      </p:sp>
      <p:sp>
        <p:nvSpPr>
          <p:cNvPr id="16" name="Text 14"/>
          <p:cNvSpPr/>
          <p:nvPr/>
        </p:nvSpPr>
        <p:spPr>
          <a:xfrm>
            <a:off x="4754880" y="1508760"/>
            <a:ext cx="4133088" cy="786384"/>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IntelliJ or Eclipse: Create Maven/Gradle project. Add Selenium or Playwright dependency to pom.xml or package.json. Organise project structure: src/test/java for tests, src/main/java for page objects (POM pattern).</a:t>
            </a:r>
            <a:endParaRPr lang="en-US" sz="950" dirty="0"/>
          </a:p>
        </p:txBody>
      </p:sp>
      <p:sp>
        <p:nvSpPr>
          <p:cNvPr id="17" name="Shape 15"/>
          <p:cNvSpPr/>
          <p:nvPr/>
        </p:nvSpPr>
        <p:spPr>
          <a:xfrm>
            <a:off x="164592" y="2423160"/>
            <a:ext cx="4315968" cy="120700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8" name="Shape 16"/>
          <p:cNvSpPr/>
          <p:nvPr/>
        </p:nvSpPr>
        <p:spPr>
          <a:xfrm>
            <a:off x="164592" y="2423160"/>
            <a:ext cx="4315968" cy="329184"/>
          </a:xfrm>
          <a:prstGeom prst="rect">
            <a:avLst/>
          </a:prstGeom>
          <a:solidFill>
            <a:srgbClr val="2E5E2E"/>
          </a:solidFill>
          <a:ln w="12700">
            <a:solidFill>
              <a:srgbClr val="2E5E2E"/>
            </a:solidFill>
            <a:prstDash val="solid"/>
          </a:ln>
        </p:spPr>
      </p:sp>
      <p:sp>
        <p:nvSpPr>
          <p:cNvPr id="19" name="Text 17"/>
          <p:cNvSpPr/>
          <p:nvPr/>
        </p:nvSpPr>
        <p:spPr>
          <a:xfrm>
            <a:off x="256032" y="2423160"/>
            <a:ext cx="41148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03  Write Page Objects</a:t>
            </a:r>
            <a:endParaRPr lang="en-US" sz="1150" dirty="0"/>
          </a:p>
        </p:txBody>
      </p:sp>
      <p:sp>
        <p:nvSpPr>
          <p:cNvPr id="20" name="Text 18"/>
          <p:cNvSpPr/>
          <p:nvPr/>
        </p:nvSpPr>
        <p:spPr>
          <a:xfrm>
            <a:off x="256032" y="2788920"/>
            <a:ext cx="4133088" cy="786384"/>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Page Object Model (POM) separates test logic from UI element locators. Create a LoginPage class with methods: enterEmail(), enterPassword(), clickLogin(). Tests call these methods — they don't reference locators directly.</a:t>
            </a:r>
            <a:endParaRPr lang="en-US" sz="950" dirty="0"/>
          </a:p>
        </p:txBody>
      </p:sp>
      <p:sp>
        <p:nvSpPr>
          <p:cNvPr id="21" name="Shape 19"/>
          <p:cNvSpPr/>
          <p:nvPr/>
        </p:nvSpPr>
        <p:spPr>
          <a:xfrm>
            <a:off x="4663440" y="2423160"/>
            <a:ext cx="4315968" cy="120700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2" name="Shape 20"/>
          <p:cNvSpPr/>
          <p:nvPr/>
        </p:nvSpPr>
        <p:spPr>
          <a:xfrm>
            <a:off x="4663440" y="2423160"/>
            <a:ext cx="4315968" cy="329184"/>
          </a:xfrm>
          <a:prstGeom prst="rect">
            <a:avLst/>
          </a:prstGeom>
          <a:solidFill>
            <a:srgbClr val="B84D00"/>
          </a:solidFill>
          <a:ln w="12700">
            <a:solidFill>
              <a:srgbClr val="B84D00"/>
            </a:solidFill>
            <a:prstDash val="solid"/>
          </a:ln>
        </p:spPr>
      </p:sp>
      <p:sp>
        <p:nvSpPr>
          <p:cNvPr id="23" name="Text 21"/>
          <p:cNvSpPr/>
          <p:nvPr/>
        </p:nvSpPr>
        <p:spPr>
          <a:xfrm>
            <a:off x="4754880" y="2423160"/>
            <a:ext cx="41148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04  Write Test Classes</a:t>
            </a:r>
            <a:endParaRPr lang="en-US" sz="1150" dirty="0"/>
          </a:p>
        </p:txBody>
      </p:sp>
      <p:sp>
        <p:nvSpPr>
          <p:cNvPr id="24" name="Text 22"/>
          <p:cNvSpPr/>
          <p:nvPr/>
        </p:nvSpPr>
        <p:spPr>
          <a:xfrm>
            <a:off x="4754880" y="2788920"/>
            <a:ext cx="4133088" cy="786384"/>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Test classes import page objects and contain @Test methods. Each test method: initialises the browser driver, navigates to the URL, calls page object methods, asserts expected outcomes, closes the browser.</a:t>
            </a:r>
            <a:endParaRPr lang="en-US" sz="950" dirty="0"/>
          </a:p>
        </p:txBody>
      </p:sp>
      <p:sp>
        <p:nvSpPr>
          <p:cNvPr id="25" name="Shape 23"/>
          <p:cNvSpPr/>
          <p:nvPr/>
        </p:nvSpPr>
        <p:spPr>
          <a:xfrm>
            <a:off x="164592" y="3703320"/>
            <a:ext cx="4315968" cy="120700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6" name="Shape 24"/>
          <p:cNvSpPr/>
          <p:nvPr/>
        </p:nvSpPr>
        <p:spPr>
          <a:xfrm>
            <a:off x="164592" y="3703320"/>
            <a:ext cx="4315968" cy="329184"/>
          </a:xfrm>
          <a:prstGeom prst="rect">
            <a:avLst/>
          </a:prstGeom>
          <a:solidFill>
            <a:srgbClr val="5A1E5A"/>
          </a:solidFill>
          <a:ln w="12700">
            <a:solidFill>
              <a:srgbClr val="5A1E5A"/>
            </a:solidFill>
            <a:prstDash val="solid"/>
          </a:ln>
        </p:spPr>
      </p:sp>
      <p:sp>
        <p:nvSpPr>
          <p:cNvPr id="27" name="Text 25"/>
          <p:cNvSpPr/>
          <p:nvPr/>
        </p:nvSpPr>
        <p:spPr>
          <a:xfrm>
            <a:off x="256032" y="3703320"/>
            <a:ext cx="41148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05  Integrate with CI/CD</a:t>
            </a:r>
            <a:endParaRPr lang="en-US" sz="1150" dirty="0"/>
          </a:p>
        </p:txBody>
      </p:sp>
      <p:sp>
        <p:nvSpPr>
          <p:cNvPr id="28" name="Text 26"/>
          <p:cNvSpPr/>
          <p:nvPr/>
        </p:nvSpPr>
        <p:spPr>
          <a:xfrm>
            <a:off x="256032" y="4069080"/>
            <a:ext cx="4133088" cy="786384"/>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Configure Jenkins or GitHub Actions to trigger `mvn test` (Selenium) or `npx playwright test` (Playwright) on every code commit or PR merge. Failing tests block the merge — preventing defects from reaching production.</a:t>
            </a:r>
            <a:endParaRPr lang="en-US" sz="950" dirty="0"/>
          </a:p>
        </p:txBody>
      </p:sp>
      <p:sp>
        <p:nvSpPr>
          <p:cNvPr id="29" name="Shape 27"/>
          <p:cNvSpPr/>
          <p:nvPr/>
        </p:nvSpPr>
        <p:spPr>
          <a:xfrm>
            <a:off x="4663440" y="3703320"/>
            <a:ext cx="4315968" cy="120700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0" name="Shape 28"/>
          <p:cNvSpPr/>
          <p:nvPr/>
        </p:nvSpPr>
        <p:spPr>
          <a:xfrm>
            <a:off x="4663440" y="3703320"/>
            <a:ext cx="4315968" cy="329184"/>
          </a:xfrm>
          <a:prstGeom prst="rect">
            <a:avLst/>
          </a:prstGeom>
          <a:solidFill>
            <a:srgbClr val="3A3A3A"/>
          </a:solidFill>
          <a:ln w="12700">
            <a:solidFill>
              <a:srgbClr val="3A3A3A"/>
            </a:solidFill>
            <a:prstDash val="solid"/>
          </a:ln>
        </p:spPr>
      </p:sp>
      <p:sp>
        <p:nvSpPr>
          <p:cNvPr id="31" name="Text 29"/>
          <p:cNvSpPr/>
          <p:nvPr/>
        </p:nvSpPr>
        <p:spPr>
          <a:xfrm>
            <a:off x="4754880" y="3703320"/>
            <a:ext cx="41148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06  Review Reports &amp; Maintain</a:t>
            </a:r>
            <a:endParaRPr lang="en-US" sz="1150" dirty="0"/>
          </a:p>
        </p:txBody>
      </p:sp>
      <p:sp>
        <p:nvSpPr>
          <p:cNvPr id="32" name="Text 30"/>
          <p:cNvSpPr/>
          <p:nvPr/>
        </p:nvSpPr>
        <p:spPr>
          <a:xfrm>
            <a:off x="4754880" y="4069080"/>
            <a:ext cx="4133088" cy="786384"/>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Allure or Playwright HTML reporter generates visual test results. Failed tests show screenshots and stack traces. Maintenance: update locators when UI changes, add tests for new features, remove obsolete tests regularly.</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13</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Real-World Testing</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Example</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Testing a Login System from Start to Finish</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Scenario — Test a Login System</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13  |  REAL-WORLD EXAMPLE</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Text 7"/>
          <p:cNvSpPr/>
          <p:nvPr/>
        </p:nvSpPr>
        <p:spPr>
          <a:xfrm>
            <a:off x="164592" y="795528"/>
            <a:ext cx="8823960" cy="420624"/>
          </a:xfrm>
          <a:prstGeom prst="rect">
            <a:avLst/>
          </a:prstGeom>
          <a:noFill/>
          <a:ln/>
        </p:spPr>
        <p:txBody>
          <a:bodyPr wrap="square" lIns="0" tIns="0" rIns="0" bIns="0" rtlCol="0" anchor="ctr"/>
          <a:lstStyle/>
          <a:p>
            <a:pPr marL="0" indent="0">
              <a:buNone/>
            </a:pPr>
            <a:r>
              <a:rPr lang="en-US" sz="1100" i="1" dirty="0">
                <a:solidFill>
                  <a:srgbClr val="BBBBBB"/>
                </a:solidFill>
                <a:latin typeface="Arial" pitchFamily="34" charset="0"/>
                <a:ea typeface="Arial" pitchFamily="34" charset="-122"/>
                <a:cs typeface="Arial" pitchFamily="34" charset="-120"/>
              </a:rPr>
              <a:t>Project: An e-commerce company is releasing a new web application. You are the QA engineer responsible for testing the Login module. Here is how every testing fundamental you've learned applies:</a:t>
            </a:r>
            <a:endParaRPr lang="en-US" sz="1100" dirty="0"/>
          </a:p>
        </p:txBody>
      </p:sp>
      <p:sp>
        <p:nvSpPr>
          <p:cNvPr id="10" name="Shape 8"/>
          <p:cNvSpPr/>
          <p:nvPr/>
        </p:nvSpPr>
        <p:spPr>
          <a:xfrm>
            <a:off x="164592" y="1298448"/>
            <a:ext cx="8823960" cy="80467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1" name="Shape 9"/>
          <p:cNvSpPr/>
          <p:nvPr/>
        </p:nvSpPr>
        <p:spPr>
          <a:xfrm>
            <a:off x="164592" y="1298448"/>
            <a:ext cx="73152" cy="804672"/>
          </a:xfrm>
          <a:prstGeom prst="rect">
            <a:avLst/>
          </a:prstGeom>
          <a:solidFill>
            <a:srgbClr val="E8650A"/>
          </a:solidFill>
          <a:ln w="12700">
            <a:solidFill>
              <a:srgbClr val="E8650A"/>
            </a:solidFill>
            <a:prstDash val="solid"/>
          </a:ln>
        </p:spPr>
      </p:sp>
      <p:sp>
        <p:nvSpPr>
          <p:cNvPr id="12" name="Shape 10"/>
          <p:cNvSpPr/>
          <p:nvPr/>
        </p:nvSpPr>
        <p:spPr>
          <a:xfrm>
            <a:off x="164592" y="1298448"/>
            <a:ext cx="8823960" cy="237744"/>
          </a:xfrm>
          <a:prstGeom prst="rect">
            <a:avLst/>
          </a:prstGeom>
          <a:solidFill>
            <a:srgbClr val="E8650A"/>
          </a:solidFill>
          <a:ln w="12700">
            <a:solidFill>
              <a:srgbClr val="E8650A"/>
            </a:solidFill>
            <a:prstDash val="solid"/>
          </a:ln>
        </p:spPr>
      </p:sp>
      <p:sp>
        <p:nvSpPr>
          <p:cNvPr id="13" name="Text 11"/>
          <p:cNvSpPr/>
          <p:nvPr/>
        </p:nvSpPr>
        <p:spPr>
          <a:xfrm>
            <a:off x="256032" y="1316736"/>
            <a:ext cx="859536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Step 1: Requirement Analysis (STLC Phase 1)</a:t>
            </a:r>
            <a:endParaRPr lang="en-US" sz="1100" dirty="0"/>
          </a:p>
        </p:txBody>
      </p:sp>
      <p:sp>
        <p:nvSpPr>
          <p:cNvPr id="14" name="Text 12"/>
          <p:cNvSpPr/>
          <p:nvPr/>
        </p:nvSpPr>
        <p:spPr>
          <a:xfrm>
            <a:off x="256032" y="1563624"/>
            <a:ext cx="8503920" cy="493776"/>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Read the requirement: 'Users should be able to log in using email + password. After 3 failed attempts, account should be locked for 15 minutes.'</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Apply Principle 3 (Early Testing): Identify ambiguity immediately — 'Does the 15-minute lockout reset after one successful login? Is it per session or per account?'</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Raise clarification with BA before any code is written. This prevents a defect from being coded in.</a:t>
            </a:r>
            <a:endParaRPr lang="en-US" sz="900" dirty="0"/>
          </a:p>
        </p:txBody>
      </p:sp>
      <p:sp>
        <p:nvSpPr>
          <p:cNvPr id="15" name="Shape 13"/>
          <p:cNvSpPr/>
          <p:nvPr/>
        </p:nvSpPr>
        <p:spPr>
          <a:xfrm>
            <a:off x="164592" y="2176272"/>
            <a:ext cx="8823960" cy="80467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6" name="Shape 14"/>
          <p:cNvSpPr/>
          <p:nvPr/>
        </p:nvSpPr>
        <p:spPr>
          <a:xfrm>
            <a:off x="164592" y="2176272"/>
            <a:ext cx="73152" cy="804672"/>
          </a:xfrm>
          <a:prstGeom prst="rect">
            <a:avLst/>
          </a:prstGeom>
          <a:solidFill>
            <a:srgbClr val="E8650A"/>
          </a:solidFill>
          <a:ln w="12700">
            <a:solidFill>
              <a:srgbClr val="E8650A"/>
            </a:solidFill>
            <a:prstDash val="solid"/>
          </a:ln>
        </p:spPr>
      </p:sp>
      <p:sp>
        <p:nvSpPr>
          <p:cNvPr id="17" name="Shape 15"/>
          <p:cNvSpPr/>
          <p:nvPr/>
        </p:nvSpPr>
        <p:spPr>
          <a:xfrm>
            <a:off x="164592" y="2176272"/>
            <a:ext cx="8823960" cy="237744"/>
          </a:xfrm>
          <a:prstGeom prst="rect">
            <a:avLst/>
          </a:prstGeom>
          <a:solidFill>
            <a:srgbClr val="4A90D9"/>
          </a:solidFill>
          <a:ln w="12700">
            <a:solidFill>
              <a:srgbClr val="4A90D9"/>
            </a:solidFill>
            <a:prstDash val="solid"/>
          </a:ln>
        </p:spPr>
      </p:sp>
      <p:sp>
        <p:nvSpPr>
          <p:cNvPr id="18" name="Text 16"/>
          <p:cNvSpPr/>
          <p:nvPr/>
        </p:nvSpPr>
        <p:spPr>
          <a:xfrm>
            <a:off x="256032" y="2194560"/>
            <a:ext cx="859536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Step 2: Test Planning</a:t>
            </a:r>
            <a:endParaRPr lang="en-US" sz="1100" dirty="0"/>
          </a:p>
        </p:txBody>
      </p:sp>
      <p:sp>
        <p:nvSpPr>
          <p:cNvPr id="19" name="Text 17"/>
          <p:cNvSpPr/>
          <p:nvPr/>
        </p:nvSpPr>
        <p:spPr>
          <a:xfrm>
            <a:off x="256032" y="2441448"/>
            <a:ext cx="8503920" cy="493776"/>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Define scope: Login form, session management, account lockout, password reset link.</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Estimation: 24 test cases planned. 2 days for design, 2 days for execution, 1 day UAT.</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Risk: Test environment may be unstable — mitigation: provision backup QA environment.</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Tools: Manual execution in Jira Xray + Playwright automated regression scripts in VS Code.</a:t>
            </a:r>
            <a:endParaRPr lang="en-US" sz="900" dirty="0"/>
          </a:p>
        </p:txBody>
      </p:sp>
      <p:sp>
        <p:nvSpPr>
          <p:cNvPr id="20" name="Shape 18"/>
          <p:cNvSpPr/>
          <p:nvPr/>
        </p:nvSpPr>
        <p:spPr>
          <a:xfrm>
            <a:off x="164592" y="3054096"/>
            <a:ext cx="8823960" cy="80467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1" name="Shape 19"/>
          <p:cNvSpPr/>
          <p:nvPr/>
        </p:nvSpPr>
        <p:spPr>
          <a:xfrm>
            <a:off x="164592" y="3054096"/>
            <a:ext cx="73152" cy="804672"/>
          </a:xfrm>
          <a:prstGeom prst="rect">
            <a:avLst/>
          </a:prstGeom>
          <a:solidFill>
            <a:srgbClr val="E8650A"/>
          </a:solidFill>
          <a:ln w="12700">
            <a:solidFill>
              <a:srgbClr val="E8650A"/>
            </a:solidFill>
            <a:prstDash val="solid"/>
          </a:ln>
        </p:spPr>
      </p:sp>
      <p:sp>
        <p:nvSpPr>
          <p:cNvPr id="22" name="Shape 20"/>
          <p:cNvSpPr/>
          <p:nvPr/>
        </p:nvSpPr>
        <p:spPr>
          <a:xfrm>
            <a:off x="164592" y="3054096"/>
            <a:ext cx="8823960" cy="237744"/>
          </a:xfrm>
          <a:prstGeom prst="rect">
            <a:avLst/>
          </a:prstGeom>
          <a:solidFill>
            <a:srgbClr val="2E8B57"/>
          </a:solidFill>
          <a:ln w="12700">
            <a:solidFill>
              <a:srgbClr val="2E8B57"/>
            </a:solidFill>
            <a:prstDash val="solid"/>
          </a:ln>
        </p:spPr>
      </p:sp>
      <p:sp>
        <p:nvSpPr>
          <p:cNvPr id="23" name="Text 21"/>
          <p:cNvSpPr/>
          <p:nvPr/>
        </p:nvSpPr>
        <p:spPr>
          <a:xfrm>
            <a:off x="256032" y="3072384"/>
            <a:ext cx="859536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Step 3: Test Case Design (Black Box + Equivalence Partitioning)</a:t>
            </a:r>
            <a:endParaRPr lang="en-US" sz="1100" dirty="0"/>
          </a:p>
        </p:txBody>
      </p:sp>
      <p:sp>
        <p:nvSpPr>
          <p:cNvPr id="24" name="Text 22"/>
          <p:cNvSpPr/>
          <p:nvPr/>
        </p:nvSpPr>
        <p:spPr>
          <a:xfrm>
            <a:off x="256032" y="3319272"/>
            <a:ext cx="8503920" cy="493776"/>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Positive tests: Valid email + valid password → dashboard. Valid email + password (case variation) → success.</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Negative tests: Valid email + wrong password → error message. Invalid email format → validation error. Empty fields → 'Required' messages.</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Boundary tests: Exactly 3 failed attempts → next attempt triggers lockout. 2 failed attempts → NOT locked.</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Edge cases: Password with special characters @#$%^&amp;*. Email with + alias. Session expiry after inactivity.</a:t>
            </a:r>
            <a:endParaRPr lang="en-US" sz="900" dirty="0"/>
          </a:p>
        </p:txBody>
      </p:sp>
      <p:sp>
        <p:nvSpPr>
          <p:cNvPr id="25" name="Shape 23"/>
          <p:cNvSpPr/>
          <p:nvPr/>
        </p:nvSpPr>
        <p:spPr>
          <a:xfrm>
            <a:off x="164592" y="3931920"/>
            <a:ext cx="8823960" cy="804672"/>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6" name="Shape 24"/>
          <p:cNvSpPr/>
          <p:nvPr/>
        </p:nvSpPr>
        <p:spPr>
          <a:xfrm>
            <a:off x="164592" y="3931920"/>
            <a:ext cx="73152" cy="804672"/>
          </a:xfrm>
          <a:prstGeom prst="rect">
            <a:avLst/>
          </a:prstGeom>
          <a:solidFill>
            <a:srgbClr val="E8650A"/>
          </a:solidFill>
          <a:ln w="12700">
            <a:solidFill>
              <a:srgbClr val="E8650A"/>
            </a:solidFill>
            <a:prstDash val="solid"/>
          </a:ln>
        </p:spPr>
      </p:sp>
      <p:sp>
        <p:nvSpPr>
          <p:cNvPr id="27" name="Shape 25"/>
          <p:cNvSpPr/>
          <p:nvPr/>
        </p:nvSpPr>
        <p:spPr>
          <a:xfrm>
            <a:off x="164592" y="3931920"/>
            <a:ext cx="8823960" cy="237744"/>
          </a:xfrm>
          <a:prstGeom prst="rect">
            <a:avLst/>
          </a:prstGeom>
          <a:solidFill>
            <a:srgbClr val="B84D00"/>
          </a:solidFill>
          <a:ln w="12700">
            <a:solidFill>
              <a:srgbClr val="B84D00"/>
            </a:solidFill>
            <a:prstDash val="solid"/>
          </a:ln>
        </p:spPr>
      </p:sp>
      <p:sp>
        <p:nvSpPr>
          <p:cNvPr id="28" name="Text 26"/>
          <p:cNvSpPr/>
          <p:nvPr/>
        </p:nvSpPr>
        <p:spPr>
          <a:xfrm>
            <a:off x="256032" y="3950208"/>
            <a:ext cx="859536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Step 4: Execution + Defect Found</a:t>
            </a:r>
            <a:endParaRPr lang="en-US" sz="1100" dirty="0"/>
          </a:p>
        </p:txBody>
      </p:sp>
      <p:sp>
        <p:nvSpPr>
          <p:cNvPr id="29" name="Text 27"/>
          <p:cNvSpPr/>
          <p:nvPr/>
        </p:nvSpPr>
        <p:spPr>
          <a:xfrm>
            <a:off x="256032" y="4197096"/>
            <a:ext cx="8503920" cy="493776"/>
          </a:xfrm>
          <a:prstGeom prst="rect">
            <a:avLst/>
          </a:prstGeom>
          <a:noFill/>
          <a:ln/>
        </p:spPr>
        <p:txBody>
          <a:bodyPr wrap="square" lIns="0" tIns="0" rIns="0" bIns="0" rtlCol="0" anchor="ctr"/>
          <a:lstStyle/>
          <a:p>
            <a:pPr marL="342900" indent="-342900">
              <a:buSzPct val="100000"/>
              <a:buChar char="•"/>
            </a:pPr>
            <a:r>
              <a:rPr lang="en-US" sz="900" dirty="0">
                <a:solidFill>
                  <a:srgbClr val="BBBBBB"/>
                </a:solidFill>
                <a:latin typeface="Arial" pitchFamily="34" charset="0"/>
                <a:ea typeface="Arial" pitchFamily="34" charset="-122"/>
                <a:cs typeface="Arial" pitchFamily="34" charset="-120"/>
              </a:rPr>
              <a:t>Executed TC LOGIN-TC-018 (Boundary: 3rd failed login triggers lockout) — FAILED.</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Actual Result: Account locked after 4 failed attempts, not 3. Defect raised: DEF-041 | Severity: High | Priority: P1.</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Developer fixes lockout counter logic. Retest on Build 2.4.2 — PASSED. TC marked Closed.</a:t>
            </a:r>
            <a:endParaRPr lang="en-US" sz="900" dirty="0"/>
          </a:p>
          <a:p>
            <a:pPr marL="342900" indent="-342900">
              <a:buSzPct val="100000"/>
              <a:buChar char="•"/>
            </a:pPr>
            <a:r>
              <a:rPr lang="en-US" sz="900" dirty="0">
                <a:solidFill>
                  <a:srgbClr val="BBBBBB"/>
                </a:solidFill>
                <a:latin typeface="Arial" pitchFamily="34" charset="0"/>
                <a:ea typeface="Arial" pitchFamily="34" charset="-122"/>
                <a:cs typeface="Arial" pitchFamily="34" charset="-120"/>
              </a:rPr>
              <a:t>Automation: Playwright script added for all 24 login tests. Runs in 4 minutes on every CI build.</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14</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Best Practices in</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Software Testing</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Habits That Separate Good Testers from Great Ones</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C0C0C"/>
          </a:solidFill>
          <a:ln w="12700">
            <a:solidFill>
              <a:srgbClr val="0C0C0C"/>
            </a:solidFill>
            <a:prstDash val="solid"/>
          </a:ln>
        </p:spPr>
      </p:sp>
      <p:sp>
        <p:nvSpPr>
          <p:cNvPr id="3" name="Shape 1"/>
          <p:cNvSpPr/>
          <p:nvPr/>
        </p:nvSpPr>
        <p:spPr>
          <a:xfrm>
            <a:off x="0" y="658368"/>
            <a:ext cx="9144000" cy="32004"/>
          </a:xfrm>
          <a:prstGeom prst="rect">
            <a:avLst/>
          </a:prstGeom>
          <a:solidFill>
            <a:srgbClr val="E8650A"/>
          </a:solidFill>
          <a:ln w="12700">
            <a:solidFill>
              <a:srgbClr val="E8650A"/>
            </a:solidFill>
            <a:prstDash val="solid"/>
          </a:ln>
        </p:spPr>
      </p:sp>
      <p:sp>
        <p:nvSpPr>
          <p:cNvPr id="4" name="Text 2"/>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Best Practices Every Tester Must Follow</a:t>
            </a:r>
            <a:endParaRPr lang="en-US" sz="2100" dirty="0"/>
          </a:p>
        </p:txBody>
      </p:sp>
      <p:sp>
        <p:nvSpPr>
          <p:cNvPr id="5" name="Text 3"/>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14  |  BEST PRACTICES</a:t>
            </a:r>
            <a:endParaRPr lang="en-US" sz="1000" dirty="0"/>
          </a:p>
        </p:txBody>
      </p:sp>
      <p:sp>
        <p:nvSpPr>
          <p:cNvPr id="6" name="Shape 4"/>
          <p:cNvSpPr/>
          <p:nvPr/>
        </p:nvSpPr>
        <p:spPr>
          <a:xfrm>
            <a:off x="0" y="4974336"/>
            <a:ext cx="9144000" cy="169164"/>
          </a:xfrm>
          <a:prstGeom prst="rect">
            <a:avLst/>
          </a:prstGeom>
          <a:solidFill>
            <a:srgbClr val="0C0C0C"/>
          </a:solidFill>
          <a:ln w="12700">
            <a:solidFill>
              <a:srgbClr val="0C0C0C"/>
            </a:solidFill>
            <a:prstDash val="solid"/>
          </a:ln>
        </p:spPr>
      </p:sp>
      <p:sp>
        <p:nvSpPr>
          <p:cNvPr id="7" name="Text 5"/>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8" name="Shape 6"/>
          <p:cNvSpPr/>
          <p:nvPr/>
        </p:nvSpPr>
        <p:spPr>
          <a:xfrm>
            <a:off x="164592" y="804672"/>
            <a:ext cx="4315968" cy="135331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9" name="Shape 7"/>
          <p:cNvSpPr/>
          <p:nvPr/>
        </p:nvSpPr>
        <p:spPr>
          <a:xfrm>
            <a:off x="164592" y="804672"/>
            <a:ext cx="73152" cy="1353312"/>
          </a:xfrm>
          <a:prstGeom prst="rect">
            <a:avLst/>
          </a:prstGeom>
          <a:solidFill>
            <a:srgbClr val="E8650A"/>
          </a:solidFill>
          <a:ln w="12700">
            <a:solidFill>
              <a:srgbClr val="E8650A"/>
            </a:solidFill>
            <a:prstDash val="solid"/>
          </a:ln>
        </p:spPr>
      </p:sp>
      <p:sp>
        <p:nvSpPr>
          <p:cNvPr id="10" name="Shape 8"/>
          <p:cNvSpPr/>
          <p:nvPr/>
        </p:nvSpPr>
        <p:spPr>
          <a:xfrm>
            <a:off x="274320" y="877824"/>
            <a:ext cx="438912" cy="420624"/>
          </a:xfrm>
          <a:prstGeom prst="rect">
            <a:avLst/>
          </a:prstGeom>
          <a:solidFill>
            <a:srgbClr val="0C0C0C"/>
          </a:solidFill>
          <a:ln w="12700">
            <a:solidFill>
              <a:srgbClr val="0C0C0C"/>
            </a:solidFill>
            <a:prstDash val="solid"/>
          </a:ln>
        </p:spPr>
      </p:sp>
      <p:sp>
        <p:nvSpPr>
          <p:cNvPr id="11" name="Text 9"/>
          <p:cNvSpPr/>
          <p:nvPr/>
        </p:nvSpPr>
        <p:spPr>
          <a:xfrm>
            <a:off x="274320" y="877824"/>
            <a:ext cx="438912" cy="420624"/>
          </a:xfrm>
          <a:prstGeom prst="rect">
            <a:avLst/>
          </a:prstGeom>
          <a:noFill/>
          <a:ln/>
        </p:spPr>
        <p:txBody>
          <a:bodyPr wrap="square" lIns="0" tIns="0" rIns="0" bIns="0" rtlCol="0" anchor="ctr"/>
          <a:lstStyle/>
          <a:p>
            <a:pPr marL="0" indent="0" algn="ctr">
              <a:buNone/>
            </a:pPr>
            <a:r>
              <a:rPr lang="en-US" sz="1300" b="1" dirty="0">
                <a:solidFill>
                  <a:srgbClr val="E8650A"/>
                </a:solidFill>
                <a:latin typeface="Arial Black" pitchFamily="34" charset="0"/>
                <a:ea typeface="Arial Black" pitchFamily="34" charset="-122"/>
                <a:cs typeface="Arial Black" pitchFamily="34" charset="-120"/>
              </a:rPr>
              <a:t>01</a:t>
            </a:r>
            <a:endParaRPr lang="en-US" sz="1300" dirty="0"/>
          </a:p>
        </p:txBody>
      </p:sp>
      <p:sp>
        <p:nvSpPr>
          <p:cNvPr id="12" name="Text 10"/>
          <p:cNvSpPr/>
          <p:nvPr/>
        </p:nvSpPr>
        <p:spPr>
          <a:xfrm>
            <a:off x="822960" y="896112"/>
            <a:ext cx="3547872" cy="256032"/>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Start Testing Early — Shift Left</a:t>
            </a:r>
            <a:endParaRPr lang="en-US" sz="1200" dirty="0"/>
          </a:p>
        </p:txBody>
      </p:sp>
      <p:sp>
        <p:nvSpPr>
          <p:cNvPr id="13" name="Text 11"/>
          <p:cNvSpPr/>
          <p:nvPr/>
        </p:nvSpPr>
        <p:spPr>
          <a:xfrm>
            <a:off x="274320" y="1291766"/>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Engage with requirements from day one. Don't wait for a build. Review user stories, identify ambiguities, and design test cases BEFORE development begins. Every defect prevented at requirements stage saves hours of rework in execution.</a:t>
            </a:r>
            <a:endParaRPr lang="en-US" sz="950" dirty="0"/>
          </a:p>
        </p:txBody>
      </p:sp>
      <p:sp>
        <p:nvSpPr>
          <p:cNvPr id="14" name="Text 12"/>
          <p:cNvSpPr/>
          <p:nvPr/>
        </p:nvSpPr>
        <p:spPr>
          <a:xfrm>
            <a:off x="274320" y="1810512"/>
            <a:ext cx="4114800" cy="29260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Tip: Request to be included in sprint planning and refinement sessions.</a:t>
            </a:r>
            <a:endParaRPr lang="en-US" sz="900" dirty="0"/>
          </a:p>
        </p:txBody>
      </p:sp>
      <p:sp>
        <p:nvSpPr>
          <p:cNvPr id="15" name="Shape 13"/>
          <p:cNvSpPr/>
          <p:nvPr/>
        </p:nvSpPr>
        <p:spPr>
          <a:xfrm>
            <a:off x="4663440" y="804672"/>
            <a:ext cx="4315968" cy="135331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6" name="Shape 14"/>
          <p:cNvSpPr/>
          <p:nvPr/>
        </p:nvSpPr>
        <p:spPr>
          <a:xfrm>
            <a:off x="4663440" y="804672"/>
            <a:ext cx="73152" cy="1353312"/>
          </a:xfrm>
          <a:prstGeom prst="rect">
            <a:avLst/>
          </a:prstGeom>
          <a:solidFill>
            <a:srgbClr val="E8650A"/>
          </a:solidFill>
          <a:ln w="12700">
            <a:solidFill>
              <a:srgbClr val="E8650A"/>
            </a:solidFill>
            <a:prstDash val="solid"/>
          </a:ln>
        </p:spPr>
      </p:sp>
      <p:sp>
        <p:nvSpPr>
          <p:cNvPr id="17" name="Shape 15"/>
          <p:cNvSpPr/>
          <p:nvPr/>
        </p:nvSpPr>
        <p:spPr>
          <a:xfrm>
            <a:off x="4773168" y="877824"/>
            <a:ext cx="438912" cy="420624"/>
          </a:xfrm>
          <a:prstGeom prst="rect">
            <a:avLst/>
          </a:prstGeom>
          <a:solidFill>
            <a:srgbClr val="0C0C0C"/>
          </a:solidFill>
          <a:ln w="12700">
            <a:solidFill>
              <a:srgbClr val="0C0C0C"/>
            </a:solidFill>
            <a:prstDash val="solid"/>
          </a:ln>
        </p:spPr>
      </p:sp>
      <p:sp>
        <p:nvSpPr>
          <p:cNvPr id="18" name="Text 16"/>
          <p:cNvSpPr/>
          <p:nvPr/>
        </p:nvSpPr>
        <p:spPr>
          <a:xfrm>
            <a:off x="4773168" y="877824"/>
            <a:ext cx="438912" cy="420624"/>
          </a:xfrm>
          <a:prstGeom prst="rect">
            <a:avLst/>
          </a:prstGeom>
          <a:noFill/>
          <a:ln/>
        </p:spPr>
        <p:txBody>
          <a:bodyPr wrap="square" lIns="0" tIns="0" rIns="0" bIns="0" rtlCol="0" anchor="ctr"/>
          <a:lstStyle/>
          <a:p>
            <a:pPr marL="0" indent="0" algn="ctr">
              <a:buNone/>
            </a:pPr>
            <a:r>
              <a:rPr lang="en-US" sz="1300" b="1" dirty="0">
                <a:solidFill>
                  <a:srgbClr val="E8650A"/>
                </a:solidFill>
                <a:latin typeface="Arial Black" pitchFamily="34" charset="0"/>
                <a:ea typeface="Arial Black" pitchFamily="34" charset="-122"/>
                <a:cs typeface="Arial Black" pitchFamily="34" charset="-120"/>
              </a:rPr>
              <a:t>02</a:t>
            </a:r>
            <a:endParaRPr lang="en-US" sz="1300" dirty="0"/>
          </a:p>
        </p:txBody>
      </p:sp>
      <p:sp>
        <p:nvSpPr>
          <p:cNvPr id="19" name="Text 17"/>
          <p:cNvSpPr/>
          <p:nvPr/>
        </p:nvSpPr>
        <p:spPr>
          <a:xfrm>
            <a:off x="5321808" y="896112"/>
            <a:ext cx="3547872" cy="256032"/>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Write Clear, Unambiguous Test Cases</a:t>
            </a:r>
            <a:endParaRPr lang="en-US" sz="1200" dirty="0"/>
          </a:p>
        </p:txBody>
      </p:sp>
      <p:sp>
        <p:nvSpPr>
          <p:cNvPr id="20" name="Text 18"/>
          <p:cNvSpPr/>
          <p:nvPr/>
        </p:nvSpPr>
        <p:spPr>
          <a:xfrm>
            <a:off x="4773168" y="1272423"/>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Every test case must be executable by ANY competent tester, not just the one who wrote it. Use specific values, clear steps, and precise expected results. Vague test cases like 'check login works' are not test cases.</a:t>
            </a:r>
            <a:endParaRPr lang="en-US" sz="950" dirty="0"/>
          </a:p>
        </p:txBody>
      </p:sp>
      <p:sp>
        <p:nvSpPr>
          <p:cNvPr id="21" name="Text 19"/>
          <p:cNvSpPr/>
          <p:nvPr/>
        </p:nvSpPr>
        <p:spPr>
          <a:xfrm>
            <a:off x="4773168" y="1810512"/>
            <a:ext cx="4114800" cy="29260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Tip: Peer-review every test case you write. If a colleague can't execute it without asking questions — rewrite it.</a:t>
            </a:r>
            <a:endParaRPr lang="en-US" sz="900" dirty="0"/>
          </a:p>
        </p:txBody>
      </p:sp>
      <p:sp>
        <p:nvSpPr>
          <p:cNvPr id="22" name="Shape 20"/>
          <p:cNvSpPr/>
          <p:nvPr/>
        </p:nvSpPr>
        <p:spPr>
          <a:xfrm>
            <a:off x="164592" y="2221992"/>
            <a:ext cx="4315968" cy="135331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3" name="Shape 21"/>
          <p:cNvSpPr/>
          <p:nvPr/>
        </p:nvSpPr>
        <p:spPr>
          <a:xfrm>
            <a:off x="164592" y="2221992"/>
            <a:ext cx="73152" cy="1353312"/>
          </a:xfrm>
          <a:prstGeom prst="rect">
            <a:avLst/>
          </a:prstGeom>
          <a:solidFill>
            <a:srgbClr val="E8650A"/>
          </a:solidFill>
          <a:ln w="12700">
            <a:solidFill>
              <a:srgbClr val="E8650A"/>
            </a:solidFill>
            <a:prstDash val="solid"/>
          </a:ln>
        </p:spPr>
      </p:sp>
      <p:sp>
        <p:nvSpPr>
          <p:cNvPr id="24" name="Shape 22"/>
          <p:cNvSpPr/>
          <p:nvPr/>
        </p:nvSpPr>
        <p:spPr>
          <a:xfrm>
            <a:off x="274320" y="2295144"/>
            <a:ext cx="438912" cy="420624"/>
          </a:xfrm>
          <a:prstGeom prst="rect">
            <a:avLst/>
          </a:prstGeom>
          <a:solidFill>
            <a:srgbClr val="0C0C0C"/>
          </a:solidFill>
          <a:ln w="12700">
            <a:solidFill>
              <a:srgbClr val="0C0C0C"/>
            </a:solidFill>
            <a:prstDash val="solid"/>
          </a:ln>
        </p:spPr>
      </p:sp>
      <p:sp>
        <p:nvSpPr>
          <p:cNvPr id="25" name="Text 23"/>
          <p:cNvSpPr/>
          <p:nvPr/>
        </p:nvSpPr>
        <p:spPr>
          <a:xfrm>
            <a:off x="274320" y="2295144"/>
            <a:ext cx="438912" cy="420624"/>
          </a:xfrm>
          <a:prstGeom prst="rect">
            <a:avLst/>
          </a:prstGeom>
          <a:noFill/>
          <a:ln/>
        </p:spPr>
        <p:txBody>
          <a:bodyPr wrap="square" lIns="0" tIns="0" rIns="0" bIns="0" rtlCol="0" anchor="ctr"/>
          <a:lstStyle/>
          <a:p>
            <a:pPr marL="0" indent="0" algn="ctr">
              <a:buNone/>
            </a:pPr>
            <a:r>
              <a:rPr lang="en-US" sz="1300" b="1" dirty="0">
                <a:solidFill>
                  <a:srgbClr val="E8650A"/>
                </a:solidFill>
                <a:latin typeface="Arial Black" pitchFamily="34" charset="0"/>
                <a:ea typeface="Arial Black" pitchFamily="34" charset="-122"/>
                <a:cs typeface="Arial Black" pitchFamily="34" charset="-120"/>
              </a:rPr>
              <a:t>03</a:t>
            </a:r>
            <a:endParaRPr lang="en-US" sz="1300" dirty="0"/>
          </a:p>
        </p:txBody>
      </p:sp>
      <p:sp>
        <p:nvSpPr>
          <p:cNvPr id="26" name="Text 24"/>
          <p:cNvSpPr/>
          <p:nvPr/>
        </p:nvSpPr>
        <p:spPr>
          <a:xfrm>
            <a:off x="822960" y="2313432"/>
            <a:ext cx="3547872" cy="256032"/>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Communicate Defects with Evidence</a:t>
            </a:r>
            <a:endParaRPr lang="en-US" sz="1200" dirty="0"/>
          </a:p>
        </p:txBody>
      </p:sp>
      <p:sp>
        <p:nvSpPr>
          <p:cNvPr id="27" name="Text 25"/>
          <p:cNvSpPr/>
          <p:nvPr/>
        </p:nvSpPr>
        <p:spPr>
          <a:xfrm>
            <a:off x="274320" y="2688336"/>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Every defect report must be 100% reproducible from your documentation alone. Include: exact steps, screenshots, video recordings, console logs, environment details, and build number. Developers waste time on vague reports.</a:t>
            </a:r>
            <a:endParaRPr lang="en-US" sz="950" dirty="0"/>
          </a:p>
        </p:txBody>
      </p:sp>
      <p:sp>
        <p:nvSpPr>
          <p:cNvPr id="28" name="Text 26"/>
          <p:cNvSpPr/>
          <p:nvPr/>
        </p:nvSpPr>
        <p:spPr>
          <a:xfrm>
            <a:off x="274320" y="3227832"/>
            <a:ext cx="4114800" cy="29260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Tip: Before submitting a defect, ask 'Could I reproduce this from my own report in 3 months?'</a:t>
            </a:r>
            <a:endParaRPr lang="en-US" sz="900" dirty="0"/>
          </a:p>
        </p:txBody>
      </p:sp>
      <p:sp>
        <p:nvSpPr>
          <p:cNvPr id="29" name="Shape 27"/>
          <p:cNvSpPr/>
          <p:nvPr/>
        </p:nvSpPr>
        <p:spPr>
          <a:xfrm>
            <a:off x="4663440" y="2221992"/>
            <a:ext cx="4315968" cy="135331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0" name="Shape 28"/>
          <p:cNvSpPr/>
          <p:nvPr/>
        </p:nvSpPr>
        <p:spPr>
          <a:xfrm>
            <a:off x="4663440" y="2221992"/>
            <a:ext cx="73152" cy="1353312"/>
          </a:xfrm>
          <a:prstGeom prst="rect">
            <a:avLst/>
          </a:prstGeom>
          <a:solidFill>
            <a:srgbClr val="E8650A"/>
          </a:solidFill>
          <a:ln w="12700">
            <a:solidFill>
              <a:srgbClr val="E8650A"/>
            </a:solidFill>
            <a:prstDash val="solid"/>
          </a:ln>
        </p:spPr>
      </p:sp>
      <p:sp>
        <p:nvSpPr>
          <p:cNvPr id="31" name="Shape 29"/>
          <p:cNvSpPr/>
          <p:nvPr/>
        </p:nvSpPr>
        <p:spPr>
          <a:xfrm>
            <a:off x="4773168" y="2295144"/>
            <a:ext cx="438912" cy="420624"/>
          </a:xfrm>
          <a:prstGeom prst="rect">
            <a:avLst/>
          </a:prstGeom>
          <a:solidFill>
            <a:srgbClr val="0C0C0C"/>
          </a:solidFill>
          <a:ln w="12700">
            <a:solidFill>
              <a:srgbClr val="0C0C0C"/>
            </a:solidFill>
            <a:prstDash val="solid"/>
          </a:ln>
        </p:spPr>
      </p:sp>
      <p:sp>
        <p:nvSpPr>
          <p:cNvPr id="32" name="Text 30"/>
          <p:cNvSpPr/>
          <p:nvPr/>
        </p:nvSpPr>
        <p:spPr>
          <a:xfrm>
            <a:off x="4773168" y="2295144"/>
            <a:ext cx="438912" cy="420624"/>
          </a:xfrm>
          <a:prstGeom prst="rect">
            <a:avLst/>
          </a:prstGeom>
          <a:noFill/>
          <a:ln/>
        </p:spPr>
        <p:txBody>
          <a:bodyPr wrap="square" lIns="0" tIns="0" rIns="0" bIns="0" rtlCol="0" anchor="ctr"/>
          <a:lstStyle/>
          <a:p>
            <a:pPr marL="0" indent="0" algn="ctr">
              <a:buNone/>
            </a:pPr>
            <a:r>
              <a:rPr lang="en-US" sz="1300" b="1" dirty="0">
                <a:solidFill>
                  <a:srgbClr val="E8650A"/>
                </a:solidFill>
                <a:latin typeface="Arial Black" pitchFamily="34" charset="0"/>
                <a:ea typeface="Arial Black" pitchFamily="34" charset="-122"/>
                <a:cs typeface="Arial Black" pitchFamily="34" charset="-120"/>
              </a:rPr>
              <a:t>04</a:t>
            </a:r>
            <a:endParaRPr lang="en-US" sz="1300" dirty="0"/>
          </a:p>
        </p:txBody>
      </p:sp>
      <p:sp>
        <p:nvSpPr>
          <p:cNvPr id="33" name="Text 31"/>
          <p:cNvSpPr/>
          <p:nvPr/>
        </p:nvSpPr>
        <p:spPr>
          <a:xfrm>
            <a:off x="5321808" y="2313432"/>
            <a:ext cx="3547872" cy="256032"/>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Prioritise Ruthlessly</a:t>
            </a:r>
            <a:endParaRPr lang="en-US" sz="1200" dirty="0"/>
          </a:p>
        </p:txBody>
      </p:sp>
      <p:sp>
        <p:nvSpPr>
          <p:cNvPr id="34" name="Text 32"/>
          <p:cNvSpPr/>
          <p:nvPr/>
        </p:nvSpPr>
        <p:spPr>
          <a:xfrm>
            <a:off x="4773168" y="2666531"/>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You will never have enough time to test everything. Risk-based testing focuses effort on high-severity, high-impact areas first. Always know your critical path — the test cases that MUST pass before any release.</a:t>
            </a:r>
            <a:endParaRPr lang="en-US" sz="950" dirty="0"/>
          </a:p>
        </p:txBody>
      </p:sp>
      <p:sp>
        <p:nvSpPr>
          <p:cNvPr id="35" name="Text 33"/>
          <p:cNvSpPr/>
          <p:nvPr/>
        </p:nvSpPr>
        <p:spPr>
          <a:xfrm>
            <a:off x="4773168" y="3227832"/>
            <a:ext cx="4114800" cy="29260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Tip: On day 1 of execution, always run smoke tests first. Never execute 500 full tests on a broken build.</a:t>
            </a:r>
            <a:endParaRPr lang="en-US" sz="900" dirty="0"/>
          </a:p>
        </p:txBody>
      </p:sp>
      <p:sp>
        <p:nvSpPr>
          <p:cNvPr id="36" name="Shape 34"/>
          <p:cNvSpPr/>
          <p:nvPr/>
        </p:nvSpPr>
        <p:spPr>
          <a:xfrm>
            <a:off x="164592" y="3639312"/>
            <a:ext cx="4315968" cy="135331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7" name="Shape 35"/>
          <p:cNvSpPr/>
          <p:nvPr/>
        </p:nvSpPr>
        <p:spPr>
          <a:xfrm>
            <a:off x="164592" y="3639312"/>
            <a:ext cx="73152" cy="1353312"/>
          </a:xfrm>
          <a:prstGeom prst="rect">
            <a:avLst/>
          </a:prstGeom>
          <a:solidFill>
            <a:srgbClr val="E8650A"/>
          </a:solidFill>
          <a:ln w="12700">
            <a:solidFill>
              <a:srgbClr val="E8650A"/>
            </a:solidFill>
            <a:prstDash val="solid"/>
          </a:ln>
        </p:spPr>
      </p:sp>
      <p:sp>
        <p:nvSpPr>
          <p:cNvPr id="38" name="Shape 36"/>
          <p:cNvSpPr/>
          <p:nvPr/>
        </p:nvSpPr>
        <p:spPr>
          <a:xfrm>
            <a:off x="274320" y="3712464"/>
            <a:ext cx="438912" cy="420624"/>
          </a:xfrm>
          <a:prstGeom prst="rect">
            <a:avLst/>
          </a:prstGeom>
          <a:solidFill>
            <a:srgbClr val="0C0C0C"/>
          </a:solidFill>
          <a:ln w="12700">
            <a:solidFill>
              <a:srgbClr val="0C0C0C"/>
            </a:solidFill>
            <a:prstDash val="solid"/>
          </a:ln>
        </p:spPr>
      </p:sp>
      <p:sp>
        <p:nvSpPr>
          <p:cNvPr id="39" name="Text 37"/>
          <p:cNvSpPr/>
          <p:nvPr/>
        </p:nvSpPr>
        <p:spPr>
          <a:xfrm>
            <a:off x="274320" y="3712464"/>
            <a:ext cx="438912" cy="420624"/>
          </a:xfrm>
          <a:prstGeom prst="rect">
            <a:avLst/>
          </a:prstGeom>
          <a:noFill/>
          <a:ln/>
        </p:spPr>
        <p:txBody>
          <a:bodyPr wrap="square" lIns="0" tIns="0" rIns="0" bIns="0" rtlCol="0" anchor="ctr"/>
          <a:lstStyle/>
          <a:p>
            <a:pPr marL="0" indent="0" algn="ctr">
              <a:buNone/>
            </a:pPr>
            <a:r>
              <a:rPr lang="en-US" sz="1300" b="1" dirty="0">
                <a:solidFill>
                  <a:srgbClr val="E8650A"/>
                </a:solidFill>
                <a:latin typeface="Arial Black" pitchFamily="34" charset="0"/>
                <a:ea typeface="Arial Black" pitchFamily="34" charset="-122"/>
                <a:cs typeface="Arial Black" pitchFamily="34" charset="-120"/>
              </a:rPr>
              <a:t>05</a:t>
            </a:r>
            <a:endParaRPr lang="en-US" sz="1300" dirty="0"/>
          </a:p>
        </p:txBody>
      </p:sp>
      <p:sp>
        <p:nvSpPr>
          <p:cNvPr id="40" name="Text 38"/>
          <p:cNvSpPr/>
          <p:nvPr/>
        </p:nvSpPr>
        <p:spPr>
          <a:xfrm>
            <a:off x="822960" y="3730752"/>
            <a:ext cx="3547872" cy="256032"/>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Keep Tests Maintainable</a:t>
            </a:r>
            <a:endParaRPr lang="en-US" sz="1200" dirty="0"/>
          </a:p>
        </p:txBody>
      </p:sp>
      <p:sp>
        <p:nvSpPr>
          <p:cNvPr id="41" name="Text 39"/>
          <p:cNvSpPr/>
          <p:nvPr/>
        </p:nvSpPr>
        <p:spPr>
          <a:xfrm>
            <a:off x="274320" y="4082444"/>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For automation: use the Page Object Model to keep locators separate from test logic. For manual: keep test cases updated as requirements evolve. Outdated tests are worse than no tests — they create false confidence.</a:t>
            </a:r>
            <a:endParaRPr lang="en-US" sz="950" dirty="0"/>
          </a:p>
        </p:txBody>
      </p:sp>
      <p:sp>
        <p:nvSpPr>
          <p:cNvPr id="42" name="Text 40"/>
          <p:cNvSpPr/>
          <p:nvPr/>
        </p:nvSpPr>
        <p:spPr>
          <a:xfrm>
            <a:off x="274320" y="4645152"/>
            <a:ext cx="4114800" cy="29260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Tip: Schedule a monthly test case review. Delete obsolete tests, update changed ones, add new ones for recent features.</a:t>
            </a:r>
            <a:endParaRPr lang="en-US" sz="900" dirty="0"/>
          </a:p>
        </p:txBody>
      </p:sp>
      <p:sp>
        <p:nvSpPr>
          <p:cNvPr id="43" name="Shape 41"/>
          <p:cNvSpPr/>
          <p:nvPr/>
        </p:nvSpPr>
        <p:spPr>
          <a:xfrm>
            <a:off x="4663440" y="3639312"/>
            <a:ext cx="4315968" cy="1353312"/>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44" name="Shape 42"/>
          <p:cNvSpPr/>
          <p:nvPr/>
        </p:nvSpPr>
        <p:spPr>
          <a:xfrm>
            <a:off x="4663440" y="3639312"/>
            <a:ext cx="73152" cy="1353312"/>
          </a:xfrm>
          <a:prstGeom prst="rect">
            <a:avLst/>
          </a:prstGeom>
          <a:solidFill>
            <a:srgbClr val="E8650A"/>
          </a:solidFill>
          <a:ln w="12700">
            <a:solidFill>
              <a:srgbClr val="E8650A"/>
            </a:solidFill>
            <a:prstDash val="solid"/>
          </a:ln>
        </p:spPr>
      </p:sp>
      <p:sp>
        <p:nvSpPr>
          <p:cNvPr id="45" name="Shape 43"/>
          <p:cNvSpPr/>
          <p:nvPr/>
        </p:nvSpPr>
        <p:spPr>
          <a:xfrm>
            <a:off x="4773168" y="3712464"/>
            <a:ext cx="438912" cy="420624"/>
          </a:xfrm>
          <a:prstGeom prst="rect">
            <a:avLst/>
          </a:prstGeom>
          <a:solidFill>
            <a:srgbClr val="0C0C0C"/>
          </a:solidFill>
          <a:ln w="12700">
            <a:solidFill>
              <a:srgbClr val="0C0C0C"/>
            </a:solidFill>
            <a:prstDash val="solid"/>
          </a:ln>
        </p:spPr>
      </p:sp>
      <p:sp>
        <p:nvSpPr>
          <p:cNvPr id="46" name="Text 44"/>
          <p:cNvSpPr/>
          <p:nvPr/>
        </p:nvSpPr>
        <p:spPr>
          <a:xfrm>
            <a:off x="4773168" y="3712464"/>
            <a:ext cx="438912" cy="420624"/>
          </a:xfrm>
          <a:prstGeom prst="rect">
            <a:avLst/>
          </a:prstGeom>
          <a:noFill/>
          <a:ln/>
        </p:spPr>
        <p:txBody>
          <a:bodyPr wrap="square" lIns="0" tIns="0" rIns="0" bIns="0" rtlCol="0" anchor="ctr"/>
          <a:lstStyle/>
          <a:p>
            <a:pPr marL="0" indent="0" algn="ctr">
              <a:buNone/>
            </a:pPr>
            <a:r>
              <a:rPr lang="en-US" sz="1300" b="1" dirty="0">
                <a:solidFill>
                  <a:srgbClr val="E8650A"/>
                </a:solidFill>
                <a:latin typeface="Arial Black" pitchFamily="34" charset="0"/>
                <a:ea typeface="Arial Black" pitchFamily="34" charset="-122"/>
                <a:cs typeface="Arial Black" pitchFamily="34" charset="-120"/>
              </a:rPr>
              <a:t>06</a:t>
            </a:r>
            <a:endParaRPr lang="en-US" sz="1300" dirty="0"/>
          </a:p>
        </p:txBody>
      </p:sp>
      <p:sp>
        <p:nvSpPr>
          <p:cNvPr id="47" name="Text 45"/>
          <p:cNvSpPr/>
          <p:nvPr/>
        </p:nvSpPr>
        <p:spPr>
          <a:xfrm>
            <a:off x="5321808" y="3730752"/>
            <a:ext cx="3547872" cy="256032"/>
          </a:xfrm>
          <a:prstGeom prst="rect">
            <a:avLst/>
          </a:prstGeom>
          <a:noFill/>
          <a:ln/>
        </p:spPr>
        <p:txBody>
          <a:bodyPr wrap="square" lIns="0" tIns="0" rIns="0" bIns="0" rtlCol="0" anchor="ctr"/>
          <a:lstStyle/>
          <a:p>
            <a:pPr marL="0" indent="0">
              <a:buNone/>
            </a:pPr>
            <a:r>
              <a:rPr lang="en-US" sz="1200" b="1" dirty="0">
                <a:solidFill>
                  <a:srgbClr val="0C0C0C"/>
                </a:solidFill>
                <a:latin typeface="Arial Black" pitchFamily="34" charset="0"/>
                <a:ea typeface="Arial Black" pitchFamily="34" charset="-122"/>
                <a:cs typeface="Arial Black" pitchFamily="34" charset="-120"/>
              </a:rPr>
              <a:t>Never Assume — Always Verify</a:t>
            </a:r>
            <a:endParaRPr lang="en-US" sz="1200" dirty="0"/>
          </a:p>
        </p:txBody>
      </p:sp>
      <p:sp>
        <p:nvSpPr>
          <p:cNvPr id="48" name="Text 46"/>
          <p:cNvSpPr/>
          <p:nvPr/>
        </p:nvSpPr>
        <p:spPr>
          <a:xfrm>
            <a:off x="4773168" y="4066970"/>
            <a:ext cx="411480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Even if a feature 'looks fine' visually, run the test case. Many defects are invisible on screen (database corruption, incorrect calculations, API payload errors). Testers verify, not assume.</a:t>
            </a:r>
            <a:endParaRPr lang="en-US" sz="950" dirty="0"/>
          </a:p>
        </p:txBody>
      </p:sp>
      <p:sp>
        <p:nvSpPr>
          <p:cNvPr id="49" name="Text 47"/>
          <p:cNvSpPr/>
          <p:nvPr/>
        </p:nvSpPr>
        <p:spPr>
          <a:xfrm>
            <a:off x="4773168" y="4645152"/>
            <a:ext cx="4114800" cy="29260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Tip: Always check the database and API responses, not just the UI, for critical transactions like payments.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15</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Common Beginner</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Mistakes</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What NOT to Do — Lessons Learned the Hard Way</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Common Mistakes Made by Junior Testers</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15  |  COMMON MISTAKES</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64592" y="795528"/>
            <a:ext cx="4315968" cy="137160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0" name="Shape 8"/>
          <p:cNvSpPr/>
          <p:nvPr/>
        </p:nvSpPr>
        <p:spPr>
          <a:xfrm>
            <a:off x="164592" y="795528"/>
            <a:ext cx="73152" cy="1371600"/>
          </a:xfrm>
          <a:prstGeom prst="rect">
            <a:avLst/>
          </a:prstGeom>
          <a:solidFill>
            <a:srgbClr val="CC2200"/>
          </a:solidFill>
          <a:ln w="12700">
            <a:solidFill>
              <a:srgbClr val="CC2200"/>
            </a:solidFill>
            <a:prstDash val="solid"/>
          </a:ln>
        </p:spPr>
      </p:sp>
      <p:sp>
        <p:nvSpPr>
          <p:cNvPr id="11" name="Shape 9"/>
          <p:cNvSpPr/>
          <p:nvPr/>
        </p:nvSpPr>
        <p:spPr>
          <a:xfrm>
            <a:off x="164592" y="795528"/>
            <a:ext cx="4315968" cy="256032"/>
          </a:xfrm>
          <a:prstGeom prst="rect">
            <a:avLst/>
          </a:prstGeom>
          <a:solidFill>
            <a:srgbClr val="990000"/>
          </a:solidFill>
          <a:ln w="12700">
            <a:solidFill>
              <a:srgbClr val="990000"/>
            </a:solidFill>
            <a:prstDash val="solid"/>
          </a:ln>
        </p:spPr>
      </p:sp>
      <p:sp>
        <p:nvSpPr>
          <p:cNvPr id="12" name="Text 10"/>
          <p:cNvSpPr/>
          <p:nvPr/>
        </p:nvSpPr>
        <p:spPr>
          <a:xfrm>
            <a:off x="256032" y="795528"/>
            <a:ext cx="4133088"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01  Skipping Requirements Analysis</a:t>
            </a:r>
            <a:endParaRPr lang="en-US" sz="1050" dirty="0"/>
          </a:p>
        </p:txBody>
      </p:sp>
      <p:sp>
        <p:nvSpPr>
          <p:cNvPr id="13" name="Text 11"/>
          <p:cNvSpPr/>
          <p:nvPr/>
        </p:nvSpPr>
        <p:spPr>
          <a:xfrm>
            <a:off x="274320" y="1088136"/>
            <a:ext cx="4114800" cy="201168"/>
          </a:xfrm>
          <a:prstGeom prst="rect">
            <a:avLst/>
          </a:prstGeom>
          <a:noFill/>
          <a:ln/>
        </p:spPr>
        <p:txBody>
          <a:bodyPr wrap="square" lIns="0" tIns="0" rIns="0" bIns="0" rtlCol="0" anchor="ctr"/>
          <a:lstStyle/>
          <a:p>
            <a:pPr marL="0" indent="0">
              <a:buNone/>
            </a:pPr>
            <a:r>
              <a:rPr lang="en-US" sz="900" i="1" dirty="0">
                <a:solidFill>
                  <a:srgbClr val="FF8888"/>
                </a:solidFill>
                <a:latin typeface="Arial" pitchFamily="34" charset="0"/>
                <a:ea typeface="Arial" pitchFamily="34" charset="-122"/>
                <a:cs typeface="Arial" pitchFamily="34" charset="-120"/>
              </a:rPr>
              <a:t>Symptom: 'I'll just start testing once the build is ready.'</a:t>
            </a:r>
            <a:endParaRPr lang="en-US" sz="900" dirty="0"/>
          </a:p>
        </p:txBody>
      </p:sp>
      <p:sp>
        <p:nvSpPr>
          <p:cNvPr id="14" name="Text 12"/>
          <p:cNvSpPr/>
          <p:nvPr/>
        </p:nvSpPr>
        <p:spPr>
          <a:xfrm>
            <a:off x="274320" y="1307592"/>
            <a:ext cx="4114800" cy="402336"/>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Without understanding requirements, you cannot know WHAT to test, what correct behaviour looks like, or what constitutes a defect. Test cases written without requirements are guesswork.</a:t>
            </a:r>
            <a:endParaRPr lang="en-US" sz="900" dirty="0"/>
          </a:p>
        </p:txBody>
      </p:sp>
      <p:sp>
        <p:nvSpPr>
          <p:cNvPr id="15" name="Text 13"/>
          <p:cNvSpPr/>
          <p:nvPr/>
        </p:nvSpPr>
        <p:spPr>
          <a:xfrm>
            <a:off x="274320" y="1746504"/>
            <a:ext cx="4114800" cy="365760"/>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Fix: Always read and clarify requirements BEFORE writing a single test case. Raise every ambiguity in writing — never assume.</a:t>
            </a:r>
            <a:endParaRPr lang="en-US" sz="900" dirty="0"/>
          </a:p>
        </p:txBody>
      </p:sp>
      <p:sp>
        <p:nvSpPr>
          <p:cNvPr id="16" name="Shape 14"/>
          <p:cNvSpPr/>
          <p:nvPr/>
        </p:nvSpPr>
        <p:spPr>
          <a:xfrm>
            <a:off x="4663440" y="795528"/>
            <a:ext cx="4315968" cy="137160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7" name="Shape 15"/>
          <p:cNvSpPr/>
          <p:nvPr/>
        </p:nvSpPr>
        <p:spPr>
          <a:xfrm>
            <a:off x="4663440" y="795528"/>
            <a:ext cx="73152" cy="1371600"/>
          </a:xfrm>
          <a:prstGeom prst="rect">
            <a:avLst/>
          </a:prstGeom>
          <a:solidFill>
            <a:srgbClr val="CC2200"/>
          </a:solidFill>
          <a:ln w="12700">
            <a:solidFill>
              <a:srgbClr val="CC2200"/>
            </a:solidFill>
            <a:prstDash val="solid"/>
          </a:ln>
        </p:spPr>
      </p:sp>
      <p:sp>
        <p:nvSpPr>
          <p:cNvPr id="18" name="Shape 16"/>
          <p:cNvSpPr/>
          <p:nvPr/>
        </p:nvSpPr>
        <p:spPr>
          <a:xfrm>
            <a:off x="4663440" y="795528"/>
            <a:ext cx="4315968" cy="256032"/>
          </a:xfrm>
          <a:prstGeom prst="rect">
            <a:avLst/>
          </a:prstGeom>
          <a:solidFill>
            <a:srgbClr val="990000"/>
          </a:solidFill>
          <a:ln w="12700">
            <a:solidFill>
              <a:srgbClr val="990000"/>
            </a:solidFill>
            <a:prstDash val="solid"/>
          </a:ln>
        </p:spPr>
      </p:sp>
      <p:sp>
        <p:nvSpPr>
          <p:cNvPr id="19" name="Text 17"/>
          <p:cNvSpPr/>
          <p:nvPr/>
        </p:nvSpPr>
        <p:spPr>
          <a:xfrm>
            <a:off x="4754880" y="795528"/>
            <a:ext cx="4133088"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02  Poor or Incomplete Defect Reporting</a:t>
            </a:r>
            <a:endParaRPr lang="en-US" sz="1050" dirty="0"/>
          </a:p>
        </p:txBody>
      </p:sp>
      <p:sp>
        <p:nvSpPr>
          <p:cNvPr id="20" name="Text 18"/>
          <p:cNvSpPr/>
          <p:nvPr/>
        </p:nvSpPr>
        <p:spPr>
          <a:xfrm>
            <a:off x="4773168" y="1088136"/>
            <a:ext cx="4114800" cy="201168"/>
          </a:xfrm>
          <a:prstGeom prst="rect">
            <a:avLst/>
          </a:prstGeom>
          <a:noFill/>
          <a:ln/>
        </p:spPr>
        <p:txBody>
          <a:bodyPr wrap="square" lIns="0" tIns="0" rIns="0" bIns="0" rtlCol="0" anchor="ctr"/>
          <a:lstStyle/>
          <a:p>
            <a:pPr marL="0" indent="0">
              <a:buNone/>
            </a:pPr>
            <a:r>
              <a:rPr lang="en-US" sz="900" i="1" dirty="0">
                <a:solidFill>
                  <a:srgbClr val="FF8888"/>
                </a:solidFill>
                <a:latin typeface="Arial" pitchFamily="34" charset="0"/>
                <a:ea typeface="Arial" pitchFamily="34" charset="-122"/>
                <a:cs typeface="Arial" pitchFamily="34" charset="-120"/>
              </a:rPr>
              <a:t>Symptom: 'Login doesn't work. Please fix.' — submitted with no other information.</a:t>
            </a:r>
            <a:endParaRPr lang="en-US" sz="900" dirty="0"/>
          </a:p>
        </p:txBody>
      </p:sp>
      <p:sp>
        <p:nvSpPr>
          <p:cNvPr id="21" name="Text 19"/>
          <p:cNvSpPr/>
          <p:nvPr/>
        </p:nvSpPr>
        <p:spPr>
          <a:xfrm>
            <a:off x="4773168" y="1307592"/>
            <a:ext cx="4114800" cy="402336"/>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A vague defect report forces developers to spend hours attempting to reproduce the issue. Most will be returned as 'Cannot reproduce' — wasting everyone's time and delaying the fix.</a:t>
            </a:r>
            <a:endParaRPr lang="en-US" sz="900" dirty="0"/>
          </a:p>
        </p:txBody>
      </p:sp>
      <p:sp>
        <p:nvSpPr>
          <p:cNvPr id="22" name="Text 20"/>
          <p:cNvSpPr/>
          <p:nvPr/>
        </p:nvSpPr>
        <p:spPr>
          <a:xfrm>
            <a:off x="4773168" y="1746504"/>
            <a:ext cx="4114800" cy="365760"/>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Fix: Always include: exact steps, screenshots, expected result, actual result, environment, browser, build number. Make your defect 100% reproducible.</a:t>
            </a:r>
            <a:endParaRPr lang="en-US" sz="900" dirty="0"/>
          </a:p>
        </p:txBody>
      </p:sp>
      <p:sp>
        <p:nvSpPr>
          <p:cNvPr id="23" name="Shape 21"/>
          <p:cNvSpPr/>
          <p:nvPr/>
        </p:nvSpPr>
        <p:spPr>
          <a:xfrm>
            <a:off x="164592" y="2258568"/>
            <a:ext cx="4315968" cy="137160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4" name="Shape 22"/>
          <p:cNvSpPr/>
          <p:nvPr/>
        </p:nvSpPr>
        <p:spPr>
          <a:xfrm>
            <a:off x="164592" y="2258568"/>
            <a:ext cx="73152" cy="1371600"/>
          </a:xfrm>
          <a:prstGeom prst="rect">
            <a:avLst/>
          </a:prstGeom>
          <a:solidFill>
            <a:srgbClr val="CC2200"/>
          </a:solidFill>
          <a:ln w="12700">
            <a:solidFill>
              <a:srgbClr val="CC2200"/>
            </a:solidFill>
            <a:prstDash val="solid"/>
          </a:ln>
        </p:spPr>
      </p:sp>
      <p:sp>
        <p:nvSpPr>
          <p:cNvPr id="25" name="Shape 23"/>
          <p:cNvSpPr/>
          <p:nvPr/>
        </p:nvSpPr>
        <p:spPr>
          <a:xfrm>
            <a:off x="164592" y="2258568"/>
            <a:ext cx="4315968" cy="256032"/>
          </a:xfrm>
          <a:prstGeom prst="rect">
            <a:avLst/>
          </a:prstGeom>
          <a:solidFill>
            <a:srgbClr val="990000"/>
          </a:solidFill>
          <a:ln w="12700">
            <a:solidFill>
              <a:srgbClr val="990000"/>
            </a:solidFill>
            <a:prstDash val="solid"/>
          </a:ln>
        </p:spPr>
      </p:sp>
      <p:sp>
        <p:nvSpPr>
          <p:cNvPr id="26" name="Text 24"/>
          <p:cNvSpPr/>
          <p:nvPr/>
        </p:nvSpPr>
        <p:spPr>
          <a:xfrm>
            <a:off x="256032" y="2258568"/>
            <a:ext cx="4133088"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03  Ignoring Edge Cases and Boundary Values</a:t>
            </a:r>
            <a:endParaRPr lang="en-US" sz="1050" dirty="0"/>
          </a:p>
        </p:txBody>
      </p:sp>
      <p:sp>
        <p:nvSpPr>
          <p:cNvPr id="27" name="Text 25"/>
          <p:cNvSpPr/>
          <p:nvPr/>
        </p:nvSpPr>
        <p:spPr>
          <a:xfrm>
            <a:off x="274320" y="2551176"/>
            <a:ext cx="4114800" cy="201168"/>
          </a:xfrm>
          <a:prstGeom prst="rect">
            <a:avLst/>
          </a:prstGeom>
          <a:noFill/>
          <a:ln/>
        </p:spPr>
        <p:txBody>
          <a:bodyPr wrap="square" lIns="0" tIns="0" rIns="0" bIns="0" rtlCol="0" anchor="ctr"/>
          <a:lstStyle/>
          <a:p>
            <a:pPr marL="0" indent="0">
              <a:buNone/>
            </a:pPr>
            <a:r>
              <a:rPr lang="en-US" sz="900" i="1" dirty="0">
                <a:solidFill>
                  <a:srgbClr val="FF8888"/>
                </a:solidFill>
                <a:latin typeface="Arial" pitchFamily="34" charset="0"/>
                <a:ea typeface="Arial" pitchFamily="34" charset="-122"/>
                <a:cs typeface="Arial" pitchFamily="34" charset="-120"/>
              </a:rPr>
              <a:t>Symptom: Testing only the 'normal' happy path — valid username, valid password, click login.</a:t>
            </a:r>
            <a:endParaRPr lang="en-US" sz="900" dirty="0"/>
          </a:p>
        </p:txBody>
      </p:sp>
      <p:sp>
        <p:nvSpPr>
          <p:cNvPr id="28" name="Text 26"/>
          <p:cNvSpPr/>
          <p:nvPr/>
        </p:nvSpPr>
        <p:spPr>
          <a:xfrm>
            <a:off x="274320" y="2770632"/>
            <a:ext cx="4114800" cy="402336"/>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Most real-world defects live at the boundaries and edges: empty fields, maximum character limits, special characters, null values, zero quantities, negative numbers. Skipping these leaves critical defects undiscovered.</a:t>
            </a:r>
            <a:endParaRPr lang="en-US" sz="900" dirty="0"/>
          </a:p>
        </p:txBody>
      </p:sp>
      <p:sp>
        <p:nvSpPr>
          <p:cNvPr id="29" name="Text 27"/>
          <p:cNvSpPr/>
          <p:nvPr/>
        </p:nvSpPr>
        <p:spPr>
          <a:xfrm>
            <a:off x="274320" y="3209544"/>
            <a:ext cx="4114800" cy="365760"/>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Fix: For every input field, always test: empty, minimum, maximum, just-over-maximum, special characters, unexpected data types.</a:t>
            </a:r>
            <a:endParaRPr lang="en-US" sz="900" dirty="0"/>
          </a:p>
        </p:txBody>
      </p:sp>
      <p:sp>
        <p:nvSpPr>
          <p:cNvPr id="30" name="Shape 28"/>
          <p:cNvSpPr/>
          <p:nvPr/>
        </p:nvSpPr>
        <p:spPr>
          <a:xfrm>
            <a:off x="4663440" y="2258568"/>
            <a:ext cx="4315968" cy="137160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1" name="Shape 29"/>
          <p:cNvSpPr/>
          <p:nvPr/>
        </p:nvSpPr>
        <p:spPr>
          <a:xfrm>
            <a:off x="4663440" y="2258568"/>
            <a:ext cx="73152" cy="1371600"/>
          </a:xfrm>
          <a:prstGeom prst="rect">
            <a:avLst/>
          </a:prstGeom>
          <a:solidFill>
            <a:srgbClr val="CC2200"/>
          </a:solidFill>
          <a:ln w="12700">
            <a:solidFill>
              <a:srgbClr val="CC2200"/>
            </a:solidFill>
            <a:prstDash val="solid"/>
          </a:ln>
        </p:spPr>
      </p:sp>
      <p:sp>
        <p:nvSpPr>
          <p:cNvPr id="32" name="Shape 30"/>
          <p:cNvSpPr/>
          <p:nvPr/>
        </p:nvSpPr>
        <p:spPr>
          <a:xfrm>
            <a:off x="4663440" y="2258568"/>
            <a:ext cx="4315968" cy="256032"/>
          </a:xfrm>
          <a:prstGeom prst="rect">
            <a:avLst/>
          </a:prstGeom>
          <a:solidFill>
            <a:srgbClr val="990000"/>
          </a:solidFill>
          <a:ln w="12700">
            <a:solidFill>
              <a:srgbClr val="990000"/>
            </a:solidFill>
            <a:prstDash val="solid"/>
          </a:ln>
        </p:spPr>
      </p:sp>
      <p:sp>
        <p:nvSpPr>
          <p:cNvPr id="33" name="Text 31"/>
          <p:cNvSpPr/>
          <p:nvPr/>
        </p:nvSpPr>
        <p:spPr>
          <a:xfrm>
            <a:off x="4754880" y="2258568"/>
            <a:ext cx="4133088"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04  Lack of Communication with Developers</a:t>
            </a:r>
            <a:endParaRPr lang="en-US" sz="1050" dirty="0"/>
          </a:p>
        </p:txBody>
      </p:sp>
      <p:sp>
        <p:nvSpPr>
          <p:cNvPr id="34" name="Text 32"/>
          <p:cNvSpPr/>
          <p:nvPr/>
        </p:nvSpPr>
        <p:spPr>
          <a:xfrm>
            <a:off x="4773168" y="2551176"/>
            <a:ext cx="4114800" cy="201168"/>
          </a:xfrm>
          <a:prstGeom prst="rect">
            <a:avLst/>
          </a:prstGeom>
          <a:noFill/>
          <a:ln/>
        </p:spPr>
        <p:txBody>
          <a:bodyPr wrap="square" lIns="0" tIns="0" rIns="0" bIns="0" rtlCol="0" anchor="ctr"/>
          <a:lstStyle/>
          <a:p>
            <a:pPr marL="0" indent="0">
              <a:buNone/>
            </a:pPr>
            <a:r>
              <a:rPr lang="en-US" sz="900" i="1" dirty="0">
                <a:solidFill>
                  <a:srgbClr val="FF8888"/>
                </a:solidFill>
                <a:latin typeface="Arial" pitchFamily="34" charset="0"/>
                <a:ea typeface="Arial" pitchFamily="34" charset="-122"/>
                <a:cs typeface="Arial" pitchFamily="34" charset="-120"/>
              </a:rPr>
              <a:t>Symptom: Silently logging 20 defects in Jira without talking to anyone. Then wondering why nothing gets fixed.</a:t>
            </a:r>
            <a:endParaRPr lang="en-US" sz="900" dirty="0"/>
          </a:p>
        </p:txBody>
      </p:sp>
      <p:sp>
        <p:nvSpPr>
          <p:cNvPr id="35" name="Text 33"/>
          <p:cNvSpPr/>
          <p:nvPr/>
        </p:nvSpPr>
        <p:spPr>
          <a:xfrm>
            <a:off x="4773168" y="2770632"/>
            <a:ext cx="4114800" cy="402336"/>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Testing is a team sport. Without regular communication, defects pile up unaddressed, blockers last days instead of hours, and release quality suffers. Dev-QA silos kill project velocity.</a:t>
            </a:r>
            <a:endParaRPr lang="en-US" sz="900" dirty="0"/>
          </a:p>
        </p:txBody>
      </p:sp>
      <p:sp>
        <p:nvSpPr>
          <p:cNvPr id="36" name="Text 34"/>
          <p:cNvSpPr/>
          <p:nvPr/>
        </p:nvSpPr>
        <p:spPr>
          <a:xfrm>
            <a:off x="4773168" y="3209544"/>
            <a:ext cx="4114800" cy="365760"/>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Fix: Daily 15-minute sync with the Dev team. Verbal heads-up for Critical/High defects before logging them formally. Joint defect triage 3× per week.</a:t>
            </a:r>
            <a:endParaRPr lang="en-US" sz="900" dirty="0"/>
          </a:p>
        </p:txBody>
      </p:sp>
      <p:sp>
        <p:nvSpPr>
          <p:cNvPr id="37" name="Shape 35"/>
          <p:cNvSpPr/>
          <p:nvPr/>
        </p:nvSpPr>
        <p:spPr>
          <a:xfrm>
            <a:off x="164592" y="3721608"/>
            <a:ext cx="4315968" cy="137160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8" name="Shape 36"/>
          <p:cNvSpPr/>
          <p:nvPr/>
        </p:nvSpPr>
        <p:spPr>
          <a:xfrm>
            <a:off x="164592" y="3721608"/>
            <a:ext cx="73152" cy="1371600"/>
          </a:xfrm>
          <a:prstGeom prst="rect">
            <a:avLst/>
          </a:prstGeom>
          <a:solidFill>
            <a:srgbClr val="CC2200"/>
          </a:solidFill>
          <a:ln w="12700">
            <a:solidFill>
              <a:srgbClr val="CC2200"/>
            </a:solidFill>
            <a:prstDash val="solid"/>
          </a:ln>
        </p:spPr>
      </p:sp>
      <p:sp>
        <p:nvSpPr>
          <p:cNvPr id="39" name="Shape 37"/>
          <p:cNvSpPr/>
          <p:nvPr/>
        </p:nvSpPr>
        <p:spPr>
          <a:xfrm>
            <a:off x="164592" y="3721608"/>
            <a:ext cx="4315968" cy="256032"/>
          </a:xfrm>
          <a:prstGeom prst="rect">
            <a:avLst/>
          </a:prstGeom>
          <a:solidFill>
            <a:srgbClr val="990000"/>
          </a:solidFill>
          <a:ln w="12700">
            <a:solidFill>
              <a:srgbClr val="990000"/>
            </a:solidFill>
            <a:prstDash val="solid"/>
          </a:ln>
        </p:spPr>
      </p:sp>
      <p:sp>
        <p:nvSpPr>
          <p:cNvPr id="40" name="Text 38"/>
          <p:cNvSpPr/>
          <p:nvPr/>
        </p:nvSpPr>
        <p:spPr>
          <a:xfrm>
            <a:off x="256032" y="3721608"/>
            <a:ext cx="4133088"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05  Starting Test Execution Without Smoke Testing</a:t>
            </a:r>
            <a:endParaRPr lang="en-US" sz="1050" dirty="0"/>
          </a:p>
        </p:txBody>
      </p:sp>
      <p:sp>
        <p:nvSpPr>
          <p:cNvPr id="41" name="Text 39"/>
          <p:cNvSpPr/>
          <p:nvPr/>
        </p:nvSpPr>
        <p:spPr>
          <a:xfrm>
            <a:off x="274320" y="4014216"/>
            <a:ext cx="4114800" cy="201168"/>
          </a:xfrm>
          <a:prstGeom prst="rect">
            <a:avLst/>
          </a:prstGeom>
          <a:noFill/>
          <a:ln/>
        </p:spPr>
        <p:txBody>
          <a:bodyPr wrap="square" lIns="0" tIns="0" rIns="0" bIns="0" rtlCol="0" anchor="ctr"/>
          <a:lstStyle/>
          <a:p>
            <a:pPr marL="0" indent="0">
              <a:buNone/>
            </a:pPr>
            <a:r>
              <a:rPr lang="en-US" sz="900" i="1" dirty="0">
                <a:solidFill>
                  <a:srgbClr val="FF8888"/>
                </a:solidFill>
                <a:latin typeface="Arial" pitchFamily="34" charset="0"/>
                <a:ea typeface="Arial" pitchFamily="34" charset="-122"/>
                <a:cs typeface="Arial" pitchFamily="34" charset="-120"/>
              </a:rPr>
              <a:t>Symptom: Running 300 full regression tests against a build that has a broken login page.</a:t>
            </a:r>
            <a:endParaRPr lang="en-US" sz="900" dirty="0"/>
          </a:p>
        </p:txBody>
      </p:sp>
      <p:sp>
        <p:nvSpPr>
          <p:cNvPr id="42" name="Text 40"/>
          <p:cNvSpPr/>
          <p:nvPr/>
        </p:nvSpPr>
        <p:spPr>
          <a:xfrm>
            <a:off x="274320" y="4233672"/>
            <a:ext cx="4114800" cy="402336"/>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Executing a full test suite against a fundamentally broken build wastes every tester's time. If the basic functionality (navigation, login, core flow) is broken, 80% of your tests will fail for the same root cause.</a:t>
            </a:r>
            <a:endParaRPr lang="en-US" sz="900" dirty="0"/>
          </a:p>
        </p:txBody>
      </p:sp>
      <p:sp>
        <p:nvSpPr>
          <p:cNvPr id="43" name="Text 41"/>
          <p:cNvSpPr/>
          <p:nvPr/>
        </p:nvSpPr>
        <p:spPr>
          <a:xfrm>
            <a:off x="274320" y="4672584"/>
            <a:ext cx="4114800" cy="365760"/>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Fix: ALWAYS run a smoke test (5-10 critical path tests) against any new build before beginning formal execution. If smoke fails, reject the build and request a fix.</a:t>
            </a:r>
            <a:endParaRPr lang="en-US" sz="900" dirty="0"/>
          </a:p>
        </p:txBody>
      </p:sp>
      <p:sp>
        <p:nvSpPr>
          <p:cNvPr id="44" name="Shape 42"/>
          <p:cNvSpPr/>
          <p:nvPr/>
        </p:nvSpPr>
        <p:spPr>
          <a:xfrm>
            <a:off x="4663440" y="3721608"/>
            <a:ext cx="4315968" cy="137160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5" name="Shape 43"/>
          <p:cNvSpPr/>
          <p:nvPr/>
        </p:nvSpPr>
        <p:spPr>
          <a:xfrm>
            <a:off x="4663440" y="3721608"/>
            <a:ext cx="73152" cy="1371600"/>
          </a:xfrm>
          <a:prstGeom prst="rect">
            <a:avLst/>
          </a:prstGeom>
          <a:solidFill>
            <a:srgbClr val="CC2200"/>
          </a:solidFill>
          <a:ln w="12700">
            <a:solidFill>
              <a:srgbClr val="CC2200"/>
            </a:solidFill>
            <a:prstDash val="solid"/>
          </a:ln>
        </p:spPr>
      </p:sp>
      <p:sp>
        <p:nvSpPr>
          <p:cNvPr id="46" name="Shape 44"/>
          <p:cNvSpPr/>
          <p:nvPr/>
        </p:nvSpPr>
        <p:spPr>
          <a:xfrm>
            <a:off x="4663440" y="3721608"/>
            <a:ext cx="4315968" cy="256032"/>
          </a:xfrm>
          <a:prstGeom prst="rect">
            <a:avLst/>
          </a:prstGeom>
          <a:solidFill>
            <a:srgbClr val="990000"/>
          </a:solidFill>
          <a:ln w="12700">
            <a:solidFill>
              <a:srgbClr val="990000"/>
            </a:solidFill>
            <a:prstDash val="solid"/>
          </a:ln>
        </p:spPr>
      </p:sp>
      <p:sp>
        <p:nvSpPr>
          <p:cNvPr id="47" name="Text 45"/>
          <p:cNvSpPr/>
          <p:nvPr/>
        </p:nvSpPr>
        <p:spPr>
          <a:xfrm>
            <a:off x="4754880" y="3721608"/>
            <a:ext cx="4133088"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06  Not Updating Test Cases as Requirements Change</a:t>
            </a:r>
            <a:endParaRPr lang="en-US" sz="1050" dirty="0"/>
          </a:p>
        </p:txBody>
      </p:sp>
      <p:sp>
        <p:nvSpPr>
          <p:cNvPr id="48" name="Text 46"/>
          <p:cNvSpPr/>
          <p:nvPr/>
        </p:nvSpPr>
        <p:spPr>
          <a:xfrm>
            <a:off x="4773168" y="4014216"/>
            <a:ext cx="4114800" cy="201168"/>
          </a:xfrm>
          <a:prstGeom prst="rect">
            <a:avLst/>
          </a:prstGeom>
          <a:noFill/>
          <a:ln/>
        </p:spPr>
        <p:txBody>
          <a:bodyPr wrap="square" lIns="0" tIns="0" rIns="0" bIns="0" rtlCol="0" anchor="ctr"/>
          <a:lstStyle/>
          <a:p>
            <a:pPr marL="0" indent="0">
              <a:buNone/>
            </a:pPr>
            <a:r>
              <a:rPr lang="en-US" sz="900" i="1" dirty="0">
                <a:solidFill>
                  <a:srgbClr val="FF8888"/>
                </a:solidFill>
                <a:latin typeface="Arial" pitchFamily="34" charset="0"/>
                <a:ea typeface="Arial" pitchFamily="34" charset="-122"/>
                <a:cs typeface="Arial" pitchFamily="34" charset="-120"/>
              </a:rPr>
              <a:t>Symptom: Requirements changed 3 sprints ago but the test cases still reflect the old behaviour.</a:t>
            </a:r>
            <a:endParaRPr lang="en-US" sz="900" dirty="0"/>
          </a:p>
        </p:txBody>
      </p:sp>
      <p:sp>
        <p:nvSpPr>
          <p:cNvPr id="49" name="Text 47"/>
          <p:cNvSpPr/>
          <p:nvPr/>
        </p:nvSpPr>
        <p:spPr>
          <a:xfrm>
            <a:off x="4773168" y="4233672"/>
            <a:ext cx="4114800" cy="402336"/>
          </a:xfrm>
          <a:prstGeom prst="rect">
            <a:avLst/>
          </a:prstGeom>
          <a:noFill/>
          <a:ln/>
        </p:spPr>
        <p:txBody>
          <a:bodyPr wrap="square" lIns="0" tIns="0" rIns="0" bIns="0" rtlCol="0" anchor="ctr"/>
          <a:lstStyle/>
          <a:p>
            <a:pPr marL="0" indent="0">
              <a:buNone/>
            </a:pPr>
            <a:r>
              <a:rPr lang="en-US" sz="900" dirty="0">
                <a:solidFill>
                  <a:srgbClr val="BBBBBB"/>
                </a:solidFill>
                <a:latin typeface="Arial" pitchFamily="34" charset="0"/>
                <a:ea typeface="Arial" pitchFamily="34" charset="-122"/>
                <a:cs typeface="Arial" pitchFamily="34" charset="-120"/>
              </a:rPr>
              <a:t>Outdated test cases create false results — tests 'pass' against the old requirement but the new requirement is never actually tested. Defects slip through because nobody updated the test cases.</a:t>
            </a:r>
            <a:endParaRPr lang="en-US" sz="900" dirty="0"/>
          </a:p>
        </p:txBody>
      </p:sp>
      <p:sp>
        <p:nvSpPr>
          <p:cNvPr id="50" name="Text 48"/>
          <p:cNvSpPr/>
          <p:nvPr/>
        </p:nvSpPr>
        <p:spPr>
          <a:xfrm>
            <a:off x="4773168" y="4672584"/>
            <a:ext cx="4114800" cy="365760"/>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 Fix: Treat test cases as living documents. After every requirement change, update the RTM and all affected test cases within 24 hours of the change being approved.</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0C0C0C"/>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50A"/>
          </a:solidFill>
          <a:ln w="12700">
            <a:solidFill>
              <a:srgbClr val="E8650A"/>
            </a:solidFill>
            <a:prstDash val="solid"/>
          </a:ln>
        </p:spPr>
      </p:sp>
      <p:sp>
        <p:nvSpPr>
          <p:cNvPr id="3" name="Shape 1"/>
          <p:cNvSpPr/>
          <p:nvPr/>
        </p:nvSpPr>
        <p:spPr>
          <a:xfrm>
            <a:off x="594360" y="0"/>
            <a:ext cx="8549640" cy="64008"/>
          </a:xfrm>
          <a:prstGeom prst="rect">
            <a:avLst/>
          </a:prstGeom>
          <a:solidFill>
            <a:srgbClr val="B84D00"/>
          </a:solidFill>
          <a:ln w="12700">
            <a:solidFill>
              <a:srgbClr val="B84D00"/>
            </a:solidFill>
            <a:prstDash val="solid"/>
          </a:ln>
        </p:spPr>
      </p:sp>
      <p:sp>
        <p:nvSpPr>
          <p:cNvPr id="4" name="Shape 2"/>
          <p:cNvSpPr/>
          <p:nvPr/>
        </p:nvSpPr>
        <p:spPr>
          <a:xfrm>
            <a:off x="6766560" y="502920"/>
            <a:ext cx="64008" cy="64008"/>
          </a:xfrm>
          <a:prstGeom prst="ellipse">
            <a:avLst/>
          </a:prstGeom>
          <a:solidFill>
            <a:srgbClr val="E8650A">
              <a:alpha val="32000"/>
            </a:srgbClr>
          </a:solidFill>
          <a:ln w="12700">
            <a:solidFill>
              <a:srgbClr val="E8650A">
                <a:alpha val="32000"/>
              </a:srgbClr>
            </a:solidFill>
            <a:prstDash val="solid"/>
          </a:ln>
        </p:spPr>
      </p:sp>
      <p:sp>
        <p:nvSpPr>
          <p:cNvPr id="5" name="Shape 3"/>
          <p:cNvSpPr/>
          <p:nvPr/>
        </p:nvSpPr>
        <p:spPr>
          <a:xfrm>
            <a:off x="7178040" y="502920"/>
            <a:ext cx="64008" cy="64008"/>
          </a:xfrm>
          <a:prstGeom prst="ellipse">
            <a:avLst/>
          </a:prstGeom>
          <a:solidFill>
            <a:srgbClr val="E8650A">
              <a:alpha val="32000"/>
            </a:srgbClr>
          </a:solidFill>
          <a:ln w="12700">
            <a:solidFill>
              <a:srgbClr val="E8650A">
                <a:alpha val="32000"/>
              </a:srgbClr>
            </a:solidFill>
            <a:prstDash val="solid"/>
          </a:ln>
        </p:spPr>
      </p:sp>
      <p:sp>
        <p:nvSpPr>
          <p:cNvPr id="6" name="Shape 4"/>
          <p:cNvSpPr/>
          <p:nvPr/>
        </p:nvSpPr>
        <p:spPr>
          <a:xfrm>
            <a:off x="7589520" y="502920"/>
            <a:ext cx="64008" cy="64008"/>
          </a:xfrm>
          <a:prstGeom prst="ellipse">
            <a:avLst/>
          </a:prstGeom>
          <a:solidFill>
            <a:srgbClr val="E8650A">
              <a:alpha val="32000"/>
            </a:srgbClr>
          </a:solidFill>
          <a:ln w="12700">
            <a:solidFill>
              <a:srgbClr val="E8650A">
                <a:alpha val="32000"/>
              </a:srgbClr>
            </a:solidFill>
            <a:prstDash val="solid"/>
          </a:ln>
        </p:spPr>
      </p:sp>
      <p:sp>
        <p:nvSpPr>
          <p:cNvPr id="7" name="Shape 5"/>
          <p:cNvSpPr/>
          <p:nvPr/>
        </p:nvSpPr>
        <p:spPr>
          <a:xfrm>
            <a:off x="8001000" y="502920"/>
            <a:ext cx="64008" cy="64008"/>
          </a:xfrm>
          <a:prstGeom prst="ellipse">
            <a:avLst/>
          </a:prstGeom>
          <a:solidFill>
            <a:srgbClr val="E8650A">
              <a:alpha val="32000"/>
            </a:srgbClr>
          </a:solidFill>
          <a:ln w="12700">
            <a:solidFill>
              <a:srgbClr val="E8650A">
                <a:alpha val="32000"/>
              </a:srgbClr>
            </a:solidFill>
            <a:prstDash val="solid"/>
          </a:ln>
        </p:spPr>
      </p:sp>
      <p:sp>
        <p:nvSpPr>
          <p:cNvPr id="8" name="Shape 6"/>
          <p:cNvSpPr/>
          <p:nvPr/>
        </p:nvSpPr>
        <p:spPr>
          <a:xfrm>
            <a:off x="8412480" y="502920"/>
            <a:ext cx="64008" cy="64008"/>
          </a:xfrm>
          <a:prstGeom prst="ellipse">
            <a:avLst/>
          </a:prstGeom>
          <a:solidFill>
            <a:srgbClr val="E8650A">
              <a:alpha val="32000"/>
            </a:srgbClr>
          </a:solidFill>
          <a:ln w="12700">
            <a:solidFill>
              <a:srgbClr val="E8650A">
                <a:alpha val="32000"/>
              </a:srgbClr>
            </a:solidFill>
            <a:prstDash val="solid"/>
          </a:ln>
        </p:spPr>
      </p:sp>
      <p:sp>
        <p:nvSpPr>
          <p:cNvPr id="9" name="Shape 7"/>
          <p:cNvSpPr/>
          <p:nvPr/>
        </p:nvSpPr>
        <p:spPr>
          <a:xfrm>
            <a:off x="6766560" y="1124712"/>
            <a:ext cx="64008" cy="64008"/>
          </a:xfrm>
          <a:prstGeom prst="ellipse">
            <a:avLst/>
          </a:prstGeom>
          <a:solidFill>
            <a:srgbClr val="E8650A">
              <a:alpha val="32000"/>
            </a:srgbClr>
          </a:solidFill>
          <a:ln w="12700">
            <a:solidFill>
              <a:srgbClr val="E8650A">
                <a:alpha val="32000"/>
              </a:srgbClr>
            </a:solidFill>
            <a:prstDash val="solid"/>
          </a:ln>
        </p:spPr>
      </p:sp>
      <p:sp>
        <p:nvSpPr>
          <p:cNvPr id="10" name="Shape 8"/>
          <p:cNvSpPr/>
          <p:nvPr/>
        </p:nvSpPr>
        <p:spPr>
          <a:xfrm>
            <a:off x="7178040" y="1124712"/>
            <a:ext cx="64008" cy="64008"/>
          </a:xfrm>
          <a:prstGeom prst="ellipse">
            <a:avLst/>
          </a:prstGeom>
          <a:solidFill>
            <a:srgbClr val="E8650A">
              <a:alpha val="32000"/>
            </a:srgbClr>
          </a:solidFill>
          <a:ln w="12700">
            <a:solidFill>
              <a:srgbClr val="E8650A">
                <a:alpha val="32000"/>
              </a:srgbClr>
            </a:solidFill>
            <a:prstDash val="solid"/>
          </a:ln>
        </p:spPr>
      </p:sp>
      <p:sp>
        <p:nvSpPr>
          <p:cNvPr id="11" name="Shape 9"/>
          <p:cNvSpPr/>
          <p:nvPr/>
        </p:nvSpPr>
        <p:spPr>
          <a:xfrm>
            <a:off x="7589520" y="1124712"/>
            <a:ext cx="64008" cy="64008"/>
          </a:xfrm>
          <a:prstGeom prst="ellipse">
            <a:avLst/>
          </a:prstGeom>
          <a:solidFill>
            <a:srgbClr val="E8650A">
              <a:alpha val="32000"/>
            </a:srgbClr>
          </a:solidFill>
          <a:ln w="12700">
            <a:solidFill>
              <a:srgbClr val="E8650A">
                <a:alpha val="32000"/>
              </a:srgbClr>
            </a:solidFill>
            <a:prstDash val="solid"/>
          </a:ln>
        </p:spPr>
      </p:sp>
      <p:sp>
        <p:nvSpPr>
          <p:cNvPr id="12" name="Shape 10"/>
          <p:cNvSpPr/>
          <p:nvPr/>
        </p:nvSpPr>
        <p:spPr>
          <a:xfrm>
            <a:off x="8001000" y="1124712"/>
            <a:ext cx="64008" cy="64008"/>
          </a:xfrm>
          <a:prstGeom prst="ellipse">
            <a:avLst/>
          </a:prstGeom>
          <a:solidFill>
            <a:srgbClr val="E8650A">
              <a:alpha val="32000"/>
            </a:srgbClr>
          </a:solidFill>
          <a:ln w="12700">
            <a:solidFill>
              <a:srgbClr val="E8650A">
                <a:alpha val="32000"/>
              </a:srgbClr>
            </a:solidFill>
            <a:prstDash val="solid"/>
          </a:ln>
        </p:spPr>
      </p:sp>
      <p:sp>
        <p:nvSpPr>
          <p:cNvPr id="13" name="Shape 11"/>
          <p:cNvSpPr/>
          <p:nvPr/>
        </p:nvSpPr>
        <p:spPr>
          <a:xfrm>
            <a:off x="8412480" y="1124712"/>
            <a:ext cx="64008" cy="64008"/>
          </a:xfrm>
          <a:prstGeom prst="ellipse">
            <a:avLst/>
          </a:prstGeom>
          <a:solidFill>
            <a:srgbClr val="E8650A">
              <a:alpha val="32000"/>
            </a:srgbClr>
          </a:solidFill>
          <a:ln w="12700">
            <a:solidFill>
              <a:srgbClr val="E8650A">
                <a:alpha val="32000"/>
              </a:srgbClr>
            </a:solidFill>
            <a:prstDash val="solid"/>
          </a:ln>
        </p:spPr>
      </p:sp>
      <p:sp>
        <p:nvSpPr>
          <p:cNvPr id="14" name="Shape 12"/>
          <p:cNvSpPr/>
          <p:nvPr/>
        </p:nvSpPr>
        <p:spPr>
          <a:xfrm>
            <a:off x="6766560" y="1746504"/>
            <a:ext cx="64008" cy="64008"/>
          </a:xfrm>
          <a:prstGeom prst="ellipse">
            <a:avLst/>
          </a:prstGeom>
          <a:solidFill>
            <a:srgbClr val="E8650A">
              <a:alpha val="32000"/>
            </a:srgbClr>
          </a:solidFill>
          <a:ln w="12700">
            <a:solidFill>
              <a:srgbClr val="E8650A">
                <a:alpha val="32000"/>
              </a:srgbClr>
            </a:solidFill>
            <a:prstDash val="solid"/>
          </a:ln>
        </p:spPr>
      </p:sp>
      <p:sp>
        <p:nvSpPr>
          <p:cNvPr id="15" name="Shape 13"/>
          <p:cNvSpPr/>
          <p:nvPr/>
        </p:nvSpPr>
        <p:spPr>
          <a:xfrm>
            <a:off x="7178040" y="1746504"/>
            <a:ext cx="64008" cy="64008"/>
          </a:xfrm>
          <a:prstGeom prst="ellipse">
            <a:avLst/>
          </a:prstGeom>
          <a:solidFill>
            <a:srgbClr val="E8650A">
              <a:alpha val="32000"/>
            </a:srgbClr>
          </a:solidFill>
          <a:ln w="12700">
            <a:solidFill>
              <a:srgbClr val="E8650A">
                <a:alpha val="32000"/>
              </a:srgbClr>
            </a:solidFill>
            <a:prstDash val="solid"/>
          </a:ln>
        </p:spPr>
      </p:sp>
      <p:sp>
        <p:nvSpPr>
          <p:cNvPr id="16" name="Shape 14"/>
          <p:cNvSpPr/>
          <p:nvPr/>
        </p:nvSpPr>
        <p:spPr>
          <a:xfrm>
            <a:off x="7589520" y="1746504"/>
            <a:ext cx="64008" cy="64008"/>
          </a:xfrm>
          <a:prstGeom prst="ellipse">
            <a:avLst/>
          </a:prstGeom>
          <a:solidFill>
            <a:srgbClr val="E8650A">
              <a:alpha val="32000"/>
            </a:srgbClr>
          </a:solidFill>
          <a:ln w="12700">
            <a:solidFill>
              <a:srgbClr val="E8650A">
                <a:alpha val="32000"/>
              </a:srgbClr>
            </a:solidFill>
            <a:prstDash val="solid"/>
          </a:ln>
        </p:spPr>
      </p:sp>
      <p:sp>
        <p:nvSpPr>
          <p:cNvPr id="17" name="Shape 15"/>
          <p:cNvSpPr/>
          <p:nvPr/>
        </p:nvSpPr>
        <p:spPr>
          <a:xfrm>
            <a:off x="8001000" y="1746504"/>
            <a:ext cx="64008" cy="64008"/>
          </a:xfrm>
          <a:prstGeom prst="ellipse">
            <a:avLst/>
          </a:prstGeom>
          <a:solidFill>
            <a:srgbClr val="E8650A">
              <a:alpha val="32000"/>
            </a:srgbClr>
          </a:solidFill>
          <a:ln w="12700">
            <a:solidFill>
              <a:srgbClr val="E8650A">
                <a:alpha val="32000"/>
              </a:srgbClr>
            </a:solidFill>
            <a:prstDash val="solid"/>
          </a:ln>
        </p:spPr>
      </p:sp>
      <p:sp>
        <p:nvSpPr>
          <p:cNvPr id="18" name="Shape 16"/>
          <p:cNvSpPr/>
          <p:nvPr/>
        </p:nvSpPr>
        <p:spPr>
          <a:xfrm>
            <a:off x="8412480" y="1746504"/>
            <a:ext cx="64008" cy="64008"/>
          </a:xfrm>
          <a:prstGeom prst="ellipse">
            <a:avLst/>
          </a:prstGeom>
          <a:solidFill>
            <a:srgbClr val="E8650A">
              <a:alpha val="32000"/>
            </a:srgbClr>
          </a:solidFill>
          <a:ln w="12700">
            <a:solidFill>
              <a:srgbClr val="E8650A">
                <a:alpha val="32000"/>
              </a:srgbClr>
            </a:solidFill>
            <a:prstDash val="solid"/>
          </a:ln>
        </p:spPr>
      </p:sp>
      <p:sp>
        <p:nvSpPr>
          <p:cNvPr id="19" name="Shape 17"/>
          <p:cNvSpPr/>
          <p:nvPr/>
        </p:nvSpPr>
        <p:spPr>
          <a:xfrm>
            <a:off x="6766560" y="2368296"/>
            <a:ext cx="64008" cy="64008"/>
          </a:xfrm>
          <a:prstGeom prst="ellipse">
            <a:avLst/>
          </a:prstGeom>
          <a:solidFill>
            <a:srgbClr val="E8650A">
              <a:alpha val="32000"/>
            </a:srgbClr>
          </a:solidFill>
          <a:ln w="12700">
            <a:solidFill>
              <a:srgbClr val="E8650A">
                <a:alpha val="32000"/>
              </a:srgbClr>
            </a:solidFill>
            <a:prstDash val="solid"/>
          </a:ln>
        </p:spPr>
      </p:sp>
      <p:sp>
        <p:nvSpPr>
          <p:cNvPr id="20" name="Shape 18"/>
          <p:cNvSpPr/>
          <p:nvPr/>
        </p:nvSpPr>
        <p:spPr>
          <a:xfrm>
            <a:off x="7178040" y="2368296"/>
            <a:ext cx="64008" cy="64008"/>
          </a:xfrm>
          <a:prstGeom prst="ellipse">
            <a:avLst/>
          </a:prstGeom>
          <a:solidFill>
            <a:srgbClr val="E8650A">
              <a:alpha val="32000"/>
            </a:srgbClr>
          </a:solidFill>
          <a:ln w="12700">
            <a:solidFill>
              <a:srgbClr val="E8650A">
                <a:alpha val="32000"/>
              </a:srgbClr>
            </a:solidFill>
            <a:prstDash val="solid"/>
          </a:ln>
        </p:spPr>
      </p:sp>
      <p:sp>
        <p:nvSpPr>
          <p:cNvPr id="21" name="Shape 19"/>
          <p:cNvSpPr/>
          <p:nvPr/>
        </p:nvSpPr>
        <p:spPr>
          <a:xfrm>
            <a:off x="7589520" y="2368296"/>
            <a:ext cx="64008" cy="64008"/>
          </a:xfrm>
          <a:prstGeom prst="ellipse">
            <a:avLst/>
          </a:prstGeom>
          <a:solidFill>
            <a:srgbClr val="E8650A">
              <a:alpha val="32000"/>
            </a:srgbClr>
          </a:solidFill>
          <a:ln w="12700">
            <a:solidFill>
              <a:srgbClr val="E8650A">
                <a:alpha val="32000"/>
              </a:srgbClr>
            </a:solidFill>
            <a:prstDash val="solid"/>
          </a:ln>
        </p:spPr>
      </p:sp>
      <p:sp>
        <p:nvSpPr>
          <p:cNvPr id="22" name="Shape 20"/>
          <p:cNvSpPr/>
          <p:nvPr/>
        </p:nvSpPr>
        <p:spPr>
          <a:xfrm>
            <a:off x="8001000" y="2368296"/>
            <a:ext cx="64008" cy="64008"/>
          </a:xfrm>
          <a:prstGeom prst="ellipse">
            <a:avLst/>
          </a:prstGeom>
          <a:solidFill>
            <a:srgbClr val="E8650A">
              <a:alpha val="32000"/>
            </a:srgbClr>
          </a:solidFill>
          <a:ln w="12700">
            <a:solidFill>
              <a:srgbClr val="E8650A">
                <a:alpha val="32000"/>
              </a:srgbClr>
            </a:solidFill>
            <a:prstDash val="solid"/>
          </a:ln>
        </p:spPr>
      </p:sp>
      <p:sp>
        <p:nvSpPr>
          <p:cNvPr id="23" name="Shape 21"/>
          <p:cNvSpPr/>
          <p:nvPr/>
        </p:nvSpPr>
        <p:spPr>
          <a:xfrm>
            <a:off x="8412480" y="2368296"/>
            <a:ext cx="64008" cy="64008"/>
          </a:xfrm>
          <a:prstGeom prst="ellipse">
            <a:avLst/>
          </a:prstGeom>
          <a:solidFill>
            <a:srgbClr val="E8650A">
              <a:alpha val="32000"/>
            </a:srgbClr>
          </a:solidFill>
          <a:ln w="12700">
            <a:solidFill>
              <a:srgbClr val="E8650A">
                <a:alpha val="32000"/>
              </a:srgbClr>
            </a:solidFill>
            <a:prstDash val="solid"/>
          </a:ln>
        </p:spPr>
      </p:sp>
      <p:sp>
        <p:nvSpPr>
          <p:cNvPr id="24" name="Shape 22"/>
          <p:cNvSpPr/>
          <p:nvPr/>
        </p:nvSpPr>
        <p:spPr>
          <a:xfrm>
            <a:off x="6766560" y="2990088"/>
            <a:ext cx="64008" cy="64008"/>
          </a:xfrm>
          <a:prstGeom prst="ellipse">
            <a:avLst/>
          </a:prstGeom>
          <a:solidFill>
            <a:srgbClr val="E8650A">
              <a:alpha val="32000"/>
            </a:srgbClr>
          </a:solidFill>
          <a:ln w="12700">
            <a:solidFill>
              <a:srgbClr val="E8650A">
                <a:alpha val="32000"/>
              </a:srgbClr>
            </a:solidFill>
            <a:prstDash val="solid"/>
          </a:ln>
        </p:spPr>
      </p:sp>
      <p:sp>
        <p:nvSpPr>
          <p:cNvPr id="25" name="Shape 23"/>
          <p:cNvSpPr/>
          <p:nvPr/>
        </p:nvSpPr>
        <p:spPr>
          <a:xfrm>
            <a:off x="7178040" y="2990088"/>
            <a:ext cx="64008" cy="64008"/>
          </a:xfrm>
          <a:prstGeom prst="ellipse">
            <a:avLst/>
          </a:prstGeom>
          <a:solidFill>
            <a:srgbClr val="E8650A">
              <a:alpha val="32000"/>
            </a:srgbClr>
          </a:solidFill>
          <a:ln w="12700">
            <a:solidFill>
              <a:srgbClr val="E8650A">
                <a:alpha val="32000"/>
              </a:srgbClr>
            </a:solidFill>
            <a:prstDash val="solid"/>
          </a:ln>
        </p:spPr>
      </p:sp>
      <p:sp>
        <p:nvSpPr>
          <p:cNvPr id="26" name="Shape 24"/>
          <p:cNvSpPr/>
          <p:nvPr/>
        </p:nvSpPr>
        <p:spPr>
          <a:xfrm>
            <a:off x="7589520" y="2990088"/>
            <a:ext cx="64008" cy="64008"/>
          </a:xfrm>
          <a:prstGeom prst="ellipse">
            <a:avLst/>
          </a:prstGeom>
          <a:solidFill>
            <a:srgbClr val="E8650A">
              <a:alpha val="32000"/>
            </a:srgbClr>
          </a:solidFill>
          <a:ln w="12700">
            <a:solidFill>
              <a:srgbClr val="E8650A">
                <a:alpha val="32000"/>
              </a:srgbClr>
            </a:solidFill>
            <a:prstDash val="solid"/>
          </a:ln>
        </p:spPr>
      </p:sp>
      <p:sp>
        <p:nvSpPr>
          <p:cNvPr id="27" name="Shape 25"/>
          <p:cNvSpPr/>
          <p:nvPr/>
        </p:nvSpPr>
        <p:spPr>
          <a:xfrm>
            <a:off x="8001000" y="2990088"/>
            <a:ext cx="64008" cy="64008"/>
          </a:xfrm>
          <a:prstGeom prst="ellipse">
            <a:avLst/>
          </a:prstGeom>
          <a:solidFill>
            <a:srgbClr val="E8650A">
              <a:alpha val="32000"/>
            </a:srgbClr>
          </a:solidFill>
          <a:ln w="12700">
            <a:solidFill>
              <a:srgbClr val="E8650A">
                <a:alpha val="32000"/>
              </a:srgbClr>
            </a:solidFill>
            <a:prstDash val="solid"/>
          </a:ln>
        </p:spPr>
      </p:sp>
      <p:sp>
        <p:nvSpPr>
          <p:cNvPr id="28" name="Shape 26"/>
          <p:cNvSpPr/>
          <p:nvPr/>
        </p:nvSpPr>
        <p:spPr>
          <a:xfrm>
            <a:off x="8412480" y="2990088"/>
            <a:ext cx="64008" cy="64008"/>
          </a:xfrm>
          <a:prstGeom prst="ellipse">
            <a:avLst/>
          </a:prstGeom>
          <a:solidFill>
            <a:srgbClr val="E8650A">
              <a:alpha val="32000"/>
            </a:srgbClr>
          </a:solidFill>
          <a:ln w="12700">
            <a:solidFill>
              <a:srgbClr val="E8650A">
                <a:alpha val="32000"/>
              </a:srgbClr>
            </a:solidFill>
            <a:prstDash val="solid"/>
          </a:ln>
        </p:spPr>
      </p:sp>
      <p:sp>
        <p:nvSpPr>
          <p:cNvPr id="29" name="Text 27"/>
          <p:cNvSpPr/>
          <p:nvPr/>
        </p:nvSpPr>
        <p:spPr>
          <a:xfrm>
            <a:off x="685800" y="1097280"/>
            <a:ext cx="1828800" cy="1097280"/>
          </a:xfrm>
          <a:prstGeom prst="rect">
            <a:avLst/>
          </a:prstGeom>
          <a:noFill/>
          <a:ln/>
        </p:spPr>
        <p:txBody>
          <a:bodyPr wrap="square" lIns="0" tIns="0" rIns="0" bIns="0" rtlCol="0" anchor="ctr"/>
          <a:lstStyle/>
          <a:p>
            <a:pPr marL="0" indent="0">
              <a:buNone/>
            </a:pPr>
            <a:r>
              <a:rPr lang="en-US" sz="8000" b="1" dirty="0">
                <a:solidFill>
                  <a:srgbClr val="E8650A"/>
                </a:solidFill>
                <a:latin typeface="Arial Black" pitchFamily="34" charset="0"/>
                <a:ea typeface="Arial Black" pitchFamily="34" charset="-122"/>
                <a:cs typeface="Arial Black" pitchFamily="34" charset="-120"/>
              </a:rPr>
              <a:t>16</a:t>
            </a:r>
            <a:endParaRPr lang="en-US" sz="8000" dirty="0"/>
          </a:p>
        </p:txBody>
      </p:sp>
      <p:sp>
        <p:nvSpPr>
          <p:cNvPr id="30" name="Text 28"/>
          <p:cNvSpPr/>
          <p:nvPr/>
        </p:nvSpPr>
        <p:spPr>
          <a:xfrm>
            <a:off x="685800" y="2240280"/>
            <a:ext cx="7772400" cy="105156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Summary &amp;</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Key Takeaways</a:t>
            </a:r>
            <a:endParaRPr lang="en-US" sz="3600" dirty="0"/>
          </a:p>
        </p:txBody>
      </p:sp>
      <p:sp>
        <p:nvSpPr>
          <p:cNvPr id="31" name="Text 29"/>
          <p:cNvSpPr/>
          <p:nvPr/>
        </p:nvSpPr>
        <p:spPr>
          <a:xfrm>
            <a:off x="685800" y="3310128"/>
            <a:ext cx="6858000" cy="502920"/>
          </a:xfrm>
          <a:prstGeom prst="rect">
            <a:avLst/>
          </a:prstGeom>
          <a:noFill/>
          <a:ln/>
        </p:spPr>
        <p:txBody>
          <a:bodyPr wrap="square" lIns="0" tIns="0" rIns="0" bIns="0" rtlCol="0" anchor="ctr"/>
          <a:lstStyle/>
          <a:p>
            <a:pPr marL="0" indent="0">
              <a:buNone/>
            </a:pPr>
            <a:r>
              <a:rPr lang="en-US" sz="1500" i="1" dirty="0">
                <a:solidFill>
                  <a:srgbClr val="FF8C3A"/>
                </a:solidFill>
                <a:latin typeface="Arial" pitchFamily="34" charset="0"/>
                <a:ea typeface="Arial" pitchFamily="34" charset="-122"/>
                <a:cs typeface="Arial" pitchFamily="34" charset="-120"/>
              </a:rPr>
              <a:t>Everything You Need to Remember</a:t>
            </a:r>
            <a:endParaRPr lang="en-US" sz="1500" dirty="0"/>
          </a:p>
        </p:txBody>
      </p:sp>
      <p:sp>
        <p:nvSpPr>
          <p:cNvPr id="32" name="Shape 30"/>
          <p:cNvSpPr/>
          <p:nvPr/>
        </p:nvSpPr>
        <p:spPr>
          <a:xfrm>
            <a:off x="0" y="4974336"/>
            <a:ext cx="9144000" cy="169164"/>
          </a:xfrm>
          <a:prstGeom prst="rect">
            <a:avLst/>
          </a:prstGeom>
          <a:solidFill>
            <a:srgbClr val="282828"/>
          </a:solidFill>
          <a:ln w="12700">
            <a:solidFill>
              <a:srgbClr val="282828"/>
            </a:solidFill>
            <a:prstDash val="solid"/>
          </a:ln>
        </p:spPr>
      </p:sp>
      <p:sp>
        <p:nvSpPr>
          <p:cNvPr id="33" name="Text 31"/>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18181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58368"/>
          </a:xfrm>
          <a:prstGeom prst="rect">
            <a:avLst/>
          </a:prstGeom>
          <a:solidFill>
            <a:srgbClr val="282828"/>
          </a:solidFill>
          <a:ln w="12700">
            <a:solidFill>
              <a:srgbClr val="282828"/>
            </a:solidFill>
            <a:prstDash val="solid"/>
          </a:ln>
        </p:spPr>
      </p:sp>
      <p:sp>
        <p:nvSpPr>
          <p:cNvPr id="4" name="Shape 2"/>
          <p:cNvSpPr/>
          <p:nvPr/>
        </p:nvSpPr>
        <p:spPr>
          <a:xfrm>
            <a:off x="0" y="658368"/>
            <a:ext cx="9144000" cy="32004"/>
          </a:xfrm>
          <a:prstGeom prst="rect">
            <a:avLst/>
          </a:prstGeom>
          <a:solidFill>
            <a:srgbClr val="E8650A"/>
          </a:solidFill>
          <a:ln w="12700">
            <a:solidFill>
              <a:srgbClr val="E8650A"/>
            </a:solidFill>
            <a:prstDash val="solid"/>
          </a:ln>
        </p:spPr>
      </p:sp>
      <p:sp>
        <p:nvSpPr>
          <p:cNvPr id="5" name="Text 3"/>
          <p:cNvSpPr/>
          <p:nvPr/>
        </p:nvSpPr>
        <p:spPr>
          <a:xfrm>
            <a:off x="182880" y="36576"/>
            <a:ext cx="7863840" cy="612648"/>
          </a:xfrm>
          <a:prstGeom prst="rect">
            <a:avLst/>
          </a:prstGeom>
          <a:noFill/>
          <a:ln/>
        </p:spPr>
        <p:txBody>
          <a:bodyPr wrap="square" lIns="0" tIns="0" rIns="0" bIns="0" rtlCol="0" anchor="ctr"/>
          <a:lstStyle/>
          <a:p>
            <a:pPr marL="0" indent="0">
              <a:buNone/>
            </a:pPr>
            <a:r>
              <a:rPr lang="en-US" sz="2100" b="1" dirty="0">
                <a:solidFill>
                  <a:srgbClr val="FFFFFF"/>
                </a:solidFill>
                <a:latin typeface="Arial Black" pitchFamily="34" charset="0"/>
                <a:ea typeface="Arial Black" pitchFamily="34" charset="-122"/>
                <a:cs typeface="Arial Black" pitchFamily="34" charset="-120"/>
              </a:rPr>
              <a:t>Key Takeaways — Your Testing Foundation</a:t>
            </a:r>
            <a:endParaRPr lang="en-US" sz="2100" dirty="0"/>
          </a:p>
        </p:txBody>
      </p:sp>
      <p:sp>
        <p:nvSpPr>
          <p:cNvPr id="6" name="Text 4"/>
          <p:cNvSpPr/>
          <p:nvPr/>
        </p:nvSpPr>
        <p:spPr>
          <a:xfrm>
            <a:off x="182880" y="36576"/>
            <a:ext cx="8778240" cy="612648"/>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16  |  SUMMARY</a:t>
            </a:r>
            <a:endParaRPr lang="en-US" sz="1000" dirty="0"/>
          </a:p>
        </p:txBody>
      </p:sp>
      <p:sp>
        <p:nvSpPr>
          <p:cNvPr id="7" name="Shape 5"/>
          <p:cNvSpPr/>
          <p:nvPr/>
        </p:nvSpPr>
        <p:spPr>
          <a:xfrm>
            <a:off x="0" y="4974336"/>
            <a:ext cx="9144000" cy="169164"/>
          </a:xfrm>
          <a:prstGeom prst="rect">
            <a:avLst/>
          </a:prstGeom>
          <a:solidFill>
            <a:srgbClr val="282828"/>
          </a:solidFill>
          <a:ln w="12700">
            <a:solidFill>
              <a:srgbClr val="282828"/>
            </a:solidFill>
            <a:prstDash val="solid"/>
          </a:ln>
        </p:spPr>
      </p:sp>
      <p:sp>
        <p:nvSpPr>
          <p:cNvPr id="8" name="Text 6"/>
          <p:cNvSpPr/>
          <p:nvPr/>
        </p:nvSpPr>
        <p:spPr>
          <a:xfrm>
            <a:off x="274320" y="4978908"/>
            <a:ext cx="8595360" cy="160020"/>
          </a:xfrm>
          <a:prstGeom prst="rect">
            <a:avLst/>
          </a:prstGeom>
          <a:noFill/>
          <a:ln/>
        </p:spPr>
        <p:txBody>
          <a:bodyPr wrap="square" lIns="0" tIns="0" rIns="0" bIns="0" rtlCol="0" anchor="ctr"/>
          <a:lstStyle/>
          <a:p>
            <a:pPr marL="0" indent="0" algn="r">
              <a:buNone/>
            </a:pPr>
            <a:r>
              <a:rPr lang="en-US" sz="800" dirty="0">
                <a:solidFill>
                  <a:srgbClr val="999999"/>
                </a:solidFill>
                <a:latin typeface="Arial" pitchFamily="34" charset="0"/>
                <a:ea typeface="Arial" pitchFamily="34" charset="-122"/>
                <a:cs typeface="Arial" pitchFamily="34" charset="-120"/>
              </a:rPr>
              <a:t>Quality Engineering Division  |  Software Testing Fundamentals</a:t>
            </a:r>
            <a:endParaRPr lang="en-US" sz="800" dirty="0"/>
          </a:p>
        </p:txBody>
      </p:sp>
      <p:sp>
        <p:nvSpPr>
          <p:cNvPr id="9" name="Shape 7"/>
          <p:cNvSpPr/>
          <p:nvPr/>
        </p:nvSpPr>
        <p:spPr>
          <a:xfrm>
            <a:off x="164592" y="795528"/>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0" name="Shape 8"/>
          <p:cNvSpPr/>
          <p:nvPr/>
        </p:nvSpPr>
        <p:spPr>
          <a:xfrm>
            <a:off x="164592" y="795528"/>
            <a:ext cx="73152" cy="777240"/>
          </a:xfrm>
          <a:prstGeom prst="rect">
            <a:avLst/>
          </a:prstGeom>
          <a:solidFill>
            <a:srgbClr val="E8650A"/>
          </a:solidFill>
          <a:ln w="12700">
            <a:solidFill>
              <a:srgbClr val="E8650A"/>
            </a:solidFill>
            <a:prstDash val="solid"/>
          </a:ln>
        </p:spPr>
      </p:sp>
      <p:sp>
        <p:nvSpPr>
          <p:cNvPr id="11" name="Shape 9"/>
          <p:cNvSpPr/>
          <p:nvPr/>
        </p:nvSpPr>
        <p:spPr>
          <a:xfrm>
            <a:off x="164592" y="795528"/>
            <a:ext cx="475488" cy="777240"/>
          </a:xfrm>
          <a:prstGeom prst="rect">
            <a:avLst/>
          </a:prstGeom>
          <a:solidFill>
            <a:srgbClr val="E8650A"/>
          </a:solidFill>
          <a:ln w="12700">
            <a:solidFill>
              <a:srgbClr val="E8650A"/>
            </a:solidFill>
            <a:prstDash val="solid"/>
          </a:ln>
        </p:spPr>
      </p:sp>
      <p:sp>
        <p:nvSpPr>
          <p:cNvPr id="12" name="Text 10"/>
          <p:cNvSpPr/>
          <p:nvPr/>
        </p:nvSpPr>
        <p:spPr>
          <a:xfrm>
            <a:off x="164592" y="795528"/>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13" name="Text 11"/>
          <p:cNvSpPr/>
          <p:nvPr/>
        </p:nvSpPr>
        <p:spPr>
          <a:xfrm>
            <a:off x="731520" y="868680"/>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Software testing is not just finding bugs — it is a disciplined engineering practice that builds confidence, reduces risk, and ensures software meets both technical and business requirements.</a:t>
            </a:r>
            <a:endParaRPr lang="en-US" sz="950" dirty="0"/>
          </a:p>
        </p:txBody>
      </p:sp>
      <p:sp>
        <p:nvSpPr>
          <p:cNvPr id="14" name="Shape 12"/>
          <p:cNvSpPr/>
          <p:nvPr/>
        </p:nvSpPr>
        <p:spPr>
          <a:xfrm>
            <a:off x="164592" y="1636776"/>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15" name="Shape 13"/>
          <p:cNvSpPr/>
          <p:nvPr/>
        </p:nvSpPr>
        <p:spPr>
          <a:xfrm>
            <a:off x="164592" y="1636776"/>
            <a:ext cx="73152" cy="777240"/>
          </a:xfrm>
          <a:prstGeom prst="rect">
            <a:avLst/>
          </a:prstGeom>
          <a:solidFill>
            <a:srgbClr val="E8650A"/>
          </a:solidFill>
          <a:ln w="12700">
            <a:solidFill>
              <a:srgbClr val="E8650A"/>
            </a:solidFill>
            <a:prstDash val="solid"/>
          </a:ln>
        </p:spPr>
      </p:sp>
      <p:sp>
        <p:nvSpPr>
          <p:cNvPr id="16" name="Shape 14"/>
          <p:cNvSpPr/>
          <p:nvPr/>
        </p:nvSpPr>
        <p:spPr>
          <a:xfrm>
            <a:off x="164592" y="1636776"/>
            <a:ext cx="475488" cy="777240"/>
          </a:xfrm>
          <a:prstGeom prst="rect">
            <a:avLst/>
          </a:prstGeom>
          <a:solidFill>
            <a:srgbClr val="E8650A"/>
          </a:solidFill>
          <a:ln w="12700">
            <a:solidFill>
              <a:srgbClr val="E8650A"/>
            </a:solidFill>
            <a:prstDash val="solid"/>
          </a:ln>
        </p:spPr>
      </p:sp>
      <p:sp>
        <p:nvSpPr>
          <p:cNvPr id="17" name="Text 15"/>
          <p:cNvSpPr/>
          <p:nvPr/>
        </p:nvSpPr>
        <p:spPr>
          <a:xfrm>
            <a:off x="164592" y="1636776"/>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8" name="Text 16"/>
          <p:cNvSpPr/>
          <p:nvPr/>
        </p:nvSpPr>
        <p:spPr>
          <a:xfrm>
            <a:off x="731520" y="1709928"/>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Understand the four terms: Error (human mistake) → Defect (code flaw) → Failure (observable symptom). Bug is the informal term for defect. Precision in terminology = professional credibility.</a:t>
            </a:r>
            <a:endParaRPr lang="en-US" sz="950" dirty="0"/>
          </a:p>
        </p:txBody>
      </p:sp>
      <p:sp>
        <p:nvSpPr>
          <p:cNvPr id="19" name="Shape 17"/>
          <p:cNvSpPr/>
          <p:nvPr/>
        </p:nvSpPr>
        <p:spPr>
          <a:xfrm>
            <a:off x="164592" y="2478024"/>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0" name="Shape 18"/>
          <p:cNvSpPr/>
          <p:nvPr/>
        </p:nvSpPr>
        <p:spPr>
          <a:xfrm>
            <a:off x="164592" y="2478024"/>
            <a:ext cx="73152" cy="777240"/>
          </a:xfrm>
          <a:prstGeom prst="rect">
            <a:avLst/>
          </a:prstGeom>
          <a:solidFill>
            <a:srgbClr val="E8650A"/>
          </a:solidFill>
          <a:ln w="12700">
            <a:solidFill>
              <a:srgbClr val="E8650A"/>
            </a:solidFill>
            <a:prstDash val="solid"/>
          </a:ln>
        </p:spPr>
      </p:sp>
      <p:sp>
        <p:nvSpPr>
          <p:cNvPr id="21" name="Shape 19"/>
          <p:cNvSpPr/>
          <p:nvPr/>
        </p:nvSpPr>
        <p:spPr>
          <a:xfrm>
            <a:off x="164592" y="2478024"/>
            <a:ext cx="475488" cy="777240"/>
          </a:xfrm>
          <a:prstGeom prst="rect">
            <a:avLst/>
          </a:prstGeom>
          <a:solidFill>
            <a:srgbClr val="E8650A"/>
          </a:solidFill>
          <a:ln w="12700">
            <a:solidFill>
              <a:srgbClr val="E8650A"/>
            </a:solidFill>
            <a:prstDash val="solid"/>
          </a:ln>
        </p:spPr>
      </p:sp>
      <p:sp>
        <p:nvSpPr>
          <p:cNvPr id="22" name="Text 20"/>
          <p:cNvSpPr/>
          <p:nvPr/>
        </p:nvSpPr>
        <p:spPr>
          <a:xfrm>
            <a:off x="164592" y="2478024"/>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03</a:t>
            </a:r>
            <a:endParaRPr lang="en-US" sz="1400" dirty="0"/>
          </a:p>
        </p:txBody>
      </p:sp>
      <p:sp>
        <p:nvSpPr>
          <p:cNvPr id="23" name="Text 21"/>
          <p:cNvSpPr/>
          <p:nvPr/>
        </p:nvSpPr>
        <p:spPr>
          <a:xfrm>
            <a:off x="731520" y="2551176"/>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The 7 Testing Principles are your professional compass. Never claim software is defect-free. Never test exhaustively. Always test early. Rotate your test cases. Consider context always.</a:t>
            </a:r>
            <a:endParaRPr lang="en-US" sz="950" dirty="0"/>
          </a:p>
        </p:txBody>
      </p:sp>
      <p:sp>
        <p:nvSpPr>
          <p:cNvPr id="24" name="Shape 22"/>
          <p:cNvSpPr/>
          <p:nvPr/>
        </p:nvSpPr>
        <p:spPr>
          <a:xfrm>
            <a:off x="164592" y="3319272"/>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25" name="Shape 23"/>
          <p:cNvSpPr/>
          <p:nvPr/>
        </p:nvSpPr>
        <p:spPr>
          <a:xfrm>
            <a:off x="164592" y="3319272"/>
            <a:ext cx="73152" cy="777240"/>
          </a:xfrm>
          <a:prstGeom prst="rect">
            <a:avLst/>
          </a:prstGeom>
          <a:solidFill>
            <a:srgbClr val="E8650A"/>
          </a:solidFill>
          <a:ln w="12700">
            <a:solidFill>
              <a:srgbClr val="E8650A"/>
            </a:solidFill>
            <a:prstDash val="solid"/>
          </a:ln>
        </p:spPr>
      </p:sp>
      <p:sp>
        <p:nvSpPr>
          <p:cNvPr id="26" name="Shape 24"/>
          <p:cNvSpPr/>
          <p:nvPr/>
        </p:nvSpPr>
        <p:spPr>
          <a:xfrm>
            <a:off x="164592" y="3319272"/>
            <a:ext cx="475488" cy="777240"/>
          </a:xfrm>
          <a:prstGeom prst="rect">
            <a:avLst/>
          </a:prstGeom>
          <a:solidFill>
            <a:srgbClr val="E8650A"/>
          </a:solidFill>
          <a:ln w="12700">
            <a:solidFill>
              <a:srgbClr val="E8650A"/>
            </a:solidFill>
            <a:prstDash val="solid"/>
          </a:ln>
        </p:spPr>
      </p:sp>
      <p:sp>
        <p:nvSpPr>
          <p:cNvPr id="27" name="Text 25"/>
          <p:cNvSpPr/>
          <p:nvPr/>
        </p:nvSpPr>
        <p:spPr>
          <a:xfrm>
            <a:off x="164592" y="3319272"/>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04</a:t>
            </a:r>
            <a:endParaRPr lang="en-US" sz="1400" dirty="0"/>
          </a:p>
        </p:txBody>
      </p:sp>
      <p:sp>
        <p:nvSpPr>
          <p:cNvPr id="28" name="Text 26"/>
          <p:cNvSpPr/>
          <p:nvPr/>
        </p:nvSpPr>
        <p:spPr>
          <a:xfrm>
            <a:off x="731520" y="3392424"/>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Testing runs through ALL phases of the SDLC, not just the 'Testing phase'. QA testers review requirements, participate in design, and sign off releases — collaborating with developers throughout.</a:t>
            </a:r>
            <a:endParaRPr lang="en-US" sz="950" dirty="0"/>
          </a:p>
        </p:txBody>
      </p:sp>
      <p:sp>
        <p:nvSpPr>
          <p:cNvPr id="29" name="Shape 27"/>
          <p:cNvSpPr/>
          <p:nvPr/>
        </p:nvSpPr>
        <p:spPr>
          <a:xfrm>
            <a:off x="164592" y="4160520"/>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0" name="Shape 28"/>
          <p:cNvSpPr/>
          <p:nvPr/>
        </p:nvSpPr>
        <p:spPr>
          <a:xfrm>
            <a:off x="164592" y="4160520"/>
            <a:ext cx="73152" cy="777240"/>
          </a:xfrm>
          <a:prstGeom prst="rect">
            <a:avLst/>
          </a:prstGeom>
          <a:solidFill>
            <a:srgbClr val="E8650A"/>
          </a:solidFill>
          <a:ln w="12700">
            <a:solidFill>
              <a:srgbClr val="E8650A"/>
            </a:solidFill>
            <a:prstDash val="solid"/>
          </a:ln>
        </p:spPr>
      </p:sp>
      <p:sp>
        <p:nvSpPr>
          <p:cNvPr id="31" name="Shape 29"/>
          <p:cNvSpPr/>
          <p:nvPr/>
        </p:nvSpPr>
        <p:spPr>
          <a:xfrm>
            <a:off x="164592" y="4160520"/>
            <a:ext cx="475488" cy="777240"/>
          </a:xfrm>
          <a:prstGeom prst="rect">
            <a:avLst/>
          </a:prstGeom>
          <a:solidFill>
            <a:srgbClr val="E8650A"/>
          </a:solidFill>
          <a:ln w="12700">
            <a:solidFill>
              <a:srgbClr val="E8650A"/>
            </a:solidFill>
            <a:prstDash val="solid"/>
          </a:ln>
        </p:spPr>
      </p:sp>
      <p:sp>
        <p:nvSpPr>
          <p:cNvPr id="32" name="Text 30"/>
          <p:cNvSpPr/>
          <p:nvPr/>
        </p:nvSpPr>
        <p:spPr>
          <a:xfrm>
            <a:off x="164592" y="4160520"/>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05</a:t>
            </a:r>
            <a:endParaRPr lang="en-US" sz="1400" dirty="0"/>
          </a:p>
        </p:txBody>
      </p:sp>
      <p:sp>
        <p:nvSpPr>
          <p:cNvPr id="33" name="Text 31"/>
          <p:cNvSpPr/>
          <p:nvPr/>
        </p:nvSpPr>
        <p:spPr>
          <a:xfrm>
            <a:off x="731520" y="4233672"/>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The 4 Testing Levels form a pyramid: Unit (fast, cheap, many) → Integration → System → UAT (slow, expensive, few). Balance testing effort across all levels for comprehensive coverage.</a:t>
            </a:r>
            <a:endParaRPr lang="en-US" sz="950" dirty="0"/>
          </a:p>
        </p:txBody>
      </p:sp>
      <p:sp>
        <p:nvSpPr>
          <p:cNvPr id="34" name="Shape 32"/>
          <p:cNvSpPr/>
          <p:nvPr/>
        </p:nvSpPr>
        <p:spPr>
          <a:xfrm>
            <a:off x="4663440" y="795528"/>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35" name="Shape 33"/>
          <p:cNvSpPr/>
          <p:nvPr/>
        </p:nvSpPr>
        <p:spPr>
          <a:xfrm>
            <a:off x="4663440" y="795528"/>
            <a:ext cx="73152" cy="777240"/>
          </a:xfrm>
          <a:prstGeom prst="rect">
            <a:avLst/>
          </a:prstGeom>
          <a:solidFill>
            <a:srgbClr val="E8650A"/>
          </a:solidFill>
          <a:ln w="12700">
            <a:solidFill>
              <a:srgbClr val="E8650A"/>
            </a:solidFill>
            <a:prstDash val="solid"/>
          </a:ln>
        </p:spPr>
      </p:sp>
      <p:sp>
        <p:nvSpPr>
          <p:cNvPr id="36" name="Shape 34"/>
          <p:cNvSpPr/>
          <p:nvPr/>
        </p:nvSpPr>
        <p:spPr>
          <a:xfrm>
            <a:off x="4663440" y="795528"/>
            <a:ext cx="475488" cy="777240"/>
          </a:xfrm>
          <a:prstGeom prst="rect">
            <a:avLst/>
          </a:prstGeom>
          <a:solidFill>
            <a:srgbClr val="E8650A"/>
          </a:solidFill>
          <a:ln w="12700">
            <a:solidFill>
              <a:srgbClr val="E8650A"/>
            </a:solidFill>
            <a:prstDash val="solid"/>
          </a:ln>
        </p:spPr>
      </p:sp>
      <p:sp>
        <p:nvSpPr>
          <p:cNvPr id="37" name="Text 35"/>
          <p:cNvSpPr/>
          <p:nvPr/>
        </p:nvSpPr>
        <p:spPr>
          <a:xfrm>
            <a:off x="4663440" y="795528"/>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06</a:t>
            </a:r>
            <a:endParaRPr lang="en-US" sz="1400" dirty="0"/>
          </a:p>
        </p:txBody>
      </p:sp>
      <p:sp>
        <p:nvSpPr>
          <p:cNvPr id="38" name="Text 36"/>
          <p:cNvSpPr/>
          <p:nvPr/>
        </p:nvSpPr>
        <p:spPr>
          <a:xfrm>
            <a:off x="5230368" y="868680"/>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Black Box = test what it does. White Box = test how it works. Grey Box = test with partial internal knowledge. Know which method to apply to which testing level and scenario.</a:t>
            </a:r>
            <a:endParaRPr lang="en-US" sz="950" dirty="0"/>
          </a:p>
        </p:txBody>
      </p:sp>
      <p:sp>
        <p:nvSpPr>
          <p:cNvPr id="39" name="Shape 37"/>
          <p:cNvSpPr/>
          <p:nvPr/>
        </p:nvSpPr>
        <p:spPr>
          <a:xfrm>
            <a:off x="4663440" y="1636776"/>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0" name="Shape 38"/>
          <p:cNvSpPr/>
          <p:nvPr/>
        </p:nvSpPr>
        <p:spPr>
          <a:xfrm>
            <a:off x="4663440" y="1636776"/>
            <a:ext cx="73152" cy="777240"/>
          </a:xfrm>
          <a:prstGeom prst="rect">
            <a:avLst/>
          </a:prstGeom>
          <a:solidFill>
            <a:srgbClr val="E8650A"/>
          </a:solidFill>
          <a:ln w="12700">
            <a:solidFill>
              <a:srgbClr val="E8650A"/>
            </a:solidFill>
            <a:prstDash val="solid"/>
          </a:ln>
        </p:spPr>
      </p:sp>
      <p:sp>
        <p:nvSpPr>
          <p:cNvPr id="41" name="Shape 39"/>
          <p:cNvSpPr/>
          <p:nvPr/>
        </p:nvSpPr>
        <p:spPr>
          <a:xfrm>
            <a:off x="4663440" y="1636776"/>
            <a:ext cx="475488" cy="777240"/>
          </a:xfrm>
          <a:prstGeom prst="rect">
            <a:avLst/>
          </a:prstGeom>
          <a:solidFill>
            <a:srgbClr val="E8650A"/>
          </a:solidFill>
          <a:ln w="12700">
            <a:solidFill>
              <a:srgbClr val="E8650A"/>
            </a:solidFill>
            <a:prstDash val="solid"/>
          </a:ln>
        </p:spPr>
      </p:sp>
      <p:sp>
        <p:nvSpPr>
          <p:cNvPr id="42" name="Text 40"/>
          <p:cNvSpPr/>
          <p:nvPr/>
        </p:nvSpPr>
        <p:spPr>
          <a:xfrm>
            <a:off x="4663440" y="1636776"/>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07</a:t>
            </a:r>
            <a:endParaRPr lang="en-US" sz="1400" dirty="0"/>
          </a:p>
        </p:txBody>
      </p:sp>
      <p:sp>
        <p:nvSpPr>
          <p:cNvPr id="43" name="Text 41"/>
          <p:cNvSpPr/>
          <p:nvPr/>
        </p:nvSpPr>
        <p:spPr>
          <a:xfrm>
            <a:off x="5230368" y="1709928"/>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Automation with Selenium and Playwright is essential for regression and CI/CD — but automation supplements manual testing, never replaces it. Exploratory and usability tests will always need human testers.</a:t>
            </a:r>
            <a:endParaRPr lang="en-US" sz="950" dirty="0"/>
          </a:p>
        </p:txBody>
      </p:sp>
      <p:sp>
        <p:nvSpPr>
          <p:cNvPr id="44" name="Shape 42"/>
          <p:cNvSpPr/>
          <p:nvPr/>
        </p:nvSpPr>
        <p:spPr>
          <a:xfrm>
            <a:off x="4663440" y="2478024"/>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45" name="Shape 43"/>
          <p:cNvSpPr/>
          <p:nvPr/>
        </p:nvSpPr>
        <p:spPr>
          <a:xfrm>
            <a:off x="4663440" y="2478024"/>
            <a:ext cx="73152" cy="777240"/>
          </a:xfrm>
          <a:prstGeom prst="rect">
            <a:avLst/>
          </a:prstGeom>
          <a:solidFill>
            <a:srgbClr val="E8650A"/>
          </a:solidFill>
          <a:ln w="12700">
            <a:solidFill>
              <a:srgbClr val="E8650A"/>
            </a:solidFill>
            <a:prstDash val="solid"/>
          </a:ln>
        </p:spPr>
      </p:sp>
      <p:sp>
        <p:nvSpPr>
          <p:cNvPr id="46" name="Shape 44"/>
          <p:cNvSpPr/>
          <p:nvPr/>
        </p:nvSpPr>
        <p:spPr>
          <a:xfrm>
            <a:off x="4663440" y="2478024"/>
            <a:ext cx="475488" cy="777240"/>
          </a:xfrm>
          <a:prstGeom prst="rect">
            <a:avLst/>
          </a:prstGeom>
          <a:solidFill>
            <a:srgbClr val="E8650A"/>
          </a:solidFill>
          <a:ln w="12700">
            <a:solidFill>
              <a:srgbClr val="E8650A"/>
            </a:solidFill>
            <a:prstDash val="solid"/>
          </a:ln>
        </p:spPr>
      </p:sp>
      <p:sp>
        <p:nvSpPr>
          <p:cNvPr id="47" name="Text 45"/>
          <p:cNvSpPr/>
          <p:nvPr/>
        </p:nvSpPr>
        <p:spPr>
          <a:xfrm>
            <a:off x="4663440" y="2478024"/>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08</a:t>
            </a:r>
            <a:endParaRPr lang="en-US" sz="1400" dirty="0"/>
          </a:p>
        </p:txBody>
      </p:sp>
      <p:sp>
        <p:nvSpPr>
          <p:cNvPr id="48" name="Text 46"/>
          <p:cNvSpPr/>
          <p:nvPr/>
        </p:nvSpPr>
        <p:spPr>
          <a:xfrm>
            <a:off x="5230368" y="2551176"/>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Every defect follows the lifecycle: New → Assigned → Open → Fixed → Retested → Closed. Severity is technical impact. Priority is business urgency. They are NOT the same thing.</a:t>
            </a:r>
            <a:endParaRPr lang="en-US" sz="950" dirty="0"/>
          </a:p>
        </p:txBody>
      </p:sp>
      <p:sp>
        <p:nvSpPr>
          <p:cNvPr id="49" name="Shape 47"/>
          <p:cNvSpPr/>
          <p:nvPr/>
        </p:nvSpPr>
        <p:spPr>
          <a:xfrm>
            <a:off x="4663440" y="3319272"/>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50" name="Shape 48"/>
          <p:cNvSpPr/>
          <p:nvPr/>
        </p:nvSpPr>
        <p:spPr>
          <a:xfrm>
            <a:off x="4663440" y="3319272"/>
            <a:ext cx="73152" cy="777240"/>
          </a:xfrm>
          <a:prstGeom prst="rect">
            <a:avLst/>
          </a:prstGeom>
          <a:solidFill>
            <a:srgbClr val="E8650A"/>
          </a:solidFill>
          <a:ln w="12700">
            <a:solidFill>
              <a:srgbClr val="E8650A"/>
            </a:solidFill>
            <a:prstDash val="solid"/>
          </a:ln>
        </p:spPr>
      </p:sp>
      <p:sp>
        <p:nvSpPr>
          <p:cNvPr id="51" name="Shape 49"/>
          <p:cNvSpPr/>
          <p:nvPr/>
        </p:nvSpPr>
        <p:spPr>
          <a:xfrm>
            <a:off x="4663440" y="3319272"/>
            <a:ext cx="475488" cy="777240"/>
          </a:xfrm>
          <a:prstGeom prst="rect">
            <a:avLst/>
          </a:prstGeom>
          <a:solidFill>
            <a:srgbClr val="E8650A"/>
          </a:solidFill>
          <a:ln w="12700">
            <a:solidFill>
              <a:srgbClr val="E8650A"/>
            </a:solidFill>
            <a:prstDash val="solid"/>
          </a:ln>
        </p:spPr>
      </p:sp>
      <p:sp>
        <p:nvSpPr>
          <p:cNvPr id="52" name="Text 50"/>
          <p:cNvSpPr/>
          <p:nvPr/>
        </p:nvSpPr>
        <p:spPr>
          <a:xfrm>
            <a:off x="4663440" y="3319272"/>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09</a:t>
            </a:r>
            <a:endParaRPr lang="en-US" sz="1400" dirty="0"/>
          </a:p>
        </p:txBody>
      </p:sp>
      <p:sp>
        <p:nvSpPr>
          <p:cNvPr id="53" name="Text 51"/>
          <p:cNvSpPr/>
          <p:nvPr/>
        </p:nvSpPr>
        <p:spPr>
          <a:xfrm>
            <a:off x="5230368" y="3392424"/>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A test case has 9 components. Every single one matters. A test case without a precise expected result is not a test case — it is a series of actions with no quality gate.</a:t>
            </a:r>
            <a:endParaRPr lang="en-US" sz="950" dirty="0"/>
          </a:p>
        </p:txBody>
      </p:sp>
      <p:sp>
        <p:nvSpPr>
          <p:cNvPr id="54" name="Shape 52"/>
          <p:cNvSpPr/>
          <p:nvPr/>
        </p:nvSpPr>
        <p:spPr>
          <a:xfrm>
            <a:off x="4663440" y="4160520"/>
            <a:ext cx="4315968" cy="777240"/>
          </a:xfrm>
          <a:prstGeom prst="rect">
            <a:avLst/>
          </a:prstGeom>
          <a:solidFill>
            <a:srgbClr val="282828"/>
          </a:solidFill>
          <a:ln w="12700">
            <a:solidFill>
              <a:srgbClr val="3A3A3A"/>
            </a:solidFill>
            <a:prstDash val="solid"/>
          </a:ln>
          <a:effectLst>
            <a:outerShdw blurRad="101600" dist="38100" dir="8100000" algn="bl" rotWithShape="0">
              <a:srgbClr val="000000">
                <a:alpha val="20000"/>
              </a:srgbClr>
            </a:outerShdw>
          </a:effectLst>
        </p:spPr>
      </p:sp>
      <p:sp>
        <p:nvSpPr>
          <p:cNvPr id="55" name="Shape 53"/>
          <p:cNvSpPr/>
          <p:nvPr/>
        </p:nvSpPr>
        <p:spPr>
          <a:xfrm>
            <a:off x="4663440" y="4160520"/>
            <a:ext cx="73152" cy="777240"/>
          </a:xfrm>
          <a:prstGeom prst="rect">
            <a:avLst/>
          </a:prstGeom>
          <a:solidFill>
            <a:srgbClr val="E8650A"/>
          </a:solidFill>
          <a:ln w="12700">
            <a:solidFill>
              <a:srgbClr val="E8650A"/>
            </a:solidFill>
            <a:prstDash val="solid"/>
          </a:ln>
        </p:spPr>
      </p:sp>
      <p:sp>
        <p:nvSpPr>
          <p:cNvPr id="56" name="Shape 54"/>
          <p:cNvSpPr/>
          <p:nvPr/>
        </p:nvSpPr>
        <p:spPr>
          <a:xfrm>
            <a:off x="4663440" y="4160520"/>
            <a:ext cx="475488" cy="777240"/>
          </a:xfrm>
          <a:prstGeom prst="rect">
            <a:avLst/>
          </a:prstGeom>
          <a:solidFill>
            <a:srgbClr val="E8650A"/>
          </a:solidFill>
          <a:ln w="12700">
            <a:solidFill>
              <a:srgbClr val="E8650A"/>
            </a:solidFill>
            <a:prstDash val="solid"/>
          </a:ln>
        </p:spPr>
      </p:sp>
      <p:sp>
        <p:nvSpPr>
          <p:cNvPr id="57" name="Text 55"/>
          <p:cNvSpPr/>
          <p:nvPr/>
        </p:nvSpPr>
        <p:spPr>
          <a:xfrm>
            <a:off x="4663440" y="4160520"/>
            <a:ext cx="475488"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10</a:t>
            </a:r>
            <a:endParaRPr lang="en-US" sz="1400" dirty="0"/>
          </a:p>
        </p:txBody>
      </p:sp>
      <p:sp>
        <p:nvSpPr>
          <p:cNvPr id="58" name="Text 56"/>
          <p:cNvSpPr/>
          <p:nvPr/>
        </p:nvSpPr>
        <p:spPr>
          <a:xfrm>
            <a:off x="5230368" y="4233672"/>
            <a:ext cx="3657600" cy="640080"/>
          </a:xfrm>
          <a:prstGeom prst="rect">
            <a:avLst/>
          </a:prstGeom>
          <a:noFill/>
          <a:ln/>
        </p:spPr>
        <p:txBody>
          <a:bodyPr wrap="square" lIns="0" tIns="0" rIns="0" bIns="0" rtlCol="0" anchor="ctr"/>
          <a:lstStyle/>
          <a:p>
            <a:pPr marL="0" indent="0">
              <a:buNone/>
            </a:pPr>
            <a:r>
              <a:rPr lang="en-US" sz="950" dirty="0">
                <a:solidFill>
                  <a:srgbClr val="BBBBBB"/>
                </a:solidFill>
                <a:latin typeface="Arial" pitchFamily="34" charset="0"/>
                <a:ea typeface="Arial" pitchFamily="34" charset="-122"/>
                <a:cs typeface="Arial" pitchFamily="34" charset="-120"/>
              </a:rPr>
              <a:t>The best testers communicate constantly, document meticulously, start testing early, test boundaries aggressively, and never assume a feature works — they verify it.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4340</TotalTime>
  <Words>8185</Words>
  <Application>Microsoft Office PowerPoint</Application>
  <PresentationFormat>On-screen Show (16:9)</PresentationFormat>
  <Paragraphs>727</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 Fundamentals</dc:title>
  <dc:subject>PptxGenJS Presentation</dc:subject>
  <dc:creator>Quality Engineering Division</dc:creator>
  <cp:lastModifiedBy>Isaac Mahlangu (Lubanzi ICT Consulting)</cp:lastModifiedBy>
  <cp:revision>6</cp:revision>
  <dcterms:created xsi:type="dcterms:W3CDTF">2026-04-14T19:10:49Z</dcterms:created>
  <dcterms:modified xsi:type="dcterms:W3CDTF">2026-04-20T09:37:26Z</dcterms:modified>
</cp:coreProperties>
</file>