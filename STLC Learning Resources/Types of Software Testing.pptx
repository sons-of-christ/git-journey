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300"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91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This session covers every testing type used in a professional QA environment. All content is industry-level — we will not oversimplify. Ask questions at any point.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Software Testing — What testing is, why it matters, and where it fits in the delivery lifecycle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not optional — it is a professional engineering discipline. Without testing, software delivery is gambling with quality. Use the NASA Mars Orbiter example: a $327M spacecraft was lost because a software metric conversion error was never tested.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concept for new testers: testing is a CONTINUOUS activity, not a phase that happens at the end. The earlier a defect is found, the cheaper it is to fix. Every SDLC phase has QA involvement.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map for the entire session. Keep referring back to it as we dive into each category. Note that categories overlap — a test can be both 'functional' AND 'automated'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 Categories of Testing — Understanding the four fundamental ways to classify software testing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division in testing. Both are required for every product. You cannot ship software that works functionally but crashes under load (missing non-functional). Equally, fast software that calculates wrong is useless (missing functional).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manual vs automated debate is a false choice. Great QA teams use both — manual for exploration and discovery, automation for speed and repeatability at scale. We will cover this in depth in Section 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Testing Types — Unit • Integration • System • UAT • Smoke • Sanity • Regression — in full detail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testing is the developer's responsibility but QA engineers should understand it because unit test results inform what areas need more attention in integration and system testing. High unit test coverage reduces the number of integration defects significantly.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testing is where most real defects are found in enterprise software. Components developed by different teams often have mismatched assumptions about data formats, API contracts, and error handling. Integration tests expose these mismatches.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testing is the most comprehensive functional test type. It tests the entire application as an integrated whole, using real data and real environments. The goal is to catch any defects that were missed at lower testing levels before the product reaches UAT or production.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UAT is NOT an opportunity to find all defects — that should have happened in QA. UAT validates business fitness. If a critical defect is found in UAT, it indicates a breakdown in QA process. The QA team should provide UAT support — helping users understand the system and document issues correctly.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Smoke testing is the gatekeeper. Without it, QA engineers would waste hours executing detailed tests on a broken build. It is the single best investment in test efficiency. Always automate your smoke suite — it should run within minutes of every deployment.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Sanity testing is often confused with regression testing. Key difference: sanity = check the specific fix. Regression = check the whole system wasn't broken by the fix. Both are done after a bug fix — sanity first, then regression.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testing is where automation delivers its highest ROI. A well-maintained Playwright or Selenium regression suite running in CI/CD provides confidence on every single merge to main — without any manual execution effort.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Non-Functional Testing Types — Performance • Security • Usability • Compatibility • Reliability • Scalability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testing is often skipped by teams under time pressure — and this is exactly when production crashes happen. A system that works perfectly for 10 users can fall apart for 10,000. Always performance test before any major release.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Apache JMeter is the most widely used open-source performance testing tool. k6 is the modern alternative with script-as-code. Playwright can also be used for basic frontend performance metrics via the Tracing API.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testing is one of the fastest-growing QA specialisms. Every application that handles user data, payments, or personal information must undergo security testing. A single data breach can cost a company millions and destroy user trust permanently.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Usability testing is often performed by dedicated UX researchers rather than QA engineers, but QA should advocate for it. A functionally perfect product that users cannot figure out will fail in the market. Accessibility is a legal requirement in many industries.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Cross-browser compatibility issues are one of the most common sources of user complaints. Playwright is particularly powerful here — a single test script runs across Chromium, Firefox, and WebKit with no configuration change, making it the modern standard for cross-browser compatibility testing.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and scalability are critical for enterprise-level software. A system with 99% availability sounds good until you realise it's down 87 hours per year — unacceptable for banking or healthcare software.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vs Automated Testing — A deep comparison — when to use each approach for maximum QA effectiveness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automation is an investment that pays dividends at scale. If a test runs more than 5 times across a project's lifetime, it is a candidate for automation. If it runs once or twice, manual is more efficient.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to automate should be based on ROI. Ask: how many times will this test run? How complex is it to automate? How often does the underlying UI change? If automation takes 2 hours to build and saves 30 minutes per sprint, break-even is 4 sprints.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&amp; Ad-hoc Testing — Unscripted, intelligent testing approaches that leverage human expertise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testing is one of the most valuable skills a QA engineer can develop. Experienced exploratory testers find defects that automated suites and scripted tests consistently miss, because they think like users and attackers simultaneously.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Ad-hoc testing has its place — particularly when a tester with deep domain knowledge quickly looks over a new build. However, it should never be the primary approach. Without documentation, defects found ad-hoc are often lost or unreproducible.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 &amp; Beta Testing — Internal and external validation before full public release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 and beta testing together provide a complete pre-release validation cycle. Alpha finds technical defects in a controlled environment. Beta validates that real users can actually use the software in their own environments — something alpha cannot simulate.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D2A2A-C99A-F213-91EE-F5A028A86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5423D-48A4-F192-AB1A-20EE5B616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3BB6D-5DA7-E8CE-538F-5D519D46B280}"/>
              </a:ext>
            </a:extLst>
          </p:cNvPr>
          <p:cNvSpPr>
            <a:spLocks noGrp="1"/>
          </p:cNvSpPr>
          <p:nvPr>
            <p:ph type="body" idx="1"/>
          </p:nvPr>
        </p:nvSpPr>
        <p:spPr/>
        <p:txBody>
          <a:bodyPr/>
          <a:lstStyle/>
          <a:p>
            <a:r>
              <a:rPr lang="en-US" dirty="0"/>
              <a:t>Alpha and beta testing together provide a complete pre-release validation cycle. Alpha finds technical defects in a controlled environment. Beta validates that real users can actually use the software in their own environments — something alpha cannot simulate.</a:t>
            </a:r>
          </a:p>
        </p:txBody>
      </p:sp>
      <p:sp>
        <p:nvSpPr>
          <p:cNvPr id="4" name="Slide Number Placeholder 3">
            <a:extLst>
              <a:ext uri="{FF2B5EF4-FFF2-40B4-BE49-F238E27FC236}">
                <a16:creationId xmlns:a16="http://schemas.microsoft.com/office/drawing/2014/main" id="{1BB059C5-7AEC-C6D9-1AD1-4C46A9B0373F}"/>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9629041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Automation in Modern QA — Selenium • Playwright • IntelliJ • Eclipse — tools and workflow</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golden rule: automate what is stable and repetitive. Manual test what requires human judgement or is unstable. Never automate just for the sake of it — a bad automation script is worse than no automation because it gives false confidence.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Selenium is the most established automation framework and is expected knowledge for any QA automation engineer. At Lubanzi we use Java + Selenium + TestNG + IntelliJ as our primary automation stack for web applications.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Playwright is the modern standard for new QA automation projects. Selenium remains relevant for large existing Java test suites and teams with deep Selenium expertise. At Lubanzi both are used — Selenium for established Java projects, Playwright for new projects and cross-browser suites.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workflow applies to both Selenium and Playwright projects. The key principle is CI/CD integration — automated tests should run automatically on every code commit, not just when a tester manually triggers them. This provides continuous quality feedback to the development team.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Testing Workflow — How ALL testing types come together in a real software project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workflow shows how testing types are layered — each phase builds on the previous one. No single testing type is sufficient. The combination of unit, integration, system, performance, and security testing, with regression running throughout, is what creates genuine software quality.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Practices &amp; Summary — Key principles for effective testing + complete recap of all testing types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best practices are the foundation of a mature QA practice. Internalize them from day one. The testing pyramid in particular is frequently ignored by teams under pressure — resulting in slow, expensive, fragile test suites that become a liability rather than an asset.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second six best practices are about culture and continuous improvement. The most impactful QA engineers are not just technical — they are communicators, collaborators, and data-driven thinkers who help the entire team deliver quality software.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summary table is your reference document. Print it or save it. Every testing type has a specific purpose, audience, and set of tools. A mature QA professional knows when to apply each type and why — not just what they are.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takeaways are the core of today's session. Ask interns to reflect: which testing type surprised them most? Which do they think they'll use most in their first role? Which tool do they want to learn first?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Presentation Agenda</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A structured journey through every major type of software testing</a:t>
            </a:r>
            <a:endParaRPr lang="en-US" sz="1100" dirty="0"/>
          </a:p>
        </p:txBody>
      </p:sp>
      <p:sp>
        <p:nvSpPr>
          <p:cNvPr id="6" name="Shape 3"/>
          <p:cNvSpPr/>
          <p:nvPr/>
        </p:nvSpPr>
        <p:spPr>
          <a:xfrm>
            <a:off x="274320" y="1115568"/>
            <a:ext cx="4297680" cy="777240"/>
          </a:xfrm>
          <a:prstGeom prst="rect">
            <a:avLst/>
          </a:prstGeom>
          <a:solidFill>
            <a:srgbClr val="FFFFFF"/>
          </a:solidFill>
          <a:ln/>
          <a:effectLst>
            <a:outerShdw blurRad="101600" dist="38100" dir="8100000" algn="bl" rotWithShape="0">
              <a:srgbClr val="000000">
                <a:alpha val="18000"/>
              </a:srgbClr>
            </a:outerShdw>
          </a:effectLst>
        </p:spPr>
      </p:sp>
      <p:sp>
        <p:nvSpPr>
          <p:cNvPr id="7" name="Shape 4"/>
          <p:cNvSpPr/>
          <p:nvPr/>
        </p:nvSpPr>
        <p:spPr>
          <a:xfrm>
            <a:off x="274320" y="1115568"/>
            <a:ext cx="658368" cy="777240"/>
          </a:xfrm>
          <a:prstGeom prst="rect">
            <a:avLst/>
          </a:prstGeom>
          <a:solidFill>
            <a:srgbClr val="E8670D"/>
          </a:solidFill>
          <a:ln/>
        </p:spPr>
      </p:sp>
      <p:sp>
        <p:nvSpPr>
          <p:cNvPr id="8" name="Text 5"/>
          <p:cNvSpPr/>
          <p:nvPr/>
        </p:nvSpPr>
        <p:spPr>
          <a:xfrm>
            <a:off x="274320" y="1271016"/>
            <a:ext cx="658368"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9" name="Text 6"/>
          <p:cNvSpPr/>
          <p:nvPr/>
        </p:nvSpPr>
        <p:spPr>
          <a:xfrm>
            <a:off x="1024128" y="1161288"/>
            <a:ext cx="3474720" cy="292608"/>
          </a:xfrm>
          <a:prstGeom prst="rect">
            <a:avLst/>
          </a:prstGeom>
          <a:noFill/>
          <a:ln/>
        </p:spPr>
        <p:txBody>
          <a:bodyPr wrap="square" lIns="0" tIns="0" rIns="0" bIns="0"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Introduction to Testing</a:t>
            </a:r>
            <a:endParaRPr lang="en-US" sz="1200" dirty="0"/>
          </a:p>
        </p:txBody>
      </p:sp>
      <p:sp>
        <p:nvSpPr>
          <p:cNvPr id="10" name="Text 7"/>
          <p:cNvSpPr/>
          <p:nvPr/>
        </p:nvSpPr>
        <p:spPr>
          <a:xfrm>
            <a:off x="1024128" y="1481328"/>
            <a:ext cx="3474720" cy="347472"/>
          </a:xfrm>
          <a:prstGeom prst="rect">
            <a:avLst/>
          </a:prstGeom>
          <a:noFill/>
          <a:ln/>
        </p:spPr>
        <p:txBody>
          <a:bodyPr wrap="square" lIns="0" tIns="0" rIns="0" bIns="0" rtlCol="0" anchor="ctr"/>
          <a:lstStyle/>
          <a:p>
            <a:pPr marL="0" indent="0">
              <a:buNone/>
            </a:pPr>
            <a:r>
              <a:rPr lang="en-US" sz="950" dirty="0">
                <a:solidFill>
                  <a:srgbClr val="777777"/>
                </a:solidFill>
                <a:latin typeface="Calibri" pitchFamily="34" charset="0"/>
                <a:ea typeface="Calibri" pitchFamily="34" charset="-122"/>
                <a:cs typeface="Calibri" pitchFamily="34" charset="-120"/>
              </a:rPr>
              <a:t>Definitions • Goals • SDLC fit • Overview</a:t>
            </a:r>
            <a:endParaRPr lang="en-US" sz="950" dirty="0"/>
          </a:p>
        </p:txBody>
      </p:sp>
      <p:sp>
        <p:nvSpPr>
          <p:cNvPr id="11" name="Shape 8"/>
          <p:cNvSpPr/>
          <p:nvPr/>
        </p:nvSpPr>
        <p:spPr>
          <a:xfrm>
            <a:off x="4800600" y="1115568"/>
            <a:ext cx="4297680" cy="777240"/>
          </a:xfrm>
          <a:prstGeom prst="rect">
            <a:avLst/>
          </a:prstGeom>
          <a:solidFill>
            <a:srgbClr val="FFFFFF"/>
          </a:solidFill>
          <a:ln/>
          <a:effectLst>
            <a:outerShdw blurRad="101600" dist="38100" dir="8100000" algn="bl" rotWithShape="0">
              <a:srgbClr val="000000">
                <a:alpha val="18000"/>
              </a:srgbClr>
            </a:outerShdw>
          </a:effectLst>
        </p:spPr>
      </p:sp>
      <p:sp>
        <p:nvSpPr>
          <p:cNvPr id="12" name="Shape 9"/>
          <p:cNvSpPr/>
          <p:nvPr/>
        </p:nvSpPr>
        <p:spPr>
          <a:xfrm>
            <a:off x="4800600" y="1115568"/>
            <a:ext cx="658368" cy="777240"/>
          </a:xfrm>
          <a:prstGeom prst="rect">
            <a:avLst/>
          </a:prstGeom>
          <a:solidFill>
            <a:srgbClr val="1E1E1E"/>
          </a:solidFill>
          <a:ln/>
        </p:spPr>
      </p:sp>
      <p:sp>
        <p:nvSpPr>
          <p:cNvPr id="13" name="Text 10"/>
          <p:cNvSpPr/>
          <p:nvPr/>
        </p:nvSpPr>
        <p:spPr>
          <a:xfrm>
            <a:off x="4800600" y="1271016"/>
            <a:ext cx="658368"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4" name="Text 11"/>
          <p:cNvSpPr/>
          <p:nvPr/>
        </p:nvSpPr>
        <p:spPr>
          <a:xfrm>
            <a:off x="5550408" y="1161288"/>
            <a:ext cx="3474720" cy="292608"/>
          </a:xfrm>
          <a:prstGeom prst="rect">
            <a:avLst/>
          </a:prstGeom>
          <a:noFill/>
          <a:ln/>
        </p:spPr>
        <p:txBody>
          <a:bodyPr wrap="square" lIns="0" tIns="0" rIns="0" bIns="0"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Broad Categories</a:t>
            </a:r>
            <a:endParaRPr lang="en-US" sz="1200" dirty="0"/>
          </a:p>
        </p:txBody>
      </p:sp>
      <p:sp>
        <p:nvSpPr>
          <p:cNvPr id="15" name="Text 12"/>
          <p:cNvSpPr/>
          <p:nvPr/>
        </p:nvSpPr>
        <p:spPr>
          <a:xfrm>
            <a:off x="5550408" y="1481328"/>
            <a:ext cx="3474720" cy="347472"/>
          </a:xfrm>
          <a:prstGeom prst="rect">
            <a:avLst/>
          </a:prstGeom>
          <a:noFill/>
          <a:ln/>
        </p:spPr>
        <p:txBody>
          <a:bodyPr wrap="square" lIns="0" tIns="0" rIns="0" bIns="0" rtlCol="0" anchor="ctr"/>
          <a:lstStyle/>
          <a:p>
            <a:pPr marL="0" indent="0">
              <a:buNone/>
            </a:pPr>
            <a:r>
              <a:rPr lang="en-US" sz="950" dirty="0">
                <a:solidFill>
                  <a:srgbClr val="777777"/>
                </a:solidFill>
                <a:latin typeface="Calibri" pitchFamily="34" charset="0"/>
                <a:ea typeface="Calibri" pitchFamily="34" charset="-122"/>
                <a:cs typeface="Calibri" pitchFamily="34" charset="-120"/>
              </a:rPr>
              <a:t>Functional • Non-Functional • Manual • Automated</a:t>
            </a:r>
            <a:endParaRPr lang="en-US" sz="950" dirty="0"/>
          </a:p>
        </p:txBody>
      </p:sp>
      <p:sp>
        <p:nvSpPr>
          <p:cNvPr id="16" name="Shape 13"/>
          <p:cNvSpPr/>
          <p:nvPr/>
        </p:nvSpPr>
        <p:spPr>
          <a:xfrm>
            <a:off x="274320" y="2011680"/>
            <a:ext cx="4297680" cy="777240"/>
          </a:xfrm>
          <a:prstGeom prst="rect">
            <a:avLst/>
          </a:prstGeom>
          <a:solidFill>
            <a:srgbClr val="FFFFFF"/>
          </a:solidFill>
          <a:ln/>
          <a:effectLst>
            <a:outerShdw blurRad="101600" dist="38100" dir="8100000" algn="bl" rotWithShape="0">
              <a:srgbClr val="000000">
                <a:alpha val="18000"/>
              </a:srgbClr>
            </a:outerShdw>
          </a:effectLst>
        </p:spPr>
      </p:sp>
      <p:sp>
        <p:nvSpPr>
          <p:cNvPr id="17" name="Shape 14"/>
          <p:cNvSpPr/>
          <p:nvPr/>
        </p:nvSpPr>
        <p:spPr>
          <a:xfrm>
            <a:off x="274320" y="2011680"/>
            <a:ext cx="658368" cy="777240"/>
          </a:xfrm>
          <a:prstGeom prst="rect">
            <a:avLst/>
          </a:prstGeom>
          <a:solidFill>
            <a:srgbClr val="E8670D"/>
          </a:solidFill>
          <a:ln/>
        </p:spPr>
      </p:sp>
      <p:sp>
        <p:nvSpPr>
          <p:cNvPr id="18" name="Text 15"/>
          <p:cNvSpPr/>
          <p:nvPr/>
        </p:nvSpPr>
        <p:spPr>
          <a:xfrm>
            <a:off x="274320" y="2167128"/>
            <a:ext cx="658368"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19" name="Text 16"/>
          <p:cNvSpPr/>
          <p:nvPr/>
        </p:nvSpPr>
        <p:spPr>
          <a:xfrm>
            <a:off x="1024128" y="2057400"/>
            <a:ext cx="3474720" cy="292608"/>
          </a:xfrm>
          <a:prstGeom prst="rect">
            <a:avLst/>
          </a:prstGeom>
          <a:noFill/>
          <a:ln/>
        </p:spPr>
        <p:txBody>
          <a:bodyPr wrap="square" lIns="0" tIns="0" rIns="0" bIns="0"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Functional Testing Types</a:t>
            </a:r>
            <a:endParaRPr lang="en-US" sz="1200" dirty="0"/>
          </a:p>
        </p:txBody>
      </p:sp>
      <p:sp>
        <p:nvSpPr>
          <p:cNvPr id="20" name="Text 17"/>
          <p:cNvSpPr/>
          <p:nvPr/>
        </p:nvSpPr>
        <p:spPr>
          <a:xfrm>
            <a:off x="1024128" y="2377440"/>
            <a:ext cx="3474720" cy="347472"/>
          </a:xfrm>
          <a:prstGeom prst="rect">
            <a:avLst/>
          </a:prstGeom>
          <a:noFill/>
          <a:ln/>
        </p:spPr>
        <p:txBody>
          <a:bodyPr wrap="square" lIns="0" tIns="0" rIns="0" bIns="0" rtlCol="0" anchor="ctr"/>
          <a:lstStyle/>
          <a:p>
            <a:pPr marL="0" indent="0">
              <a:buNone/>
            </a:pPr>
            <a:r>
              <a:rPr lang="en-US" sz="950" dirty="0">
                <a:solidFill>
                  <a:srgbClr val="777777"/>
                </a:solidFill>
                <a:latin typeface="Calibri" pitchFamily="34" charset="0"/>
                <a:ea typeface="Calibri" pitchFamily="34" charset="-122"/>
                <a:cs typeface="Calibri" pitchFamily="34" charset="-120"/>
              </a:rPr>
              <a:t>Unit • Integration • System • UAT • Smoke • Sanity • Regression</a:t>
            </a:r>
            <a:endParaRPr lang="en-US" sz="950" dirty="0"/>
          </a:p>
        </p:txBody>
      </p:sp>
      <p:sp>
        <p:nvSpPr>
          <p:cNvPr id="21" name="Shape 18"/>
          <p:cNvSpPr/>
          <p:nvPr/>
        </p:nvSpPr>
        <p:spPr>
          <a:xfrm>
            <a:off x="4800600" y="2011680"/>
            <a:ext cx="4297680" cy="777240"/>
          </a:xfrm>
          <a:prstGeom prst="rect">
            <a:avLst/>
          </a:prstGeom>
          <a:solidFill>
            <a:srgbClr val="FFFFFF"/>
          </a:solidFill>
          <a:ln/>
          <a:effectLst>
            <a:outerShdw blurRad="101600" dist="38100" dir="8100000" algn="bl" rotWithShape="0">
              <a:srgbClr val="000000">
                <a:alpha val="18000"/>
              </a:srgbClr>
            </a:outerShdw>
          </a:effectLst>
        </p:spPr>
      </p:sp>
      <p:sp>
        <p:nvSpPr>
          <p:cNvPr id="22" name="Shape 19"/>
          <p:cNvSpPr/>
          <p:nvPr/>
        </p:nvSpPr>
        <p:spPr>
          <a:xfrm>
            <a:off x="4800600" y="2011680"/>
            <a:ext cx="658368" cy="777240"/>
          </a:xfrm>
          <a:prstGeom prst="rect">
            <a:avLst/>
          </a:prstGeom>
          <a:solidFill>
            <a:srgbClr val="1E1E1E"/>
          </a:solidFill>
          <a:ln/>
        </p:spPr>
      </p:sp>
      <p:sp>
        <p:nvSpPr>
          <p:cNvPr id="23" name="Text 20"/>
          <p:cNvSpPr/>
          <p:nvPr/>
        </p:nvSpPr>
        <p:spPr>
          <a:xfrm>
            <a:off x="4800600" y="2167128"/>
            <a:ext cx="658368"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04</a:t>
            </a:r>
            <a:endParaRPr lang="en-US" sz="1700" dirty="0"/>
          </a:p>
        </p:txBody>
      </p:sp>
      <p:sp>
        <p:nvSpPr>
          <p:cNvPr id="24" name="Text 21"/>
          <p:cNvSpPr/>
          <p:nvPr/>
        </p:nvSpPr>
        <p:spPr>
          <a:xfrm>
            <a:off x="5550408" y="2057400"/>
            <a:ext cx="3474720" cy="292608"/>
          </a:xfrm>
          <a:prstGeom prst="rect">
            <a:avLst/>
          </a:prstGeom>
          <a:noFill/>
          <a:ln/>
        </p:spPr>
        <p:txBody>
          <a:bodyPr wrap="square" lIns="0" tIns="0" rIns="0" bIns="0"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Non-Functional Testing</a:t>
            </a:r>
            <a:endParaRPr lang="en-US" sz="1200" dirty="0"/>
          </a:p>
        </p:txBody>
      </p:sp>
      <p:sp>
        <p:nvSpPr>
          <p:cNvPr id="25" name="Text 22"/>
          <p:cNvSpPr/>
          <p:nvPr/>
        </p:nvSpPr>
        <p:spPr>
          <a:xfrm>
            <a:off x="5550408" y="2377440"/>
            <a:ext cx="3474720" cy="347472"/>
          </a:xfrm>
          <a:prstGeom prst="rect">
            <a:avLst/>
          </a:prstGeom>
          <a:noFill/>
          <a:ln/>
        </p:spPr>
        <p:txBody>
          <a:bodyPr wrap="square" lIns="0" tIns="0" rIns="0" bIns="0" rtlCol="0" anchor="ctr"/>
          <a:lstStyle/>
          <a:p>
            <a:pPr marL="0" indent="0">
              <a:buNone/>
            </a:pPr>
            <a:r>
              <a:rPr lang="en-US" sz="950" dirty="0">
                <a:solidFill>
                  <a:srgbClr val="777777"/>
                </a:solidFill>
                <a:latin typeface="Calibri" pitchFamily="34" charset="0"/>
                <a:ea typeface="Calibri" pitchFamily="34" charset="-122"/>
                <a:cs typeface="Calibri" pitchFamily="34" charset="-120"/>
              </a:rPr>
              <a:t>Performance • Security • Usability • Compatibility • Reliability • Scalability</a:t>
            </a:r>
            <a:endParaRPr lang="en-US" sz="950" dirty="0"/>
          </a:p>
        </p:txBody>
      </p:sp>
      <p:sp>
        <p:nvSpPr>
          <p:cNvPr id="26" name="Shape 23"/>
          <p:cNvSpPr/>
          <p:nvPr/>
        </p:nvSpPr>
        <p:spPr>
          <a:xfrm>
            <a:off x="274320" y="2907792"/>
            <a:ext cx="4297680" cy="777240"/>
          </a:xfrm>
          <a:prstGeom prst="rect">
            <a:avLst/>
          </a:prstGeom>
          <a:solidFill>
            <a:srgbClr val="FFFFFF"/>
          </a:solidFill>
          <a:ln/>
          <a:effectLst>
            <a:outerShdw blurRad="101600" dist="38100" dir="8100000" algn="bl" rotWithShape="0">
              <a:srgbClr val="000000">
                <a:alpha val="18000"/>
              </a:srgbClr>
            </a:outerShdw>
          </a:effectLst>
        </p:spPr>
      </p:sp>
      <p:sp>
        <p:nvSpPr>
          <p:cNvPr id="27" name="Shape 24"/>
          <p:cNvSpPr/>
          <p:nvPr/>
        </p:nvSpPr>
        <p:spPr>
          <a:xfrm>
            <a:off x="274320" y="2907792"/>
            <a:ext cx="658368" cy="777240"/>
          </a:xfrm>
          <a:prstGeom prst="rect">
            <a:avLst/>
          </a:prstGeom>
          <a:solidFill>
            <a:srgbClr val="E8670D"/>
          </a:solidFill>
          <a:ln/>
        </p:spPr>
      </p:sp>
      <p:sp>
        <p:nvSpPr>
          <p:cNvPr id="28" name="Text 25"/>
          <p:cNvSpPr/>
          <p:nvPr/>
        </p:nvSpPr>
        <p:spPr>
          <a:xfrm>
            <a:off x="274320" y="3063240"/>
            <a:ext cx="658368"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05</a:t>
            </a:r>
            <a:endParaRPr lang="en-US" sz="1700" dirty="0"/>
          </a:p>
        </p:txBody>
      </p:sp>
      <p:sp>
        <p:nvSpPr>
          <p:cNvPr id="29" name="Text 26"/>
          <p:cNvSpPr/>
          <p:nvPr/>
        </p:nvSpPr>
        <p:spPr>
          <a:xfrm>
            <a:off x="1024128" y="2953512"/>
            <a:ext cx="3474720" cy="292608"/>
          </a:xfrm>
          <a:prstGeom prst="rect">
            <a:avLst/>
          </a:prstGeom>
          <a:noFill/>
          <a:ln/>
        </p:spPr>
        <p:txBody>
          <a:bodyPr wrap="square" lIns="0" tIns="0" rIns="0" bIns="0"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Manual vs Automated</a:t>
            </a:r>
            <a:endParaRPr lang="en-US" sz="1200" dirty="0"/>
          </a:p>
        </p:txBody>
      </p:sp>
      <p:sp>
        <p:nvSpPr>
          <p:cNvPr id="30" name="Text 27"/>
          <p:cNvSpPr/>
          <p:nvPr/>
        </p:nvSpPr>
        <p:spPr>
          <a:xfrm>
            <a:off x="1024128" y="3273552"/>
            <a:ext cx="3474720" cy="347472"/>
          </a:xfrm>
          <a:prstGeom prst="rect">
            <a:avLst/>
          </a:prstGeom>
          <a:noFill/>
          <a:ln/>
        </p:spPr>
        <p:txBody>
          <a:bodyPr wrap="square" lIns="0" tIns="0" rIns="0" bIns="0" rtlCol="0" anchor="ctr"/>
          <a:lstStyle/>
          <a:p>
            <a:pPr marL="0" indent="0">
              <a:buNone/>
            </a:pPr>
            <a:r>
              <a:rPr lang="en-US" sz="950" dirty="0">
                <a:solidFill>
                  <a:srgbClr val="777777"/>
                </a:solidFill>
                <a:latin typeface="Calibri" pitchFamily="34" charset="0"/>
                <a:ea typeface="Calibri" pitchFamily="34" charset="-122"/>
                <a:cs typeface="Calibri" pitchFamily="34" charset="-120"/>
              </a:rPr>
              <a:t>Comparison • Advantages • When to use each</a:t>
            </a:r>
            <a:endParaRPr lang="en-US" sz="950" dirty="0"/>
          </a:p>
        </p:txBody>
      </p:sp>
      <p:sp>
        <p:nvSpPr>
          <p:cNvPr id="31" name="Shape 28"/>
          <p:cNvSpPr/>
          <p:nvPr/>
        </p:nvSpPr>
        <p:spPr>
          <a:xfrm>
            <a:off x="4800600" y="2907792"/>
            <a:ext cx="4297680" cy="777240"/>
          </a:xfrm>
          <a:prstGeom prst="rect">
            <a:avLst/>
          </a:prstGeom>
          <a:solidFill>
            <a:srgbClr val="FFFFFF"/>
          </a:solidFill>
          <a:ln/>
          <a:effectLst>
            <a:outerShdw blurRad="101600" dist="38100" dir="8100000" algn="bl" rotWithShape="0">
              <a:srgbClr val="000000">
                <a:alpha val="18000"/>
              </a:srgbClr>
            </a:outerShdw>
          </a:effectLst>
        </p:spPr>
      </p:sp>
      <p:sp>
        <p:nvSpPr>
          <p:cNvPr id="32" name="Shape 29"/>
          <p:cNvSpPr/>
          <p:nvPr/>
        </p:nvSpPr>
        <p:spPr>
          <a:xfrm>
            <a:off x="4800600" y="2907792"/>
            <a:ext cx="658368" cy="777240"/>
          </a:xfrm>
          <a:prstGeom prst="rect">
            <a:avLst/>
          </a:prstGeom>
          <a:solidFill>
            <a:srgbClr val="1E1E1E"/>
          </a:solidFill>
          <a:ln/>
        </p:spPr>
      </p:sp>
      <p:sp>
        <p:nvSpPr>
          <p:cNvPr id="33" name="Text 30"/>
          <p:cNvSpPr/>
          <p:nvPr/>
        </p:nvSpPr>
        <p:spPr>
          <a:xfrm>
            <a:off x="4800600" y="3063240"/>
            <a:ext cx="658368"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06</a:t>
            </a:r>
            <a:endParaRPr lang="en-US" sz="1700" dirty="0"/>
          </a:p>
        </p:txBody>
      </p:sp>
      <p:sp>
        <p:nvSpPr>
          <p:cNvPr id="34" name="Text 31"/>
          <p:cNvSpPr/>
          <p:nvPr/>
        </p:nvSpPr>
        <p:spPr>
          <a:xfrm>
            <a:off x="5550408" y="2953512"/>
            <a:ext cx="3474720" cy="292608"/>
          </a:xfrm>
          <a:prstGeom prst="rect">
            <a:avLst/>
          </a:prstGeom>
          <a:noFill/>
          <a:ln/>
        </p:spPr>
        <p:txBody>
          <a:bodyPr wrap="square" lIns="0" tIns="0" rIns="0" bIns="0"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Exploratory &amp; Ad-hoc</a:t>
            </a:r>
            <a:endParaRPr lang="en-US" sz="1200" dirty="0"/>
          </a:p>
        </p:txBody>
      </p:sp>
      <p:sp>
        <p:nvSpPr>
          <p:cNvPr id="35" name="Text 32"/>
          <p:cNvSpPr/>
          <p:nvPr/>
        </p:nvSpPr>
        <p:spPr>
          <a:xfrm>
            <a:off x="5550408" y="3273552"/>
            <a:ext cx="3474720" cy="347472"/>
          </a:xfrm>
          <a:prstGeom prst="rect">
            <a:avLst/>
          </a:prstGeom>
          <a:noFill/>
          <a:ln/>
        </p:spPr>
        <p:txBody>
          <a:bodyPr wrap="square" lIns="0" tIns="0" rIns="0" bIns="0" rtlCol="0" anchor="ctr"/>
          <a:lstStyle/>
          <a:p>
            <a:pPr marL="0" indent="0">
              <a:buNone/>
            </a:pPr>
            <a:r>
              <a:rPr lang="en-US" sz="950" dirty="0">
                <a:solidFill>
                  <a:srgbClr val="777777"/>
                </a:solidFill>
                <a:latin typeface="Calibri" pitchFamily="34" charset="0"/>
                <a:ea typeface="Calibri" pitchFamily="34" charset="-122"/>
                <a:cs typeface="Calibri" pitchFamily="34" charset="-120"/>
              </a:rPr>
              <a:t>Definitions • Benefits • Use cases</a:t>
            </a:r>
            <a:endParaRPr lang="en-US" sz="950" dirty="0"/>
          </a:p>
        </p:txBody>
      </p:sp>
      <p:sp>
        <p:nvSpPr>
          <p:cNvPr id="36" name="Shape 33"/>
          <p:cNvSpPr/>
          <p:nvPr/>
        </p:nvSpPr>
        <p:spPr>
          <a:xfrm>
            <a:off x="274320" y="3803904"/>
            <a:ext cx="4297680" cy="777240"/>
          </a:xfrm>
          <a:prstGeom prst="rect">
            <a:avLst/>
          </a:prstGeom>
          <a:solidFill>
            <a:srgbClr val="FFFFFF"/>
          </a:solidFill>
          <a:ln/>
          <a:effectLst>
            <a:outerShdw blurRad="101600" dist="38100" dir="8100000" algn="bl" rotWithShape="0">
              <a:srgbClr val="000000">
                <a:alpha val="18000"/>
              </a:srgbClr>
            </a:outerShdw>
          </a:effectLst>
        </p:spPr>
      </p:sp>
      <p:sp>
        <p:nvSpPr>
          <p:cNvPr id="37" name="Shape 34"/>
          <p:cNvSpPr/>
          <p:nvPr/>
        </p:nvSpPr>
        <p:spPr>
          <a:xfrm>
            <a:off x="274320" y="3803904"/>
            <a:ext cx="658368" cy="777240"/>
          </a:xfrm>
          <a:prstGeom prst="rect">
            <a:avLst/>
          </a:prstGeom>
          <a:solidFill>
            <a:srgbClr val="E8670D"/>
          </a:solidFill>
          <a:ln/>
        </p:spPr>
      </p:sp>
      <p:sp>
        <p:nvSpPr>
          <p:cNvPr id="38" name="Text 35"/>
          <p:cNvSpPr/>
          <p:nvPr/>
        </p:nvSpPr>
        <p:spPr>
          <a:xfrm>
            <a:off x="274320" y="3959352"/>
            <a:ext cx="658368"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07</a:t>
            </a:r>
            <a:endParaRPr lang="en-US" sz="1700" dirty="0"/>
          </a:p>
        </p:txBody>
      </p:sp>
      <p:sp>
        <p:nvSpPr>
          <p:cNvPr id="39" name="Text 36"/>
          <p:cNvSpPr/>
          <p:nvPr/>
        </p:nvSpPr>
        <p:spPr>
          <a:xfrm>
            <a:off x="1024128" y="3849624"/>
            <a:ext cx="3474720" cy="292608"/>
          </a:xfrm>
          <a:prstGeom prst="rect">
            <a:avLst/>
          </a:prstGeom>
          <a:noFill/>
          <a:ln/>
        </p:spPr>
        <p:txBody>
          <a:bodyPr wrap="square" lIns="0" tIns="0" rIns="0" bIns="0"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Alpha &amp; Beta Testing</a:t>
            </a:r>
            <a:endParaRPr lang="en-US" sz="1200" dirty="0"/>
          </a:p>
        </p:txBody>
      </p:sp>
      <p:sp>
        <p:nvSpPr>
          <p:cNvPr id="40" name="Text 37"/>
          <p:cNvSpPr/>
          <p:nvPr/>
        </p:nvSpPr>
        <p:spPr>
          <a:xfrm>
            <a:off x="1024128" y="4169664"/>
            <a:ext cx="3474720" cy="347472"/>
          </a:xfrm>
          <a:prstGeom prst="rect">
            <a:avLst/>
          </a:prstGeom>
          <a:noFill/>
          <a:ln/>
        </p:spPr>
        <p:txBody>
          <a:bodyPr wrap="square" lIns="0" tIns="0" rIns="0" bIns="0" rtlCol="0" anchor="ctr"/>
          <a:lstStyle/>
          <a:p>
            <a:pPr marL="0" indent="0">
              <a:buNone/>
            </a:pPr>
            <a:r>
              <a:rPr lang="en-US" sz="950" dirty="0">
                <a:solidFill>
                  <a:srgbClr val="777777"/>
                </a:solidFill>
                <a:latin typeface="Calibri" pitchFamily="34" charset="0"/>
                <a:ea typeface="Calibri" pitchFamily="34" charset="-122"/>
                <a:cs typeface="Calibri" pitchFamily="34" charset="-120"/>
              </a:rPr>
              <a:t>Internal vs external • Real-world examples</a:t>
            </a:r>
            <a:endParaRPr lang="en-US" sz="950" dirty="0"/>
          </a:p>
        </p:txBody>
      </p:sp>
      <p:sp>
        <p:nvSpPr>
          <p:cNvPr id="41" name="Shape 38"/>
          <p:cNvSpPr/>
          <p:nvPr/>
        </p:nvSpPr>
        <p:spPr>
          <a:xfrm>
            <a:off x="4800600" y="3803904"/>
            <a:ext cx="4297680" cy="777240"/>
          </a:xfrm>
          <a:prstGeom prst="rect">
            <a:avLst/>
          </a:prstGeom>
          <a:solidFill>
            <a:srgbClr val="FFFFFF"/>
          </a:solidFill>
          <a:ln/>
          <a:effectLst>
            <a:outerShdw blurRad="101600" dist="38100" dir="8100000" algn="bl" rotWithShape="0">
              <a:srgbClr val="000000">
                <a:alpha val="18000"/>
              </a:srgbClr>
            </a:outerShdw>
          </a:effectLst>
        </p:spPr>
      </p:sp>
      <p:sp>
        <p:nvSpPr>
          <p:cNvPr id="42" name="Shape 39"/>
          <p:cNvSpPr/>
          <p:nvPr/>
        </p:nvSpPr>
        <p:spPr>
          <a:xfrm>
            <a:off x="4800600" y="3803904"/>
            <a:ext cx="658368" cy="777240"/>
          </a:xfrm>
          <a:prstGeom prst="rect">
            <a:avLst/>
          </a:prstGeom>
          <a:solidFill>
            <a:srgbClr val="1E1E1E"/>
          </a:solidFill>
          <a:ln/>
        </p:spPr>
      </p:sp>
      <p:sp>
        <p:nvSpPr>
          <p:cNvPr id="43" name="Text 40"/>
          <p:cNvSpPr/>
          <p:nvPr/>
        </p:nvSpPr>
        <p:spPr>
          <a:xfrm>
            <a:off x="4800600" y="3959352"/>
            <a:ext cx="658368"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08</a:t>
            </a:r>
            <a:endParaRPr lang="en-US" sz="1700" dirty="0"/>
          </a:p>
        </p:txBody>
      </p:sp>
      <p:sp>
        <p:nvSpPr>
          <p:cNvPr id="44" name="Text 41"/>
          <p:cNvSpPr/>
          <p:nvPr/>
        </p:nvSpPr>
        <p:spPr>
          <a:xfrm>
            <a:off x="5550408" y="3849624"/>
            <a:ext cx="3474720" cy="292608"/>
          </a:xfrm>
          <a:prstGeom prst="rect">
            <a:avLst/>
          </a:prstGeom>
          <a:noFill/>
          <a:ln/>
        </p:spPr>
        <p:txBody>
          <a:bodyPr wrap="square" lIns="0" tIns="0" rIns="0" bIns="0"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Test Automation in QA</a:t>
            </a:r>
            <a:endParaRPr lang="en-US" sz="1200" dirty="0"/>
          </a:p>
        </p:txBody>
      </p:sp>
      <p:sp>
        <p:nvSpPr>
          <p:cNvPr id="45" name="Text 42"/>
          <p:cNvSpPr/>
          <p:nvPr/>
        </p:nvSpPr>
        <p:spPr>
          <a:xfrm>
            <a:off x="5550408" y="4169664"/>
            <a:ext cx="3474720" cy="347472"/>
          </a:xfrm>
          <a:prstGeom prst="rect">
            <a:avLst/>
          </a:prstGeom>
          <a:noFill/>
          <a:ln/>
        </p:spPr>
        <p:txBody>
          <a:bodyPr wrap="square" lIns="0" tIns="0" rIns="0" bIns="0" rtlCol="0" anchor="ctr"/>
          <a:lstStyle/>
          <a:p>
            <a:pPr marL="0" indent="0">
              <a:buNone/>
            </a:pPr>
            <a:r>
              <a:rPr lang="en-US" sz="950" dirty="0">
                <a:solidFill>
                  <a:srgbClr val="777777"/>
                </a:solidFill>
                <a:latin typeface="Calibri" pitchFamily="34" charset="0"/>
                <a:ea typeface="Calibri" pitchFamily="34" charset="-122"/>
                <a:cs typeface="Calibri" pitchFamily="34" charset="-120"/>
              </a:rPr>
              <a:t>Selenium • Playwright • IntelliJ • Eclipse • Workflow</a:t>
            </a:r>
            <a:endParaRPr lang="en-US" sz="950" dirty="0"/>
          </a:p>
        </p:txBody>
      </p:sp>
      <p:sp>
        <p:nvSpPr>
          <p:cNvPr id="46" name="Shape 43"/>
          <p:cNvSpPr/>
          <p:nvPr/>
        </p:nvSpPr>
        <p:spPr>
          <a:xfrm>
            <a:off x="274320" y="4700016"/>
            <a:ext cx="4297680" cy="777240"/>
          </a:xfrm>
          <a:prstGeom prst="rect">
            <a:avLst/>
          </a:prstGeom>
          <a:solidFill>
            <a:srgbClr val="FFFFFF"/>
          </a:solidFill>
          <a:ln/>
          <a:effectLst>
            <a:outerShdw blurRad="101600" dist="38100" dir="8100000" algn="bl" rotWithShape="0">
              <a:srgbClr val="000000">
                <a:alpha val="18000"/>
              </a:srgbClr>
            </a:outerShdw>
          </a:effectLst>
        </p:spPr>
      </p:sp>
      <p:sp>
        <p:nvSpPr>
          <p:cNvPr id="47" name="Shape 44"/>
          <p:cNvSpPr/>
          <p:nvPr/>
        </p:nvSpPr>
        <p:spPr>
          <a:xfrm>
            <a:off x="274320" y="4700016"/>
            <a:ext cx="658368" cy="777240"/>
          </a:xfrm>
          <a:prstGeom prst="rect">
            <a:avLst/>
          </a:prstGeom>
          <a:solidFill>
            <a:srgbClr val="E8670D"/>
          </a:solidFill>
          <a:ln/>
        </p:spPr>
      </p:sp>
      <p:sp>
        <p:nvSpPr>
          <p:cNvPr id="48" name="Text 45"/>
          <p:cNvSpPr/>
          <p:nvPr/>
        </p:nvSpPr>
        <p:spPr>
          <a:xfrm>
            <a:off x="274320" y="4855464"/>
            <a:ext cx="658368"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09</a:t>
            </a:r>
            <a:endParaRPr lang="en-US" sz="1700" dirty="0"/>
          </a:p>
        </p:txBody>
      </p:sp>
      <p:sp>
        <p:nvSpPr>
          <p:cNvPr id="49" name="Text 46"/>
          <p:cNvSpPr/>
          <p:nvPr/>
        </p:nvSpPr>
        <p:spPr>
          <a:xfrm>
            <a:off x="1024128" y="4745736"/>
            <a:ext cx="3474720" cy="292608"/>
          </a:xfrm>
          <a:prstGeom prst="rect">
            <a:avLst/>
          </a:prstGeom>
          <a:noFill/>
          <a:ln/>
        </p:spPr>
        <p:txBody>
          <a:bodyPr wrap="square" lIns="0" tIns="0" rIns="0" bIns="0"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Real-World Workflow</a:t>
            </a:r>
            <a:endParaRPr lang="en-US" sz="1200" dirty="0"/>
          </a:p>
        </p:txBody>
      </p:sp>
      <p:sp>
        <p:nvSpPr>
          <p:cNvPr id="50" name="Text 47"/>
          <p:cNvSpPr/>
          <p:nvPr/>
        </p:nvSpPr>
        <p:spPr>
          <a:xfrm>
            <a:off x="1024128" y="5065776"/>
            <a:ext cx="3474720" cy="347472"/>
          </a:xfrm>
          <a:prstGeom prst="rect">
            <a:avLst/>
          </a:prstGeom>
          <a:noFill/>
          <a:ln/>
        </p:spPr>
        <p:txBody>
          <a:bodyPr wrap="square" lIns="0" tIns="0" rIns="0" bIns="0" rtlCol="0" anchor="ctr"/>
          <a:lstStyle/>
          <a:p>
            <a:pPr marL="0" indent="0">
              <a:buNone/>
            </a:pPr>
            <a:r>
              <a:rPr lang="en-US" sz="950" dirty="0">
                <a:solidFill>
                  <a:srgbClr val="777777"/>
                </a:solidFill>
                <a:latin typeface="Calibri" pitchFamily="34" charset="0"/>
                <a:ea typeface="Calibri" pitchFamily="34" charset="-122"/>
                <a:cs typeface="Calibri" pitchFamily="34" charset="-120"/>
              </a:rPr>
              <a:t>Multi-testing-type project walkthrough</a:t>
            </a:r>
            <a:endParaRPr lang="en-US" sz="950" dirty="0"/>
          </a:p>
        </p:txBody>
      </p:sp>
      <p:sp>
        <p:nvSpPr>
          <p:cNvPr id="51" name="Shape 48"/>
          <p:cNvSpPr/>
          <p:nvPr/>
        </p:nvSpPr>
        <p:spPr>
          <a:xfrm>
            <a:off x="4800600" y="4700016"/>
            <a:ext cx="4297680" cy="777240"/>
          </a:xfrm>
          <a:prstGeom prst="rect">
            <a:avLst/>
          </a:prstGeom>
          <a:solidFill>
            <a:srgbClr val="FFFFFF"/>
          </a:solidFill>
          <a:ln/>
          <a:effectLst>
            <a:outerShdw blurRad="101600" dist="38100" dir="8100000" algn="bl" rotWithShape="0">
              <a:srgbClr val="000000">
                <a:alpha val="18000"/>
              </a:srgbClr>
            </a:outerShdw>
          </a:effectLst>
        </p:spPr>
      </p:sp>
      <p:sp>
        <p:nvSpPr>
          <p:cNvPr id="52" name="Shape 49"/>
          <p:cNvSpPr/>
          <p:nvPr/>
        </p:nvSpPr>
        <p:spPr>
          <a:xfrm>
            <a:off x="4800600" y="4700016"/>
            <a:ext cx="658368" cy="777240"/>
          </a:xfrm>
          <a:prstGeom prst="rect">
            <a:avLst/>
          </a:prstGeom>
          <a:solidFill>
            <a:srgbClr val="1E1E1E"/>
          </a:solidFill>
          <a:ln/>
        </p:spPr>
      </p:sp>
      <p:sp>
        <p:nvSpPr>
          <p:cNvPr id="53" name="Text 50"/>
          <p:cNvSpPr/>
          <p:nvPr/>
        </p:nvSpPr>
        <p:spPr>
          <a:xfrm>
            <a:off x="4800600" y="4855464"/>
            <a:ext cx="658368" cy="45720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10</a:t>
            </a:r>
            <a:endParaRPr lang="en-US" sz="1700" dirty="0"/>
          </a:p>
        </p:txBody>
      </p:sp>
      <p:sp>
        <p:nvSpPr>
          <p:cNvPr id="54" name="Text 51"/>
          <p:cNvSpPr/>
          <p:nvPr/>
        </p:nvSpPr>
        <p:spPr>
          <a:xfrm>
            <a:off x="5550408" y="4745736"/>
            <a:ext cx="3474720" cy="292608"/>
          </a:xfrm>
          <a:prstGeom prst="rect">
            <a:avLst/>
          </a:prstGeom>
          <a:noFill/>
          <a:ln/>
        </p:spPr>
        <p:txBody>
          <a:bodyPr wrap="square" lIns="0" tIns="0" rIns="0" bIns="0"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Best Practices &amp; Summary</a:t>
            </a:r>
            <a:endParaRPr lang="en-US" sz="1200" dirty="0"/>
          </a:p>
        </p:txBody>
      </p:sp>
      <p:sp>
        <p:nvSpPr>
          <p:cNvPr id="55" name="Text 52"/>
          <p:cNvSpPr/>
          <p:nvPr/>
        </p:nvSpPr>
        <p:spPr>
          <a:xfrm>
            <a:off x="5550408" y="5065776"/>
            <a:ext cx="3474720" cy="347472"/>
          </a:xfrm>
          <a:prstGeom prst="rect">
            <a:avLst/>
          </a:prstGeom>
          <a:noFill/>
          <a:ln/>
        </p:spPr>
        <p:txBody>
          <a:bodyPr wrap="square" lIns="0" tIns="0" rIns="0" bIns="0" rtlCol="0" anchor="ctr"/>
          <a:lstStyle/>
          <a:p>
            <a:pPr marL="0" indent="0">
              <a:buNone/>
            </a:pPr>
            <a:r>
              <a:rPr lang="en-US" sz="950" dirty="0">
                <a:solidFill>
                  <a:srgbClr val="777777"/>
                </a:solidFill>
                <a:latin typeface="Calibri" pitchFamily="34" charset="0"/>
                <a:ea typeface="Calibri" pitchFamily="34" charset="-122"/>
                <a:cs typeface="Calibri" pitchFamily="34" charset="-120"/>
              </a:rPr>
              <a:t>Key principles • All types recap • Q&amp;A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5669280" y="91440"/>
            <a:ext cx="3200400" cy="4572000"/>
          </a:xfrm>
          <a:prstGeom prst="rect">
            <a:avLst/>
          </a:prstGeom>
          <a:noFill/>
          <a:ln/>
        </p:spPr>
        <p:txBody>
          <a:bodyPr wrap="square" lIns="0" tIns="0" rIns="0" bIns="0" rtlCol="0" anchor="ctr"/>
          <a:lstStyle/>
          <a:p>
            <a:pPr marL="0" indent="0" algn="r">
              <a:buNone/>
            </a:pPr>
            <a:r>
              <a:rPr lang="en-US" sz="22000" b="1" dirty="0">
                <a:solidFill>
                  <a:srgbClr val="1E1E1E"/>
                </a:solidFill>
                <a:latin typeface="Calibri" pitchFamily="34" charset="0"/>
                <a:ea typeface="Calibri" pitchFamily="34" charset="-122"/>
                <a:cs typeface="Calibri" pitchFamily="34" charset="-120"/>
              </a:rPr>
              <a:t>1</a:t>
            </a:r>
            <a:endParaRPr lang="en-US" sz="22000" dirty="0"/>
          </a:p>
        </p:txBody>
      </p:sp>
      <p:sp>
        <p:nvSpPr>
          <p:cNvPr id="5" name="Text 3"/>
          <p:cNvSpPr/>
          <p:nvPr/>
        </p:nvSpPr>
        <p:spPr>
          <a:xfrm>
            <a:off x="457200" y="1097280"/>
            <a:ext cx="3657600" cy="384048"/>
          </a:xfrm>
          <a:prstGeom prst="rect">
            <a:avLst/>
          </a:prstGeom>
          <a:noFill/>
          <a:ln/>
        </p:spPr>
        <p:txBody>
          <a:bodyPr wrap="square" rtlCol="0" anchor="ctr"/>
          <a:lstStyle/>
          <a:p>
            <a:pPr marL="0" indent="0">
              <a:buNone/>
            </a:pPr>
            <a:r>
              <a:rPr lang="en-US" sz="1200" b="1" kern="0" spc="500" dirty="0">
                <a:solidFill>
                  <a:srgbClr val="E8670D"/>
                </a:solidFill>
                <a:latin typeface="Calibri" pitchFamily="34" charset="0"/>
                <a:ea typeface="Calibri" pitchFamily="34" charset="-122"/>
                <a:cs typeface="Calibri" pitchFamily="34" charset="-120"/>
              </a:rPr>
              <a:t>SECTION</a:t>
            </a:r>
            <a:endParaRPr lang="en-US" sz="1200" dirty="0"/>
          </a:p>
        </p:txBody>
      </p:sp>
      <p:sp>
        <p:nvSpPr>
          <p:cNvPr id="6" name="Text 4"/>
          <p:cNvSpPr/>
          <p:nvPr/>
        </p:nvSpPr>
        <p:spPr>
          <a:xfrm>
            <a:off x="457200" y="1508760"/>
            <a:ext cx="1097280" cy="8686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1</a:t>
            </a:r>
            <a:endParaRPr lang="en-US" sz="5800" dirty="0"/>
          </a:p>
        </p:txBody>
      </p:sp>
      <p:sp>
        <p:nvSpPr>
          <p:cNvPr id="7" name="Shape 5"/>
          <p:cNvSpPr/>
          <p:nvPr/>
        </p:nvSpPr>
        <p:spPr>
          <a:xfrm>
            <a:off x="457200" y="2487168"/>
            <a:ext cx="5029200" cy="54864"/>
          </a:xfrm>
          <a:prstGeom prst="rect">
            <a:avLst/>
          </a:prstGeom>
          <a:solidFill>
            <a:srgbClr val="E8670D"/>
          </a:solidFill>
          <a:ln/>
        </p:spPr>
      </p:sp>
      <p:sp>
        <p:nvSpPr>
          <p:cNvPr id="8" name="Text 6"/>
          <p:cNvSpPr/>
          <p:nvPr/>
        </p:nvSpPr>
        <p:spPr>
          <a:xfrm>
            <a:off x="457200" y="2606040"/>
            <a:ext cx="8046720" cy="11887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Introduction to Software Testing</a:t>
            </a:r>
            <a:endParaRPr lang="en-US" sz="3000" dirty="0"/>
          </a:p>
        </p:txBody>
      </p:sp>
      <p:sp>
        <p:nvSpPr>
          <p:cNvPr id="9" name="Text 7"/>
          <p:cNvSpPr/>
          <p:nvPr/>
        </p:nvSpPr>
        <p:spPr>
          <a:xfrm>
            <a:off x="457200" y="3858768"/>
            <a:ext cx="7772400" cy="640080"/>
          </a:xfrm>
          <a:prstGeom prst="rect">
            <a:avLst/>
          </a:prstGeom>
          <a:noFill/>
          <a:ln/>
        </p:spPr>
        <p:txBody>
          <a:bodyPr wrap="square" rtlCol="0" anchor="ctr"/>
          <a:lstStyle/>
          <a:p>
            <a:pPr marL="0" indent="0">
              <a:buNone/>
            </a:pPr>
            <a:r>
              <a:rPr lang="en-US" sz="1300" dirty="0">
                <a:solidFill>
                  <a:srgbClr val="AAAAAA"/>
                </a:solidFill>
                <a:latin typeface="Calibri" pitchFamily="34" charset="0"/>
                <a:ea typeface="Calibri" pitchFamily="34" charset="-122"/>
                <a:cs typeface="Calibri" pitchFamily="34" charset="-120"/>
              </a:rPr>
              <a:t>What testing is, why it matters, and where it fits in the delivery lifecycle</a:t>
            </a:r>
            <a:endParaRPr lang="en-US" sz="1300" dirty="0"/>
          </a:p>
        </p:txBody>
      </p:sp>
      <p:pic>
        <p:nvPicPr>
          <p:cNvPr id="10" name="Image 0" descr="preencoded.png"/>
          <p:cNvPicPr>
            <a:picLocks noChangeAspect="1"/>
          </p:cNvPicPr>
          <p:nvPr/>
        </p:nvPicPr>
        <p:blipFill>
          <a:blip r:embed="rId3"/>
          <a:stretch>
            <a:fillRect/>
          </a:stretch>
        </p:blipFill>
        <p:spPr>
          <a:xfrm>
            <a:off x="7132320" y="457200"/>
            <a:ext cx="1371600" cy="1371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Software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The formal discipline that ensures software meets its intended purpose</a:t>
            </a:r>
            <a:endParaRPr lang="en-US" sz="1100" dirty="0"/>
          </a:p>
        </p:txBody>
      </p:sp>
      <p:sp>
        <p:nvSpPr>
          <p:cNvPr id="6" name="Shape 3"/>
          <p:cNvSpPr/>
          <p:nvPr/>
        </p:nvSpPr>
        <p:spPr>
          <a:xfrm>
            <a:off x="274320" y="960120"/>
            <a:ext cx="8595360" cy="749808"/>
          </a:xfrm>
          <a:prstGeom prst="rect">
            <a:avLst/>
          </a:prstGeom>
          <a:solidFill>
            <a:srgbClr val="E8670D"/>
          </a:solidFill>
          <a:ln/>
          <a:effectLst>
            <a:outerShdw blurRad="101600" dist="38100" dir="8100000" algn="bl" rotWithShape="0">
              <a:srgbClr val="000000">
                <a:alpha val="18000"/>
              </a:srgbClr>
            </a:outerShdw>
          </a:effectLst>
        </p:spPr>
      </p:sp>
      <p:sp>
        <p:nvSpPr>
          <p:cNvPr id="7" name="Text 4"/>
          <p:cNvSpPr/>
          <p:nvPr/>
        </p:nvSpPr>
        <p:spPr>
          <a:xfrm>
            <a:off x="384048" y="1014984"/>
            <a:ext cx="8375904" cy="64008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Software Testing is the systematic process of executing a software system or component to EVALUATE whether it behaves as expected, meets specified requirements, and is free from defects. It answers three core questions: Does it DO what it should? Does it NOT do what it shouldn't? Is it good enough to release?</a:t>
            </a:r>
            <a:endParaRPr lang="en-US" sz="1200" dirty="0"/>
          </a:p>
        </p:txBody>
      </p:sp>
      <p:sp>
        <p:nvSpPr>
          <p:cNvPr id="8" name="Shape 5"/>
          <p:cNvSpPr/>
          <p:nvPr/>
        </p:nvSpPr>
        <p:spPr>
          <a:xfrm>
            <a:off x="274320" y="1874520"/>
            <a:ext cx="4206240" cy="2999232"/>
          </a:xfrm>
          <a:prstGeom prst="rect">
            <a:avLst/>
          </a:prstGeom>
          <a:solidFill>
            <a:srgbClr val="FFFFFF"/>
          </a:solidFill>
          <a:ln/>
          <a:effectLst>
            <a:outerShdw blurRad="101600" dist="38100" dir="8100000" algn="bl" rotWithShape="0">
              <a:srgbClr val="000000">
                <a:alpha val="18000"/>
              </a:srgbClr>
            </a:outerShdw>
          </a:effectLst>
        </p:spPr>
      </p:sp>
      <p:sp>
        <p:nvSpPr>
          <p:cNvPr id="9" name="Shape 6"/>
          <p:cNvSpPr/>
          <p:nvPr/>
        </p:nvSpPr>
        <p:spPr>
          <a:xfrm>
            <a:off x="274320" y="1874520"/>
            <a:ext cx="4206240" cy="347472"/>
          </a:xfrm>
          <a:prstGeom prst="rect">
            <a:avLst/>
          </a:prstGeom>
          <a:solidFill>
            <a:srgbClr val="E8670D"/>
          </a:solidFill>
          <a:ln/>
        </p:spPr>
      </p:sp>
      <p:sp>
        <p:nvSpPr>
          <p:cNvPr id="10" name="Text 7"/>
          <p:cNvSpPr/>
          <p:nvPr/>
        </p:nvSpPr>
        <p:spPr>
          <a:xfrm>
            <a:off x="365760" y="192024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Goals of Software Testing</a:t>
            </a:r>
            <a:endParaRPr lang="en-US" sz="1100" dirty="0"/>
          </a:p>
        </p:txBody>
      </p:sp>
      <p:sp>
        <p:nvSpPr>
          <p:cNvPr id="11" name="Text 8"/>
          <p:cNvSpPr/>
          <p:nvPr/>
        </p:nvSpPr>
        <p:spPr>
          <a:xfrm>
            <a:off x="384048" y="2276856"/>
            <a:ext cx="3986784" cy="2523744"/>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Quality — verify the software meets functional requirements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Reliability — ensure consistent, repeatable behaviour</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Performance — confirm the system handles expected load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Security — protect against vulnerabilities and breaches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Usability — validate the experience for the end user</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Compliance — meet industry standards and regulations</a:t>
            </a:r>
            <a:endParaRPr lang="en-US" sz="1050" dirty="0"/>
          </a:p>
        </p:txBody>
      </p:sp>
      <p:sp>
        <p:nvSpPr>
          <p:cNvPr id="12" name="Shape 9"/>
          <p:cNvSpPr/>
          <p:nvPr/>
        </p:nvSpPr>
        <p:spPr>
          <a:xfrm>
            <a:off x="4663440" y="1874520"/>
            <a:ext cx="4206240" cy="2999232"/>
          </a:xfrm>
          <a:prstGeom prst="rect">
            <a:avLst/>
          </a:prstGeom>
          <a:solidFill>
            <a:srgbClr val="FFFFFF"/>
          </a:solidFill>
          <a:ln/>
          <a:effectLst>
            <a:outerShdw blurRad="101600" dist="38100" dir="8100000" algn="bl" rotWithShape="0">
              <a:srgbClr val="000000">
                <a:alpha val="18000"/>
              </a:srgbClr>
            </a:outerShdw>
          </a:effectLst>
        </p:spPr>
      </p:sp>
      <p:sp>
        <p:nvSpPr>
          <p:cNvPr id="13" name="Shape 10"/>
          <p:cNvSpPr/>
          <p:nvPr/>
        </p:nvSpPr>
        <p:spPr>
          <a:xfrm>
            <a:off x="4663440" y="1874520"/>
            <a:ext cx="4206240" cy="347472"/>
          </a:xfrm>
          <a:prstGeom prst="rect">
            <a:avLst/>
          </a:prstGeom>
          <a:solidFill>
            <a:srgbClr val="1E1E1E"/>
          </a:solidFill>
          <a:ln/>
        </p:spPr>
      </p:sp>
      <p:sp>
        <p:nvSpPr>
          <p:cNvPr id="14" name="Text 11"/>
          <p:cNvSpPr/>
          <p:nvPr/>
        </p:nvSpPr>
        <p:spPr>
          <a:xfrm>
            <a:off x="4754880" y="192024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What Happens Without Testing</a:t>
            </a:r>
            <a:endParaRPr lang="en-US" sz="1100" dirty="0"/>
          </a:p>
        </p:txBody>
      </p:sp>
      <p:sp>
        <p:nvSpPr>
          <p:cNvPr id="15" name="Text 12"/>
          <p:cNvSpPr/>
          <p:nvPr/>
        </p:nvSpPr>
        <p:spPr>
          <a:xfrm>
            <a:off x="4773168" y="2276856"/>
            <a:ext cx="3986784" cy="2523744"/>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Defects reach production — real users are affected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Security vulnerabilities expose sensitive user data</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System crashes under load lose revenue and trust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Regulatory fines for non-compliant software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Reputation damage — one viral bug can end a product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Cost of fixing production bugs is 100× more expensive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Where Testing Fits — SDLC &amp; STLC</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Testing is not a phase at the end — it runs throughout the entire delivery lifecycle</a:t>
            </a:r>
            <a:endParaRPr lang="en-US" sz="1100" dirty="0"/>
          </a:p>
        </p:txBody>
      </p:sp>
      <p:sp>
        <p:nvSpPr>
          <p:cNvPr id="6" name="Text 3"/>
          <p:cNvSpPr/>
          <p:nvPr/>
        </p:nvSpPr>
        <p:spPr>
          <a:xfrm>
            <a:off x="274320" y="960120"/>
            <a:ext cx="8595360" cy="274320"/>
          </a:xfrm>
          <a:prstGeom prst="rect">
            <a:avLst/>
          </a:prstGeom>
          <a:noFill/>
          <a:ln/>
        </p:spPr>
        <p:txBody>
          <a:bodyPr wrap="square" rtlCol="0" anchor="ctr"/>
          <a:lstStyle/>
          <a:p>
            <a:pPr marL="0" indent="0">
              <a:buNone/>
            </a:pPr>
            <a:r>
              <a:rPr lang="en-US" sz="1100" b="1" kern="0" spc="150" dirty="0">
                <a:solidFill>
                  <a:srgbClr val="E8670D"/>
                </a:solidFill>
                <a:latin typeface="Calibri" pitchFamily="34" charset="0"/>
                <a:ea typeface="Calibri" pitchFamily="34" charset="-122"/>
                <a:cs typeface="Calibri" pitchFamily="34" charset="-120"/>
              </a:rPr>
              <a:t>SDLC — Software Development Life Cycle</a:t>
            </a:r>
            <a:endParaRPr lang="en-US" sz="1100" dirty="0"/>
          </a:p>
        </p:txBody>
      </p:sp>
      <p:sp>
        <p:nvSpPr>
          <p:cNvPr id="7" name="Shape 4"/>
          <p:cNvSpPr/>
          <p:nvPr/>
        </p:nvSpPr>
        <p:spPr>
          <a:xfrm>
            <a:off x="274320" y="1298448"/>
            <a:ext cx="1371600" cy="502920"/>
          </a:xfrm>
          <a:prstGeom prst="rect">
            <a:avLst/>
          </a:prstGeom>
          <a:solidFill>
            <a:srgbClr val="1E1E1E"/>
          </a:solidFill>
          <a:ln/>
          <a:effectLst>
            <a:outerShdw blurRad="101600" dist="38100" dir="8100000" algn="bl" rotWithShape="0">
              <a:srgbClr val="000000">
                <a:alpha val="18000"/>
              </a:srgbClr>
            </a:outerShdw>
          </a:effectLst>
        </p:spPr>
      </p:sp>
      <p:sp>
        <p:nvSpPr>
          <p:cNvPr id="8" name="Text 5"/>
          <p:cNvSpPr/>
          <p:nvPr/>
        </p:nvSpPr>
        <p:spPr>
          <a:xfrm>
            <a:off x="274320" y="1353312"/>
            <a:ext cx="137160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Requirements</a:t>
            </a:r>
            <a:endParaRPr lang="en-US" sz="950" dirty="0"/>
          </a:p>
        </p:txBody>
      </p:sp>
      <p:sp>
        <p:nvSpPr>
          <p:cNvPr id="9" name="Text 6"/>
          <p:cNvSpPr/>
          <p:nvPr/>
        </p:nvSpPr>
        <p:spPr>
          <a:xfrm>
            <a:off x="1664208" y="1389888"/>
            <a:ext cx="109728" cy="347472"/>
          </a:xfrm>
          <a:prstGeom prst="rect">
            <a:avLst/>
          </a:prstGeom>
          <a:noFill/>
          <a:ln/>
        </p:spPr>
        <p:txBody>
          <a:bodyPr wrap="square" rtlCol="0" anchor="ctr"/>
          <a:lstStyle/>
          <a:p>
            <a:pPr marL="0" indent="0" algn="ctr">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10" name="Shape 7"/>
          <p:cNvSpPr/>
          <p:nvPr/>
        </p:nvSpPr>
        <p:spPr>
          <a:xfrm>
            <a:off x="329184" y="1847088"/>
            <a:ext cx="1280160" cy="54864"/>
          </a:xfrm>
          <a:prstGeom prst="rect">
            <a:avLst/>
          </a:prstGeom>
          <a:solidFill>
            <a:srgbClr val="CCCCCC"/>
          </a:solidFill>
          <a:ln/>
        </p:spPr>
      </p:sp>
      <p:sp>
        <p:nvSpPr>
          <p:cNvPr id="11" name="Text 8"/>
          <p:cNvSpPr/>
          <p:nvPr/>
        </p:nvSpPr>
        <p:spPr>
          <a:xfrm>
            <a:off x="310896" y="1938528"/>
            <a:ext cx="1325880" cy="658368"/>
          </a:xfrm>
          <a:prstGeom prst="rect">
            <a:avLst/>
          </a:prstGeom>
          <a:noFill/>
          <a:ln/>
        </p:spPr>
        <p:txBody>
          <a:bodyPr wrap="square"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Review requirements for testability</a:t>
            </a:r>
            <a:endParaRPr lang="en-US" sz="850" dirty="0"/>
          </a:p>
        </p:txBody>
      </p:sp>
      <p:sp>
        <p:nvSpPr>
          <p:cNvPr id="12" name="Shape 9"/>
          <p:cNvSpPr/>
          <p:nvPr/>
        </p:nvSpPr>
        <p:spPr>
          <a:xfrm>
            <a:off x="1755648" y="1298448"/>
            <a:ext cx="1371600" cy="502920"/>
          </a:xfrm>
          <a:prstGeom prst="rect">
            <a:avLst/>
          </a:prstGeom>
          <a:solidFill>
            <a:srgbClr val="1E1E1E"/>
          </a:solidFill>
          <a:ln/>
          <a:effectLst>
            <a:outerShdw blurRad="101600" dist="38100" dir="8100000" algn="bl" rotWithShape="0">
              <a:srgbClr val="000000">
                <a:alpha val="18000"/>
              </a:srgbClr>
            </a:outerShdw>
          </a:effectLst>
        </p:spPr>
      </p:sp>
      <p:sp>
        <p:nvSpPr>
          <p:cNvPr id="13" name="Text 10"/>
          <p:cNvSpPr/>
          <p:nvPr/>
        </p:nvSpPr>
        <p:spPr>
          <a:xfrm>
            <a:off x="1755648" y="1353312"/>
            <a:ext cx="137160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Design</a:t>
            </a:r>
            <a:endParaRPr lang="en-US" sz="950" dirty="0"/>
          </a:p>
        </p:txBody>
      </p:sp>
      <p:sp>
        <p:nvSpPr>
          <p:cNvPr id="14" name="Text 11"/>
          <p:cNvSpPr/>
          <p:nvPr/>
        </p:nvSpPr>
        <p:spPr>
          <a:xfrm>
            <a:off x="3145536" y="1389888"/>
            <a:ext cx="109728" cy="347472"/>
          </a:xfrm>
          <a:prstGeom prst="rect">
            <a:avLst/>
          </a:prstGeom>
          <a:noFill/>
          <a:ln/>
        </p:spPr>
        <p:txBody>
          <a:bodyPr wrap="square" rtlCol="0" anchor="ctr"/>
          <a:lstStyle/>
          <a:p>
            <a:pPr marL="0" indent="0" algn="ctr">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15" name="Shape 12"/>
          <p:cNvSpPr/>
          <p:nvPr/>
        </p:nvSpPr>
        <p:spPr>
          <a:xfrm>
            <a:off x="1810512" y="1847088"/>
            <a:ext cx="1280160" cy="54864"/>
          </a:xfrm>
          <a:prstGeom prst="rect">
            <a:avLst/>
          </a:prstGeom>
          <a:solidFill>
            <a:srgbClr val="CCCCCC"/>
          </a:solidFill>
          <a:ln/>
        </p:spPr>
      </p:sp>
      <p:sp>
        <p:nvSpPr>
          <p:cNvPr id="16" name="Text 13"/>
          <p:cNvSpPr/>
          <p:nvPr/>
        </p:nvSpPr>
        <p:spPr>
          <a:xfrm>
            <a:off x="1792224" y="1938528"/>
            <a:ext cx="1325880" cy="658368"/>
          </a:xfrm>
          <a:prstGeom prst="rect">
            <a:avLst/>
          </a:prstGeom>
          <a:noFill/>
          <a:ln/>
        </p:spPr>
        <p:txBody>
          <a:bodyPr wrap="square"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Create Test Plan</a:t>
            </a:r>
            <a:endParaRPr lang="en-US" sz="850" dirty="0"/>
          </a:p>
        </p:txBody>
      </p:sp>
      <p:sp>
        <p:nvSpPr>
          <p:cNvPr id="17" name="Shape 14"/>
          <p:cNvSpPr/>
          <p:nvPr/>
        </p:nvSpPr>
        <p:spPr>
          <a:xfrm>
            <a:off x="3236976" y="1298448"/>
            <a:ext cx="1371600" cy="502920"/>
          </a:xfrm>
          <a:prstGeom prst="rect">
            <a:avLst/>
          </a:prstGeom>
          <a:solidFill>
            <a:srgbClr val="1E1E1E"/>
          </a:solidFill>
          <a:ln/>
          <a:effectLst>
            <a:outerShdw blurRad="101600" dist="38100" dir="8100000" algn="bl" rotWithShape="0">
              <a:srgbClr val="000000">
                <a:alpha val="18000"/>
              </a:srgbClr>
            </a:outerShdw>
          </a:effectLst>
        </p:spPr>
      </p:sp>
      <p:sp>
        <p:nvSpPr>
          <p:cNvPr id="18" name="Text 15"/>
          <p:cNvSpPr/>
          <p:nvPr/>
        </p:nvSpPr>
        <p:spPr>
          <a:xfrm>
            <a:off x="3236976" y="1353312"/>
            <a:ext cx="137160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Development</a:t>
            </a:r>
            <a:endParaRPr lang="en-US" sz="950" dirty="0"/>
          </a:p>
        </p:txBody>
      </p:sp>
      <p:sp>
        <p:nvSpPr>
          <p:cNvPr id="19" name="Text 16"/>
          <p:cNvSpPr/>
          <p:nvPr/>
        </p:nvSpPr>
        <p:spPr>
          <a:xfrm>
            <a:off x="4626864" y="1389888"/>
            <a:ext cx="109728" cy="347472"/>
          </a:xfrm>
          <a:prstGeom prst="rect">
            <a:avLst/>
          </a:prstGeom>
          <a:noFill/>
          <a:ln/>
        </p:spPr>
        <p:txBody>
          <a:bodyPr wrap="square" rtlCol="0" anchor="ctr"/>
          <a:lstStyle/>
          <a:p>
            <a:pPr marL="0" indent="0" algn="ctr">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20" name="Shape 17"/>
          <p:cNvSpPr/>
          <p:nvPr/>
        </p:nvSpPr>
        <p:spPr>
          <a:xfrm>
            <a:off x="3291840" y="1847088"/>
            <a:ext cx="1280160" cy="54864"/>
          </a:xfrm>
          <a:prstGeom prst="rect">
            <a:avLst/>
          </a:prstGeom>
          <a:solidFill>
            <a:srgbClr val="CCCCCC"/>
          </a:solidFill>
          <a:ln/>
        </p:spPr>
      </p:sp>
      <p:sp>
        <p:nvSpPr>
          <p:cNvPr id="21" name="Text 18"/>
          <p:cNvSpPr/>
          <p:nvPr/>
        </p:nvSpPr>
        <p:spPr>
          <a:xfrm>
            <a:off x="3273552" y="1938528"/>
            <a:ext cx="1325880" cy="658368"/>
          </a:xfrm>
          <a:prstGeom prst="rect">
            <a:avLst/>
          </a:prstGeom>
          <a:noFill/>
          <a:ln/>
        </p:spPr>
        <p:txBody>
          <a:bodyPr wrap="square"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Write test cases</a:t>
            </a:r>
            <a:endParaRPr lang="en-US" sz="850" dirty="0"/>
          </a:p>
        </p:txBody>
      </p:sp>
      <p:sp>
        <p:nvSpPr>
          <p:cNvPr id="22" name="Shape 19"/>
          <p:cNvSpPr/>
          <p:nvPr/>
        </p:nvSpPr>
        <p:spPr>
          <a:xfrm>
            <a:off x="4718304" y="1298448"/>
            <a:ext cx="1371600" cy="502920"/>
          </a:xfrm>
          <a:prstGeom prst="rect">
            <a:avLst/>
          </a:prstGeom>
          <a:solidFill>
            <a:srgbClr val="E8670D"/>
          </a:solidFill>
          <a:ln/>
          <a:effectLst>
            <a:outerShdw blurRad="101600" dist="38100" dir="8100000" algn="bl" rotWithShape="0">
              <a:srgbClr val="000000">
                <a:alpha val="18000"/>
              </a:srgbClr>
            </a:outerShdw>
          </a:effectLst>
        </p:spPr>
      </p:sp>
      <p:sp>
        <p:nvSpPr>
          <p:cNvPr id="23" name="Text 20"/>
          <p:cNvSpPr/>
          <p:nvPr/>
        </p:nvSpPr>
        <p:spPr>
          <a:xfrm>
            <a:off x="4718304" y="1353312"/>
            <a:ext cx="137160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Testing</a:t>
            </a:r>
            <a:endParaRPr lang="en-US" sz="950" dirty="0"/>
          </a:p>
        </p:txBody>
      </p:sp>
      <p:sp>
        <p:nvSpPr>
          <p:cNvPr id="24" name="Text 21"/>
          <p:cNvSpPr/>
          <p:nvPr/>
        </p:nvSpPr>
        <p:spPr>
          <a:xfrm>
            <a:off x="6108192" y="1389888"/>
            <a:ext cx="109728" cy="347472"/>
          </a:xfrm>
          <a:prstGeom prst="rect">
            <a:avLst/>
          </a:prstGeom>
          <a:noFill/>
          <a:ln/>
        </p:spPr>
        <p:txBody>
          <a:bodyPr wrap="square" rtlCol="0" anchor="ctr"/>
          <a:lstStyle/>
          <a:p>
            <a:pPr marL="0" indent="0" algn="ctr">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25" name="Shape 22"/>
          <p:cNvSpPr/>
          <p:nvPr/>
        </p:nvSpPr>
        <p:spPr>
          <a:xfrm>
            <a:off x="4773168" y="1847088"/>
            <a:ext cx="1280160" cy="54864"/>
          </a:xfrm>
          <a:prstGeom prst="rect">
            <a:avLst/>
          </a:prstGeom>
          <a:solidFill>
            <a:srgbClr val="E8670D"/>
          </a:solidFill>
          <a:ln/>
        </p:spPr>
      </p:sp>
      <p:sp>
        <p:nvSpPr>
          <p:cNvPr id="26" name="Text 23"/>
          <p:cNvSpPr/>
          <p:nvPr/>
        </p:nvSpPr>
        <p:spPr>
          <a:xfrm>
            <a:off x="4754880" y="1938528"/>
            <a:ext cx="1325880" cy="658368"/>
          </a:xfrm>
          <a:prstGeom prst="rect">
            <a:avLst/>
          </a:prstGeom>
          <a:noFill/>
          <a:ln/>
        </p:spPr>
        <p:txBody>
          <a:bodyPr wrap="square"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Execute all test types</a:t>
            </a:r>
            <a:endParaRPr lang="en-US" sz="850" dirty="0"/>
          </a:p>
        </p:txBody>
      </p:sp>
      <p:sp>
        <p:nvSpPr>
          <p:cNvPr id="27" name="Shape 24"/>
          <p:cNvSpPr/>
          <p:nvPr/>
        </p:nvSpPr>
        <p:spPr>
          <a:xfrm>
            <a:off x="6199632" y="1298448"/>
            <a:ext cx="1371600" cy="502920"/>
          </a:xfrm>
          <a:prstGeom prst="rect">
            <a:avLst/>
          </a:prstGeom>
          <a:solidFill>
            <a:srgbClr val="1E1E1E"/>
          </a:solidFill>
          <a:ln/>
          <a:effectLst>
            <a:outerShdw blurRad="101600" dist="38100" dir="8100000" algn="bl" rotWithShape="0">
              <a:srgbClr val="000000">
                <a:alpha val="18000"/>
              </a:srgbClr>
            </a:outerShdw>
          </a:effectLst>
        </p:spPr>
      </p:sp>
      <p:sp>
        <p:nvSpPr>
          <p:cNvPr id="28" name="Text 25"/>
          <p:cNvSpPr/>
          <p:nvPr/>
        </p:nvSpPr>
        <p:spPr>
          <a:xfrm>
            <a:off x="6199632" y="1353312"/>
            <a:ext cx="137160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Deployment</a:t>
            </a:r>
            <a:endParaRPr lang="en-US" sz="950" dirty="0"/>
          </a:p>
        </p:txBody>
      </p:sp>
      <p:sp>
        <p:nvSpPr>
          <p:cNvPr id="29" name="Text 26"/>
          <p:cNvSpPr/>
          <p:nvPr/>
        </p:nvSpPr>
        <p:spPr>
          <a:xfrm>
            <a:off x="7589520" y="1389888"/>
            <a:ext cx="109728" cy="347472"/>
          </a:xfrm>
          <a:prstGeom prst="rect">
            <a:avLst/>
          </a:prstGeom>
          <a:noFill/>
          <a:ln/>
        </p:spPr>
        <p:txBody>
          <a:bodyPr wrap="square" rtlCol="0" anchor="ctr"/>
          <a:lstStyle/>
          <a:p>
            <a:pPr marL="0" indent="0" algn="ctr">
              <a:buNone/>
            </a:pPr>
            <a:r>
              <a:rPr lang="en-US" sz="1400" dirty="0">
                <a:solidFill>
                  <a:srgbClr val="E8670D"/>
                </a:solidFill>
                <a:latin typeface="Calibri" pitchFamily="34" charset="0"/>
                <a:ea typeface="Calibri" pitchFamily="34" charset="-122"/>
                <a:cs typeface="Calibri" pitchFamily="34" charset="-120"/>
              </a:rPr>
              <a:t>→</a:t>
            </a:r>
            <a:endParaRPr lang="en-US" sz="1400" dirty="0"/>
          </a:p>
        </p:txBody>
      </p:sp>
      <p:sp>
        <p:nvSpPr>
          <p:cNvPr id="30" name="Shape 27"/>
          <p:cNvSpPr/>
          <p:nvPr/>
        </p:nvSpPr>
        <p:spPr>
          <a:xfrm>
            <a:off x="6254496" y="1847088"/>
            <a:ext cx="1280160" cy="54864"/>
          </a:xfrm>
          <a:prstGeom prst="rect">
            <a:avLst/>
          </a:prstGeom>
          <a:solidFill>
            <a:srgbClr val="CCCCCC"/>
          </a:solidFill>
          <a:ln/>
        </p:spPr>
      </p:sp>
      <p:sp>
        <p:nvSpPr>
          <p:cNvPr id="31" name="Text 28"/>
          <p:cNvSpPr/>
          <p:nvPr/>
        </p:nvSpPr>
        <p:spPr>
          <a:xfrm>
            <a:off x="6236208" y="1938528"/>
            <a:ext cx="1325880" cy="658368"/>
          </a:xfrm>
          <a:prstGeom prst="rect">
            <a:avLst/>
          </a:prstGeom>
          <a:noFill/>
          <a:ln/>
        </p:spPr>
        <p:txBody>
          <a:bodyPr wrap="square"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Smoke test post-deploy</a:t>
            </a:r>
            <a:endParaRPr lang="en-US" sz="850" dirty="0"/>
          </a:p>
        </p:txBody>
      </p:sp>
      <p:sp>
        <p:nvSpPr>
          <p:cNvPr id="32" name="Shape 29"/>
          <p:cNvSpPr/>
          <p:nvPr/>
        </p:nvSpPr>
        <p:spPr>
          <a:xfrm>
            <a:off x="7680960" y="1298448"/>
            <a:ext cx="1371600" cy="502920"/>
          </a:xfrm>
          <a:prstGeom prst="rect">
            <a:avLst/>
          </a:prstGeom>
          <a:solidFill>
            <a:srgbClr val="1E1E1E"/>
          </a:solidFill>
          <a:ln/>
          <a:effectLst>
            <a:outerShdw blurRad="101600" dist="38100" dir="8100000" algn="bl" rotWithShape="0">
              <a:srgbClr val="000000">
                <a:alpha val="18000"/>
              </a:srgbClr>
            </a:outerShdw>
          </a:effectLst>
        </p:spPr>
      </p:sp>
      <p:sp>
        <p:nvSpPr>
          <p:cNvPr id="33" name="Text 30"/>
          <p:cNvSpPr/>
          <p:nvPr/>
        </p:nvSpPr>
        <p:spPr>
          <a:xfrm>
            <a:off x="7680960" y="1353312"/>
            <a:ext cx="137160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Maintenance</a:t>
            </a:r>
            <a:endParaRPr lang="en-US" sz="950" dirty="0"/>
          </a:p>
        </p:txBody>
      </p:sp>
      <p:sp>
        <p:nvSpPr>
          <p:cNvPr id="34" name="Shape 31"/>
          <p:cNvSpPr/>
          <p:nvPr/>
        </p:nvSpPr>
        <p:spPr>
          <a:xfrm>
            <a:off x="7735824" y="1847088"/>
            <a:ext cx="1280160" cy="54864"/>
          </a:xfrm>
          <a:prstGeom prst="rect">
            <a:avLst/>
          </a:prstGeom>
          <a:solidFill>
            <a:srgbClr val="CCCCCC"/>
          </a:solidFill>
          <a:ln/>
        </p:spPr>
      </p:sp>
      <p:sp>
        <p:nvSpPr>
          <p:cNvPr id="35" name="Text 32"/>
          <p:cNvSpPr/>
          <p:nvPr/>
        </p:nvSpPr>
        <p:spPr>
          <a:xfrm>
            <a:off x="7717536" y="1938528"/>
            <a:ext cx="1325880" cy="658368"/>
          </a:xfrm>
          <a:prstGeom prst="rect">
            <a:avLst/>
          </a:prstGeom>
          <a:noFill/>
          <a:ln/>
        </p:spPr>
        <p:txBody>
          <a:bodyPr wrap="square"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Monitor &amp; regression test</a:t>
            </a:r>
            <a:endParaRPr lang="en-US" sz="850" dirty="0"/>
          </a:p>
        </p:txBody>
      </p:sp>
      <p:sp>
        <p:nvSpPr>
          <p:cNvPr id="36" name="Text 33"/>
          <p:cNvSpPr/>
          <p:nvPr/>
        </p:nvSpPr>
        <p:spPr>
          <a:xfrm>
            <a:off x="274320" y="1792224"/>
            <a:ext cx="3657600" cy="182880"/>
          </a:xfrm>
          <a:prstGeom prst="rect">
            <a:avLst/>
          </a:prstGeom>
          <a:noFill/>
          <a:ln/>
        </p:spPr>
        <p:txBody>
          <a:bodyPr wrap="square" rtlCol="0" anchor="ctr"/>
          <a:lstStyle/>
          <a:p>
            <a:pPr marL="0" indent="0">
              <a:buNone/>
            </a:pPr>
            <a:r>
              <a:rPr lang="en-US" sz="750" b="1" kern="0" spc="150" dirty="0">
                <a:solidFill>
                  <a:srgbClr val="777777"/>
                </a:solidFill>
                <a:latin typeface="Calibri" pitchFamily="34" charset="0"/>
                <a:ea typeface="Calibri" pitchFamily="34" charset="-122"/>
                <a:cs typeface="Calibri" pitchFamily="34" charset="-120"/>
              </a:rPr>
              <a:t>QA ACTIVITIES AT EACH PHASE</a:t>
            </a:r>
            <a:endParaRPr lang="en-US" sz="750" dirty="0"/>
          </a:p>
        </p:txBody>
      </p:sp>
      <p:sp>
        <p:nvSpPr>
          <p:cNvPr id="37" name="Shape 34"/>
          <p:cNvSpPr/>
          <p:nvPr/>
        </p:nvSpPr>
        <p:spPr>
          <a:xfrm>
            <a:off x="274320" y="2670048"/>
            <a:ext cx="8595360" cy="475488"/>
          </a:xfrm>
          <a:prstGeom prst="rect">
            <a:avLst/>
          </a:prstGeom>
          <a:solidFill>
            <a:srgbClr val="E8670D"/>
          </a:solidFill>
          <a:ln/>
          <a:effectLst>
            <a:outerShdw blurRad="101600" dist="38100" dir="8100000" algn="bl" rotWithShape="0">
              <a:srgbClr val="000000">
                <a:alpha val="18000"/>
              </a:srgbClr>
            </a:outerShdw>
          </a:effectLst>
        </p:spPr>
      </p:sp>
      <p:sp>
        <p:nvSpPr>
          <p:cNvPr id="38" name="Text 35"/>
          <p:cNvSpPr/>
          <p:nvPr/>
        </p:nvSpPr>
        <p:spPr>
          <a:xfrm>
            <a:off x="457200" y="2724912"/>
            <a:ext cx="822960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Shift-Left Testing: Modern QA starts in the Requirements phase — not after coding. Finding a defect in requirements costs 1× to fix. Finding it in production costs 100×.</a:t>
            </a:r>
            <a:endParaRPr lang="en-US" sz="1200" dirty="0"/>
          </a:p>
        </p:txBody>
      </p:sp>
      <p:sp>
        <p:nvSpPr>
          <p:cNvPr id="39" name="Text 36"/>
          <p:cNvSpPr/>
          <p:nvPr/>
        </p:nvSpPr>
        <p:spPr>
          <a:xfrm>
            <a:off x="274320" y="3246120"/>
            <a:ext cx="5486400" cy="256032"/>
          </a:xfrm>
          <a:prstGeom prst="rect">
            <a:avLst/>
          </a:prstGeom>
          <a:noFill/>
          <a:ln/>
        </p:spPr>
        <p:txBody>
          <a:bodyPr wrap="square" rtlCol="0" anchor="ctr"/>
          <a:lstStyle/>
          <a:p>
            <a:pPr marL="0" indent="0">
              <a:buNone/>
            </a:pPr>
            <a:r>
              <a:rPr lang="en-US" sz="1000" b="1" kern="0" spc="100" dirty="0">
                <a:solidFill>
                  <a:srgbClr val="1E1E1E"/>
                </a:solidFill>
                <a:latin typeface="Calibri" pitchFamily="34" charset="0"/>
                <a:ea typeface="Calibri" pitchFamily="34" charset="-122"/>
                <a:cs typeface="Calibri" pitchFamily="34" charset="-120"/>
              </a:rPr>
              <a:t>TESTING TYPES THAT APPLY PER PHASE</a:t>
            </a:r>
            <a:endParaRPr lang="en-US" sz="1000" dirty="0"/>
          </a:p>
        </p:txBody>
      </p:sp>
      <p:sp>
        <p:nvSpPr>
          <p:cNvPr id="40" name="Shape 37"/>
          <p:cNvSpPr/>
          <p:nvPr/>
        </p:nvSpPr>
        <p:spPr>
          <a:xfrm>
            <a:off x="274320" y="3566160"/>
            <a:ext cx="8595360" cy="256032"/>
          </a:xfrm>
          <a:prstGeom prst="rect">
            <a:avLst/>
          </a:prstGeom>
          <a:solidFill>
            <a:srgbClr val="FFF5EE"/>
          </a:solidFill>
          <a:ln w="6350">
            <a:solidFill>
              <a:srgbClr val="DDCCBB"/>
            </a:solidFill>
            <a:prstDash val="solid"/>
          </a:ln>
        </p:spPr>
      </p:sp>
      <p:sp>
        <p:nvSpPr>
          <p:cNvPr id="41" name="Shape 38"/>
          <p:cNvSpPr/>
          <p:nvPr/>
        </p:nvSpPr>
        <p:spPr>
          <a:xfrm>
            <a:off x="274320" y="3566160"/>
            <a:ext cx="73152" cy="256032"/>
          </a:xfrm>
          <a:prstGeom prst="rect">
            <a:avLst/>
          </a:prstGeom>
          <a:solidFill>
            <a:srgbClr val="555555"/>
          </a:solidFill>
          <a:ln/>
        </p:spPr>
      </p:sp>
      <p:sp>
        <p:nvSpPr>
          <p:cNvPr id="42" name="Text 39"/>
          <p:cNvSpPr/>
          <p:nvPr/>
        </p:nvSpPr>
        <p:spPr>
          <a:xfrm>
            <a:off x="402336" y="3602736"/>
            <a:ext cx="1371600" cy="182880"/>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Requirements:</a:t>
            </a:r>
            <a:endParaRPr lang="en-US" sz="950" dirty="0"/>
          </a:p>
        </p:txBody>
      </p:sp>
      <p:sp>
        <p:nvSpPr>
          <p:cNvPr id="43" name="Text 40"/>
          <p:cNvSpPr/>
          <p:nvPr/>
        </p:nvSpPr>
        <p:spPr>
          <a:xfrm>
            <a:off x="1828800" y="3602736"/>
            <a:ext cx="694944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Requirement review, RTM, UAT planning</a:t>
            </a:r>
            <a:endParaRPr lang="en-US" sz="950" dirty="0"/>
          </a:p>
        </p:txBody>
      </p:sp>
      <p:sp>
        <p:nvSpPr>
          <p:cNvPr id="44" name="Shape 41"/>
          <p:cNvSpPr/>
          <p:nvPr/>
        </p:nvSpPr>
        <p:spPr>
          <a:xfrm>
            <a:off x="274320" y="3858768"/>
            <a:ext cx="8595360" cy="256032"/>
          </a:xfrm>
          <a:prstGeom prst="rect">
            <a:avLst/>
          </a:prstGeom>
          <a:solidFill>
            <a:srgbClr val="FFFFFF"/>
          </a:solidFill>
          <a:ln w="6350">
            <a:solidFill>
              <a:srgbClr val="DDCCBB"/>
            </a:solidFill>
            <a:prstDash val="solid"/>
          </a:ln>
        </p:spPr>
      </p:sp>
      <p:sp>
        <p:nvSpPr>
          <p:cNvPr id="45" name="Shape 42"/>
          <p:cNvSpPr/>
          <p:nvPr/>
        </p:nvSpPr>
        <p:spPr>
          <a:xfrm>
            <a:off x="274320" y="3858768"/>
            <a:ext cx="73152" cy="256032"/>
          </a:xfrm>
          <a:prstGeom prst="rect">
            <a:avLst/>
          </a:prstGeom>
          <a:solidFill>
            <a:srgbClr val="1E1E1E"/>
          </a:solidFill>
          <a:ln/>
        </p:spPr>
      </p:sp>
      <p:sp>
        <p:nvSpPr>
          <p:cNvPr id="46" name="Text 43"/>
          <p:cNvSpPr/>
          <p:nvPr/>
        </p:nvSpPr>
        <p:spPr>
          <a:xfrm>
            <a:off x="402336" y="3895344"/>
            <a:ext cx="1371600" cy="182880"/>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Development:</a:t>
            </a:r>
            <a:endParaRPr lang="en-US" sz="950" dirty="0"/>
          </a:p>
        </p:txBody>
      </p:sp>
      <p:sp>
        <p:nvSpPr>
          <p:cNvPr id="47" name="Text 44"/>
          <p:cNvSpPr/>
          <p:nvPr/>
        </p:nvSpPr>
        <p:spPr>
          <a:xfrm>
            <a:off x="1828800" y="3895344"/>
            <a:ext cx="694944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Unit Testing, Code review, Static analysis</a:t>
            </a:r>
            <a:endParaRPr lang="en-US" sz="950" dirty="0"/>
          </a:p>
        </p:txBody>
      </p:sp>
      <p:sp>
        <p:nvSpPr>
          <p:cNvPr id="48" name="Shape 45"/>
          <p:cNvSpPr/>
          <p:nvPr/>
        </p:nvSpPr>
        <p:spPr>
          <a:xfrm>
            <a:off x="274320" y="4151376"/>
            <a:ext cx="8595360" cy="256032"/>
          </a:xfrm>
          <a:prstGeom prst="rect">
            <a:avLst/>
          </a:prstGeom>
          <a:solidFill>
            <a:srgbClr val="FFF5EE"/>
          </a:solidFill>
          <a:ln w="6350">
            <a:solidFill>
              <a:srgbClr val="DDCCBB"/>
            </a:solidFill>
            <a:prstDash val="solid"/>
          </a:ln>
        </p:spPr>
      </p:sp>
      <p:sp>
        <p:nvSpPr>
          <p:cNvPr id="49" name="Shape 46"/>
          <p:cNvSpPr/>
          <p:nvPr/>
        </p:nvSpPr>
        <p:spPr>
          <a:xfrm>
            <a:off x="274320" y="4151376"/>
            <a:ext cx="73152" cy="256032"/>
          </a:xfrm>
          <a:prstGeom prst="rect">
            <a:avLst/>
          </a:prstGeom>
          <a:solidFill>
            <a:srgbClr val="E8670D"/>
          </a:solidFill>
          <a:ln/>
        </p:spPr>
      </p:sp>
      <p:sp>
        <p:nvSpPr>
          <p:cNvPr id="50" name="Text 47"/>
          <p:cNvSpPr/>
          <p:nvPr/>
        </p:nvSpPr>
        <p:spPr>
          <a:xfrm>
            <a:off x="402336" y="4187952"/>
            <a:ext cx="1371600" cy="182880"/>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Testing:</a:t>
            </a:r>
            <a:endParaRPr lang="en-US" sz="950" dirty="0"/>
          </a:p>
        </p:txBody>
      </p:sp>
      <p:sp>
        <p:nvSpPr>
          <p:cNvPr id="51" name="Text 48"/>
          <p:cNvSpPr/>
          <p:nvPr/>
        </p:nvSpPr>
        <p:spPr>
          <a:xfrm>
            <a:off x="1828800" y="4187952"/>
            <a:ext cx="694944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Integration, System, Performance, Security, Regression, UAT</a:t>
            </a:r>
            <a:endParaRPr lang="en-US" sz="950" dirty="0"/>
          </a:p>
        </p:txBody>
      </p:sp>
      <p:sp>
        <p:nvSpPr>
          <p:cNvPr id="52" name="Shape 49"/>
          <p:cNvSpPr/>
          <p:nvPr/>
        </p:nvSpPr>
        <p:spPr>
          <a:xfrm>
            <a:off x="274320" y="4443984"/>
            <a:ext cx="8595360" cy="256032"/>
          </a:xfrm>
          <a:prstGeom prst="rect">
            <a:avLst/>
          </a:prstGeom>
          <a:solidFill>
            <a:srgbClr val="FFFFFF"/>
          </a:solidFill>
          <a:ln w="6350">
            <a:solidFill>
              <a:srgbClr val="DDCCBB"/>
            </a:solidFill>
            <a:prstDash val="solid"/>
          </a:ln>
        </p:spPr>
      </p:sp>
      <p:sp>
        <p:nvSpPr>
          <p:cNvPr id="53" name="Shape 50"/>
          <p:cNvSpPr/>
          <p:nvPr/>
        </p:nvSpPr>
        <p:spPr>
          <a:xfrm>
            <a:off x="274320" y="4443984"/>
            <a:ext cx="73152" cy="256032"/>
          </a:xfrm>
          <a:prstGeom prst="rect">
            <a:avLst/>
          </a:prstGeom>
          <a:solidFill>
            <a:srgbClr val="1E1E1E"/>
          </a:solidFill>
          <a:ln/>
        </p:spPr>
      </p:sp>
      <p:sp>
        <p:nvSpPr>
          <p:cNvPr id="54" name="Text 51"/>
          <p:cNvSpPr/>
          <p:nvPr/>
        </p:nvSpPr>
        <p:spPr>
          <a:xfrm>
            <a:off x="402336" y="4480560"/>
            <a:ext cx="1371600" cy="182880"/>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Deployment:</a:t>
            </a:r>
            <a:endParaRPr lang="en-US" sz="950" dirty="0"/>
          </a:p>
        </p:txBody>
      </p:sp>
      <p:sp>
        <p:nvSpPr>
          <p:cNvPr id="55" name="Text 52"/>
          <p:cNvSpPr/>
          <p:nvPr/>
        </p:nvSpPr>
        <p:spPr>
          <a:xfrm>
            <a:off x="1828800" y="4480560"/>
            <a:ext cx="694944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Smoke Testing, Sanity Testing</a:t>
            </a:r>
            <a:endParaRPr lang="en-US" sz="950" dirty="0"/>
          </a:p>
        </p:txBody>
      </p:sp>
      <p:sp>
        <p:nvSpPr>
          <p:cNvPr id="56" name="Shape 53"/>
          <p:cNvSpPr/>
          <p:nvPr/>
        </p:nvSpPr>
        <p:spPr>
          <a:xfrm>
            <a:off x="274320" y="4736592"/>
            <a:ext cx="8595360" cy="256032"/>
          </a:xfrm>
          <a:prstGeom prst="rect">
            <a:avLst/>
          </a:prstGeom>
          <a:solidFill>
            <a:srgbClr val="FFF5EE"/>
          </a:solidFill>
          <a:ln w="6350">
            <a:solidFill>
              <a:srgbClr val="DDCCBB"/>
            </a:solidFill>
            <a:prstDash val="solid"/>
          </a:ln>
        </p:spPr>
      </p:sp>
      <p:sp>
        <p:nvSpPr>
          <p:cNvPr id="57" name="Shape 54"/>
          <p:cNvSpPr/>
          <p:nvPr/>
        </p:nvSpPr>
        <p:spPr>
          <a:xfrm>
            <a:off x="274320" y="4736592"/>
            <a:ext cx="73152" cy="256032"/>
          </a:xfrm>
          <a:prstGeom prst="rect">
            <a:avLst/>
          </a:prstGeom>
          <a:solidFill>
            <a:srgbClr val="555555"/>
          </a:solidFill>
          <a:ln/>
        </p:spPr>
      </p:sp>
      <p:sp>
        <p:nvSpPr>
          <p:cNvPr id="58" name="Text 55"/>
          <p:cNvSpPr/>
          <p:nvPr/>
        </p:nvSpPr>
        <p:spPr>
          <a:xfrm>
            <a:off x="402336" y="4773168"/>
            <a:ext cx="1371600" cy="182880"/>
          </a:xfrm>
          <a:prstGeom prst="rect">
            <a:avLst/>
          </a:prstGeom>
          <a:noFill/>
          <a:ln/>
        </p:spPr>
        <p:txBody>
          <a:bodyPr wrap="square" lIns="0" tIns="0" rIns="0" bIns="0" rtlCol="0" anchor="ctr"/>
          <a:lstStyle/>
          <a:p>
            <a:pPr marL="0" indent="0">
              <a:buNone/>
            </a:pPr>
            <a:r>
              <a:rPr lang="en-US" sz="950" b="1" dirty="0">
                <a:solidFill>
                  <a:srgbClr val="1E1E1E"/>
                </a:solidFill>
                <a:latin typeface="Calibri" pitchFamily="34" charset="0"/>
                <a:ea typeface="Calibri" pitchFamily="34" charset="-122"/>
                <a:cs typeface="Calibri" pitchFamily="34" charset="-120"/>
              </a:rPr>
              <a:t>Maintenance:</a:t>
            </a:r>
            <a:endParaRPr lang="en-US" sz="950" dirty="0"/>
          </a:p>
        </p:txBody>
      </p:sp>
      <p:sp>
        <p:nvSpPr>
          <p:cNvPr id="59" name="Text 56"/>
          <p:cNvSpPr/>
          <p:nvPr/>
        </p:nvSpPr>
        <p:spPr>
          <a:xfrm>
            <a:off x="1828800" y="4773168"/>
            <a:ext cx="694944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Regression, Monitoring, Ad-hoc, Exploratory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Overview of Testing Categories</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The complete landscape — every type of software testing at a glance</a:t>
            </a:r>
            <a:endParaRPr lang="en-US" sz="1100" dirty="0"/>
          </a:p>
        </p:txBody>
      </p:sp>
      <p:pic>
        <p:nvPicPr>
          <p:cNvPr id="5" name="Image 0" descr="preencoded.png"/>
          <p:cNvPicPr>
            <a:picLocks noChangeAspect="1"/>
          </p:cNvPicPr>
          <p:nvPr/>
        </p:nvPicPr>
        <p:blipFill>
          <a:blip r:embed="rId3"/>
          <a:stretch>
            <a:fillRect/>
          </a:stretch>
        </p:blipFill>
        <p:spPr>
          <a:xfrm>
            <a:off x="7818120" y="4663440"/>
            <a:ext cx="1207008" cy="347472"/>
          </a:xfrm>
          <a:prstGeom prst="rect">
            <a:avLst/>
          </a:prstGeom>
        </p:spPr>
      </p:pic>
      <p:sp>
        <p:nvSpPr>
          <p:cNvPr id="6" name="Shape 3"/>
          <p:cNvSpPr/>
          <p:nvPr/>
        </p:nvSpPr>
        <p:spPr>
          <a:xfrm>
            <a:off x="274320" y="987552"/>
            <a:ext cx="4279392" cy="1938528"/>
          </a:xfrm>
          <a:prstGeom prst="rect">
            <a:avLst/>
          </a:prstGeom>
          <a:solidFill>
            <a:srgbClr val="FFFFFF"/>
          </a:solidFill>
          <a:ln/>
          <a:effectLst>
            <a:outerShdw blurRad="101600" dist="38100" dir="8100000" algn="bl" rotWithShape="0">
              <a:srgbClr val="000000">
                <a:alpha val="18000"/>
              </a:srgbClr>
            </a:outerShdw>
          </a:effectLst>
        </p:spPr>
      </p:sp>
      <p:sp>
        <p:nvSpPr>
          <p:cNvPr id="7" name="Shape 4"/>
          <p:cNvSpPr/>
          <p:nvPr/>
        </p:nvSpPr>
        <p:spPr>
          <a:xfrm>
            <a:off x="274320" y="987552"/>
            <a:ext cx="4279392" cy="420624"/>
          </a:xfrm>
          <a:prstGeom prst="rect">
            <a:avLst/>
          </a:prstGeom>
          <a:solidFill>
            <a:srgbClr val="E8670D"/>
          </a:solidFill>
          <a:ln/>
        </p:spPr>
      </p:sp>
      <p:sp>
        <p:nvSpPr>
          <p:cNvPr id="8" name="Text 5"/>
          <p:cNvSpPr/>
          <p:nvPr/>
        </p:nvSpPr>
        <p:spPr>
          <a:xfrm>
            <a:off x="365760" y="1042416"/>
            <a:ext cx="411480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Functional Testing</a:t>
            </a:r>
            <a:endParaRPr lang="en-US" sz="1300" dirty="0"/>
          </a:p>
        </p:txBody>
      </p:sp>
      <p:sp>
        <p:nvSpPr>
          <p:cNvPr id="9" name="Text 6"/>
          <p:cNvSpPr/>
          <p:nvPr/>
        </p:nvSpPr>
        <p:spPr>
          <a:xfrm>
            <a:off x="384048" y="1463040"/>
            <a:ext cx="4059936" cy="1389888"/>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Unit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Integration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System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UAT</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Smoke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Sanity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Regression Testing</a:t>
            </a:r>
            <a:endParaRPr lang="en-US" sz="1000" dirty="0"/>
          </a:p>
        </p:txBody>
      </p:sp>
      <p:sp>
        <p:nvSpPr>
          <p:cNvPr id="10" name="Shape 7"/>
          <p:cNvSpPr/>
          <p:nvPr/>
        </p:nvSpPr>
        <p:spPr>
          <a:xfrm>
            <a:off x="4754880" y="987552"/>
            <a:ext cx="4279392" cy="1938528"/>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4754880" y="987552"/>
            <a:ext cx="4279392" cy="420624"/>
          </a:xfrm>
          <a:prstGeom prst="rect">
            <a:avLst/>
          </a:prstGeom>
          <a:solidFill>
            <a:srgbClr val="1E1E1E"/>
          </a:solidFill>
          <a:ln/>
        </p:spPr>
      </p:sp>
      <p:sp>
        <p:nvSpPr>
          <p:cNvPr id="12" name="Text 9"/>
          <p:cNvSpPr/>
          <p:nvPr/>
        </p:nvSpPr>
        <p:spPr>
          <a:xfrm>
            <a:off x="4846320" y="1042416"/>
            <a:ext cx="411480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Non-Functional Testing</a:t>
            </a:r>
            <a:endParaRPr lang="en-US" sz="1300" dirty="0"/>
          </a:p>
        </p:txBody>
      </p:sp>
      <p:sp>
        <p:nvSpPr>
          <p:cNvPr id="13" name="Text 10"/>
          <p:cNvSpPr/>
          <p:nvPr/>
        </p:nvSpPr>
        <p:spPr>
          <a:xfrm>
            <a:off x="4864608" y="1463040"/>
            <a:ext cx="4059936" cy="1389888"/>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Performance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Load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Stress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Security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Usability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Compatibility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Scalability Testing</a:t>
            </a:r>
            <a:endParaRPr lang="en-US" sz="1000" dirty="0"/>
          </a:p>
        </p:txBody>
      </p:sp>
      <p:sp>
        <p:nvSpPr>
          <p:cNvPr id="14" name="Shape 11"/>
          <p:cNvSpPr/>
          <p:nvPr/>
        </p:nvSpPr>
        <p:spPr>
          <a:xfrm>
            <a:off x="274320" y="3072384"/>
            <a:ext cx="4279392" cy="1938528"/>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274320" y="3072384"/>
            <a:ext cx="4279392" cy="420624"/>
          </a:xfrm>
          <a:prstGeom prst="rect">
            <a:avLst/>
          </a:prstGeom>
          <a:solidFill>
            <a:srgbClr val="555555"/>
          </a:solidFill>
          <a:ln/>
        </p:spPr>
      </p:sp>
      <p:sp>
        <p:nvSpPr>
          <p:cNvPr id="16" name="Text 13"/>
          <p:cNvSpPr/>
          <p:nvPr/>
        </p:nvSpPr>
        <p:spPr>
          <a:xfrm>
            <a:off x="365760" y="3127248"/>
            <a:ext cx="411480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Manual Testing</a:t>
            </a:r>
            <a:endParaRPr lang="en-US" sz="1300" dirty="0"/>
          </a:p>
        </p:txBody>
      </p:sp>
      <p:sp>
        <p:nvSpPr>
          <p:cNvPr id="17" name="Text 14"/>
          <p:cNvSpPr/>
          <p:nvPr/>
        </p:nvSpPr>
        <p:spPr>
          <a:xfrm>
            <a:off x="384048" y="3547872"/>
            <a:ext cx="4059936" cy="1389888"/>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Exploratory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Ad-hoc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UAT</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Usability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Alpha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Checklist-based</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Scenario Testing</a:t>
            </a:r>
            <a:endParaRPr lang="en-US" sz="1000" dirty="0"/>
          </a:p>
        </p:txBody>
      </p:sp>
      <p:sp>
        <p:nvSpPr>
          <p:cNvPr id="18" name="Shape 15"/>
          <p:cNvSpPr/>
          <p:nvPr/>
        </p:nvSpPr>
        <p:spPr>
          <a:xfrm>
            <a:off x="4754880" y="3072384"/>
            <a:ext cx="4279392" cy="1938528"/>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4754880" y="3072384"/>
            <a:ext cx="4279392" cy="420624"/>
          </a:xfrm>
          <a:prstGeom prst="rect">
            <a:avLst/>
          </a:prstGeom>
          <a:solidFill>
            <a:srgbClr val="2A2A2A"/>
          </a:solidFill>
          <a:ln/>
        </p:spPr>
      </p:sp>
      <p:sp>
        <p:nvSpPr>
          <p:cNvPr id="20" name="Text 17"/>
          <p:cNvSpPr/>
          <p:nvPr/>
        </p:nvSpPr>
        <p:spPr>
          <a:xfrm>
            <a:off x="4846320" y="3127248"/>
            <a:ext cx="4114800" cy="31089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Automated Testing</a:t>
            </a:r>
            <a:endParaRPr lang="en-US" sz="1300" dirty="0"/>
          </a:p>
        </p:txBody>
      </p:sp>
      <p:sp>
        <p:nvSpPr>
          <p:cNvPr id="21" name="Text 18"/>
          <p:cNvSpPr/>
          <p:nvPr/>
        </p:nvSpPr>
        <p:spPr>
          <a:xfrm>
            <a:off x="4864608" y="3547872"/>
            <a:ext cx="4059936" cy="1389888"/>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Unit Test Automation</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Regression Automation</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API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Performance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CI/CD Pipeline Tests</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Cross-browser Testing</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Data-Driven Testing</a:t>
            </a:r>
            <a:endParaRPr lang="en-US" sz="1000" dirty="0"/>
          </a:p>
        </p:txBody>
      </p:sp>
      <p:sp>
        <p:nvSpPr>
          <p:cNvPr id="22" name="Shape 19"/>
          <p:cNvSpPr/>
          <p:nvPr/>
        </p:nvSpPr>
        <p:spPr>
          <a:xfrm>
            <a:off x="274320" y="5138928"/>
            <a:ext cx="8595360" cy="164592"/>
          </a:xfrm>
          <a:prstGeom prst="rect">
            <a:avLst/>
          </a:prstGeom>
          <a:solidFill>
            <a:srgbClr val="111111"/>
          </a:solidFill>
          <a:ln/>
          <a:effectLst>
            <a:outerShdw blurRad="101600" dist="38100" dir="8100000" algn="bl" rotWithShape="0">
              <a:srgbClr val="000000">
                <a:alpha val="18000"/>
              </a:srgbClr>
            </a:outerShdw>
          </a:effectLst>
        </p:spPr>
      </p:sp>
      <p:sp>
        <p:nvSpPr>
          <p:cNvPr id="23" name="Text 20"/>
          <p:cNvSpPr/>
          <p:nvPr/>
        </p:nvSpPr>
        <p:spPr>
          <a:xfrm>
            <a:off x="384048" y="5193792"/>
            <a:ext cx="8375904" cy="54864"/>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  Key Insight: Most real projects use MULTIPLE testing types simultaneously. A single feature release may require unit, integration, system, regression, and smoke testing.</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5669280" y="91440"/>
            <a:ext cx="3200400" cy="4572000"/>
          </a:xfrm>
          <a:prstGeom prst="rect">
            <a:avLst/>
          </a:prstGeom>
          <a:noFill/>
          <a:ln/>
        </p:spPr>
        <p:txBody>
          <a:bodyPr wrap="square" lIns="0" tIns="0" rIns="0" bIns="0" rtlCol="0" anchor="ctr"/>
          <a:lstStyle/>
          <a:p>
            <a:pPr marL="0" indent="0" algn="r">
              <a:buNone/>
            </a:pPr>
            <a:r>
              <a:rPr lang="en-US" sz="22000" b="1" dirty="0">
                <a:solidFill>
                  <a:srgbClr val="1E1E1E"/>
                </a:solidFill>
                <a:latin typeface="Calibri" pitchFamily="34" charset="0"/>
                <a:ea typeface="Calibri" pitchFamily="34" charset="-122"/>
                <a:cs typeface="Calibri" pitchFamily="34" charset="-120"/>
              </a:rPr>
              <a:t>2</a:t>
            </a:r>
            <a:endParaRPr lang="en-US" sz="22000" dirty="0"/>
          </a:p>
        </p:txBody>
      </p:sp>
      <p:sp>
        <p:nvSpPr>
          <p:cNvPr id="5" name="Text 3"/>
          <p:cNvSpPr/>
          <p:nvPr/>
        </p:nvSpPr>
        <p:spPr>
          <a:xfrm>
            <a:off x="457200" y="1097280"/>
            <a:ext cx="3657600" cy="384048"/>
          </a:xfrm>
          <a:prstGeom prst="rect">
            <a:avLst/>
          </a:prstGeom>
          <a:noFill/>
          <a:ln/>
        </p:spPr>
        <p:txBody>
          <a:bodyPr wrap="square" rtlCol="0" anchor="ctr"/>
          <a:lstStyle/>
          <a:p>
            <a:pPr marL="0" indent="0">
              <a:buNone/>
            </a:pPr>
            <a:r>
              <a:rPr lang="en-US" sz="1200" b="1" kern="0" spc="500" dirty="0">
                <a:solidFill>
                  <a:srgbClr val="E8670D"/>
                </a:solidFill>
                <a:latin typeface="Calibri" pitchFamily="34" charset="0"/>
                <a:ea typeface="Calibri" pitchFamily="34" charset="-122"/>
                <a:cs typeface="Calibri" pitchFamily="34" charset="-120"/>
              </a:rPr>
              <a:t>SECTION</a:t>
            </a:r>
            <a:endParaRPr lang="en-US" sz="1200" dirty="0"/>
          </a:p>
        </p:txBody>
      </p:sp>
      <p:sp>
        <p:nvSpPr>
          <p:cNvPr id="6" name="Text 4"/>
          <p:cNvSpPr/>
          <p:nvPr/>
        </p:nvSpPr>
        <p:spPr>
          <a:xfrm>
            <a:off x="457200" y="1508760"/>
            <a:ext cx="1097280" cy="8686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2</a:t>
            </a:r>
            <a:endParaRPr lang="en-US" sz="5800" dirty="0"/>
          </a:p>
        </p:txBody>
      </p:sp>
      <p:sp>
        <p:nvSpPr>
          <p:cNvPr id="7" name="Shape 5"/>
          <p:cNvSpPr/>
          <p:nvPr/>
        </p:nvSpPr>
        <p:spPr>
          <a:xfrm>
            <a:off x="457200" y="2487168"/>
            <a:ext cx="5029200" cy="54864"/>
          </a:xfrm>
          <a:prstGeom prst="rect">
            <a:avLst/>
          </a:prstGeom>
          <a:solidFill>
            <a:srgbClr val="E8670D"/>
          </a:solidFill>
          <a:ln/>
        </p:spPr>
      </p:sp>
      <p:sp>
        <p:nvSpPr>
          <p:cNvPr id="8" name="Text 6"/>
          <p:cNvSpPr/>
          <p:nvPr/>
        </p:nvSpPr>
        <p:spPr>
          <a:xfrm>
            <a:off x="457200" y="2606040"/>
            <a:ext cx="8046720" cy="11887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Broad Categories of Testing</a:t>
            </a:r>
            <a:endParaRPr lang="en-US" sz="3000" dirty="0"/>
          </a:p>
        </p:txBody>
      </p:sp>
      <p:sp>
        <p:nvSpPr>
          <p:cNvPr id="9" name="Text 7"/>
          <p:cNvSpPr/>
          <p:nvPr/>
        </p:nvSpPr>
        <p:spPr>
          <a:xfrm>
            <a:off x="457200" y="3858768"/>
            <a:ext cx="7772400" cy="640080"/>
          </a:xfrm>
          <a:prstGeom prst="rect">
            <a:avLst/>
          </a:prstGeom>
          <a:noFill/>
          <a:ln/>
        </p:spPr>
        <p:txBody>
          <a:bodyPr wrap="square" rtlCol="0" anchor="ctr"/>
          <a:lstStyle/>
          <a:p>
            <a:pPr marL="0" indent="0">
              <a:buNone/>
            </a:pPr>
            <a:r>
              <a:rPr lang="en-US" sz="1300" dirty="0">
                <a:solidFill>
                  <a:srgbClr val="AAAAAA"/>
                </a:solidFill>
                <a:latin typeface="Calibri" pitchFamily="34" charset="0"/>
                <a:ea typeface="Calibri" pitchFamily="34" charset="-122"/>
                <a:cs typeface="Calibri" pitchFamily="34" charset="-120"/>
              </a:rPr>
              <a:t>Understanding the four fundamental ways to classify software testing</a:t>
            </a:r>
            <a:endParaRPr lang="en-US" sz="1300" dirty="0"/>
          </a:p>
        </p:txBody>
      </p:sp>
      <p:pic>
        <p:nvPicPr>
          <p:cNvPr id="10" name="Image 0" descr="preencoded.png"/>
          <p:cNvPicPr>
            <a:picLocks noChangeAspect="1"/>
          </p:cNvPicPr>
          <p:nvPr/>
        </p:nvPicPr>
        <p:blipFill>
          <a:blip r:embed="rId3"/>
          <a:stretch>
            <a:fillRect/>
          </a:stretch>
        </p:blipFill>
        <p:spPr>
          <a:xfrm>
            <a:off x="7132320" y="457200"/>
            <a:ext cx="1371600" cy="1371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Functional vs Non-Functional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The most fundamental split in all of software testing</a:t>
            </a:r>
            <a:endParaRPr lang="en-US" sz="1100" dirty="0"/>
          </a:p>
        </p:txBody>
      </p:sp>
      <p:sp>
        <p:nvSpPr>
          <p:cNvPr id="6" name="Shape 3"/>
          <p:cNvSpPr/>
          <p:nvPr/>
        </p:nvSpPr>
        <p:spPr>
          <a:xfrm>
            <a:off x="274320" y="960120"/>
            <a:ext cx="4206240" cy="384048"/>
          </a:xfrm>
          <a:prstGeom prst="rect">
            <a:avLst/>
          </a:prstGeom>
          <a:solidFill>
            <a:srgbClr val="E8670D"/>
          </a:solidFill>
          <a:ln/>
        </p:spPr>
      </p:sp>
      <p:sp>
        <p:nvSpPr>
          <p:cNvPr id="7" name="Text 4"/>
          <p:cNvSpPr/>
          <p:nvPr/>
        </p:nvSpPr>
        <p:spPr>
          <a:xfrm>
            <a:off x="274320" y="96012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Functional Testing — WHAT it does</a:t>
            </a:r>
            <a:endParaRPr lang="en-US" sz="1200" dirty="0"/>
          </a:p>
        </p:txBody>
      </p:sp>
      <p:sp>
        <p:nvSpPr>
          <p:cNvPr id="8" name="Shape 5"/>
          <p:cNvSpPr/>
          <p:nvPr/>
        </p:nvSpPr>
        <p:spPr>
          <a:xfrm>
            <a:off x="274320" y="1362456"/>
            <a:ext cx="4206240" cy="3602736"/>
          </a:xfrm>
          <a:prstGeom prst="rect">
            <a:avLst/>
          </a:prstGeom>
          <a:solidFill>
            <a:srgbClr val="FFFFFF"/>
          </a:solidFill>
          <a:ln/>
          <a:effectLst>
            <a:outerShdw blurRad="101600" dist="38100" dir="8100000" algn="bl" rotWithShape="0">
              <a:srgbClr val="000000">
                <a:alpha val="18000"/>
              </a:srgbClr>
            </a:outerShdw>
          </a:effectLst>
        </p:spPr>
      </p:sp>
      <p:sp>
        <p:nvSpPr>
          <p:cNvPr id="9" name="Text 6"/>
          <p:cNvSpPr/>
          <p:nvPr/>
        </p:nvSpPr>
        <p:spPr>
          <a:xfrm>
            <a:off x="384048" y="1435608"/>
            <a:ext cx="4005072" cy="34564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Tests whether specific FUNCTIONS of the software work as specified in requirements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Focuses on business logic, user actions, and expected outputs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Each test has a clear input, execution step, and expected output</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Pass/Fail is determined by functional requirements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Examples: Can the user log in? Does the cart calculate correctly?</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Types: Unit, Integration, System, UAT, Smoke, Sanity, Regression</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Performed by: QA engineers, developers (unit tests), business users (UAT)</a:t>
            </a:r>
            <a:endParaRPr lang="en-US" sz="1050" dirty="0"/>
          </a:p>
        </p:txBody>
      </p:sp>
      <p:sp>
        <p:nvSpPr>
          <p:cNvPr id="10" name="Shape 7"/>
          <p:cNvSpPr/>
          <p:nvPr/>
        </p:nvSpPr>
        <p:spPr>
          <a:xfrm>
            <a:off x="4663440" y="960120"/>
            <a:ext cx="4206240" cy="384048"/>
          </a:xfrm>
          <a:prstGeom prst="rect">
            <a:avLst/>
          </a:prstGeom>
          <a:solidFill>
            <a:srgbClr val="1E1E1E"/>
          </a:solidFill>
          <a:ln/>
        </p:spPr>
      </p:sp>
      <p:sp>
        <p:nvSpPr>
          <p:cNvPr id="11" name="Text 8"/>
          <p:cNvSpPr/>
          <p:nvPr/>
        </p:nvSpPr>
        <p:spPr>
          <a:xfrm>
            <a:off x="4663440" y="96012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Non-Functional Testing — HOW WELL it does it</a:t>
            </a:r>
            <a:endParaRPr lang="en-US" sz="1200" dirty="0"/>
          </a:p>
        </p:txBody>
      </p:sp>
      <p:sp>
        <p:nvSpPr>
          <p:cNvPr id="12" name="Shape 9"/>
          <p:cNvSpPr/>
          <p:nvPr/>
        </p:nvSpPr>
        <p:spPr>
          <a:xfrm>
            <a:off x="4663440" y="1362456"/>
            <a:ext cx="4206240" cy="3602736"/>
          </a:xfrm>
          <a:prstGeom prst="rect">
            <a:avLst/>
          </a:prstGeom>
          <a:solidFill>
            <a:srgbClr val="FFFFFF"/>
          </a:solidFill>
          <a:ln/>
          <a:effectLst>
            <a:outerShdw blurRad="101600" dist="38100" dir="8100000" algn="bl" rotWithShape="0">
              <a:srgbClr val="000000">
                <a:alpha val="18000"/>
              </a:srgbClr>
            </a:outerShdw>
          </a:effectLst>
        </p:spPr>
      </p:sp>
      <p:sp>
        <p:nvSpPr>
          <p:cNvPr id="13" name="Text 10"/>
          <p:cNvSpPr/>
          <p:nvPr/>
        </p:nvSpPr>
        <p:spPr>
          <a:xfrm>
            <a:off x="4773168" y="1435608"/>
            <a:ext cx="4005072" cy="34564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Tests the QUALITY ATTRIBUTES of the system, not specific functions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Focuses on performance, security, reliability, usability, and scalability</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Tests system behaviour under conditions rather than specific feature outcomes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Often requires specialised tools and expertise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Examples: Does it load in under 3 seconds? Can it handle 10,000 users?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Types: Performance, Load, Stress, Security, Usability, Compatibility</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Performed by: Specialised QA engineers, DevOps, security teams</a:t>
            </a:r>
            <a:endParaRPr lang="en-US" sz="1050" dirty="0"/>
          </a:p>
        </p:txBody>
      </p:sp>
      <p:sp>
        <p:nvSpPr>
          <p:cNvPr id="14" name="Shape 11"/>
          <p:cNvSpPr/>
          <p:nvPr/>
        </p:nvSpPr>
        <p:spPr>
          <a:xfrm>
            <a:off x="274320" y="5120640"/>
            <a:ext cx="8595360" cy="182880"/>
          </a:xfrm>
          <a:prstGeom prst="rect">
            <a:avLst/>
          </a:prstGeom>
          <a:solidFill>
            <a:srgbClr val="111111"/>
          </a:solidFill>
          <a:ln/>
          <a:effectLst>
            <a:outerShdw blurRad="101600" dist="38100" dir="8100000" algn="bl" rotWithShape="0">
              <a:srgbClr val="000000">
                <a:alpha val="18000"/>
              </a:srgbClr>
            </a:outerShdw>
          </a:effectLst>
        </p:spPr>
      </p:sp>
      <p:sp>
        <p:nvSpPr>
          <p:cNvPr id="15" name="Text 12"/>
          <p:cNvSpPr/>
          <p:nvPr/>
        </p:nvSpPr>
        <p:spPr>
          <a:xfrm>
            <a:off x="384048" y="5175504"/>
            <a:ext cx="8375904" cy="7315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  Analogy: Functional testing asks 'Does the car start and drive?' Non-functional testing asks 'How fast does it go? How safe is it? Is it fuel-efficient?'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Manual vs Automated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Two execution approaches — each with distinct strengths and purposes</a:t>
            </a:r>
            <a:endParaRPr lang="en-US" sz="1100" dirty="0"/>
          </a:p>
        </p:txBody>
      </p:sp>
      <p:sp>
        <p:nvSpPr>
          <p:cNvPr id="6" name="Shape 3"/>
          <p:cNvSpPr/>
          <p:nvPr/>
        </p:nvSpPr>
        <p:spPr>
          <a:xfrm>
            <a:off x="274320" y="960120"/>
            <a:ext cx="4206240" cy="384048"/>
          </a:xfrm>
          <a:prstGeom prst="rect">
            <a:avLst/>
          </a:prstGeom>
          <a:solidFill>
            <a:srgbClr val="E8670D"/>
          </a:solidFill>
          <a:ln/>
        </p:spPr>
      </p:sp>
      <p:sp>
        <p:nvSpPr>
          <p:cNvPr id="7" name="Text 4"/>
          <p:cNvSpPr/>
          <p:nvPr/>
        </p:nvSpPr>
        <p:spPr>
          <a:xfrm>
            <a:off x="274320" y="96012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Manual Testing</a:t>
            </a:r>
            <a:endParaRPr lang="en-US" sz="1200" dirty="0"/>
          </a:p>
        </p:txBody>
      </p:sp>
      <p:sp>
        <p:nvSpPr>
          <p:cNvPr id="8" name="Shape 5"/>
          <p:cNvSpPr/>
          <p:nvPr/>
        </p:nvSpPr>
        <p:spPr>
          <a:xfrm>
            <a:off x="274320" y="1362456"/>
            <a:ext cx="4206240" cy="3602736"/>
          </a:xfrm>
          <a:prstGeom prst="rect">
            <a:avLst/>
          </a:prstGeom>
          <a:solidFill>
            <a:srgbClr val="FFFFFF"/>
          </a:solidFill>
          <a:ln/>
          <a:effectLst>
            <a:outerShdw blurRad="101600" dist="38100" dir="8100000" algn="bl" rotWithShape="0">
              <a:srgbClr val="000000">
                <a:alpha val="18000"/>
              </a:srgbClr>
            </a:outerShdw>
          </a:effectLst>
        </p:spPr>
      </p:sp>
      <p:sp>
        <p:nvSpPr>
          <p:cNvPr id="9" name="Text 6"/>
          <p:cNvSpPr/>
          <p:nvPr/>
        </p:nvSpPr>
        <p:spPr>
          <a:xfrm>
            <a:off x="384048" y="1435608"/>
            <a:ext cx="4005072" cy="34564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A human tester executes test cases step by step without automation</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Relies on human observation, judgement, and experience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Excellent for exploratory, usability, and one-off tests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Flexible — can adapt test direction based on what is observed</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No scripting or programming skill required to execute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Slower at scale and prone to human inconsistency</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Best for: New features, UI/UX evaluation, edge case exploration</a:t>
            </a:r>
            <a:endParaRPr lang="en-US" sz="1050" dirty="0"/>
          </a:p>
        </p:txBody>
      </p:sp>
      <p:sp>
        <p:nvSpPr>
          <p:cNvPr id="10" name="Shape 7"/>
          <p:cNvSpPr/>
          <p:nvPr/>
        </p:nvSpPr>
        <p:spPr>
          <a:xfrm>
            <a:off x="4663440" y="960120"/>
            <a:ext cx="4206240" cy="384048"/>
          </a:xfrm>
          <a:prstGeom prst="rect">
            <a:avLst/>
          </a:prstGeom>
          <a:solidFill>
            <a:srgbClr val="1E1E1E"/>
          </a:solidFill>
          <a:ln/>
        </p:spPr>
      </p:sp>
      <p:sp>
        <p:nvSpPr>
          <p:cNvPr id="11" name="Text 8"/>
          <p:cNvSpPr/>
          <p:nvPr/>
        </p:nvSpPr>
        <p:spPr>
          <a:xfrm>
            <a:off x="4663440" y="96012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Automated Testing</a:t>
            </a:r>
            <a:endParaRPr lang="en-US" sz="1200" dirty="0"/>
          </a:p>
        </p:txBody>
      </p:sp>
      <p:sp>
        <p:nvSpPr>
          <p:cNvPr id="12" name="Shape 9"/>
          <p:cNvSpPr/>
          <p:nvPr/>
        </p:nvSpPr>
        <p:spPr>
          <a:xfrm>
            <a:off x="4663440" y="1362456"/>
            <a:ext cx="4206240" cy="3602736"/>
          </a:xfrm>
          <a:prstGeom prst="rect">
            <a:avLst/>
          </a:prstGeom>
          <a:solidFill>
            <a:srgbClr val="FFFFFF"/>
          </a:solidFill>
          <a:ln/>
          <a:effectLst>
            <a:outerShdw blurRad="101600" dist="38100" dir="8100000" algn="bl" rotWithShape="0">
              <a:srgbClr val="000000">
                <a:alpha val="18000"/>
              </a:srgbClr>
            </a:outerShdw>
          </a:effectLst>
        </p:spPr>
      </p:sp>
      <p:sp>
        <p:nvSpPr>
          <p:cNvPr id="13" name="Text 10"/>
          <p:cNvSpPr/>
          <p:nvPr/>
        </p:nvSpPr>
        <p:spPr>
          <a:xfrm>
            <a:off x="4773168" y="1435608"/>
            <a:ext cx="4005072" cy="34564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Software scripts execute test cases automatically without human interaction</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Scripts use frameworks like Selenium (Java/Eclipse/IntelliJ) or Playwright</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Extremely fast at scale — 1,000 tests in minutes vs days manually</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Consistent and repeatable — eliminates human error in execution</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Requires coding skill and ongoing script maintenance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Not suitable for subjective or exploratory test scenarios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Best for: Regression suites, CI/CD pipelines, repetitive flows</a:t>
            </a:r>
            <a:endParaRPr lang="en-US" sz="1050" dirty="0"/>
          </a:p>
        </p:txBody>
      </p:sp>
      <p:sp>
        <p:nvSpPr>
          <p:cNvPr id="14" name="Shape 11"/>
          <p:cNvSpPr/>
          <p:nvPr/>
        </p:nvSpPr>
        <p:spPr>
          <a:xfrm>
            <a:off x="274320" y="5120640"/>
            <a:ext cx="8595360" cy="182880"/>
          </a:xfrm>
          <a:prstGeom prst="rect">
            <a:avLst/>
          </a:prstGeom>
          <a:solidFill>
            <a:srgbClr val="111111"/>
          </a:solidFill>
          <a:ln/>
          <a:effectLst>
            <a:outerShdw blurRad="101600" dist="38100" dir="8100000" algn="bl" rotWithShape="0">
              <a:srgbClr val="000000">
                <a:alpha val="18000"/>
              </a:srgbClr>
            </a:outerShdw>
          </a:effectLst>
        </p:spPr>
      </p:sp>
      <p:sp>
        <p:nvSpPr>
          <p:cNvPr id="15" name="Text 12"/>
          <p:cNvSpPr/>
          <p:nvPr/>
        </p:nvSpPr>
        <p:spPr>
          <a:xfrm>
            <a:off x="384048" y="5175504"/>
            <a:ext cx="8375904" cy="7315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  Common Misconception: Automation does NOT replace manual testing. It AUGMENTS it. Every mature QA team uses both strategically.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5669280" y="91440"/>
            <a:ext cx="3200400" cy="4572000"/>
          </a:xfrm>
          <a:prstGeom prst="rect">
            <a:avLst/>
          </a:prstGeom>
          <a:noFill/>
          <a:ln/>
        </p:spPr>
        <p:txBody>
          <a:bodyPr wrap="square" lIns="0" tIns="0" rIns="0" bIns="0" rtlCol="0" anchor="ctr"/>
          <a:lstStyle/>
          <a:p>
            <a:pPr marL="0" indent="0" algn="r">
              <a:buNone/>
            </a:pPr>
            <a:r>
              <a:rPr lang="en-US" sz="22000" b="1" dirty="0">
                <a:solidFill>
                  <a:srgbClr val="1E1E1E"/>
                </a:solidFill>
                <a:latin typeface="Calibri" pitchFamily="34" charset="0"/>
                <a:ea typeface="Calibri" pitchFamily="34" charset="-122"/>
                <a:cs typeface="Calibri" pitchFamily="34" charset="-120"/>
              </a:rPr>
              <a:t>3</a:t>
            </a:r>
            <a:endParaRPr lang="en-US" sz="22000" dirty="0"/>
          </a:p>
        </p:txBody>
      </p:sp>
      <p:sp>
        <p:nvSpPr>
          <p:cNvPr id="5" name="Text 3"/>
          <p:cNvSpPr/>
          <p:nvPr/>
        </p:nvSpPr>
        <p:spPr>
          <a:xfrm>
            <a:off x="457200" y="1097280"/>
            <a:ext cx="3657600" cy="384048"/>
          </a:xfrm>
          <a:prstGeom prst="rect">
            <a:avLst/>
          </a:prstGeom>
          <a:noFill/>
          <a:ln/>
        </p:spPr>
        <p:txBody>
          <a:bodyPr wrap="square" rtlCol="0" anchor="ctr"/>
          <a:lstStyle/>
          <a:p>
            <a:pPr marL="0" indent="0">
              <a:buNone/>
            </a:pPr>
            <a:r>
              <a:rPr lang="en-US" sz="1200" b="1" kern="0" spc="500" dirty="0">
                <a:solidFill>
                  <a:srgbClr val="E8670D"/>
                </a:solidFill>
                <a:latin typeface="Calibri" pitchFamily="34" charset="0"/>
                <a:ea typeface="Calibri" pitchFamily="34" charset="-122"/>
                <a:cs typeface="Calibri" pitchFamily="34" charset="-120"/>
              </a:rPr>
              <a:t>SECTION</a:t>
            </a:r>
            <a:endParaRPr lang="en-US" sz="1200" dirty="0"/>
          </a:p>
        </p:txBody>
      </p:sp>
      <p:sp>
        <p:nvSpPr>
          <p:cNvPr id="6" name="Text 4"/>
          <p:cNvSpPr/>
          <p:nvPr/>
        </p:nvSpPr>
        <p:spPr>
          <a:xfrm>
            <a:off x="457200" y="1508760"/>
            <a:ext cx="1097280" cy="8686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3</a:t>
            </a:r>
            <a:endParaRPr lang="en-US" sz="5800" dirty="0"/>
          </a:p>
        </p:txBody>
      </p:sp>
      <p:sp>
        <p:nvSpPr>
          <p:cNvPr id="7" name="Shape 5"/>
          <p:cNvSpPr/>
          <p:nvPr/>
        </p:nvSpPr>
        <p:spPr>
          <a:xfrm>
            <a:off x="457200" y="2487168"/>
            <a:ext cx="5029200" cy="54864"/>
          </a:xfrm>
          <a:prstGeom prst="rect">
            <a:avLst/>
          </a:prstGeom>
          <a:solidFill>
            <a:srgbClr val="E8670D"/>
          </a:solidFill>
          <a:ln/>
        </p:spPr>
      </p:sp>
      <p:sp>
        <p:nvSpPr>
          <p:cNvPr id="8" name="Text 6"/>
          <p:cNvSpPr/>
          <p:nvPr/>
        </p:nvSpPr>
        <p:spPr>
          <a:xfrm>
            <a:off x="457200" y="2606040"/>
            <a:ext cx="8046720" cy="11887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Functional Testing Types</a:t>
            </a:r>
            <a:endParaRPr lang="en-US" sz="3000" dirty="0"/>
          </a:p>
        </p:txBody>
      </p:sp>
      <p:sp>
        <p:nvSpPr>
          <p:cNvPr id="9" name="Text 7"/>
          <p:cNvSpPr/>
          <p:nvPr/>
        </p:nvSpPr>
        <p:spPr>
          <a:xfrm>
            <a:off x="457200" y="3858768"/>
            <a:ext cx="7772400" cy="640080"/>
          </a:xfrm>
          <a:prstGeom prst="rect">
            <a:avLst/>
          </a:prstGeom>
          <a:noFill/>
          <a:ln/>
        </p:spPr>
        <p:txBody>
          <a:bodyPr wrap="square" rtlCol="0" anchor="ctr"/>
          <a:lstStyle/>
          <a:p>
            <a:pPr marL="0" indent="0">
              <a:buNone/>
            </a:pPr>
            <a:r>
              <a:rPr lang="en-US" sz="1300" dirty="0">
                <a:solidFill>
                  <a:srgbClr val="AAAAAA"/>
                </a:solidFill>
                <a:latin typeface="Calibri" pitchFamily="34" charset="0"/>
                <a:ea typeface="Calibri" pitchFamily="34" charset="-122"/>
                <a:cs typeface="Calibri" pitchFamily="34" charset="-120"/>
              </a:rPr>
              <a:t>Unit • Integration • System • UAT • Smoke • Sanity • Regression — in full detail</a:t>
            </a:r>
            <a:endParaRPr lang="en-US" sz="1300" dirty="0"/>
          </a:p>
        </p:txBody>
      </p:sp>
      <p:pic>
        <p:nvPicPr>
          <p:cNvPr id="10" name="Image 0" descr="preencoded.png"/>
          <p:cNvPicPr>
            <a:picLocks noChangeAspect="1"/>
          </p:cNvPicPr>
          <p:nvPr/>
        </p:nvPicPr>
        <p:blipFill>
          <a:blip r:embed="rId3"/>
          <a:stretch>
            <a:fillRect/>
          </a:stretch>
        </p:blipFill>
        <p:spPr>
          <a:xfrm>
            <a:off x="7132320" y="457200"/>
            <a:ext cx="1371600" cy="1371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Unit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Testing the smallest individual units of code in complete isolation</a:t>
            </a:r>
            <a:endParaRPr lang="en-US" sz="1100" dirty="0"/>
          </a:p>
        </p:txBody>
      </p:sp>
      <p:sp>
        <p:nvSpPr>
          <p:cNvPr id="6" name="Shape 3"/>
          <p:cNvSpPr/>
          <p:nvPr/>
        </p:nvSpPr>
        <p:spPr>
          <a:xfrm>
            <a:off x="7790688" y="658368"/>
            <a:ext cx="1298448" cy="347472"/>
          </a:xfrm>
          <a:prstGeom prst="rect">
            <a:avLst/>
          </a:prstGeom>
          <a:solidFill>
            <a:srgbClr val="E8670D"/>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Functional</a:t>
            </a:r>
            <a:endParaRPr lang="en-US" sz="800" dirty="0"/>
          </a:p>
        </p:txBody>
      </p:sp>
      <p:sp>
        <p:nvSpPr>
          <p:cNvPr id="8" name="Shape 5"/>
          <p:cNvSpPr/>
          <p:nvPr/>
        </p:nvSpPr>
        <p:spPr>
          <a:xfrm>
            <a:off x="274320" y="960120"/>
            <a:ext cx="8595360" cy="621792"/>
          </a:xfrm>
          <a:prstGeom prst="rect">
            <a:avLst/>
          </a:prstGeom>
          <a:solidFill>
            <a:srgbClr val="E8670D"/>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Unit Testing is the testing of a single, isolated unit of code — typically a function, method, or class — to verify it produces the correct output for a given input. Units are tested in complete isolation from dependencies (databases, APIs) using 'mocks' or 'stubs'.</a:t>
            </a:r>
            <a:endParaRPr lang="en-US" sz="1200" dirty="0"/>
          </a:p>
        </p:txBody>
      </p:sp>
      <p:sp>
        <p:nvSpPr>
          <p:cNvPr id="10" name="Shape 7"/>
          <p:cNvSpPr/>
          <p:nvPr/>
        </p:nvSpPr>
        <p:spPr>
          <a:xfrm>
            <a:off x="274320" y="1719072"/>
            <a:ext cx="4206240" cy="342900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19072"/>
            <a:ext cx="4206240" cy="347472"/>
          </a:xfrm>
          <a:prstGeom prst="rect">
            <a:avLst/>
          </a:prstGeom>
          <a:solidFill>
            <a:srgbClr val="E8670D"/>
          </a:solidFill>
          <a:ln/>
        </p:spPr>
      </p:sp>
      <p:sp>
        <p:nvSpPr>
          <p:cNvPr id="12" name="Text 9"/>
          <p:cNvSpPr/>
          <p:nvPr/>
        </p:nvSpPr>
        <p:spPr>
          <a:xfrm>
            <a:off x="365760" y="1764792"/>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Key Characteristics</a:t>
            </a:r>
            <a:endParaRPr lang="en-US" sz="1100" dirty="0"/>
          </a:p>
        </p:txBody>
      </p:sp>
      <p:sp>
        <p:nvSpPr>
          <p:cNvPr id="13" name="Text 10"/>
          <p:cNvSpPr/>
          <p:nvPr/>
        </p:nvSpPr>
        <p:spPr>
          <a:xfrm>
            <a:off x="384048" y="2121408"/>
            <a:ext cx="3986784" cy="295351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Performed by DEVELOPERS — not QA engineers (though QA reviews)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Written alongside the code (Test-Driven Development = TDD)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Each unit test covers ONE specific behaviour or code path</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Fast execution — 1,000 unit tests run in seconds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Isolated: all external dependencies are mocked/stubbed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First layer in the Testing Pyramid — the broadest and cheapest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Catches logic errors at the source, before integration</a:t>
            </a:r>
            <a:endParaRPr lang="en-US" sz="1050" dirty="0"/>
          </a:p>
        </p:txBody>
      </p:sp>
      <p:sp>
        <p:nvSpPr>
          <p:cNvPr id="14" name="Shape 11"/>
          <p:cNvSpPr/>
          <p:nvPr/>
        </p:nvSpPr>
        <p:spPr>
          <a:xfrm>
            <a:off x="4663440" y="1719072"/>
            <a:ext cx="4206240" cy="1664208"/>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663440" y="1719072"/>
            <a:ext cx="4206240" cy="347472"/>
          </a:xfrm>
          <a:prstGeom prst="rect">
            <a:avLst/>
          </a:prstGeom>
          <a:solidFill>
            <a:srgbClr val="1E1E1E"/>
          </a:solidFill>
          <a:ln/>
        </p:spPr>
      </p:sp>
      <p:sp>
        <p:nvSpPr>
          <p:cNvPr id="16" name="Text 13"/>
          <p:cNvSpPr/>
          <p:nvPr/>
        </p:nvSpPr>
        <p:spPr>
          <a:xfrm>
            <a:off x="4754880" y="1764792"/>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Industry Tools</a:t>
            </a:r>
            <a:endParaRPr lang="en-US" sz="1100" dirty="0"/>
          </a:p>
        </p:txBody>
      </p:sp>
      <p:sp>
        <p:nvSpPr>
          <p:cNvPr id="17" name="Text 14"/>
          <p:cNvSpPr/>
          <p:nvPr/>
        </p:nvSpPr>
        <p:spPr>
          <a:xfrm>
            <a:off x="4773168" y="2121408"/>
            <a:ext cx="3986784" cy="11887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JUnit 5 — Java unit testing framework (Eclipse &amp; IntelliJ)</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TestNG — Alternative Java framework with rich annotations</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Mockito — Java mocking framework for isolating dependencies</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Jest — JavaScript unit testing framework</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NUnit — .NET/C# unit testing framework</a:t>
            </a:r>
            <a:endParaRPr lang="en-US" sz="1000" dirty="0"/>
          </a:p>
        </p:txBody>
      </p:sp>
      <p:sp>
        <p:nvSpPr>
          <p:cNvPr id="18" name="Shape 15"/>
          <p:cNvSpPr/>
          <p:nvPr/>
        </p:nvSpPr>
        <p:spPr>
          <a:xfrm>
            <a:off x="4663440" y="3493008"/>
            <a:ext cx="4206240" cy="1645920"/>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4663440" y="3493008"/>
            <a:ext cx="4206240" cy="347472"/>
          </a:xfrm>
          <a:prstGeom prst="rect">
            <a:avLst/>
          </a:prstGeom>
          <a:solidFill>
            <a:srgbClr val="2A2A2A"/>
          </a:solidFill>
          <a:ln/>
        </p:spPr>
      </p:sp>
      <p:sp>
        <p:nvSpPr>
          <p:cNvPr id="20" name="Text 17"/>
          <p:cNvSpPr/>
          <p:nvPr/>
        </p:nvSpPr>
        <p:spPr>
          <a:xfrm>
            <a:off x="4754880" y="3538728"/>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Real-World Example</a:t>
            </a:r>
            <a:endParaRPr lang="en-US" sz="1100" dirty="0"/>
          </a:p>
        </p:txBody>
      </p:sp>
      <p:sp>
        <p:nvSpPr>
          <p:cNvPr id="21" name="Text 18"/>
          <p:cNvSpPr/>
          <p:nvPr/>
        </p:nvSpPr>
        <p:spPr>
          <a:xfrm>
            <a:off x="4773168" y="3895344"/>
            <a:ext cx="3986784" cy="1170432"/>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Function: calculateDiscount(price, discountPct)</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Unit Test 1: calculateDiscount(100, 10) → expects 90 ✅</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Unit Test 2: calculateDiscount(0, 10) → expects 0 ✅</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Unit Test 3: calculateDiscount(100, -5) → expects error ✅</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Unit Test 4: calculateDiscount(null, 10) → expects error ✅</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Integration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Verifying that components work correctly when combined together</a:t>
            </a:r>
            <a:endParaRPr lang="en-US" sz="1100" dirty="0"/>
          </a:p>
        </p:txBody>
      </p:sp>
      <p:sp>
        <p:nvSpPr>
          <p:cNvPr id="6" name="Shape 3"/>
          <p:cNvSpPr/>
          <p:nvPr/>
        </p:nvSpPr>
        <p:spPr>
          <a:xfrm>
            <a:off x="7790688" y="658368"/>
            <a:ext cx="1298448" cy="347472"/>
          </a:xfrm>
          <a:prstGeom prst="rect">
            <a:avLst/>
          </a:prstGeom>
          <a:solidFill>
            <a:srgbClr val="E8670D"/>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Functional</a:t>
            </a:r>
            <a:endParaRPr lang="en-US" sz="800" dirty="0"/>
          </a:p>
        </p:txBody>
      </p:sp>
      <p:sp>
        <p:nvSpPr>
          <p:cNvPr id="8" name="Shape 5"/>
          <p:cNvSpPr/>
          <p:nvPr/>
        </p:nvSpPr>
        <p:spPr>
          <a:xfrm>
            <a:off x="274320" y="960120"/>
            <a:ext cx="8595360" cy="566928"/>
          </a:xfrm>
          <a:prstGeom prst="rect">
            <a:avLst/>
          </a:prstGeom>
          <a:solidFill>
            <a:srgbClr val="1E1E1E"/>
          </a:solidFill>
          <a:ln/>
          <a:effectLst>
            <a:outerShdw blurRad="101600" dist="38100" dir="8100000" algn="bl" rotWithShape="0">
              <a:srgbClr val="000000">
                <a:alpha val="18000"/>
              </a:srgbClr>
            </a:outerShdw>
          </a:effectLst>
        </p:spPr>
      </p:sp>
      <p:sp>
        <p:nvSpPr>
          <p:cNvPr id="9" name="Text 6"/>
          <p:cNvSpPr/>
          <p:nvPr/>
        </p:nvSpPr>
        <p:spPr>
          <a:xfrm>
            <a:off x="384048" y="1014984"/>
            <a:ext cx="8375904" cy="45720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Integration Testing verifies that MULTIPLE units or components work correctly when they are combined. While unit tests check individual pieces in isolation, integration testing checks the 'joints' — the interfaces, data flows, and communication between components.</a:t>
            </a:r>
            <a:endParaRPr lang="en-US" sz="1200" dirty="0"/>
          </a:p>
        </p:txBody>
      </p:sp>
      <p:sp>
        <p:nvSpPr>
          <p:cNvPr id="10" name="Shape 7"/>
          <p:cNvSpPr/>
          <p:nvPr/>
        </p:nvSpPr>
        <p:spPr>
          <a:xfrm>
            <a:off x="274320" y="1691640"/>
            <a:ext cx="8595360" cy="100584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691640"/>
            <a:ext cx="2286000" cy="1005840"/>
          </a:xfrm>
          <a:prstGeom prst="rect">
            <a:avLst/>
          </a:prstGeom>
          <a:solidFill>
            <a:srgbClr val="E8670D"/>
          </a:solidFill>
          <a:ln/>
        </p:spPr>
      </p:sp>
      <p:sp>
        <p:nvSpPr>
          <p:cNvPr id="12" name="Text 9"/>
          <p:cNvSpPr/>
          <p:nvPr/>
        </p:nvSpPr>
        <p:spPr>
          <a:xfrm>
            <a:off x="347472" y="1801368"/>
            <a:ext cx="2148840" cy="6400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Top-Down Integration</a:t>
            </a:r>
            <a:endParaRPr lang="en-US" sz="1100" dirty="0"/>
          </a:p>
        </p:txBody>
      </p:sp>
      <p:sp>
        <p:nvSpPr>
          <p:cNvPr id="13" name="Text 10"/>
          <p:cNvSpPr/>
          <p:nvPr/>
        </p:nvSpPr>
        <p:spPr>
          <a:xfrm>
            <a:off x="2651760" y="1764792"/>
            <a:ext cx="6126480" cy="859536"/>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Testing begins from the TOP-LEVEL modules downward. Higher-level modules are tested first, with lower-level modules replaced by 'stubs' (simulated components) until the real ones are integrated. Advantage: High-level business logic is validated early.</a:t>
            </a:r>
            <a:endParaRPr lang="en-US" sz="1000" dirty="0"/>
          </a:p>
        </p:txBody>
      </p:sp>
      <p:sp>
        <p:nvSpPr>
          <p:cNvPr id="14" name="Shape 11"/>
          <p:cNvSpPr/>
          <p:nvPr/>
        </p:nvSpPr>
        <p:spPr>
          <a:xfrm>
            <a:off x="274320" y="2788920"/>
            <a:ext cx="8595360" cy="1005840"/>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274320" y="2788920"/>
            <a:ext cx="2286000" cy="1005840"/>
          </a:xfrm>
          <a:prstGeom prst="rect">
            <a:avLst/>
          </a:prstGeom>
          <a:solidFill>
            <a:srgbClr val="1E1E1E"/>
          </a:solidFill>
          <a:ln/>
        </p:spPr>
        <p:txBody>
          <a:bodyPr/>
          <a:lstStyle/>
          <a:p>
            <a:endParaRPr lang="en-ZA" dirty="0"/>
          </a:p>
        </p:txBody>
      </p:sp>
      <p:sp>
        <p:nvSpPr>
          <p:cNvPr id="16" name="Text 13"/>
          <p:cNvSpPr/>
          <p:nvPr/>
        </p:nvSpPr>
        <p:spPr>
          <a:xfrm>
            <a:off x="347472" y="2898648"/>
            <a:ext cx="2148840" cy="6400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Bottom-Up Integration</a:t>
            </a:r>
            <a:endParaRPr lang="en-US" sz="1100" dirty="0"/>
          </a:p>
        </p:txBody>
      </p:sp>
      <p:sp>
        <p:nvSpPr>
          <p:cNvPr id="17" name="Text 14"/>
          <p:cNvSpPr/>
          <p:nvPr/>
        </p:nvSpPr>
        <p:spPr>
          <a:xfrm>
            <a:off x="2651760" y="2862072"/>
            <a:ext cx="6126480" cy="859536"/>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Testing begins from the LOWEST-LEVEL modules upward. Lower-level components are tested first, with higher-level modules replaced by 'drivers' (test harnesses). Advantage: Core utilities and database layers are validated thoroughly.</a:t>
            </a:r>
            <a:endParaRPr lang="en-US" sz="1000" dirty="0"/>
          </a:p>
        </p:txBody>
      </p:sp>
      <p:sp>
        <p:nvSpPr>
          <p:cNvPr id="18" name="Shape 15"/>
          <p:cNvSpPr/>
          <p:nvPr/>
        </p:nvSpPr>
        <p:spPr>
          <a:xfrm>
            <a:off x="274320" y="3886200"/>
            <a:ext cx="8595360" cy="1005840"/>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274320" y="3886200"/>
            <a:ext cx="2286000" cy="1005840"/>
          </a:xfrm>
          <a:prstGeom prst="rect">
            <a:avLst/>
          </a:prstGeom>
          <a:solidFill>
            <a:srgbClr val="2A2A2A"/>
          </a:solidFill>
          <a:ln/>
        </p:spPr>
      </p:sp>
      <p:sp>
        <p:nvSpPr>
          <p:cNvPr id="20" name="Text 17"/>
          <p:cNvSpPr/>
          <p:nvPr/>
        </p:nvSpPr>
        <p:spPr>
          <a:xfrm>
            <a:off x="347472" y="3995928"/>
            <a:ext cx="2148840" cy="6400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Hybrid (Sandwich)</a:t>
            </a:r>
            <a:endParaRPr lang="en-US" sz="1100" dirty="0"/>
          </a:p>
        </p:txBody>
      </p:sp>
      <p:sp>
        <p:nvSpPr>
          <p:cNvPr id="21" name="Text 18"/>
          <p:cNvSpPr/>
          <p:nvPr/>
        </p:nvSpPr>
        <p:spPr>
          <a:xfrm>
            <a:off x="2633472" y="3876704"/>
            <a:ext cx="6126480" cy="859536"/>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Combines both approaches simultaneously. Top-down for business logic, bottom-up for data layers. Most common in large enterprise projects. Advantage: Parallel testing reduces time-to-integrate. Most realistic but most complex to manage.</a:t>
            </a:r>
            <a:endParaRPr lang="en-US" sz="1000" dirty="0"/>
          </a:p>
        </p:txBody>
      </p:sp>
      <p:sp>
        <p:nvSpPr>
          <p:cNvPr id="22" name="Shape 19"/>
          <p:cNvSpPr/>
          <p:nvPr/>
        </p:nvSpPr>
        <p:spPr>
          <a:xfrm>
            <a:off x="274320" y="4224528"/>
            <a:ext cx="4206240" cy="987552"/>
          </a:xfrm>
          <a:prstGeom prst="rect">
            <a:avLst/>
          </a:prstGeom>
          <a:solidFill>
            <a:srgbClr val="FFFFFF"/>
          </a:solidFill>
          <a:ln/>
          <a:effectLst>
            <a:outerShdw blurRad="101600" dist="38100" dir="8100000" algn="bl" rotWithShape="0">
              <a:srgbClr val="000000">
                <a:alpha val="18000"/>
              </a:srgbClr>
            </a:outerShdw>
          </a:effectLst>
        </p:spPr>
      </p:sp>
      <p:sp>
        <p:nvSpPr>
          <p:cNvPr id="23" name="Shape 20"/>
          <p:cNvSpPr/>
          <p:nvPr/>
        </p:nvSpPr>
        <p:spPr>
          <a:xfrm>
            <a:off x="274320" y="4224528"/>
            <a:ext cx="4206240" cy="347472"/>
          </a:xfrm>
          <a:prstGeom prst="rect">
            <a:avLst/>
          </a:prstGeom>
          <a:solidFill>
            <a:srgbClr val="E8670D"/>
          </a:solidFill>
          <a:ln/>
        </p:spPr>
      </p:sp>
      <p:sp>
        <p:nvSpPr>
          <p:cNvPr id="24" name="Text 21"/>
          <p:cNvSpPr/>
          <p:nvPr/>
        </p:nvSpPr>
        <p:spPr>
          <a:xfrm>
            <a:off x="365760" y="4270248"/>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Tools</a:t>
            </a:r>
            <a:endParaRPr lang="en-US" sz="1100" dirty="0"/>
          </a:p>
        </p:txBody>
      </p:sp>
      <p:sp>
        <p:nvSpPr>
          <p:cNvPr id="25" name="Text 22"/>
          <p:cNvSpPr/>
          <p:nvPr/>
        </p:nvSpPr>
        <p:spPr>
          <a:xfrm>
            <a:off x="384048" y="4626864"/>
            <a:ext cx="3986784" cy="512064"/>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Selenium / Playwright — UI-level integration flows</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Postman / RestAssured — API integration verification</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MockServer / WireMock — mock external services</a:t>
            </a:r>
            <a:endParaRPr lang="en-US" sz="1000" dirty="0"/>
          </a:p>
        </p:txBody>
      </p:sp>
      <p:sp>
        <p:nvSpPr>
          <p:cNvPr id="26" name="Shape 23"/>
          <p:cNvSpPr/>
          <p:nvPr/>
        </p:nvSpPr>
        <p:spPr>
          <a:xfrm>
            <a:off x="4663440" y="4224528"/>
            <a:ext cx="4206240" cy="987552"/>
          </a:xfrm>
          <a:prstGeom prst="rect">
            <a:avLst/>
          </a:prstGeom>
          <a:solidFill>
            <a:srgbClr val="FFFFFF"/>
          </a:solidFill>
          <a:ln/>
          <a:effectLst>
            <a:outerShdw blurRad="101600" dist="38100" dir="8100000" algn="bl" rotWithShape="0">
              <a:srgbClr val="000000">
                <a:alpha val="18000"/>
              </a:srgbClr>
            </a:outerShdw>
          </a:effectLst>
        </p:spPr>
      </p:sp>
      <p:sp>
        <p:nvSpPr>
          <p:cNvPr id="27" name="Shape 24"/>
          <p:cNvSpPr/>
          <p:nvPr/>
        </p:nvSpPr>
        <p:spPr>
          <a:xfrm>
            <a:off x="4663440" y="4224528"/>
            <a:ext cx="4206240" cy="347472"/>
          </a:xfrm>
          <a:prstGeom prst="rect">
            <a:avLst/>
          </a:prstGeom>
          <a:solidFill>
            <a:srgbClr val="1E1E1E"/>
          </a:solidFill>
          <a:ln/>
        </p:spPr>
      </p:sp>
      <p:sp>
        <p:nvSpPr>
          <p:cNvPr id="28" name="Text 25"/>
          <p:cNvSpPr/>
          <p:nvPr/>
        </p:nvSpPr>
        <p:spPr>
          <a:xfrm>
            <a:off x="4754880" y="4270248"/>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Real-World Example</a:t>
            </a:r>
            <a:endParaRPr lang="en-US" sz="1100" dirty="0"/>
          </a:p>
        </p:txBody>
      </p:sp>
      <p:sp>
        <p:nvSpPr>
          <p:cNvPr id="29" name="Text 26"/>
          <p:cNvSpPr/>
          <p:nvPr/>
        </p:nvSpPr>
        <p:spPr>
          <a:xfrm>
            <a:off x="4773168" y="4626864"/>
            <a:ext cx="3986784" cy="512064"/>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E-commerce: User adds to cart (UI) → Cart service (API) → Inventory DB updated</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Login module integrates with Auth service integrates with User DB</a:t>
            </a:r>
            <a:endParaRPr lang="en-US" sz="1000" dirty="0"/>
          </a:p>
        </p:txBody>
      </p:sp>
      <p:sp>
        <p:nvSpPr>
          <p:cNvPr id="30" name="Text 13">
            <a:extLst>
              <a:ext uri="{FF2B5EF4-FFF2-40B4-BE49-F238E27FC236}">
                <a16:creationId xmlns:a16="http://schemas.microsoft.com/office/drawing/2014/main" id="{ECCF6C11-254D-8DE4-5E14-42ED8DA1D461}"/>
              </a:ext>
            </a:extLst>
          </p:cNvPr>
          <p:cNvSpPr/>
          <p:nvPr/>
        </p:nvSpPr>
        <p:spPr>
          <a:xfrm>
            <a:off x="530352" y="3790188"/>
            <a:ext cx="2148840" cy="6400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Hybrid Sandwich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System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End-to-end validation of the complete, integrated software system</a:t>
            </a:r>
            <a:endParaRPr lang="en-US" sz="1100" dirty="0"/>
          </a:p>
        </p:txBody>
      </p:sp>
      <p:sp>
        <p:nvSpPr>
          <p:cNvPr id="6" name="Shape 3"/>
          <p:cNvSpPr/>
          <p:nvPr/>
        </p:nvSpPr>
        <p:spPr>
          <a:xfrm>
            <a:off x="7790688" y="658368"/>
            <a:ext cx="1298448" cy="347472"/>
          </a:xfrm>
          <a:prstGeom prst="rect">
            <a:avLst/>
          </a:prstGeom>
          <a:solidFill>
            <a:srgbClr val="E8670D"/>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Functional</a:t>
            </a:r>
            <a:endParaRPr lang="en-US" sz="800" dirty="0"/>
          </a:p>
        </p:txBody>
      </p:sp>
      <p:sp>
        <p:nvSpPr>
          <p:cNvPr id="8" name="Shape 5"/>
          <p:cNvSpPr/>
          <p:nvPr/>
        </p:nvSpPr>
        <p:spPr>
          <a:xfrm>
            <a:off x="274320" y="960120"/>
            <a:ext cx="8595360" cy="621792"/>
          </a:xfrm>
          <a:prstGeom prst="rect">
            <a:avLst/>
          </a:prstGeom>
          <a:solidFill>
            <a:srgbClr val="E8670D"/>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System Testing validates the COMPLETE, INTEGRATED system against its specified requirements. Unlike integration testing (which tests component interfaces), system testing treats the entire application as a black box — testing it exactly as a real user would, end to end.</a:t>
            </a:r>
            <a:endParaRPr lang="en-US" sz="1200" dirty="0"/>
          </a:p>
        </p:txBody>
      </p:sp>
      <p:sp>
        <p:nvSpPr>
          <p:cNvPr id="10" name="Shape 7"/>
          <p:cNvSpPr/>
          <p:nvPr/>
        </p:nvSpPr>
        <p:spPr>
          <a:xfrm>
            <a:off x="274320" y="1737360"/>
            <a:ext cx="4206240" cy="3310128"/>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37360"/>
            <a:ext cx="4206240" cy="347472"/>
          </a:xfrm>
          <a:prstGeom prst="rect">
            <a:avLst/>
          </a:prstGeom>
          <a:solidFill>
            <a:srgbClr val="E8670D"/>
          </a:solidFill>
          <a:ln/>
        </p:spPr>
      </p:sp>
      <p:sp>
        <p:nvSpPr>
          <p:cNvPr id="12" name="Text 9"/>
          <p:cNvSpPr/>
          <p:nvPr/>
        </p:nvSpPr>
        <p:spPr>
          <a:xfrm>
            <a:off x="36576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What System Testing Covers</a:t>
            </a:r>
            <a:endParaRPr lang="en-US" sz="1100" dirty="0"/>
          </a:p>
        </p:txBody>
      </p:sp>
      <p:sp>
        <p:nvSpPr>
          <p:cNvPr id="13" name="Text 10"/>
          <p:cNvSpPr/>
          <p:nvPr/>
        </p:nvSpPr>
        <p:spPr>
          <a:xfrm>
            <a:off x="384048" y="2139696"/>
            <a:ext cx="3986784" cy="28346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Complete end-to-end business workflows and user journeys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All functional requirements specified in the BRD/FSD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Interactions between ALL system components simultaneously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Error handling, boundary conditions, and negative paths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Data persistence across multiple sessions and actions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System-level security and access control</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All GUI elements, forms, and user interaction flows</a:t>
            </a:r>
            <a:endParaRPr lang="en-US" sz="1050" dirty="0"/>
          </a:p>
        </p:txBody>
      </p:sp>
      <p:sp>
        <p:nvSpPr>
          <p:cNvPr id="14" name="Shape 11"/>
          <p:cNvSpPr/>
          <p:nvPr/>
        </p:nvSpPr>
        <p:spPr>
          <a:xfrm>
            <a:off x="4663440" y="1737360"/>
            <a:ext cx="4206240" cy="1627632"/>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663440" y="1737360"/>
            <a:ext cx="4206240" cy="347472"/>
          </a:xfrm>
          <a:prstGeom prst="rect">
            <a:avLst/>
          </a:prstGeom>
          <a:solidFill>
            <a:srgbClr val="1E1E1E"/>
          </a:solidFill>
          <a:ln/>
        </p:spPr>
      </p:sp>
      <p:sp>
        <p:nvSpPr>
          <p:cNvPr id="16" name="Text 13"/>
          <p:cNvSpPr/>
          <p:nvPr/>
        </p:nvSpPr>
        <p:spPr>
          <a:xfrm>
            <a:off x="475488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Approach &amp; Tools</a:t>
            </a:r>
            <a:endParaRPr lang="en-US" sz="1100" dirty="0"/>
          </a:p>
        </p:txBody>
      </p:sp>
      <p:sp>
        <p:nvSpPr>
          <p:cNvPr id="17" name="Text 14"/>
          <p:cNvSpPr/>
          <p:nvPr/>
        </p:nvSpPr>
        <p:spPr>
          <a:xfrm>
            <a:off x="4773168" y="2139696"/>
            <a:ext cx="3986784" cy="1152144"/>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Black-box approach — tester has no visibility of code</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Selenium (Eclipse/IntelliJ) — automated UI workflow testing</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Playwright — cross-browser end-to-end system tests</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TestRail / Zephyr — test case management and tracking</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Executed by the QA engineering team in the QA environment</a:t>
            </a:r>
            <a:endParaRPr lang="en-US" sz="1000" dirty="0"/>
          </a:p>
        </p:txBody>
      </p:sp>
      <p:sp>
        <p:nvSpPr>
          <p:cNvPr id="18" name="Shape 15"/>
          <p:cNvSpPr/>
          <p:nvPr/>
        </p:nvSpPr>
        <p:spPr>
          <a:xfrm>
            <a:off x="4663440" y="3474720"/>
            <a:ext cx="4206240" cy="1572768"/>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4663440" y="3474720"/>
            <a:ext cx="4206240" cy="347472"/>
          </a:xfrm>
          <a:prstGeom prst="rect">
            <a:avLst/>
          </a:prstGeom>
          <a:solidFill>
            <a:srgbClr val="2A2A2A"/>
          </a:solidFill>
          <a:ln/>
        </p:spPr>
      </p:sp>
      <p:sp>
        <p:nvSpPr>
          <p:cNvPr id="20" name="Text 17"/>
          <p:cNvSpPr/>
          <p:nvPr/>
        </p:nvSpPr>
        <p:spPr>
          <a:xfrm>
            <a:off x="4754880" y="352044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Real-World Scenario</a:t>
            </a:r>
            <a:endParaRPr lang="en-US" sz="1100" dirty="0"/>
          </a:p>
        </p:txBody>
      </p:sp>
      <p:sp>
        <p:nvSpPr>
          <p:cNvPr id="21" name="Text 18"/>
          <p:cNvSpPr/>
          <p:nvPr/>
        </p:nvSpPr>
        <p:spPr>
          <a:xfrm>
            <a:off x="4773168" y="3877056"/>
            <a:ext cx="3986784" cy="10972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Banking app system test flow:</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1. Register new account → 2. Verify email → 3. Log in</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4. Transfer £500 between accounts → 5. Confirm transaction history</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6. Download statement as PDF → 7. Log out</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Every step in this flow is verified with real or realistic test data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User Acceptance Testing (UAT)</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Business stakeholders validate the software meets their needs before go-live</a:t>
            </a:r>
            <a:endParaRPr lang="en-US" sz="1100" dirty="0"/>
          </a:p>
        </p:txBody>
      </p:sp>
      <p:sp>
        <p:nvSpPr>
          <p:cNvPr id="6" name="Shape 3"/>
          <p:cNvSpPr/>
          <p:nvPr/>
        </p:nvSpPr>
        <p:spPr>
          <a:xfrm>
            <a:off x="7790688" y="658368"/>
            <a:ext cx="1298448" cy="347472"/>
          </a:xfrm>
          <a:prstGeom prst="rect">
            <a:avLst/>
          </a:prstGeom>
          <a:solidFill>
            <a:srgbClr val="E8670D"/>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Functional</a:t>
            </a:r>
            <a:endParaRPr lang="en-US" sz="800" dirty="0"/>
          </a:p>
        </p:txBody>
      </p:sp>
      <p:sp>
        <p:nvSpPr>
          <p:cNvPr id="8" name="Shape 5"/>
          <p:cNvSpPr/>
          <p:nvPr/>
        </p:nvSpPr>
        <p:spPr>
          <a:xfrm>
            <a:off x="274320" y="960120"/>
            <a:ext cx="8595360" cy="621792"/>
          </a:xfrm>
          <a:prstGeom prst="rect">
            <a:avLst/>
          </a:prstGeom>
          <a:solidFill>
            <a:srgbClr val="1E1E1E"/>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UAT is the final formal testing phase, performed by BUSINESS USERS and stakeholders — not QA engineers. Its purpose is to confirm that the software meets the business requirements and is acceptable for release. It is the user's official sign-off that the software is fit for purpose.</a:t>
            </a:r>
            <a:endParaRPr lang="en-US" sz="1200" dirty="0"/>
          </a:p>
        </p:txBody>
      </p:sp>
      <p:sp>
        <p:nvSpPr>
          <p:cNvPr id="10" name="Shape 7"/>
          <p:cNvSpPr/>
          <p:nvPr/>
        </p:nvSpPr>
        <p:spPr>
          <a:xfrm>
            <a:off x="274320" y="1737360"/>
            <a:ext cx="4206240" cy="210312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37360"/>
            <a:ext cx="4206240" cy="347472"/>
          </a:xfrm>
          <a:prstGeom prst="rect">
            <a:avLst/>
          </a:prstGeom>
          <a:solidFill>
            <a:srgbClr val="E8670D"/>
          </a:solidFill>
          <a:ln/>
        </p:spPr>
      </p:sp>
      <p:sp>
        <p:nvSpPr>
          <p:cNvPr id="12" name="Text 9"/>
          <p:cNvSpPr/>
          <p:nvPr/>
        </p:nvSpPr>
        <p:spPr>
          <a:xfrm>
            <a:off x="36576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Who Performs UAT</a:t>
            </a:r>
            <a:endParaRPr lang="en-US" sz="1100" dirty="0"/>
          </a:p>
        </p:txBody>
      </p:sp>
      <p:sp>
        <p:nvSpPr>
          <p:cNvPr id="13" name="Text 10"/>
          <p:cNvSpPr/>
          <p:nvPr/>
        </p:nvSpPr>
        <p:spPr>
          <a:xfrm>
            <a:off x="384048" y="2139696"/>
            <a:ext cx="3986784" cy="162763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Business users / end users who will use the system daily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Product owners and business analysts (BA team)</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Client representatives and key stakeholders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Sometimes external beta testers (see Beta Testing)</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QA engineers SUPPORT UAT but do not perform it</a:t>
            </a:r>
            <a:endParaRPr lang="en-US" sz="1050" dirty="0"/>
          </a:p>
        </p:txBody>
      </p:sp>
      <p:sp>
        <p:nvSpPr>
          <p:cNvPr id="14" name="Shape 11"/>
          <p:cNvSpPr/>
          <p:nvPr/>
        </p:nvSpPr>
        <p:spPr>
          <a:xfrm>
            <a:off x="4663440" y="1737360"/>
            <a:ext cx="4206240" cy="2103120"/>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663440" y="1737360"/>
            <a:ext cx="4206240" cy="347472"/>
          </a:xfrm>
          <a:prstGeom prst="rect">
            <a:avLst/>
          </a:prstGeom>
          <a:solidFill>
            <a:srgbClr val="1E1E1E"/>
          </a:solidFill>
          <a:ln/>
        </p:spPr>
      </p:sp>
      <p:sp>
        <p:nvSpPr>
          <p:cNvPr id="16" name="Text 13"/>
          <p:cNvSpPr/>
          <p:nvPr/>
        </p:nvSpPr>
        <p:spPr>
          <a:xfrm>
            <a:off x="475488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UAT Activities</a:t>
            </a:r>
            <a:endParaRPr lang="en-US" sz="1100" dirty="0"/>
          </a:p>
        </p:txBody>
      </p:sp>
      <p:sp>
        <p:nvSpPr>
          <p:cNvPr id="17" name="Text 14"/>
          <p:cNvSpPr/>
          <p:nvPr/>
        </p:nvSpPr>
        <p:spPr>
          <a:xfrm>
            <a:off x="4773168" y="2139696"/>
            <a:ext cx="3986784" cy="162763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Review and approve UAT test scenarios (written from business perspective)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Execute test cases using their own knowledge of business processes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Compare results against business expectations (not technical specs)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Raise issues using the agreed defect management process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Formally sign off or reject the software for release</a:t>
            </a:r>
            <a:endParaRPr lang="en-US" sz="1050" dirty="0"/>
          </a:p>
        </p:txBody>
      </p:sp>
      <p:sp>
        <p:nvSpPr>
          <p:cNvPr id="18" name="Text 15"/>
          <p:cNvSpPr/>
          <p:nvPr/>
        </p:nvSpPr>
        <p:spPr>
          <a:xfrm>
            <a:off x="274320" y="3931920"/>
            <a:ext cx="3657600" cy="256032"/>
          </a:xfrm>
          <a:prstGeom prst="rect">
            <a:avLst/>
          </a:prstGeom>
          <a:noFill/>
          <a:ln/>
        </p:spPr>
        <p:txBody>
          <a:bodyPr wrap="square" rtlCol="0" anchor="ctr"/>
          <a:lstStyle/>
          <a:p>
            <a:pPr marL="0" indent="0">
              <a:buNone/>
            </a:pPr>
            <a:r>
              <a:rPr lang="en-US" sz="1000" b="1" kern="0" spc="150" dirty="0">
                <a:solidFill>
                  <a:srgbClr val="E8670D"/>
                </a:solidFill>
                <a:latin typeface="Calibri" pitchFamily="34" charset="0"/>
                <a:ea typeface="Calibri" pitchFamily="34" charset="-122"/>
                <a:cs typeface="Calibri" pitchFamily="34" charset="-120"/>
              </a:rPr>
              <a:t>TYPES OF UAT</a:t>
            </a:r>
            <a:endParaRPr lang="en-US" sz="1000" dirty="0"/>
          </a:p>
        </p:txBody>
      </p:sp>
      <p:sp>
        <p:nvSpPr>
          <p:cNvPr id="19" name="Shape 16"/>
          <p:cNvSpPr/>
          <p:nvPr/>
        </p:nvSpPr>
        <p:spPr>
          <a:xfrm>
            <a:off x="274320" y="4224528"/>
            <a:ext cx="2743200" cy="914400"/>
          </a:xfrm>
          <a:prstGeom prst="rect">
            <a:avLst/>
          </a:prstGeom>
          <a:solidFill>
            <a:srgbClr val="FFFFFF"/>
          </a:solidFill>
          <a:ln/>
          <a:effectLst>
            <a:outerShdw blurRad="101600" dist="38100" dir="8100000" algn="bl" rotWithShape="0">
              <a:srgbClr val="000000">
                <a:alpha val="18000"/>
              </a:srgbClr>
            </a:outerShdw>
          </a:effectLst>
        </p:spPr>
      </p:sp>
      <p:sp>
        <p:nvSpPr>
          <p:cNvPr id="20" name="Shape 17"/>
          <p:cNvSpPr/>
          <p:nvPr/>
        </p:nvSpPr>
        <p:spPr>
          <a:xfrm>
            <a:off x="274320" y="4224528"/>
            <a:ext cx="2743200" cy="73152"/>
          </a:xfrm>
          <a:prstGeom prst="rect">
            <a:avLst/>
          </a:prstGeom>
          <a:solidFill>
            <a:srgbClr val="E8670D"/>
          </a:solidFill>
          <a:ln/>
        </p:spPr>
      </p:sp>
      <p:sp>
        <p:nvSpPr>
          <p:cNvPr id="21" name="Text 18"/>
          <p:cNvSpPr/>
          <p:nvPr/>
        </p:nvSpPr>
        <p:spPr>
          <a:xfrm>
            <a:off x="365760" y="4325112"/>
            <a:ext cx="2578608" cy="256032"/>
          </a:xfrm>
          <a:prstGeom prst="rect">
            <a:avLst/>
          </a:prstGeom>
          <a:noFill/>
          <a:ln/>
        </p:spPr>
        <p:txBody>
          <a:bodyPr wrap="square"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Alpha UAT</a:t>
            </a:r>
            <a:endParaRPr lang="en-US" sz="1000" dirty="0"/>
          </a:p>
        </p:txBody>
      </p:sp>
      <p:sp>
        <p:nvSpPr>
          <p:cNvPr id="22" name="Text 19"/>
          <p:cNvSpPr/>
          <p:nvPr/>
        </p:nvSpPr>
        <p:spPr>
          <a:xfrm>
            <a:off x="365760" y="4590288"/>
            <a:ext cx="2578608" cy="475488"/>
          </a:xfrm>
          <a:prstGeom prst="rect">
            <a:avLst/>
          </a:prstGeom>
          <a:noFill/>
          <a:ln/>
        </p:spPr>
        <p:txBody>
          <a:bodyPr wrap="square" rtlCol="0" anchor="ctr"/>
          <a:lstStyle/>
          <a:p>
            <a:pPr marL="0" indent="0">
              <a:buNone/>
            </a:pPr>
            <a:r>
              <a:rPr lang="en-US" sz="900" dirty="0">
                <a:solidFill>
                  <a:srgbClr val="777777"/>
                </a:solidFill>
                <a:latin typeface="Calibri" pitchFamily="34" charset="0"/>
                <a:ea typeface="Calibri" pitchFamily="34" charset="-122"/>
                <a:cs typeface="Calibri" pitchFamily="34" charset="-120"/>
              </a:rPr>
              <a:t>Internal business users test in a controlled environment before external release. Company employees or selected customers.</a:t>
            </a:r>
            <a:endParaRPr lang="en-US" sz="900" dirty="0"/>
          </a:p>
        </p:txBody>
      </p:sp>
      <p:sp>
        <p:nvSpPr>
          <p:cNvPr id="23" name="Shape 20"/>
          <p:cNvSpPr/>
          <p:nvPr/>
        </p:nvSpPr>
        <p:spPr>
          <a:xfrm>
            <a:off x="3182112" y="4224528"/>
            <a:ext cx="2743200" cy="914400"/>
          </a:xfrm>
          <a:prstGeom prst="rect">
            <a:avLst/>
          </a:prstGeom>
          <a:solidFill>
            <a:srgbClr val="FFFFFF"/>
          </a:solidFill>
          <a:ln/>
          <a:effectLst>
            <a:outerShdw blurRad="101600" dist="38100" dir="8100000" algn="bl" rotWithShape="0">
              <a:srgbClr val="000000">
                <a:alpha val="18000"/>
              </a:srgbClr>
            </a:outerShdw>
          </a:effectLst>
        </p:spPr>
      </p:sp>
      <p:sp>
        <p:nvSpPr>
          <p:cNvPr id="24" name="Shape 21"/>
          <p:cNvSpPr/>
          <p:nvPr/>
        </p:nvSpPr>
        <p:spPr>
          <a:xfrm>
            <a:off x="3182112" y="4224528"/>
            <a:ext cx="2743200" cy="73152"/>
          </a:xfrm>
          <a:prstGeom prst="rect">
            <a:avLst/>
          </a:prstGeom>
          <a:solidFill>
            <a:srgbClr val="1E1E1E"/>
          </a:solidFill>
          <a:ln/>
        </p:spPr>
      </p:sp>
      <p:sp>
        <p:nvSpPr>
          <p:cNvPr id="25" name="Text 22"/>
          <p:cNvSpPr/>
          <p:nvPr/>
        </p:nvSpPr>
        <p:spPr>
          <a:xfrm>
            <a:off x="3273552" y="4325112"/>
            <a:ext cx="2578608" cy="256032"/>
          </a:xfrm>
          <a:prstGeom prst="rect">
            <a:avLst/>
          </a:prstGeom>
          <a:noFill/>
          <a:ln/>
        </p:spPr>
        <p:txBody>
          <a:bodyPr wrap="square"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Beta UAT</a:t>
            </a:r>
            <a:endParaRPr lang="en-US" sz="1000" dirty="0"/>
          </a:p>
        </p:txBody>
      </p:sp>
      <p:sp>
        <p:nvSpPr>
          <p:cNvPr id="26" name="Text 23"/>
          <p:cNvSpPr/>
          <p:nvPr/>
        </p:nvSpPr>
        <p:spPr>
          <a:xfrm>
            <a:off x="3273552" y="4590288"/>
            <a:ext cx="2578608" cy="475488"/>
          </a:xfrm>
          <a:prstGeom prst="rect">
            <a:avLst/>
          </a:prstGeom>
          <a:noFill/>
          <a:ln/>
        </p:spPr>
        <p:txBody>
          <a:bodyPr wrap="square" rtlCol="0" anchor="ctr"/>
          <a:lstStyle/>
          <a:p>
            <a:pPr marL="0" indent="0">
              <a:buNone/>
            </a:pPr>
            <a:r>
              <a:rPr lang="en-US" sz="900" dirty="0">
                <a:solidFill>
                  <a:srgbClr val="777777"/>
                </a:solidFill>
                <a:latin typeface="Calibri" pitchFamily="34" charset="0"/>
                <a:ea typeface="Calibri" pitchFamily="34" charset="-122"/>
                <a:cs typeface="Calibri" pitchFamily="34" charset="-120"/>
              </a:rPr>
              <a:t>External real users test in a near-production environment. Software is released to a limited group of actual end users.</a:t>
            </a:r>
            <a:endParaRPr lang="en-US" sz="900" dirty="0"/>
          </a:p>
        </p:txBody>
      </p:sp>
      <p:sp>
        <p:nvSpPr>
          <p:cNvPr id="27" name="Shape 24"/>
          <p:cNvSpPr/>
          <p:nvPr/>
        </p:nvSpPr>
        <p:spPr>
          <a:xfrm>
            <a:off x="6089904" y="4224528"/>
            <a:ext cx="2743200" cy="914400"/>
          </a:xfrm>
          <a:prstGeom prst="rect">
            <a:avLst/>
          </a:prstGeom>
          <a:solidFill>
            <a:srgbClr val="FFFFFF"/>
          </a:solidFill>
          <a:ln/>
          <a:effectLst>
            <a:outerShdw blurRad="101600" dist="38100" dir="8100000" algn="bl" rotWithShape="0">
              <a:srgbClr val="000000">
                <a:alpha val="18000"/>
              </a:srgbClr>
            </a:outerShdw>
          </a:effectLst>
        </p:spPr>
      </p:sp>
      <p:sp>
        <p:nvSpPr>
          <p:cNvPr id="28" name="Shape 25"/>
          <p:cNvSpPr/>
          <p:nvPr/>
        </p:nvSpPr>
        <p:spPr>
          <a:xfrm>
            <a:off x="6089904" y="4224528"/>
            <a:ext cx="2743200" cy="73152"/>
          </a:xfrm>
          <a:prstGeom prst="rect">
            <a:avLst/>
          </a:prstGeom>
          <a:solidFill>
            <a:srgbClr val="2A2A2A"/>
          </a:solidFill>
          <a:ln/>
        </p:spPr>
      </p:sp>
      <p:sp>
        <p:nvSpPr>
          <p:cNvPr id="29" name="Text 26"/>
          <p:cNvSpPr/>
          <p:nvPr/>
        </p:nvSpPr>
        <p:spPr>
          <a:xfrm>
            <a:off x="6181344" y="4325112"/>
            <a:ext cx="2578608" cy="256032"/>
          </a:xfrm>
          <a:prstGeom prst="rect">
            <a:avLst/>
          </a:prstGeom>
          <a:noFill/>
          <a:ln/>
        </p:spPr>
        <p:txBody>
          <a:bodyPr wrap="square" rtlCol="0" anchor="ctr"/>
          <a:lstStyle/>
          <a:p>
            <a:pPr marL="0" indent="0">
              <a:buNone/>
            </a:pPr>
            <a:r>
              <a:rPr lang="en-US" sz="1000" b="1" dirty="0">
                <a:solidFill>
                  <a:srgbClr val="2A2A2A"/>
                </a:solidFill>
                <a:latin typeface="Calibri" pitchFamily="34" charset="0"/>
                <a:ea typeface="Calibri" pitchFamily="34" charset="-122"/>
                <a:cs typeface="Calibri" pitchFamily="34" charset="-120"/>
              </a:rPr>
              <a:t>Contract Acceptance</a:t>
            </a:r>
            <a:endParaRPr lang="en-US" sz="1000" dirty="0"/>
          </a:p>
        </p:txBody>
      </p:sp>
      <p:sp>
        <p:nvSpPr>
          <p:cNvPr id="30" name="Text 27"/>
          <p:cNvSpPr/>
          <p:nvPr/>
        </p:nvSpPr>
        <p:spPr>
          <a:xfrm>
            <a:off x="6181344" y="4590288"/>
            <a:ext cx="2578608" cy="475488"/>
          </a:xfrm>
          <a:prstGeom prst="rect">
            <a:avLst/>
          </a:prstGeom>
          <a:noFill/>
          <a:ln/>
        </p:spPr>
        <p:txBody>
          <a:bodyPr wrap="square" rtlCol="0" anchor="ctr"/>
          <a:lstStyle/>
          <a:p>
            <a:pPr marL="0" indent="0">
              <a:buNone/>
            </a:pPr>
            <a:r>
              <a:rPr lang="en-US" sz="900" dirty="0">
                <a:solidFill>
                  <a:srgbClr val="777777"/>
                </a:solidFill>
                <a:latin typeface="Calibri" pitchFamily="34" charset="0"/>
                <a:ea typeface="Calibri" pitchFamily="34" charset="-122"/>
                <a:cs typeface="Calibri" pitchFamily="34" charset="-120"/>
              </a:rPr>
              <a:t>Software is tested against the criteria defined in the client contract. Client formally accepts or rejects delivery.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Smoke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A quick health check to verify the build is stable enough for full testing</a:t>
            </a:r>
            <a:endParaRPr lang="en-US" sz="1100" dirty="0"/>
          </a:p>
        </p:txBody>
      </p:sp>
      <p:sp>
        <p:nvSpPr>
          <p:cNvPr id="6" name="Shape 3"/>
          <p:cNvSpPr/>
          <p:nvPr/>
        </p:nvSpPr>
        <p:spPr>
          <a:xfrm>
            <a:off x="7790688" y="658368"/>
            <a:ext cx="1298448" cy="347472"/>
          </a:xfrm>
          <a:prstGeom prst="rect">
            <a:avLst/>
          </a:prstGeom>
          <a:solidFill>
            <a:srgbClr val="E8670D"/>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Functional</a:t>
            </a:r>
            <a:endParaRPr lang="en-US" sz="800" dirty="0"/>
          </a:p>
        </p:txBody>
      </p:sp>
      <p:sp>
        <p:nvSpPr>
          <p:cNvPr id="8" name="Shape 5"/>
          <p:cNvSpPr/>
          <p:nvPr/>
        </p:nvSpPr>
        <p:spPr>
          <a:xfrm>
            <a:off x="274320" y="960120"/>
            <a:ext cx="8595360" cy="621792"/>
          </a:xfrm>
          <a:prstGeom prst="rect">
            <a:avLst/>
          </a:prstGeom>
          <a:solidFill>
            <a:srgbClr val="E8670D"/>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Smoke Testing (also called 'Build Verification Testing') is a shallow, fast test suite that verifies the MOST CRITICAL functions of a new build work before full testing begins. The name comes from hardware testing: power on a circuit and see if it smokes — if it does, stop immediately.</a:t>
            </a:r>
            <a:endParaRPr lang="en-US" sz="1200" dirty="0"/>
          </a:p>
        </p:txBody>
      </p:sp>
      <p:sp>
        <p:nvSpPr>
          <p:cNvPr id="10" name="Shape 7"/>
          <p:cNvSpPr/>
          <p:nvPr/>
        </p:nvSpPr>
        <p:spPr>
          <a:xfrm>
            <a:off x="274320" y="1737360"/>
            <a:ext cx="4206240" cy="1993392"/>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37360"/>
            <a:ext cx="4206240" cy="347472"/>
          </a:xfrm>
          <a:prstGeom prst="rect">
            <a:avLst/>
          </a:prstGeom>
          <a:solidFill>
            <a:srgbClr val="E8670D"/>
          </a:solidFill>
          <a:ln/>
        </p:spPr>
      </p:sp>
      <p:sp>
        <p:nvSpPr>
          <p:cNvPr id="12" name="Text 9"/>
          <p:cNvSpPr/>
          <p:nvPr/>
        </p:nvSpPr>
        <p:spPr>
          <a:xfrm>
            <a:off x="36576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What Smoke Testing Checks</a:t>
            </a:r>
            <a:endParaRPr lang="en-US" sz="1100" dirty="0"/>
          </a:p>
        </p:txBody>
      </p:sp>
      <p:sp>
        <p:nvSpPr>
          <p:cNvPr id="13" name="Text 10"/>
          <p:cNvSpPr/>
          <p:nvPr/>
        </p:nvSpPr>
        <p:spPr>
          <a:xfrm>
            <a:off x="384048" y="2139696"/>
            <a:ext cx="3986784" cy="1517904"/>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Application launches and the home/login page loads correctly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Authentication: login and logout functions are accessible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Core navigation paths are available and responsive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Critical database connections are functioning</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Key API endpoints return expected HTTP status codes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No blockers that would prevent any testing from proceeding</a:t>
            </a:r>
            <a:endParaRPr lang="en-US" sz="1050" dirty="0"/>
          </a:p>
        </p:txBody>
      </p:sp>
      <p:sp>
        <p:nvSpPr>
          <p:cNvPr id="14" name="Shape 11"/>
          <p:cNvSpPr/>
          <p:nvPr/>
        </p:nvSpPr>
        <p:spPr>
          <a:xfrm>
            <a:off x="4663440" y="1737360"/>
            <a:ext cx="4206240" cy="1993392"/>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663440" y="1737360"/>
            <a:ext cx="4206240" cy="347472"/>
          </a:xfrm>
          <a:prstGeom prst="rect">
            <a:avLst/>
          </a:prstGeom>
          <a:solidFill>
            <a:srgbClr val="1E1E1E"/>
          </a:solidFill>
          <a:ln/>
        </p:spPr>
      </p:sp>
      <p:sp>
        <p:nvSpPr>
          <p:cNvPr id="16" name="Text 13"/>
          <p:cNvSpPr/>
          <p:nvPr/>
        </p:nvSpPr>
        <p:spPr>
          <a:xfrm>
            <a:off x="475488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Key Characteristics</a:t>
            </a:r>
            <a:endParaRPr lang="en-US" sz="1100" dirty="0"/>
          </a:p>
        </p:txBody>
      </p:sp>
      <p:sp>
        <p:nvSpPr>
          <p:cNvPr id="17" name="Text 14"/>
          <p:cNvSpPr/>
          <p:nvPr/>
        </p:nvSpPr>
        <p:spPr>
          <a:xfrm>
            <a:off x="4773168" y="2139696"/>
            <a:ext cx="3986784" cy="1517904"/>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Typically 10–20 test cases — NOT comprehensive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Executed FIRST, before any other testing begins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Takes 15–30 minutes to complete (often automated)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PASS → Proceed with full testing cycle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FAIL → STOP all testing, escalate to DevOps/Dev team</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Run automatically in CI/CD pipelines after every deployment</a:t>
            </a:r>
            <a:endParaRPr lang="en-US" sz="1050" dirty="0"/>
          </a:p>
        </p:txBody>
      </p:sp>
      <p:sp>
        <p:nvSpPr>
          <p:cNvPr id="18" name="Shape 15"/>
          <p:cNvSpPr/>
          <p:nvPr/>
        </p:nvSpPr>
        <p:spPr>
          <a:xfrm>
            <a:off x="274320" y="3840480"/>
            <a:ext cx="4206240" cy="1298448"/>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274320" y="3840480"/>
            <a:ext cx="4206240" cy="347472"/>
          </a:xfrm>
          <a:prstGeom prst="rect">
            <a:avLst/>
          </a:prstGeom>
          <a:solidFill>
            <a:srgbClr val="2A2A2A"/>
          </a:solidFill>
          <a:ln/>
        </p:spPr>
      </p:sp>
      <p:sp>
        <p:nvSpPr>
          <p:cNvPr id="20" name="Text 17"/>
          <p:cNvSpPr/>
          <p:nvPr/>
        </p:nvSpPr>
        <p:spPr>
          <a:xfrm>
            <a:off x="365760" y="388620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Tools for Smoke Testing</a:t>
            </a:r>
            <a:endParaRPr lang="en-US" sz="1100" dirty="0"/>
          </a:p>
        </p:txBody>
      </p:sp>
      <p:sp>
        <p:nvSpPr>
          <p:cNvPr id="21" name="Text 18"/>
          <p:cNvSpPr/>
          <p:nvPr/>
        </p:nvSpPr>
        <p:spPr>
          <a:xfrm>
            <a:off x="384048" y="4242816"/>
            <a:ext cx="3986784" cy="8229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Playwright / Selenium — automated smoke scripts triggered by CI</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Postman — API smoke test collections via Newman runner</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Jenkins / GitHub Actions — triggers smoke on every build deploy</a:t>
            </a:r>
            <a:endParaRPr lang="en-US" sz="1000" dirty="0"/>
          </a:p>
        </p:txBody>
      </p:sp>
      <p:sp>
        <p:nvSpPr>
          <p:cNvPr id="22" name="Shape 19"/>
          <p:cNvSpPr/>
          <p:nvPr/>
        </p:nvSpPr>
        <p:spPr>
          <a:xfrm>
            <a:off x="4663440" y="3840480"/>
            <a:ext cx="4206240" cy="1298448"/>
          </a:xfrm>
          <a:prstGeom prst="rect">
            <a:avLst/>
          </a:prstGeom>
          <a:solidFill>
            <a:srgbClr val="FFFFFF"/>
          </a:solidFill>
          <a:ln/>
          <a:effectLst>
            <a:outerShdw blurRad="101600" dist="38100" dir="8100000" algn="bl" rotWithShape="0">
              <a:srgbClr val="000000">
                <a:alpha val="18000"/>
              </a:srgbClr>
            </a:outerShdw>
          </a:effectLst>
        </p:spPr>
      </p:sp>
      <p:sp>
        <p:nvSpPr>
          <p:cNvPr id="23" name="Shape 20"/>
          <p:cNvSpPr/>
          <p:nvPr/>
        </p:nvSpPr>
        <p:spPr>
          <a:xfrm>
            <a:off x="4663440" y="3840480"/>
            <a:ext cx="4206240" cy="347472"/>
          </a:xfrm>
          <a:prstGeom prst="rect">
            <a:avLst/>
          </a:prstGeom>
          <a:solidFill>
            <a:srgbClr val="E8670D"/>
          </a:solidFill>
          <a:ln/>
        </p:spPr>
      </p:sp>
      <p:sp>
        <p:nvSpPr>
          <p:cNvPr id="24" name="Text 21"/>
          <p:cNvSpPr/>
          <p:nvPr/>
        </p:nvSpPr>
        <p:spPr>
          <a:xfrm>
            <a:off x="4754880" y="388620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Real-World Example</a:t>
            </a:r>
            <a:endParaRPr lang="en-US" sz="1100" dirty="0"/>
          </a:p>
        </p:txBody>
      </p:sp>
      <p:sp>
        <p:nvSpPr>
          <p:cNvPr id="25" name="Text 22"/>
          <p:cNvSpPr/>
          <p:nvPr/>
        </p:nvSpPr>
        <p:spPr>
          <a:xfrm>
            <a:off x="4773168" y="4242816"/>
            <a:ext cx="3986784" cy="8229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E-commerce post-deployment smoke tests:</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1. Homepage loads (&lt; 3s)  2. Login works  3. Product search returns results</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4. Add to cart works  5. Payment gateway reachable</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If any of these 5 checks fail → deployment is rolled back</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Sanity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Targeted verification that a specific fix or change works correctly</a:t>
            </a:r>
            <a:endParaRPr lang="en-US" sz="1100" dirty="0"/>
          </a:p>
        </p:txBody>
      </p:sp>
      <p:sp>
        <p:nvSpPr>
          <p:cNvPr id="6" name="Shape 3"/>
          <p:cNvSpPr/>
          <p:nvPr/>
        </p:nvSpPr>
        <p:spPr>
          <a:xfrm>
            <a:off x="7790688" y="658368"/>
            <a:ext cx="1298448" cy="347472"/>
          </a:xfrm>
          <a:prstGeom prst="rect">
            <a:avLst/>
          </a:prstGeom>
          <a:solidFill>
            <a:srgbClr val="E8670D"/>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Functional</a:t>
            </a:r>
            <a:endParaRPr lang="en-US" sz="800" dirty="0"/>
          </a:p>
        </p:txBody>
      </p:sp>
      <p:sp>
        <p:nvSpPr>
          <p:cNvPr id="8" name="Shape 5"/>
          <p:cNvSpPr/>
          <p:nvPr/>
        </p:nvSpPr>
        <p:spPr>
          <a:xfrm>
            <a:off x="274320" y="960120"/>
            <a:ext cx="8595360" cy="621792"/>
          </a:xfrm>
          <a:prstGeom prst="rect">
            <a:avLst/>
          </a:prstGeom>
          <a:solidFill>
            <a:srgbClr val="1E1E1E"/>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Sanity Testing is a NARROW, FOCUSED check performed after a minor code change or bug fix to verify that the specific change works correctly and has not broken any closely related functionality. Unlike smoke testing (which covers the whole system broadly), sanity testing covers one area in depth.</a:t>
            </a:r>
            <a:endParaRPr lang="en-US" sz="1200" dirty="0"/>
          </a:p>
        </p:txBody>
      </p:sp>
      <p:sp>
        <p:nvSpPr>
          <p:cNvPr id="10" name="Text 7"/>
          <p:cNvSpPr/>
          <p:nvPr/>
        </p:nvSpPr>
        <p:spPr>
          <a:xfrm>
            <a:off x="274320" y="1664208"/>
            <a:ext cx="8595360" cy="256032"/>
          </a:xfrm>
          <a:prstGeom prst="rect">
            <a:avLst/>
          </a:prstGeom>
          <a:noFill/>
          <a:ln/>
        </p:spPr>
        <p:txBody>
          <a:bodyPr wrap="square" rtlCol="0" anchor="ctr"/>
          <a:lstStyle/>
          <a:p>
            <a:pPr marL="0" indent="0">
              <a:buNone/>
            </a:pPr>
            <a:r>
              <a:rPr lang="en-US" sz="1000" b="1" kern="0" spc="150" dirty="0">
                <a:solidFill>
                  <a:srgbClr val="E8670D"/>
                </a:solidFill>
                <a:latin typeface="Calibri" pitchFamily="34" charset="0"/>
                <a:ea typeface="Calibri" pitchFamily="34" charset="-122"/>
                <a:cs typeface="Calibri" pitchFamily="34" charset="-120"/>
              </a:rPr>
              <a:t>SMOKE TESTING vs SANITY TESTING — COMPARISON</a:t>
            </a:r>
            <a:endParaRPr lang="en-US" sz="1000" dirty="0"/>
          </a:p>
        </p:txBody>
      </p:sp>
      <p:sp>
        <p:nvSpPr>
          <p:cNvPr id="11" name="Shape 8"/>
          <p:cNvSpPr/>
          <p:nvPr/>
        </p:nvSpPr>
        <p:spPr>
          <a:xfrm>
            <a:off x="274320" y="1965960"/>
            <a:ext cx="1463040" cy="384048"/>
          </a:xfrm>
          <a:prstGeom prst="rect">
            <a:avLst/>
          </a:prstGeom>
          <a:solidFill>
            <a:srgbClr val="E8670D"/>
          </a:solidFill>
          <a:ln w="6350">
            <a:solidFill>
              <a:srgbClr val="DDCCBB"/>
            </a:solidFill>
            <a:prstDash val="solid"/>
          </a:ln>
        </p:spPr>
      </p:sp>
      <p:sp>
        <p:nvSpPr>
          <p:cNvPr id="12" name="Text 9"/>
          <p:cNvSpPr/>
          <p:nvPr/>
        </p:nvSpPr>
        <p:spPr>
          <a:xfrm>
            <a:off x="320040" y="2020824"/>
            <a:ext cx="137160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Aspect</a:t>
            </a:r>
            <a:endParaRPr lang="en-US" sz="950" dirty="0"/>
          </a:p>
        </p:txBody>
      </p:sp>
      <p:sp>
        <p:nvSpPr>
          <p:cNvPr id="13" name="Shape 10"/>
          <p:cNvSpPr/>
          <p:nvPr/>
        </p:nvSpPr>
        <p:spPr>
          <a:xfrm>
            <a:off x="1737360" y="1965960"/>
            <a:ext cx="3474720" cy="384048"/>
          </a:xfrm>
          <a:prstGeom prst="rect">
            <a:avLst/>
          </a:prstGeom>
          <a:solidFill>
            <a:srgbClr val="E8670D"/>
          </a:solidFill>
          <a:ln w="6350">
            <a:solidFill>
              <a:srgbClr val="DDCCBB"/>
            </a:solidFill>
            <a:prstDash val="solid"/>
          </a:ln>
        </p:spPr>
      </p:sp>
      <p:sp>
        <p:nvSpPr>
          <p:cNvPr id="14" name="Text 11"/>
          <p:cNvSpPr/>
          <p:nvPr/>
        </p:nvSpPr>
        <p:spPr>
          <a:xfrm>
            <a:off x="1783080" y="2020824"/>
            <a:ext cx="338328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Smoke Testing</a:t>
            </a:r>
            <a:endParaRPr lang="en-US" sz="950" dirty="0"/>
          </a:p>
        </p:txBody>
      </p:sp>
      <p:sp>
        <p:nvSpPr>
          <p:cNvPr id="15" name="Shape 12"/>
          <p:cNvSpPr/>
          <p:nvPr/>
        </p:nvSpPr>
        <p:spPr>
          <a:xfrm>
            <a:off x="5212080" y="1965960"/>
            <a:ext cx="3474720" cy="384048"/>
          </a:xfrm>
          <a:prstGeom prst="rect">
            <a:avLst/>
          </a:prstGeom>
          <a:solidFill>
            <a:srgbClr val="E8670D"/>
          </a:solidFill>
          <a:ln w="6350">
            <a:solidFill>
              <a:srgbClr val="DDCCBB"/>
            </a:solidFill>
            <a:prstDash val="solid"/>
          </a:ln>
        </p:spPr>
      </p:sp>
      <p:sp>
        <p:nvSpPr>
          <p:cNvPr id="16" name="Text 13"/>
          <p:cNvSpPr/>
          <p:nvPr/>
        </p:nvSpPr>
        <p:spPr>
          <a:xfrm>
            <a:off x="5257800" y="2020824"/>
            <a:ext cx="338328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Sanity Testing</a:t>
            </a:r>
            <a:endParaRPr lang="en-US" sz="950" dirty="0"/>
          </a:p>
        </p:txBody>
      </p:sp>
      <p:sp>
        <p:nvSpPr>
          <p:cNvPr id="17" name="Shape 14"/>
          <p:cNvSpPr/>
          <p:nvPr/>
        </p:nvSpPr>
        <p:spPr>
          <a:xfrm>
            <a:off x="274320" y="2350008"/>
            <a:ext cx="1463040" cy="384048"/>
          </a:xfrm>
          <a:prstGeom prst="rect">
            <a:avLst/>
          </a:prstGeom>
          <a:solidFill>
            <a:srgbClr val="FFFFFF"/>
          </a:solidFill>
          <a:ln w="6350">
            <a:solidFill>
              <a:srgbClr val="DDCCBB"/>
            </a:solidFill>
            <a:prstDash val="solid"/>
          </a:ln>
        </p:spPr>
      </p:sp>
      <p:sp>
        <p:nvSpPr>
          <p:cNvPr id="18" name="Text 15"/>
          <p:cNvSpPr/>
          <p:nvPr/>
        </p:nvSpPr>
        <p:spPr>
          <a:xfrm>
            <a:off x="320040" y="2404872"/>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Scope</a:t>
            </a:r>
            <a:endParaRPr lang="en-US" sz="900" dirty="0"/>
          </a:p>
        </p:txBody>
      </p:sp>
      <p:sp>
        <p:nvSpPr>
          <p:cNvPr id="19" name="Shape 16"/>
          <p:cNvSpPr/>
          <p:nvPr/>
        </p:nvSpPr>
        <p:spPr>
          <a:xfrm>
            <a:off x="1737360" y="2350008"/>
            <a:ext cx="3474720" cy="384048"/>
          </a:xfrm>
          <a:prstGeom prst="rect">
            <a:avLst/>
          </a:prstGeom>
          <a:solidFill>
            <a:srgbClr val="FFFFFF"/>
          </a:solidFill>
          <a:ln w="6350">
            <a:solidFill>
              <a:srgbClr val="DDCCBB"/>
            </a:solidFill>
            <a:prstDash val="solid"/>
          </a:ln>
        </p:spPr>
      </p:sp>
      <p:sp>
        <p:nvSpPr>
          <p:cNvPr id="20" name="Text 17"/>
          <p:cNvSpPr/>
          <p:nvPr/>
        </p:nvSpPr>
        <p:spPr>
          <a:xfrm>
            <a:off x="1783080" y="2404872"/>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Broad — covers entire application</a:t>
            </a:r>
            <a:endParaRPr lang="en-US" sz="900" dirty="0"/>
          </a:p>
        </p:txBody>
      </p:sp>
      <p:sp>
        <p:nvSpPr>
          <p:cNvPr id="21" name="Shape 18"/>
          <p:cNvSpPr/>
          <p:nvPr/>
        </p:nvSpPr>
        <p:spPr>
          <a:xfrm>
            <a:off x="5212080" y="2350008"/>
            <a:ext cx="3474720" cy="384048"/>
          </a:xfrm>
          <a:prstGeom prst="rect">
            <a:avLst/>
          </a:prstGeom>
          <a:solidFill>
            <a:srgbClr val="FFFFFF"/>
          </a:solidFill>
          <a:ln w="6350">
            <a:solidFill>
              <a:srgbClr val="DDCCBB"/>
            </a:solidFill>
            <a:prstDash val="solid"/>
          </a:ln>
        </p:spPr>
      </p:sp>
      <p:sp>
        <p:nvSpPr>
          <p:cNvPr id="22" name="Text 19"/>
          <p:cNvSpPr/>
          <p:nvPr/>
        </p:nvSpPr>
        <p:spPr>
          <a:xfrm>
            <a:off x="5257800" y="2404872"/>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Narrow — covers specific changed area</a:t>
            </a:r>
            <a:endParaRPr lang="en-US" sz="900" dirty="0"/>
          </a:p>
        </p:txBody>
      </p:sp>
      <p:sp>
        <p:nvSpPr>
          <p:cNvPr id="23" name="Shape 20"/>
          <p:cNvSpPr/>
          <p:nvPr/>
        </p:nvSpPr>
        <p:spPr>
          <a:xfrm>
            <a:off x="274320" y="2734056"/>
            <a:ext cx="1463040" cy="384048"/>
          </a:xfrm>
          <a:prstGeom prst="rect">
            <a:avLst/>
          </a:prstGeom>
          <a:solidFill>
            <a:srgbClr val="FFF5EE"/>
          </a:solidFill>
          <a:ln w="6350">
            <a:solidFill>
              <a:srgbClr val="DDCCBB"/>
            </a:solidFill>
            <a:prstDash val="solid"/>
          </a:ln>
        </p:spPr>
      </p:sp>
      <p:sp>
        <p:nvSpPr>
          <p:cNvPr id="24" name="Text 21"/>
          <p:cNvSpPr/>
          <p:nvPr/>
        </p:nvSpPr>
        <p:spPr>
          <a:xfrm>
            <a:off x="320040" y="2788920"/>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Depth</a:t>
            </a:r>
            <a:endParaRPr lang="en-US" sz="900" dirty="0"/>
          </a:p>
        </p:txBody>
      </p:sp>
      <p:sp>
        <p:nvSpPr>
          <p:cNvPr id="25" name="Shape 22"/>
          <p:cNvSpPr/>
          <p:nvPr/>
        </p:nvSpPr>
        <p:spPr>
          <a:xfrm>
            <a:off x="1737360" y="2734056"/>
            <a:ext cx="3474720" cy="384048"/>
          </a:xfrm>
          <a:prstGeom prst="rect">
            <a:avLst/>
          </a:prstGeom>
          <a:solidFill>
            <a:srgbClr val="FFF5EE"/>
          </a:solidFill>
          <a:ln w="6350">
            <a:solidFill>
              <a:srgbClr val="DDCCBB"/>
            </a:solidFill>
            <a:prstDash val="solid"/>
          </a:ln>
        </p:spPr>
      </p:sp>
      <p:sp>
        <p:nvSpPr>
          <p:cNvPr id="26" name="Text 23"/>
          <p:cNvSpPr/>
          <p:nvPr/>
        </p:nvSpPr>
        <p:spPr>
          <a:xfrm>
            <a:off x="1783080" y="2788920"/>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Shallow — surface-level checks only</a:t>
            </a:r>
            <a:endParaRPr lang="en-US" sz="900" dirty="0"/>
          </a:p>
        </p:txBody>
      </p:sp>
      <p:sp>
        <p:nvSpPr>
          <p:cNvPr id="27" name="Shape 24"/>
          <p:cNvSpPr/>
          <p:nvPr/>
        </p:nvSpPr>
        <p:spPr>
          <a:xfrm>
            <a:off x="5212080" y="2734056"/>
            <a:ext cx="3474720" cy="384048"/>
          </a:xfrm>
          <a:prstGeom prst="rect">
            <a:avLst/>
          </a:prstGeom>
          <a:solidFill>
            <a:srgbClr val="FFF5EE"/>
          </a:solidFill>
          <a:ln w="6350">
            <a:solidFill>
              <a:srgbClr val="DDCCBB"/>
            </a:solidFill>
            <a:prstDash val="solid"/>
          </a:ln>
        </p:spPr>
      </p:sp>
      <p:sp>
        <p:nvSpPr>
          <p:cNvPr id="28" name="Text 25"/>
          <p:cNvSpPr/>
          <p:nvPr/>
        </p:nvSpPr>
        <p:spPr>
          <a:xfrm>
            <a:off x="5257800" y="2788920"/>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Deep — thorough within a focused area</a:t>
            </a:r>
            <a:endParaRPr lang="en-US" sz="900" dirty="0"/>
          </a:p>
        </p:txBody>
      </p:sp>
      <p:sp>
        <p:nvSpPr>
          <p:cNvPr id="29" name="Shape 26"/>
          <p:cNvSpPr/>
          <p:nvPr/>
        </p:nvSpPr>
        <p:spPr>
          <a:xfrm>
            <a:off x="274320" y="3118104"/>
            <a:ext cx="1463040" cy="384048"/>
          </a:xfrm>
          <a:prstGeom prst="rect">
            <a:avLst/>
          </a:prstGeom>
          <a:solidFill>
            <a:srgbClr val="FFFFFF"/>
          </a:solidFill>
          <a:ln w="6350">
            <a:solidFill>
              <a:srgbClr val="DDCCBB"/>
            </a:solidFill>
            <a:prstDash val="solid"/>
          </a:ln>
        </p:spPr>
      </p:sp>
      <p:sp>
        <p:nvSpPr>
          <p:cNvPr id="30" name="Text 27"/>
          <p:cNvSpPr/>
          <p:nvPr/>
        </p:nvSpPr>
        <p:spPr>
          <a:xfrm>
            <a:off x="320040" y="3172968"/>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Purpose</a:t>
            </a:r>
            <a:endParaRPr lang="en-US" sz="900" dirty="0"/>
          </a:p>
        </p:txBody>
      </p:sp>
      <p:sp>
        <p:nvSpPr>
          <p:cNvPr id="31" name="Shape 28"/>
          <p:cNvSpPr/>
          <p:nvPr/>
        </p:nvSpPr>
        <p:spPr>
          <a:xfrm>
            <a:off x="1737360" y="3118104"/>
            <a:ext cx="3474720" cy="384048"/>
          </a:xfrm>
          <a:prstGeom prst="rect">
            <a:avLst/>
          </a:prstGeom>
          <a:solidFill>
            <a:srgbClr val="FFFFFF"/>
          </a:solidFill>
          <a:ln w="6350">
            <a:solidFill>
              <a:srgbClr val="DDCCBB"/>
            </a:solidFill>
            <a:prstDash val="solid"/>
          </a:ln>
        </p:spPr>
      </p:sp>
      <p:sp>
        <p:nvSpPr>
          <p:cNvPr id="32" name="Text 29"/>
          <p:cNvSpPr/>
          <p:nvPr/>
        </p:nvSpPr>
        <p:spPr>
          <a:xfrm>
            <a:off x="1783080" y="3172968"/>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Is the build STABLE enough to test?</a:t>
            </a:r>
            <a:endParaRPr lang="en-US" sz="900" dirty="0"/>
          </a:p>
        </p:txBody>
      </p:sp>
      <p:sp>
        <p:nvSpPr>
          <p:cNvPr id="33" name="Shape 30"/>
          <p:cNvSpPr/>
          <p:nvPr/>
        </p:nvSpPr>
        <p:spPr>
          <a:xfrm>
            <a:off x="5212080" y="3118104"/>
            <a:ext cx="3474720" cy="384048"/>
          </a:xfrm>
          <a:prstGeom prst="rect">
            <a:avLst/>
          </a:prstGeom>
          <a:solidFill>
            <a:srgbClr val="FFFFFF"/>
          </a:solidFill>
          <a:ln w="6350">
            <a:solidFill>
              <a:srgbClr val="DDCCBB"/>
            </a:solidFill>
            <a:prstDash val="solid"/>
          </a:ln>
        </p:spPr>
      </p:sp>
      <p:sp>
        <p:nvSpPr>
          <p:cNvPr id="34" name="Text 31"/>
          <p:cNvSpPr/>
          <p:nvPr/>
        </p:nvSpPr>
        <p:spPr>
          <a:xfrm>
            <a:off x="5257800" y="3172968"/>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Does this SPECIFIC CHANGE work correctly?</a:t>
            </a:r>
            <a:endParaRPr lang="en-US" sz="900" dirty="0"/>
          </a:p>
        </p:txBody>
      </p:sp>
      <p:sp>
        <p:nvSpPr>
          <p:cNvPr id="35" name="Shape 32"/>
          <p:cNvSpPr/>
          <p:nvPr/>
        </p:nvSpPr>
        <p:spPr>
          <a:xfrm>
            <a:off x="274320" y="3502152"/>
            <a:ext cx="1463040" cy="384048"/>
          </a:xfrm>
          <a:prstGeom prst="rect">
            <a:avLst/>
          </a:prstGeom>
          <a:solidFill>
            <a:srgbClr val="FFF5EE"/>
          </a:solidFill>
          <a:ln w="6350">
            <a:solidFill>
              <a:srgbClr val="DDCCBB"/>
            </a:solidFill>
            <a:prstDash val="solid"/>
          </a:ln>
        </p:spPr>
      </p:sp>
      <p:sp>
        <p:nvSpPr>
          <p:cNvPr id="36" name="Text 33"/>
          <p:cNvSpPr/>
          <p:nvPr/>
        </p:nvSpPr>
        <p:spPr>
          <a:xfrm>
            <a:off x="320040" y="3557016"/>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When used</a:t>
            </a:r>
            <a:endParaRPr lang="en-US" sz="900" dirty="0"/>
          </a:p>
        </p:txBody>
      </p:sp>
      <p:sp>
        <p:nvSpPr>
          <p:cNvPr id="37" name="Shape 34"/>
          <p:cNvSpPr/>
          <p:nvPr/>
        </p:nvSpPr>
        <p:spPr>
          <a:xfrm>
            <a:off x="1737360" y="3502152"/>
            <a:ext cx="3474720" cy="384048"/>
          </a:xfrm>
          <a:prstGeom prst="rect">
            <a:avLst/>
          </a:prstGeom>
          <a:solidFill>
            <a:srgbClr val="FFF5EE"/>
          </a:solidFill>
          <a:ln w="6350">
            <a:solidFill>
              <a:srgbClr val="DDCCBB"/>
            </a:solidFill>
            <a:prstDash val="solid"/>
          </a:ln>
        </p:spPr>
      </p:sp>
      <p:sp>
        <p:nvSpPr>
          <p:cNvPr id="38" name="Text 35"/>
          <p:cNvSpPr/>
          <p:nvPr/>
        </p:nvSpPr>
        <p:spPr>
          <a:xfrm>
            <a:off x="1783080" y="3557016"/>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After every new build is deployed</a:t>
            </a:r>
            <a:endParaRPr lang="en-US" sz="900" dirty="0"/>
          </a:p>
        </p:txBody>
      </p:sp>
      <p:sp>
        <p:nvSpPr>
          <p:cNvPr id="39" name="Shape 36"/>
          <p:cNvSpPr/>
          <p:nvPr/>
        </p:nvSpPr>
        <p:spPr>
          <a:xfrm>
            <a:off x="5212080" y="3502152"/>
            <a:ext cx="3474720" cy="384048"/>
          </a:xfrm>
          <a:prstGeom prst="rect">
            <a:avLst/>
          </a:prstGeom>
          <a:solidFill>
            <a:srgbClr val="FFF5EE"/>
          </a:solidFill>
          <a:ln w="6350">
            <a:solidFill>
              <a:srgbClr val="DDCCBB"/>
            </a:solidFill>
            <a:prstDash val="solid"/>
          </a:ln>
        </p:spPr>
      </p:sp>
      <p:sp>
        <p:nvSpPr>
          <p:cNvPr id="40" name="Text 37"/>
          <p:cNvSpPr/>
          <p:nvPr/>
        </p:nvSpPr>
        <p:spPr>
          <a:xfrm>
            <a:off x="5257800" y="3557016"/>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After a bug fix or minor change</a:t>
            </a:r>
            <a:endParaRPr lang="en-US" sz="900" dirty="0"/>
          </a:p>
        </p:txBody>
      </p:sp>
      <p:sp>
        <p:nvSpPr>
          <p:cNvPr id="41" name="Shape 38"/>
          <p:cNvSpPr/>
          <p:nvPr/>
        </p:nvSpPr>
        <p:spPr>
          <a:xfrm>
            <a:off x="274320" y="3886200"/>
            <a:ext cx="1463040" cy="384048"/>
          </a:xfrm>
          <a:prstGeom prst="rect">
            <a:avLst/>
          </a:prstGeom>
          <a:solidFill>
            <a:srgbClr val="FFFFFF"/>
          </a:solidFill>
          <a:ln w="6350">
            <a:solidFill>
              <a:srgbClr val="DDCCBB"/>
            </a:solidFill>
            <a:prstDash val="solid"/>
          </a:ln>
        </p:spPr>
      </p:sp>
      <p:sp>
        <p:nvSpPr>
          <p:cNvPr id="42" name="Text 39"/>
          <p:cNvSpPr/>
          <p:nvPr/>
        </p:nvSpPr>
        <p:spPr>
          <a:xfrm>
            <a:off x="320040" y="3941064"/>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Who performs</a:t>
            </a:r>
            <a:endParaRPr lang="en-US" sz="900" dirty="0"/>
          </a:p>
        </p:txBody>
      </p:sp>
      <p:sp>
        <p:nvSpPr>
          <p:cNvPr id="43" name="Shape 40"/>
          <p:cNvSpPr/>
          <p:nvPr/>
        </p:nvSpPr>
        <p:spPr>
          <a:xfrm>
            <a:off x="1737360" y="3886200"/>
            <a:ext cx="3474720" cy="384048"/>
          </a:xfrm>
          <a:prstGeom prst="rect">
            <a:avLst/>
          </a:prstGeom>
          <a:solidFill>
            <a:srgbClr val="FFFFFF"/>
          </a:solidFill>
          <a:ln w="6350">
            <a:solidFill>
              <a:srgbClr val="DDCCBB"/>
            </a:solidFill>
            <a:prstDash val="solid"/>
          </a:ln>
        </p:spPr>
      </p:sp>
      <p:sp>
        <p:nvSpPr>
          <p:cNvPr id="44" name="Text 41"/>
          <p:cNvSpPr/>
          <p:nvPr/>
        </p:nvSpPr>
        <p:spPr>
          <a:xfrm>
            <a:off x="1783080" y="3941064"/>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QA team (often automated)</a:t>
            </a:r>
            <a:endParaRPr lang="en-US" sz="900" dirty="0"/>
          </a:p>
        </p:txBody>
      </p:sp>
      <p:sp>
        <p:nvSpPr>
          <p:cNvPr id="45" name="Shape 42"/>
          <p:cNvSpPr/>
          <p:nvPr/>
        </p:nvSpPr>
        <p:spPr>
          <a:xfrm>
            <a:off x="5212080" y="3886200"/>
            <a:ext cx="3474720" cy="384048"/>
          </a:xfrm>
          <a:prstGeom prst="rect">
            <a:avLst/>
          </a:prstGeom>
          <a:solidFill>
            <a:srgbClr val="FFFFFF"/>
          </a:solidFill>
          <a:ln w="6350">
            <a:solidFill>
              <a:srgbClr val="DDCCBB"/>
            </a:solidFill>
            <a:prstDash val="solid"/>
          </a:ln>
        </p:spPr>
      </p:sp>
      <p:sp>
        <p:nvSpPr>
          <p:cNvPr id="46" name="Text 43"/>
          <p:cNvSpPr/>
          <p:nvPr/>
        </p:nvSpPr>
        <p:spPr>
          <a:xfrm>
            <a:off x="5257800" y="3941064"/>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QA engineer (usually manual)</a:t>
            </a:r>
            <a:endParaRPr lang="en-US" sz="900" dirty="0"/>
          </a:p>
        </p:txBody>
      </p:sp>
      <p:sp>
        <p:nvSpPr>
          <p:cNvPr id="47" name="Shape 44"/>
          <p:cNvSpPr/>
          <p:nvPr/>
        </p:nvSpPr>
        <p:spPr>
          <a:xfrm>
            <a:off x="274320" y="4270248"/>
            <a:ext cx="1463040" cy="384048"/>
          </a:xfrm>
          <a:prstGeom prst="rect">
            <a:avLst/>
          </a:prstGeom>
          <a:solidFill>
            <a:srgbClr val="FFF5EE"/>
          </a:solidFill>
          <a:ln w="6350">
            <a:solidFill>
              <a:srgbClr val="DDCCBB"/>
            </a:solidFill>
            <a:prstDash val="solid"/>
          </a:ln>
        </p:spPr>
      </p:sp>
      <p:sp>
        <p:nvSpPr>
          <p:cNvPr id="48" name="Text 45"/>
          <p:cNvSpPr/>
          <p:nvPr/>
        </p:nvSpPr>
        <p:spPr>
          <a:xfrm>
            <a:off x="320040" y="4325112"/>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Documented?</a:t>
            </a:r>
            <a:endParaRPr lang="en-US" sz="900" dirty="0"/>
          </a:p>
        </p:txBody>
      </p:sp>
      <p:sp>
        <p:nvSpPr>
          <p:cNvPr id="49" name="Shape 46"/>
          <p:cNvSpPr/>
          <p:nvPr/>
        </p:nvSpPr>
        <p:spPr>
          <a:xfrm>
            <a:off x="1737360" y="4270248"/>
            <a:ext cx="3474720" cy="384048"/>
          </a:xfrm>
          <a:prstGeom prst="rect">
            <a:avLst/>
          </a:prstGeom>
          <a:solidFill>
            <a:srgbClr val="FFF5EE"/>
          </a:solidFill>
          <a:ln w="6350">
            <a:solidFill>
              <a:srgbClr val="DDCCBB"/>
            </a:solidFill>
            <a:prstDash val="solid"/>
          </a:ln>
        </p:spPr>
      </p:sp>
      <p:sp>
        <p:nvSpPr>
          <p:cNvPr id="50" name="Text 47"/>
          <p:cNvSpPr/>
          <p:nvPr/>
        </p:nvSpPr>
        <p:spPr>
          <a:xfrm>
            <a:off x="1783080" y="4325112"/>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Always documented and tracked</a:t>
            </a:r>
            <a:endParaRPr lang="en-US" sz="900" dirty="0"/>
          </a:p>
        </p:txBody>
      </p:sp>
      <p:sp>
        <p:nvSpPr>
          <p:cNvPr id="51" name="Shape 48"/>
          <p:cNvSpPr/>
          <p:nvPr/>
        </p:nvSpPr>
        <p:spPr>
          <a:xfrm>
            <a:off x="5212080" y="4270248"/>
            <a:ext cx="3474720" cy="384048"/>
          </a:xfrm>
          <a:prstGeom prst="rect">
            <a:avLst/>
          </a:prstGeom>
          <a:solidFill>
            <a:srgbClr val="FFF5EE"/>
          </a:solidFill>
          <a:ln w="6350">
            <a:solidFill>
              <a:srgbClr val="DDCCBB"/>
            </a:solidFill>
            <a:prstDash val="solid"/>
          </a:ln>
        </p:spPr>
      </p:sp>
      <p:sp>
        <p:nvSpPr>
          <p:cNvPr id="52" name="Text 49"/>
          <p:cNvSpPr/>
          <p:nvPr/>
        </p:nvSpPr>
        <p:spPr>
          <a:xfrm>
            <a:off x="5257800" y="4325112"/>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Often undocumented (subset of test suite)</a:t>
            </a:r>
            <a:endParaRPr lang="en-US" sz="900" dirty="0"/>
          </a:p>
        </p:txBody>
      </p:sp>
      <p:sp>
        <p:nvSpPr>
          <p:cNvPr id="53" name="Shape 50"/>
          <p:cNvSpPr/>
          <p:nvPr/>
        </p:nvSpPr>
        <p:spPr>
          <a:xfrm>
            <a:off x="274320" y="4654296"/>
            <a:ext cx="1463040" cy="384048"/>
          </a:xfrm>
          <a:prstGeom prst="rect">
            <a:avLst/>
          </a:prstGeom>
          <a:solidFill>
            <a:srgbClr val="FFFFFF"/>
          </a:solidFill>
          <a:ln w="6350">
            <a:solidFill>
              <a:srgbClr val="DDCCBB"/>
            </a:solidFill>
            <a:prstDash val="solid"/>
          </a:ln>
        </p:spPr>
      </p:sp>
      <p:sp>
        <p:nvSpPr>
          <p:cNvPr id="54" name="Text 51"/>
          <p:cNvSpPr/>
          <p:nvPr/>
        </p:nvSpPr>
        <p:spPr>
          <a:xfrm>
            <a:off x="320040" y="4709160"/>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Duration</a:t>
            </a:r>
            <a:endParaRPr lang="en-US" sz="900" dirty="0"/>
          </a:p>
        </p:txBody>
      </p:sp>
      <p:sp>
        <p:nvSpPr>
          <p:cNvPr id="55" name="Shape 52"/>
          <p:cNvSpPr/>
          <p:nvPr/>
        </p:nvSpPr>
        <p:spPr>
          <a:xfrm>
            <a:off x="1737360" y="4654296"/>
            <a:ext cx="3474720" cy="384048"/>
          </a:xfrm>
          <a:prstGeom prst="rect">
            <a:avLst/>
          </a:prstGeom>
          <a:solidFill>
            <a:srgbClr val="FFFFFF"/>
          </a:solidFill>
          <a:ln w="6350">
            <a:solidFill>
              <a:srgbClr val="DDCCBB"/>
            </a:solidFill>
            <a:prstDash val="solid"/>
          </a:ln>
        </p:spPr>
      </p:sp>
      <p:sp>
        <p:nvSpPr>
          <p:cNvPr id="56" name="Text 53"/>
          <p:cNvSpPr/>
          <p:nvPr/>
        </p:nvSpPr>
        <p:spPr>
          <a:xfrm>
            <a:off x="1783080" y="4709160"/>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15–30 minutes (10–20 tests)</a:t>
            </a:r>
            <a:endParaRPr lang="en-US" sz="900" dirty="0"/>
          </a:p>
        </p:txBody>
      </p:sp>
      <p:sp>
        <p:nvSpPr>
          <p:cNvPr id="57" name="Shape 54"/>
          <p:cNvSpPr/>
          <p:nvPr/>
        </p:nvSpPr>
        <p:spPr>
          <a:xfrm>
            <a:off x="5212080" y="4654296"/>
            <a:ext cx="3474720" cy="384048"/>
          </a:xfrm>
          <a:prstGeom prst="rect">
            <a:avLst/>
          </a:prstGeom>
          <a:solidFill>
            <a:srgbClr val="FFFFFF"/>
          </a:solidFill>
          <a:ln w="6350">
            <a:solidFill>
              <a:srgbClr val="DDCCBB"/>
            </a:solidFill>
            <a:prstDash val="solid"/>
          </a:ln>
        </p:spPr>
      </p:sp>
      <p:sp>
        <p:nvSpPr>
          <p:cNvPr id="58" name="Text 55"/>
          <p:cNvSpPr/>
          <p:nvPr/>
        </p:nvSpPr>
        <p:spPr>
          <a:xfrm>
            <a:off x="5257800" y="4709160"/>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30–60 minutes (focused area)</a:t>
            </a:r>
            <a:endParaRPr lang="en-US" sz="900" dirty="0"/>
          </a:p>
        </p:txBody>
      </p:sp>
      <p:sp>
        <p:nvSpPr>
          <p:cNvPr id="59" name="Shape 56"/>
          <p:cNvSpPr/>
          <p:nvPr/>
        </p:nvSpPr>
        <p:spPr>
          <a:xfrm>
            <a:off x="228600" y="4901184"/>
            <a:ext cx="8595360" cy="274320"/>
          </a:xfrm>
          <a:prstGeom prst="rect">
            <a:avLst/>
          </a:prstGeom>
          <a:solidFill>
            <a:srgbClr val="111111"/>
          </a:solidFill>
          <a:ln/>
          <a:effectLst>
            <a:outerShdw blurRad="101600" dist="38100" dir="8100000" algn="bl" rotWithShape="0">
              <a:srgbClr val="000000">
                <a:alpha val="18000"/>
              </a:srgbClr>
            </a:outerShdw>
          </a:effectLst>
        </p:spPr>
      </p:sp>
      <p:sp>
        <p:nvSpPr>
          <p:cNvPr id="60" name="Text 57"/>
          <p:cNvSpPr/>
          <p:nvPr/>
        </p:nvSpPr>
        <p:spPr>
          <a:xfrm>
            <a:off x="384048" y="4956048"/>
            <a:ext cx="8375904" cy="16459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  Example: Developer fixes a bug where the 'Apply Coupon' field accepts negative values. Sanity testing checks: (1) negative values are now rejected, (2) valid coupons still work, (3) cart total still calculates correctly.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Regression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Ensuring new changes haven't broken existing working functionality</a:t>
            </a:r>
            <a:endParaRPr lang="en-US" sz="1100" dirty="0"/>
          </a:p>
        </p:txBody>
      </p:sp>
      <p:sp>
        <p:nvSpPr>
          <p:cNvPr id="6" name="Shape 3"/>
          <p:cNvSpPr/>
          <p:nvPr/>
        </p:nvSpPr>
        <p:spPr>
          <a:xfrm>
            <a:off x="7790688" y="658368"/>
            <a:ext cx="1298448" cy="347472"/>
          </a:xfrm>
          <a:prstGeom prst="rect">
            <a:avLst/>
          </a:prstGeom>
          <a:solidFill>
            <a:srgbClr val="E8670D"/>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Functional</a:t>
            </a:r>
            <a:endParaRPr lang="en-US" sz="800" dirty="0"/>
          </a:p>
        </p:txBody>
      </p:sp>
      <p:sp>
        <p:nvSpPr>
          <p:cNvPr id="8" name="Shape 5"/>
          <p:cNvSpPr/>
          <p:nvPr/>
        </p:nvSpPr>
        <p:spPr>
          <a:xfrm>
            <a:off x="274320" y="960120"/>
            <a:ext cx="8595360" cy="621792"/>
          </a:xfrm>
          <a:prstGeom prst="rect">
            <a:avLst/>
          </a:prstGeom>
          <a:solidFill>
            <a:srgbClr val="E8670D"/>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Regression Testing re-executes a subset (or all) of existing test cases after ANY code change — bug fixes, new features, or configuration updates — to verify that previously working functionality has NOT been accidentally broken. It is the safety net of software quality.</a:t>
            </a:r>
            <a:endParaRPr lang="en-US" sz="1200" dirty="0"/>
          </a:p>
        </p:txBody>
      </p:sp>
      <p:sp>
        <p:nvSpPr>
          <p:cNvPr id="10" name="Shape 7"/>
          <p:cNvSpPr/>
          <p:nvPr/>
        </p:nvSpPr>
        <p:spPr>
          <a:xfrm>
            <a:off x="274320" y="1737360"/>
            <a:ext cx="4206240" cy="214884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37360"/>
            <a:ext cx="4206240" cy="347472"/>
          </a:xfrm>
          <a:prstGeom prst="rect">
            <a:avLst/>
          </a:prstGeom>
          <a:solidFill>
            <a:srgbClr val="E8670D"/>
          </a:solidFill>
          <a:ln/>
        </p:spPr>
      </p:sp>
      <p:sp>
        <p:nvSpPr>
          <p:cNvPr id="12" name="Text 9"/>
          <p:cNvSpPr/>
          <p:nvPr/>
        </p:nvSpPr>
        <p:spPr>
          <a:xfrm>
            <a:off x="36576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Why Regression Testing is Critical</a:t>
            </a:r>
            <a:endParaRPr lang="en-US" sz="1100" dirty="0"/>
          </a:p>
        </p:txBody>
      </p:sp>
      <p:sp>
        <p:nvSpPr>
          <p:cNvPr id="13" name="Text 10"/>
          <p:cNvSpPr/>
          <p:nvPr/>
        </p:nvSpPr>
        <p:spPr>
          <a:xfrm>
            <a:off x="384048" y="2139696"/>
            <a:ext cx="3986784" cy="167335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Every code change creates risk — developers can inadvertently break things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Complex systems have unexpected dependencies between components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Without regression, defects 'regress' — old bugs reappear</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Stakeholders need confidence that changes don't break existing features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Required before every release to production environment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Critical in Agile — features added every sprint must not break previous sprints</a:t>
            </a:r>
            <a:endParaRPr lang="en-US" sz="1050" dirty="0"/>
          </a:p>
        </p:txBody>
      </p:sp>
      <p:sp>
        <p:nvSpPr>
          <p:cNvPr id="14" name="Shape 11"/>
          <p:cNvSpPr/>
          <p:nvPr/>
        </p:nvSpPr>
        <p:spPr>
          <a:xfrm>
            <a:off x="4663440" y="1737360"/>
            <a:ext cx="4206240" cy="2148840"/>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663440" y="1737360"/>
            <a:ext cx="4206240" cy="347472"/>
          </a:xfrm>
          <a:prstGeom prst="rect">
            <a:avLst/>
          </a:prstGeom>
          <a:solidFill>
            <a:srgbClr val="1E1E1E"/>
          </a:solidFill>
          <a:ln/>
        </p:spPr>
      </p:sp>
      <p:sp>
        <p:nvSpPr>
          <p:cNvPr id="16" name="Text 13"/>
          <p:cNvSpPr/>
          <p:nvPr/>
        </p:nvSpPr>
        <p:spPr>
          <a:xfrm>
            <a:off x="475488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Automation for Regression</a:t>
            </a:r>
            <a:endParaRPr lang="en-US" sz="1100" dirty="0"/>
          </a:p>
        </p:txBody>
      </p:sp>
      <p:sp>
        <p:nvSpPr>
          <p:cNvPr id="17" name="Text 14"/>
          <p:cNvSpPr/>
          <p:nvPr/>
        </p:nvSpPr>
        <p:spPr>
          <a:xfrm>
            <a:off x="4773168" y="2139696"/>
            <a:ext cx="3986784" cy="167335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Regression is the PRIMARY use case for test automation</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Selenium (Java/IntelliJ/Eclipse) — web app regression suites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Playwright — fast, reliable cross-browser regression execution</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TestNG / JUnit — organise regression tests into suites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CI/CD integration: regression runs automatically on every merge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500 regression tests in 20 minutes vs 3 days manually</a:t>
            </a:r>
            <a:endParaRPr lang="en-US" sz="1050" dirty="0"/>
          </a:p>
        </p:txBody>
      </p:sp>
      <p:sp>
        <p:nvSpPr>
          <p:cNvPr id="18" name="Text 15"/>
          <p:cNvSpPr/>
          <p:nvPr/>
        </p:nvSpPr>
        <p:spPr>
          <a:xfrm>
            <a:off x="274320" y="4005072"/>
            <a:ext cx="5486400" cy="237744"/>
          </a:xfrm>
          <a:prstGeom prst="rect">
            <a:avLst/>
          </a:prstGeom>
          <a:noFill/>
          <a:ln/>
        </p:spPr>
        <p:txBody>
          <a:bodyPr wrap="square" rtlCol="0" anchor="ctr"/>
          <a:lstStyle/>
          <a:p>
            <a:pPr marL="0" indent="0">
              <a:buNone/>
            </a:pPr>
            <a:r>
              <a:rPr lang="en-US" sz="1000" b="1" kern="0" spc="150" dirty="0">
                <a:solidFill>
                  <a:srgbClr val="E8670D"/>
                </a:solidFill>
                <a:latin typeface="Calibri" pitchFamily="34" charset="0"/>
                <a:ea typeface="Calibri" pitchFamily="34" charset="-122"/>
                <a:cs typeface="Calibri" pitchFamily="34" charset="-120"/>
              </a:rPr>
              <a:t>REGRESSION TESTING STRATEGIES</a:t>
            </a:r>
            <a:endParaRPr lang="en-US" sz="1000" dirty="0"/>
          </a:p>
        </p:txBody>
      </p:sp>
      <p:sp>
        <p:nvSpPr>
          <p:cNvPr id="19" name="Shape 16"/>
          <p:cNvSpPr/>
          <p:nvPr/>
        </p:nvSpPr>
        <p:spPr>
          <a:xfrm>
            <a:off x="274320" y="4279392"/>
            <a:ext cx="2743200" cy="896112"/>
          </a:xfrm>
          <a:prstGeom prst="rect">
            <a:avLst/>
          </a:prstGeom>
          <a:solidFill>
            <a:srgbClr val="FFFFFF"/>
          </a:solidFill>
          <a:ln/>
          <a:effectLst>
            <a:outerShdw blurRad="101600" dist="38100" dir="8100000" algn="bl" rotWithShape="0">
              <a:srgbClr val="000000">
                <a:alpha val="18000"/>
              </a:srgbClr>
            </a:outerShdw>
          </a:effectLst>
        </p:spPr>
      </p:sp>
      <p:sp>
        <p:nvSpPr>
          <p:cNvPr id="20" name="Shape 17"/>
          <p:cNvSpPr/>
          <p:nvPr/>
        </p:nvSpPr>
        <p:spPr>
          <a:xfrm>
            <a:off x="274320" y="4279392"/>
            <a:ext cx="2743200" cy="73152"/>
          </a:xfrm>
          <a:prstGeom prst="rect">
            <a:avLst/>
          </a:prstGeom>
          <a:solidFill>
            <a:srgbClr val="E8670D"/>
          </a:solidFill>
          <a:ln/>
        </p:spPr>
      </p:sp>
      <p:sp>
        <p:nvSpPr>
          <p:cNvPr id="21" name="Text 18"/>
          <p:cNvSpPr/>
          <p:nvPr/>
        </p:nvSpPr>
        <p:spPr>
          <a:xfrm>
            <a:off x="365760" y="4370832"/>
            <a:ext cx="2578608" cy="237744"/>
          </a:xfrm>
          <a:prstGeom prst="rect">
            <a:avLst/>
          </a:prstGeom>
          <a:noFill/>
          <a:ln/>
        </p:spPr>
        <p:txBody>
          <a:bodyPr wrap="square"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Full Regression</a:t>
            </a:r>
            <a:endParaRPr lang="en-US" sz="1000" dirty="0"/>
          </a:p>
        </p:txBody>
      </p:sp>
      <p:sp>
        <p:nvSpPr>
          <p:cNvPr id="22" name="Text 19"/>
          <p:cNvSpPr/>
          <p:nvPr/>
        </p:nvSpPr>
        <p:spPr>
          <a:xfrm>
            <a:off x="365760" y="4626864"/>
            <a:ext cx="2578608" cy="475488"/>
          </a:xfrm>
          <a:prstGeom prst="rect">
            <a:avLst/>
          </a:prstGeom>
          <a:noFill/>
          <a:ln/>
        </p:spPr>
        <p:txBody>
          <a:bodyPr wrap="square" rtlCol="0" anchor="ctr"/>
          <a:lstStyle/>
          <a:p>
            <a:pPr marL="0" indent="0">
              <a:buNone/>
            </a:pPr>
            <a:r>
              <a:rPr lang="en-US" sz="900" dirty="0">
                <a:solidFill>
                  <a:srgbClr val="777777"/>
                </a:solidFill>
                <a:latin typeface="Calibri" pitchFamily="34" charset="0"/>
                <a:ea typeface="Calibri" pitchFamily="34" charset="-122"/>
                <a:cs typeface="Calibri" pitchFamily="34" charset="-120"/>
              </a:rPr>
              <a:t>All test cases re-run. Used before major releases. Most thorough but most time-consuming.</a:t>
            </a:r>
            <a:endParaRPr lang="en-US" sz="900" dirty="0"/>
          </a:p>
        </p:txBody>
      </p:sp>
      <p:sp>
        <p:nvSpPr>
          <p:cNvPr id="23" name="Shape 20"/>
          <p:cNvSpPr/>
          <p:nvPr/>
        </p:nvSpPr>
        <p:spPr>
          <a:xfrm>
            <a:off x="3182112" y="4279392"/>
            <a:ext cx="2743200" cy="896112"/>
          </a:xfrm>
          <a:prstGeom prst="rect">
            <a:avLst/>
          </a:prstGeom>
          <a:solidFill>
            <a:srgbClr val="FFFFFF"/>
          </a:solidFill>
          <a:ln/>
          <a:effectLst>
            <a:outerShdw blurRad="101600" dist="38100" dir="8100000" algn="bl" rotWithShape="0">
              <a:srgbClr val="000000">
                <a:alpha val="18000"/>
              </a:srgbClr>
            </a:outerShdw>
          </a:effectLst>
        </p:spPr>
      </p:sp>
      <p:sp>
        <p:nvSpPr>
          <p:cNvPr id="24" name="Shape 21"/>
          <p:cNvSpPr/>
          <p:nvPr/>
        </p:nvSpPr>
        <p:spPr>
          <a:xfrm>
            <a:off x="3182112" y="4279392"/>
            <a:ext cx="2743200" cy="73152"/>
          </a:xfrm>
          <a:prstGeom prst="rect">
            <a:avLst/>
          </a:prstGeom>
          <a:solidFill>
            <a:srgbClr val="1E1E1E"/>
          </a:solidFill>
          <a:ln/>
        </p:spPr>
      </p:sp>
      <p:sp>
        <p:nvSpPr>
          <p:cNvPr id="25" name="Text 22"/>
          <p:cNvSpPr/>
          <p:nvPr/>
        </p:nvSpPr>
        <p:spPr>
          <a:xfrm>
            <a:off x="3273552" y="4370832"/>
            <a:ext cx="2578608" cy="237744"/>
          </a:xfrm>
          <a:prstGeom prst="rect">
            <a:avLst/>
          </a:prstGeom>
          <a:noFill/>
          <a:ln/>
        </p:spPr>
        <p:txBody>
          <a:bodyPr wrap="square"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Partial Regression</a:t>
            </a:r>
            <a:endParaRPr lang="en-US" sz="1000" dirty="0"/>
          </a:p>
        </p:txBody>
      </p:sp>
      <p:sp>
        <p:nvSpPr>
          <p:cNvPr id="26" name="Text 23"/>
          <p:cNvSpPr/>
          <p:nvPr/>
        </p:nvSpPr>
        <p:spPr>
          <a:xfrm>
            <a:off x="3273552" y="4626864"/>
            <a:ext cx="2578608" cy="475488"/>
          </a:xfrm>
          <a:prstGeom prst="rect">
            <a:avLst/>
          </a:prstGeom>
          <a:noFill/>
          <a:ln/>
        </p:spPr>
        <p:txBody>
          <a:bodyPr wrap="square" rtlCol="0" anchor="ctr"/>
          <a:lstStyle/>
          <a:p>
            <a:pPr marL="0" indent="0">
              <a:buNone/>
            </a:pPr>
            <a:r>
              <a:rPr lang="en-US" sz="900" dirty="0">
                <a:solidFill>
                  <a:srgbClr val="777777"/>
                </a:solidFill>
                <a:latin typeface="Calibri" pitchFamily="34" charset="0"/>
                <a:ea typeface="Calibri" pitchFamily="34" charset="-122"/>
                <a:cs typeface="Calibri" pitchFamily="34" charset="-120"/>
              </a:rPr>
              <a:t>Subset of tests related to the changed area. Used for minor changes. Faster but less comprehensive.</a:t>
            </a:r>
            <a:endParaRPr lang="en-US" sz="900" dirty="0"/>
          </a:p>
        </p:txBody>
      </p:sp>
      <p:sp>
        <p:nvSpPr>
          <p:cNvPr id="27" name="Shape 24"/>
          <p:cNvSpPr/>
          <p:nvPr/>
        </p:nvSpPr>
        <p:spPr>
          <a:xfrm>
            <a:off x="6089904" y="4279392"/>
            <a:ext cx="2743200" cy="896112"/>
          </a:xfrm>
          <a:prstGeom prst="rect">
            <a:avLst/>
          </a:prstGeom>
          <a:solidFill>
            <a:srgbClr val="FFFFFF"/>
          </a:solidFill>
          <a:ln/>
          <a:effectLst>
            <a:outerShdw blurRad="101600" dist="38100" dir="8100000" algn="bl" rotWithShape="0">
              <a:srgbClr val="000000">
                <a:alpha val="18000"/>
              </a:srgbClr>
            </a:outerShdw>
          </a:effectLst>
        </p:spPr>
      </p:sp>
      <p:sp>
        <p:nvSpPr>
          <p:cNvPr id="28" name="Shape 25"/>
          <p:cNvSpPr/>
          <p:nvPr/>
        </p:nvSpPr>
        <p:spPr>
          <a:xfrm>
            <a:off x="6089904" y="4279392"/>
            <a:ext cx="2743200" cy="73152"/>
          </a:xfrm>
          <a:prstGeom prst="rect">
            <a:avLst/>
          </a:prstGeom>
          <a:solidFill>
            <a:srgbClr val="2A2A2A"/>
          </a:solidFill>
          <a:ln/>
        </p:spPr>
      </p:sp>
      <p:sp>
        <p:nvSpPr>
          <p:cNvPr id="29" name="Text 26"/>
          <p:cNvSpPr/>
          <p:nvPr/>
        </p:nvSpPr>
        <p:spPr>
          <a:xfrm>
            <a:off x="6181344" y="4370832"/>
            <a:ext cx="2578608" cy="237744"/>
          </a:xfrm>
          <a:prstGeom prst="rect">
            <a:avLst/>
          </a:prstGeom>
          <a:noFill/>
          <a:ln/>
        </p:spPr>
        <p:txBody>
          <a:bodyPr wrap="square" rtlCol="0" anchor="ctr"/>
          <a:lstStyle/>
          <a:p>
            <a:pPr marL="0" indent="0">
              <a:buNone/>
            </a:pPr>
            <a:r>
              <a:rPr lang="en-US" sz="1000" b="1" dirty="0">
                <a:solidFill>
                  <a:srgbClr val="2A2A2A"/>
                </a:solidFill>
                <a:latin typeface="Calibri" pitchFamily="34" charset="0"/>
                <a:ea typeface="Calibri" pitchFamily="34" charset="-122"/>
                <a:cs typeface="Calibri" pitchFamily="34" charset="-120"/>
              </a:rPr>
              <a:t>Selective Regression</a:t>
            </a:r>
            <a:endParaRPr lang="en-US" sz="1000" dirty="0"/>
          </a:p>
        </p:txBody>
      </p:sp>
      <p:sp>
        <p:nvSpPr>
          <p:cNvPr id="30" name="Text 27"/>
          <p:cNvSpPr/>
          <p:nvPr/>
        </p:nvSpPr>
        <p:spPr>
          <a:xfrm>
            <a:off x="6181344" y="4626864"/>
            <a:ext cx="2578608" cy="475488"/>
          </a:xfrm>
          <a:prstGeom prst="rect">
            <a:avLst/>
          </a:prstGeom>
          <a:noFill/>
          <a:ln/>
        </p:spPr>
        <p:txBody>
          <a:bodyPr wrap="square" rtlCol="0" anchor="ctr"/>
          <a:lstStyle/>
          <a:p>
            <a:pPr marL="0" indent="0">
              <a:buNone/>
            </a:pPr>
            <a:r>
              <a:rPr lang="en-US" sz="900" dirty="0">
                <a:solidFill>
                  <a:srgbClr val="777777"/>
                </a:solidFill>
                <a:latin typeface="Calibri" pitchFamily="34" charset="0"/>
                <a:ea typeface="Calibri" pitchFamily="34" charset="-122"/>
                <a:cs typeface="Calibri" pitchFamily="34" charset="-120"/>
              </a:rPr>
              <a:t>Only tests mapped to changed requirements via RTM. Requires strong traceability. Most efficient.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5669280" y="91440"/>
            <a:ext cx="3200400" cy="4572000"/>
          </a:xfrm>
          <a:prstGeom prst="rect">
            <a:avLst/>
          </a:prstGeom>
          <a:noFill/>
          <a:ln/>
        </p:spPr>
        <p:txBody>
          <a:bodyPr wrap="square" lIns="0" tIns="0" rIns="0" bIns="0" rtlCol="0" anchor="ctr"/>
          <a:lstStyle/>
          <a:p>
            <a:pPr marL="0" indent="0" algn="r">
              <a:buNone/>
            </a:pPr>
            <a:r>
              <a:rPr lang="en-US" sz="22000" b="1" dirty="0">
                <a:solidFill>
                  <a:srgbClr val="1E1E1E"/>
                </a:solidFill>
                <a:latin typeface="Calibri" pitchFamily="34" charset="0"/>
                <a:ea typeface="Calibri" pitchFamily="34" charset="-122"/>
                <a:cs typeface="Calibri" pitchFamily="34" charset="-120"/>
              </a:rPr>
              <a:t>4</a:t>
            </a:r>
            <a:endParaRPr lang="en-US" sz="22000" dirty="0"/>
          </a:p>
        </p:txBody>
      </p:sp>
      <p:sp>
        <p:nvSpPr>
          <p:cNvPr id="5" name="Text 3"/>
          <p:cNvSpPr/>
          <p:nvPr/>
        </p:nvSpPr>
        <p:spPr>
          <a:xfrm>
            <a:off x="457200" y="1097280"/>
            <a:ext cx="3657600" cy="384048"/>
          </a:xfrm>
          <a:prstGeom prst="rect">
            <a:avLst/>
          </a:prstGeom>
          <a:noFill/>
          <a:ln/>
        </p:spPr>
        <p:txBody>
          <a:bodyPr wrap="square" rtlCol="0" anchor="ctr"/>
          <a:lstStyle/>
          <a:p>
            <a:pPr marL="0" indent="0">
              <a:buNone/>
            </a:pPr>
            <a:r>
              <a:rPr lang="en-US" sz="1200" b="1" kern="0" spc="500" dirty="0">
                <a:solidFill>
                  <a:srgbClr val="E8670D"/>
                </a:solidFill>
                <a:latin typeface="Calibri" pitchFamily="34" charset="0"/>
                <a:ea typeface="Calibri" pitchFamily="34" charset="-122"/>
                <a:cs typeface="Calibri" pitchFamily="34" charset="-120"/>
              </a:rPr>
              <a:t>SECTION</a:t>
            </a:r>
            <a:endParaRPr lang="en-US" sz="1200" dirty="0"/>
          </a:p>
        </p:txBody>
      </p:sp>
      <p:sp>
        <p:nvSpPr>
          <p:cNvPr id="6" name="Text 4"/>
          <p:cNvSpPr/>
          <p:nvPr/>
        </p:nvSpPr>
        <p:spPr>
          <a:xfrm>
            <a:off x="457200" y="1508760"/>
            <a:ext cx="1097280" cy="8686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4</a:t>
            </a:r>
            <a:endParaRPr lang="en-US" sz="5800" dirty="0"/>
          </a:p>
        </p:txBody>
      </p:sp>
      <p:sp>
        <p:nvSpPr>
          <p:cNvPr id="7" name="Shape 5"/>
          <p:cNvSpPr/>
          <p:nvPr/>
        </p:nvSpPr>
        <p:spPr>
          <a:xfrm>
            <a:off x="457200" y="2487168"/>
            <a:ext cx="5029200" cy="54864"/>
          </a:xfrm>
          <a:prstGeom prst="rect">
            <a:avLst/>
          </a:prstGeom>
          <a:solidFill>
            <a:srgbClr val="E8670D"/>
          </a:solidFill>
          <a:ln/>
        </p:spPr>
      </p:sp>
      <p:sp>
        <p:nvSpPr>
          <p:cNvPr id="8" name="Text 6"/>
          <p:cNvSpPr/>
          <p:nvPr/>
        </p:nvSpPr>
        <p:spPr>
          <a:xfrm>
            <a:off x="457200" y="2606040"/>
            <a:ext cx="8046720" cy="11887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Non-Functional Testing Types</a:t>
            </a:r>
            <a:endParaRPr lang="en-US" sz="3000" dirty="0"/>
          </a:p>
        </p:txBody>
      </p:sp>
      <p:sp>
        <p:nvSpPr>
          <p:cNvPr id="9" name="Text 7"/>
          <p:cNvSpPr/>
          <p:nvPr/>
        </p:nvSpPr>
        <p:spPr>
          <a:xfrm>
            <a:off x="457200" y="3858768"/>
            <a:ext cx="7772400" cy="640080"/>
          </a:xfrm>
          <a:prstGeom prst="rect">
            <a:avLst/>
          </a:prstGeom>
          <a:noFill/>
          <a:ln/>
        </p:spPr>
        <p:txBody>
          <a:bodyPr wrap="square" rtlCol="0" anchor="ctr"/>
          <a:lstStyle/>
          <a:p>
            <a:pPr marL="0" indent="0">
              <a:buNone/>
            </a:pPr>
            <a:r>
              <a:rPr lang="en-US" sz="1300" dirty="0">
                <a:solidFill>
                  <a:srgbClr val="AAAAAA"/>
                </a:solidFill>
                <a:latin typeface="Calibri" pitchFamily="34" charset="0"/>
                <a:ea typeface="Calibri" pitchFamily="34" charset="-122"/>
                <a:cs typeface="Calibri" pitchFamily="34" charset="-120"/>
              </a:rPr>
              <a:t>Performance • Security • Usability • Compatibility • Reliability • Scalability</a:t>
            </a:r>
            <a:endParaRPr lang="en-US" sz="1300" dirty="0"/>
          </a:p>
        </p:txBody>
      </p:sp>
      <p:pic>
        <p:nvPicPr>
          <p:cNvPr id="10" name="Image 0" descr="preencoded.png"/>
          <p:cNvPicPr>
            <a:picLocks noChangeAspect="1"/>
          </p:cNvPicPr>
          <p:nvPr/>
        </p:nvPicPr>
        <p:blipFill>
          <a:blip r:embed="rId3"/>
          <a:stretch>
            <a:fillRect/>
          </a:stretch>
        </p:blipFill>
        <p:spPr>
          <a:xfrm>
            <a:off x="7132320" y="457200"/>
            <a:ext cx="1371600" cy="1371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Performance Testing — Overview</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Testing HOW WELL the system performs under various conditions</a:t>
            </a:r>
            <a:endParaRPr lang="en-US" sz="1100" dirty="0"/>
          </a:p>
        </p:txBody>
      </p:sp>
      <p:sp>
        <p:nvSpPr>
          <p:cNvPr id="6" name="Shape 3"/>
          <p:cNvSpPr/>
          <p:nvPr/>
        </p:nvSpPr>
        <p:spPr>
          <a:xfrm>
            <a:off x="7790688" y="658368"/>
            <a:ext cx="1298448" cy="347472"/>
          </a:xfrm>
          <a:prstGeom prst="rect">
            <a:avLst/>
          </a:prstGeom>
          <a:solidFill>
            <a:srgbClr val="1E1E1E"/>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Non-Functional</a:t>
            </a:r>
            <a:endParaRPr lang="en-US" sz="800" dirty="0"/>
          </a:p>
        </p:txBody>
      </p:sp>
      <p:sp>
        <p:nvSpPr>
          <p:cNvPr id="8" name="Shape 5"/>
          <p:cNvSpPr/>
          <p:nvPr/>
        </p:nvSpPr>
        <p:spPr>
          <a:xfrm>
            <a:off x="274320" y="960120"/>
            <a:ext cx="8595360" cy="621792"/>
          </a:xfrm>
          <a:prstGeom prst="rect">
            <a:avLst/>
          </a:prstGeom>
          <a:solidFill>
            <a:srgbClr val="E8670D"/>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Performance Testing evaluates the system's responsiveness, stability, speed, and scalability under various workload conditions. It answers: How fast does it respond? How many users can it handle? When does it break? How does it behave over extended periods?</a:t>
            </a:r>
            <a:endParaRPr lang="en-US" sz="1200" dirty="0"/>
          </a:p>
        </p:txBody>
      </p:sp>
      <p:sp>
        <p:nvSpPr>
          <p:cNvPr id="10" name="Shape 7"/>
          <p:cNvSpPr/>
          <p:nvPr/>
        </p:nvSpPr>
        <p:spPr>
          <a:xfrm>
            <a:off x="274320" y="1755648"/>
            <a:ext cx="4279392" cy="150876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55648"/>
            <a:ext cx="4279392" cy="402336"/>
          </a:xfrm>
          <a:prstGeom prst="rect">
            <a:avLst/>
          </a:prstGeom>
          <a:solidFill>
            <a:srgbClr val="E8670D"/>
          </a:solidFill>
          <a:ln/>
        </p:spPr>
      </p:sp>
      <p:sp>
        <p:nvSpPr>
          <p:cNvPr id="12" name="Text 9"/>
          <p:cNvSpPr/>
          <p:nvPr/>
        </p:nvSpPr>
        <p:spPr>
          <a:xfrm>
            <a:off x="365760" y="1810512"/>
            <a:ext cx="41148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Load Testing</a:t>
            </a:r>
            <a:endParaRPr lang="en-US" sz="1300" dirty="0"/>
          </a:p>
        </p:txBody>
      </p:sp>
      <p:sp>
        <p:nvSpPr>
          <p:cNvPr id="13" name="Text 10"/>
          <p:cNvSpPr/>
          <p:nvPr/>
        </p:nvSpPr>
        <p:spPr>
          <a:xfrm>
            <a:off x="365760" y="2231136"/>
            <a:ext cx="4114800" cy="969264"/>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Simulates expected normal user load. Validates system performs acceptably under anticipated traffic. Goal: Confirm response times and resource usage within acceptable limits at peak expected load.</a:t>
            </a:r>
            <a:endParaRPr lang="en-US" sz="1000" dirty="0"/>
          </a:p>
        </p:txBody>
      </p:sp>
      <p:sp>
        <p:nvSpPr>
          <p:cNvPr id="14" name="Shape 11"/>
          <p:cNvSpPr/>
          <p:nvPr/>
        </p:nvSpPr>
        <p:spPr>
          <a:xfrm>
            <a:off x="4754880" y="1755648"/>
            <a:ext cx="4279392" cy="1508760"/>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754880" y="1755648"/>
            <a:ext cx="4279392" cy="402336"/>
          </a:xfrm>
          <a:prstGeom prst="rect">
            <a:avLst/>
          </a:prstGeom>
          <a:solidFill>
            <a:srgbClr val="1E1E1E"/>
          </a:solidFill>
          <a:ln/>
        </p:spPr>
      </p:sp>
      <p:sp>
        <p:nvSpPr>
          <p:cNvPr id="16" name="Text 13"/>
          <p:cNvSpPr/>
          <p:nvPr/>
        </p:nvSpPr>
        <p:spPr>
          <a:xfrm>
            <a:off x="4846320" y="1810512"/>
            <a:ext cx="41148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Stress Testing</a:t>
            </a:r>
            <a:endParaRPr lang="en-US" sz="1300" dirty="0"/>
          </a:p>
        </p:txBody>
      </p:sp>
      <p:sp>
        <p:nvSpPr>
          <p:cNvPr id="17" name="Text 14"/>
          <p:cNvSpPr/>
          <p:nvPr/>
        </p:nvSpPr>
        <p:spPr>
          <a:xfrm>
            <a:off x="4846320" y="2231136"/>
            <a:ext cx="4114800" cy="969264"/>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Pushes the system BEYOND its limits to find the breaking point. Validates how the system fails and whether it recovers gracefully. Goal: Find the maximum capacity and validate failure behaviour.</a:t>
            </a:r>
            <a:endParaRPr lang="en-US" sz="1000" dirty="0"/>
          </a:p>
        </p:txBody>
      </p:sp>
      <p:sp>
        <p:nvSpPr>
          <p:cNvPr id="18" name="Shape 15"/>
          <p:cNvSpPr/>
          <p:nvPr/>
        </p:nvSpPr>
        <p:spPr>
          <a:xfrm>
            <a:off x="274320" y="3401568"/>
            <a:ext cx="4279392" cy="1508760"/>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274320" y="3401568"/>
            <a:ext cx="4279392" cy="402336"/>
          </a:xfrm>
          <a:prstGeom prst="rect">
            <a:avLst/>
          </a:prstGeom>
          <a:solidFill>
            <a:srgbClr val="2A2A2A"/>
          </a:solidFill>
          <a:ln/>
        </p:spPr>
      </p:sp>
      <p:sp>
        <p:nvSpPr>
          <p:cNvPr id="20" name="Text 17"/>
          <p:cNvSpPr/>
          <p:nvPr/>
        </p:nvSpPr>
        <p:spPr>
          <a:xfrm>
            <a:off x="365760" y="3456432"/>
            <a:ext cx="41148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Spike Testing</a:t>
            </a:r>
            <a:endParaRPr lang="en-US" sz="1300" dirty="0"/>
          </a:p>
        </p:txBody>
      </p:sp>
      <p:sp>
        <p:nvSpPr>
          <p:cNvPr id="21" name="Text 18"/>
          <p:cNvSpPr/>
          <p:nvPr/>
        </p:nvSpPr>
        <p:spPr>
          <a:xfrm>
            <a:off x="365760" y="3877056"/>
            <a:ext cx="4114800" cy="969264"/>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Sudden, extreme increases in load for a short period. Simulates viral traffic events (flash sales, breaking news). Goal: Validate system response to sudden traffic surges without crashing.</a:t>
            </a:r>
            <a:endParaRPr lang="en-US" sz="1000" dirty="0"/>
          </a:p>
        </p:txBody>
      </p:sp>
      <p:sp>
        <p:nvSpPr>
          <p:cNvPr id="22" name="Shape 19"/>
          <p:cNvSpPr/>
          <p:nvPr/>
        </p:nvSpPr>
        <p:spPr>
          <a:xfrm>
            <a:off x="4754880" y="3401568"/>
            <a:ext cx="4279392" cy="1508760"/>
          </a:xfrm>
          <a:prstGeom prst="rect">
            <a:avLst/>
          </a:prstGeom>
          <a:solidFill>
            <a:srgbClr val="FFFFFF"/>
          </a:solidFill>
          <a:ln/>
          <a:effectLst>
            <a:outerShdw blurRad="101600" dist="38100" dir="8100000" algn="bl" rotWithShape="0">
              <a:srgbClr val="000000">
                <a:alpha val="18000"/>
              </a:srgbClr>
            </a:outerShdw>
          </a:effectLst>
        </p:spPr>
      </p:sp>
      <p:sp>
        <p:nvSpPr>
          <p:cNvPr id="23" name="Shape 20"/>
          <p:cNvSpPr/>
          <p:nvPr/>
        </p:nvSpPr>
        <p:spPr>
          <a:xfrm>
            <a:off x="4754880" y="3401568"/>
            <a:ext cx="4279392" cy="402336"/>
          </a:xfrm>
          <a:prstGeom prst="rect">
            <a:avLst/>
          </a:prstGeom>
          <a:solidFill>
            <a:srgbClr val="555555"/>
          </a:solidFill>
          <a:ln/>
        </p:spPr>
      </p:sp>
      <p:sp>
        <p:nvSpPr>
          <p:cNvPr id="24" name="Text 21"/>
          <p:cNvSpPr/>
          <p:nvPr/>
        </p:nvSpPr>
        <p:spPr>
          <a:xfrm>
            <a:off x="4846320" y="3456432"/>
            <a:ext cx="41148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Endurance (Soak) Testing</a:t>
            </a:r>
            <a:endParaRPr lang="en-US" sz="1300" dirty="0"/>
          </a:p>
        </p:txBody>
      </p:sp>
      <p:sp>
        <p:nvSpPr>
          <p:cNvPr id="25" name="Text 22"/>
          <p:cNvSpPr/>
          <p:nvPr/>
        </p:nvSpPr>
        <p:spPr>
          <a:xfrm>
            <a:off x="4846320" y="3877056"/>
            <a:ext cx="4114800" cy="969264"/>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Runs the system under sustained normal load for an extended period (hours/days). Identifies memory leaks and resource degradation over time. Goal: Confirm long-term stability and no gradual performance decay.</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Performance Testing — Tools &amp; Real-World Application</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Industry tools and practical examples for each performance test type</a:t>
            </a:r>
            <a:endParaRPr lang="en-US" sz="1100" dirty="0"/>
          </a:p>
        </p:txBody>
      </p:sp>
      <p:sp>
        <p:nvSpPr>
          <p:cNvPr id="6" name="Shape 3"/>
          <p:cNvSpPr/>
          <p:nvPr/>
        </p:nvSpPr>
        <p:spPr>
          <a:xfrm>
            <a:off x="7790688" y="658368"/>
            <a:ext cx="1298448" cy="347472"/>
          </a:xfrm>
          <a:prstGeom prst="rect">
            <a:avLst/>
          </a:prstGeom>
          <a:solidFill>
            <a:srgbClr val="1E1E1E"/>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Non-Functional</a:t>
            </a:r>
            <a:endParaRPr lang="en-US" sz="800" dirty="0"/>
          </a:p>
        </p:txBody>
      </p:sp>
      <p:sp>
        <p:nvSpPr>
          <p:cNvPr id="8" name="Shape 5"/>
          <p:cNvSpPr/>
          <p:nvPr/>
        </p:nvSpPr>
        <p:spPr>
          <a:xfrm>
            <a:off x="274320" y="960120"/>
            <a:ext cx="1005840" cy="384048"/>
          </a:xfrm>
          <a:prstGeom prst="rect">
            <a:avLst/>
          </a:prstGeom>
          <a:solidFill>
            <a:srgbClr val="E8670D"/>
          </a:solidFill>
          <a:ln w="6350">
            <a:solidFill>
              <a:srgbClr val="DDCCBB"/>
            </a:solidFill>
            <a:prstDash val="solid"/>
          </a:ln>
        </p:spPr>
      </p:sp>
      <p:sp>
        <p:nvSpPr>
          <p:cNvPr id="9" name="Text 6"/>
          <p:cNvSpPr/>
          <p:nvPr/>
        </p:nvSpPr>
        <p:spPr>
          <a:xfrm>
            <a:off x="320040" y="1014984"/>
            <a:ext cx="91440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Type</a:t>
            </a:r>
            <a:endParaRPr lang="en-US" sz="950" dirty="0"/>
          </a:p>
        </p:txBody>
      </p:sp>
      <p:sp>
        <p:nvSpPr>
          <p:cNvPr id="10" name="Shape 7"/>
          <p:cNvSpPr/>
          <p:nvPr/>
        </p:nvSpPr>
        <p:spPr>
          <a:xfrm>
            <a:off x="1280160" y="960120"/>
            <a:ext cx="1737360" cy="384048"/>
          </a:xfrm>
          <a:prstGeom prst="rect">
            <a:avLst/>
          </a:prstGeom>
          <a:solidFill>
            <a:srgbClr val="E8670D"/>
          </a:solidFill>
          <a:ln w="6350">
            <a:solidFill>
              <a:srgbClr val="DDCCBB"/>
            </a:solidFill>
            <a:prstDash val="solid"/>
          </a:ln>
        </p:spPr>
      </p:sp>
      <p:sp>
        <p:nvSpPr>
          <p:cNvPr id="11" name="Text 8"/>
          <p:cNvSpPr/>
          <p:nvPr/>
        </p:nvSpPr>
        <p:spPr>
          <a:xfrm>
            <a:off x="1325880" y="1014984"/>
            <a:ext cx="164592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Scenario Tested</a:t>
            </a:r>
            <a:endParaRPr lang="en-US" sz="950" dirty="0"/>
          </a:p>
        </p:txBody>
      </p:sp>
      <p:sp>
        <p:nvSpPr>
          <p:cNvPr id="12" name="Shape 9"/>
          <p:cNvSpPr/>
          <p:nvPr/>
        </p:nvSpPr>
        <p:spPr>
          <a:xfrm>
            <a:off x="3017520" y="960120"/>
            <a:ext cx="1783080" cy="384048"/>
          </a:xfrm>
          <a:prstGeom prst="rect">
            <a:avLst/>
          </a:prstGeom>
          <a:solidFill>
            <a:srgbClr val="E8670D"/>
          </a:solidFill>
          <a:ln w="6350">
            <a:solidFill>
              <a:srgbClr val="DDCCBB"/>
            </a:solidFill>
            <a:prstDash val="solid"/>
          </a:ln>
        </p:spPr>
      </p:sp>
      <p:sp>
        <p:nvSpPr>
          <p:cNvPr id="13" name="Text 10"/>
          <p:cNvSpPr/>
          <p:nvPr/>
        </p:nvSpPr>
        <p:spPr>
          <a:xfrm>
            <a:off x="3063240" y="1014984"/>
            <a:ext cx="169164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Example</a:t>
            </a:r>
            <a:endParaRPr lang="en-US" sz="950" dirty="0"/>
          </a:p>
        </p:txBody>
      </p:sp>
      <p:sp>
        <p:nvSpPr>
          <p:cNvPr id="14" name="Shape 11"/>
          <p:cNvSpPr/>
          <p:nvPr/>
        </p:nvSpPr>
        <p:spPr>
          <a:xfrm>
            <a:off x="4800600" y="960120"/>
            <a:ext cx="1234440" cy="384048"/>
          </a:xfrm>
          <a:prstGeom prst="rect">
            <a:avLst/>
          </a:prstGeom>
          <a:solidFill>
            <a:srgbClr val="E8670D"/>
          </a:solidFill>
          <a:ln w="6350">
            <a:solidFill>
              <a:srgbClr val="DDCCBB"/>
            </a:solidFill>
            <a:prstDash val="solid"/>
          </a:ln>
        </p:spPr>
      </p:sp>
      <p:sp>
        <p:nvSpPr>
          <p:cNvPr id="15" name="Text 12"/>
          <p:cNvSpPr/>
          <p:nvPr/>
        </p:nvSpPr>
        <p:spPr>
          <a:xfrm>
            <a:off x="4846320" y="1014984"/>
            <a:ext cx="114300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Tool</a:t>
            </a:r>
            <a:endParaRPr lang="en-US" sz="950" dirty="0"/>
          </a:p>
        </p:txBody>
      </p:sp>
      <p:sp>
        <p:nvSpPr>
          <p:cNvPr id="16" name="Shape 13"/>
          <p:cNvSpPr/>
          <p:nvPr/>
        </p:nvSpPr>
        <p:spPr>
          <a:xfrm>
            <a:off x="6035040" y="960120"/>
            <a:ext cx="2560320" cy="384048"/>
          </a:xfrm>
          <a:prstGeom prst="rect">
            <a:avLst/>
          </a:prstGeom>
          <a:solidFill>
            <a:srgbClr val="E8670D"/>
          </a:solidFill>
          <a:ln w="6350">
            <a:solidFill>
              <a:srgbClr val="DDCCBB"/>
            </a:solidFill>
            <a:prstDash val="solid"/>
          </a:ln>
        </p:spPr>
      </p:sp>
      <p:sp>
        <p:nvSpPr>
          <p:cNvPr id="17" name="Text 14"/>
          <p:cNvSpPr/>
          <p:nvPr/>
        </p:nvSpPr>
        <p:spPr>
          <a:xfrm>
            <a:off x="6080760" y="1014984"/>
            <a:ext cx="246888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Pass Criterion</a:t>
            </a:r>
            <a:endParaRPr lang="en-US" sz="950" dirty="0"/>
          </a:p>
        </p:txBody>
      </p:sp>
      <p:sp>
        <p:nvSpPr>
          <p:cNvPr id="18" name="Shape 15"/>
          <p:cNvSpPr/>
          <p:nvPr/>
        </p:nvSpPr>
        <p:spPr>
          <a:xfrm>
            <a:off x="274320" y="1344168"/>
            <a:ext cx="1005840" cy="384048"/>
          </a:xfrm>
          <a:prstGeom prst="rect">
            <a:avLst/>
          </a:prstGeom>
          <a:solidFill>
            <a:srgbClr val="FFFFFF"/>
          </a:solidFill>
          <a:ln w="6350">
            <a:solidFill>
              <a:srgbClr val="DDCCBB"/>
            </a:solidFill>
            <a:prstDash val="solid"/>
          </a:ln>
        </p:spPr>
      </p:sp>
      <p:sp>
        <p:nvSpPr>
          <p:cNvPr id="19" name="Text 16"/>
          <p:cNvSpPr/>
          <p:nvPr/>
        </p:nvSpPr>
        <p:spPr>
          <a:xfrm>
            <a:off x="320040" y="1399032"/>
            <a:ext cx="9144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Load</a:t>
            </a:r>
            <a:endParaRPr lang="en-US" sz="900" dirty="0"/>
          </a:p>
        </p:txBody>
      </p:sp>
      <p:sp>
        <p:nvSpPr>
          <p:cNvPr id="20" name="Shape 17"/>
          <p:cNvSpPr/>
          <p:nvPr/>
        </p:nvSpPr>
        <p:spPr>
          <a:xfrm>
            <a:off x="1280160" y="1344168"/>
            <a:ext cx="1737360" cy="384048"/>
          </a:xfrm>
          <a:prstGeom prst="rect">
            <a:avLst/>
          </a:prstGeom>
          <a:solidFill>
            <a:srgbClr val="FFFFFF"/>
          </a:solidFill>
          <a:ln w="6350">
            <a:solidFill>
              <a:srgbClr val="DDCCBB"/>
            </a:solidFill>
            <a:prstDash val="solid"/>
          </a:ln>
        </p:spPr>
      </p:sp>
      <p:sp>
        <p:nvSpPr>
          <p:cNvPr id="21" name="Text 18"/>
          <p:cNvSpPr/>
          <p:nvPr/>
        </p:nvSpPr>
        <p:spPr>
          <a:xfrm>
            <a:off x="1325880" y="1399032"/>
            <a:ext cx="164592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10,000 concurrent users checkout simultaneously</a:t>
            </a:r>
            <a:endParaRPr lang="en-US" sz="900" dirty="0"/>
          </a:p>
        </p:txBody>
      </p:sp>
      <p:sp>
        <p:nvSpPr>
          <p:cNvPr id="22" name="Shape 19"/>
          <p:cNvSpPr/>
          <p:nvPr/>
        </p:nvSpPr>
        <p:spPr>
          <a:xfrm>
            <a:off x="3017520" y="1344168"/>
            <a:ext cx="1783080" cy="384048"/>
          </a:xfrm>
          <a:prstGeom prst="rect">
            <a:avLst/>
          </a:prstGeom>
          <a:solidFill>
            <a:srgbClr val="FFFFFF"/>
          </a:solidFill>
          <a:ln w="6350">
            <a:solidFill>
              <a:srgbClr val="DDCCBB"/>
            </a:solidFill>
            <a:prstDash val="solid"/>
          </a:ln>
        </p:spPr>
      </p:sp>
      <p:sp>
        <p:nvSpPr>
          <p:cNvPr id="23" name="Text 20"/>
          <p:cNvSpPr/>
          <p:nvPr/>
        </p:nvSpPr>
        <p:spPr>
          <a:xfrm>
            <a:off x="3063240" y="1399032"/>
            <a:ext cx="169164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Black Friday sale on e-commerce platform</a:t>
            </a:r>
            <a:endParaRPr lang="en-US" sz="900" dirty="0"/>
          </a:p>
        </p:txBody>
      </p:sp>
      <p:sp>
        <p:nvSpPr>
          <p:cNvPr id="24" name="Shape 21"/>
          <p:cNvSpPr/>
          <p:nvPr/>
        </p:nvSpPr>
        <p:spPr>
          <a:xfrm>
            <a:off x="4800600" y="1344168"/>
            <a:ext cx="1234440" cy="384048"/>
          </a:xfrm>
          <a:prstGeom prst="rect">
            <a:avLst/>
          </a:prstGeom>
          <a:solidFill>
            <a:srgbClr val="FFFFFF"/>
          </a:solidFill>
          <a:ln w="6350">
            <a:solidFill>
              <a:srgbClr val="DDCCBB"/>
            </a:solidFill>
            <a:prstDash val="solid"/>
          </a:ln>
        </p:spPr>
      </p:sp>
      <p:sp>
        <p:nvSpPr>
          <p:cNvPr id="25" name="Text 22"/>
          <p:cNvSpPr/>
          <p:nvPr/>
        </p:nvSpPr>
        <p:spPr>
          <a:xfrm>
            <a:off x="4846320" y="1399032"/>
            <a:ext cx="11430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JMeter, Gatling, k6</a:t>
            </a:r>
            <a:endParaRPr lang="en-US" sz="900" dirty="0"/>
          </a:p>
        </p:txBody>
      </p:sp>
      <p:sp>
        <p:nvSpPr>
          <p:cNvPr id="26" name="Shape 23"/>
          <p:cNvSpPr/>
          <p:nvPr/>
        </p:nvSpPr>
        <p:spPr>
          <a:xfrm>
            <a:off x="6035040" y="1344168"/>
            <a:ext cx="2560320" cy="384048"/>
          </a:xfrm>
          <a:prstGeom prst="rect">
            <a:avLst/>
          </a:prstGeom>
          <a:solidFill>
            <a:srgbClr val="FFFFFF"/>
          </a:solidFill>
          <a:ln w="6350">
            <a:solidFill>
              <a:srgbClr val="DDCCBB"/>
            </a:solidFill>
            <a:prstDash val="solid"/>
          </a:ln>
        </p:spPr>
      </p:sp>
      <p:sp>
        <p:nvSpPr>
          <p:cNvPr id="27" name="Text 24"/>
          <p:cNvSpPr/>
          <p:nvPr/>
        </p:nvSpPr>
        <p:spPr>
          <a:xfrm>
            <a:off x="6080760" y="1399032"/>
            <a:ext cx="24688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&lt; 3s response time at peak load</a:t>
            </a:r>
            <a:endParaRPr lang="en-US" sz="900" dirty="0"/>
          </a:p>
        </p:txBody>
      </p:sp>
      <p:sp>
        <p:nvSpPr>
          <p:cNvPr id="28" name="Shape 25"/>
          <p:cNvSpPr/>
          <p:nvPr/>
        </p:nvSpPr>
        <p:spPr>
          <a:xfrm>
            <a:off x="274320" y="1728216"/>
            <a:ext cx="1005840" cy="384048"/>
          </a:xfrm>
          <a:prstGeom prst="rect">
            <a:avLst/>
          </a:prstGeom>
          <a:solidFill>
            <a:srgbClr val="FFF5EE"/>
          </a:solidFill>
          <a:ln w="6350">
            <a:solidFill>
              <a:srgbClr val="DDCCBB"/>
            </a:solidFill>
            <a:prstDash val="solid"/>
          </a:ln>
        </p:spPr>
      </p:sp>
      <p:sp>
        <p:nvSpPr>
          <p:cNvPr id="29" name="Text 26"/>
          <p:cNvSpPr/>
          <p:nvPr/>
        </p:nvSpPr>
        <p:spPr>
          <a:xfrm>
            <a:off x="320040" y="1783080"/>
            <a:ext cx="9144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Stress</a:t>
            </a:r>
            <a:endParaRPr lang="en-US" sz="900" dirty="0"/>
          </a:p>
        </p:txBody>
      </p:sp>
      <p:sp>
        <p:nvSpPr>
          <p:cNvPr id="30" name="Shape 27"/>
          <p:cNvSpPr/>
          <p:nvPr/>
        </p:nvSpPr>
        <p:spPr>
          <a:xfrm>
            <a:off x="1280160" y="1728216"/>
            <a:ext cx="1737360" cy="384048"/>
          </a:xfrm>
          <a:prstGeom prst="rect">
            <a:avLst/>
          </a:prstGeom>
          <a:solidFill>
            <a:srgbClr val="FFF5EE"/>
          </a:solidFill>
          <a:ln w="6350">
            <a:solidFill>
              <a:srgbClr val="DDCCBB"/>
            </a:solidFill>
            <a:prstDash val="solid"/>
          </a:ln>
        </p:spPr>
      </p:sp>
      <p:sp>
        <p:nvSpPr>
          <p:cNvPr id="31" name="Text 28"/>
          <p:cNvSpPr/>
          <p:nvPr/>
        </p:nvSpPr>
        <p:spPr>
          <a:xfrm>
            <a:off x="1325880" y="1783080"/>
            <a:ext cx="164592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150% of maximum expected users</a:t>
            </a:r>
            <a:endParaRPr lang="en-US" sz="900" dirty="0"/>
          </a:p>
        </p:txBody>
      </p:sp>
      <p:sp>
        <p:nvSpPr>
          <p:cNvPr id="32" name="Shape 29"/>
          <p:cNvSpPr/>
          <p:nvPr/>
        </p:nvSpPr>
        <p:spPr>
          <a:xfrm>
            <a:off x="3017520" y="1728216"/>
            <a:ext cx="1783080" cy="384048"/>
          </a:xfrm>
          <a:prstGeom prst="rect">
            <a:avLst/>
          </a:prstGeom>
          <a:solidFill>
            <a:srgbClr val="FFF5EE"/>
          </a:solidFill>
          <a:ln w="6350">
            <a:solidFill>
              <a:srgbClr val="DDCCBB"/>
            </a:solidFill>
            <a:prstDash val="solid"/>
          </a:ln>
        </p:spPr>
      </p:sp>
      <p:sp>
        <p:nvSpPr>
          <p:cNvPr id="33" name="Text 30"/>
          <p:cNvSpPr/>
          <p:nvPr/>
        </p:nvSpPr>
        <p:spPr>
          <a:xfrm>
            <a:off x="3063240" y="1783080"/>
            <a:ext cx="169164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Traffic spike after viral social media post</a:t>
            </a:r>
            <a:endParaRPr lang="en-US" sz="900" dirty="0"/>
          </a:p>
        </p:txBody>
      </p:sp>
      <p:sp>
        <p:nvSpPr>
          <p:cNvPr id="34" name="Shape 31"/>
          <p:cNvSpPr/>
          <p:nvPr/>
        </p:nvSpPr>
        <p:spPr>
          <a:xfrm>
            <a:off x="4800600" y="1728216"/>
            <a:ext cx="1234440" cy="384048"/>
          </a:xfrm>
          <a:prstGeom prst="rect">
            <a:avLst/>
          </a:prstGeom>
          <a:solidFill>
            <a:srgbClr val="FFF5EE"/>
          </a:solidFill>
          <a:ln w="6350">
            <a:solidFill>
              <a:srgbClr val="DDCCBB"/>
            </a:solidFill>
            <a:prstDash val="solid"/>
          </a:ln>
        </p:spPr>
      </p:sp>
      <p:sp>
        <p:nvSpPr>
          <p:cNvPr id="35" name="Text 32"/>
          <p:cNvSpPr/>
          <p:nvPr/>
        </p:nvSpPr>
        <p:spPr>
          <a:xfrm>
            <a:off x="4846320" y="1783080"/>
            <a:ext cx="11430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JMeter, Locust</a:t>
            </a:r>
            <a:endParaRPr lang="en-US" sz="900" dirty="0"/>
          </a:p>
        </p:txBody>
      </p:sp>
      <p:sp>
        <p:nvSpPr>
          <p:cNvPr id="36" name="Shape 33"/>
          <p:cNvSpPr/>
          <p:nvPr/>
        </p:nvSpPr>
        <p:spPr>
          <a:xfrm>
            <a:off x="6035040" y="1728216"/>
            <a:ext cx="2560320" cy="384048"/>
          </a:xfrm>
          <a:prstGeom prst="rect">
            <a:avLst/>
          </a:prstGeom>
          <a:solidFill>
            <a:srgbClr val="FFF5EE"/>
          </a:solidFill>
          <a:ln w="6350">
            <a:solidFill>
              <a:srgbClr val="DDCCBB"/>
            </a:solidFill>
            <a:prstDash val="solid"/>
          </a:ln>
        </p:spPr>
      </p:sp>
      <p:sp>
        <p:nvSpPr>
          <p:cNvPr id="37" name="Text 34"/>
          <p:cNvSpPr/>
          <p:nvPr/>
        </p:nvSpPr>
        <p:spPr>
          <a:xfrm>
            <a:off x="6080760" y="1783080"/>
            <a:ext cx="24688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Graceful degradation, auto-recovery</a:t>
            </a:r>
            <a:endParaRPr lang="en-US" sz="900" dirty="0"/>
          </a:p>
        </p:txBody>
      </p:sp>
      <p:sp>
        <p:nvSpPr>
          <p:cNvPr id="38" name="Shape 35"/>
          <p:cNvSpPr/>
          <p:nvPr/>
        </p:nvSpPr>
        <p:spPr>
          <a:xfrm>
            <a:off x="274320" y="2112264"/>
            <a:ext cx="1005840" cy="384048"/>
          </a:xfrm>
          <a:prstGeom prst="rect">
            <a:avLst/>
          </a:prstGeom>
          <a:solidFill>
            <a:srgbClr val="FFFFFF"/>
          </a:solidFill>
          <a:ln w="6350">
            <a:solidFill>
              <a:srgbClr val="DDCCBB"/>
            </a:solidFill>
            <a:prstDash val="solid"/>
          </a:ln>
        </p:spPr>
      </p:sp>
      <p:sp>
        <p:nvSpPr>
          <p:cNvPr id="39" name="Text 36"/>
          <p:cNvSpPr/>
          <p:nvPr/>
        </p:nvSpPr>
        <p:spPr>
          <a:xfrm>
            <a:off x="320040" y="2167128"/>
            <a:ext cx="9144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Spike</a:t>
            </a:r>
            <a:endParaRPr lang="en-US" sz="900" dirty="0"/>
          </a:p>
        </p:txBody>
      </p:sp>
      <p:sp>
        <p:nvSpPr>
          <p:cNvPr id="40" name="Shape 37"/>
          <p:cNvSpPr/>
          <p:nvPr/>
        </p:nvSpPr>
        <p:spPr>
          <a:xfrm>
            <a:off x="1280160" y="2112264"/>
            <a:ext cx="1737360" cy="384048"/>
          </a:xfrm>
          <a:prstGeom prst="rect">
            <a:avLst/>
          </a:prstGeom>
          <a:solidFill>
            <a:srgbClr val="FFFFFF"/>
          </a:solidFill>
          <a:ln w="6350">
            <a:solidFill>
              <a:srgbClr val="DDCCBB"/>
            </a:solidFill>
            <a:prstDash val="solid"/>
          </a:ln>
        </p:spPr>
      </p:sp>
      <p:sp>
        <p:nvSpPr>
          <p:cNvPr id="41" name="Text 38"/>
          <p:cNvSpPr/>
          <p:nvPr/>
        </p:nvSpPr>
        <p:spPr>
          <a:xfrm>
            <a:off x="1325880" y="2167128"/>
            <a:ext cx="164592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0 to 50,000 users in 30 seconds</a:t>
            </a:r>
            <a:endParaRPr lang="en-US" sz="900" dirty="0"/>
          </a:p>
        </p:txBody>
      </p:sp>
      <p:sp>
        <p:nvSpPr>
          <p:cNvPr id="42" name="Shape 39"/>
          <p:cNvSpPr/>
          <p:nvPr/>
        </p:nvSpPr>
        <p:spPr>
          <a:xfrm>
            <a:off x="3017520" y="2112264"/>
            <a:ext cx="1783080" cy="384048"/>
          </a:xfrm>
          <a:prstGeom prst="rect">
            <a:avLst/>
          </a:prstGeom>
          <a:solidFill>
            <a:srgbClr val="FFFFFF"/>
          </a:solidFill>
          <a:ln w="6350">
            <a:solidFill>
              <a:srgbClr val="DDCCBB"/>
            </a:solidFill>
            <a:prstDash val="solid"/>
          </a:ln>
        </p:spPr>
      </p:sp>
      <p:sp>
        <p:nvSpPr>
          <p:cNvPr id="43" name="Text 40"/>
          <p:cNvSpPr/>
          <p:nvPr/>
        </p:nvSpPr>
        <p:spPr>
          <a:xfrm>
            <a:off x="3063240" y="2167128"/>
            <a:ext cx="169164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New iPhone announced — Apple.com traffic</a:t>
            </a:r>
            <a:endParaRPr lang="en-US" sz="900" dirty="0"/>
          </a:p>
        </p:txBody>
      </p:sp>
      <p:sp>
        <p:nvSpPr>
          <p:cNvPr id="44" name="Shape 41"/>
          <p:cNvSpPr/>
          <p:nvPr/>
        </p:nvSpPr>
        <p:spPr>
          <a:xfrm>
            <a:off x="4800600" y="2112264"/>
            <a:ext cx="1234440" cy="384048"/>
          </a:xfrm>
          <a:prstGeom prst="rect">
            <a:avLst/>
          </a:prstGeom>
          <a:solidFill>
            <a:srgbClr val="FFFFFF"/>
          </a:solidFill>
          <a:ln w="6350">
            <a:solidFill>
              <a:srgbClr val="DDCCBB"/>
            </a:solidFill>
            <a:prstDash val="solid"/>
          </a:ln>
        </p:spPr>
      </p:sp>
      <p:sp>
        <p:nvSpPr>
          <p:cNvPr id="45" name="Text 42"/>
          <p:cNvSpPr/>
          <p:nvPr/>
        </p:nvSpPr>
        <p:spPr>
          <a:xfrm>
            <a:off x="4846320" y="2167128"/>
            <a:ext cx="11430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Gatling, k6</a:t>
            </a:r>
            <a:endParaRPr lang="en-US" sz="900" dirty="0"/>
          </a:p>
        </p:txBody>
      </p:sp>
      <p:sp>
        <p:nvSpPr>
          <p:cNvPr id="46" name="Shape 43"/>
          <p:cNvSpPr/>
          <p:nvPr/>
        </p:nvSpPr>
        <p:spPr>
          <a:xfrm>
            <a:off x="6035040" y="2112264"/>
            <a:ext cx="2560320" cy="384048"/>
          </a:xfrm>
          <a:prstGeom prst="rect">
            <a:avLst/>
          </a:prstGeom>
          <a:solidFill>
            <a:srgbClr val="FFFFFF"/>
          </a:solidFill>
          <a:ln w="6350">
            <a:solidFill>
              <a:srgbClr val="DDCCBB"/>
            </a:solidFill>
            <a:prstDash val="solid"/>
          </a:ln>
        </p:spPr>
      </p:sp>
      <p:sp>
        <p:nvSpPr>
          <p:cNvPr id="47" name="Text 44"/>
          <p:cNvSpPr/>
          <p:nvPr/>
        </p:nvSpPr>
        <p:spPr>
          <a:xfrm>
            <a:off x="6080760" y="2167128"/>
            <a:ext cx="24688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 crash; queue or CDN handles overflow</a:t>
            </a:r>
            <a:endParaRPr lang="en-US" sz="900" dirty="0"/>
          </a:p>
        </p:txBody>
      </p:sp>
      <p:sp>
        <p:nvSpPr>
          <p:cNvPr id="48" name="Shape 45"/>
          <p:cNvSpPr/>
          <p:nvPr/>
        </p:nvSpPr>
        <p:spPr>
          <a:xfrm>
            <a:off x="274320" y="2496312"/>
            <a:ext cx="1005840" cy="384048"/>
          </a:xfrm>
          <a:prstGeom prst="rect">
            <a:avLst/>
          </a:prstGeom>
          <a:solidFill>
            <a:srgbClr val="FFF5EE"/>
          </a:solidFill>
          <a:ln w="6350">
            <a:solidFill>
              <a:srgbClr val="DDCCBB"/>
            </a:solidFill>
            <a:prstDash val="solid"/>
          </a:ln>
        </p:spPr>
      </p:sp>
      <p:sp>
        <p:nvSpPr>
          <p:cNvPr id="49" name="Text 46"/>
          <p:cNvSpPr/>
          <p:nvPr/>
        </p:nvSpPr>
        <p:spPr>
          <a:xfrm>
            <a:off x="320040" y="2551176"/>
            <a:ext cx="9144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Endurance</a:t>
            </a:r>
            <a:endParaRPr lang="en-US" sz="900" dirty="0"/>
          </a:p>
        </p:txBody>
      </p:sp>
      <p:sp>
        <p:nvSpPr>
          <p:cNvPr id="50" name="Shape 47"/>
          <p:cNvSpPr/>
          <p:nvPr/>
        </p:nvSpPr>
        <p:spPr>
          <a:xfrm>
            <a:off x="1280160" y="2496312"/>
            <a:ext cx="1737360" cy="384048"/>
          </a:xfrm>
          <a:prstGeom prst="rect">
            <a:avLst/>
          </a:prstGeom>
          <a:solidFill>
            <a:srgbClr val="FFF5EE"/>
          </a:solidFill>
          <a:ln w="6350">
            <a:solidFill>
              <a:srgbClr val="DDCCBB"/>
            </a:solidFill>
            <a:prstDash val="solid"/>
          </a:ln>
        </p:spPr>
      </p:sp>
      <p:sp>
        <p:nvSpPr>
          <p:cNvPr id="51" name="Text 48"/>
          <p:cNvSpPr/>
          <p:nvPr/>
        </p:nvSpPr>
        <p:spPr>
          <a:xfrm>
            <a:off x="1325880" y="2551176"/>
            <a:ext cx="164592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5,000 users for 72 hours continuous</a:t>
            </a:r>
            <a:endParaRPr lang="en-US" sz="900" dirty="0"/>
          </a:p>
        </p:txBody>
      </p:sp>
      <p:sp>
        <p:nvSpPr>
          <p:cNvPr id="52" name="Shape 49"/>
          <p:cNvSpPr/>
          <p:nvPr/>
        </p:nvSpPr>
        <p:spPr>
          <a:xfrm>
            <a:off x="3017520" y="2496312"/>
            <a:ext cx="1783080" cy="384048"/>
          </a:xfrm>
          <a:prstGeom prst="rect">
            <a:avLst/>
          </a:prstGeom>
          <a:solidFill>
            <a:srgbClr val="FFF5EE"/>
          </a:solidFill>
          <a:ln w="6350">
            <a:solidFill>
              <a:srgbClr val="DDCCBB"/>
            </a:solidFill>
            <a:prstDash val="solid"/>
          </a:ln>
        </p:spPr>
      </p:sp>
      <p:sp>
        <p:nvSpPr>
          <p:cNvPr id="53" name="Text 50"/>
          <p:cNvSpPr/>
          <p:nvPr/>
        </p:nvSpPr>
        <p:spPr>
          <a:xfrm>
            <a:off x="3063240" y="2551176"/>
            <a:ext cx="169164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Online banking system daily operations</a:t>
            </a:r>
            <a:endParaRPr lang="en-US" sz="900" dirty="0"/>
          </a:p>
        </p:txBody>
      </p:sp>
      <p:sp>
        <p:nvSpPr>
          <p:cNvPr id="54" name="Shape 51"/>
          <p:cNvSpPr/>
          <p:nvPr/>
        </p:nvSpPr>
        <p:spPr>
          <a:xfrm>
            <a:off x="4800600" y="2496312"/>
            <a:ext cx="1234440" cy="384048"/>
          </a:xfrm>
          <a:prstGeom prst="rect">
            <a:avLst/>
          </a:prstGeom>
          <a:solidFill>
            <a:srgbClr val="FFF5EE"/>
          </a:solidFill>
          <a:ln w="6350">
            <a:solidFill>
              <a:srgbClr val="DDCCBB"/>
            </a:solidFill>
            <a:prstDash val="solid"/>
          </a:ln>
        </p:spPr>
      </p:sp>
      <p:sp>
        <p:nvSpPr>
          <p:cNvPr id="55" name="Text 52"/>
          <p:cNvSpPr/>
          <p:nvPr/>
        </p:nvSpPr>
        <p:spPr>
          <a:xfrm>
            <a:off x="4846320" y="2551176"/>
            <a:ext cx="11430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JMeter long runs</a:t>
            </a:r>
            <a:endParaRPr lang="en-US" sz="900" dirty="0"/>
          </a:p>
        </p:txBody>
      </p:sp>
      <p:sp>
        <p:nvSpPr>
          <p:cNvPr id="56" name="Shape 53"/>
          <p:cNvSpPr/>
          <p:nvPr/>
        </p:nvSpPr>
        <p:spPr>
          <a:xfrm>
            <a:off x="6035040" y="2496312"/>
            <a:ext cx="2560320" cy="384048"/>
          </a:xfrm>
          <a:prstGeom prst="rect">
            <a:avLst/>
          </a:prstGeom>
          <a:solidFill>
            <a:srgbClr val="FFF5EE"/>
          </a:solidFill>
          <a:ln w="6350">
            <a:solidFill>
              <a:srgbClr val="DDCCBB"/>
            </a:solidFill>
            <a:prstDash val="solid"/>
          </a:ln>
        </p:spPr>
      </p:sp>
      <p:sp>
        <p:nvSpPr>
          <p:cNvPr id="57" name="Text 54"/>
          <p:cNvSpPr/>
          <p:nvPr/>
        </p:nvSpPr>
        <p:spPr>
          <a:xfrm>
            <a:off x="6080760" y="2551176"/>
            <a:ext cx="24688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 memory leak; response time stable</a:t>
            </a:r>
            <a:endParaRPr lang="en-US" sz="900" dirty="0"/>
          </a:p>
        </p:txBody>
      </p:sp>
      <p:sp>
        <p:nvSpPr>
          <p:cNvPr id="58" name="Text 55"/>
          <p:cNvSpPr/>
          <p:nvPr/>
        </p:nvSpPr>
        <p:spPr>
          <a:xfrm>
            <a:off x="274320" y="3127248"/>
            <a:ext cx="5486400" cy="256032"/>
          </a:xfrm>
          <a:prstGeom prst="rect">
            <a:avLst/>
          </a:prstGeom>
          <a:noFill/>
          <a:ln/>
        </p:spPr>
        <p:txBody>
          <a:bodyPr wrap="square" rtlCol="0" anchor="ctr"/>
          <a:lstStyle/>
          <a:p>
            <a:pPr marL="0" indent="0">
              <a:buNone/>
            </a:pPr>
            <a:r>
              <a:rPr lang="en-US" sz="1000" b="1" kern="0" spc="150" dirty="0">
                <a:solidFill>
                  <a:srgbClr val="E8670D"/>
                </a:solidFill>
                <a:latin typeface="Calibri" pitchFamily="34" charset="0"/>
                <a:ea typeface="Calibri" pitchFamily="34" charset="-122"/>
                <a:cs typeface="Calibri" pitchFamily="34" charset="-120"/>
              </a:rPr>
              <a:t>PERFORMANCE METRICS MEASURED</a:t>
            </a:r>
            <a:endParaRPr lang="en-US" sz="1000" dirty="0"/>
          </a:p>
        </p:txBody>
      </p:sp>
      <p:sp>
        <p:nvSpPr>
          <p:cNvPr id="59" name="Shape 56"/>
          <p:cNvSpPr/>
          <p:nvPr/>
        </p:nvSpPr>
        <p:spPr>
          <a:xfrm>
            <a:off x="274320" y="3438144"/>
            <a:ext cx="4279392" cy="713232"/>
          </a:xfrm>
          <a:prstGeom prst="rect">
            <a:avLst/>
          </a:prstGeom>
          <a:solidFill>
            <a:srgbClr val="FFFFFF"/>
          </a:solidFill>
          <a:ln/>
          <a:effectLst>
            <a:outerShdw blurRad="101600" dist="38100" dir="8100000" algn="bl" rotWithShape="0">
              <a:srgbClr val="000000">
                <a:alpha val="18000"/>
              </a:srgbClr>
            </a:outerShdw>
          </a:effectLst>
        </p:spPr>
      </p:sp>
      <p:sp>
        <p:nvSpPr>
          <p:cNvPr id="60" name="Shape 57"/>
          <p:cNvSpPr/>
          <p:nvPr/>
        </p:nvSpPr>
        <p:spPr>
          <a:xfrm>
            <a:off x="274320" y="3438144"/>
            <a:ext cx="73152" cy="713232"/>
          </a:xfrm>
          <a:prstGeom prst="rect">
            <a:avLst/>
          </a:prstGeom>
          <a:solidFill>
            <a:srgbClr val="E8670D"/>
          </a:solidFill>
          <a:ln/>
        </p:spPr>
      </p:sp>
      <p:sp>
        <p:nvSpPr>
          <p:cNvPr id="61" name="Text 58"/>
          <p:cNvSpPr/>
          <p:nvPr/>
        </p:nvSpPr>
        <p:spPr>
          <a:xfrm>
            <a:off x="438912" y="3511296"/>
            <a:ext cx="1645920" cy="219456"/>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Response Time</a:t>
            </a:r>
            <a:endParaRPr lang="en-US" sz="1000" dirty="0"/>
          </a:p>
        </p:txBody>
      </p:sp>
      <p:sp>
        <p:nvSpPr>
          <p:cNvPr id="62" name="Text 59"/>
          <p:cNvSpPr/>
          <p:nvPr/>
        </p:nvSpPr>
        <p:spPr>
          <a:xfrm>
            <a:off x="438912" y="3767328"/>
            <a:ext cx="4023360" cy="310896"/>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Time from user action to system response. Target: &lt; 2s for web pages, &lt; 100ms for APIs</a:t>
            </a:r>
            <a:endParaRPr lang="en-US" sz="950" dirty="0"/>
          </a:p>
        </p:txBody>
      </p:sp>
      <p:sp>
        <p:nvSpPr>
          <p:cNvPr id="63" name="Shape 60"/>
          <p:cNvSpPr/>
          <p:nvPr/>
        </p:nvSpPr>
        <p:spPr>
          <a:xfrm>
            <a:off x="4754880" y="3438144"/>
            <a:ext cx="4279392" cy="713232"/>
          </a:xfrm>
          <a:prstGeom prst="rect">
            <a:avLst/>
          </a:prstGeom>
          <a:solidFill>
            <a:srgbClr val="FFFFFF"/>
          </a:solidFill>
          <a:ln/>
          <a:effectLst>
            <a:outerShdw blurRad="101600" dist="38100" dir="8100000" algn="bl" rotWithShape="0">
              <a:srgbClr val="000000">
                <a:alpha val="18000"/>
              </a:srgbClr>
            </a:outerShdw>
          </a:effectLst>
        </p:spPr>
      </p:sp>
      <p:sp>
        <p:nvSpPr>
          <p:cNvPr id="64" name="Shape 61"/>
          <p:cNvSpPr/>
          <p:nvPr/>
        </p:nvSpPr>
        <p:spPr>
          <a:xfrm>
            <a:off x="4754880" y="3438144"/>
            <a:ext cx="73152" cy="713232"/>
          </a:xfrm>
          <a:prstGeom prst="rect">
            <a:avLst/>
          </a:prstGeom>
          <a:solidFill>
            <a:srgbClr val="E8670D"/>
          </a:solidFill>
          <a:ln/>
        </p:spPr>
      </p:sp>
      <p:sp>
        <p:nvSpPr>
          <p:cNvPr id="65" name="Text 62"/>
          <p:cNvSpPr/>
          <p:nvPr/>
        </p:nvSpPr>
        <p:spPr>
          <a:xfrm>
            <a:off x="4919472" y="3511296"/>
            <a:ext cx="1645920" cy="219456"/>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Throughput</a:t>
            </a:r>
            <a:endParaRPr lang="en-US" sz="1000" dirty="0"/>
          </a:p>
        </p:txBody>
      </p:sp>
      <p:sp>
        <p:nvSpPr>
          <p:cNvPr id="66" name="Text 63"/>
          <p:cNvSpPr/>
          <p:nvPr/>
        </p:nvSpPr>
        <p:spPr>
          <a:xfrm>
            <a:off x="4919472" y="3767328"/>
            <a:ext cx="4023360" cy="310896"/>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Requests processed per second. Indicates system processing capacity at scale</a:t>
            </a:r>
            <a:endParaRPr lang="en-US" sz="950" dirty="0"/>
          </a:p>
        </p:txBody>
      </p:sp>
      <p:sp>
        <p:nvSpPr>
          <p:cNvPr id="67" name="Shape 64"/>
          <p:cNvSpPr/>
          <p:nvPr/>
        </p:nvSpPr>
        <p:spPr>
          <a:xfrm>
            <a:off x="274320" y="4242816"/>
            <a:ext cx="4279392" cy="713232"/>
          </a:xfrm>
          <a:prstGeom prst="rect">
            <a:avLst/>
          </a:prstGeom>
          <a:solidFill>
            <a:srgbClr val="FFFFFF"/>
          </a:solidFill>
          <a:ln/>
          <a:effectLst>
            <a:outerShdw blurRad="101600" dist="38100" dir="8100000" algn="bl" rotWithShape="0">
              <a:srgbClr val="000000">
                <a:alpha val="18000"/>
              </a:srgbClr>
            </a:outerShdw>
          </a:effectLst>
        </p:spPr>
      </p:sp>
      <p:sp>
        <p:nvSpPr>
          <p:cNvPr id="68" name="Shape 65"/>
          <p:cNvSpPr/>
          <p:nvPr/>
        </p:nvSpPr>
        <p:spPr>
          <a:xfrm>
            <a:off x="274320" y="4242816"/>
            <a:ext cx="73152" cy="713232"/>
          </a:xfrm>
          <a:prstGeom prst="rect">
            <a:avLst/>
          </a:prstGeom>
          <a:solidFill>
            <a:srgbClr val="1E1E1E"/>
          </a:solidFill>
          <a:ln/>
        </p:spPr>
      </p:sp>
      <p:sp>
        <p:nvSpPr>
          <p:cNvPr id="69" name="Text 66"/>
          <p:cNvSpPr/>
          <p:nvPr/>
        </p:nvSpPr>
        <p:spPr>
          <a:xfrm>
            <a:off x="438912" y="4315968"/>
            <a:ext cx="1645920" cy="219456"/>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Error Rate</a:t>
            </a:r>
            <a:endParaRPr lang="en-US" sz="1000" dirty="0"/>
          </a:p>
        </p:txBody>
      </p:sp>
      <p:sp>
        <p:nvSpPr>
          <p:cNvPr id="70" name="Text 67"/>
          <p:cNvSpPr/>
          <p:nvPr/>
        </p:nvSpPr>
        <p:spPr>
          <a:xfrm>
            <a:off x="438912" y="4572000"/>
            <a:ext cx="4023360" cy="310896"/>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Percentage of failed requests. Acceptable threshold: typically &lt; 1% under load</a:t>
            </a:r>
            <a:endParaRPr lang="en-US" sz="950" dirty="0"/>
          </a:p>
        </p:txBody>
      </p:sp>
      <p:sp>
        <p:nvSpPr>
          <p:cNvPr id="71" name="Shape 68"/>
          <p:cNvSpPr/>
          <p:nvPr/>
        </p:nvSpPr>
        <p:spPr>
          <a:xfrm>
            <a:off x="4754880" y="4242816"/>
            <a:ext cx="4279392" cy="713232"/>
          </a:xfrm>
          <a:prstGeom prst="rect">
            <a:avLst/>
          </a:prstGeom>
          <a:solidFill>
            <a:srgbClr val="FFFFFF"/>
          </a:solidFill>
          <a:ln/>
          <a:effectLst>
            <a:outerShdw blurRad="101600" dist="38100" dir="8100000" algn="bl" rotWithShape="0">
              <a:srgbClr val="000000">
                <a:alpha val="18000"/>
              </a:srgbClr>
            </a:outerShdw>
          </a:effectLst>
        </p:spPr>
      </p:sp>
      <p:sp>
        <p:nvSpPr>
          <p:cNvPr id="72" name="Shape 69"/>
          <p:cNvSpPr/>
          <p:nvPr/>
        </p:nvSpPr>
        <p:spPr>
          <a:xfrm>
            <a:off x="4754880" y="4242816"/>
            <a:ext cx="73152" cy="713232"/>
          </a:xfrm>
          <a:prstGeom prst="rect">
            <a:avLst/>
          </a:prstGeom>
          <a:solidFill>
            <a:srgbClr val="1E1E1E"/>
          </a:solidFill>
          <a:ln/>
        </p:spPr>
      </p:sp>
      <p:sp>
        <p:nvSpPr>
          <p:cNvPr id="73" name="Text 70"/>
          <p:cNvSpPr/>
          <p:nvPr/>
        </p:nvSpPr>
        <p:spPr>
          <a:xfrm>
            <a:off x="4919472" y="4315968"/>
            <a:ext cx="1645920" cy="219456"/>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CPU / Memory</a:t>
            </a:r>
            <a:endParaRPr lang="en-US" sz="1000" dirty="0"/>
          </a:p>
        </p:txBody>
      </p:sp>
      <p:sp>
        <p:nvSpPr>
          <p:cNvPr id="74" name="Text 71"/>
          <p:cNvSpPr/>
          <p:nvPr/>
        </p:nvSpPr>
        <p:spPr>
          <a:xfrm>
            <a:off x="4919472" y="4572000"/>
            <a:ext cx="4023360" cy="310896"/>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Resource utilisation during load. High CPU (&gt;85%) or memory leaks indicate inefficiency</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Security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Identifying vulnerabilities before attackers do</a:t>
            </a:r>
            <a:endParaRPr lang="en-US" sz="1100" dirty="0"/>
          </a:p>
        </p:txBody>
      </p:sp>
      <p:sp>
        <p:nvSpPr>
          <p:cNvPr id="6" name="Shape 3"/>
          <p:cNvSpPr/>
          <p:nvPr/>
        </p:nvSpPr>
        <p:spPr>
          <a:xfrm>
            <a:off x="7790688" y="658368"/>
            <a:ext cx="1298448" cy="347472"/>
          </a:xfrm>
          <a:prstGeom prst="rect">
            <a:avLst/>
          </a:prstGeom>
          <a:solidFill>
            <a:srgbClr val="1E1E1E"/>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Non-Functional</a:t>
            </a:r>
            <a:endParaRPr lang="en-US" sz="800" dirty="0"/>
          </a:p>
        </p:txBody>
      </p:sp>
      <p:sp>
        <p:nvSpPr>
          <p:cNvPr id="8" name="Shape 5"/>
          <p:cNvSpPr/>
          <p:nvPr/>
        </p:nvSpPr>
        <p:spPr>
          <a:xfrm>
            <a:off x="274320" y="960120"/>
            <a:ext cx="8595360" cy="621792"/>
          </a:xfrm>
          <a:prstGeom prst="rect">
            <a:avLst/>
          </a:prstGeom>
          <a:solidFill>
            <a:srgbClr val="E8670D"/>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Security Testing evaluates the software system's ability to protect data, maintain functionality, and resist malicious attacks. It aims to find vulnerabilities, weaknesses, and risks in the application before they can be exploited by real attackers.</a:t>
            </a:r>
            <a:endParaRPr lang="en-US" sz="1200" dirty="0"/>
          </a:p>
        </p:txBody>
      </p:sp>
      <p:sp>
        <p:nvSpPr>
          <p:cNvPr id="10" name="Shape 7"/>
          <p:cNvSpPr/>
          <p:nvPr/>
        </p:nvSpPr>
        <p:spPr>
          <a:xfrm>
            <a:off x="274320" y="1737360"/>
            <a:ext cx="4206240" cy="178308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37360"/>
            <a:ext cx="4206240" cy="347472"/>
          </a:xfrm>
          <a:prstGeom prst="rect">
            <a:avLst/>
          </a:prstGeom>
          <a:solidFill>
            <a:srgbClr val="E8670D"/>
          </a:solidFill>
          <a:ln/>
        </p:spPr>
      </p:sp>
      <p:sp>
        <p:nvSpPr>
          <p:cNvPr id="12" name="Text 9"/>
          <p:cNvSpPr/>
          <p:nvPr/>
        </p:nvSpPr>
        <p:spPr>
          <a:xfrm>
            <a:off x="36576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Vulnerability Testing</a:t>
            </a:r>
            <a:endParaRPr lang="en-US" sz="1100" dirty="0"/>
          </a:p>
        </p:txBody>
      </p:sp>
      <p:sp>
        <p:nvSpPr>
          <p:cNvPr id="13" name="Text 10"/>
          <p:cNvSpPr/>
          <p:nvPr/>
        </p:nvSpPr>
        <p:spPr>
          <a:xfrm>
            <a:off x="384048" y="2139696"/>
            <a:ext cx="3986784" cy="1307592"/>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Systematic scanning of the application for known security weaknesses</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Checks for OWASP Top 10: SQL injection, XSS, broken auth, insecure API</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Uses automated scanners to identify vulnerabilities at scale</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Tools: OWASP ZAP, Burp Suite, Nessus, SonarQube (static analysis)</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Example: Scanning login form for SQL injection vulnerabilities</a:t>
            </a:r>
            <a:endParaRPr lang="en-US" sz="1000" dirty="0"/>
          </a:p>
        </p:txBody>
      </p:sp>
      <p:sp>
        <p:nvSpPr>
          <p:cNvPr id="14" name="Shape 11"/>
          <p:cNvSpPr/>
          <p:nvPr/>
        </p:nvSpPr>
        <p:spPr>
          <a:xfrm>
            <a:off x="4663440" y="1737360"/>
            <a:ext cx="4206240" cy="1783080"/>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663440" y="1737360"/>
            <a:ext cx="4206240" cy="347472"/>
          </a:xfrm>
          <a:prstGeom prst="rect">
            <a:avLst/>
          </a:prstGeom>
          <a:solidFill>
            <a:srgbClr val="1E1E1E"/>
          </a:solidFill>
          <a:ln/>
        </p:spPr>
      </p:sp>
      <p:sp>
        <p:nvSpPr>
          <p:cNvPr id="16" name="Text 13"/>
          <p:cNvSpPr/>
          <p:nvPr/>
        </p:nvSpPr>
        <p:spPr>
          <a:xfrm>
            <a:off x="475488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Penetration Testing (Pen Testing)</a:t>
            </a:r>
            <a:endParaRPr lang="en-US" sz="1100" dirty="0"/>
          </a:p>
        </p:txBody>
      </p:sp>
      <p:sp>
        <p:nvSpPr>
          <p:cNvPr id="17" name="Text 14"/>
          <p:cNvSpPr/>
          <p:nvPr/>
        </p:nvSpPr>
        <p:spPr>
          <a:xfrm>
            <a:off x="4773168" y="2139696"/>
            <a:ext cx="3986784" cy="1307592"/>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Ethical hackers attempt to actively exploit vulnerabilities</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Simulates a real-world attacker — goes beyond automated scanning</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Identifies complex, chained vulnerabilities that scanners miss</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Performed by certified ethical hackers (CEH, OSCP certifications)</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Example: Manually attempting to bypass authentication and access admin data</a:t>
            </a:r>
            <a:endParaRPr lang="en-US" sz="1000" dirty="0"/>
          </a:p>
        </p:txBody>
      </p:sp>
      <p:sp>
        <p:nvSpPr>
          <p:cNvPr id="18" name="Text 15"/>
          <p:cNvSpPr/>
          <p:nvPr/>
        </p:nvSpPr>
        <p:spPr>
          <a:xfrm>
            <a:off x="274320" y="3639312"/>
            <a:ext cx="8595360" cy="256032"/>
          </a:xfrm>
          <a:prstGeom prst="rect">
            <a:avLst/>
          </a:prstGeom>
          <a:noFill/>
          <a:ln/>
        </p:spPr>
        <p:txBody>
          <a:bodyPr wrap="square" rtlCol="0" anchor="ctr"/>
          <a:lstStyle/>
          <a:p>
            <a:pPr marL="0" indent="0">
              <a:buNone/>
            </a:pPr>
            <a:r>
              <a:rPr lang="en-US" sz="1000" b="1" kern="0" spc="150" dirty="0">
                <a:solidFill>
                  <a:srgbClr val="E8670D"/>
                </a:solidFill>
                <a:latin typeface="Calibri" pitchFamily="34" charset="0"/>
                <a:ea typeface="Calibri" pitchFamily="34" charset="-122"/>
                <a:cs typeface="Calibri" pitchFamily="34" charset="-120"/>
              </a:rPr>
              <a:t>OWASP TOP 10 — THE MOST CRITICAL SECURITY RISKS</a:t>
            </a:r>
            <a:endParaRPr lang="en-US" sz="1000" dirty="0"/>
          </a:p>
        </p:txBody>
      </p:sp>
      <p:sp>
        <p:nvSpPr>
          <p:cNvPr id="19" name="Shape 16"/>
          <p:cNvSpPr/>
          <p:nvPr/>
        </p:nvSpPr>
        <p:spPr>
          <a:xfrm>
            <a:off x="274320" y="3950208"/>
            <a:ext cx="1627632" cy="457200"/>
          </a:xfrm>
          <a:prstGeom prst="rect">
            <a:avLst/>
          </a:prstGeom>
          <a:solidFill>
            <a:srgbClr val="FFFFFF"/>
          </a:solidFill>
          <a:ln/>
          <a:effectLst>
            <a:outerShdw blurRad="101600" dist="38100" dir="8100000" algn="bl" rotWithShape="0">
              <a:srgbClr val="000000">
                <a:alpha val="18000"/>
              </a:srgbClr>
            </a:outerShdw>
          </a:effectLst>
        </p:spPr>
      </p:sp>
      <p:sp>
        <p:nvSpPr>
          <p:cNvPr id="20" name="Shape 17"/>
          <p:cNvSpPr/>
          <p:nvPr/>
        </p:nvSpPr>
        <p:spPr>
          <a:xfrm>
            <a:off x="274320" y="3950208"/>
            <a:ext cx="1627632" cy="64008"/>
          </a:xfrm>
          <a:prstGeom prst="rect">
            <a:avLst/>
          </a:prstGeom>
          <a:solidFill>
            <a:srgbClr val="E8670D"/>
          </a:solidFill>
          <a:ln/>
        </p:spPr>
      </p:sp>
      <p:sp>
        <p:nvSpPr>
          <p:cNvPr id="21" name="Text 18"/>
          <p:cNvSpPr/>
          <p:nvPr/>
        </p:nvSpPr>
        <p:spPr>
          <a:xfrm>
            <a:off x="347472" y="4041648"/>
            <a:ext cx="1508760" cy="310896"/>
          </a:xfrm>
          <a:prstGeom prst="rect">
            <a:avLst/>
          </a:prstGeom>
          <a:noFill/>
          <a:ln/>
        </p:spPr>
        <p:txBody>
          <a:bodyPr wrap="square" rtlCol="0" anchor="ctr"/>
          <a:lstStyle/>
          <a:p>
            <a:pPr marL="0" indent="0">
              <a:buNone/>
            </a:pPr>
            <a:r>
              <a:rPr lang="en-US" sz="850" dirty="0">
                <a:solidFill>
                  <a:srgbClr val="1E1E1E"/>
                </a:solidFill>
                <a:latin typeface="Calibri" pitchFamily="34" charset="0"/>
                <a:ea typeface="Calibri" pitchFamily="34" charset="-122"/>
                <a:cs typeface="Calibri" pitchFamily="34" charset="-120"/>
              </a:rPr>
              <a:t>1. Broken Access Control</a:t>
            </a:r>
            <a:endParaRPr lang="en-US" sz="850" dirty="0"/>
          </a:p>
        </p:txBody>
      </p:sp>
      <p:sp>
        <p:nvSpPr>
          <p:cNvPr id="22" name="Shape 19"/>
          <p:cNvSpPr/>
          <p:nvPr/>
        </p:nvSpPr>
        <p:spPr>
          <a:xfrm>
            <a:off x="2011680" y="3950208"/>
            <a:ext cx="1627632" cy="457200"/>
          </a:xfrm>
          <a:prstGeom prst="rect">
            <a:avLst/>
          </a:prstGeom>
          <a:solidFill>
            <a:srgbClr val="FFFFFF"/>
          </a:solidFill>
          <a:ln/>
          <a:effectLst>
            <a:outerShdw blurRad="101600" dist="38100" dir="8100000" algn="bl" rotWithShape="0">
              <a:srgbClr val="000000">
                <a:alpha val="18000"/>
              </a:srgbClr>
            </a:outerShdw>
          </a:effectLst>
        </p:spPr>
      </p:sp>
      <p:sp>
        <p:nvSpPr>
          <p:cNvPr id="23" name="Shape 20"/>
          <p:cNvSpPr/>
          <p:nvPr/>
        </p:nvSpPr>
        <p:spPr>
          <a:xfrm>
            <a:off x="2011680" y="3950208"/>
            <a:ext cx="1627632" cy="64008"/>
          </a:xfrm>
          <a:prstGeom prst="rect">
            <a:avLst/>
          </a:prstGeom>
          <a:solidFill>
            <a:srgbClr val="1E1E1E"/>
          </a:solidFill>
          <a:ln/>
        </p:spPr>
      </p:sp>
      <p:sp>
        <p:nvSpPr>
          <p:cNvPr id="24" name="Text 21"/>
          <p:cNvSpPr/>
          <p:nvPr/>
        </p:nvSpPr>
        <p:spPr>
          <a:xfrm>
            <a:off x="2084832" y="4041648"/>
            <a:ext cx="1508760" cy="310896"/>
          </a:xfrm>
          <a:prstGeom prst="rect">
            <a:avLst/>
          </a:prstGeom>
          <a:noFill/>
          <a:ln/>
        </p:spPr>
        <p:txBody>
          <a:bodyPr wrap="square" rtlCol="0" anchor="ctr"/>
          <a:lstStyle/>
          <a:p>
            <a:pPr marL="0" indent="0">
              <a:buNone/>
            </a:pPr>
            <a:r>
              <a:rPr lang="en-US" sz="850" dirty="0">
                <a:solidFill>
                  <a:srgbClr val="1E1E1E"/>
                </a:solidFill>
                <a:latin typeface="Calibri" pitchFamily="34" charset="0"/>
                <a:ea typeface="Calibri" pitchFamily="34" charset="-122"/>
                <a:cs typeface="Calibri" pitchFamily="34" charset="-120"/>
              </a:rPr>
              <a:t>2. Cryptographic Failures</a:t>
            </a:r>
            <a:endParaRPr lang="en-US" sz="850" dirty="0"/>
          </a:p>
        </p:txBody>
      </p:sp>
      <p:sp>
        <p:nvSpPr>
          <p:cNvPr id="25" name="Shape 22"/>
          <p:cNvSpPr/>
          <p:nvPr/>
        </p:nvSpPr>
        <p:spPr>
          <a:xfrm>
            <a:off x="3749040" y="3950208"/>
            <a:ext cx="1627632" cy="457200"/>
          </a:xfrm>
          <a:prstGeom prst="rect">
            <a:avLst/>
          </a:prstGeom>
          <a:solidFill>
            <a:srgbClr val="FFFFFF"/>
          </a:solidFill>
          <a:ln/>
          <a:effectLst>
            <a:outerShdw blurRad="101600" dist="38100" dir="8100000" algn="bl" rotWithShape="0">
              <a:srgbClr val="000000">
                <a:alpha val="18000"/>
              </a:srgbClr>
            </a:outerShdw>
          </a:effectLst>
        </p:spPr>
      </p:sp>
      <p:sp>
        <p:nvSpPr>
          <p:cNvPr id="26" name="Shape 23"/>
          <p:cNvSpPr/>
          <p:nvPr/>
        </p:nvSpPr>
        <p:spPr>
          <a:xfrm>
            <a:off x="3749040" y="3950208"/>
            <a:ext cx="1627632" cy="64008"/>
          </a:xfrm>
          <a:prstGeom prst="rect">
            <a:avLst/>
          </a:prstGeom>
          <a:solidFill>
            <a:srgbClr val="E8670D"/>
          </a:solidFill>
          <a:ln/>
        </p:spPr>
      </p:sp>
      <p:sp>
        <p:nvSpPr>
          <p:cNvPr id="27" name="Text 24"/>
          <p:cNvSpPr/>
          <p:nvPr/>
        </p:nvSpPr>
        <p:spPr>
          <a:xfrm>
            <a:off x="3822192" y="4041648"/>
            <a:ext cx="1508760" cy="310896"/>
          </a:xfrm>
          <a:prstGeom prst="rect">
            <a:avLst/>
          </a:prstGeom>
          <a:noFill/>
          <a:ln/>
        </p:spPr>
        <p:txBody>
          <a:bodyPr wrap="square" rtlCol="0" anchor="ctr"/>
          <a:lstStyle/>
          <a:p>
            <a:pPr marL="0" indent="0">
              <a:buNone/>
            </a:pPr>
            <a:r>
              <a:rPr lang="en-US" sz="850" dirty="0">
                <a:solidFill>
                  <a:srgbClr val="1E1E1E"/>
                </a:solidFill>
                <a:latin typeface="Calibri" pitchFamily="34" charset="0"/>
                <a:ea typeface="Calibri" pitchFamily="34" charset="-122"/>
                <a:cs typeface="Calibri" pitchFamily="34" charset="-120"/>
              </a:rPr>
              <a:t>3. Injection (SQL/Command/LDAP)</a:t>
            </a:r>
            <a:endParaRPr lang="en-US" sz="850" dirty="0"/>
          </a:p>
        </p:txBody>
      </p:sp>
      <p:sp>
        <p:nvSpPr>
          <p:cNvPr id="28" name="Shape 25"/>
          <p:cNvSpPr/>
          <p:nvPr/>
        </p:nvSpPr>
        <p:spPr>
          <a:xfrm>
            <a:off x="5486400" y="3950208"/>
            <a:ext cx="1627632" cy="457200"/>
          </a:xfrm>
          <a:prstGeom prst="rect">
            <a:avLst/>
          </a:prstGeom>
          <a:solidFill>
            <a:srgbClr val="FFFFFF"/>
          </a:solidFill>
          <a:ln/>
          <a:effectLst>
            <a:outerShdw blurRad="101600" dist="38100" dir="8100000" algn="bl" rotWithShape="0">
              <a:srgbClr val="000000">
                <a:alpha val="18000"/>
              </a:srgbClr>
            </a:outerShdw>
          </a:effectLst>
        </p:spPr>
      </p:sp>
      <p:sp>
        <p:nvSpPr>
          <p:cNvPr id="29" name="Shape 26"/>
          <p:cNvSpPr/>
          <p:nvPr/>
        </p:nvSpPr>
        <p:spPr>
          <a:xfrm>
            <a:off x="5486400" y="3950208"/>
            <a:ext cx="1627632" cy="64008"/>
          </a:xfrm>
          <a:prstGeom prst="rect">
            <a:avLst/>
          </a:prstGeom>
          <a:solidFill>
            <a:srgbClr val="1E1E1E"/>
          </a:solidFill>
          <a:ln/>
        </p:spPr>
      </p:sp>
      <p:sp>
        <p:nvSpPr>
          <p:cNvPr id="30" name="Text 27"/>
          <p:cNvSpPr/>
          <p:nvPr/>
        </p:nvSpPr>
        <p:spPr>
          <a:xfrm>
            <a:off x="5559552" y="4041648"/>
            <a:ext cx="1508760" cy="310896"/>
          </a:xfrm>
          <a:prstGeom prst="rect">
            <a:avLst/>
          </a:prstGeom>
          <a:noFill/>
          <a:ln/>
        </p:spPr>
        <p:txBody>
          <a:bodyPr wrap="square" rtlCol="0" anchor="ctr"/>
          <a:lstStyle/>
          <a:p>
            <a:pPr marL="0" indent="0">
              <a:buNone/>
            </a:pPr>
            <a:r>
              <a:rPr lang="en-US" sz="850" dirty="0">
                <a:solidFill>
                  <a:srgbClr val="1E1E1E"/>
                </a:solidFill>
                <a:latin typeface="Calibri" pitchFamily="34" charset="0"/>
                <a:ea typeface="Calibri" pitchFamily="34" charset="-122"/>
                <a:cs typeface="Calibri" pitchFamily="34" charset="-120"/>
              </a:rPr>
              <a:t>4. Insecure Design</a:t>
            </a:r>
            <a:endParaRPr lang="en-US" sz="850" dirty="0"/>
          </a:p>
        </p:txBody>
      </p:sp>
      <p:sp>
        <p:nvSpPr>
          <p:cNvPr id="31" name="Shape 28"/>
          <p:cNvSpPr/>
          <p:nvPr/>
        </p:nvSpPr>
        <p:spPr>
          <a:xfrm>
            <a:off x="7223760" y="3950208"/>
            <a:ext cx="1627632" cy="457200"/>
          </a:xfrm>
          <a:prstGeom prst="rect">
            <a:avLst/>
          </a:prstGeom>
          <a:solidFill>
            <a:srgbClr val="FFFFFF"/>
          </a:solidFill>
          <a:ln/>
          <a:effectLst>
            <a:outerShdw blurRad="101600" dist="38100" dir="8100000" algn="bl" rotWithShape="0">
              <a:srgbClr val="000000">
                <a:alpha val="18000"/>
              </a:srgbClr>
            </a:outerShdw>
          </a:effectLst>
        </p:spPr>
      </p:sp>
      <p:sp>
        <p:nvSpPr>
          <p:cNvPr id="32" name="Shape 29"/>
          <p:cNvSpPr/>
          <p:nvPr/>
        </p:nvSpPr>
        <p:spPr>
          <a:xfrm>
            <a:off x="7223760" y="3950208"/>
            <a:ext cx="1627632" cy="64008"/>
          </a:xfrm>
          <a:prstGeom prst="rect">
            <a:avLst/>
          </a:prstGeom>
          <a:solidFill>
            <a:srgbClr val="E8670D"/>
          </a:solidFill>
          <a:ln/>
        </p:spPr>
      </p:sp>
      <p:sp>
        <p:nvSpPr>
          <p:cNvPr id="33" name="Text 30"/>
          <p:cNvSpPr/>
          <p:nvPr/>
        </p:nvSpPr>
        <p:spPr>
          <a:xfrm>
            <a:off x="7296912" y="4041648"/>
            <a:ext cx="1508760" cy="310896"/>
          </a:xfrm>
          <a:prstGeom prst="rect">
            <a:avLst/>
          </a:prstGeom>
          <a:noFill/>
          <a:ln/>
        </p:spPr>
        <p:txBody>
          <a:bodyPr wrap="square" rtlCol="0" anchor="ctr"/>
          <a:lstStyle/>
          <a:p>
            <a:pPr marL="0" indent="0">
              <a:buNone/>
            </a:pPr>
            <a:r>
              <a:rPr lang="en-US" sz="850" dirty="0">
                <a:solidFill>
                  <a:srgbClr val="1E1E1E"/>
                </a:solidFill>
                <a:latin typeface="Calibri" pitchFamily="34" charset="0"/>
                <a:ea typeface="Calibri" pitchFamily="34" charset="-122"/>
                <a:cs typeface="Calibri" pitchFamily="34" charset="-120"/>
              </a:rPr>
              <a:t>5. Security Misconfiguration</a:t>
            </a:r>
            <a:endParaRPr lang="en-US" sz="850" dirty="0"/>
          </a:p>
        </p:txBody>
      </p:sp>
      <p:sp>
        <p:nvSpPr>
          <p:cNvPr id="34" name="Shape 31"/>
          <p:cNvSpPr/>
          <p:nvPr/>
        </p:nvSpPr>
        <p:spPr>
          <a:xfrm>
            <a:off x="274320" y="4480560"/>
            <a:ext cx="1627632" cy="457200"/>
          </a:xfrm>
          <a:prstGeom prst="rect">
            <a:avLst/>
          </a:prstGeom>
          <a:solidFill>
            <a:srgbClr val="FFFFFF"/>
          </a:solidFill>
          <a:ln/>
          <a:effectLst>
            <a:outerShdw blurRad="101600" dist="38100" dir="8100000" algn="bl" rotWithShape="0">
              <a:srgbClr val="000000">
                <a:alpha val="18000"/>
              </a:srgbClr>
            </a:outerShdw>
          </a:effectLst>
        </p:spPr>
      </p:sp>
      <p:sp>
        <p:nvSpPr>
          <p:cNvPr id="35" name="Shape 32"/>
          <p:cNvSpPr/>
          <p:nvPr/>
        </p:nvSpPr>
        <p:spPr>
          <a:xfrm>
            <a:off x="274320" y="4480560"/>
            <a:ext cx="1627632" cy="64008"/>
          </a:xfrm>
          <a:prstGeom prst="rect">
            <a:avLst/>
          </a:prstGeom>
          <a:solidFill>
            <a:srgbClr val="1E1E1E"/>
          </a:solidFill>
          <a:ln/>
        </p:spPr>
      </p:sp>
      <p:sp>
        <p:nvSpPr>
          <p:cNvPr id="36" name="Text 33"/>
          <p:cNvSpPr/>
          <p:nvPr/>
        </p:nvSpPr>
        <p:spPr>
          <a:xfrm>
            <a:off x="347472" y="4572000"/>
            <a:ext cx="1508760" cy="310896"/>
          </a:xfrm>
          <a:prstGeom prst="rect">
            <a:avLst/>
          </a:prstGeom>
          <a:noFill/>
          <a:ln/>
        </p:spPr>
        <p:txBody>
          <a:bodyPr wrap="square" rtlCol="0" anchor="ctr"/>
          <a:lstStyle/>
          <a:p>
            <a:pPr marL="0" indent="0">
              <a:buNone/>
            </a:pPr>
            <a:r>
              <a:rPr lang="en-US" sz="850" dirty="0">
                <a:solidFill>
                  <a:srgbClr val="1E1E1E"/>
                </a:solidFill>
                <a:latin typeface="Calibri" pitchFamily="34" charset="0"/>
                <a:ea typeface="Calibri" pitchFamily="34" charset="-122"/>
                <a:cs typeface="Calibri" pitchFamily="34" charset="-120"/>
              </a:rPr>
              <a:t>6. Vulnerable Components</a:t>
            </a:r>
            <a:endParaRPr lang="en-US" sz="850" dirty="0"/>
          </a:p>
        </p:txBody>
      </p:sp>
      <p:sp>
        <p:nvSpPr>
          <p:cNvPr id="37" name="Shape 34"/>
          <p:cNvSpPr/>
          <p:nvPr/>
        </p:nvSpPr>
        <p:spPr>
          <a:xfrm>
            <a:off x="2011680" y="4480560"/>
            <a:ext cx="1627632" cy="457200"/>
          </a:xfrm>
          <a:prstGeom prst="rect">
            <a:avLst/>
          </a:prstGeom>
          <a:solidFill>
            <a:srgbClr val="FFFFFF"/>
          </a:solidFill>
          <a:ln/>
          <a:effectLst>
            <a:outerShdw blurRad="101600" dist="38100" dir="8100000" algn="bl" rotWithShape="0">
              <a:srgbClr val="000000">
                <a:alpha val="18000"/>
              </a:srgbClr>
            </a:outerShdw>
          </a:effectLst>
        </p:spPr>
      </p:sp>
      <p:sp>
        <p:nvSpPr>
          <p:cNvPr id="38" name="Shape 35"/>
          <p:cNvSpPr/>
          <p:nvPr/>
        </p:nvSpPr>
        <p:spPr>
          <a:xfrm>
            <a:off x="2011680" y="4480560"/>
            <a:ext cx="1627632" cy="64008"/>
          </a:xfrm>
          <a:prstGeom prst="rect">
            <a:avLst/>
          </a:prstGeom>
          <a:solidFill>
            <a:srgbClr val="E8670D"/>
          </a:solidFill>
          <a:ln/>
        </p:spPr>
      </p:sp>
      <p:sp>
        <p:nvSpPr>
          <p:cNvPr id="39" name="Text 36"/>
          <p:cNvSpPr/>
          <p:nvPr/>
        </p:nvSpPr>
        <p:spPr>
          <a:xfrm>
            <a:off x="2084832" y="4572000"/>
            <a:ext cx="1508760" cy="310896"/>
          </a:xfrm>
          <a:prstGeom prst="rect">
            <a:avLst/>
          </a:prstGeom>
          <a:noFill/>
          <a:ln/>
        </p:spPr>
        <p:txBody>
          <a:bodyPr wrap="square" rtlCol="0" anchor="ctr"/>
          <a:lstStyle/>
          <a:p>
            <a:pPr marL="0" indent="0">
              <a:buNone/>
            </a:pPr>
            <a:r>
              <a:rPr lang="en-US" sz="850" dirty="0">
                <a:solidFill>
                  <a:srgbClr val="1E1E1E"/>
                </a:solidFill>
                <a:latin typeface="Calibri" pitchFamily="34" charset="0"/>
                <a:ea typeface="Calibri" pitchFamily="34" charset="-122"/>
                <a:cs typeface="Calibri" pitchFamily="34" charset="-120"/>
              </a:rPr>
              <a:t>7. Auth &amp; Identity Failures</a:t>
            </a:r>
            <a:endParaRPr lang="en-US" sz="850" dirty="0"/>
          </a:p>
        </p:txBody>
      </p:sp>
      <p:sp>
        <p:nvSpPr>
          <p:cNvPr id="40" name="Shape 37"/>
          <p:cNvSpPr/>
          <p:nvPr/>
        </p:nvSpPr>
        <p:spPr>
          <a:xfrm>
            <a:off x="3749040" y="4480560"/>
            <a:ext cx="1627632" cy="457200"/>
          </a:xfrm>
          <a:prstGeom prst="rect">
            <a:avLst/>
          </a:prstGeom>
          <a:solidFill>
            <a:srgbClr val="FFFFFF"/>
          </a:solidFill>
          <a:ln/>
          <a:effectLst>
            <a:outerShdw blurRad="101600" dist="38100" dir="8100000" algn="bl" rotWithShape="0">
              <a:srgbClr val="000000">
                <a:alpha val="18000"/>
              </a:srgbClr>
            </a:outerShdw>
          </a:effectLst>
        </p:spPr>
      </p:sp>
      <p:sp>
        <p:nvSpPr>
          <p:cNvPr id="41" name="Shape 38"/>
          <p:cNvSpPr/>
          <p:nvPr/>
        </p:nvSpPr>
        <p:spPr>
          <a:xfrm>
            <a:off x="3749040" y="4480560"/>
            <a:ext cx="1627632" cy="64008"/>
          </a:xfrm>
          <a:prstGeom prst="rect">
            <a:avLst/>
          </a:prstGeom>
          <a:solidFill>
            <a:srgbClr val="1E1E1E"/>
          </a:solidFill>
          <a:ln/>
        </p:spPr>
      </p:sp>
      <p:sp>
        <p:nvSpPr>
          <p:cNvPr id="42" name="Text 39"/>
          <p:cNvSpPr/>
          <p:nvPr/>
        </p:nvSpPr>
        <p:spPr>
          <a:xfrm>
            <a:off x="3822192" y="4572000"/>
            <a:ext cx="1508760" cy="310896"/>
          </a:xfrm>
          <a:prstGeom prst="rect">
            <a:avLst/>
          </a:prstGeom>
          <a:noFill/>
          <a:ln/>
        </p:spPr>
        <p:txBody>
          <a:bodyPr wrap="square" rtlCol="0" anchor="ctr"/>
          <a:lstStyle/>
          <a:p>
            <a:pPr marL="0" indent="0">
              <a:buNone/>
            </a:pPr>
            <a:r>
              <a:rPr lang="en-US" sz="850" dirty="0">
                <a:solidFill>
                  <a:srgbClr val="1E1E1E"/>
                </a:solidFill>
                <a:latin typeface="Calibri" pitchFamily="34" charset="0"/>
                <a:ea typeface="Calibri" pitchFamily="34" charset="-122"/>
                <a:cs typeface="Calibri" pitchFamily="34" charset="-120"/>
              </a:rPr>
              <a:t>8. Software Integrity Failures</a:t>
            </a:r>
            <a:endParaRPr lang="en-US" sz="850" dirty="0"/>
          </a:p>
        </p:txBody>
      </p:sp>
      <p:sp>
        <p:nvSpPr>
          <p:cNvPr id="43" name="Shape 40"/>
          <p:cNvSpPr/>
          <p:nvPr/>
        </p:nvSpPr>
        <p:spPr>
          <a:xfrm>
            <a:off x="5486400" y="4480560"/>
            <a:ext cx="1627632" cy="457200"/>
          </a:xfrm>
          <a:prstGeom prst="rect">
            <a:avLst/>
          </a:prstGeom>
          <a:solidFill>
            <a:srgbClr val="FFFFFF"/>
          </a:solidFill>
          <a:ln/>
          <a:effectLst>
            <a:outerShdw blurRad="101600" dist="38100" dir="8100000" algn="bl" rotWithShape="0">
              <a:srgbClr val="000000">
                <a:alpha val="18000"/>
              </a:srgbClr>
            </a:outerShdw>
          </a:effectLst>
        </p:spPr>
      </p:sp>
      <p:sp>
        <p:nvSpPr>
          <p:cNvPr id="44" name="Shape 41"/>
          <p:cNvSpPr/>
          <p:nvPr/>
        </p:nvSpPr>
        <p:spPr>
          <a:xfrm>
            <a:off x="5486400" y="4480560"/>
            <a:ext cx="1627632" cy="64008"/>
          </a:xfrm>
          <a:prstGeom prst="rect">
            <a:avLst/>
          </a:prstGeom>
          <a:solidFill>
            <a:srgbClr val="E8670D"/>
          </a:solidFill>
          <a:ln/>
        </p:spPr>
      </p:sp>
      <p:sp>
        <p:nvSpPr>
          <p:cNvPr id="45" name="Text 42"/>
          <p:cNvSpPr/>
          <p:nvPr/>
        </p:nvSpPr>
        <p:spPr>
          <a:xfrm>
            <a:off x="5559552" y="4572000"/>
            <a:ext cx="1508760" cy="310896"/>
          </a:xfrm>
          <a:prstGeom prst="rect">
            <a:avLst/>
          </a:prstGeom>
          <a:noFill/>
          <a:ln/>
        </p:spPr>
        <p:txBody>
          <a:bodyPr wrap="square" rtlCol="0" anchor="ctr"/>
          <a:lstStyle/>
          <a:p>
            <a:pPr marL="0" indent="0">
              <a:buNone/>
            </a:pPr>
            <a:r>
              <a:rPr lang="en-US" sz="850" dirty="0">
                <a:solidFill>
                  <a:srgbClr val="1E1E1E"/>
                </a:solidFill>
                <a:latin typeface="Calibri" pitchFamily="34" charset="0"/>
                <a:ea typeface="Calibri" pitchFamily="34" charset="-122"/>
                <a:cs typeface="Calibri" pitchFamily="34" charset="-120"/>
              </a:rPr>
              <a:t>9. Logging Failures</a:t>
            </a:r>
            <a:endParaRPr lang="en-US" sz="850" dirty="0"/>
          </a:p>
        </p:txBody>
      </p:sp>
      <p:sp>
        <p:nvSpPr>
          <p:cNvPr id="46" name="Shape 43"/>
          <p:cNvSpPr/>
          <p:nvPr/>
        </p:nvSpPr>
        <p:spPr>
          <a:xfrm>
            <a:off x="7223760" y="4480560"/>
            <a:ext cx="1627632" cy="457200"/>
          </a:xfrm>
          <a:prstGeom prst="rect">
            <a:avLst/>
          </a:prstGeom>
          <a:solidFill>
            <a:srgbClr val="FFFFFF"/>
          </a:solidFill>
          <a:ln/>
          <a:effectLst>
            <a:outerShdw blurRad="101600" dist="38100" dir="8100000" algn="bl" rotWithShape="0">
              <a:srgbClr val="000000">
                <a:alpha val="18000"/>
              </a:srgbClr>
            </a:outerShdw>
          </a:effectLst>
        </p:spPr>
      </p:sp>
      <p:sp>
        <p:nvSpPr>
          <p:cNvPr id="47" name="Shape 44"/>
          <p:cNvSpPr/>
          <p:nvPr/>
        </p:nvSpPr>
        <p:spPr>
          <a:xfrm>
            <a:off x="7223760" y="4480560"/>
            <a:ext cx="1627632" cy="64008"/>
          </a:xfrm>
          <a:prstGeom prst="rect">
            <a:avLst/>
          </a:prstGeom>
          <a:solidFill>
            <a:srgbClr val="1E1E1E"/>
          </a:solidFill>
          <a:ln/>
        </p:spPr>
      </p:sp>
      <p:sp>
        <p:nvSpPr>
          <p:cNvPr id="48" name="Text 45"/>
          <p:cNvSpPr/>
          <p:nvPr/>
        </p:nvSpPr>
        <p:spPr>
          <a:xfrm>
            <a:off x="7296912" y="4572000"/>
            <a:ext cx="1508760" cy="310896"/>
          </a:xfrm>
          <a:prstGeom prst="rect">
            <a:avLst/>
          </a:prstGeom>
          <a:noFill/>
          <a:ln/>
        </p:spPr>
        <p:txBody>
          <a:bodyPr wrap="square" rtlCol="0" anchor="ctr"/>
          <a:lstStyle/>
          <a:p>
            <a:pPr marL="0" indent="0">
              <a:buNone/>
            </a:pPr>
            <a:r>
              <a:rPr lang="en-US" sz="850" dirty="0">
                <a:solidFill>
                  <a:srgbClr val="1E1E1E"/>
                </a:solidFill>
                <a:latin typeface="Calibri" pitchFamily="34" charset="0"/>
                <a:ea typeface="Calibri" pitchFamily="34" charset="-122"/>
                <a:cs typeface="Calibri" pitchFamily="34" charset="-120"/>
              </a:rPr>
              <a:t>10. Server-Side Request Forgery</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Usability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Evaluating how easy and intuitive the software is to use</a:t>
            </a:r>
            <a:endParaRPr lang="en-US" sz="1100" dirty="0"/>
          </a:p>
        </p:txBody>
      </p:sp>
      <p:sp>
        <p:nvSpPr>
          <p:cNvPr id="6" name="Shape 3"/>
          <p:cNvSpPr/>
          <p:nvPr/>
        </p:nvSpPr>
        <p:spPr>
          <a:xfrm>
            <a:off x="7790688" y="658368"/>
            <a:ext cx="1298448" cy="347472"/>
          </a:xfrm>
          <a:prstGeom prst="rect">
            <a:avLst/>
          </a:prstGeom>
          <a:solidFill>
            <a:srgbClr val="1E1E1E"/>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Non-Functional</a:t>
            </a:r>
            <a:endParaRPr lang="en-US" sz="800" dirty="0"/>
          </a:p>
        </p:txBody>
      </p:sp>
      <p:sp>
        <p:nvSpPr>
          <p:cNvPr id="8" name="Shape 5"/>
          <p:cNvSpPr/>
          <p:nvPr/>
        </p:nvSpPr>
        <p:spPr>
          <a:xfrm>
            <a:off x="274320" y="960120"/>
            <a:ext cx="8595360" cy="621792"/>
          </a:xfrm>
          <a:prstGeom prst="rect">
            <a:avLst/>
          </a:prstGeom>
          <a:solidFill>
            <a:srgbClr val="1E1E1E"/>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Usability Testing evaluates the software from the USER'S PERSPECTIVE — assessing ease of use, intuitiveness, accessibility, and user satisfaction. The focus is on the human experience rather than technical correctness. Software can be functionally correct but still be unusable.</a:t>
            </a:r>
            <a:endParaRPr lang="en-US" sz="1200" dirty="0"/>
          </a:p>
        </p:txBody>
      </p:sp>
      <p:sp>
        <p:nvSpPr>
          <p:cNvPr id="10" name="Shape 7"/>
          <p:cNvSpPr/>
          <p:nvPr/>
        </p:nvSpPr>
        <p:spPr>
          <a:xfrm>
            <a:off x="274320" y="1737360"/>
            <a:ext cx="4206240" cy="324612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37360"/>
            <a:ext cx="4206240" cy="347472"/>
          </a:xfrm>
          <a:prstGeom prst="rect">
            <a:avLst/>
          </a:prstGeom>
          <a:solidFill>
            <a:srgbClr val="E8670D"/>
          </a:solidFill>
          <a:ln/>
        </p:spPr>
      </p:sp>
      <p:sp>
        <p:nvSpPr>
          <p:cNvPr id="12" name="Text 9"/>
          <p:cNvSpPr/>
          <p:nvPr/>
        </p:nvSpPr>
        <p:spPr>
          <a:xfrm>
            <a:off x="36576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What Usability Testing Measures</a:t>
            </a:r>
            <a:endParaRPr lang="en-US" sz="1100" dirty="0"/>
          </a:p>
        </p:txBody>
      </p:sp>
      <p:sp>
        <p:nvSpPr>
          <p:cNvPr id="13" name="Text 10"/>
          <p:cNvSpPr/>
          <p:nvPr/>
        </p:nvSpPr>
        <p:spPr>
          <a:xfrm>
            <a:off x="384048" y="2139696"/>
            <a:ext cx="3986784" cy="277063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Effectiveness — can users complete tasks successfully?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Efficiency — how long does it take to complete tasks?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Learnability — how quickly can new users learn the system?</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Memorability — how easily can users remember how to use it?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Error rate — how often do users make mistakes?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Satisfaction — how pleasant is the overall experience?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Accessibility — can users with disabilities use the system?</a:t>
            </a:r>
            <a:endParaRPr lang="en-US" sz="1050" dirty="0"/>
          </a:p>
        </p:txBody>
      </p:sp>
      <p:sp>
        <p:nvSpPr>
          <p:cNvPr id="14" name="Shape 11"/>
          <p:cNvSpPr/>
          <p:nvPr/>
        </p:nvSpPr>
        <p:spPr>
          <a:xfrm>
            <a:off x="4663440" y="1737360"/>
            <a:ext cx="4206240" cy="3246120"/>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663440" y="1737360"/>
            <a:ext cx="4206240" cy="347472"/>
          </a:xfrm>
          <a:prstGeom prst="rect">
            <a:avLst/>
          </a:prstGeom>
          <a:solidFill>
            <a:srgbClr val="1E1E1E"/>
          </a:solidFill>
          <a:ln/>
        </p:spPr>
      </p:sp>
      <p:sp>
        <p:nvSpPr>
          <p:cNvPr id="16" name="Text 13"/>
          <p:cNvSpPr/>
          <p:nvPr/>
        </p:nvSpPr>
        <p:spPr>
          <a:xfrm>
            <a:off x="475488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How Usability Testing Is Done</a:t>
            </a:r>
            <a:endParaRPr lang="en-US" sz="1100" dirty="0"/>
          </a:p>
        </p:txBody>
      </p:sp>
      <p:sp>
        <p:nvSpPr>
          <p:cNvPr id="17" name="Text 14"/>
          <p:cNvSpPr/>
          <p:nvPr/>
        </p:nvSpPr>
        <p:spPr>
          <a:xfrm>
            <a:off x="4773168" y="2139696"/>
            <a:ext cx="3986784" cy="277063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Recruit representative real users (5–8 participants per round)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Give users tasks to complete WITHOUT assistance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Observe and record: where they hesitate, click wrong, or struggle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Think-aloud protocol: users verbalise their thoughts as they navigate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Record sessions using tools: Hotjar, Lookback, UserTesting.com</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Analyse heatmaps, click maps, and session recordings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Iterate design based on findings — test again after changes</a:t>
            </a:r>
            <a:endParaRPr lang="en-US" sz="1050" dirty="0"/>
          </a:p>
        </p:txBody>
      </p:sp>
      <p:sp>
        <p:nvSpPr>
          <p:cNvPr id="18" name="Shape 15"/>
          <p:cNvSpPr/>
          <p:nvPr/>
        </p:nvSpPr>
        <p:spPr>
          <a:xfrm>
            <a:off x="274320" y="5102352"/>
            <a:ext cx="8595360" cy="201168"/>
          </a:xfrm>
          <a:prstGeom prst="rect">
            <a:avLst/>
          </a:prstGeom>
          <a:solidFill>
            <a:srgbClr val="111111"/>
          </a:solidFill>
          <a:ln/>
          <a:effectLst>
            <a:outerShdw blurRad="101600" dist="38100" dir="8100000" algn="bl" rotWithShape="0">
              <a:srgbClr val="000000">
                <a:alpha val="18000"/>
              </a:srgbClr>
            </a:outerShdw>
          </a:effectLst>
        </p:spPr>
      </p:sp>
      <p:sp>
        <p:nvSpPr>
          <p:cNvPr id="19" name="Text 16"/>
          <p:cNvSpPr/>
          <p:nvPr/>
        </p:nvSpPr>
        <p:spPr>
          <a:xfrm>
            <a:off x="384048" y="5157216"/>
            <a:ext cx="8375904" cy="91440"/>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  Real Example: Amazon simplified its checkout to 'One-Click Ordering' after usability testing revealed that multi-step checkout caused 70% cart abandonment. One UX fix = millions in recovered revenue.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Compatibility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Ensuring the software works across all target browsers, devices, and platforms</a:t>
            </a:r>
            <a:endParaRPr lang="en-US" sz="1100" dirty="0"/>
          </a:p>
        </p:txBody>
      </p:sp>
      <p:sp>
        <p:nvSpPr>
          <p:cNvPr id="6" name="Shape 3"/>
          <p:cNvSpPr/>
          <p:nvPr/>
        </p:nvSpPr>
        <p:spPr>
          <a:xfrm>
            <a:off x="7790688" y="658368"/>
            <a:ext cx="1298448" cy="347472"/>
          </a:xfrm>
          <a:prstGeom prst="rect">
            <a:avLst/>
          </a:prstGeom>
          <a:solidFill>
            <a:srgbClr val="1E1E1E"/>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Non-Functional</a:t>
            </a:r>
            <a:endParaRPr lang="en-US" sz="800" dirty="0"/>
          </a:p>
        </p:txBody>
      </p:sp>
      <p:sp>
        <p:nvSpPr>
          <p:cNvPr id="8" name="Shape 5"/>
          <p:cNvSpPr/>
          <p:nvPr/>
        </p:nvSpPr>
        <p:spPr>
          <a:xfrm>
            <a:off x="274320" y="960120"/>
            <a:ext cx="8595360" cy="621792"/>
          </a:xfrm>
          <a:prstGeom prst="rect">
            <a:avLst/>
          </a:prstGeom>
          <a:solidFill>
            <a:srgbClr val="E8670D"/>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Compatibility Testing verifies that the software works correctly across DIFFERENT browsers, operating systems, devices, screen resolutions, and network conditions. With users accessing software on thousands of device and browser combinations, compatibility is critical to reach all intended users.</a:t>
            </a:r>
            <a:endParaRPr lang="en-US" sz="1200" dirty="0"/>
          </a:p>
        </p:txBody>
      </p:sp>
      <p:sp>
        <p:nvSpPr>
          <p:cNvPr id="10" name="Shape 7"/>
          <p:cNvSpPr/>
          <p:nvPr/>
        </p:nvSpPr>
        <p:spPr>
          <a:xfrm>
            <a:off x="274320" y="1737360"/>
            <a:ext cx="4206240" cy="384048"/>
          </a:xfrm>
          <a:prstGeom prst="rect">
            <a:avLst/>
          </a:prstGeom>
          <a:solidFill>
            <a:srgbClr val="E8670D"/>
          </a:solidFill>
          <a:ln/>
        </p:spPr>
      </p:sp>
      <p:sp>
        <p:nvSpPr>
          <p:cNvPr id="11" name="Text 8"/>
          <p:cNvSpPr/>
          <p:nvPr/>
        </p:nvSpPr>
        <p:spPr>
          <a:xfrm>
            <a:off x="274320" y="173736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Cross-Browser Testing</a:t>
            </a:r>
            <a:endParaRPr lang="en-US" sz="1200" dirty="0"/>
          </a:p>
        </p:txBody>
      </p:sp>
      <p:sp>
        <p:nvSpPr>
          <p:cNvPr id="12" name="Shape 9"/>
          <p:cNvSpPr/>
          <p:nvPr/>
        </p:nvSpPr>
        <p:spPr>
          <a:xfrm>
            <a:off x="274320" y="2139696"/>
            <a:ext cx="4206240" cy="2816352"/>
          </a:xfrm>
          <a:prstGeom prst="rect">
            <a:avLst/>
          </a:prstGeom>
          <a:solidFill>
            <a:srgbClr val="FFFFFF"/>
          </a:solidFill>
          <a:ln/>
          <a:effectLst>
            <a:outerShdw blurRad="101600" dist="38100" dir="8100000" algn="bl" rotWithShape="0">
              <a:srgbClr val="000000">
                <a:alpha val="18000"/>
              </a:srgbClr>
            </a:outerShdw>
          </a:effectLst>
        </p:spPr>
      </p:sp>
      <p:sp>
        <p:nvSpPr>
          <p:cNvPr id="13" name="Text 10"/>
          <p:cNvSpPr/>
          <p:nvPr/>
        </p:nvSpPr>
        <p:spPr>
          <a:xfrm>
            <a:off x="384048" y="2212848"/>
            <a:ext cx="4005072" cy="26700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Verify identical behaviour across all target web browsers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Chrome, Firefox, Safari, Edge, Opera — all have different rendering engines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Same HTML/CSS/JavaScript behaves differently per browser</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Test all browser versions specified in browser matrix</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Playwright: natively runs Chromium, Firefox, WebKit (Safari) in ONE test</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Selenium Grid: run tests in parallel across multiple browsers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BrowserStack / Sauce Labs: cloud-based real browser testing at scale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Example: CSS grid layouts that render correctly in Chrome but break in Safari</a:t>
            </a:r>
            <a:endParaRPr lang="en-US" sz="1050" dirty="0"/>
          </a:p>
        </p:txBody>
      </p:sp>
      <p:sp>
        <p:nvSpPr>
          <p:cNvPr id="14" name="Shape 11"/>
          <p:cNvSpPr/>
          <p:nvPr/>
        </p:nvSpPr>
        <p:spPr>
          <a:xfrm>
            <a:off x="4663440" y="1737360"/>
            <a:ext cx="4206240" cy="384048"/>
          </a:xfrm>
          <a:prstGeom prst="rect">
            <a:avLst/>
          </a:prstGeom>
          <a:solidFill>
            <a:srgbClr val="1E1E1E"/>
          </a:solidFill>
          <a:ln/>
        </p:spPr>
      </p:sp>
      <p:sp>
        <p:nvSpPr>
          <p:cNvPr id="15" name="Text 12"/>
          <p:cNvSpPr/>
          <p:nvPr/>
        </p:nvSpPr>
        <p:spPr>
          <a:xfrm>
            <a:off x="4663440" y="173736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Cross-Device Testing</a:t>
            </a:r>
            <a:endParaRPr lang="en-US" sz="1200" dirty="0"/>
          </a:p>
        </p:txBody>
      </p:sp>
      <p:sp>
        <p:nvSpPr>
          <p:cNvPr id="16" name="Shape 13"/>
          <p:cNvSpPr/>
          <p:nvPr/>
        </p:nvSpPr>
        <p:spPr>
          <a:xfrm>
            <a:off x="4663440" y="2139696"/>
            <a:ext cx="4206240" cy="2816352"/>
          </a:xfrm>
          <a:prstGeom prst="rect">
            <a:avLst/>
          </a:prstGeom>
          <a:solidFill>
            <a:srgbClr val="FFFFFF"/>
          </a:solidFill>
          <a:ln/>
          <a:effectLst>
            <a:outerShdw blurRad="101600" dist="38100" dir="8100000" algn="bl" rotWithShape="0">
              <a:srgbClr val="000000">
                <a:alpha val="18000"/>
              </a:srgbClr>
            </a:outerShdw>
          </a:effectLst>
        </p:spPr>
      </p:sp>
      <p:sp>
        <p:nvSpPr>
          <p:cNvPr id="17" name="Text 14"/>
          <p:cNvSpPr/>
          <p:nvPr/>
        </p:nvSpPr>
        <p:spPr>
          <a:xfrm>
            <a:off x="4773168" y="2212848"/>
            <a:ext cx="4005072" cy="26700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Verify behaviour on desktop, tablet, and mobile devices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Different screen sizes, resolutions, and pixel densities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Touch vs mouse input — different interaction patterns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Mobile operating systems: iOS (Safari) and Android (Chrome)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Responsive design breakpoints must be tested at each screen size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Device emulation in Chrome DevTools for development testing</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Real device testing required for final validation (not just emulators)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Example: Navigation menu collapses correctly on 375px mobile viewport</a:t>
            </a:r>
            <a:endParaRPr lang="en-US" sz="1050" dirty="0"/>
          </a:p>
        </p:txBody>
      </p:sp>
      <p:sp>
        <p:nvSpPr>
          <p:cNvPr id="18" name="Shape 15"/>
          <p:cNvSpPr/>
          <p:nvPr/>
        </p:nvSpPr>
        <p:spPr>
          <a:xfrm>
            <a:off x="274320" y="5074920"/>
            <a:ext cx="8595360" cy="219456"/>
          </a:xfrm>
          <a:prstGeom prst="rect">
            <a:avLst/>
          </a:prstGeom>
          <a:solidFill>
            <a:srgbClr val="111111"/>
          </a:solidFill>
          <a:ln/>
          <a:effectLst>
            <a:outerShdw blurRad="101600" dist="38100" dir="8100000" algn="bl" rotWithShape="0">
              <a:srgbClr val="000000">
                <a:alpha val="18000"/>
              </a:srgbClr>
            </a:outerShdw>
          </a:effectLst>
        </p:spPr>
      </p:sp>
      <p:sp>
        <p:nvSpPr>
          <p:cNvPr id="19" name="Text 16"/>
          <p:cNvSpPr/>
          <p:nvPr/>
        </p:nvSpPr>
        <p:spPr>
          <a:xfrm>
            <a:off x="384048" y="5129784"/>
            <a:ext cx="8375904" cy="10972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  Key Tools: Playwright (built-in cross-browser) • Selenium Grid (parallel browsers) • BrowserStack (real devices) • Sauce Labs (cloud) • LambdaTest (browser cloud) • Chrome DevTools (responsive emulation)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Reliability &amp; Scalability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Stability over time and the ability to grow with demand</a:t>
            </a:r>
            <a:endParaRPr lang="en-US" sz="1100" dirty="0"/>
          </a:p>
        </p:txBody>
      </p:sp>
      <p:sp>
        <p:nvSpPr>
          <p:cNvPr id="6" name="Shape 3"/>
          <p:cNvSpPr/>
          <p:nvPr/>
        </p:nvSpPr>
        <p:spPr>
          <a:xfrm>
            <a:off x="7790688" y="658368"/>
            <a:ext cx="1298448" cy="347472"/>
          </a:xfrm>
          <a:prstGeom prst="rect">
            <a:avLst/>
          </a:prstGeom>
          <a:solidFill>
            <a:srgbClr val="1E1E1E"/>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Non-Functional</a:t>
            </a:r>
            <a:endParaRPr lang="en-US" sz="800" dirty="0"/>
          </a:p>
        </p:txBody>
      </p:sp>
      <p:sp>
        <p:nvSpPr>
          <p:cNvPr id="8" name="Shape 5"/>
          <p:cNvSpPr/>
          <p:nvPr/>
        </p:nvSpPr>
        <p:spPr>
          <a:xfrm>
            <a:off x="274320" y="960120"/>
            <a:ext cx="8595360" cy="329184"/>
          </a:xfrm>
          <a:prstGeom prst="rect">
            <a:avLst/>
          </a:prstGeom>
          <a:solidFill>
            <a:srgbClr val="E8670D"/>
          </a:solidFill>
          <a:ln/>
        </p:spPr>
      </p:sp>
      <p:sp>
        <p:nvSpPr>
          <p:cNvPr id="9" name="Text 6"/>
          <p:cNvSpPr/>
          <p:nvPr/>
        </p:nvSpPr>
        <p:spPr>
          <a:xfrm>
            <a:off x="274320" y="960120"/>
            <a:ext cx="8595360" cy="32918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RELIABILITY TESTING</a:t>
            </a:r>
            <a:endParaRPr lang="en-US" sz="1200" dirty="0"/>
          </a:p>
        </p:txBody>
      </p:sp>
      <p:sp>
        <p:nvSpPr>
          <p:cNvPr id="10" name="Shape 7"/>
          <p:cNvSpPr/>
          <p:nvPr/>
        </p:nvSpPr>
        <p:spPr>
          <a:xfrm>
            <a:off x="274320" y="1307592"/>
            <a:ext cx="8595360" cy="1874520"/>
          </a:xfrm>
          <a:prstGeom prst="rect">
            <a:avLst/>
          </a:prstGeom>
          <a:solidFill>
            <a:srgbClr val="FFFFFF"/>
          </a:solidFill>
          <a:ln/>
          <a:effectLst>
            <a:outerShdw blurRad="101600" dist="38100" dir="8100000" algn="bl" rotWithShape="0">
              <a:srgbClr val="000000">
                <a:alpha val="18000"/>
              </a:srgbClr>
            </a:outerShdw>
          </a:effectLst>
        </p:spPr>
      </p:sp>
      <p:sp>
        <p:nvSpPr>
          <p:cNvPr id="11" name="Text 8"/>
          <p:cNvSpPr/>
          <p:nvPr/>
        </p:nvSpPr>
        <p:spPr>
          <a:xfrm>
            <a:off x="384048" y="1371600"/>
            <a:ext cx="8321040" cy="411480"/>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Definition: Reliability Testing assesses the system's ability to PERFORM CONSISTENTLY and WITHOUT FAILURE over a specified period and under defined conditions. It measures the probability that the system will work without errors for a given time period.</a:t>
            </a:r>
            <a:endParaRPr lang="en-US" sz="1100" dirty="0"/>
          </a:p>
        </p:txBody>
      </p:sp>
      <p:sp>
        <p:nvSpPr>
          <p:cNvPr id="12" name="Shape 9"/>
          <p:cNvSpPr/>
          <p:nvPr/>
        </p:nvSpPr>
        <p:spPr>
          <a:xfrm>
            <a:off x="292608" y="1792224"/>
            <a:ext cx="2011680" cy="384048"/>
          </a:xfrm>
          <a:prstGeom prst="rect">
            <a:avLst/>
          </a:prstGeom>
          <a:solidFill>
            <a:srgbClr val="1E1E1E"/>
          </a:solidFill>
          <a:ln w="6350">
            <a:solidFill>
              <a:srgbClr val="DDCCBB"/>
            </a:solidFill>
            <a:prstDash val="solid"/>
          </a:ln>
        </p:spPr>
      </p:sp>
      <p:sp>
        <p:nvSpPr>
          <p:cNvPr id="13" name="Text 10"/>
          <p:cNvSpPr/>
          <p:nvPr/>
        </p:nvSpPr>
        <p:spPr>
          <a:xfrm>
            <a:off x="338328" y="1847088"/>
            <a:ext cx="192024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Reliability Metric</a:t>
            </a:r>
            <a:endParaRPr lang="en-US" sz="950" dirty="0"/>
          </a:p>
        </p:txBody>
      </p:sp>
      <p:sp>
        <p:nvSpPr>
          <p:cNvPr id="14" name="Shape 11"/>
          <p:cNvSpPr/>
          <p:nvPr/>
        </p:nvSpPr>
        <p:spPr>
          <a:xfrm>
            <a:off x="2304288" y="1792224"/>
            <a:ext cx="2286000" cy="384048"/>
          </a:xfrm>
          <a:prstGeom prst="rect">
            <a:avLst/>
          </a:prstGeom>
          <a:solidFill>
            <a:srgbClr val="1E1E1E"/>
          </a:solidFill>
          <a:ln w="6350">
            <a:solidFill>
              <a:srgbClr val="DDCCBB"/>
            </a:solidFill>
            <a:prstDash val="solid"/>
          </a:ln>
        </p:spPr>
      </p:sp>
      <p:sp>
        <p:nvSpPr>
          <p:cNvPr id="15" name="Text 12"/>
          <p:cNvSpPr/>
          <p:nvPr/>
        </p:nvSpPr>
        <p:spPr>
          <a:xfrm>
            <a:off x="2350008" y="1847088"/>
            <a:ext cx="219456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Definition</a:t>
            </a:r>
            <a:endParaRPr lang="en-US" sz="950" dirty="0"/>
          </a:p>
        </p:txBody>
      </p:sp>
      <p:sp>
        <p:nvSpPr>
          <p:cNvPr id="16" name="Shape 13"/>
          <p:cNvSpPr/>
          <p:nvPr/>
        </p:nvSpPr>
        <p:spPr>
          <a:xfrm>
            <a:off x="4590288" y="1792224"/>
            <a:ext cx="2194560" cy="384048"/>
          </a:xfrm>
          <a:prstGeom prst="rect">
            <a:avLst/>
          </a:prstGeom>
          <a:solidFill>
            <a:srgbClr val="1E1E1E"/>
          </a:solidFill>
          <a:ln w="6350">
            <a:solidFill>
              <a:srgbClr val="DDCCBB"/>
            </a:solidFill>
            <a:prstDash val="solid"/>
          </a:ln>
        </p:spPr>
      </p:sp>
      <p:sp>
        <p:nvSpPr>
          <p:cNvPr id="17" name="Text 14"/>
          <p:cNvSpPr/>
          <p:nvPr/>
        </p:nvSpPr>
        <p:spPr>
          <a:xfrm>
            <a:off x="4636008" y="1847088"/>
            <a:ext cx="210312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Example</a:t>
            </a:r>
            <a:endParaRPr lang="en-US" sz="950" dirty="0"/>
          </a:p>
        </p:txBody>
      </p:sp>
      <p:sp>
        <p:nvSpPr>
          <p:cNvPr id="18" name="Shape 15"/>
          <p:cNvSpPr/>
          <p:nvPr/>
        </p:nvSpPr>
        <p:spPr>
          <a:xfrm>
            <a:off x="6784848" y="1792224"/>
            <a:ext cx="2011680" cy="384048"/>
          </a:xfrm>
          <a:prstGeom prst="rect">
            <a:avLst/>
          </a:prstGeom>
          <a:solidFill>
            <a:srgbClr val="1E1E1E"/>
          </a:solidFill>
          <a:ln w="6350">
            <a:solidFill>
              <a:srgbClr val="DDCCBB"/>
            </a:solidFill>
            <a:prstDash val="solid"/>
          </a:ln>
        </p:spPr>
      </p:sp>
      <p:sp>
        <p:nvSpPr>
          <p:cNvPr id="19" name="Text 16"/>
          <p:cNvSpPr/>
          <p:nvPr/>
        </p:nvSpPr>
        <p:spPr>
          <a:xfrm>
            <a:off x="6830568" y="1847088"/>
            <a:ext cx="192024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Target</a:t>
            </a:r>
            <a:endParaRPr lang="en-US" sz="950" dirty="0"/>
          </a:p>
        </p:txBody>
      </p:sp>
      <p:sp>
        <p:nvSpPr>
          <p:cNvPr id="20" name="Shape 17"/>
          <p:cNvSpPr/>
          <p:nvPr/>
        </p:nvSpPr>
        <p:spPr>
          <a:xfrm>
            <a:off x="292608" y="2176272"/>
            <a:ext cx="2011680" cy="384048"/>
          </a:xfrm>
          <a:prstGeom prst="rect">
            <a:avLst/>
          </a:prstGeom>
          <a:solidFill>
            <a:srgbClr val="FFFFFF"/>
          </a:solidFill>
          <a:ln w="6350">
            <a:solidFill>
              <a:srgbClr val="DDCCBB"/>
            </a:solidFill>
            <a:prstDash val="solid"/>
          </a:ln>
        </p:spPr>
      </p:sp>
      <p:sp>
        <p:nvSpPr>
          <p:cNvPr id="21" name="Text 18"/>
          <p:cNvSpPr/>
          <p:nvPr/>
        </p:nvSpPr>
        <p:spPr>
          <a:xfrm>
            <a:off x="338328" y="2231136"/>
            <a:ext cx="192024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MTBF (Mean Time Between Failures)</a:t>
            </a:r>
            <a:endParaRPr lang="en-US" sz="900" dirty="0"/>
          </a:p>
        </p:txBody>
      </p:sp>
      <p:sp>
        <p:nvSpPr>
          <p:cNvPr id="22" name="Shape 19"/>
          <p:cNvSpPr/>
          <p:nvPr/>
        </p:nvSpPr>
        <p:spPr>
          <a:xfrm>
            <a:off x="2304288" y="2176272"/>
            <a:ext cx="2286000" cy="384048"/>
          </a:xfrm>
          <a:prstGeom prst="rect">
            <a:avLst/>
          </a:prstGeom>
          <a:solidFill>
            <a:srgbClr val="FFFFFF"/>
          </a:solidFill>
          <a:ln w="6350">
            <a:solidFill>
              <a:srgbClr val="DDCCBB"/>
            </a:solidFill>
            <a:prstDash val="solid"/>
          </a:ln>
        </p:spPr>
      </p:sp>
      <p:sp>
        <p:nvSpPr>
          <p:cNvPr id="23" name="Text 20"/>
          <p:cNvSpPr/>
          <p:nvPr/>
        </p:nvSpPr>
        <p:spPr>
          <a:xfrm>
            <a:off x="2350008" y="2231136"/>
            <a:ext cx="219456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Average time between system failures</a:t>
            </a:r>
            <a:endParaRPr lang="en-US" sz="900" dirty="0"/>
          </a:p>
        </p:txBody>
      </p:sp>
      <p:sp>
        <p:nvSpPr>
          <p:cNvPr id="24" name="Shape 21"/>
          <p:cNvSpPr/>
          <p:nvPr/>
        </p:nvSpPr>
        <p:spPr>
          <a:xfrm>
            <a:off x="4590288" y="2176272"/>
            <a:ext cx="2194560" cy="384048"/>
          </a:xfrm>
          <a:prstGeom prst="rect">
            <a:avLst/>
          </a:prstGeom>
          <a:solidFill>
            <a:srgbClr val="FFFFFF"/>
          </a:solidFill>
          <a:ln w="6350">
            <a:solidFill>
              <a:srgbClr val="DDCCBB"/>
            </a:solidFill>
            <a:prstDash val="solid"/>
          </a:ln>
        </p:spPr>
      </p:sp>
      <p:sp>
        <p:nvSpPr>
          <p:cNvPr id="25" name="Text 22"/>
          <p:cNvSpPr/>
          <p:nvPr/>
        </p:nvSpPr>
        <p:spPr>
          <a:xfrm>
            <a:off x="4636008" y="2231136"/>
            <a:ext cx="210312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Banking app fails once every 2,000 hours</a:t>
            </a:r>
            <a:endParaRPr lang="en-US" sz="900" dirty="0"/>
          </a:p>
        </p:txBody>
      </p:sp>
      <p:sp>
        <p:nvSpPr>
          <p:cNvPr id="26" name="Shape 23"/>
          <p:cNvSpPr/>
          <p:nvPr/>
        </p:nvSpPr>
        <p:spPr>
          <a:xfrm>
            <a:off x="6784848" y="2176272"/>
            <a:ext cx="2011680" cy="384048"/>
          </a:xfrm>
          <a:prstGeom prst="rect">
            <a:avLst/>
          </a:prstGeom>
          <a:solidFill>
            <a:srgbClr val="FFFFFF"/>
          </a:solidFill>
          <a:ln w="6350">
            <a:solidFill>
              <a:srgbClr val="DDCCBB"/>
            </a:solidFill>
            <a:prstDash val="solid"/>
          </a:ln>
        </p:spPr>
      </p:sp>
      <p:sp>
        <p:nvSpPr>
          <p:cNvPr id="27" name="Text 24"/>
          <p:cNvSpPr/>
          <p:nvPr/>
        </p:nvSpPr>
        <p:spPr>
          <a:xfrm>
            <a:off x="6830568" y="2231136"/>
            <a:ext cx="192024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MTBF &gt; 1,000 hours</a:t>
            </a:r>
            <a:endParaRPr lang="en-US" sz="900" dirty="0"/>
          </a:p>
        </p:txBody>
      </p:sp>
      <p:sp>
        <p:nvSpPr>
          <p:cNvPr id="28" name="Shape 25"/>
          <p:cNvSpPr/>
          <p:nvPr/>
        </p:nvSpPr>
        <p:spPr>
          <a:xfrm>
            <a:off x="292608" y="2560320"/>
            <a:ext cx="2011680" cy="384048"/>
          </a:xfrm>
          <a:prstGeom prst="rect">
            <a:avLst/>
          </a:prstGeom>
          <a:solidFill>
            <a:srgbClr val="FFF5EE"/>
          </a:solidFill>
          <a:ln w="6350">
            <a:solidFill>
              <a:srgbClr val="DDCCBB"/>
            </a:solidFill>
            <a:prstDash val="solid"/>
          </a:ln>
        </p:spPr>
      </p:sp>
      <p:sp>
        <p:nvSpPr>
          <p:cNvPr id="29" name="Text 26"/>
          <p:cNvSpPr/>
          <p:nvPr/>
        </p:nvSpPr>
        <p:spPr>
          <a:xfrm>
            <a:off x="338328" y="2615184"/>
            <a:ext cx="192024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MTTR (Mean Time To Recover)</a:t>
            </a:r>
            <a:endParaRPr lang="en-US" sz="900" dirty="0"/>
          </a:p>
        </p:txBody>
      </p:sp>
      <p:sp>
        <p:nvSpPr>
          <p:cNvPr id="30" name="Shape 27"/>
          <p:cNvSpPr/>
          <p:nvPr/>
        </p:nvSpPr>
        <p:spPr>
          <a:xfrm>
            <a:off x="2304288" y="2560320"/>
            <a:ext cx="2286000" cy="384048"/>
          </a:xfrm>
          <a:prstGeom prst="rect">
            <a:avLst/>
          </a:prstGeom>
          <a:solidFill>
            <a:srgbClr val="FFF5EE"/>
          </a:solidFill>
          <a:ln w="6350">
            <a:solidFill>
              <a:srgbClr val="DDCCBB"/>
            </a:solidFill>
            <a:prstDash val="solid"/>
          </a:ln>
        </p:spPr>
      </p:sp>
      <p:sp>
        <p:nvSpPr>
          <p:cNvPr id="31" name="Text 28"/>
          <p:cNvSpPr/>
          <p:nvPr/>
        </p:nvSpPr>
        <p:spPr>
          <a:xfrm>
            <a:off x="2350008" y="2615184"/>
            <a:ext cx="219456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Average time to restore after a failure</a:t>
            </a:r>
            <a:endParaRPr lang="en-US" sz="900" dirty="0"/>
          </a:p>
        </p:txBody>
      </p:sp>
      <p:sp>
        <p:nvSpPr>
          <p:cNvPr id="32" name="Shape 29"/>
          <p:cNvSpPr/>
          <p:nvPr/>
        </p:nvSpPr>
        <p:spPr>
          <a:xfrm>
            <a:off x="4590288" y="2560320"/>
            <a:ext cx="2194560" cy="384048"/>
          </a:xfrm>
          <a:prstGeom prst="rect">
            <a:avLst/>
          </a:prstGeom>
          <a:solidFill>
            <a:srgbClr val="FFF5EE"/>
          </a:solidFill>
          <a:ln w="6350">
            <a:solidFill>
              <a:srgbClr val="DDCCBB"/>
            </a:solidFill>
            <a:prstDash val="solid"/>
          </a:ln>
        </p:spPr>
      </p:sp>
      <p:sp>
        <p:nvSpPr>
          <p:cNvPr id="33" name="Text 30"/>
          <p:cNvSpPr/>
          <p:nvPr/>
        </p:nvSpPr>
        <p:spPr>
          <a:xfrm>
            <a:off x="4636008" y="2615184"/>
            <a:ext cx="210312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Payment service recovery: 4 minutes</a:t>
            </a:r>
            <a:endParaRPr lang="en-US" sz="900" dirty="0"/>
          </a:p>
        </p:txBody>
      </p:sp>
      <p:sp>
        <p:nvSpPr>
          <p:cNvPr id="34" name="Shape 31"/>
          <p:cNvSpPr/>
          <p:nvPr/>
        </p:nvSpPr>
        <p:spPr>
          <a:xfrm>
            <a:off x="6784848" y="2560320"/>
            <a:ext cx="2011680" cy="384048"/>
          </a:xfrm>
          <a:prstGeom prst="rect">
            <a:avLst/>
          </a:prstGeom>
          <a:solidFill>
            <a:srgbClr val="FFF5EE"/>
          </a:solidFill>
          <a:ln w="6350">
            <a:solidFill>
              <a:srgbClr val="DDCCBB"/>
            </a:solidFill>
            <a:prstDash val="solid"/>
          </a:ln>
        </p:spPr>
      </p:sp>
      <p:sp>
        <p:nvSpPr>
          <p:cNvPr id="35" name="Text 32"/>
          <p:cNvSpPr/>
          <p:nvPr/>
        </p:nvSpPr>
        <p:spPr>
          <a:xfrm>
            <a:off x="6830568" y="2615184"/>
            <a:ext cx="192024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MTTR &lt; 15 minutes</a:t>
            </a:r>
            <a:endParaRPr lang="en-US" sz="900" dirty="0"/>
          </a:p>
        </p:txBody>
      </p:sp>
      <p:sp>
        <p:nvSpPr>
          <p:cNvPr id="36" name="Shape 33"/>
          <p:cNvSpPr/>
          <p:nvPr/>
        </p:nvSpPr>
        <p:spPr>
          <a:xfrm>
            <a:off x="292608" y="2944368"/>
            <a:ext cx="2011680" cy="384048"/>
          </a:xfrm>
          <a:prstGeom prst="rect">
            <a:avLst/>
          </a:prstGeom>
          <a:solidFill>
            <a:srgbClr val="FFFFFF"/>
          </a:solidFill>
          <a:ln w="6350">
            <a:solidFill>
              <a:srgbClr val="DDCCBB"/>
            </a:solidFill>
            <a:prstDash val="solid"/>
          </a:ln>
        </p:spPr>
      </p:sp>
      <p:sp>
        <p:nvSpPr>
          <p:cNvPr id="37" name="Text 34"/>
          <p:cNvSpPr/>
          <p:nvPr/>
        </p:nvSpPr>
        <p:spPr>
          <a:xfrm>
            <a:off x="338328" y="2999232"/>
            <a:ext cx="192024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Availability</a:t>
            </a:r>
            <a:endParaRPr lang="en-US" sz="900" dirty="0"/>
          </a:p>
        </p:txBody>
      </p:sp>
      <p:sp>
        <p:nvSpPr>
          <p:cNvPr id="38" name="Shape 35"/>
          <p:cNvSpPr/>
          <p:nvPr/>
        </p:nvSpPr>
        <p:spPr>
          <a:xfrm>
            <a:off x="2304288" y="2944368"/>
            <a:ext cx="2286000" cy="384048"/>
          </a:xfrm>
          <a:prstGeom prst="rect">
            <a:avLst/>
          </a:prstGeom>
          <a:solidFill>
            <a:srgbClr val="FFFFFF"/>
          </a:solidFill>
          <a:ln w="6350">
            <a:solidFill>
              <a:srgbClr val="DDCCBB"/>
            </a:solidFill>
            <a:prstDash val="solid"/>
          </a:ln>
        </p:spPr>
      </p:sp>
      <p:sp>
        <p:nvSpPr>
          <p:cNvPr id="39" name="Text 36"/>
          <p:cNvSpPr/>
          <p:nvPr/>
        </p:nvSpPr>
        <p:spPr>
          <a:xfrm>
            <a:off x="2350008" y="2999232"/>
            <a:ext cx="219456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Percentage of time system is operational</a:t>
            </a:r>
            <a:endParaRPr lang="en-US" sz="900" dirty="0"/>
          </a:p>
        </p:txBody>
      </p:sp>
      <p:sp>
        <p:nvSpPr>
          <p:cNvPr id="40" name="Shape 37"/>
          <p:cNvSpPr/>
          <p:nvPr/>
        </p:nvSpPr>
        <p:spPr>
          <a:xfrm>
            <a:off x="4590288" y="2944368"/>
            <a:ext cx="2194560" cy="384048"/>
          </a:xfrm>
          <a:prstGeom prst="rect">
            <a:avLst/>
          </a:prstGeom>
          <a:solidFill>
            <a:srgbClr val="FFFFFF"/>
          </a:solidFill>
          <a:ln w="6350">
            <a:solidFill>
              <a:srgbClr val="DDCCBB"/>
            </a:solidFill>
            <a:prstDash val="solid"/>
          </a:ln>
        </p:spPr>
      </p:sp>
      <p:sp>
        <p:nvSpPr>
          <p:cNvPr id="41" name="Text 38"/>
          <p:cNvSpPr/>
          <p:nvPr/>
        </p:nvSpPr>
        <p:spPr>
          <a:xfrm>
            <a:off x="4636008" y="2999232"/>
            <a:ext cx="210312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99.9% = 8.7 hours downtime/year</a:t>
            </a:r>
            <a:endParaRPr lang="en-US" sz="900" dirty="0"/>
          </a:p>
        </p:txBody>
      </p:sp>
      <p:sp>
        <p:nvSpPr>
          <p:cNvPr id="42" name="Shape 39"/>
          <p:cNvSpPr/>
          <p:nvPr/>
        </p:nvSpPr>
        <p:spPr>
          <a:xfrm>
            <a:off x="6784848" y="2944368"/>
            <a:ext cx="2011680" cy="384048"/>
          </a:xfrm>
          <a:prstGeom prst="rect">
            <a:avLst/>
          </a:prstGeom>
          <a:solidFill>
            <a:srgbClr val="FFFFFF"/>
          </a:solidFill>
          <a:ln w="6350">
            <a:solidFill>
              <a:srgbClr val="DDCCBB"/>
            </a:solidFill>
            <a:prstDash val="solid"/>
          </a:ln>
        </p:spPr>
      </p:sp>
      <p:sp>
        <p:nvSpPr>
          <p:cNvPr id="43" name="Text 40"/>
          <p:cNvSpPr/>
          <p:nvPr/>
        </p:nvSpPr>
        <p:spPr>
          <a:xfrm>
            <a:off x="6830568" y="2999232"/>
            <a:ext cx="192024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99.9% ('three nines')</a:t>
            </a:r>
            <a:endParaRPr lang="en-US" sz="900" dirty="0"/>
          </a:p>
        </p:txBody>
      </p:sp>
      <p:sp>
        <p:nvSpPr>
          <p:cNvPr id="44" name="Shape 41"/>
          <p:cNvSpPr/>
          <p:nvPr/>
        </p:nvSpPr>
        <p:spPr>
          <a:xfrm>
            <a:off x="274320" y="3273552"/>
            <a:ext cx="8595360" cy="329184"/>
          </a:xfrm>
          <a:prstGeom prst="rect">
            <a:avLst/>
          </a:prstGeom>
          <a:solidFill>
            <a:srgbClr val="1E1E1E"/>
          </a:solidFill>
          <a:ln/>
        </p:spPr>
      </p:sp>
      <p:sp>
        <p:nvSpPr>
          <p:cNvPr id="45" name="Text 42"/>
          <p:cNvSpPr/>
          <p:nvPr/>
        </p:nvSpPr>
        <p:spPr>
          <a:xfrm>
            <a:off x="274320" y="3273552"/>
            <a:ext cx="8595360" cy="32918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SCALABILITY TESTING</a:t>
            </a:r>
            <a:endParaRPr lang="en-US" sz="1200" dirty="0"/>
          </a:p>
        </p:txBody>
      </p:sp>
      <p:sp>
        <p:nvSpPr>
          <p:cNvPr id="46" name="Shape 43"/>
          <p:cNvSpPr/>
          <p:nvPr/>
        </p:nvSpPr>
        <p:spPr>
          <a:xfrm>
            <a:off x="274320" y="3621024"/>
            <a:ext cx="8595360" cy="1627632"/>
          </a:xfrm>
          <a:prstGeom prst="rect">
            <a:avLst/>
          </a:prstGeom>
          <a:solidFill>
            <a:srgbClr val="FFFFFF"/>
          </a:solidFill>
          <a:ln/>
          <a:effectLst>
            <a:outerShdw blurRad="101600" dist="38100" dir="8100000" algn="bl" rotWithShape="0">
              <a:srgbClr val="000000">
                <a:alpha val="18000"/>
              </a:srgbClr>
            </a:outerShdw>
          </a:effectLst>
        </p:spPr>
      </p:sp>
      <p:sp>
        <p:nvSpPr>
          <p:cNvPr id="47" name="Text 44"/>
          <p:cNvSpPr/>
          <p:nvPr/>
        </p:nvSpPr>
        <p:spPr>
          <a:xfrm>
            <a:off x="384048" y="3685032"/>
            <a:ext cx="8321040" cy="457200"/>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Definition: Scalability Testing verifies that the system can HANDLE GROWTH — in users, data volume, transactions, or geographic distribution — without performance degradation. It tests both horizontal (adding more servers) and vertical (increasing server capacity) scaling.</a:t>
            </a:r>
            <a:endParaRPr lang="en-US" sz="1100" dirty="0"/>
          </a:p>
        </p:txBody>
      </p:sp>
      <p:sp>
        <p:nvSpPr>
          <p:cNvPr id="48" name="Shape 45"/>
          <p:cNvSpPr/>
          <p:nvPr/>
        </p:nvSpPr>
        <p:spPr>
          <a:xfrm>
            <a:off x="292608" y="4169664"/>
            <a:ext cx="2743200" cy="1005840"/>
          </a:xfrm>
          <a:prstGeom prst="rect">
            <a:avLst/>
          </a:prstGeom>
          <a:solidFill>
            <a:srgbClr val="FFF5EE"/>
          </a:solidFill>
          <a:ln w="6350">
            <a:solidFill>
              <a:srgbClr val="DDCCBB"/>
            </a:solidFill>
            <a:prstDash val="solid"/>
          </a:ln>
        </p:spPr>
      </p:sp>
      <p:sp>
        <p:nvSpPr>
          <p:cNvPr id="49" name="Text 46"/>
          <p:cNvSpPr/>
          <p:nvPr/>
        </p:nvSpPr>
        <p:spPr>
          <a:xfrm>
            <a:off x="384048" y="4233672"/>
            <a:ext cx="2578608" cy="256032"/>
          </a:xfrm>
          <a:prstGeom prst="rect">
            <a:avLst/>
          </a:prstGeom>
          <a:noFill/>
          <a:ln/>
        </p:spPr>
        <p:txBody>
          <a:bodyPr wrap="square"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User Scalability</a:t>
            </a:r>
            <a:endParaRPr lang="en-US" sz="1000" dirty="0"/>
          </a:p>
        </p:txBody>
      </p:sp>
      <p:sp>
        <p:nvSpPr>
          <p:cNvPr id="50" name="Text 47"/>
          <p:cNvSpPr/>
          <p:nvPr/>
        </p:nvSpPr>
        <p:spPr>
          <a:xfrm>
            <a:off x="384048" y="4507992"/>
            <a:ext cx="2578608" cy="603504"/>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Test with 100 → 1K → 10K → 100K users. At what point does performance degrade?</a:t>
            </a:r>
            <a:endParaRPr lang="en-US" sz="950" dirty="0"/>
          </a:p>
        </p:txBody>
      </p:sp>
      <p:sp>
        <p:nvSpPr>
          <p:cNvPr id="51" name="Shape 48"/>
          <p:cNvSpPr/>
          <p:nvPr/>
        </p:nvSpPr>
        <p:spPr>
          <a:xfrm>
            <a:off x="3182112" y="4169664"/>
            <a:ext cx="2743200" cy="1005840"/>
          </a:xfrm>
          <a:prstGeom prst="rect">
            <a:avLst/>
          </a:prstGeom>
          <a:solidFill>
            <a:srgbClr val="F5F5F5"/>
          </a:solidFill>
          <a:ln w="6350">
            <a:solidFill>
              <a:srgbClr val="DDCCBB"/>
            </a:solidFill>
            <a:prstDash val="solid"/>
          </a:ln>
        </p:spPr>
      </p:sp>
      <p:sp>
        <p:nvSpPr>
          <p:cNvPr id="52" name="Text 49"/>
          <p:cNvSpPr/>
          <p:nvPr/>
        </p:nvSpPr>
        <p:spPr>
          <a:xfrm>
            <a:off x="3273552" y="4233672"/>
            <a:ext cx="2578608" cy="256032"/>
          </a:xfrm>
          <a:prstGeom prst="rect">
            <a:avLst/>
          </a:prstGeom>
          <a:noFill/>
          <a:ln/>
        </p:spPr>
        <p:txBody>
          <a:bodyPr wrap="square"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Data Scalability</a:t>
            </a:r>
            <a:endParaRPr lang="en-US" sz="1000" dirty="0"/>
          </a:p>
        </p:txBody>
      </p:sp>
      <p:sp>
        <p:nvSpPr>
          <p:cNvPr id="53" name="Text 50"/>
          <p:cNvSpPr/>
          <p:nvPr/>
        </p:nvSpPr>
        <p:spPr>
          <a:xfrm>
            <a:off x="3273552" y="4507992"/>
            <a:ext cx="2578608" cy="603504"/>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Database grows from 10K to 100M records. Does query time remain acceptable?</a:t>
            </a:r>
            <a:endParaRPr lang="en-US" sz="950" dirty="0"/>
          </a:p>
        </p:txBody>
      </p:sp>
      <p:sp>
        <p:nvSpPr>
          <p:cNvPr id="54" name="Shape 51"/>
          <p:cNvSpPr/>
          <p:nvPr/>
        </p:nvSpPr>
        <p:spPr>
          <a:xfrm>
            <a:off x="6071616" y="4169664"/>
            <a:ext cx="2743200" cy="1005840"/>
          </a:xfrm>
          <a:prstGeom prst="rect">
            <a:avLst/>
          </a:prstGeom>
          <a:solidFill>
            <a:srgbClr val="FFF5EE"/>
          </a:solidFill>
          <a:ln w="6350">
            <a:solidFill>
              <a:srgbClr val="DDCCBB"/>
            </a:solidFill>
            <a:prstDash val="solid"/>
          </a:ln>
        </p:spPr>
      </p:sp>
      <p:sp>
        <p:nvSpPr>
          <p:cNvPr id="55" name="Text 52"/>
          <p:cNvSpPr/>
          <p:nvPr/>
        </p:nvSpPr>
        <p:spPr>
          <a:xfrm>
            <a:off x="6163056" y="4233672"/>
            <a:ext cx="2578608" cy="256032"/>
          </a:xfrm>
          <a:prstGeom prst="rect">
            <a:avLst/>
          </a:prstGeom>
          <a:noFill/>
          <a:ln/>
        </p:spPr>
        <p:txBody>
          <a:bodyPr wrap="square" rtlCol="0" anchor="ctr"/>
          <a:lstStyle/>
          <a:p>
            <a:pPr marL="0" indent="0">
              <a:buNone/>
            </a:pPr>
            <a:r>
              <a:rPr lang="en-US" sz="1000" b="1" dirty="0">
                <a:solidFill>
                  <a:srgbClr val="E8670D"/>
                </a:solidFill>
                <a:latin typeface="Calibri" pitchFamily="34" charset="0"/>
                <a:ea typeface="Calibri" pitchFamily="34" charset="-122"/>
                <a:cs typeface="Calibri" pitchFamily="34" charset="-120"/>
              </a:rPr>
              <a:t>Geographic Scaling</a:t>
            </a:r>
            <a:endParaRPr lang="en-US" sz="1000" dirty="0"/>
          </a:p>
        </p:txBody>
      </p:sp>
      <p:sp>
        <p:nvSpPr>
          <p:cNvPr id="56" name="Text 53"/>
          <p:cNvSpPr/>
          <p:nvPr/>
        </p:nvSpPr>
        <p:spPr>
          <a:xfrm>
            <a:off x="6163056" y="4507992"/>
            <a:ext cx="2578608" cy="603504"/>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Users from 5 countries simultaneously. CDN and latency tested globally.</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5669280" y="91440"/>
            <a:ext cx="3200400" cy="4572000"/>
          </a:xfrm>
          <a:prstGeom prst="rect">
            <a:avLst/>
          </a:prstGeom>
          <a:noFill/>
          <a:ln/>
        </p:spPr>
        <p:txBody>
          <a:bodyPr wrap="square" lIns="0" tIns="0" rIns="0" bIns="0" rtlCol="0" anchor="ctr"/>
          <a:lstStyle/>
          <a:p>
            <a:pPr marL="0" indent="0" algn="r">
              <a:buNone/>
            </a:pPr>
            <a:r>
              <a:rPr lang="en-US" sz="22000" b="1" dirty="0">
                <a:solidFill>
                  <a:srgbClr val="1E1E1E"/>
                </a:solidFill>
                <a:latin typeface="Calibri" pitchFamily="34" charset="0"/>
                <a:ea typeface="Calibri" pitchFamily="34" charset="-122"/>
                <a:cs typeface="Calibri" pitchFamily="34" charset="-120"/>
              </a:rPr>
              <a:t>5</a:t>
            </a:r>
            <a:endParaRPr lang="en-US" sz="22000" dirty="0"/>
          </a:p>
        </p:txBody>
      </p:sp>
      <p:sp>
        <p:nvSpPr>
          <p:cNvPr id="5" name="Text 3"/>
          <p:cNvSpPr/>
          <p:nvPr/>
        </p:nvSpPr>
        <p:spPr>
          <a:xfrm>
            <a:off x="457200" y="1097280"/>
            <a:ext cx="3657600" cy="384048"/>
          </a:xfrm>
          <a:prstGeom prst="rect">
            <a:avLst/>
          </a:prstGeom>
          <a:noFill/>
          <a:ln/>
        </p:spPr>
        <p:txBody>
          <a:bodyPr wrap="square" rtlCol="0" anchor="ctr"/>
          <a:lstStyle/>
          <a:p>
            <a:pPr marL="0" indent="0">
              <a:buNone/>
            </a:pPr>
            <a:r>
              <a:rPr lang="en-US" sz="1200" b="1" kern="0" spc="500" dirty="0">
                <a:solidFill>
                  <a:srgbClr val="E8670D"/>
                </a:solidFill>
                <a:latin typeface="Calibri" pitchFamily="34" charset="0"/>
                <a:ea typeface="Calibri" pitchFamily="34" charset="-122"/>
                <a:cs typeface="Calibri" pitchFamily="34" charset="-120"/>
              </a:rPr>
              <a:t>SECTION</a:t>
            </a:r>
            <a:endParaRPr lang="en-US" sz="1200" dirty="0"/>
          </a:p>
        </p:txBody>
      </p:sp>
      <p:sp>
        <p:nvSpPr>
          <p:cNvPr id="6" name="Text 4"/>
          <p:cNvSpPr/>
          <p:nvPr/>
        </p:nvSpPr>
        <p:spPr>
          <a:xfrm>
            <a:off x="457200" y="1508760"/>
            <a:ext cx="1097280" cy="8686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5</a:t>
            </a:r>
            <a:endParaRPr lang="en-US" sz="5800" dirty="0"/>
          </a:p>
        </p:txBody>
      </p:sp>
      <p:sp>
        <p:nvSpPr>
          <p:cNvPr id="7" name="Shape 5"/>
          <p:cNvSpPr/>
          <p:nvPr/>
        </p:nvSpPr>
        <p:spPr>
          <a:xfrm>
            <a:off x="457200" y="2487168"/>
            <a:ext cx="5029200" cy="54864"/>
          </a:xfrm>
          <a:prstGeom prst="rect">
            <a:avLst/>
          </a:prstGeom>
          <a:solidFill>
            <a:srgbClr val="E8670D"/>
          </a:solidFill>
          <a:ln/>
        </p:spPr>
      </p:sp>
      <p:sp>
        <p:nvSpPr>
          <p:cNvPr id="8" name="Text 6"/>
          <p:cNvSpPr/>
          <p:nvPr/>
        </p:nvSpPr>
        <p:spPr>
          <a:xfrm>
            <a:off x="457200" y="2606040"/>
            <a:ext cx="8046720" cy="11887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Manual vs Automated Testing</a:t>
            </a:r>
            <a:endParaRPr lang="en-US" sz="3000" dirty="0"/>
          </a:p>
        </p:txBody>
      </p:sp>
      <p:sp>
        <p:nvSpPr>
          <p:cNvPr id="9" name="Text 7"/>
          <p:cNvSpPr/>
          <p:nvPr/>
        </p:nvSpPr>
        <p:spPr>
          <a:xfrm>
            <a:off x="457200" y="3858768"/>
            <a:ext cx="7772400" cy="640080"/>
          </a:xfrm>
          <a:prstGeom prst="rect">
            <a:avLst/>
          </a:prstGeom>
          <a:noFill/>
          <a:ln/>
        </p:spPr>
        <p:txBody>
          <a:bodyPr wrap="square" rtlCol="0" anchor="ctr"/>
          <a:lstStyle/>
          <a:p>
            <a:pPr marL="0" indent="0">
              <a:buNone/>
            </a:pPr>
            <a:r>
              <a:rPr lang="en-US" sz="1300" dirty="0">
                <a:solidFill>
                  <a:srgbClr val="AAAAAA"/>
                </a:solidFill>
                <a:latin typeface="Calibri" pitchFamily="34" charset="0"/>
                <a:ea typeface="Calibri" pitchFamily="34" charset="-122"/>
                <a:cs typeface="Calibri" pitchFamily="34" charset="-120"/>
              </a:rPr>
              <a:t>A deep comparison — when to use each approach for maximum QA effectiveness</a:t>
            </a:r>
            <a:endParaRPr lang="en-US" sz="1300" dirty="0"/>
          </a:p>
        </p:txBody>
      </p:sp>
      <p:pic>
        <p:nvPicPr>
          <p:cNvPr id="10" name="Image 0" descr="preencoded.png"/>
          <p:cNvPicPr>
            <a:picLocks noChangeAspect="1"/>
          </p:cNvPicPr>
          <p:nvPr/>
        </p:nvPicPr>
        <p:blipFill>
          <a:blip r:embed="rId3"/>
          <a:stretch>
            <a:fillRect/>
          </a:stretch>
        </p:blipFill>
        <p:spPr>
          <a:xfrm>
            <a:off x="7132320" y="457200"/>
            <a:ext cx="1371600" cy="1371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Manual vs Automated Testing — Detailed Comparison</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Choosing the right approach for each testing scenario</a:t>
            </a:r>
            <a:endParaRPr lang="en-US" sz="1100" dirty="0"/>
          </a:p>
        </p:txBody>
      </p:sp>
      <p:sp>
        <p:nvSpPr>
          <p:cNvPr id="6" name="Shape 3"/>
          <p:cNvSpPr/>
          <p:nvPr/>
        </p:nvSpPr>
        <p:spPr>
          <a:xfrm>
            <a:off x="274320" y="960120"/>
            <a:ext cx="1463040" cy="384048"/>
          </a:xfrm>
          <a:prstGeom prst="rect">
            <a:avLst/>
          </a:prstGeom>
          <a:solidFill>
            <a:srgbClr val="E8670D"/>
          </a:solidFill>
          <a:ln w="6350">
            <a:solidFill>
              <a:srgbClr val="DDCCBB"/>
            </a:solidFill>
            <a:prstDash val="solid"/>
          </a:ln>
        </p:spPr>
      </p:sp>
      <p:sp>
        <p:nvSpPr>
          <p:cNvPr id="7" name="Text 4"/>
          <p:cNvSpPr/>
          <p:nvPr/>
        </p:nvSpPr>
        <p:spPr>
          <a:xfrm>
            <a:off x="320040" y="1014984"/>
            <a:ext cx="137160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Factor</a:t>
            </a:r>
            <a:endParaRPr lang="en-US" sz="950" dirty="0"/>
          </a:p>
        </p:txBody>
      </p:sp>
      <p:sp>
        <p:nvSpPr>
          <p:cNvPr id="8" name="Shape 5"/>
          <p:cNvSpPr/>
          <p:nvPr/>
        </p:nvSpPr>
        <p:spPr>
          <a:xfrm>
            <a:off x="1737360" y="960120"/>
            <a:ext cx="3474720" cy="384048"/>
          </a:xfrm>
          <a:prstGeom prst="rect">
            <a:avLst/>
          </a:prstGeom>
          <a:solidFill>
            <a:srgbClr val="E8670D"/>
          </a:solidFill>
          <a:ln w="6350">
            <a:solidFill>
              <a:srgbClr val="DDCCBB"/>
            </a:solidFill>
            <a:prstDash val="solid"/>
          </a:ln>
        </p:spPr>
      </p:sp>
      <p:sp>
        <p:nvSpPr>
          <p:cNvPr id="9" name="Text 6"/>
          <p:cNvSpPr/>
          <p:nvPr/>
        </p:nvSpPr>
        <p:spPr>
          <a:xfrm>
            <a:off x="1783080" y="1014984"/>
            <a:ext cx="338328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Manual Testing</a:t>
            </a:r>
            <a:endParaRPr lang="en-US" sz="950" dirty="0"/>
          </a:p>
        </p:txBody>
      </p:sp>
      <p:sp>
        <p:nvSpPr>
          <p:cNvPr id="10" name="Shape 7"/>
          <p:cNvSpPr/>
          <p:nvPr/>
        </p:nvSpPr>
        <p:spPr>
          <a:xfrm>
            <a:off x="5212080" y="960120"/>
            <a:ext cx="3474720" cy="384048"/>
          </a:xfrm>
          <a:prstGeom prst="rect">
            <a:avLst/>
          </a:prstGeom>
          <a:solidFill>
            <a:srgbClr val="E8670D"/>
          </a:solidFill>
          <a:ln w="6350">
            <a:solidFill>
              <a:srgbClr val="DDCCBB"/>
            </a:solidFill>
            <a:prstDash val="solid"/>
          </a:ln>
        </p:spPr>
      </p:sp>
      <p:sp>
        <p:nvSpPr>
          <p:cNvPr id="11" name="Text 8"/>
          <p:cNvSpPr/>
          <p:nvPr/>
        </p:nvSpPr>
        <p:spPr>
          <a:xfrm>
            <a:off x="5257800" y="1014984"/>
            <a:ext cx="338328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Automated Testing</a:t>
            </a:r>
            <a:endParaRPr lang="en-US" sz="950" dirty="0"/>
          </a:p>
        </p:txBody>
      </p:sp>
      <p:sp>
        <p:nvSpPr>
          <p:cNvPr id="12" name="Shape 9"/>
          <p:cNvSpPr/>
          <p:nvPr/>
        </p:nvSpPr>
        <p:spPr>
          <a:xfrm>
            <a:off x="274320" y="1344168"/>
            <a:ext cx="1463040" cy="384048"/>
          </a:xfrm>
          <a:prstGeom prst="rect">
            <a:avLst/>
          </a:prstGeom>
          <a:solidFill>
            <a:srgbClr val="FFFFFF"/>
          </a:solidFill>
          <a:ln w="6350">
            <a:solidFill>
              <a:srgbClr val="DDCCBB"/>
            </a:solidFill>
            <a:prstDash val="solid"/>
          </a:ln>
        </p:spPr>
      </p:sp>
      <p:sp>
        <p:nvSpPr>
          <p:cNvPr id="13" name="Text 10"/>
          <p:cNvSpPr/>
          <p:nvPr/>
        </p:nvSpPr>
        <p:spPr>
          <a:xfrm>
            <a:off x="320040" y="1399032"/>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Execution</a:t>
            </a:r>
            <a:endParaRPr lang="en-US" sz="900" dirty="0"/>
          </a:p>
        </p:txBody>
      </p:sp>
      <p:sp>
        <p:nvSpPr>
          <p:cNvPr id="14" name="Shape 11"/>
          <p:cNvSpPr/>
          <p:nvPr/>
        </p:nvSpPr>
        <p:spPr>
          <a:xfrm>
            <a:off x="1737360" y="1344168"/>
            <a:ext cx="3474720" cy="384048"/>
          </a:xfrm>
          <a:prstGeom prst="rect">
            <a:avLst/>
          </a:prstGeom>
          <a:solidFill>
            <a:srgbClr val="FFFFFF"/>
          </a:solidFill>
          <a:ln w="6350">
            <a:solidFill>
              <a:srgbClr val="DDCCBB"/>
            </a:solidFill>
            <a:prstDash val="solid"/>
          </a:ln>
        </p:spPr>
      </p:sp>
      <p:sp>
        <p:nvSpPr>
          <p:cNvPr id="15" name="Text 12"/>
          <p:cNvSpPr/>
          <p:nvPr/>
        </p:nvSpPr>
        <p:spPr>
          <a:xfrm>
            <a:off x="1783080" y="1399032"/>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Human tester follows steps manually</a:t>
            </a:r>
            <a:endParaRPr lang="en-US" sz="900" dirty="0"/>
          </a:p>
        </p:txBody>
      </p:sp>
      <p:sp>
        <p:nvSpPr>
          <p:cNvPr id="16" name="Shape 13"/>
          <p:cNvSpPr/>
          <p:nvPr/>
        </p:nvSpPr>
        <p:spPr>
          <a:xfrm>
            <a:off x="5212080" y="1344168"/>
            <a:ext cx="3474720" cy="384048"/>
          </a:xfrm>
          <a:prstGeom prst="rect">
            <a:avLst/>
          </a:prstGeom>
          <a:solidFill>
            <a:srgbClr val="FFFFFF"/>
          </a:solidFill>
          <a:ln w="6350">
            <a:solidFill>
              <a:srgbClr val="DDCCBB"/>
            </a:solidFill>
            <a:prstDash val="solid"/>
          </a:ln>
        </p:spPr>
      </p:sp>
      <p:sp>
        <p:nvSpPr>
          <p:cNvPr id="17" name="Text 14"/>
          <p:cNvSpPr/>
          <p:nvPr/>
        </p:nvSpPr>
        <p:spPr>
          <a:xfrm>
            <a:off x="5257800" y="1399032"/>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Script executes steps automatically</a:t>
            </a:r>
            <a:endParaRPr lang="en-US" sz="900" dirty="0"/>
          </a:p>
        </p:txBody>
      </p:sp>
      <p:sp>
        <p:nvSpPr>
          <p:cNvPr id="18" name="Shape 15"/>
          <p:cNvSpPr/>
          <p:nvPr/>
        </p:nvSpPr>
        <p:spPr>
          <a:xfrm>
            <a:off x="274320" y="1728216"/>
            <a:ext cx="1463040" cy="384048"/>
          </a:xfrm>
          <a:prstGeom prst="rect">
            <a:avLst/>
          </a:prstGeom>
          <a:solidFill>
            <a:srgbClr val="FFF5EE"/>
          </a:solidFill>
          <a:ln w="6350">
            <a:solidFill>
              <a:srgbClr val="DDCCBB"/>
            </a:solidFill>
            <a:prstDash val="solid"/>
          </a:ln>
        </p:spPr>
      </p:sp>
      <p:sp>
        <p:nvSpPr>
          <p:cNvPr id="19" name="Text 16"/>
          <p:cNvSpPr/>
          <p:nvPr/>
        </p:nvSpPr>
        <p:spPr>
          <a:xfrm>
            <a:off x="320040" y="1783080"/>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Speed</a:t>
            </a:r>
            <a:endParaRPr lang="en-US" sz="900" dirty="0"/>
          </a:p>
        </p:txBody>
      </p:sp>
      <p:sp>
        <p:nvSpPr>
          <p:cNvPr id="20" name="Shape 17"/>
          <p:cNvSpPr/>
          <p:nvPr/>
        </p:nvSpPr>
        <p:spPr>
          <a:xfrm>
            <a:off x="1737360" y="1728216"/>
            <a:ext cx="3474720" cy="384048"/>
          </a:xfrm>
          <a:prstGeom prst="rect">
            <a:avLst/>
          </a:prstGeom>
          <a:solidFill>
            <a:srgbClr val="FFF5EE"/>
          </a:solidFill>
          <a:ln w="6350">
            <a:solidFill>
              <a:srgbClr val="DDCCBB"/>
            </a:solidFill>
            <a:prstDash val="solid"/>
          </a:ln>
        </p:spPr>
      </p:sp>
      <p:sp>
        <p:nvSpPr>
          <p:cNvPr id="21" name="Text 18"/>
          <p:cNvSpPr/>
          <p:nvPr/>
        </p:nvSpPr>
        <p:spPr>
          <a:xfrm>
            <a:off x="1783080" y="1783080"/>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Slow — 1 test at a time</a:t>
            </a:r>
            <a:endParaRPr lang="en-US" sz="900" dirty="0"/>
          </a:p>
        </p:txBody>
      </p:sp>
      <p:sp>
        <p:nvSpPr>
          <p:cNvPr id="22" name="Shape 19"/>
          <p:cNvSpPr/>
          <p:nvPr/>
        </p:nvSpPr>
        <p:spPr>
          <a:xfrm>
            <a:off x="5212080" y="1728216"/>
            <a:ext cx="3474720" cy="384048"/>
          </a:xfrm>
          <a:prstGeom prst="rect">
            <a:avLst/>
          </a:prstGeom>
          <a:solidFill>
            <a:srgbClr val="FFF5EE"/>
          </a:solidFill>
          <a:ln w="6350">
            <a:solidFill>
              <a:srgbClr val="DDCCBB"/>
            </a:solidFill>
            <a:prstDash val="solid"/>
          </a:ln>
        </p:spPr>
      </p:sp>
      <p:sp>
        <p:nvSpPr>
          <p:cNvPr id="23" name="Text 20"/>
          <p:cNvSpPr/>
          <p:nvPr/>
        </p:nvSpPr>
        <p:spPr>
          <a:xfrm>
            <a:off x="5257800" y="1783080"/>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Fast — 1,000s of tests in parallel</a:t>
            </a:r>
            <a:endParaRPr lang="en-US" sz="900" dirty="0"/>
          </a:p>
        </p:txBody>
      </p:sp>
      <p:sp>
        <p:nvSpPr>
          <p:cNvPr id="24" name="Shape 21"/>
          <p:cNvSpPr/>
          <p:nvPr/>
        </p:nvSpPr>
        <p:spPr>
          <a:xfrm>
            <a:off x="274320" y="2112264"/>
            <a:ext cx="1463040" cy="384048"/>
          </a:xfrm>
          <a:prstGeom prst="rect">
            <a:avLst/>
          </a:prstGeom>
          <a:solidFill>
            <a:srgbClr val="FFFFFF"/>
          </a:solidFill>
          <a:ln w="6350">
            <a:solidFill>
              <a:srgbClr val="DDCCBB"/>
            </a:solidFill>
            <a:prstDash val="solid"/>
          </a:ln>
        </p:spPr>
      </p:sp>
      <p:sp>
        <p:nvSpPr>
          <p:cNvPr id="25" name="Text 22"/>
          <p:cNvSpPr/>
          <p:nvPr/>
        </p:nvSpPr>
        <p:spPr>
          <a:xfrm>
            <a:off x="320040" y="2167128"/>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Accuracy</a:t>
            </a:r>
            <a:endParaRPr lang="en-US" sz="900" dirty="0"/>
          </a:p>
        </p:txBody>
      </p:sp>
      <p:sp>
        <p:nvSpPr>
          <p:cNvPr id="26" name="Shape 23"/>
          <p:cNvSpPr/>
          <p:nvPr/>
        </p:nvSpPr>
        <p:spPr>
          <a:xfrm>
            <a:off x="1737360" y="2112264"/>
            <a:ext cx="3474720" cy="384048"/>
          </a:xfrm>
          <a:prstGeom prst="rect">
            <a:avLst/>
          </a:prstGeom>
          <a:solidFill>
            <a:srgbClr val="FFFFFF"/>
          </a:solidFill>
          <a:ln w="6350">
            <a:solidFill>
              <a:srgbClr val="DDCCBB"/>
            </a:solidFill>
            <a:prstDash val="solid"/>
          </a:ln>
        </p:spPr>
      </p:sp>
      <p:sp>
        <p:nvSpPr>
          <p:cNvPr id="27" name="Text 24"/>
          <p:cNvSpPr/>
          <p:nvPr/>
        </p:nvSpPr>
        <p:spPr>
          <a:xfrm>
            <a:off x="1783080" y="2167128"/>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Prone to human error/fatigue</a:t>
            </a:r>
            <a:endParaRPr lang="en-US" sz="900" dirty="0"/>
          </a:p>
        </p:txBody>
      </p:sp>
      <p:sp>
        <p:nvSpPr>
          <p:cNvPr id="28" name="Shape 25"/>
          <p:cNvSpPr/>
          <p:nvPr/>
        </p:nvSpPr>
        <p:spPr>
          <a:xfrm>
            <a:off x="5212080" y="2112264"/>
            <a:ext cx="3474720" cy="384048"/>
          </a:xfrm>
          <a:prstGeom prst="rect">
            <a:avLst/>
          </a:prstGeom>
          <a:solidFill>
            <a:srgbClr val="FFFFFF"/>
          </a:solidFill>
          <a:ln w="6350">
            <a:solidFill>
              <a:srgbClr val="DDCCBB"/>
            </a:solidFill>
            <a:prstDash val="solid"/>
          </a:ln>
        </p:spPr>
      </p:sp>
      <p:sp>
        <p:nvSpPr>
          <p:cNvPr id="29" name="Text 26"/>
          <p:cNvSpPr/>
          <p:nvPr/>
        </p:nvSpPr>
        <p:spPr>
          <a:xfrm>
            <a:off x="5257800" y="2167128"/>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Consistent — exact same steps every run</a:t>
            </a:r>
            <a:endParaRPr lang="en-US" sz="900" dirty="0"/>
          </a:p>
        </p:txBody>
      </p:sp>
      <p:sp>
        <p:nvSpPr>
          <p:cNvPr id="30" name="Shape 27"/>
          <p:cNvSpPr/>
          <p:nvPr/>
        </p:nvSpPr>
        <p:spPr>
          <a:xfrm>
            <a:off x="274320" y="2496312"/>
            <a:ext cx="1463040" cy="384048"/>
          </a:xfrm>
          <a:prstGeom prst="rect">
            <a:avLst/>
          </a:prstGeom>
          <a:solidFill>
            <a:srgbClr val="FFF5EE"/>
          </a:solidFill>
          <a:ln w="6350">
            <a:solidFill>
              <a:srgbClr val="DDCCBB"/>
            </a:solidFill>
            <a:prstDash val="solid"/>
          </a:ln>
        </p:spPr>
      </p:sp>
      <p:sp>
        <p:nvSpPr>
          <p:cNvPr id="31" name="Text 28"/>
          <p:cNvSpPr/>
          <p:nvPr/>
        </p:nvSpPr>
        <p:spPr>
          <a:xfrm>
            <a:off x="320040" y="2551176"/>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Cost (Initial)</a:t>
            </a:r>
            <a:endParaRPr lang="en-US" sz="900" dirty="0"/>
          </a:p>
        </p:txBody>
      </p:sp>
      <p:sp>
        <p:nvSpPr>
          <p:cNvPr id="32" name="Shape 29"/>
          <p:cNvSpPr/>
          <p:nvPr/>
        </p:nvSpPr>
        <p:spPr>
          <a:xfrm>
            <a:off x="1737360" y="2496312"/>
            <a:ext cx="3474720" cy="384048"/>
          </a:xfrm>
          <a:prstGeom prst="rect">
            <a:avLst/>
          </a:prstGeom>
          <a:solidFill>
            <a:srgbClr val="FFF5EE"/>
          </a:solidFill>
          <a:ln w="6350">
            <a:solidFill>
              <a:srgbClr val="DDCCBB"/>
            </a:solidFill>
            <a:prstDash val="solid"/>
          </a:ln>
        </p:spPr>
      </p:sp>
      <p:sp>
        <p:nvSpPr>
          <p:cNvPr id="33" name="Text 30"/>
          <p:cNvSpPr/>
          <p:nvPr/>
        </p:nvSpPr>
        <p:spPr>
          <a:xfrm>
            <a:off x="1783080" y="2551176"/>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Low — no scripting investment</a:t>
            </a:r>
            <a:endParaRPr lang="en-US" sz="900" dirty="0"/>
          </a:p>
        </p:txBody>
      </p:sp>
      <p:sp>
        <p:nvSpPr>
          <p:cNvPr id="34" name="Shape 31"/>
          <p:cNvSpPr/>
          <p:nvPr/>
        </p:nvSpPr>
        <p:spPr>
          <a:xfrm>
            <a:off x="5212080" y="2496312"/>
            <a:ext cx="3474720" cy="384048"/>
          </a:xfrm>
          <a:prstGeom prst="rect">
            <a:avLst/>
          </a:prstGeom>
          <a:solidFill>
            <a:srgbClr val="FFF5EE"/>
          </a:solidFill>
          <a:ln w="6350">
            <a:solidFill>
              <a:srgbClr val="DDCCBB"/>
            </a:solidFill>
            <a:prstDash val="solid"/>
          </a:ln>
        </p:spPr>
      </p:sp>
      <p:sp>
        <p:nvSpPr>
          <p:cNvPr id="35" name="Text 32"/>
          <p:cNvSpPr/>
          <p:nvPr/>
        </p:nvSpPr>
        <p:spPr>
          <a:xfrm>
            <a:off x="5257800" y="2551176"/>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High — requires scripting time upfront</a:t>
            </a:r>
            <a:endParaRPr lang="en-US" sz="900" dirty="0"/>
          </a:p>
        </p:txBody>
      </p:sp>
      <p:sp>
        <p:nvSpPr>
          <p:cNvPr id="36" name="Shape 33"/>
          <p:cNvSpPr/>
          <p:nvPr/>
        </p:nvSpPr>
        <p:spPr>
          <a:xfrm>
            <a:off x="274320" y="2880360"/>
            <a:ext cx="1463040" cy="384048"/>
          </a:xfrm>
          <a:prstGeom prst="rect">
            <a:avLst/>
          </a:prstGeom>
          <a:solidFill>
            <a:srgbClr val="FFFFFF"/>
          </a:solidFill>
          <a:ln w="6350">
            <a:solidFill>
              <a:srgbClr val="DDCCBB"/>
            </a:solidFill>
            <a:prstDash val="solid"/>
          </a:ln>
        </p:spPr>
      </p:sp>
      <p:sp>
        <p:nvSpPr>
          <p:cNvPr id="37" name="Text 34"/>
          <p:cNvSpPr/>
          <p:nvPr/>
        </p:nvSpPr>
        <p:spPr>
          <a:xfrm>
            <a:off x="320040" y="2935224"/>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Cost (Ongoing)</a:t>
            </a:r>
            <a:endParaRPr lang="en-US" sz="900" dirty="0"/>
          </a:p>
        </p:txBody>
      </p:sp>
      <p:sp>
        <p:nvSpPr>
          <p:cNvPr id="38" name="Shape 35"/>
          <p:cNvSpPr/>
          <p:nvPr/>
        </p:nvSpPr>
        <p:spPr>
          <a:xfrm>
            <a:off x="1737360" y="2880360"/>
            <a:ext cx="3474720" cy="384048"/>
          </a:xfrm>
          <a:prstGeom prst="rect">
            <a:avLst/>
          </a:prstGeom>
          <a:solidFill>
            <a:srgbClr val="FFFFFF"/>
          </a:solidFill>
          <a:ln w="6350">
            <a:solidFill>
              <a:srgbClr val="DDCCBB"/>
            </a:solidFill>
            <a:prstDash val="solid"/>
          </a:ln>
        </p:spPr>
      </p:sp>
      <p:sp>
        <p:nvSpPr>
          <p:cNvPr id="39" name="Text 36"/>
          <p:cNvSpPr/>
          <p:nvPr/>
        </p:nvSpPr>
        <p:spPr>
          <a:xfrm>
            <a:off x="1783080" y="2935224"/>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High — scales linearly with test count</a:t>
            </a:r>
            <a:endParaRPr lang="en-US" sz="900" dirty="0"/>
          </a:p>
        </p:txBody>
      </p:sp>
      <p:sp>
        <p:nvSpPr>
          <p:cNvPr id="40" name="Shape 37"/>
          <p:cNvSpPr/>
          <p:nvPr/>
        </p:nvSpPr>
        <p:spPr>
          <a:xfrm>
            <a:off x="5212080" y="2880360"/>
            <a:ext cx="3474720" cy="384048"/>
          </a:xfrm>
          <a:prstGeom prst="rect">
            <a:avLst/>
          </a:prstGeom>
          <a:solidFill>
            <a:srgbClr val="FFFFFF"/>
          </a:solidFill>
          <a:ln w="6350">
            <a:solidFill>
              <a:srgbClr val="DDCCBB"/>
            </a:solidFill>
            <a:prstDash val="solid"/>
          </a:ln>
        </p:spPr>
      </p:sp>
      <p:sp>
        <p:nvSpPr>
          <p:cNvPr id="41" name="Text 38"/>
          <p:cNvSpPr/>
          <p:nvPr/>
        </p:nvSpPr>
        <p:spPr>
          <a:xfrm>
            <a:off x="5257800" y="2935224"/>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Low — same script runs infinitely</a:t>
            </a:r>
            <a:endParaRPr lang="en-US" sz="900" dirty="0"/>
          </a:p>
        </p:txBody>
      </p:sp>
      <p:sp>
        <p:nvSpPr>
          <p:cNvPr id="42" name="Shape 39"/>
          <p:cNvSpPr/>
          <p:nvPr/>
        </p:nvSpPr>
        <p:spPr>
          <a:xfrm>
            <a:off x="274320" y="3264408"/>
            <a:ext cx="1463040" cy="384048"/>
          </a:xfrm>
          <a:prstGeom prst="rect">
            <a:avLst/>
          </a:prstGeom>
          <a:solidFill>
            <a:srgbClr val="FFF5EE"/>
          </a:solidFill>
          <a:ln w="6350">
            <a:solidFill>
              <a:srgbClr val="DDCCBB"/>
            </a:solidFill>
            <a:prstDash val="solid"/>
          </a:ln>
        </p:spPr>
      </p:sp>
      <p:sp>
        <p:nvSpPr>
          <p:cNvPr id="43" name="Text 40"/>
          <p:cNvSpPr/>
          <p:nvPr/>
        </p:nvSpPr>
        <p:spPr>
          <a:xfrm>
            <a:off x="320040" y="3319272"/>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Maintenance</a:t>
            </a:r>
            <a:endParaRPr lang="en-US" sz="900" dirty="0"/>
          </a:p>
        </p:txBody>
      </p:sp>
      <p:sp>
        <p:nvSpPr>
          <p:cNvPr id="44" name="Shape 41"/>
          <p:cNvSpPr/>
          <p:nvPr/>
        </p:nvSpPr>
        <p:spPr>
          <a:xfrm>
            <a:off x="1737360" y="3264408"/>
            <a:ext cx="3474720" cy="384048"/>
          </a:xfrm>
          <a:prstGeom prst="rect">
            <a:avLst/>
          </a:prstGeom>
          <a:solidFill>
            <a:srgbClr val="FFF5EE"/>
          </a:solidFill>
          <a:ln w="6350">
            <a:solidFill>
              <a:srgbClr val="DDCCBB"/>
            </a:solidFill>
            <a:prstDash val="solid"/>
          </a:ln>
        </p:spPr>
      </p:sp>
      <p:sp>
        <p:nvSpPr>
          <p:cNvPr id="45" name="Text 42"/>
          <p:cNvSpPr/>
          <p:nvPr/>
        </p:nvSpPr>
        <p:spPr>
          <a:xfrm>
            <a:off x="1783080" y="3319272"/>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None — test case documents updated</a:t>
            </a:r>
            <a:endParaRPr lang="en-US" sz="900" dirty="0"/>
          </a:p>
        </p:txBody>
      </p:sp>
      <p:sp>
        <p:nvSpPr>
          <p:cNvPr id="46" name="Shape 43"/>
          <p:cNvSpPr/>
          <p:nvPr/>
        </p:nvSpPr>
        <p:spPr>
          <a:xfrm>
            <a:off x="5212080" y="3264408"/>
            <a:ext cx="3474720" cy="384048"/>
          </a:xfrm>
          <a:prstGeom prst="rect">
            <a:avLst/>
          </a:prstGeom>
          <a:solidFill>
            <a:srgbClr val="FFF5EE"/>
          </a:solidFill>
          <a:ln w="6350">
            <a:solidFill>
              <a:srgbClr val="DDCCBB"/>
            </a:solidFill>
            <a:prstDash val="solid"/>
          </a:ln>
        </p:spPr>
      </p:sp>
      <p:sp>
        <p:nvSpPr>
          <p:cNvPr id="47" name="Text 44"/>
          <p:cNvSpPr/>
          <p:nvPr/>
        </p:nvSpPr>
        <p:spPr>
          <a:xfrm>
            <a:off x="5257800" y="3319272"/>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Scripts need updating when UI changes</a:t>
            </a:r>
            <a:endParaRPr lang="en-US" sz="900" dirty="0"/>
          </a:p>
        </p:txBody>
      </p:sp>
      <p:sp>
        <p:nvSpPr>
          <p:cNvPr id="48" name="Shape 45"/>
          <p:cNvSpPr/>
          <p:nvPr/>
        </p:nvSpPr>
        <p:spPr>
          <a:xfrm>
            <a:off x="274320" y="3648456"/>
            <a:ext cx="1463040" cy="384048"/>
          </a:xfrm>
          <a:prstGeom prst="rect">
            <a:avLst/>
          </a:prstGeom>
          <a:solidFill>
            <a:srgbClr val="FFFFFF"/>
          </a:solidFill>
          <a:ln w="6350">
            <a:solidFill>
              <a:srgbClr val="DDCCBB"/>
            </a:solidFill>
            <a:prstDash val="solid"/>
          </a:ln>
        </p:spPr>
      </p:sp>
      <p:sp>
        <p:nvSpPr>
          <p:cNvPr id="49" name="Text 46"/>
          <p:cNvSpPr/>
          <p:nvPr/>
        </p:nvSpPr>
        <p:spPr>
          <a:xfrm>
            <a:off x="320040" y="3703320"/>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Flexibility</a:t>
            </a:r>
            <a:endParaRPr lang="en-US" sz="900" dirty="0"/>
          </a:p>
        </p:txBody>
      </p:sp>
      <p:sp>
        <p:nvSpPr>
          <p:cNvPr id="50" name="Shape 47"/>
          <p:cNvSpPr/>
          <p:nvPr/>
        </p:nvSpPr>
        <p:spPr>
          <a:xfrm>
            <a:off x="1737360" y="3648456"/>
            <a:ext cx="3474720" cy="384048"/>
          </a:xfrm>
          <a:prstGeom prst="rect">
            <a:avLst/>
          </a:prstGeom>
          <a:solidFill>
            <a:srgbClr val="FFFFFF"/>
          </a:solidFill>
          <a:ln w="6350">
            <a:solidFill>
              <a:srgbClr val="DDCCBB"/>
            </a:solidFill>
            <a:prstDash val="solid"/>
          </a:ln>
        </p:spPr>
      </p:sp>
      <p:sp>
        <p:nvSpPr>
          <p:cNvPr id="51" name="Text 48"/>
          <p:cNvSpPr/>
          <p:nvPr/>
        </p:nvSpPr>
        <p:spPr>
          <a:xfrm>
            <a:off x="1783080" y="3703320"/>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High — can adapt during execution</a:t>
            </a:r>
            <a:endParaRPr lang="en-US" sz="900" dirty="0"/>
          </a:p>
        </p:txBody>
      </p:sp>
      <p:sp>
        <p:nvSpPr>
          <p:cNvPr id="52" name="Shape 49"/>
          <p:cNvSpPr/>
          <p:nvPr/>
        </p:nvSpPr>
        <p:spPr>
          <a:xfrm>
            <a:off x="5212080" y="3648456"/>
            <a:ext cx="3474720" cy="384048"/>
          </a:xfrm>
          <a:prstGeom prst="rect">
            <a:avLst/>
          </a:prstGeom>
          <a:solidFill>
            <a:srgbClr val="FFFFFF"/>
          </a:solidFill>
          <a:ln w="6350">
            <a:solidFill>
              <a:srgbClr val="DDCCBB"/>
            </a:solidFill>
            <a:prstDash val="solid"/>
          </a:ln>
        </p:spPr>
      </p:sp>
      <p:sp>
        <p:nvSpPr>
          <p:cNvPr id="53" name="Text 50"/>
          <p:cNvSpPr/>
          <p:nvPr/>
        </p:nvSpPr>
        <p:spPr>
          <a:xfrm>
            <a:off x="5257800" y="3703320"/>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Low — follows the script exactly</a:t>
            </a:r>
            <a:endParaRPr lang="en-US" sz="900" dirty="0"/>
          </a:p>
        </p:txBody>
      </p:sp>
      <p:sp>
        <p:nvSpPr>
          <p:cNvPr id="54" name="Shape 51"/>
          <p:cNvSpPr/>
          <p:nvPr/>
        </p:nvSpPr>
        <p:spPr>
          <a:xfrm>
            <a:off x="274320" y="4032504"/>
            <a:ext cx="1463040" cy="384048"/>
          </a:xfrm>
          <a:prstGeom prst="rect">
            <a:avLst/>
          </a:prstGeom>
          <a:solidFill>
            <a:srgbClr val="FFF5EE"/>
          </a:solidFill>
          <a:ln w="6350">
            <a:solidFill>
              <a:srgbClr val="DDCCBB"/>
            </a:solidFill>
            <a:prstDash val="solid"/>
          </a:ln>
        </p:spPr>
      </p:sp>
      <p:sp>
        <p:nvSpPr>
          <p:cNvPr id="55" name="Text 52"/>
          <p:cNvSpPr/>
          <p:nvPr/>
        </p:nvSpPr>
        <p:spPr>
          <a:xfrm>
            <a:off x="320040" y="4087368"/>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Best For</a:t>
            </a:r>
            <a:endParaRPr lang="en-US" sz="900" dirty="0"/>
          </a:p>
        </p:txBody>
      </p:sp>
      <p:sp>
        <p:nvSpPr>
          <p:cNvPr id="56" name="Shape 53"/>
          <p:cNvSpPr/>
          <p:nvPr/>
        </p:nvSpPr>
        <p:spPr>
          <a:xfrm>
            <a:off x="1737360" y="4032504"/>
            <a:ext cx="3474720" cy="384048"/>
          </a:xfrm>
          <a:prstGeom prst="rect">
            <a:avLst/>
          </a:prstGeom>
          <a:solidFill>
            <a:srgbClr val="FFF5EE"/>
          </a:solidFill>
          <a:ln w="6350">
            <a:solidFill>
              <a:srgbClr val="DDCCBB"/>
            </a:solidFill>
            <a:prstDash val="solid"/>
          </a:ln>
        </p:spPr>
      </p:sp>
      <p:sp>
        <p:nvSpPr>
          <p:cNvPr id="57" name="Text 54"/>
          <p:cNvSpPr/>
          <p:nvPr/>
        </p:nvSpPr>
        <p:spPr>
          <a:xfrm>
            <a:off x="1783080" y="4087368"/>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Exploratory, usability, one-off, UAT</a:t>
            </a:r>
            <a:endParaRPr lang="en-US" sz="900" dirty="0"/>
          </a:p>
        </p:txBody>
      </p:sp>
      <p:sp>
        <p:nvSpPr>
          <p:cNvPr id="58" name="Shape 55"/>
          <p:cNvSpPr/>
          <p:nvPr/>
        </p:nvSpPr>
        <p:spPr>
          <a:xfrm>
            <a:off x="5212080" y="4032504"/>
            <a:ext cx="3474720" cy="384048"/>
          </a:xfrm>
          <a:prstGeom prst="rect">
            <a:avLst/>
          </a:prstGeom>
          <a:solidFill>
            <a:srgbClr val="FFF5EE"/>
          </a:solidFill>
          <a:ln w="6350">
            <a:solidFill>
              <a:srgbClr val="DDCCBB"/>
            </a:solidFill>
            <a:prstDash val="solid"/>
          </a:ln>
        </p:spPr>
      </p:sp>
      <p:sp>
        <p:nvSpPr>
          <p:cNvPr id="59" name="Text 56"/>
          <p:cNvSpPr/>
          <p:nvPr/>
        </p:nvSpPr>
        <p:spPr>
          <a:xfrm>
            <a:off x="5257800" y="4087368"/>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Regression, CI/CD, data-driven, performance</a:t>
            </a:r>
            <a:endParaRPr lang="en-US" sz="900" dirty="0"/>
          </a:p>
        </p:txBody>
      </p:sp>
      <p:sp>
        <p:nvSpPr>
          <p:cNvPr id="60" name="Shape 57"/>
          <p:cNvSpPr/>
          <p:nvPr/>
        </p:nvSpPr>
        <p:spPr>
          <a:xfrm>
            <a:off x="274320" y="4416552"/>
            <a:ext cx="1463040" cy="384048"/>
          </a:xfrm>
          <a:prstGeom prst="rect">
            <a:avLst/>
          </a:prstGeom>
          <a:solidFill>
            <a:srgbClr val="FFFFFF"/>
          </a:solidFill>
          <a:ln w="6350">
            <a:solidFill>
              <a:srgbClr val="DDCCBB"/>
            </a:solidFill>
            <a:prstDash val="solid"/>
          </a:ln>
        </p:spPr>
      </p:sp>
      <p:sp>
        <p:nvSpPr>
          <p:cNvPr id="61" name="Text 58"/>
          <p:cNvSpPr/>
          <p:nvPr/>
        </p:nvSpPr>
        <p:spPr>
          <a:xfrm>
            <a:off x="320040" y="4471416"/>
            <a:ext cx="137160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Skill Required</a:t>
            </a:r>
            <a:endParaRPr lang="en-US" sz="900" dirty="0"/>
          </a:p>
        </p:txBody>
      </p:sp>
      <p:sp>
        <p:nvSpPr>
          <p:cNvPr id="62" name="Shape 59"/>
          <p:cNvSpPr/>
          <p:nvPr/>
        </p:nvSpPr>
        <p:spPr>
          <a:xfrm>
            <a:off x="1737360" y="4416552"/>
            <a:ext cx="3474720" cy="384048"/>
          </a:xfrm>
          <a:prstGeom prst="rect">
            <a:avLst/>
          </a:prstGeom>
          <a:solidFill>
            <a:srgbClr val="FFFFFF"/>
          </a:solidFill>
          <a:ln w="6350">
            <a:solidFill>
              <a:srgbClr val="DDCCBB"/>
            </a:solidFill>
            <a:prstDash val="solid"/>
          </a:ln>
        </p:spPr>
      </p:sp>
      <p:sp>
        <p:nvSpPr>
          <p:cNvPr id="63" name="Text 60"/>
          <p:cNvSpPr/>
          <p:nvPr/>
        </p:nvSpPr>
        <p:spPr>
          <a:xfrm>
            <a:off x="1783080" y="4471416"/>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Testing knowledge, domain expertise</a:t>
            </a:r>
            <a:endParaRPr lang="en-US" sz="900" dirty="0"/>
          </a:p>
        </p:txBody>
      </p:sp>
      <p:sp>
        <p:nvSpPr>
          <p:cNvPr id="64" name="Shape 61"/>
          <p:cNvSpPr/>
          <p:nvPr/>
        </p:nvSpPr>
        <p:spPr>
          <a:xfrm>
            <a:off x="5212080" y="4416552"/>
            <a:ext cx="3474720" cy="384048"/>
          </a:xfrm>
          <a:prstGeom prst="rect">
            <a:avLst/>
          </a:prstGeom>
          <a:solidFill>
            <a:srgbClr val="FFFFFF"/>
          </a:solidFill>
          <a:ln w="6350">
            <a:solidFill>
              <a:srgbClr val="DDCCBB"/>
            </a:solidFill>
            <a:prstDash val="solid"/>
          </a:ln>
        </p:spPr>
      </p:sp>
      <p:sp>
        <p:nvSpPr>
          <p:cNvPr id="65" name="Text 62"/>
          <p:cNvSpPr/>
          <p:nvPr/>
        </p:nvSpPr>
        <p:spPr>
          <a:xfrm>
            <a:off x="5257800" y="4471416"/>
            <a:ext cx="3383280" cy="274320"/>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Programming + testing + tooling knowledge</a:t>
            </a:r>
            <a:endParaRPr lang="en-US" sz="900" dirty="0"/>
          </a:p>
        </p:txBody>
      </p:sp>
      <p:sp>
        <p:nvSpPr>
          <p:cNvPr id="66" name="Shape 63"/>
          <p:cNvSpPr/>
          <p:nvPr/>
        </p:nvSpPr>
        <p:spPr>
          <a:xfrm>
            <a:off x="274320" y="4846320"/>
            <a:ext cx="4206240" cy="256032"/>
          </a:xfrm>
          <a:prstGeom prst="rect">
            <a:avLst/>
          </a:prstGeom>
          <a:solidFill>
            <a:srgbClr val="E8670D"/>
          </a:solidFill>
          <a:ln/>
          <a:effectLst>
            <a:outerShdw blurRad="101600" dist="38100" dir="8100000" algn="bl" rotWithShape="0">
              <a:srgbClr val="000000">
                <a:alpha val="18000"/>
              </a:srgbClr>
            </a:outerShdw>
          </a:effectLst>
        </p:spPr>
      </p:sp>
      <p:sp>
        <p:nvSpPr>
          <p:cNvPr id="67" name="Text 64"/>
          <p:cNvSpPr/>
          <p:nvPr/>
        </p:nvSpPr>
        <p:spPr>
          <a:xfrm>
            <a:off x="384048" y="4901184"/>
            <a:ext cx="3986784" cy="146304"/>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  Use Manual When: New/unstable features • Exploratory • UX review • Ad-hoc • UAT</a:t>
            </a:r>
            <a:endParaRPr lang="en-US" sz="1000" dirty="0"/>
          </a:p>
        </p:txBody>
      </p:sp>
      <p:sp>
        <p:nvSpPr>
          <p:cNvPr id="68" name="Shape 65"/>
          <p:cNvSpPr/>
          <p:nvPr/>
        </p:nvSpPr>
        <p:spPr>
          <a:xfrm>
            <a:off x="4663440" y="4846320"/>
            <a:ext cx="4206240" cy="256032"/>
          </a:xfrm>
          <a:prstGeom prst="rect">
            <a:avLst/>
          </a:prstGeom>
          <a:solidFill>
            <a:srgbClr val="1E1E1E"/>
          </a:solidFill>
          <a:ln/>
          <a:effectLst>
            <a:outerShdw blurRad="101600" dist="38100" dir="8100000" algn="bl" rotWithShape="0">
              <a:srgbClr val="000000">
                <a:alpha val="18000"/>
              </a:srgbClr>
            </a:outerShdw>
          </a:effectLst>
        </p:spPr>
      </p:sp>
      <p:sp>
        <p:nvSpPr>
          <p:cNvPr id="69" name="Text 66"/>
          <p:cNvSpPr/>
          <p:nvPr/>
        </p:nvSpPr>
        <p:spPr>
          <a:xfrm>
            <a:off x="4773168" y="4901184"/>
            <a:ext cx="3986784" cy="146304"/>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  Use Automation When: Regression • CI/CD • High-frequency • Performance • Cross-browser</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Manual vs Automated — When To Use Each</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Real-world decision framework with practical examples</a:t>
            </a:r>
            <a:endParaRPr lang="en-US" sz="1100" dirty="0"/>
          </a:p>
        </p:txBody>
      </p:sp>
      <p:sp>
        <p:nvSpPr>
          <p:cNvPr id="6" name="Shape 3"/>
          <p:cNvSpPr/>
          <p:nvPr/>
        </p:nvSpPr>
        <p:spPr>
          <a:xfrm>
            <a:off x="274320" y="960120"/>
            <a:ext cx="4206240" cy="329184"/>
          </a:xfrm>
          <a:prstGeom prst="rect">
            <a:avLst/>
          </a:prstGeom>
          <a:solidFill>
            <a:srgbClr val="E8670D"/>
          </a:solidFill>
          <a:ln/>
        </p:spPr>
      </p:sp>
      <p:sp>
        <p:nvSpPr>
          <p:cNvPr id="7" name="Text 4"/>
          <p:cNvSpPr/>
          <p:nvPr/>
        </p:nvSpPr>
        <p:spPr>
          <a:xfrm>
            <a:off x="274320" y="960120"/>
            <a:ext cx="420624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AUTOMATE THIS</a:t>
            </a:r>
            <a:endParaRPr lang="en-US" sz="1200" dirty="0"/>
          </a:p>
        </p:txBody>
      </p:sp>
      <p:sp>
        <p:nvSpPr>
          <p:cNvPr id="8" name="Shape 5"/>
          <p:cNvSpPr/>
          <p:nvPr/>
        </p:nvSpPr>
        <p:spPr>
          <a:xfrm>
            <a:off x="274320" y="1335024"/>
            <a:ext cx="4206240" cy="621792"/>
          </a:xfrm>
          <a:prstGeom prst="rect">
            <a:avLst/>
          </a:prstGeom>
          <a:solidFill>
            <a:srgbClr val="FFFFFF"/>
          </a:solidFill>
          <a:ln/>
          <a:effectLst>
            <a:outerShdw blurRad="101600" dist="38100" dir="8100000" algn="bl" rotWithShape="0">
              <a:srgbClr val="000000">
                <a:alpha val="18000"/>
              </a:srgbClr>
            </a:outerShdw>
          </a:effectLst>
        </p:spPr>
      </p:sp>
      <p:sp>
        <p:nvSpPr>
          <p:cNvPr id="9" name="Shape 6"/>
          <p:cNvSpPr/>
          <p:nvPr/>
        </p:nvSpPr>
        <p:spPr>
          <a:xfrm>
            <a:off x="274320" y="1335024"/>
            <a:ext cx="73152" cy="621792"/>
          </a:xfrm>
          <a:prstGeom prst="rect">
            <a:avLst/>
          </a:prstGeom>
          <a:solidFill>
            <a:srgbClr val="2E7D32"/>
          </a:solidFill>
          <a:ln/>
        </p:spPr>
      </p:sp>
      <p:sp>
        <p:nvSpPr>
          <p:cNvPr id="10" name="Text 7"/>
          <p:cNvSpPr/>
          <p:nvPr/>
        </p:nvSpPr>
        <p:spPr>
          <a:xfrm>
            <a:off x="420624" y="1389888"/>
            <a:ext cx="3986784" cy="237744"/>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Regression suite after every sprint</a:t>
            </a:r>
            <a:endParaRPr lang="en-US" sz="1000" dirty="0"/>
          </a:p>
        </p:txBody>
      </p:sp>
      <p:sp>
        <p:nvSpPr>
          <p:cNvPr id="11" name="Text 8"/>
          <p:cNvSpPr/>
          <p:nvPr/>
        </p:nvSpPr>
        <p:spPr>
          <a:xfrm>
            <a:off x="420624" y="1645920"/>
            <a:ext cx="3986784" cy="237744"/>
          </a:xfrm>
          <a:prstGeom prst="rect">
            <a:avLst/>
          </a:prstGeom>
          <a:noFill/>
          <a:ln/>
        </p:spPr>
        <p:txBody>
          <a:bodyPr wrap="square" lIns="0" tIns="0" rIns="0" bIns="0" rtlCol="0" anchor="ctr"/>
          <a:lstStyle/>
          <a:p>
            <a:pPr marL="0" indent="0">
              <a:buNone/>
            </a:pPr>
            <a:r>
              <a:rPr lang="en-US" sz="950" i="1" dirty="0">
                <a:solidFill>
                  <a:srgbClr val="777777"/>
                </a:solidFill>
                <a:latin typeface="Calibri" pitchFamily="34" charset="0"/>
                <a:ea typeface="Calibri" pitchFamily="34" charset="-122"/>
                <a:cs typeface="Calibri" pitchFamily="34" charset="-120"/>
              </a:rPr>
              <a:t>Why: Runs every 2 weeks — automation saves 40+ hrs/sprint</a:t>
            </a:r>
            <a:endParaRPr lang="en-US" sz="950" dirty="0"/>
          </a:p>
        </p:txBody>
      </p:sp>
      <p:sp>
        <p:nvSpPr>
          <p:cNvPr id="12" name="Shape 9"/>
          <p:cNvSpPr/>
          <p:nvPr/>
        </p:nvSpPr>
        <p:spPr>
          <a:xfrm>
            <a:off x="274320" y="2029968"/>
            <a:ext cx="4206240" cy="621792"/>
          </a:xfrm>
          <a:prstGeom prst="rect">
            <a:avLst/>
          </a:prstGeom>
          <a:solidFill>
            <a:srgbClr val="FFFFFF"/>
          </a:solidFill>
          <a:ln/>
          <a:effectLst>
            <a:outerShdw blurRad="101600" dist="38100" dir="8100000" algn="bl" rotWithShape="0">
              <a:srgbClr val="000000">
                <a:alpha val="18000"/>
              </a:srgbClr>
            </a:outerShdw>
          </a:effectLst>
        </p:spPr>
      </p:sp>
      <p:sp>
        <p:nvSpPr>
          <p:cNvPr id="13" name="Shape 10"/>
          <p:cNvSpPr/>
          <p:nvPr/>
        </p:nvSpPr>
        <p:spPr>
          <a:xfrm>
            <a:off x="274320" y="2029968"/>
            <a:ext cx="73152" cy="621792"/>
          </a:xfrm>
          <a:prstGeom prst="rect">
            <a:avLst/>
          </a:prstGeom>
          <a:solidFill>
            <a:srgbClr val="2E7D32"/>
          </a:solidFill>
          <a:ln/>
        </p:spPr>
      </p:sp>
      <p:sp>
        <p:nvSpPr>
          <p:cNvPr id="14" name="Text 11"/>
          <p:cNvSpPr/>
          <p:nvPr/>
        </p:nvSpPr>
        <p:spPr>
          <a:xfrm>
            <a:off x="420624" y="2084832"/>
            <a:ext cx="3986784" cy="237744"/>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Login flow with 50 different user types</a:t>
            </a:r>
            <a:endParaRPr lang="en-US" sz="1000" dirty="0"/>
          </a:p>
        </p:txBody>
      </p:sp>
      <p:sp>
        <p:nvSpPr>
          <p:cNvPr id="15" name="Text 12"/>
          <p:cNvSpPr/>
          <p:nvPr/>
        </p:nvSpPr>
        <p:spPr>
          <a:xfrm>
            <a:off x="420624" y="2340864"/>
            <a:ext cx="3986784" cy="237744"/>
          </a:xfrm>
          <a:prstGeom prst="rect">
            <a:avLst/>
          </a:prstGeom>
          <a:noFill/>
          <a:ln/>
        </p:spPr>
        <p:txBody>
          <a:bodyPr wrap="square" lIns="0" tIns="0" rIns="0" bIns="0" rtlCol="0" anchor="ctr"/>
          <a:lstStyle/>
          <a:p>
            <a:pPr marL="0" indent="0">
              <a:buNone/>
            </a:pPr>
            <a:r>
              <a:rPr lang="en-US" sz="950" i="1" dirty="0">
                <a:solidFill>
                  <a:srgbClr val="777777"/>
                </a:solidFill>
                <a:latin typeface="Calibri" pitchFamily="34" charset="0"/>
                <a:ea typeface="Calibri" pitchFamily="34" charset="-122"/>
                <a:cs typeface="Calibri" pitchFamily="34" charset="-120"/>
              </a:rPr>
              <a:t>Why: Data-driven automation — 50 tests in under 2 minutes</a:t>
            </a:r>
            <a:endParaRPr lang="en-US" sz="950" dirty="0"/>
          </a:p>
        </p:txBody>
      </p:sp>
      <p:sp>
        <p:nvSpPr>
          <p:cNvPr id="16" name="Shape 13"/>
          <p:cNvSpPr/>
          <p:nvPr/>
        </p:nvSpPr>
        <p:spPr>
          <a:xfrm>
            <a:off x="274320" y="2724912"/>
            <a:ext cx="4206240" cy="621792"/>
          </a:xfrm>
          <a:prstGeom prst="rect">
            <a:avLst/>
          </a:prstGeom>
          <a:solidFill>
            <a:srgbClr val="FFFFFF"/>
          </a:solidFill>
          <a:ln/>
          <a:effectLst>
            <a:outerShdw blurRad="101600" dist="38100" dir="8100000" algn="bl" rotWithShape="0">
              <a:srgbClr val="000000">
                <a:alpha val="18000"/>
              </a:srgbClr>
            </a:outerShdw>
          </a:effectLst>
        </p:spPr>
      </p:sp>
      <p:sp>
        <p:nvSpPr>
          <p:cNvPr id="17" name="Shape 14"/>
          <p:cNvSpPr/>
          <p:nvPr/>
        </p:nvSpPr>
        <p:spPr>
          <a:xfrm>
            <a:off x="274320" y="2724912"/>
            <a:ext cx="73152" cy="621792"/>
          </a:xfrm>
          <a:prstGeom prst="rect">
            <a:avLst/>
          </a:prstGeom>
          <a:solidFill>
            <a:srgbClr val="2E7D32"/>
          </a:solidFill>
          <a:ln/>
        </p:spPr>
      </p:sp>
      <p:sp>
        <p:nvSpPr>
          <p:cNvPr id="18" name="Text 15"/>
          <p:cNvSpPr/>
          <p:nvPr/>
        </p:nvSpPr>
        <p:spPr>
          <a:xfrm>
            <a:off x="420624" y="2779776"/>
            <a:ext cx="3986784" cy="237744"/>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Cross-browser checkout on 5 browsers</a:t>
            </a:r>
            <a:endParaRPr lang="en-US" sz="1000" dirty="0"/>
          </a:p>
        </p:txBody>
      </p:sp>
      <p:sp>
        <p:nvSpPr>
          <p:cNvPr id="19" name="Text 16"/>
          <p:cNvSpPr/>
          <p:nvPr/>
        </p:nvSpPr>
        <p:spPr>
          <a:xfrm>
            <a:off x="420624" y="3035808"/>
            <a:ext cx="3986784" cy="237744"/>
          </a:xfrm>
          <a:prstGeom prst="rect">
            <a:avLst/>
          </a:prstGeom>
          <a:noFill/>
          <a:ln/>
        </p:spPr>
        <p:txBody>
          <a:bodyPr wrap="square" lIns="0" tIns="0" rIns="0" bIns="0" rtlCol="0" anchor="ctr"/>
          <a:lstStyle/>
          <a:p>
            <a:pPr marL="0" indent="0">
              <a:buNone/>
            </a:pPr>
            <a:r>
              <a:rPr lang="en-US" sz="950" i="1" dirty="0">
                <a:solidFill>
                  <a:srgbClr val="777777"/>
                </a:solidFill>
                <a:latin typeface="Calibri" pitchFamily="34" charset="0"/>
                <a:ea typeface="Calibri" pitchFamily="34" charset="-122"/>
                <a:cs typeface="Calibri" pitchFamily="34" charset="-120"/>
              </a:rPr>
              <a:t>Why: Playwright runs all 5 browsers in parallel, simultaneously</a:t>
            </a:r>
            <a:endParaRPr lang="en-US" sz="950" dirty="0"/>
          </a:p>
        </p:txBody>
      </p:sp>
      <p:sp>
        <p:nvSpPr>
          <p:cNvPr id="20" name="Shape 17"/>
          <p:cNvSpPr/>
          <p:nvPr/>
        </p:nvSpPr>
        <p:spPr>
          <a:xfrm>
            <a:off x="274320" y="3419856"/>
            <a:ext cx="4206240" cy="621792"/>
          </a:xfrm>
          <a:prstGeom prst="rect">
            <a:avLst/>
          </a:prstGeom>
          <a:solidFill>
            <a:srgbClr val="FFFFFF"/>
          </a:solidFill>
          <a:ln/>
          <a:effectLst>
            <a:outerShdw blurRad="101600" dist="38100" dir="8100000" algn="bl" rotWithShape="0">
              <a:srgbClr val="000000">
                <a:alpha val="18000"/>
              </a:srgbClr>
            </a:outerShdw>
          </a:effectLst>
        </p:spPr>
      </p:sp>
      <p:sp>
        <p:nvSpPr>
          <p:cNvPr id="21" name="Shape 18"/>
          <p:cNvSpPr/>
          <p:nvPr/>
        </p:nvSpPr>
        <p:spPr>
          <a:xfrm>
            <a:off x="274320" y="3419856"/>
            <a:ext cx="73152" cy="621792"/>
          </a:xfrm>
          <a:prstGeom prst="rect">
            <a:avLst/>
          </a:prstGeom>
          <a:solidFill>
            <a:srgbClr val="2E7D32"/>
          </a:solidFill>
          <a:ln/>
        </p:spPr>
      </p:sp>
      <p:sp>
        <p:nvSpPr>
          <p:cNvPr id="22" name="Text 19"/>
          <p:cNvSpPr/>
          <p:nvPr/>
        </p:nvSpPr>
        <p:spPr>
          <a:xfrm>
            <a:off x="420624" y="3474720"/>
            <a:ext cx="3986784" cy="237744"/>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API response validation for 200 endpoints</a:t>
            </a:r>
            <a:endParaRPr lang="en-US" sz="1000" dirty="0"/>
          </a:p>
        </p:txBody>
      </p:sp>
      <p:sp>
        <p:nvSpPr>
          <p:cNvPr id="23" name="Text 20"/>
          <p:cNvSpPr/>
          <p:nvPr/>
        </p:nvSpPr>
        <p:spPr>
          <a:xfrm>
            <a:off x="420624" y="3730752"/>
            <a:ext cx="3986784" cy="237744"/>
          </a:xfrm>
          <a:prstGeom prst="rect">
            <a:avLst/>
          </a:prstGeom>
          <a:noFill/>
          <a:ln/>
        </p:spPr>
        <p:txBody>
          <a:bodyPr wrap="square" lIns="0" tIns="0" rIns="0" bIns="0" rtlCol="0" anchor="ctr"/>
          <a:lstStyle/>
          <a:p>
            <a:pPr marL="0" indent="0">
              <a:buNone/>
            </a:pPr>
            <a:r>
              <a:rPr lang="en-US" sz="950" i="1" dirty="0">
                <a:solidFill>
                  <a:srgbClr val="777777"/>
                </a:solidFill>
                <a:latin typeface="Calibri" pitchFamily="34" charset="0"/>
                <a:ea typeface="Calibri" pitchFamily="34" charset="-122"/>
                <a:cs typeface="Calibri" pitchFamily="34" charset="-120"/>
              </a:rPr>
              <a:t>Why: RestAssured automates 200 checks in under 5 minutes</a:t>
            </a:r>
            <a:endParaRPr lang="en-US" sz="950" dirty="0"/>
          </a:p>
        </p:txBody>
      </p:sp>
      <p:sp>
        <p:nvSpPr>
          <p:cNvPr id="24" name="Shape 21"/>
          <p:cNvSpPr/>
          <p:nvPr/>
        </p:nvSpPr>
        <p:spPr>
          <a:xfrm>
            <a:off x="274320" y="4114800"/>
            <a:ext cx="4206240" cy="621792"/>
          </a:xfrm>
          <a:prstGeom prst="rect">
            <a:avLst/>
          </a:prstGeom>
          <a:solidFill>
            <a:srgbClr val="FFFFFF"/>
          </a:solidFill>
          <a:ln/>
          <a:effectLst>
            <a:outerShdw blurRad="101600" dist="38100" dir="8100000" algn="bl" rotWithShape="0">
              <a:srgbClr val="000000">
                <a:alpha val="18000"/>
              </a:srgbClr>
            </a:outerShdw>
          </a:effectLst>
        </p:spPr>
      </p:sp>
      <p:sp>
        <p:nvSpPr>
          <p:cNvPr id="25" name="Shape 22"/>
          <p:cNvSpPr/>
          <p:nvPr/>
        </p:nvSpPr>
        <p:spPr>
          <a:xfrm>
            <a:off x="274320" y="4114800"/>
            <a:ext cx="73152" cy="621792"/>
          </a:xfrm>
          <a:prstGeom prst="rect">
            <a:avLst/>
          </a:prstGeom>
          <a:solidFill>
            <a:srgbClr val="2E7D32"/>
          </a:solidFill>
          <a:ln/>
        </p:spPr>
      </p:sp>
      <p:sp>
        <p:nvSpPr>
          <p:cNvPr id="26" name="Text 23"/>
          <p:cNvSpPr/>
          <p:nvPr/>
        </p:nvSpPr>
        <p:spPr>
          <a:xfrm>
            <a:off x="420624" y="4169664"/>
            <a:ext cx="3986784" cy="237744"/>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Performance: 10,000 concurrent users</a:t>
            </a:r>
            <a:endParaRPr lang="en-US" sz="1000" dirty="0"/>
          </a:p>
        </p:txBody>
      </p:sp>
      <p:sp>
        <p:nvSpPr>
          <p:cNvPr id="27" name="Text 24"/>
          <p:cNvSpPr/>
          <p:nvPr/>
        </p:nvSpPr>
        <p:spPr>
          <a:xfrm>
            <a:off x="420624" y="4425696"/>
            <a:ext cx="3986784" cy="237744"/>
          </a:xfrm>
          <a:prstGeom prst="rect">
            <a:avLst/>
          </a:prstGeom>
          <a:noFill/>
          <a:ln/>
        </p:spPr>
        <p:txBody>
          <a:bodyPr wrap="square" lIns="0" tIns="0" rIns="0" bIns="0" rtlCol="0" anchor="ctr"/>
          <a:lstStyle/>
          <a:p>
            <a:pPr marL="0" indent="0">
              <a:buNone/>
            </a:pPr>
            <a:r>
              <a:rPr lang="en-US" sz="950" i="1" dirty="0">
                <a:solidFill>
                  <a:srgbClr val="777777"/>
                </a:solidFill>
                <a:latin typeface="Calibri" pitchFamily="34" charset="0"/>
                <a:ea typeface="Calibri" pitchFamily="34" charset="-122"/>
                <a:cs typeface="Calibri" pitchFamily="34" charset="-120"/>
              </a:rPr>
              <a:t>Why: Cannot simulate manually — JMeter/k6 required</a:t>
            </a:r>
            <a:endParaRPr lang="en-US" sz="950" dirty="0"/>
          </a:p>
        </p:txBody>
      </p:sp>
      <p:sp>
        <p:nvSpPr>
          <p:cNvPr id="28" name="Shape 25"/>
          <p:cNvSpPr/>
          <p:nvPr/>
        </p:nvSpPr>
        <p:spPr>
          <a:xfrm>
            <a:off x="4663440" y="960120"/>
            <a:ext cx="4206240" cy="329184"/>
          </a:xfrm>
          <a:prstGeom prst="rect">
            <a:avLst/>
          </a:prstGeom>
          <a:solidFill>
            <a:srgbClr val="1E1E1E"/>
          </a:solidFill>
          <a:ln/>
        </p:spPr>
      </p:sp>
      <p:sp>
        <p:nvSpPr>
          <p:cNvPr id="29" name="Text 26"/>
          <p:cNvSpPr/>
          <p:nvPr/>
        </p:nvSpPr>
        <p:spPr>
          <a:xfrm>
            <a:off x="4663440" y="960120"/>
            <a:ext cx="420624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KEEP MANUAL</a:t>
            </a:r>
            <a:endParaRPr lang="en-US" sz="1200" dirty="0"/>
          </a:p>
        </p:txBody>
      </p:sp>
      <p:sp>
        <p:nvSpPr>
          <p:cNvPr id="30" name="Shape 27"/>
          <p:cNvSpPr/>
          <p:nvPr/>
        </p:nvSpPr>
        <p:spPr>
          <a:xfrm>
            <a:off x="4663440" y="1335024"/>
            <a:ext cx="4206240" cy="621792"/>
          </a:xfrm>
          <a:prstGeom prst="rect">
            <a:avLst/>
          </a:prstGeom>
          <a:solidFill>
            <a:srgbClr val="FFFFFF"/>
          </a:solidFill>
          <a:ln/>
          <a:effectLst>
            <a:outerShdw blurRad="101600" dist="38100" dir="8100000" algn="bl" rotWithShape="0">
              <a:srgbClr val="000000">
                <a:alpha val="18000"/>
              </a:srgbClr>
            </a:outerShdw>
          </a:effectLst>
        </p:spPr>
      </p:sp>
      <p:sp>
        <p:nvSpPr>
          <p:cNvPr id="31" name="Shape 28"/>
          <p:cNvSpPr/>
          <p:nvPr/>
        </p:nvSpPr>
        <p:spPr>
          <a:xfrm>
            <a:off x="4663440" y="1335024"/>
            <a:ext cx="73152" cy="621792"/>
          </a:xfrm>
          <a:prstGeom prst="rect">
            <a:avLst/>
          </a:prstGeom>
          <a:solidFill>
            <a:srgbClr val="C62828"/>
          </a:solidFill>
          <a:ln/>
        </p:spPr>
      </p:sp>
      <p:sp>
        <p:nvSpPr>
          <p:cNvPr id="32" name="Text 29"/>
          <p:cNvSpPr/>
          <p:nvPr/>
        </p:nvSpPr>
        <p:spPr>
          <a:xfrm>
            <a:off x="4809744" y="1389888"/>
            <a:ext cx="3986784" cy="237744"/>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Testing a brand-new, unstable feature</a:t>
            </a:r>
            <a:endParaRPr lang="en-US" sz="1000" dirty="0"/>
          </a:p>
        </p:txBody>
      </p:sp>
      <p:sp>
        <p:nvSpPr>
          <p:cNvPr id="33" name="Text 30"/>
          <p:cNvSpPr/>
          <p:nvPr/>
        </p:nvSpPr>
        <p:spPr>
          <a:xfrm>
            <a:off x="4809744" y="1645920"/>
            <a:ext cx="3986784" cy="237744"/>
          </a:xfrm>
          <a:prstGeom prst="rect">
            <a:avLst/>
          </a:prstGeom>
          <a:noFill/>
          <a:ln/>
        </p:spPr>
        <p:txBody>
          <a:bodyPr wrap="square" lIns="0" tIns="0" rIns="0" bIns="0" rtlCol="0" anchor="ctr"/>
          <a:lstStyle/>
          <a:p>
            <a:pPr marL="0" indent="0">
              <a:buNone/>
            </a:pPr>
            <a:r>
              <a:rPr lang="en-US" sz="950" i="1" dirty="0">
                <a:solidFill>
                  <a:srgbClr val="777777"/>
                </a:solidFill>
                <a:latin typeface="Calibri" pitchFamily="34" charset="0"/>
                <a:ea typeface="Calibri" pitchFamily="34" charset="-122"/>
                <a:cs typeface="Calibri" pitchFamily="34" charset="-120"/>
              </a:rPr>
              <a:t>Why: UI/flow changes daily — automation scripts break constantly</a:t>
            </a:r>
            <a:endParaRPr lang="en-US" sz="950" dirty="0"/>
          </a:p>
        </p:txBody>
      </p:sp>
      <p:sp>
        <p:nvSpPr>
          <p:cNvPr id="34" name="Shape 31"/>
          <p:cNvSpPr/>
          <p:nvPr/>
        </p:nvSpPr>
        <p:spPr>
          <a:xfrm>
            <a:off x="4663440" y="2029968"/>
            <a:ext cx="4206240" cy="621792"/>
          </a:xfrm>
          <a:prstGeom prst="rect">
            <a:avLst/>
          </a:prstGeom>
          <a:solidFill>
            <a:srgbClr val="FFFFFF"/>
          </a:solidFill>
          <a:ln/>
          <a:effectLst>
            <a:outerShdw blurRad="101600" dist="38100" dir="8100000" algn="bl" rotWithShape="0">
              <a:srgbClr val="000000">
                <a:alpha val="18000"/>
              </a:srgbClr>
            </a:outerShdw>
          </a:effectLst>
        </p:spPr>
      </p:sp>
      <p:sp>
        <p:nvSpPr>
          <p:cNvPr id="35" name="Shape 32"/>
          <p:cNvSpPr/>
          <p:nvPr/>
        </p:nvSpPr>
        <p:spPr>
          <a:xfrm>
            <a:off x="4663440" y="2029968"/>
            <a:ext cx="73152" cy="621792"/>
          </a:xfrm>
          <a:prstGeom prst="rect">
            <a:avLst/>
          </a:prstGeom>
          <a:solidFill>
            <a:srgbClr val="C62828"/>
          </a:solidFill>
          <a:ln/>
        </p:spPr>
      </p:sp>
      <p:sp>
        <p:nvSpPr>
          <p:cNvPr id="36" name="Text 33"/>
          <p:cNvSpPr/>
          <p:nvPr/>
        </p:nvSpPr>
        <p:spPr>
          <a:xfrm>
            <a:off x="4809744" y="2084832"/>
            <a:ext cx="3986784" cy="237744"/>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Usability review of a redesigned checkout</a:t>
            </a:r>
            <a:endParaRPr lang="en-US" sz="1000" dirty="0"/>
          </a:p>
        </p:txBody>
      </p:sp>
      <p:sp>
        <p:nvSpPr>
          <p:cNvPr id="37" name="Text 34"/>
          <p:cNvSpPr/>
          <p:nvPr/>
        </p:nvSpPr>
        <p:spPr>
          <a:xfrm>
            <a:off x="4809744" y="2340864"/>
            <a:ext cx="3986784" cy="237744"/>
          </a:xfrm>
          <a:prstGeom prst="rect">
            <a:avLst/>
          </a:prstGeom>
          <a:noFill/>
          <a:ln/>
        </p:spPr>
        <p:txBody>
          <a:bodyPr wrap="square" lIns="0" tIns="0" rIns="0" bIns="0" rtlCol="0" anchor="ctr"/>
          <a:lstStyle/>
          <a:p>
            <a:pPr marL="0" indent="0">
              <a:buNone/>
            </a:pPr>
            <a:r>
              <a:rPr lang="en-US" sz="950" i="1" dirty="0">
                <a:solidFill>
                  <a:srgbClr val="777777"/>
                </a:solidFill>
                <a:latin typeface="Calibri" pitchFamily="34" charset="0"/>
                <a:ea typeface="Calibri" pitchFamily="34" charset="-122"/>
                <a:cs typeface="Calibri" pitchFamily="34" charset="-120"/>
              </a:rPr>
              <a:t>Why: Requires human judgement on experience quality</a:t>
            </a:r>
            <a:endParaRPr lang="en-US" sz="950" dirty="0"/>
          </a:p>
        </p:txBody>
      </p:sp>
      <p:sp>
        <p:nvSpPr>
          <p:cNvPr id="38" name="Shape 35"/>
          <p:cNvSpPr/>
          <p:nvPr/>
        </p:nvSpPr>
        <p:spPr>
          <a:xfrm>
            <a:off x="4663440" y="2724912"/>
            <a:ext cx="4206240" cy="621792"/>
          </a:xfrm>
          <a:prstGeom prst="rect">
            <a:avLst/>
          </a:prstGeom>
          <a:solidFill>
            <a:srgbClr val="FFFFFF"/>
          </a:solidFill>
          <a:ln/>
          <a:effectLst>
            <a:outerShdw blurRad="101600" dist="38100" dir="8100000" algn="bl" rotWithShape="0">
              <a:srgbClr val="000000">
                <a:alpha val="18000"/>
              </a:srgbClr>
            </a:outerShdw>
          </a:effectLst>
        </p:spPr>
      </p:sp>
      <p:sp>
        <p:nvSpPr>
          <p:cNvPr id="39" name="Shape 36"/>
          <p:cNvSpPr/>
          <p:nvPr/>
        </p:nvSpPr>
        <p:spPr>
          <a:xfrm>
            <a:off x="4663440" y="2724912"/>
            <a:ext cx="73152" cy="621792"/>
          </a:xfrm>
          <a:prstGeom prst="rect">
            <a:avLst/>
          </a:prstGeom>
          <a:solidFill>
            <a:srgbClr val="C62828"/>
          </a:solidFill>
          <a:ln/>
        </p:spPr>
      </p:sp>
      <p:sp>
        <p:nvSpPr>
          <p:cNvPr id="40" name="Text 37"/>
          <p:cNvSpPr/>
          <p:nvPr/>
        </p:nvSpPr>
        <p:spPr>
          <a:xfrm>
            <a:off x="4809744" y="2779776"/>
            <a:ext cx="3986784" cy="237744"/>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One-off data migration validation</a:t>
            </a:r>
            <a:endParaRPr lang="en-US" sz="1000" dirty="0"/>
          </a:p>
        </p:txBody>
      </p:sp>
      <p:sp>
        <p:nvSpPr>
          <p:cNvPr id="41" name="Text 38"/>
          <p:cNvSpPr/>
          <p:nvPr/>
        </p:nvSpPr>
        <p:spPr>
          <a:xfrm>
            <a:off x="4809744" y="3035808"/>
            <a:ext cx="3986784" cy="237744"/>
          </a:xfrm>
          <a:prstGeom prst="rect">
            <a:avLst/>
          </a:prstGeom>
          <a:noFill/>
          <a:ln/>
        </p:spPr>
        <p:txBody>
          <a:bodyPr wrap="square" lIns="0" tIns="0" rIns="0" bIns="0" rtlCol="0" anchor="ctr"/>
          <a:lstStyle/>
          <a:p>
            <a:pPr marL="0" indent="0">
              <a:buNone/>
            </a:pPr>
            <a:r>
              <a:rPr lang="en-US" sz="950" i="1" dirty="0">
                <a:solidFill>
                  <a:srgbClr val="777777"/>
                </a:solidFill>
                <a:latin typeface="Calibri" pitchFamily="34" charset="0"/>
                <a:ea typeface="Calibri" pitchFamily="34" charset="-122"/>
                <a:cs typeface="Calibri" pitchFamily="34" charset="-120"/>
              </a:rPr>
              <a:t>Why: Runs once — automation investment not justified</a:t>
            </a:r>
            <a:endParaRPr lang="en-US" sz="950" dirty="0"/>
          </a:p>
        </p:txBody>
      </p:sp>
      <p:sp>
        <p:nvSpPr>
          <p:cNvPr id="42" name="Shape 39"/>
          <p:cNvSpPr/>
          <p:nvPr/>
        </p:nvSpPr>
        <p:spPr>
          <a:xfrm>
            <a:off x="4663440" y="3419856"/>
            <a:ext cx="4206240" cy="621792"/>
          </a:xfrm>
          <a:prstGeom prst="rect">
            <a:avLst/>
          </a:prstGeom>
          <a:solidFill>
            <a:srgbClr val="FFFFFF"/>
          </a:solidFill>
          <a:ln/>
          <a:effectLst>
            <a:outerShdw blurRad="101600" dist="38100" dir="8100000" algn="bl" rotWithShape="0">
              <a:srgbClr val="000000">
                <a:alpha val="18000"/>
              </a:srgbClr>
            </a:outerShdw>
          </a:effectLst>
        </p:spPr>
      </p:sp>
      <p:sp>
        <p:nvSpPr>
          <p:cNvPr id="43" name="Shape 40"/>
          <p:cNvSpPr/>
          <p:nvPr/>
        </p:nvSpPr>
        <p:spPr>
          <a:xfrm>
            <a:off x="4663440" y="3419856"/>
            <a:ext cx="73152" cy="621792"/>
          </a:xfrm>
          <a:prstGeom prst="rect">
            <a:avLst/>
          </a:prstGeom>
          <a:solidFill>
            <a:srgbClr val="C62828"/>
          </a:solidFill>
          <a:ln/>
        </p:spPr>
      </p:sp>
      <p:sp>
        <p:nvSpPr>
          <p:cNvPr id="44" name="Text 41"/>
          <p:cNvSpPr/>
          <p:nvPr/>
        </p:nvSpPr>
        <p:spPr>
          <a:xfrm>
            <a:off x="4809744" y="3474720"/>
            <a:ext cx="3986784" cy="237744"/>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UAT with business users</a:t>
            </a:r>
            <a:endParaRPr lang="en-US" sz="1000" dirty="0"/>
          </a:p>
        </p:txBody>
      </p:sp>
      <p:sp>
        <p:nvSpPr>
          <p:cNvPr id="45" name="Text 42"/>
          <p:cNvSpPr/>
          <p:nvPr/>
        </p:nvSpPr>
        <p:spPr>
          <a:xfrm>
            <a:off x="4809744" y="3730752"/>
            <a:ext cx="3986784" cy="237744"/>
          </a:xfrm>
          <a:prstGeom prst="rect">
            <a:avLst/>
          </a:prstGeom>
          <a:noFill/>
          <a:ln/>
        </p:spPr>
        <p:txBody>
          <a:bodyPr wrap="square" lIns="0" tIns="0" rIns="0" bIns="0" rtlCol="0" anchor="ctr"/>
          <a:lstStyle/>
          <a:p>
            <a:pPr marL="0" indent="0">
              <a:buNone/>
            </a:pPr>
            <a:r>
              <a:rPr lang="en-US" sz="950" i="1" dirty="0">
                <a:solidFill>
                  <a:srgbClr val="777777"/>
                </a:solidFill>
                <a:latin typeface="Calibri" pitchFamily="34" charset="0"/>
                <a:ea typeface="Calibri" pitchFamily="34" charset="-122"/>
                <a:cs typeface="Calibri" pitchFamily="34" charset="-120"/>
              </a:rPr>
              <a:t>Why: Business users execute manually — no scripting required</a:t>
            </a:r>
            <a:endParaRPr lang="en-US" sz="950" dirty="0"/>
          </a:p>
        </p:txBody>
      </p:sp>
      <p:sp>
        <p:nvSpPr>
          <p:cNvPr id="46" name="Shape 43"/>
          <p:cNvSpPr/>
          <p:nvPr/>
        </p:nvSpPr>
        <p:spPr>
          <a:xfrm>
            <a:off x="4663440" y="4114800"/>
            <a:ext cx="4206240" cy="621792"/>
          </a:xfrm>
          <a:prstGeom prst="rect">
            <a:avLst/>
          </a:prstGeom>
          <a:solidFill>
            <a:srgbClr val="FFFFFF"/>
          </a:solidFill>
          <a:ln/>
          <a:effectLst>
            <a:outerShdw blurRad="101600" dist="38100" dir="8100000" algn="bl" rotWithShape="0">
              <a:srgbClr val="000000">
                <a:alpha val="18000"/>
              </a:srgbClr>
            </a:outerShdw>
          </a:effectLst>
        </p:spPr>
      </p:sp>
      <p:sp>
        <p:nvSpPr>
          <p:cNvPr id="47" name="Shape 44"/>
          <p:cNvSpPr/>
          <p:nvPr/>
        </p:nvSpPr>
        <p:spPr>
          <a:xfrm>
            <a:off x="4663440" y="4114800"/>
            <a:ext cx="73152" cy="621792"/>
          </a:xfrm>
          <a:prstGeom prst="rect">
            <a:avLst/>
          </a:prstGeom>
          <a:solidFill>
            <a:srgbClr val="C62828"/>
          </a:solidFill>
          <a:ln/>
        </p:spPr>
      </p:sp>
      <p:sp>
        <p:nvSpPr>
          <p:cNvPr id="48" name="Text 45"/>
          <p:cNvSpPr/>
          <p:nvPr/>
        </p:nvSpPr>
        <p:spPr>
          <a:xfrm>
            <a:off x="4809744" y="4169664"/>
            <a:ext cx="3986784" cy="237744"/>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Exploratory testing of new mobile app</a:t>
            </a:r>
            <a:endParaRPr lang="en-US" sz="1000" dirty="0"/>
          </a:p>
        </p:txBody>
      </p:sp>
      <p:sp>
        <p:nvSpPr>
          <p:cNvPr id="49" name="Text 46"/>
          <p:cNvSpPr/>
          <p:nvPr/>
        </p:nvSpPr>
        <p:spPr>
          <a:xfrm>
            <a:off x="4809744" y="4425696"/>
            <a:ext cx="3986784" cy="237744"/>
          </a:xfrm>
          <a:prstGeom prst="rect">
            <a:avLst/>
          </a:prstGeom>
          <a:noFill/>
          <a:ln/>
        </p:spPr>
        <p:txBody>
          <a:bodyPr wrap="square" lIns="0" tIns="0" rIns="0" bIns="0" rtlCol="0" anchor="ctr"/>
          <a:lstStyle/>
          <a:p>
            <a:pPr marL="0" indent="0">
              <a:buNone/>
            </a:pPr>
            <a:r>
              <a:rPr lang="en-US" sz="950" i="1" dirty="0">
                <a:solidFill>
                  <a:srgbClr val="777777"/>
                </a:solidFill>
                <a:latin typeface="Calibri" pitchFamily="34" charset="0"/>
                <a:ea typeface="Calibri" pitchFamily="34" charset="-122"/>
                <a:cs typeface="Calibri" pitchFamily="34" charset="-120"/>
              </a:rPr>
              <a:t>Why: Requires adaptive investigation — not defined steps</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5669280" y="91440"/>
            <a:ext cx="3200400" cy="4572000"/>
          </a:xfrm>
          <a:prstGeom prst="rect">
            <a:avLst/>
          </a:prstGeom>
          <a:noFill/>
          <a:ln/>
        </p:spPr>
        <p:txBody>
          <a:bodyPr wrap="square" lIns="0" tIns="0" rIns="0" bIns="0" rtlCol="0" anchor="ctr"/>
          <a:lstStyle/>
          <a:p>
            <a:pPr marL="0" indent="0" algn="r">
              <a:buNone/>
            </a:pPr>
            <a:r>
              <a:rPr lang="en-US" sz="22000" b="1" dirty="0">
                <a:solidFill>
                  <a:srgbClr val="1E1E1E"/>
                </a:solidFill>
                <a:latin typeface="Calibri" pitchFamily="34" charset="0"/>
                <a:ea typeface="Calibri" pitchFamily="34" charset="-122"/>
                <a:cs typeface="Calibri" pitchFamily="34" charset="-120"/>
              </a:rPr>
              <a:t>6</a:t>
            </a:r>
            <a:endParaRPr lang="en-US" sz="22000" dirty="0"/>
          </a:p>
        </p:txBody>
      </p:sp>
      <p:sp>
        <p:nvSpPr>
          <p:cNvPr id="5" name="Text 3"/>
          <p:cNvSpPr/>
          <p:nvPr/>
        </p:nvSpPr>
        <p:spPr>
          <a:xfrm>
            <a:off x="457200" y="1097280"/>
            <a:ext cx="3657600" cy="384048"/>
          </a:xfrm>
          <a:prstGeom prst="rect">
            <a:avLst/>
          </a:prstGeom>
          <a:noFill/>
          <a:ln/>
        </p:spPr>
        <p:txBody>
          <a:bodyPr wrap="square" rtlCol="0" anchor="ctr"/>
          <a:lstStyle/>
          <a:p>
            <a:pPr marL="0" indent="0">
              <a:buNone/>
            </a:pPr>
            <a:r>
              <a:rPr lang="en-US" sz="1200" b="1" kern="0" spc="500" dirty="0">
                <a:solidFill>
                  <a:srgbClr val="E8670D"/>
                </a:solidFill>
                <a:latin typeface="Calibri" pitchFamily="34" charset="0"/>
                <a:ea typeface="Calibri" pitchFamily="34" charset="-122"/>
                <a:cs typeface="Calibri" pitchFamily="34" charset="-120"/>
              </a:rPr>
              <a:t>SECTION</a:t>
            </a:r>
            <a:endParaRPr lang="en-US" sz="1200" dirty="0"/>
          </a:p>
        </p:txBody>
      </p:sp>
      <p:sp>
        <p:nvSpPr>
          <p:cNvPr id="6" name="Text 4"/>
          <p:cNvSpPr/>
          <p:nvPr/>
        </p:nvSpPr>
        <p:spPr>
          <a:xfrm>
            <a:off x="457200" y="1508760"/>
            <a:ext cx="1097280" cy="8686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6</a:t>
            </a:r>
            <a:endParaRPr lang="en-US" sz="5800" dirty="0"/>
          </a:p>
        </p:txBody>
      </p:sp>
      <p:sp>
        <p:nvSpPr>
          <p:cNvPr id="7" name="Shape 5"/>
          <p:cNvSpPr/>
          <p:nvPr/>
        </p:nvSpPr>
        <p:spPr>
          <a:xfrm>
            <a:off x="457200" y="2487168"/>
            <a:ext cx="5029200" cy="54864"/>
          </a:xfrm>
          <a:prstGeom prst="rect">
            <a:avLst/>
          </a:prstGeom>
          <a:solidFill>
            <a:srgbClr val="E8670D"/>
          </a:solidFill>
          <a:ln/>
        </p:spPr>
      </p:sp>
      <p:sp>
        <p:nvSpPr>
          <p:cNvPr id="8" name="Text 6"/>
          <p:cNvSpPr/>
          <p:nvPr/>
        </p:nvSpPr>
        <p:spPr>
          <a:xfrm>
            <a:off x="457200" y="2606040"/>
            <a:ext cx="8046720" cy="11887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Exploratory &amp; Ad-hoc Testing</a:t>
            </a:r>
            <a:endParaRPr lang="en-US" sz="3000" dirty="0"/>
          </a:p>
        </p:txBody>
      </p:sp>
      <p:sp>
        <p:nvSpPr>
          <p:cNvPr id="9" name="Text 7"/>
          <p:cNvSpPr/>
          <p:nvPr/>
        </p:nvSpPr>
        <p:spPr>
          <a:xfrm>
            <a:off x="457200" y="3858768"/>
            <a:ext cx="7772400" cy="640080"/>
          </a:xfrm>
          <a:prstGeom prst="rect">
            <a:avLst/>
          </a:prstGeom>
          <a:noFill/>
          <a:ln/>
        </p:spPr>
        <p:txBody>
          <a:bodyPr wrap="square" rtlCol="0" anchor="ctr"/>
          <a:lstStyle/>
          <a:p>
            <a:pPr marL="0" indent="0">
              <a:buNone/>
            </a:pPr>
            <a:r>
              <a:rPr lang="en-US" sz="1300" dirty="0">
                <a:solidFill>
                  <a:srgbClr val="AAAAAA"/>
                </a:solidFill>
                <a:latin typeface="Calibri" pitchFamily="34" charset="0"/>
                <a:ea typeface="Calibri" pitchFamily="34" charset="-122"/>
                <a:cs typeface="Calibri" pitchFamily="34" charset="-120"/>
              </a:rPr>
              <a:t>Unscripted, intelligent testing approaches that leverage human expertise</a:t>
            </a:r>
            <a:endParaRPr lang="en-US" sz="1300" dirty="0"/>
          </a:p>
        </p:txBody>
      </p:sp>
      <p:pic>
        <p:nvPicPr>
          <p:cNvPr id="10" name="Image 0" descr="preencoded.png"/>
          <p:cNvPicPr>
            <a:picLocks noChangeAspect="1"/>
          </p:cNvPicPr>
          <p:nvPr/>
        </p:nvPicPr>
        <p:blipFill>
          <a:blip r:embed="rId3"/>
          <a:stretch>
            <a:fillRect/>
          </a:stretch>
        </p:blipFill>
        <p:spPr>
          <a:xfrm>
            <a:off x="7132320" y="457200"/>
            <a:ext cx="1371600" cy="13716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Exploratory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Simultaneous learning, designing, and executing — the tester as detective</a:t>
            </a:r>
            <a:endParaRPr lang="en-US" sz="1100" dirty="0"/>
          </a:p>
        </p:txBody>
      </p:sp>
      <p:sp>
        <p:nvSpPr>
          <p:cNvPr id="6" name="Shape 3"/>
          <p:cNvSpPr/>
          <p:nvPr/>
        </p:nvSpPr>
        <p:spPr>
          <a:xfrm>
            <a:off x="7790688" y="658368"/>
            <a:ext cx="1298448" cy="347472"/>
          </a:xfrm>
          <a:prstGeom prst="rect">
            <a:avLst/>
          </a:prstGeom>
          <a:solidFill>
            <a:srgbClr val="E8670D"/>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Manual</a:t>
            </a:r>
            <a:endParaRPr lang="en-US" sz="800" dirty="0"/>
          </a:p>
        </p:txBody>
      </p:sp>
      <p:sp>
        <p:nvSpPr>
          <p:cNvPr id="8" name="Shape 5"/>
          <p:cNvSpPr/>
          <p:nvPr/>
        </p:nvSpPr>
        <p:spPr>
          <a:xfrm>
            <a:off x="274320" y="960120"/>
            <a:ext cx="8595360" cy="658368"/>
          </a:xfrm>
          <a:prstGeom prst="rect">
            <a:avLst/>
          </a:prstGeom>
          <a:solidFill>
            <a:srgbClr val="E8670D"/>
          </a:solidFill>
          <a:ln/>
          <a:effectLst>
            <a:outerShdw blurRad="101600" dist="38100" dir="8100000" algn="bl" rotWithShape="0">
              <a:srgbClr val="000000">
                <a:alpha val="18000"/>
              </a:srgbClr>
            </a:outerShdw>
          </a:effectLst>
        </p:spPr>
      </p:sp>
      <p:sp>
        <p:nvSpPr>
          <p:cNvPr id="9" name="Text 6"/>
          <p:cNvSpPr/>
          <p:nvPr/>
        </p:nvSpPr>
        <p:spPr>
          <a:xfrm>
            <a:off x="384048" y="1014984"/>
            <a:ext cx="8375904" cy="54864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Exploratory Testing is a simultaneous process of LEARNING about the software, DESIGNING tests on the fly, and EXECUTING them — all at the same time. Unlike scripted testing, there are no predefined steps. The tester uses their knowledge, intuition, and creativity to probe the system for unexpected behaviour.</a:t>
            </a:r>
            <a:endParaRPr lang="en-US" sz="1200" dirty="0"/>
          </a:p>
        </p:txBody>
      </p:sp>
      <p:sp>
        <p:nvSpPr>
          <p:cNvPr id="10" name="Shape 7"/>
          <p:cNvSpPr/>
          <p:nvPr/>
        </p:nvSpPr>
        <p:spPr>
          <a:xfrm>
            <a:off x="274320" y="1783080"/>
            <a:ext cx="4206240" cy="205740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83080"/>
            <a:ext cx="4206240" cy="347472"/>
          </a:xfrm>
          <a:prstGeom prst="rect">
            <a:avLst/>
          </a:prstGeom>
          <a:solidFill>
            <a:srgbClr val="E8670D"/>
          </a:solidFill>
          <a:ln/>
        </p:spPr>
      </p:sp>
      <p:sp>
        <p:nvSpPr>
          <p:cNvPr id="12" name="Text 9"/>
          <p:cNvSpPr/>
          <p:nvPr/>
        </p:nvSpPr>
        <p:spPr>
          <a:xfrm>
            <a:off x="365760" y="182880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Characteristics of Exploratory Testing</a:t>
            </a:r>
            <a:endParaRPr lang="en-US" sz="1100" dirty="0"/>
          </a:p>
        </p:txBody>
      </p:sp>
      <p:sp>
        <p:nvSpPr>
          <p:cNvPr id="13" name="Text 10"/>
          <p:cNvSpPr/>
          <p:nvPr/>
        </p:nvSpPr>
        <p:spPr>
          <a:xfrm>
            <a:off x="384048" y="2185416"/>
            <a:ext cx="3986784" cy="158191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Tester has freedom to follow intuition — no rigid test script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Based on the tester's domain knowledge and experience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Most effective for discovering unexpected edge cases and bugs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Guided by a 'test charter' — a high-level goal, not a script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Time-boxed sessions (typically 60–120 minutes)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Observations and findings are documented during or after the session</a:t>
            </a:r>
            <a:endParaRPr lang="en-US" sz="1050" dirty="0"/>
          </a:p>
        </p:txBody>
      </p:sp>
      <p:sp>
        <p:nvSpPr>
          <p:cNvPr id="14" name="Shape 11"/>
          <p:cNvSpPr/>
          <p:nvPr/>
        </p:nvSpPr>
        <p:spPr>
          <a:xfrm>
            <a:off x="4663440" y="1783080"/>
            <a:ext cx="4206240" cy="2057400"/>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663440" y="1783080"/>
            <a:ext cx="4206240" cy="347472"/>
          </a:xfrm>
          <a:prstGeom prst="rect">
            <a:avLst/>
          </a:prstGeom>
          <a:solidFill>
            <a:srgbClr val="1E1E1E"/>
          </a:solidFill>
          <a:ln/>
        </p:spPr>
      </p:sp>
      <p:sp>
        <p:nvSpPr>
          <p:cNvPr id="16" name="Text 13"/>
          <p:cNvSpPr/>
          <p:nvPr/>
        </p:nvSpPr>
        <p:spPr>
          <a:xfrm>
            <a:off x="4754880" y="182880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When to Use Exploratory Testing</a:t>
            </a:r>
            <a:endParaRPr lang="en-US" sz="1100" dirty="0"/>
          </a:p>
        </p:txBody>
      </p:sp>
      <p:sp>
        <p:nvSpPr>
          <p:cNvPr id="17" name="Text 14"/>
          <p:cNvSpPr/>
          <p:nvPr/>
        </p:nvSpPr>
        <p:spPr>
          <a:xfrm>
            <a:off x="4773168" y="2185416"/>
            <a:ext cx="3986784" cy="158191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After a new feature is released to QA — discover unknown risks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When scripted testing coverage is complete — find what scripts missed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New application with limited documentation</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Time-critical situations where full scripting is not possible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Investigating a production bug to understand root cause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Validating new user journeys before formal test cases are written</a:t>
            </a:r>
            <a:endParaRPr lang="en-US" sz="1050" dirty="0"/>
          </a:p>
        </p:txBody>
      </p:sp>
      <p:sp>
        <p:nvSpPr>
          <p:cNvPr id="18" name="Shape 15"/>
          <p:cNvSpPr/>
          <p:nvPr/>
        </p:nvSpPr>
        <p:spPr>
          <a:xfrm>
            <a:off x="274320" y="3950208"/>
            <a:ext cx="4206240" cy="1170432"/>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274320" y="3950208"/>
            <a:ext cx="4206240" cy="347472"/>
          </a:xfrm>
          <a:prstGeom prst="rect">
            <a:avLst/>
          </a:prstGeom>
          <a:solidFill>
            <a:srgbClr val="2A2A2A"/>
          </a:solidFill>
          <a:ln/>
        </p:spPr>
      </p:sp>
      <p:sp>
        <p:nvSpPr>
          <p:cNvPr id="20" name="Text 17"/>
          <p:cNvSpPr/>
          <p:nvPr/>
        </p:nvSpPr>
        <p:spPr>
          <a:xfrm>
            <a:off x="365760" y="3995928"/>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Key Benefits</a:t>
            </a:r>
            <a:endParaRPr lang="en-US" sz="1100" dirty="0"/>
          </a:p>
        </p:txBody>
      </p:sp>
      <p:sp>
        <p:nvSpPr>
          <p:cNvPr id="21" name="Text 18"/>
          <p:cNvSpPr/>
          <p:nvPr/>
        </p:nvSpPr>
        <p:spPr>
          <a:xfrm>
            <a:off x="384048" y="4352544"/>
            <a:ext cx="3986784" cy="694944"/>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Finds defects that scripted tests consistently miss</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Most closely simulates real user behaviour</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Adapts to what is found — follows interesting threads</a:t>
            </a:r>
            <a:endParaRPr lang="en-US" sz="1000" dirty="0"/>
          </a:p>
        </p:txBody>
      </p:sp>
      <p:sp>
        <p:nvSpPr>
          <p:cNvPr id="22" name="Shape 19"/>
          <p:cNvSpPr/>
          <p:nvPr/>
        </p:nvSpPr>
        <p:spPr>
          <a:xfrm>
            <a:off x="4663440" y="3950208"/>
            <a:ext cx="4206240" cy="1170432"/>
          </a:xfrm>
          <a:prstGeom prst="rect">
            <a:avLst/>
          </a:prstGeom>
          <a:solidFill>
            <a:srgbClr val="FFFFFF"/>
          </a:solidFill>
          <a:ln/>
          <a:effectLst>
            <a:outerShdw blurRad="101600" dist="38100" dir="8100000" algn="bl" rotWithShape="0">
              <a:srgbClr val="000000">
                <a:alpha val="18000"/>
              </a:srgbClr>
            </a:outerShdw>
          </a:effectLst>
        </p:spPr>
      </p:sp>
      <p:sp>
        <p:nvSpPr>
          <p:cNvPr id="23" name="Shape 20"/>
          <p:cNvSpPr/>
          <p:nvPr/>
        </p:nvSpPr>
        <p:spPr>
          <a:xfrm>
            <a:off x="4663440" y="3950208"/>
            <a:ext cx="4206240" cy="347472"/>
          </a:xfrm>
          <a:prstGeom prst="rect">
            <a:avLst/>
          </a:prstGeom>
          <a:solidFill>
            <a:srgbClr val="E8670D"/>
          </a:solidFill>
          <a:ln/>
        </p:spPr>
      </p:sp>
      <p:sp>
        <p:nvSpPr>
          <p:cNvPr id="24" name="Text 21"/>
          <p:cNvSpPr/>
          <p:nvPr/>
        </p:nvSpPr>
        <p:spPr>
          <a:xfrm>
            <a:off x="4754880" y="3995928"/>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Real-World Example</a:t>
            </a:r>
            <a:endParaRPr lang="en-US" sz="1100" dirty="0"/>
          </a:p>
        </p:txBody>
      </p:sp>
      <p:sp>
        <p:nvSpPr>
          <p:cNvPr id="25" name="Text 22"/>
          <p:cNvSpPr/>
          <p:nvPr/>
        </p:nvSpPr>
        <p:spPr>
          <a:xfrm>
            <a:off x="4773168" y="4352544"/>
            <a:ext cx="3986784" cy="694944"/>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Charter: 'Explore the payment flow for unusual currency inputs'</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Tester discovers: entering £ symbol causes server error (500)</a:t>
            </a:r>
            <a:endParaRPr lang="en-US" sz="1000" dirty="0"/>
          </a:p>
          <a:p>
            <a:pPr marL="342900" indent="-342900">
              <a:spcAft>
                <a:spcPts val="300"/>
              </a:spcAft>
              <a:buSzPct val="100000"/>
              <a:buChar char="•"/>
            </a:pPr>
            <a:r>
              <a:rPr lang="en-US" sz="1000" dirty="0">
                <a:solidFill>
                  <a:srgbClr val="555555"/>
                </a:solidFill>
                <a:latin typeface="Calibri" pitchFamily="34" charset="0"/>
                <a:ea typeface="Calibri" pitchFamily="34" charset="-122"/>
                <a:cs typeface="Calibri" pitchFamily="34" charset="-120"/>
              </a:rPr>
              <a:t>Bug not in any scripted test — found through exploration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Ad-hoc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Informal, unplanned testing without documentation or predefined objectives</a:t>
            </a:r>
            <a:endParaRPr lang="en-US" sz="1100" dirty="0"/>
          </a:p>
        </p:txBody>
      </p:sp>
      <p:sp>
        <p:nvSpPr>
          <p:cNvPr id="6" name="Shape 3"/>
          <p:cNvSpPr/>
          <p:nvPr/>
        </p:nvSpPr>
        <p:spPr>
          <a:xfrm>
            <a:off x="7790688" y="658368"/>
            <a:ext cx="1298448" cy="347472"/>
          </a:xfrm>
          <a:prstGeom prst="rect">
            <a:avLst/>
          </a:prstGeom>
          <a:solidFill>
            <a:srgbClr val="E8670D"/>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Manual</a:t>
            </a:r>
            <a:endParaRPr lang="en-US" sz="800" dirty="0"/>
          </a:p>
        </p:txBody>
      </p:sp>
      <p:sp>
        <p:nvSpPr>
          <p:cNvPr id="8" name="Shape 5"/>
          <p:cNvSpPr/>
          <p:nvPr/>
        </p:nvSpPr>
        <p:spPr>
          <a:xfrm>
            <a:off x="274320" y="960120"/>
            <a:ext cx="8595360" cy="621792"/>
          </a:xfrm>
          <a:prstGeom prst="rect">
            <a:avLst/>
          </a:prstGeom>
          <a:solidFill>
            <a:srgbClr val="1E1E1E"/>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Ad-hoc Testing is the most informal type of testing — performed WITHOUT any test plan, test cases, or documentation. Testers access the application randomly and try to find defects based purely on instinct and experience. It requires no preparation and follows no defined process.</a:t>
            </a:r>
            <a:endParaRPr lang="en-US" sz="1200" dirty="0"/>
          </a:p>
        </p:txBody>
      </p:sp>
      <p:sp>
        <p:nvSpPr>
          <p:cNvPr id="10" name="Shape 7"/>
          <p:cNvSpPr/>
          <p:nvPr/>
        </p:nvSpPr>
        <p:spPr>
          <a:xfrm>
            <a:off x="274320" y="1737360"/>
            <a:ext cx="4206240" cy="384048"/>
          </a:xfrm>
          <a:prstGeom prst="rect">
            <a:avLst/>
          </a:prstGeom>
          <a:solidFill>
            <a:srgbClr val="E8670D"/>
          </a:solidFill>
          <a:ln/>
        </p:spPr>
      </p:sp>
      <p:sp>
        <p:nvSpPr>
          <p:cNvPr id="11" name="Text 8"/>
          <p:cNvSpPr/>
          <p:nvPr/>
        </p:nvSpPr>
        <p:spPr>
          <a:xfrm>
            <a:off x="274320" y="173736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Benefits of Ad-hoc Testing</a:t>
            </a:r>
            <a:endParaRPr lang="en-US" sz="1200" dirty="0"/>
          </a:p>
        </p:txBody>
      </p:sp>
      <p:sp>
        <p:nvSpPr>
          <p:cNvPr id="12" name="Shape 9"/>
          <p:cNvSpPr/>
          <p:nvPr/>
        </p:nvSpPr>
        <p:spPr>
          <a:xfrm>
            <a:off x="274320" y="2139696"/>
            <a:ext cx="4206240" cy="2816352"/>
          </a:xfrm>
          <a:prstGeom prst="rect">
            <a:avLst/>
          </a:prstGeom>
          <a:solidFill>
            <a:srgbClr val="FFFFFF"/>
          </a:solidFill>
          <a:ln/>
          <a:effectLst>
            <a:outerShdw blurRad="101600" dist="38100" dir="8100000" algn="bl" rotWithShape="0">
              <a:srgbClr val="000000">
                <a:alpha val="18000"/>
              </a:srgbClr>
            </a:outerShdw>
          </a:effectLst>
        </p:spPr>
      </p:sp>
      <p:sp>
        <p:nvSpPr>
          <p:cNvPr id="13" name="Text 10"/>
          <p:cNvSpPr/>
          <p:nvPr/>
        </p:nvSpPr>
        <p:spPr>
          <a:xfrm>
            <a:off x="384048" y="2212848"/>
            <a:ext cx="4005072" cy="26700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Requires zero preparation time — start immediately</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Can be performed at any time by any team member</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Often finds defects that formal processes miss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Effective for quick sanity checks during development</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Useful for rapid exploration of new builds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Good for time-critical situations with no scripting time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Encourages creative thinking — no boundaries on test approach</a:t>
            </a:r>
            <a:endParaRPr lang="en-US" sz="1050" dirty="0"/>
          </a:p>
        </p:txBody>
      </p:sp>
      <p:sp>
        <p:nvSpPr>
          <p:cNvPr id="14" name="Shape 11"/>
          <p:cNvSpPr/>
          <p:nvPr/>
        </p:nvSpPr>
        <p:spPr>
          <a:xfrm>
            <a:off x="4663440" y="1737360"/>
            <a:ext cx="4206240" cy="384048"/>
          </a:xfrm>
          <a:prstGeom prst="rect">
            <a:avLst/>
          </a:prstGeom>
          <a:solidFill>
            <a:srgbClr val="1E1E1E"/>
          </a:solidFill>
          <a:ln/>
        </p:spPr>
      </p:sp>
      <p:sp>
        <p:nvSpPr>
          <p:cNvPr id="15" name="Text 12"/>
          <p:cNvSpPr/>
          <p:nvPr/>
        </p:nvSpPr>
        <p:spPr>
          <a:xfrm>
            <a:off x="4663440" y="173736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Risks of Ad-hoc Testing</a:t>
            </a:r>
            <a:endParaRPr lang="en-US" sz="1200" dirty="0"/>
          </a:p>
        </p:txBody>
      </p:sp>
      <p:sp>
        <p:nvSpPr>
          <p:cNvPr id="16" name="Shape 13"/>
          <p:cNvSpPr/>
          <p:nvPr/>
        </p:nvSpPr>
        <p:spPr>
          <a:xfrm>
            <a:off x="4663440" y="2139696"/>
            <a:ext cx="4206240" cy="2816352"/>
          </a:xfrm>
          <a:prstGeom prst="rect">
            <a:avLst/>
          </a:prstGeom>
          <a:solidFill>
            <a:srgbClr val="FFFFFF"/>
          </a:solidFill>
          <a:ln/>
          <a:effectLst>
            <a:outerShdw blurRad="101600" dist="38100" dir="8100000" algn="bl" rotWithShape="0">
              <a:srgbClr val="000000">
                <a:alpha val="18000"/>
              </a:srgbClr>
            </a:outerShdw>
          </a:effectLst>
        </p:spPr>
      </p:sp>
      <p:sp>
        <p:nvSpPr>
          <p:cNvPr id="17" name="Text 14"/>
          <p:cNvSpPr/>
          <p:nvPr/>
        </p:nvSpPr>
        <p:spPr>
          <a:xfrm>
            <a:off x="4773168" y="2212848"/>
            <a:ext cx="4005072" cy="26700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No documentation — defects may be difficult to reproduce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No systematic coverage — same areas may be tested repeatedly</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Inconsistent — depends heavily on individual tester's skill</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Results cannot be measured or compared across cycles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Can miss critical areas that structured testing would cover</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Not repeatable — cannot verify same test was run next cycle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Not suitable as the primary or only testing approach</a:t>
            </a:r>
            <a:endParaRPr lang="en-US" sz="1050" dirty="0"/>
          </a:p>
        </p:txBody>
      </p:sp>
      <p:sp>
        <p:nvSpPr>
          <p:cNvPr id="18" name="Shape 15"/>
          <p:cNvSpPr/>
          <p:nvPr/>
        </p:nvSpPr>
        <p:spPr>
          <a:xfrm>
            <a:off x="274320" y="5074920"/>
            <a:ext cx="8595360" cy="219456"/>
          </a:xfrm>
          <a:prstGeom prst="rect">
            <a:avLst/>
          </a:prstGeom>
          <a:solidFill>
            <a:srgbClr val="111111"/>
          </a:solidFill>
          <a:ln/>
          <a:effectLst>
            <a:outerShdw blurRad="101600" dist="38100" dir="8100000" algn="bl" rotWithShape="0">
              <a:srgbClr val="000000">
                <a:alpha val="18000"/>
              </a:srgbClr>
            </a:outerShdw>
          </a:effectLst>
        </p:spPr>
      </p:sp>
      <p:sp>
        <p:nvSpPr>
          <p:cNvPr id="19" name="Text 16"/>
          <p:cNvSpPr/>
          <p:nvPr/>
        </p:nvSpPr>
        <p:spPr>
          <a:xfrm>
            <a:off x="384048" y="5129784"/>
            <a:ext cx="8375904" cy="109728"/>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  Best Practice: Ad-hoc testing is a SUPPLEMENT, not a replacement for structured testing. When ad-hoc testing finds a defect, immediately document it formally and consider whether a scripted test case should be added to prevent regression.</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5669280" y="91440"/>
            <a:ext cx="3200400" cy="4572000"/>
          </a:xfrm>
          <a:prstGeom prst="rect">
            <a:avLst/>
          </a:prstGeom>
          <a:noFill/>
          <a:ln/>
        </p:spPr>
        <p:txBody>
          <a:bodyPr wrap="square" lIns="0" tIns="0" rIns="0" bIns="0" rtlCol="0" anchor="ctr"/>
          <a:lstStyle/>
          <a:p>
            <a:pPr marL="0" indent="0" algn="r">
              <a:buNone/>
            </a:pPr>
            <a:r>
              <a:rPr lang="en-US" sz="22000" b="1" dirty="0">
                <a:solidFill>
                  <a:srgbClr val="1E1E1E"/>
                </a:solidFill>
                <a:latin typeface="Calibri" pitchFamily="34" charset="0"/>
                <a:ea typeface="Calibri" pitchFamily="34" charset="-122"/>
                <a:cs typeface="Calibri" pitchFamily="34" charset="-120"/>
              </a:rPr>
              <a:t>7</a:t>
            </a:r>
            <a:endParaRPr lang="en-US" sz="22000" dirty="0"/>
          </a:p>
        </p:txBody>
      </p:sp>
      <p:sp>
        <p:nvSpPr>
          <p:cNvPr id="5" name="Text 3"/>
          <p:cNvSpPr/>
          <p:nvPr/>
        </p:nvSpPr>
        <p:spPr>
          <a:xfrm>
            <a:off x="457200" y="1097280"/>
            <a:ext cx="3657600" cy="384048"/>
          </a:xfrm>
          <a:prstGeom prst="rect">
            <a:avLst/>
          </a:prstGeom>
          <a:noFill/>
          <a:ln/>
        </p:spPr>
        <p:txBody>
          <a:bodyPr wrap="square" rtlCol="0" anchor="ctr"/>
          <a:lstStyle/>
          <a:p>
            <a:pPr marL="0" indent="0">
              <a:buNone/>
            </a:pPr>
            <a:r>
              <a:rPr lang="en-US" sz="1200" b="1" kern="0" spc="500" dirty="0">
                <a:solidFill>
                  <a:srgbClr val="E8670D"/>
                </a:solidFill>
                <a:latin typeface="Calibri" pitchFamily="34" charset="0"/>
                <a:ea typeface="Calibri" pitchFamily="34" charset="-122"/>
                <a:cs typeface="Calibri" pitchFamily="34" charset="-120"/>
              </a:rPr>
              <a:t>SECTION</a:t>
            </a:r>
            <a:endParaRPr lang="en-US" sz="1200" dirty="0"/>
          </a:p>
        </p:txBody>
      </p:sp>
      <p:sp>
        <p:nvSpPr>
          <p:cNvPr id="6" name="Text 4"/>
          <p:cNvSpPr/>
          <p:nvPr/>
        </p:nvSpPr>
        <p:spPr>
          <a:xfrm>
            <a:off x="457200" y="1508760"/>
            <a:ext cx="1097280" cy="8686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7</a:t>
            </a:r>
            <a:endParaRPr lang="en-US" sz="5800" dirty="0"/>
          </a:p>
        </p:txBody>
      </p:sp>
      <p:sp>
        <p:nvSpPr>
          <p:cNvPr id="7" name="Shape 5"/>
          <p:cNvSpPr/>
          <p:nvPr/>
        </p:nvSpPr>
        <p:spPr>
          <a:xfrm>
            <a:off x="457200" y="2487168"/>
            <a:ext cx="5029200" cy="54864"/>
          </a:xfrm>
          <a:prstGeom prst="rect">
            <a:avLst/>
          </a:prstGeom>
          <a:solidFill>
            <a:srgbClr val="E8670D"/>
          </a:solidFill>
          <a:ln/>
        </p:spPr>
      </p:sp>
      <p:sp>
        <p:nvSpPr>
          <p:cNvPr id="8" name="Text 6"/>
          <p:cNvSpPr/>
          <p:nvPr/>
        </p:nvSpPr>
        <p:spPr>
          <a:xfrm>
            <a:off x="457200" y="2606040"/>
            <a:ext cx="8046720" cy="11887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Alpha &amp; Beta Testing</a:t>
            </a:r>
            <a:endParaRPr lang="en-US" sz="3000" dirty="0"/>
          </a:p>
        </p:txBody>
      </p:sp>
      <p:sp>
        <p:nvSpPr>
          <p:cNvPr id="9" name="Text 7"/>
          <p:cNvSpPr/>
          <p:nvPr/>
        </p:nvSpPr>
        <p:spPr>
          <a:xfrm>
            <a:off x="457200" y="3858768"/>
            <a:ext cx="7772400" cy="640080"/>
          </a:xfrm>
          <a:prstGeom prst="rect">
            <a:avLst/>
          </a:prstGeom>
          <a:noFill/>
          <a:ln/>
        </p:spPr>
        <p:txBody>
          <a:bodyPr wrap="square" rtlCol="0" anchor="ctr"/>
          <a:lstStyle/>
          <a:p>
            <a:pPr marL="0" indent="0">
              <a:buNone/>
            </a:pPr>
            <a:r>
              <a:rPr lang="en-US" sz="1300" dirty="0">
                <a:solidFill>
                  <a:srgbClr val="AAAAAA"/>
                </a:solidFill>
                <a:latin typeface="Calibri" pitchFamily="34" charset="0"/>
                <a:ea typeface="Calibri" pitchFamily="34" charset="-122"/>
                <a:cs typeface="Calibri" pitchFamily="34" charset="-120"/>
              </a:rPr>
              <a:t>Internal and external validation before full public release</a:t>
            </a:r>
            <a:endParaRPr lang="en-US" sz="1300" dirty="0"/>
          </a:p>
        </p:txBody>
      </p:sp>
      <p:pic>
        <p:nvPicPr>
          <p:cNvPr id="10" name="Image 0" descr="preencoded.png"/>
          <p:cNvPicPr>
            <a:picLocks noChangeAspect="1"/>
          </p:cNvPicPr>
          <p:nvPr/>
        </p:nvPicPr>
        <p:blipFill>
          <a:blip r:embed="rId3"/>
          <a:stretch>
            <a:fillRect/>
          </a:stretch>
        </p:blipFill>
        <p:spPr>
          <a:xfrm>
            <a:off x="7132320" y="457200"/>
            <a:ext cx="1371600" cy="1371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Alpha &amp; Beta Testing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Two sequential stages of pre-release validation with different audiences</a:t>
            </a:r>
            <a:endParaRPr lang="en-US" sz="1100" dirty="0"/>
          </a:p>
        </p:txBody>
      </p:sp>
      <p:sp>
        <p:nvSpPr>
          <p:cNvPr id="6" name="Shape 3"/>
          <p:cNvSpPr/>
          <p:nvPr/>
        </p:nvSpPr>
        <p:spPr>
          <a:xfrm>
            <a:off x="7790688" y="658368"/>
            <a:ext cx="1298448" cy="347472"/>
          </a:xfrm>
          <a:prstGeom prst="rect">
            <a:avLst/>
          </a:prstGeom>
          <a:solidFill>
            <a:srgbClr val="E8670D"/>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UAT/Release</a:t>
            </a:r>
            <a:endParaRPr lang="en-US" sz="800" dirty="0"/>
          </a:p>
        </p:txBody>
      </p:sp>
      <p:sp>
        <p:nvSpPr>
          <p:cNvPr id="8" name="Shape 5"/>
          <p:cNvSpPr/>
          <p:nvPr/>
        </p:nvSpPr>
        <p:spPr>
          <a:xfrm>
            <a:off x="274320" y="960120"/>
            <a:ext cx="4206240" cy="384048"/>
          </a:xfrm>
          <a:prstGeom prst="rect">
            <a:avLst/>
          </a:prstGeom>
          <a:solidFill>
            <a:srgbClr val="E8670D"/>
          </a:solidFill>
          <a:ln/>
        </p:spPr>
      </p:sp>
      <p:sp>
        <p:nvSpPr>
          <p:cNvPr id="9" name="Text 6"/>
          <p:cNvSpPr/>
          <p:nvPr/>
        </p:nvSpPr>
        <p:spPr>
          <a:xfrm>
            <a:off x="274320" y="96012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Alpha Testing — Internal</a:t>
            </a:r>
            <a:endParaRPr lang="en-US" sz="1200" dirty="0"/>
          </a:p>
        </p:txBody>
      </p:sp>
      <p:sp>
        <p:nvSpPr>
          <p:cNvPr id="10" name="Shape 7"/>
          <p:cNvSpPr/>
          <p:nvPr/>
        </p:nvSpPr>
        <p:spPr>
          <a:xfrm>
            <a:off x="274320" y="1362456"/>
            <a:ext cx="4206240" cy="3602736"/>
          </a:xfrm>
          <a:prstGeom prst="rect">
            <a:avLst/>
          </a:prstGeom>
          <a:solidFill>
            <a:srgbClr val="FFFFFF"/>
          </a:solidFill>
          <a:ln/>
          <a:effectLst>
            <a:outerShdw blurRad="101600" dist="38100" dir="8100000" algn="bl" rotWithShape="0">
              <a:srgbClr val="000000">
                <a:alpha val="18000"/>
              </a:srgbClr>
            </a:outerShdw>
          </a:effectLst>
        </p:spPr>
      </p:sp>
      <p:sp>
        <p:nvSpPr>
          <p:cNvPr id="11" name="Text 8"/>
          <p:cNvSpPr/>
          <p:nvPr/>
        </p:nvSpPr>
        <p:spPr>
          <a:xfrm>
            <a:off x="384048" y="1435608"/>
            <a:ext cx="4005072" cy="34564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Performed INTERNALLY by the company's own team before any external release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Conducted by QA engineers, developers, product managers, and internal staff</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Takes place in the developer's or QA's controlled environment</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Identifies major defects and usability issues before exposing to external users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Covers functional, usability, performance, and reliability testing</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No real users involved — internal team simulates user behaviour</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Environment: Staging/UAT — close to but not equal to production</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Example: Microsoft employees test Windows internally before any external release</a:t>
            </a:r>
            <a:endParaRPr lang="en-US" sz="1050" dirty="0"/>
          </a:p>
        </p:txBody>
      </p:sp>
      <p:sp>
        <p:nvSpPr>
          <p:cNvPr id="12" name="Shape 9"/>
          <p:cNvSpPr/>
          <p:nvPr/>
        </p:nvSpPr>
        <p:spPr>
          <a:xfrm>
            <a:off x="4663440" y="960120"/>
            <a:ext cx="4206240" cy="384048"/>
          </a:xfrm>
          <a:prstGeom prst="rect">
            <a:avLst/>
          </a:prstGeom>
          <a:solidFill>
            <a:srgbClr val="1E1E1E"/>
          </a:solidFill>
          <a:ln/>
        </p:spPr>
      </p:sp>
      <p:sp>
        <p:nvSpPr>
          <p:cNvPr id="13" name="Text 10"/>
          <p:cNvSpPr/>
          <p:nvPr/>
        </p:nvSpPr>
        <p:spPr>
          <a:xfrm>
            <a:off x="4663440" y="960120"/>
            <a:ext cx="42062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Beta Testing — External</a:t>
            </a:r>
            <a:endParaRPr lang="en-US" sz="1200" dirty="0"/>
          </a:p>
        </p:txBody>
      </p:sp>
      <p:sp>
        <p:nvSpPr>
          <p:cNvPr id="14" name="Shape 11"/>
          <p:cNvSpPr/>
          <p:nvPr/>
        </p:nvSpPr>
        <p:spPr>
          <a:xfrm>
            <a:off x="4663440" y="1362456"/>
            <a:ext cx="4206240" cy="3602736"/>
          </a:xfrm>
          <a:prstGeom prst="rect">
            <a:avLst/>
          </a:prstGeom>
          <a:solidFill>
            <a:srgbClr val="FFFFFF"/>
          </a:solidFill>
          <a:ln/>
          <a:effectLst>
            <a:outerShdw blurRad="101600" dist="38100" dir="8100000" algn="bl" rotWithShape="0">
              <a:srgbClr val="000000">
                <a:alpha val="18000"/>
              </a:srgbClr>
            </a:outerShdw>
          </a:effectLst>
        </p:spPr>
      </p:sp>
      <p:sp>
        <p:nvSpPr>
          <p:cNvPr id="15" name="Text 12"/>
          <p:cNvSpPr/>
          <p:nvPr/>
        </p:nvSpPr>
        <p:spPr>
          <a:xfrm>
            <a:off x="4773168" y="1435608"/>
            <a:ext cx="4005072" cy="34564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Performed EXTERNALLY by real end users in a real-world environment</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Conducted by selected customers, early adopters, or the general public</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Software is released to a limited group of actual end users</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Captures real-world usage patterns, edge cases, and feedback</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Users test in their own environments — unpredictable and diverse</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Company collects feedback, bug reports, and performance data</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Environment: Production or near-production — real traffic and data</a:t>
            </a:r>
            <a:endParaRPr lang="en-US" sz="1050" dirty="0"/>
          </a:p>
          <a:p>
            <a:pPr marL="342900" indent="-342900">
              <a:spcAft>
                <a:spcPts val="400"/>
              </a:spcAft>
              <a:buSzPct val="100000"/>
              <a:buChar char="•"/>
            </a:pPr>
            <a:r>
              <a:rPr lang="en-US" sz="1050" dirty="0">
                <a:solidFill>
                  <a:srgbClr val="555555"/>
                </a:solidFill>
                <a:latin typeface="Calibri" pitchFamily="34" charset="0"/>
                <a:ea typeface="Calibri" pitchFamily="34" charset="-122"/>
                <a:cs typeface="Calibri" pitchFamily="34" charset="-120"/>
              </a:rPr>
              <a:t>Example: Google releases Chrome beta to millions of public testers</a:t>
            </a:r>
            <a:endParaRPr lang="en-US" sz="1050" dirty="0"/>
          </a:p>
        </p:txBody>
      </p:sp>
      <p:sp>
        <p:nvSpPr>
          <p:cNvPr id="16" name="Shape 13"/>
          <p:cNvSpPr/>
          <p:nvPr/>
        </p:nvSpPr>
        <p:spPr>
          <a:xfrm>
            <a:off x="274320" y="5102352"/>
            <a:ext cx="1371600" cy="329184"/>
          </a:xfrm>
          <a:prstGeom prst="rect">
            <a:avLst/>
          </a:prstGeom>
          <a:solidFill>
            <a:srgbClr val="E8670D"/>
          </a:solidFill>
          <a:ln w="6350">
            <a:solidFill>
              <a:srgbClr val="DDCCBB"/>
            </a:solidFill>
            <a:prstDash val="solid"/>
          </a:ln>
        </p:spPr>
      </p:sp>
      <p:sp>
        <p:nvSpPr>
          <p:cNvPr id="17" name="Text 14"/>
          <p:cNvSpPr/>
          <p:nvPr/>
        </p:nvSpPr>
        <p:spPr>
          <a:xfrm>
            <a:off x="320040" y="5157216"/>
            <a:ext cx="128016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Factor</a:t>
            </a:r>
            <a:endParaRPr lang="en-US" sz="950" dirty="0"/>
          </a:p>
        </p:txBody>
      </p:sp>
      <p:sp>
        <p:nvSpPr>
          <p:cNvPr id="18" name="Shape 15"/>
          <p:cNvSpPr/>
          <p:nvPr/>
        </p:nvSpPr>
        <p:spPr>
          <a:xfrm>
            <a:off x="1645920" y="5102352"/>
            <a:ext cx="3474720" cy="329184"/>
          </a:xfrm>
          <a:prstGeom prst="rect">
            <a:avLst/>
          </a:prstGeom>
          <a:solidFill>
            <a:srgbClr val="E8670D"/>
          </a:solidFill>
          <a:ln w="6350">
            <a:solidFill>
              <a:srgbClr val="DDCCBB"/>
            </a:solidFill>
            <a:prstDash val="solid"/>
          </a:ln>
        </p:spPr>
      </p:sp>
      <p:sp>
        <p:nvSpPr>
          <p:cNvPr id="19" name="Text 16"/>
          <p:cNvSpPr/>
          <p:nvPr/>
        </p:nvSpPr>
        <p:spPr>
          <a:xfrm>
            <a:off x="1691640" y="5157216"/>
            <a:ext cx="338328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Alpha Testing</a:t>
            </a:r>
            <a:endParaRPr lang="en-US" sz="950" dirty="0"/>
          </a:p>
        </p:txBody>
      </p:sp>
      <p:sp>
        <p:nvSpPr>
          <p:cNvPr id="20" name="Shape 17"/>
          <p:cNvSpPr/>
          <p:nvPr/>
        </p:nvSpPr>
        <p:spPr>
          <a:xfrm>
            <a:off x="5120640" y="5102352"/>
            <a:ext cx="3474720" cy="329184"/>
          </a:xfrm>
          <a:prstGeom prst="rect">
            <a:avLst/>
          </a:prstGeom>
          <a:solidFill>
            <a:srgbClr val="E8670D"/>
          </a:solidFill>
          <a:ln w="6350">
            <a:solidFill>
              <a:srgbClr val="DDCCBB"/>
            </a:solidFill>
            <a:prstDash val="solid"/>
          </a:ln>
        </p:spPr>
      </p:sp>
      <p:sp>
        <p:nvSpPr>
          <p:cNvPr id="21" name="Text 18"/>
          <p:cNvSpPr/>
          <p:nvPr/>
        </p:nvSpPr>
        <p:spPr>
          <a:xfrm>
            <a:off x="5166360" y="5157216"/>
            <a:ext cx="338328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Beta Testing</a:t>
            </a:r>
            <a:endParaRPr lang="en-US" sz="950" dirty="0"/>
          </a:p>
        </p:txBody>
      </p:sp>
      <p:sp>
        <p:nvSpPr>
          <p:cNvPr id="22" name="Shape 19"/>
          <p:cNvSpPr/>
          <p:nvPr/>
        </p:nvSpPr>
        <p:spPr>
          <a:xfrm>
            <a:off x="274320" y="5431536"/>
            <a:ext cx="1371600" cy="329184"/>
          </a:xfrm>
          <a:prstGeom prst="rect">
            <a:avLst/>
          </a:prstGeom>
          <a:solidFill>
            <a:srgbClr val="FFFFFF"/>
          </a:solidFill>
          <a:ln w="6350">
            <a:solidFill>
              <a:srgbClr val="DDCCBB"/>
            </a:solidFill>
            <a:prstDash val="solid"/>
          </a:ln>
        </p:spPr>
      </p:sp>
      <p:sp>
        <p:nvSpPr>
          <p:cNvPr id="23" name="Text 20"/>
          <p:cNvSpPr/>
          <p:nvPr/>
        </p:nvSpPr>
        <p:spPr>
          <a:xfrm>
            <a:off x="320040" y="5486400"/>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Who tests</a:t>
            </a:r>
            <a:endParaRPr lang="en-US" sz="900" dirty="0"/>
          </a:p>
        </p:txBody>
      </p:sp>
      <p:sp>
        <p:nvSpPr>
          <p:cNvPr id="24" name="Shape 21"/>
          <p:cNvSpPr/>
          <p:nvPr/>
        </p:nvSpPr>
        <p:spPr>
          <a:xfrm>
            <a:off x="1645920" y="5431536"/>
            <a:ext cx="3474720" cy="329184"/>
          </a:xfrm>
          <a:prstGeom prst="rect">
            <a:avLst/>
          </a:prstGeom>
          <a:solidFill>
            <a:srgbClr val="FFFFFF"/>
          </a:solidFill>
          <a:ln w="6350">
            <a:solidFill>
              <a:srgbClr val="DDCCBB"/>
            </a:solidFill>
            <a:prstDash val="solid"/>
          </a:ln>
        </p:spPr>
      </p:sp>
      <p:sp>
        <p:nvSpPr>
          <p:cNvPr id="25" name="Text 22"/>
          <p:cNvSpPr/>
          <p:nvPr/>
        </p:nvSpPr>
        <p:spPr>
          <a:xfrm>
            <a:off x="1691640" y="5486400"/>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Internal team (QA, Dev, PM, Employees)</a:t>
            </a:r>
            <a:endParaRPr lang="en-US" sz="900" dirty="0"/>
          </a:p>
        </p:txBody>
      </p:sp>
      <p:sp>
        <p:nvSpPr>
          <p:cNvPr id="26" name="Shape 23"/>
          <p:cNvSpPr/>
          <p:nvPr/>
        </p:nvSpPr>
        <p:spPr>
          <a:xfrm>
            <a:off x="5120640" y="5431536"/>
            <a:ext cx="3474720" cy="329184"/>
          </a:xfrm>
          <a:prstGeom prst="rect">
            <a:avLst/>
          </a:prstGeom>
          <a:solidFill>
            <a:srgbClr val="FFFFFF"/>
          </a:solidFill>
          <a:ln w="6350">
            <a:solidFill>
              <a:srgbClr val="DDCCBB"/>
            </a:solidFill>
            <a:prstDash val="solid"/>
          </a:ln>
        </p:spPr>
      </p:sp>
      <p:sp>
        <p:nvSpPr>
          <p:cNvPr id="27" name="Text 24"/>
          <p:cNvSpPr/>
          <p:nvPr/>
        </p:nvSpPr>
        <p:spPr>
          <a:xfrm>
            <a:off x="5166360" y="5486400"/>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External real users / selected customers</a:t>
            </a:r>
            <a:endParaRPr lang="en-US" sz="900" dirty="0"/>
          </a:p>
        </p:txBody>
      </p:sp>
      <p:sp>
        <p:nvSpPr>
          <p:cNvPr id="28" name="Shape 25"/>
          <p:cNvSpPr/>
          <p:nvPr/>
        </p:nvSpPr>
        <p:spPr>
          <a:xfrm>
            <a:off x="274320" y="5760720"/>
            <a:ext cx="1371600" cy="329184"/>
          </a:xfrm>
          <a:prstGeom prst="rect">
            <a:avLst/>
          </a:prstGeom>
          <a:solidFill>
            <a:srgbClr val="FFF5EE"/>
          </a:solidFill>
          <a:ln w="6350">
            <a:solidFill>
              <a:srgbClr val="DDCCBB"/>
            </a:solidFill>
            <a:prstDash val="solid"/>
          </a:ln>
        </p:spPr>
      </p:sp>
      <p:sp>
        <p:nvSpPr>
          <p:cNvPr id="29" name="Text 26"/>
          <p:cNvSpPr/>
          <p:nvPr/>
        </p:nvSpPr>
        <p:spPr>
          <a:xfrm>
            <a:off x="320040" y="5815584"/>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Environment</a:t>
            </a:r>
            <a:endParaRPr lang="en-US" sz="900" dirty="0"/>
          </a:p>
        </p:txBody>
      </p:sp>
      <p:sp>
        <p:nvSpPr>
          <p:cNvPr id="30" name="Shape 27"/>
          <p:cNvSpPr/>
          <p:nvPr/>
        </p:nvSpPr>
        <p:spPr>
          <a:xfrm>
            <a:off x="1645920" y="5760720"/>
            <a:ext cx="3474720" cy="329184"/>
          </a:xfrm>
          <a:prstGeom prst="rect">
            <a:avLst/>
          </a:prstGeom>
          <a:solidFill>
            <a:srgbClr val="FFF5EE"/>
          </a:solidFill>
          <a:ln w="6350">
            <a:solidFill>
              <a:srgbClr val="DDCCBB"/>
            </a:solidFill>
            <a:prstDash val="solid"/>
          </a:ln>
        </p:spPr>
      </p:sp>
      <p:sp>
        <p:nvSpPr>
          <p:cNvPr id="31" name="Text 28"/>
          <p:cNvSpPr/>
          <p:nvPr/>
        </p:nvSpPr>
        <p:spPr>
          <a:xfrm>
            <a:off x="1691640" y="5815584"/>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Controlled — QA or staging environment</a:t>
            </a:r>
            <a:endParaRPr lang="en-US" sz="900" dirty="0"/>
          </a:p>
        </p:txBody>
      </p:sp>
      <p:sp>
        <p:nvSpPr>
          <p:cNvPr id="32" name="Shape 29"/>
          <p:cNvSpPr/>
          <p:nvPr/>
        </p:nvSpPr>
        <p:spPr>
          <a:xfrm>
            <a:off x="5120640" y="5760720"/>
            <a:ext cx="3474720" cy="329184"/>
          </a:xfrm>
          <a:prstGeom prst="rect">
            <a:avLst/>
          </a:prstGeom>
          <a:solidFill>
            <a:srgbClr val="FFF5EE"/>
          </a:solidFill>
          <a:ln w="6350">
            <a:solidFill>
              <a:srgbClr val="DDCCBB"/>
            </a:solidFill>
            <a:prstDash val="solid"/>
          </a:ln>
        </p:spPr>
      </p:sp>
      <p:sp>
        <p:nvSpPr>
          <p:cNvPr id="33" name="Text 30"/>
          <p:cNvSpPr/>
          <p:nvPr/>
        </p:nvSpPr>
        <p:spPr>
          <a:xfrm>
            <a:off x="5166360" y="5815584"/>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Real-world — production-like or production</a:t>
            </a:r>
            <a:endParaRPr lang="en-US" sz="900" dirty="0"/>
          </a:p>
        </p:txBody>
      </p:sp>
      <p:sp>
        <p:nvSpPr>
          <p:cNvPr id="34" name="Shape 31"/>
          <p:cNvSpPr/>
          <p:nvPr/>
        </p:nvSpPr>
        <p:spPr>
          <a:xfrm>
            <a:off x="274320" y="6089904"/>
            <a:ext cx="1371600" cy="329184"/>
          </a:xfrm>
          <a:prstGeom prst="rect">
            <a:avLst/>
          </a:prstGeom>
          <a:solidFill>
            <a:srgbClr val="FFFFFF"/>
          </a:solidFill>
          <a:ln w="6350">
            <a:solidFill>
              <a:srgbClr val="DDCCBB"/>
            </a:solidFill>
            <a:prstDash val="solid"/>
          </a:ln>
        </p:spPr>
      </p:sp>
      <p:sp>
        <p:nvSpPr>
          <p:cNvPr id="35" name="Text 32"/>
          <p:cNvSpPr/>
          <p:nvPr/>
        </p:nvSpPr>
        <p:spPr>
          <a:xfrm>
            <a:off x="320040" y="6144768"/>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Feedback type</a:t>
            </a:r>
            <a:endParaRPr lang="en-US" sz="900" dirty="0"/>
          </a:p>
        </p:txBody>
      </p:sp>
      <p:sp>
        <p:nvSpPr>
          <p:cNvPr id="36" name="Shape 33"/>
          <p:cNvSpPr/>
          <p:nvPr/>
        </p:nvSpPr>
        <p:spPr>
          <a:xfrm>
            <a:off x="1645920" y="6089904"/>
            <a:ext cx="3474720" cy="329184"/>
          </a:xfrm>
          <a:prstGeom prst="rect">
            <a:avLst/>
          </a:prstGeom>
          <a:solidFill>
            <a:srgbClr val="FFFFFF"/>
          </a:solidFill>
          <a:ln w="6350">
            <a:solidFill>
              <a:srgbClr val="DDCCBB"/>
            </a:solidFill>
            <a:prstDash val="solid"/>
          </a:ln>
        </p:spPr>
      </p:sp>
      <p:sp>
        <p:nvSpPr>
          <p:cNvPr id="37" name="Text 34"/>
          <p:cNvSpPr/>
          <p:nvPr/>
        </p:nvSpPr>
        <p:spPr>
          <a:xfrm>
            <a:off x="1691640" y="6144768"/>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Detailed technical bug reports</a:t>
            </a:r>
            <a:endParaRPr lang="en-US" sz="900" dirty="0"/>
          </a:p>
        </p:txBody>
      </p:sp>
      <p:sp>
        <p:nvSpPr>
          <p:cNvPr id="38" name="Shape 35"/>
          <p:cNvSpPr/>
          <p:nvPr/>
        </p:nvSpPr>
        <p:spPr>
          <a:xfrm>
            <a:off x="5120640" y="6089904"/>
            <a:ext cx="3474720" cy="329184"/>
          </a:xfrm>
          <a:prstGeom prst="rect">
            <a:avLst/>
          </a:prstGeom>
          <a:solidFill>
            <a:srgbClr val="FFFFFF"/>
          </a:solidFill>
          <a:ln w="6350">
            <a:solidFill>
              <a:srgbClr val="DDCCBB"/>
            </a:solidFill>
            <a:prstDash val="solid"/>
          </a:ln>
        </p:spPr>
      </p:sp>
      <p:sp>
        <p:nvSpPr>
          <p:cNvPr id="39" name="Text 36"/>
          <p:cNvSpPr/>
          <p:nvPr/>
        </p:nvSpPr>
        <p:spPr>
          <a:xfrm>
            <a:off x="5166360" y="6144768"/>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User experience feedback + bug reports</a:t>
            </a:r>
            <a:endParaRPr lang="en-US" sz="900" dirty="0"/>
          </a:p>
        </p:txBody>
      </p:sp>
      <p:sp>
        <p:nvSpPr>
          <p:cNvPr id="40" name="Shape 37"/>
          <p:cNvSpPr/>
          <p:nvPr/>
        </p:nvSpPr>
        <p:spPr>
          <a:xfrm>
            <a:off x="274320" y="6419088"/>
            <a:ext cx="1371600" cy="329184"/>
          </a:xfrm>
          <a:prstGeom prst="rect">
            <a:avLst/>
          </a:prstGeom>
          <a:solidFill>
            <a:srgbClr val="FFF5EE"/>
          </a:solidFill>
          <a:ln w="6350">
            <a:solidFill>
              <a:srgbClr val="DDCCBB"/>
            </a:solidFill>
            <a:prstDash val="solid"/>
          </a:ln>
        </p:spPr>
      </p:sp>
      <p:sp>
        <p:nvSpPr>
          <p:cNvPr id="41" name="Text 38"/>
          <p:cNvSpPr/>
          <p:nvPr/>
        </p:nvSpPr>
        <p:spPr>
          <a:xfrm>
            <a:off x="320040" y="6473952"/>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Control</a:t>
            </a:r>
            <a:endParaRPr lang="en-US" sz="900" dirty="0"/>
          </a:p>
        </p:txBody>
      </p:sp>
      <p:sp>
        <p:nvSpPr>
          <p:cNvPr id="42" name="Shape 39"/>
          <p:cNvSpPr/>
          <p:nvPr/>
        </p:nvSpPr>
        <p:spPr>
          <a:xfrm>
            <a:off x="1645920" y="6419088"/>
            <a:ext cx="3474720" cy="329184"/>
          </a:xfrm>
          <a:prstGeom prst="rect">
            <a:avLst/>
          </a:prstGeom>
          <a:solidFill>
            <a:srgbClr val="FFF5EE"/>
          </a:solidFill>
          <a:ln w="6350">
            <a:solidFill>
              <a:srgbClr val="DDCCBB"/>
            </a:solidFill>
            <a:prstDash val="solid"/>
          </a:ln>
        </p:spPr>
      </p:sp>
      <p:sp>
        <p:nvSpPr>
          <p:cNvPr id="43" name="Text 40"/>
          <p:cNvSpPr/>
          <p:nvPr/>
        </p:nvSpPr>
        <p:spPr>
          <a:xfrm>
            <a:off x="1691640" y="6473952"/>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Full control by the company</a:t>
            </a:r>
            <a:endParaRPr lang="en-US" sz="900" dirty="0"/>
          </a:p>
        </p:txBody>
      </p:sp>
      <p:sp>
        <p:nvSpPr>
          <p:cNvPr id="44" name="Shape 41"/>
          <p:cNvSpPr/>
          <p:nvPr/>
        </p:nvSpPr>
        <p:spPr>
          <a:xfrm>
            <a:off x="5120640" y="6419088"/>
            <a:ext cx="3474720" cy="329184"/>
          </a:xfrm>
          <a:prstGeom prst="rect">
            <a:avLst/>
          </a:prstGeom>
          <a:solidFill>
            <a:srgbClr val="FFF5EE"/>
          </a:solidFill>
          <a:ln w="6350">
            <a:solidFill>
              <a:srgbClr val="DDCCBB"/>
            </a:solidFill>
            <a:prstDash val="solid"/>
          </a:ln>
        </p:spPr>
      </p:sp>
      <p:sp>
        <p:nvSpPr>
          <p:cNvPr id="45" name="Text 42"/>
          <p:cNvSpPr/>
          <p:nvPr/>
        </p:nvSpPr>
        <p:spPr>
          <a:xfrm>
            <a:off x="5166360" y="6473952"/>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Limited control — users in own environment</a:t>
            </a:r>
            <a:endParaRPr lang="en-US" sz="900" dirty="0"/>
          </a:p>
        </p:txBody>
      </p:sp>
      <p:sp>
        <p:nvSpPr>
          <p:cNvPr id="46" name="Shape 43"/>
          <p:cNvSpPr/>
          <p:nvPr/>
        </p:nvSpPr>
        <p:spPr>
          <a:xfrm>
            <a:off x="274320" y="6748272"/>
            <a:ext cx="1371600" cy="329184"/>
          </a:xfrm>
          <a:prstGeom prst="rect">
            <a:avLst/>
          </a:prstGeom>
          <a:solidFill>
            <a:srgbClr val="FFFFFF"/>
          </a:solidFill>
          <a:ln w="6350">
            <a:solidFill>
              <a:srgbClr val="DDCCBB"/>
            </a:solidFill>
            <a:prstDash val="solid"/>
          </a:ln>
        </p:spPr>
      </p:sp>
      <p:sp>
        <p:nvSpPr>
          <p:cNvPr id="47" name="Text 44"/>
          <p:cNvSpPr/>
          <p:nvPr/>
        </p:nvSpPr>
        <p:spPr>
          <a:xfrm>
            <a:off x="320040" y="6803136"/>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Timing</a:t>
            </a:r>
            <a:endParaRPr lang="en-US" sz="900" dirty="0"/>
          </a:p>
        </p:txBody>
      </p:sp>
      <p:sp>
        <p:nvSpPr>
          <p:cNvPr id="48" name="Shape 45"/>
          <p:cNvSpPr/>
          <p:nvPr/>
        </p:nvSpPr>
        <p:spPr>
          <a:xfrm>
            <a:off x="1645920" y="6748272"/>
            <a:ext cx="3474720" cy="329184"/>
          </a:xfrm>
          <a:prstGeom prst="rect">
            <a:avLst/>
          </a:prstGeom>
          <a:solidFill>
            <a:srgbClr val="FFFFFF"/>
          </a:solidFill>
          <a:ln w="6350">
            <a:solidFill>
              <a:srgbClr val="DDCCBB"/>
            </a:solidFill>
            <a:prstDash val="solid"/>
          </a:ln>
        </p:spPr>
      </p:sp>
      <p:sp>
        <p:nvSpPr>
          <p:cNvPr id="49" name="Text 46"/>
          <p:cNvSpPr/>
          <p:nvPr/>
        </p:nvSpPr>
        <p:spPr>
          <a:xfrm>
            <a:off x="1691640" y="6803136"/>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beta release</a:t>
            </a:r>
            <a:endParaRPr lang="en-US" sz="900" dirty="0"/>
          </a:p>
        </p:txBody>
      </p:sp>
      <p:sp>
        <p:nvSpPr>
          <p:cNvPr id="50" name="Shape 47"/>
          <p:cNvSpPr/>
          <p:nvPr/>
        </p:nvSpPr>
        <p:spPr>
          <a:xfrm>
            <a:off x="5120640" y="6748272"/>
            <a:ext cx="3474720" cy="329184"/>
          </a:xfrm>
          <a:prstGeom prst="rect">
            <a:avLst/>
          </a:prstGeom>
          <a:solidFill>
            <a:srgbClr val="FFFFFF"/>
          </a:solidFill>
          <a:ln w="6350">
            <a:solidFill>
              <a:srgbClr val="DDCCBB"/>
            </a:solidFill>
            <a:prstDash val="solid"/>
          </a:ln>
        </p:spPr>
      </p:sp>
      <p:sp>
        <p:nvSpPr>
          <p:cNvPr id="51" name="Text 48"/>
          <p:cNvSpPr/>
          <p:nvPr/>
        </p:nvSpPr>
        <p:spPr>
          <a:xfrm>
            <a:off x="5166360" y="6803136"/>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After alpha, before full public release</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90580D24-7151-4611-0384-CE04E30E5F9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7FFB3B-F61B-D9B9-5DC1-DF2FCB170862}"/>
              </a:ext>
            </a:extLst>
          </p:cNvPr>
          <p:cNvSpPr/>
          <p:nvPr/>
        </p:nvSpPr>
        <p:spPr>
          <a:xfrm>
            <a:off x="0" y="0"/>
            <a:ext cx="9144000" cy="621792"/>
          </a:xfrm>
          <a:prstGeom prst="rect">
            <a:avLst/>
          </a:prstGeom>
          <a:solidFill>
            <a:srgbClr val="E8670D"/>
          </a:solidFill>
          <a:ln/>
        </p:spPr>
      </p:sp>
      <p:sp>
        <p:nvSpPr>
          <p:cNvPr id="3" name="Text 1">
            <a:extLst>
              <a:ext uri="{FF2B5EF4-FFF2-40B4-BE49-F238E27FC236}">
                <a16:creationId xmlns:a16="http://schemas.microsoft.com/office/drawing/2014/main" id="{8276F20D-45F2-4F6A-7EA8-B764510B0C44}"/>
              </a:ext>
            </a:extLst>
          </p:cNvPr>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Alpha &amp; Beta Testing</a:t>
            </a:r>
            <a:endParaRPr lang="en-US" sz="2200" dirty="0"/>
          </a:p>
        </p:txBody>
      </p:sp>
      <p:sp>
        <p:nvSpPr>
          <p:cNvPr id="4" name="Text 2">
            <a:extLst>
              <a:ext uri="{FF2B5EF4-FFF2-40B4-BE49-F238E27FC236}">
                <a16:creationId xmlns:a16="http://schemas.microsoft.com/office/drawing/2014/main" id="{0A2AAF25-A9A4-7220-9245-3391E96613CF}"/>
              </a:ext>
            </a:extLst>
          </p:cNvPr>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Two sequential stages of pre-release validation with different audiences</a:t>
            </a:r>
            <a:endParaRPr lang="en-US" sz="1100" dirty="0"/>
          </a:p>
        </p:txBody>
      </p:sp>
      <p:sp>
        <p:nvSpPr>
          <p:cNvPr id="6" name="Shape 3">
            <a:extLst>
              <a:ext uri="{FF2B5EF4-FFF2-40B4-BE49-F238E27FC236}">
                <a16:creationId xmlns:a16="http://schemas.microsoft.com/office/drawing/2014/main" id="{B259AE7F-1560-5BDB-4345-B25BFC02B412}"/>
              </a:ext>
            </a:extLst>
          </p:cNvPr>
          <p:cNvSpPr/>
          <p:nvPr/>
        </p:nvSpPr>
        <p:spPr>
          <a:xfrm>
            <a:off x="7790688" y="658368"/>
            <a:ext cx="1298448" cy="347472"/>
          </a:xfrm>
          <a:prstGeom prst="rect">
            <a:avLst/>
          </a:prstGeom>
          <a:solidFill>
            <a:srgbClr val="E8670D"/>
          </a:solidFill>
          <a:ln/>
        </p:spPr>
      </p:sp>
      <p:sp>
        <p:nvSpPr>
          <p:cNvPr id="7" name="Text 4">
            <a:extLst>
              <a:ext uri="{FF2B5EF4-FFF2-40B4-BE49-F238E27FC236}">
                <a16:creationId xmlns:a16="http://schemas.microsoft.com/office/drawing/2014/main" id="{0872DD2A-FE5A-210C-389F-3CB0C806494F}"/>
              </a:ext>
            </a:extLst>
          </p:cNvPr>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UAT/Release</a:t>
            </a:r>
            <a:endParaRPr lang="en-US" sz="800" dirty="0"/>
          </a:p>
        </p:txBody>
      </p:sp>
      <p:sp>
        <p:nvSpPr>
          <p:cNvPr id="16" name="Shape 13">
            <a:extLst>
              <a:ext uri="{FF2B5EF4-FFF2-40B4-BE49-F238E27FC236}">
                <a16:creationId xmlns:a16="http://schemas.microsoft.com/office/drawing/2014/main" id="{DCDB0A83-B017-E83B-5F5C-B4AF69C5172F}"/>
              </a:ext>
            </a:extLst>
          </p:cNvPr>
          <p:cNvSpPr/>
          <p:nvPr/>
        </p:nvSpPr>
        <p:spPr>
          <a:xfrm>
            <a:off x="622663" y="1968246"/>
            <a:ext cx="1371600" cy="329184"/>
          </a:xfrm>
          <a:prstGeom prst="rect">
            <a:avLst/>
          </a:prstGeom>
          <a:solidFill>
            <a:srgbClr val="E8670D"/>
          </a:solidFill>
          <a:ln w="6350">
            <a:solidFill>
              <a:srgbClr val="DDCCBB"/>
            </a:solidFill>
            <a:prstDash val="solid"/>
          </a:ln>
        </p:spPr>
      </p:sp>
      <p:sp>
        <p:nvSpPr>
          <p:cNvPr id="17" name="Text 14">
            <a:extLst>
              <a:ext uri="{FF2B5EF4-FFF2-40B4-BE49-F238E27FC236}">
                <a16:creationId xmlns:a16="http://schemas.microsoft.com/office/drawing/2014/main" id="{1F6DD055-16D3-AF87-09E9-A6EAC5B306F5}"/>
              </a:ext>
            </a:extLst>
          </p:cNvPr>
          <p:cNvSpPr/>
          <p:nvPr/>
        </p:nvSpPr>
        <p:spPr>
          <a:xfrm>
            <a:off x="733697" y="2061401"/>
            <a:ext cx="128016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Factor</a:t>
            </a:r>
            <a:endParaRPr lang="en-US" sz="950" dirty="0"/>
          </a:p>
        </p:txBody>
      </p:sp>
      <p:sp>
        <p:nvSpPr>
          <p:cNvPr id="18" name="Shape 15">
            <a:extLst>
              <a:ext uri="{FF2B5EF4-FFF2-40B4-BE49-F238E27FC236}">
                <a16:creationId xmlns:a16="http://schemas.microsoft.com/office/drawing/2014/main" id="{E87614C1-7D51-3C55-0F00-90B79F04391B}"/>
              </a:ext>
            </a:extLst>
          </p:cNvPr>
          <p:cNvSpPr/>
          <p:nvPr/>
        </p:nvSpPr>
        <p:spPr>
          <a:xfrm>
            <a:off x="1994263" y="1995678"/>
            <a:ext cx="3474720" cy="329184"/>
          </a:xfrm>
          <a:prstGeom prst="rect">
            <a:avLst/>
          </a:prstGeom>
          <a:solidFill>
            <a:srgbClr val="E8670D"/>
          </a:solidFill>
          <a:ln w="6350">
            <a:solidFill>
              <a:srgbClr val="DDCCBB"/>
            </a:solidFill>
            <a:prstDash val="solid"/>
          </a:ln>
        </p:spPr>
      </p:sp>
      <p:sp>
        <p:nvSpPr>
          <p:cNvPr id="19" name="Text 16">
            <a:extLst>
              <a:ext uri="{FF2B5EF4-FFF2-40B4-BE49-F238E27FC236}">
                <a16:creationId xmlns:a16="http://schemas.microsoft.com/office/drawing/2014/main" id="{C1C0504F-C6FC-66D5-2560-3BBDC6E4F906}"/>
              </a:ext>
            </a:extLst>
          </p:cNvPr>
          <p:cNvSpPr/>
          <p:nvPr/>
        </p:nvSpPr>
        <p:spPr>
          <a:xfrm>
            <a:off x="2039983" y="2044827"/>
            <a:ext cx="338328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Alpha Testing</a:t>
            </a:r>
            <a:endParaRPr lang="en-US" sz="950" dirty="0"/>
          </a:p>
        </p:txBody>
      </p:sp>
      <p:sp>
        <p:nvSpPr>
          <p:cNvPr id="20" name="Shape 17">
            <a:extLst>
              <a:ext uri="{FF2B5EF4-FFF2-40B4-BE49-F238E27FC236}">
                <a16:creationId xmlns:a16="http://schemas.microsoft.com/office/drawing/2014/main" id="{72ED70A4-F00C-BC6E-8B3F-56B10E143816}"/>
              </a:ext>
            </a:extLst>
          </p:cNvPr>
          <p:cNvSpPr/>
          <p:nvPr/>
        </p:nvSpPr>
        <p:spPr>
          <a:xfrm>
            <a:off x="5455920" y="1995678"/>
            <a:ext cx="3474720" cy="329184"/>
          </a:xfrm>
          <a:prstGeom prst="rect">
            <a:avLst/>
          </a:prstGeom>
          <a:solidFill>
            <a:srgbClr val="E8670D"/>
          </a:solidFill>
          <a:ln w="6350">
            <a:solidFill>
              <a:srgbClr val="DDCCBB"/>
            </a:solidFill>
            <a:prstDash val="solid"/>
          </a:ln>
        </p:spPr>
      </p:sp>
      <p:sp>
        <p:nvSpPr>
          <p:cNvPr id="21" name="Text 18">
            <a:extLst>
              <a:ext uri="{FF2B5EF4-FFF2-40B4-BE49-F238E27FC236}">
                <a16:creationId xmlns:a16="http://schemas.microsoft.com/office/drawing/2014/main" id="{27AC16DF-4DBC-83D0-5D6B-86D9DBEE21F7}"/>
              </a:ext>
            </a:extLst>
          </p:cNvPr>
          <p:cNvSpPr/>
          <p:nvPr/>
        </p:nvSpPr>
        <p:spPr>
          <a:xfrm>
            <a:off x="5560423" y="2035683"/>
            <a:ext cx="338328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Beta Testing</a:t>
            </a:r>
            <a:endParaRPr lang="en-US" sz="950" dirty="0"/>
          </a:p>
        </p:txBody>
      </p:sp>
      <p:sp>
        <p:nvSpPr>
          <p:cNvPr id="22" name="Shape 19">
            <a:extLst>
              <a:ext uri="{FF2B5EF4-FFF2-40B4-BE49-F238E27FC236}">
                <a16:creationId xmlns:a16="http://schemas.microsoft.com/office/drawing/2014/main" id="{C8B430D3-A827-F7E7-8818-1E1E76B90696}"/>
              </a:ext>
            </a:extLst>
          </p:cNvPr>
          <p:cNvSpPr/>
          <p:nvPr/>
        </p:nvSpPr>
        <p:spPr>
          <a:xfrm>
            <a:off x="622663" y="2297430"/>
            <a:ext cx="1371600" cy="329184"/>
          </a:xfrm>
          <a:prstGeom prst="rect">
            <a:avLst/>
          </a:prstGeom>
          <a:solidFill>
            <a:srgbClr val="FFFFFF"/>
          </a:solidFill>
          <a:ln w="6350">
            <a:solidFill>
              <a:srgbClr val="DDCCBB"/>
            </a:solidFill>
            <a:prstDash val="solid"/>
          </a:ln>
        </p:spPr>
      </p:sp>
      <p:sp>
        <p:nvSpPr>
          <p:cNvPr id="23" name="Text 20">
            <a:extLst>
              <a:ext uri="{FF2B5EF4-FFF2-40B4-BE49-F238E27FC236}">
                <a16:creationId xmlns:a16="http://schemas.microsoft.com/office/drawing/2014/main" id="{E95440A9-F59D-F34A-0DF4-F51D31F0691D}"/>
              </a:ext>
            </a:extLst>
          </p:cNvPr>
          <p:cNvSpPr/>
          <p:nvPr/>
        </p:nvSpPr>
        <p:spPr>
          <a:xfrm>
            <a:off x="668383" y="2352294"/>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Who tests</a:t>
            </a:r>
            <a:endParaRPr lang="en-US" sz="900" dirty="0"/>
          </a:p>
        </p:txBody>
      </p:sp>
      <p:sp>
        <p:nvSpPr>
          <p:cNvPr id="24" name="Shape 21">
            <a:extLst>
              <a:ext uri="{FF2B5EF4-FFF2-40B4-BE49-F238E27FC236}">
                <a16:creationId xmlns:a16="http://schemas.microsoft.com/office/drawing/2014/main" id="{5E93B7E9-8301-4D1F-B6BB-4D977E9DCE25}"/>
              </a:ext>
            </a:extLst>
          </p:cNvPr>
          <p:cNvSpPr/>
          <p:nvPr/>
        </p:nvSpPr>
        <p:spPr>
          <a:xfrm>
            <a:off x="1994263" y="2297430"/>
            <a:ext cx="3474720" cy="329184"/>
          </a:xfrm>
          <a:prstGeom prst="rect">
            <a:avLst/>
          </a:prstGeom>
          <a:solidFill>
            <a:srgbClr val="FFFFFF"/>
          </a:solidFill>
          <a:ln w="6350">
            <a:solidFill>
              <a:srgbClr val="DDCCBB"/>
            </a:solidFill>
            <a:prstDash val="solid"/>
          </a:ln>
        </p:spPr>
      </p:sp>
      <p:sp>
        <p:nvSpPr>
          <p:cNvPr id="25" name="Text 22">
            <a:extLst>
              <a:ext uri="{FF2B5EF4-FFF2-40B4-BE49-F238E27FC236}">
                <a16:creationId xmlns:a16="http://schemas.microsoft.com/office/drawing/2014/main" id="{792424CA-61EA-49DA-72D9-158ED98F2DC4}"/>
              </a:ext>
            </a:extLst>
          </p:cNvPr>
          <p:cNvSpPr/>
          <p:nvPr/>
        </p:nvSpPr>
        <p:spPr>
          <a:xfrm>
            <a:off x="2039983" y="2352294"/>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Internal team (QA, Dev, PM, Employees)</a:t>
            </a:r>
            <a:endParaRPr lang="en-US" sz="900" dirty="0"/>
          </a:p>
        </p:txBody>
      </p:sp>
      <p:sp>
        <p:nvSpPr>
          <p:cNvPr id="26" name="Shape 23">
            <a:extLst>
              <a:ext uri="{FF2B5EF4-FFF2-40B4-BE49-F238E27FC236}">
                <a16:creationId xmlns:a16="http://schemas.microsoft.com/office/drawing/2014/main" id="{09692F55-34E3-59A6-041B-B805260F112D}"/>
              </a:ext>
            </a:extLst>
          </p:cNvPr>
          <p:cNvSpPr/>
          <p:nvPr/>
        </p:nvSpPr>
        <p:spPr>
          <a:xfrm>
            <a:off x="5468983" y="2297430"/>
            <a:ext cx="3474720" cy="329184"/>
          </a:xfrm>
          <a:prstGeom prst="rect">
            <a:avLst/>
          </a:prstGeom>
          <a:solidFill>
            <a:srgbClr val="FFFFFF"/>
          </a:solidFill>
          <a:ln w="6350">
            <a:solidFill>
              <a:srgbClr val="DDCCBB"/>
            </a:solidFill>
            <a:prstDash val="solid"/>
          </a:ln>
        </p:spPr>
      </p:sp>
      <p:sp>
        <p:nvSpPr>
          <p:cNvPr id="27" name="Text 24">
            <a:extLst>
              <a:ext uri="{FF2B5EF4-FFF2-40B4-BE49-F238E27FC236}">
                <a16:creationId xmlns:a16="http://schemas.microsoft.com/office/drawing/2014/main" id="{91D84EB6-DCBD-EBE6-F3AE-B9CC456EE361}"/>
              </a:ext>
            </a:extLst>
          </p:cNvPr>
          <p:cNvSpPr/>
          <p:nvPr/>
        </p:nvSpPr>
        <p:spPr>
          <a:xfrm>
            <a:off x="5514703" y="2352294"/>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External real users / selected customers</a:t>
            </a:r>
            <a:endParaRPr lang="en-US" sz="900" dirty="0"/>
          </a:p>
        </p:txBody>
      </p:sp>
      <p:sp>
        <p:nvSpPr>
          <p:cNvPr id="28" name="Shape 25">
            <a:extLst>
              <a:ext uri="{FF2B5EF4-FFF2-40B4-BE49-F238E27FC236}">
                <a16:creationId xmlns:a16="http://schemas.microsoft.com/office/drawing/2014/main" id="{F7220BC6-4C7B-C295-017B-968919A6B0E0}"/>
              </a:ext>
            </a:extLst>
          </p:cNvPr>
          <p:cNvSpPr/>
          <p:nvPr/>
        </p:nvSpPr>
        <p:spPr>
          <a:xfrm>
            <a:off x="622663" y="2626614"/>
            <a:ext cx="1371600" cy="329184"/>
          </a:xfrm>
          <a:prstGeom prst="rect">
            <a:avLst/>
          </a:prstGeom>
          <a:solidFill>
            <a:srgbClr val="FFF5EE"/>
          </a:solidFill>
          <a:ln w="6350">
            <a:solidFill>
              <a:srgbClr val="DDCCBB"/>
            </a:solidFill>
            <a:prstDash val="solid"/>
          </a:ln>
        </p:spPr>
      </p:sp>
      <p:sp>
        <p:nvSpPr>
          <p:cNvPr id="29" name="Text 26">
            <a:extLst>
              <a:ext uri="{FF2B5EF4-FFF2-40B4-BE49-F238E27FC236}">
                <a16:creationId xmlns:a16="http://schemas.microsoft.com/office/drawing/2014/main" id="{ADACC449-1402-67D9-05C1-387F5564A715}"/>
              </a:ext>
            </a:extLst>
          </p:cNvPr>
          <p:cNvSpPr/>
          <p:nvPr/>
        </p:nvSpPr>
        <p:spPr>
          <a:xfrm>
            <a:off x="668383" y="2681478"/>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Environment</a:t>
            </a:r>
            <a:endParaRPr lang="en-US" sz="900" dirty="0"/>
          </a:p>
        </p:txBody>
      </p:sp>
      <p:sp>
        <p:nvSpPr>
          <p:cNvPr id="30" name="Shape 27">
            <a:extLst>
              <a:ext uri="{FF2B5EF4-FFF2-40B4-BE49-F238E27FC236}">
                <a16:creationId xmlns:a16="http://schemas.microsoft.com/office/drawing/2014/main" id="{957FFB71-4B59-8C27-1502-F021D9DEDAF1}"/>
              </a:ext>
            </a:extLst>
          </p:cNvPr>
          <p:cNvSpPr/>
          <p:nvPr/>
        </p:nvSpPr>
        <p:spPr>
          <a:xfrm>
            <a:off x="1994263" y="2626614"/>
            <a:ext cx="3474720" cy="329184"/>
          </a:xfrm>
          <a:prstGeom prst="rect">
            <a:avLst/>
          </a:prstGeom>
          <a:solidFill>
            <a:srgbClr val="FFF5EE"/>
          </a:solidFill>
          <a:ln w="6350">
            <a:solidFill>
              <a:srgbClr val="DDCCBB"/>
            </a:solidFill>
            <a:prstDash val="solid"/>
          </a:ln>
        </p:spPr>
      </p:sp>
      <p:sp>
        <p:nvSpPr>
          <p:cNvPr id="31" name="Text 28">
            <a:extLst>
              <a:ext uri="{FF2B5EF4-FFF2-40B4-BE49-F238E27FC236}">
                <a16:creationId xmlns:a16="http://schemas.microsoft.com/office/drawing/2014/main" id="{2A414BC4-A694-2973-C7BF-3B81E9AC19B9}"/>
              </a:ext>
            </a:extLst>
          </p:cNvPr>
          <p:cNvSpPr/>
          <p:nvPr/>
        </p:nvSpPr>
        <p:spPr>
          <a:xfrm>
            <a:off x="2039983" y="2681478"/>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Controlled — QA or staging environment</a:t>
            </a:r>
            <a:endParaRPr lang="en-US" sz="900" dirty="0"/>
          </a:p>
        </p:txBody>
      </p:sp>
      <p:sp>
        <p:nvSpPr>
          <p:cNvPr id="32" name="Shape 29">
            <a:extLst>
              <a:ext uri="{FF2B5EF4-FFF2-40B4-BE49-F238E27FC236}">
                <a16:creationId xmlns:a16="http://schemas.microsoft.com/office/drawing/2014/main" id="{13BF17E0-9AB6-6868-608B-C73AE640D729}"/>
              </a:ext>
            </a:extLst>
          </p:cNvPr>
          <p:cNvSpPr/>
          <p:nvPr/>
        </p:nvSpPr>
        <p:spPr>
          <a:xfrm>
            <a:off x="5468983" y="2626614"/>
            <a:ext cx="3474720" cy="329184"/>
          </a:xfrm>
          <a:prstGeom prst="rect">
            <a:avLst/>
          </a:prstGeom>
          <a:solidFill>
            <a:srgbClr val="FFF5EE"/>
          </a:solidFill>
          <a:ln w="6350">
            <a:solidFill>
              <a:srgbClr val="DDCCBB"/>
            </a:solidFill>
            <a:prstDash val="solid"/>
          </a:ln>
        </p:spPr>
      </p:sp>
      <p:sp>
        <p:nvSpPr>
          <p:cNvPr id="33" name="Text 30">
            <a:extLst>
              <a:ext uri="{FF2B5EF4-FFF2-40B4-BE49-F238E27FC236}">
                <a16:creationId xmlns:a16="http://schemas.microsoft.com/office/drawing/2014/main" id="{97E4FDA8-6141-8CA9-9B66-4671C2D1BD84}"/>
              </a:ext>
            </a:extLst>
          </p:cNvPr>
          <p:cNvSpPr/>
          <p:nvPr/>
        </p:nvSpPr>
        <p:spPr>
          <a:xfrm>
            <a:off x="5514703" y="2681478"/>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Real-world — production-like or production</a:t>
            </a:r>
            <a:endParaRPr lang="en-US" sz="900" dirty="0"/>
          </a:p>
        </p:txBody>
      </p:sp>
      <p:sp>
        <p:nvSpPr>
          <p:cNvPr id="34" name="Shape 31">
            <a:extLst>
              <a:ext uri="{FF2B5EF4-FFF2-40B4-BE49-F238E27FC236}">
                <a16:creationId xmlns:a16="http://schemas.microsoft.com/office/drawing/2014/main" id="{536095F2-6268-3468-2974-DB0626537A44}"/>
              </a:ext>
            </a:extLst>
          </p:cNvPr>
          <p:cNvSpPr/>
          <p:nvPr/>
        </p:nvSpPr>
        <p:spPr>
          <a:xfrm>
            <a:off x="622663" y="2955798"/>
            <a:ext cx="1371600" cy="329184"/>
          </a:xfrm>
          <a:prstGeom prst="rect">
            <a:avLst/>
          </a:prstGeom>
          <a:solidFill>
            <a:srgbClr val="FFFFFF"/>
          </a:solidFill>
          <a:ln w="6350">
            <a:solidFill>
              <a:srgbClr val="DDCCBB"/>
            </a:solidFill>
            <a:prstDash val="solid"/>
          </a:ln>
        </p:spPr>
      </p:sp>
      <p:sp>
        <p:nvSpPr>
          <p:cNvPr id="35" name="Text 32">
            <a:extLst>
              <a:ext uri="{FF2B5EF4-FFF2-40B4-BE49-F238E27FC236}">
                <a16:creationId xmlns:a16="http://schemas.microsoft.com/office/drawing/2014/main" id="{EB2F8891-34FD-1D3C-25A4-33621D3E8859}"/>
              </a:ext>
            </a:extLst>
          </p:cNvPr>
          <p:cNvSpPr/>
          <p:nvPr/>
        </p:nvSpPr>
        <p:spPr>
          <a:xfrm>
            <a:off x="668383" y="3010662"/>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Feedback type</a:t>
            </a:r>
            <a:endParaRPr lang="en-US" sz="900" dirty="0"/>
          </a:p>
        </p:txBody>
      </p:sp>
      <p:sp>
        <p:nvSpPr>
          <p:cNvPr id="36" name="Shape 33">
            <a:extLst>
              <a:ext uri="{FF2B5EF4-FFF2-40B4-BE49-F238E27FC236}">
                <a16:creationId xmlns:a16="http://schemas.microsoft.com/office/drawing/2014/main" id="{D771DAEB-30D1-2717-101A-651881F67775}"/>
              </a:ext>
            </a:extLst>
          </p:cNvPr>
          <p:cNvSpPr/>
          <p:nvPr/>
        </p:nvSpPr>
        <p:spPr>
          <a:xfrm>
            <a:off x="1994263" y="2955798"/>
            <a:ext cx="3474720" cy="329184"/>
          </a:xfrm>
          <a:prstGeom prst="rect">
            <a:avLst/>
          </a:prstGeom>
          <a:solidFill>
            <a:srgbClr val="FFFFFF"/>
          </a:solidFill>
          <a:ln w="6350">
            <a:solidFill>
              <a:srgbClr val="DDCCBB"/>
            </a:solidFill>
            <a:prstDash val="solid"/>
          </a:ln>
        </p:spPr>
      </p:sp>
      <p:sp>
        <p:nvSpPr>
          <p:cNvPr id="37" name="Text 34">
            <a:extLst>
              <a:ext uri="{FF2B5EF4-FFF2-40B4-BE49-F238E27FC236}">
                <a16:creationId xmlns:a16="http://schemas.microsoft.com/office/drawing/2014/main" id="{001F7E23-6AAA-FB59-3D37-565B5D52EB4B}"/>
              </a:ext>
            </a:extLst>
          </p:cNvPr>
          <p:cNvSpPr/>
          <p:nvPr/>
        </p:nvSpPr>
        <p:spPr>
          <a:xfrm>
            <a:off x="2039983" y="3010662"/>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Detailed technical bug reports</a:t>
            </a:r>
            <a:endParaRPr lang="en-US" sz="900" dirty="0"/>
          </a:p>
        </p:txBody>
      </p:sp>
      <p:sp>
        <p:nvSpPr>
          <p:cNvPr id="38" name="Shape 35">
            <a:extLst>
              <a:ext uri="{FF2B5EF4-FFF2-40B4-BE49-F238E27FC236}">
                <a16:creationId xmlns:a16="http://schemas.microsoft.com/office/drawing/2014/main" id="{CE30E0C5-88DD-2912-73B7-C2D73F6B711E}"/>
              </a:ext>
            </a:extLst>
          </p:cNvPr>
          <p:cNvSpPr/>
          <p:nvPr/>
        </p:nvSpPr>
        <p:spPr>
          <a:xfrm>
            <a:off x="5468983" y="2955798"/>
            <a:ext cx="3474720" cy="329184"/>
          </a:xfrm>
          <a:prstGeom prst="rect">
            <a:avLst/>
          </a:prstGeom>
          <a:solidFill>
            <a:srgbClr val="FFFFFF"/>
          </a:solidFill>
          <a:ln w="6350">
            <a:solidFill>
              <a:srgbClr val="DDCCBB"/>
            </a:solidFill>
            <a:prstDash val="solid"/>
          </a:ln>
        </p:spPr>
      </p:sp>
      <p:sp>
        <p:nvSpPr>
          <p:cNvPr id="39" name="Text 36">
            <a:extLst>
              <a:ext uri="{FF2B5EF4-FFF2-40B4-BE49-F238E27FC236}">
                <a16:creationId xmlns:a16="http://schemas.microsoft.com/office/drawing/2014/main" id="{797FADFA-7B7E-0955-1D16-5ADDFB3744B1}"/>
              </a:ext>
            </a:extLst>
          </p:cNvPr>
          <p:cNvSpPr/>
          <p:nvPr/>
        </p:nvSpPr>
        <p:spPr>
          <a:xfrm>
            <a:off x="5514703" y="3010662"/>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User experience feedback + bug reports</a:t>
            </a:r>
            <a:endParaRPr lang="en-US" sz="900" dirty="0"/>
          </a:p>
        </p:txBody>
      </p:sp>
      <p:sp>
        <p:nvSpPr>
          <p:cNvPr id="40" name="Shape 37">
            <a:extLst>
              <a:ext uri="{FF2B5EF4-FFF2-40B4-BE49-F238E27FC236}">
                <a16:creationId xmlns:a16="http://schemas.microsoft.com/office/drawing/2014/main" id="{CCC50CAA-4D1F-EA7C-0AF5-08DBE673D4A8}"/>
              </a:ext>
            </a:extLst>
          </p:cNvPr>
          <p:cNvSpPr/>
          <p:nvPr/>
        </p:nvSpPr>
        <p:spPr>
          <a:xfrm>
            <a:off x="622663" y="3284982"/>
            <a:ext cx="1371600" cy="329184"/>
          </a:xfrm>
          <a:prstGeom prst="rect">
            <a:avLst/>
          </a:prstGeom>
          <a:solidFill>
            <a:srgbClr val="FFF5EE"/>
          </a:solidFill>
          <a:ln w="6350">
            <a:solidFill>
              <a:srgbClr val="DDCCBB"/>
            </a:solidFill>
            <a:prstDash val="solid"/>
          </a:ln>
        </p:spPr>
      </p:sp>
      <p:sp>
        <p:nvSpPr>
          <p:cNvPr id="41" name="Text 38">
            <a:extLst>
              <a:ext uri="{FF2B5EF4-FFF2-40B4-BE49-F238E27FC236}">
                <a16:creationId xmlns:a16="http://schemas.microsoft.com/office/drawing/2014/main" id="{BC6058B7-6C68-EBC3-4C0F-99658FE81B34}"/>
              </a:ext>
            </a:extLst>
          </p:cNvPr>
          <p:cNvSpPr/>
          <p:nvPr/>
        </p:nvSpPr>
        <p:spPr>
          <a:xfrm>
            <a:off x="668383" y="3339846"/>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Control</a:t>
            </a:r>
            <a:endParaRPr lang="en-US" sz="900" dirty="0"/>
          </a:p>
        </p:txBody>
      </p:sp>
      <p:sp>
        <p:nvSpPr>
          <p:cNvPr id="42" name="Shape 39">
            <a:extLst>
              <a:ext uri="{FF2B5EF4-FFF2-40B4-BE49-F238E27FC236}">
                <a16:creationId xmlns:a16="http://schemas.microsoft.com/office/drawing/2014/main" id="{2143C833-753B-2411-37EE-A7D14D5889A2}"/>
              </a:ext>
            </a:extLst>
          </p:cNvPr>
          <p:cNvSpPr/>
          <p:nvPr/>
        </p:nvSpPr>
        <p:spPr>
          <a:xfrm>
            <a:off x="1994263" y="3284982"/>
            <a:ext cx="3474720" cy="329184"/>
          </a:xfrm>
          <a:prstGeom prst="rect">
            <a:avLst/>
          </a:prstGeom>
          <a:solidFill>
            <a:srgbClr val="FFF5EE"/>
          </a:solidFill>
          <a:ln w="6350">
            <a:solidFill>
              <a:srgbClr val="DDCCBB"/>
            </a:solidFill>
            <a:prstDash val="solid"/>
          </a:ln>
        </p:spPr>
      </p:sp>
      <p:sp>
        <p:nvSpPr>
          <p:cNvPr id="43" name="Text 40">
            <a:extLst>
              <a:ext uri="{FF2B5EF4-FFF2-40B4-BE49-F238E27FC236}">
                <a16:creationId xmlns:a16="http://schemas.microsoft.com/office/drawing/2014/main" id="{280C95CB-8350-B5DC-D4BF-70688F8E8AA2}"/>
              </a:ext>
            </a:extLst>
          </p:cNvPr>
          <p:cNvSpPr/>
          <p:nvPr/>
        </p:nvSpPr>
        <p:spPr>
          <a:xfrm>
            <a:off x="2039983" y="3339846"/>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Full control by the company</a:t>
            </a:r>
            <a:endParaRPr lang="en-US" sz="900" dirty="0"/>
          </a:p>
        </p:txBody>
      </p:sp>
      <p:sp>
        <p:nvSpPr>
          <p:cNvPr id="44" name="Shape 41">
            <a:extLst>
              <a:ext uri="{FF2B5EF4-FFF2-40B4-BE49-F238E27FC236}">
                <a16:creationId xmlns:a16="http://schemas.microsoft.com/office/drawing/2014/main" id="{5393773C-6A3E-644A-8704-C145C94D64E1}"/>
              </a:ext>
            </a:extLst>
          </p:cNvPr>
          <p:cNvSpPr/>
          <p:nvPr/>
        </p:nvSpPr>
        <p:spPr>
          <a:xfrm>
            <a:off x="5468983" y="3284982"/>
            <a:ext cx="3474720" cy="329184"/>
          </a:xfrm>
          <a:prstGeom prst="rect">
            <a:avLst/>
          </a:prstGeom>
          <a:solidFill>
            <a:srgbClr val="FFF5EE"/>
          </a:solidFill>
          <a:ln w="6350">
            <a:solidFill>
              <a:srgbClr val="DDCCBB"/>
            </a:solidFill>
            <a:prstDash val="solid"/>
          </a:ln>
        </p:spPr>
      </p:sp>
      <p:sp>
        <p:nvSpPr>
          <p:cNvPr id="45" name="Text 42">
            <a:extLst>
              <a:ext uri="{FF2B5EF4-FFF2-40B4-BE49-F238E27FC236}">
                <a16:creationId xmlns:a16="http://schemas.microsoft.com/office/drawing/2014/main" id="{1BEA96CC-E824-92BD-CE00-06EA42A97659}"/>
              </a:ext>
            </a:extLst>
          </p:cNvPr>
          <p:cNvSpPr/>
          <p:nvPr/>
        </p:nvSpPr>
        <p:spPr>
          <a:xfrm>
            <a:off x="5514703" y="3339846"/>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Limited control — users in own environment</a:t>
            </a:r>
            <a:endParaRPr lang="en-US" sz="900" dirty="0"/>
          </a:p>
        </p:txBody>
      </p:sp>
      <p:sp>
        <p:nvSpPr>
          <p:cNvPr id="46" name="Shape 43">
            <a:extLst>
              <a:ext uri="{FF2B5EF4-FFF2-40B4-BE49-F238E27FC236}">
                <a16:creationId xmlns:a16="http://schemas.microsoft.com/office/drawing/2014/main" id="{F726136C-3CBD-D03E-91C3-5CF718CCE360}"/>
              </a:ext>
            </a:extLst>
          </p:cNvPr>
          <p:cNvSpPr/>
          <p:nvPr/>
        </p:nvSpPr>
        <p:spPr>
          <a:xfrm>
            <a:off x="622663" y="3614166"/>
            <a:ext cx="1371600" cy="329184"/>
          </a:xfrm>
          <a:prstGeom prst="rect">
            <a:avLst/>
          </a:prstGeom>
          <a:solidFill>
            <a:srgbClr val="FFFFFF"/>
          </a:solidFill>
          <a:ln w="6350">
            <a:solidFill>
              <a:srgbClr val="DDCCBB"/>
            </a:solidFill>
            <a:prstDash val="solid"/>
          </a:ln>
        </p:spPr>
      </p:sp>
      <p:sp>
        <p:nvSpPr>
          <p:cNvPr id="47" name="Text 44">
            <a:extLst>
              <a:ext uri="{FF2B5EF4-FFF2-40B4-BE49-F238E27FC236}">
                <a16:creationId xmlns:a16="http://schemas.microsoft.com/office/drawing/2014/main" id="{AA8C990E-61BB-2A3C-70D4-530C17025C62}"/>
              </a:ext>
            </a:extLst>
          </p:cNvPr>
          <p:cNvSpPr/>
          <p:nvPr/>
        </p:nvSpPr>
        <p:spPr>
          <a:xfrm>
            <a:off x="668383" y="3669030"/>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Timing</a:t>
            </a:r>
            <a:endParaRPr lang="en-US" sz="900" dirty="0"/>
          </a:p>
        </p:txBody>
      </p:sp>
      <p:sp>
        <p:nvSpPr>
          <p:cNvPr id="48" name="Shape 45">
            <a:extLst>
              <a:ext uri="{FF2B5EF4-FFF2-40B4-BE49-F238E27FC236}">
                <a16:creationId xmlns:a16="http://schemas.microsoft.com/office/drawing/2014/main" id="{8C0585EF-0B32-4932-684F-2557A56BB711}"/>
              </a:ext>
            </a:extLst>
          </p:cNvPr>
          <p:cNvSpPr/>
          <p:nvPr/>
        </p:nvSpPr>
        <p:spPr>
          <a:xfrm>
            <a:off x="1994263" y="3614166"/>
            <a:ext cx="3474720" cy="329184"/>
          </a:xfrm>
          <a:prstGeom prst="rect">
            <a:avLst/>
          </a:prstGeom>
          <a:solidFill>
            <a:srgbClr val="FFFFFF"/>
          </a:solidFill>
          <a:ln w="6350">
            <a:solidFill>
              <a:srgbClr val="DDCCBB"/>
            </a:solidFill>
            <a:prstDash val="solid"/>
          </a:ln>
        </p:spPr>
      </p:sp>
      <p:sp>
        <p:nvSpPr>
          <p:cNvPr id="49" name="Text 46">
            <a:extLst>
              <a:ext uri="{FF2B5EF4-FFF2-40B4-BE49-F238E27FC236}">
                <a16:creationId xmlns:a16="http://schemas.microsoft.com/office/drawing/2014/main" id="{48DC661C-C1C7-2D0B-8BA8-95180C60E173}"/>
              </a:ext>
            </a:extLst>
          </p:cNvPr>
          <p:cNvSpPr/>
          <p:nvPr/>
        </p:nvSpPr>
        <p:spPr>
          <a:xfrm>
            <a:off x="2039983" y="3669030"/>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beta release</a:t>
            </a:r>
            <a:endParaRPr lang="en-US" sz="900" dirty="0"/>
          </a:p>
        </p:txBody>
      </p:sp>
      <p:sp>
        <p:nvSpPr>
          <p:cNvPr id="50" name="Shape 47">
            <a:extLst>
              <a:ext uri="{FF2B5EF4-FFF2-40B4-BE49-F238E27FC236}">
                <a16:creationId xmlns:a16="http://schemas.microsoft.com/office/drawing/2014/main" id="{F1CF7300-E971-5526-E4D9-DE6D3A99C35A}"/>
              </a:ext>
            </a:extLst>
          </p:cNvPr>
          <p:cNvSpPr/>
          <p:nvPr/>
        </p:nvSpPr>
        <p:spPr>
          <a:xfrm>
            <a:off x="5468983" y="3614166"/>
            <a:ext cx="3474720" cy="329184"/>
          </a:xfrm>
          <a:prstGeom prst="rect">
            <a:avLst/>
          </a:prstGeom>
          <a:solidFill>
            <a:srgbClr val="FFFFFF"/>
          </a:solidFill>
          <a:ln w="6350">
            <a:solidFill>
              <a:srgbClr val="DDCCBB"/>
            </a:solidFill>
            <a:prstDash val="solid"/>
          </a:ln>
        </p:spPr>
      </p:sp>
      <p:sp>
        <p:nvSpPr>
          <p:cNvPr id="51" name="Text 48">
            <a:extLst>
              <a:ext uri="{FF2B5EF4-FFF2-40B4-BE49-F238E27FC236}">
                <a16:creationId xmlns:a16="http://schemas.microsoft.com/office/drawing/2014/main" id="{A97486B7-2306-0CB7-B66E-0F1112268D74}"/>
              </a:ext>
            </a:extLst>
          </p:cNvPr>
          <p:cNvSpPr/>
          <p:nvPr/>
        </p:nvSpPr>
        <p:spPr>
          <a:xfrm>
            <a:off x="5514703" y="3669030"/>
            <a:ext cx="338328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After alpha, before full public release</a:t>
            </a:r>
            <a:endParaRPr lang="en-US" sz="900" dirty="0"/>
          </a:p>
        </p:txBody>
      </p:sp>
    </p:spTree>
    <p:extLst>
      <p:ext uri="{BB962C8B-B14F-4D97-AF65-F5344CB8AC3E}">
        <p14:creationId xmlns:p14="http://schemas.microsoft.com/office/powerpoint/2010/main" val="1793358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5669280" y="91440"/>
            <a:ext cx="3200400" cy="4572000"/>
          </a:xfrm>
          <a:prstGeom prst="rect">
            <a:avLst/>
          </a:prstGeom>
          <a:noFill/>
          <a:ln/>
        </p:spPr>
        <p:txBody>
          <a:bodyPr wrap="square" lIns="0" tIns="0" rIns="0" bIns="0" rtlCol="0" anchor="ctr"/>
          <a:lstStyle/>
          <a:p>
            <a:pPr marL="0" indent="0" algn="r">
              <a:buNone/>
            </a:pPr>
            <a:r>
              <a:rPr lang="en-US" sz="22000" b="1" dirty="0">
                <a:solidFill>
                  <a:srgbClr val="1E1E1E"/>
                </a:solidFill>
                <a:latin typeface="Calibri" pitchFamily="34" charset="0"/>
                <a:ea typeface="Calibri" pitchFamily="34" charset="-122"/>
                <a:cs typeface="Calibri" pitchFamily="34" charset="-120"/>
              </a:rPr>
              <a:t>8</a:t>
            </a:r>
            <a:endParaRPr lang="en-US" sz="22000" dirty="0"/>
          </a:p>
        </p:txBody>
      </p:sp>
      <p:sp>
        <p:nvSpPr>
          <p:cNvPr id="5" name="Text 3"/>
          <p:cNvSpPr/>
          <p:nvPr/>
        </p:nvSpPr>
        <p:spPr>
          <a:xfrm>
            <a:off x="457200" y="1097280"/>
            <a:ext cx="3657600" cy="384048"/>
          </a:xfrm>
          <a:prstGeom prst="rect">
            <a:avLst/>
          </a:prstGeom>
          <a:noFill/>
          <a:ln/>
        </p:spPr>
        <p:txBody>
          <a:bodyPr wrap="square" rtlCol="0" anchor="ctr"/>
          <a:lstStyle/>
          <a:p>
            <a:pPr marL="0" indent="0">
              <a:buNone/>
            </a:pPr>
            <a:r>
              <a:rPr lang="en-US" sz="1200" b="1" kern="0" spc="500" dirty="0">
                <a:solidFill>
                  <a:srgbClr val="E8670D"/>
                </a:solidFill>
                <a:latin typeface="Calibri" pitchFamily="34" charset="0"/>
                <a:ea typeface="Calibri" pitchFamily="34" charset="-122"/>
                <a:cs typeface="Calibri" pitchFamily="34" charset="-120"/>
              </a:rPr>
              <a:t>SECTION</a:t>
            </a:r>
            <a:endParaRPr lang="en-US" sz="1200" dirty="0"/>
          </a:p>
        </p:txBody>
      </p:sp>
      <p:sp>
        <p:nvSpPr>
          <p:cNvPr id="6" name="Text 4"/>
          <p:cNvSpPr/>
          <p:nvPr/>
        </p:nvSpPr>
        <p:spPr>
          <a:xfrm>
            <a:off x="457200" y="1508760"/>
            <a:ext cx="1097280" cy="8686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8</a:t>
            </a:r>
            <a:endParaRPr lang="en-US" sz="5800" dirty="0"/>
          </a:p>
        </p:txBody>
      </p:sp>
      <p:sp>
        <p:nvSpPr>
          <p:cNvPr id="7" name="Shape 5"/>
          <p:cNvSpPr/>
          <p:nvPr/>
        </p:nvSpPr>
        <p:spPr>
          <a:xfrm>
            <a:off x="457200" y="2487168"/>
            <a:ext cx="5029200" cy="54864"/>
          </a:xfrm>
          <a:prstGeom prst="rect">
            <a:avLst/>
          </a:prstGeom>
          <a:solidFill>
            <a:srgbClr val="E8670D"/>
          </a:solidFill>
          <a:ln/>
        </p:spPr>
      </p:sp>
      <p:sp>
        <p:nvSpPr>
          <p:cNvPr id="8" name="Text 6"/>
          <p:cNvSpPr/>
          <p:nvPr/>
        </p:nvSpPr>
        <p:spPr>
          <a:xfrm>
            <a:off x="457200" y="2606040"/>
            <a:ext cx="8046720" cy="11887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Test Automation in Modern QA</a:t>
            </a:r>
            <a:endParaRPr lang="en-US" sz="3000" dirty="0"/>
          </a:p>
        </p:txBody>
      </p:sp>
      <p:sp>
        <p:nvSpPr>
          <p:cNvPr id="9" name="Text 7"/>
          <p:cNvSpPr/>
          <p:nvPr/>
        </p:nvSpPr>
        <p:spPr>
          <a:xfrm>
            <a:off x="457200" y="3858768"/>
            <a:ext cx="7772400" cy="640080"/>
          </a:xfrm>
          <a:prstGeom prst="rect">
            <a:avLst/>
          </a:prstGeom>
          <a:noFill/>
          <a:ln/>
        </p:spPr>
        <p:txBody>
          <a:bodyPr wrap="square" rtlCol="0" anchor="ctr"/>
          <a:lstStyle/>
          <a:p>
            <a:pPr marL="0" indent="0">
              <a:buNone/>
            </a:pPr>
            <a:r>
              <a:rPr lang="en-US" sz="1300" dirty="0">
                <a:solidFill>
                  <a:srgbClr val="AAAAAA"/>
                </a:solidFill>
                <a:latin typeface="Calibri" pitchFamily="34" charset="0"/>
                <a:ea typeface="Calibri" pitchFamily="34" charset="-122"/>
                <a:cs typeface="Calibri" pitchFamily="34" charset="-120"/>
              </a:rPr>
              <a:t>Selenium • Playwright • IntelliJ • Eclipse — tools and workflow</a:t>
            </a:r>
            <a:endParaRPr lang="en-US" sz="1300" dirty="0"/>
          </a:p>
        </p:txBody>
      </p:sp>
      <p:pic>
        <p:nvPicPr>
          <p:cNvPr id="10" name="Image 0" descr="preencoded.png"/>
          <p:cNvPicPr>
            <a:picLocks noChangeAspect="1"/>
          </p:cNvPicPr>
          <p:nvPr/>
        </p:nvPicPr>
        <p:blipFill>
          <a:blip r:embed="rId3"/>
          <a:stretch>
            <a:fillRect/>
          </a:stretch>
        </p:blipFill>
        <p:spPr>
          <a:xfrm>
            <a:off x="7132320" y="457200"/>
            <a:ext cx="1371600" cy="13716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Role of Automation in Modern Quality Engineering</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Why automation is no longer optional — it is a core QA engineering discipline</a:t>
            </a:r>
            <a:endParaRPr lang="en-US" sz="1100" dirty="0"/>
          </a:p>
        </p:txBody>
      </p:sp>
      <p:sp>
        <p:nvSpPr>
          <p:cNvPr id="6" name="Shape 3"/>
          <p:cNvSpPr/>
          <p:nvPr/>
        </p:nvSpPr>
        <p:spPr>
          <a:xfrm>
            <a:off x="274320" y="960120"/>
            <a:ext cx="8595360" cy="621792"/>
          </a:xfrm>
          <a:prstGeom prst="rect">
            <a:avLst/>
          </a:prstGeom>
          <a:solidFill>
            <a:srgbClr val="E8670D"/>
          </a:solidFill>
          <a:ln/>
          <a:effectLst>
            <a:outerShdw blurRad="101600" dist="38100" dir="8100000" algn="bl" rotWithShape="0">
              <a:srgbClr val="000000">
                <a:alpha val="18000"/>
              </a:srgbClr>
            </a:outerShdw>
          </a:effectLst>
        </p:spPr>
      </p:sp>
      <p:sp>
        <p:nvSpPr>
          <p:cNvPr id="7" name="Text 4"/>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Test Automation is the use of software to control the execution of tests, compare actual results to expected results, and report outcomes — without human interaction. In modern QA, automation is not a luxury — it is a fundamental requirement for sustainable quality at speed.</a:t>
            </a:r>
            <a:endParaRPr lang="en-US" sz="1200" dirty="0"/>
          </a:p>
        </p:txBody>
      </p:sp>
      <p:sp>
        <p:nvSpPr>
          <p:cNvPr id="8" name="Shape 5"/>
          <p:cNvSpPr/>
          <p:nvPr/>
        </p:nvSpPr>
        <p:spPr>
          <a:xfrm>
            <a:off x="274320" y="1737360"/>
            <a:ext cx="4206240" cy="3310128"/>
          </a:xfrm>
          <a:prstGeom prst="rect">
            <a:avLst/>
          </a:prstGeom>
          <a:solidFill>
            <a:srgbClr val="FFFFFF"/>
          </a:solidFill>
          <a:ln/>
          <a:effectLst>
            <a:outerShdw blurRad="101600" dist="38100" dir="8100000" algn="bl" rotWithShape="0">
              <a:srgbClr val="000000">
                <a:alpha val="18000"/>
              </a:srgbClr>
            </a:outerShdw>
          </a:effectLst>
        </p:spPr>
      </p:sp>
      <p:sp>
        <p:nvSpPr>
          <p:cNvPr id="9" name="Shape 6"/>
          <p:cNvSpPr/>
          <p:nvPr/>
        </p:nvSpPr>
        <p:spPr>
          <a:xfrm>
            <a:off x="274320" y="1737360"/>
            <a:ext cx="4206240" cy="347472"/>
          </a:xfrm>
          <a:prstGeom prst="rect">
            <a:avLst/>
          </a:prstGeom>
          <a:solidFill>
            <a:srgbClr val="E8670D"/>
          </a:solidFill>
          <a:ln/>
        </p:spPr>
      </p:sp>
      <p:sp>
        <p:nvSpPr>
          <p:cNvPr id="10" name="Text 7"/>
          <p:cNvSpPr/>
          <p:nvPr/>
        </p:nvSpPr>
        <p:spPr>
          <a:xfrm>
            <a:off x="36576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Why Automation is Essential</a:t>
            </a:r>
            <a:endParaRPr lang="en-US" sz="1100" dirty="0"/>
          </a:p>
        </p:txBody>
      </p:sp>
      <p:sp>
        <p:nvSpPr>
          <p:cNvPr id="11" name="Text 8"/>
          <p:cNvSpPr/>
          <p:nvPr/>
        </p:nvSpPr>
        <p:spPr>
          <a:xfrm>
            <a:off x="384048" y="2139696"/>
            <a:ext cx="3986784" cy="28346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Agile teams release every 1–2 weeks — manual regression is impossible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CI/CD pipelines require automated tests to gate every code merge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Scale: 500+ regression tests cannot be run manually before each release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Consistency: scripts execute identically every time — no human fatigue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Speed: Playwright can run 200 tests in 5 minutes across 3 browsers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Early feedback: developers get test results within minutes of committing code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Cost at scale: after initial investment, each test run costs near zero</a:t>
            </a:r>
            <a:endParaRPr lang="en-US" sz="1050" dirty="0"/>
          </a:p>
        </p:txBody>
      </p:sp>
      <p:sp>
        <p:nvSpPr>
          <p:cNvPr id="12" name="Shape 9"/>
          <p:cNvSpPr/>
          <p:nvPr/>
        </p:nvSpPr>
        <p:spPr>
          <a:xfrm>
            <a:off x="4663440" y="1737360"/>
            <a:ext cx="4206240" cy="3310128"/>
          </a:xfrm>
          <a:prstGeom prst="rect">
            <a:avLst/>
          </a:prstGeom>
          <a:solidFill>
            <a:srgbClr val="FFFFFF"/>
          </a:solidFill>
          <a:ln/>
          <a:effectLst>
            <a:outerShdw blurRad="101600" dist="38100" dir="8100000" algn="bl" rotWithShape="0">
              <a:srgbClr val="000000">
                <a:alpha val="18000"/>
              </a:srgbClr>
            </a:outerShdw>
          </a:effectLst>
        </p:spPr>
      </p:sp>
      <p:sp>
        <p:nvSpPr>
          <p:cNvPr id="13" name="Shape 10"/>
          <p:cNvSpPr/>
          <p:nvPr/>
        </p:nvSpPr>
        <p:spPr>
          <a:xfrm>
            <a:off x="4663440" y="1737360"/>
            <a:ext cx="4206240" cy="347472"/>
          </a:xfrm>
          <a:prstGeom prst="rect">
            <a:avLst/>
          </a:prstGeom>
          <a:solidFill>
            <a:srgbClr val="1E1E1E"/>
          </a:solidFill>
          <a:ln/>
        </p:spPr>
      </p:sp>
      <p:sp>
        <p:nvSpPr>
          <p:cNvPr id="14" name="Text 11"/>
          <p:cNvSpPr/>
          <p:nvPr/>
        </p:nvSpPr>
        <p:spPr>
          <a:xfrm>
            <a:off x="475488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When NOT to Automate</a:t>
            </a:r>
            <a:endParaRPr lang="en-US" sz="1100" dirty="0"/>
          </a:p>
        </p:txBody>
      </p:sp>
      <p:sp>
        <p:nvSpPr>
          <p:cNvPr id="15" name="Text 12"/>
          <p:cNvSpPr/>
          <p:nvPr/>
        </p:nvSpPr>
        <p:spPr>
          <a:xfrm>
            <a:off x="4773168" y="2139696"/>
            <a:ext cx="3986784" cy="28346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Features that change frequently — automation maintenance costs more than benefit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One-time tests — scripts take longer to write than to execute manually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Exploratory testing — requires human judgement and adaptability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Usability and UX testing — human evaluation of experience is required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Visual design testing — pixel-perfect comparison needs human review</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Ad-hoc investigation — informal probing doesn't suit scripted flows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Early prototype stages — UI and flow change daily, scripts break constantly</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Selenium — Web Browser Automation Framework</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The industry-standard, open-source framework for automating web applications</a:t>
            </a:r>
            <a:endParaRPr lang="en-US" sz="1100" dirty="0"/>
          </a:p>
        </p:txBody>
      </p:sp>
      <p:sp>
        <p:nvSpPr>
          <p:cNvPr id="6" name="Shape 3"/>
          <p:cNvSpPr/>
          <p:nvPr/>
        </p:nvSpPr>
        <p:spPr>
          <a:xfrm>
            <a:off x="7790688" y="658368"/>
            <a:ext cx="1298448" cy="347472"/>
          </a:xfrm>
          <a:prstGeom prst="rect">
            <a:avLst/>
          </a:prstGeom>
          <a:solidFill>
            <a:srgbClr val="1E1E1E"/>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Automation</a:t>
            </a:r>
            <a:endParaRPr lang="en-US" sz="800" dirty="0"/>
          </a:p>
        </p:txBody>
      </p:sp>
      <p:sp>
        <p:nvSpPr>
          <p:cNvPr id="8" name="Shape 5"/>
          <p:cNvSpPr/>
          <p:nvPr/>
        </p:nvSpPr>
        <p:spPr>
          <a:xfrm>
            <a:off x="274320" y="960120"/>
            <a:ext cx="8595360" cy="621792"/>
          </a:xfrm>
          <a:prstGeom prst="rect">
            <a:avLst/>
          </a:prstGeom>
          <a:solidFill>
            <a:srgbClr val="E8670D"/>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Selenium is the world's most widely used open-source browser automation framework. It allows QA engineers to write test scripts in Java, Python, C#, or JavaScript that control real web browsers — clicking, typing, navigating, and verifying outcomes exactly as a user would.</a:t>
            </a:r>
            <a:endParaRPr lang="en-US" sz="1200" dirty="0"/>
          </a:p>
        </p:txBody>
      </p:sp>
      <p:sp>
        <p:nvSpPr>
          <p:cNvPr id="10" name="Shape 7"/>
          <p:cNvSpPr/>
          <p:nvPr/>
        </p:nvSpPr>
        <p:spPr>
          <a:xfrm>
            <a:off x="274320" y="1737360"/>
            <a:ext cx="4206240" cy="214884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37360"/>
            <a:ext cx="4206240" cy="347472"/>
          </a:xfrm>
          <a:prstGeom prst="rect">
            <a:avLst/>
          </a:prstGeom>
          <a:solidFill>
            <a:srgbClr val="E8670D"/>
          </a:solidFill>
          <a:ln/>
        </p:spPr>
      </p:sp>
      <p:sp>
        <p:nvSpPr>
          <p:cNvPr id="12" name="Text 9"/>
          <p:cNvSpPr/>
          <p:nvPr/>
        </p:nvSpPr>
        <p:spPr>
          <a:xfrm>
            <a:off x="36576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Key Components</a:t>
            </a:r>
            <a:endParaRPr lang="en-US" sz="1100" dirty="0"/>
          </a:p>
        </p:txBody>
      </p:sp>
      <p:sp>
        <p:nvSpPr>
          <p:cNvPr id="13" name="Text 10"/>
          <p:cNvSpPr/>
          <p:nvPr/>
        </p:nvSpPr>
        <p:spPr>
          <a:xfrm>
            <a:off x="384048" y="2139696"/>
            <a:ext cx="3986784" cy="167335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Selenium WebDriver — core API for controlling browsers programmatically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Selenium Grid — run tests in PARALLEL across multiple machines and browsers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Selenium IDE — record-and-playback tool (for beginners/quick scripts)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Page Object Model (POM) — design pattern for maintainable test architecture</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TestNG / JUnit — test frameworks integrated with Selenium for Java</a:t>
            </a:r>
            <a:endParaRPr lang="en-US" sz="1050" dirty="0"/>
          </a:p>
        </p:txBody>
      </p:sp>
      <p:sp>
        <p:nvSpPr>
          <p:cNvPr id="14" name="Shape 11"/>
          <p:cNvSpPr/>
          <p:nvPr/>
        </p:nvSpPr>
        <p:spPr>
          <a:xfrm>
            <a:off x="4663440" y="1737360"/>
            <a:ext cx="4206240" cy="2148840"/>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663440" y="1737360"/>
            <a:ext cx="4206240" cy="347472"/>
          </a:xfrm>
          <a:prstGeom prst="rect">
            <a:avLst/>
          </a:prstGeom>
          <a:solidFill>
            <a:srgbClr val="1E1E1E"/>
          </a:solidFill>
          <a:ln/>
        </p:spPr>
      </p:sp>
      <p:sp>
        <p:nvSpPr>
          <p:cNvPr id="16" name="Text 13"/>
          <p:cNvSpPr/>
          <p:nvPr/>
        </p:nvSpPr>
        <p:spPr>
          <a:xfrm>
            <a:off x="475488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IDE Integration</a:t>
            </a:r>
            <a:endParaRPr lang="en-US" sz="1100" dirty="0"/>
          </a:p>
        </p:txBody>
      </p:sp>
      <p:sp>
        <p:nvSpPr>
          <p:cNvPr id="17" name="Text 14"/>
          <p:cNvSpPr/>
          <p:nvPr/>
        </p:nvSpPr>
        <p:spPr>
          <a:xfrm>
            <a:off x="4773168" y="2139696"/>
            <a:ext cx="3986784" cy="167335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IntelliJ IDEA: Most popular at Lubanzi — excellent Maven/Gradle support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Eclipse IDE: Free, widely used in Java/Selenium enterprise teams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Maven/Gradle: Build tools that manage Selenium JAR dependencies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TestNG plugin: IntelliJ/Eclipse — run and report individual test methods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GitHub Actions / Jenkins: Run Selenium Grid tests in CI/CD pipeline</a:t>
            </a:r>
            <a:endParaRPr lang="en-US" sz="1050" dirty="0"/>
          </a:p>
        </p:txBody>
      </p:sp>
      <p:sp>
        <p:nvSpPr>
          <p:cNvPr id="18" name="Shape 15"/>
          <p:cNvSpPr/>
          <p:nvPr/>
        </p:nvSpPr>
        <p:spPr>
          <a:xfrm>
            <a:off x="274320" y="4005072"/>
            <a:ext cx="4206240" cy="1170432"/>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274320" y="4005072"/>
            <a:ext cx="4206240" cy="347472"/>
          </a:xfrm>
          <a:prstGeom prst="rect">
            <a:avLst/>
          </a:prstGeom>
          <a:solidFill>
            <a:srgbClr val="2A2A2A"/>
          </a:solidFill>
          <a:ln/>
        </p:spPr>
      </p:sp>
      <p:sp>
        <p:nvSpPr>
          <p:cNvPr id="20" name="Text 17"/>
          <p:cNvSpPr/>
          <p:nvPr/>
        </p:nvSpPr>
        <p:spPr>
          <a:xfrm>
            <a:off x="365760" y="4050792"/>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Supported Browsers</a:t>
            </a:r>
            <a:endParaRPr lang="en-US" sz="1100" dirty="0"/>
          </a:p>
        </p:txBody>
      </p:sp>
      <p:sp>
        <p:nvSpPr>
          <p:cNvPr id="21" name="Text 18"/>
          <p:cNvSpPr/>
          <p:nvPr/>
        </p:nvSpPr>
        <p:spPr>
          <a:xfrm>
            <a:off x="384048" y="4407408"/>
            <a:ext cx="3986784" cy="694944"/>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Chrome (ChromeDriver) • Firefox (GeckoDriver)</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Edge (EdgeDriver) • Safari (SafariDriver)</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Selenium Grid: Run all 4 browsers simultaneously in parallel</a:t>
            </a:r>
            <a:endParaRPr lang="en-US" sz="1000" dirty="0"/>
          </a:p>
        </p:txBody>
      </p:sp>
      <p:sp>
        <p:nvSpPr>
          <p:cNvPr id="22" name="Shape 19"/>
          <p:cNvSpPr/>
          <p:nvPr/>
        </p:nvSpPr>
        <p:spPr>
          <a:xfrm>
            <a:off x="4663440" y="4005072"/>
            <a:ext cx="4206240" cy="1170432"/>
          </a:xfrm>
          <a:prstGeom prst="rect">
            <a:avLst/>
          </a:prstGeom>
          <a:solidFill>
            <a:srgbClr val="FFFFFF"/>
          </a:solidFill>
          <a:ln/>
          <a:effectLst>
            <a:outerShdw blurRad="101600" dist="38100" dir="8100000" algn="bl" rotWithShape="0">
              <a:srgbClr val="000000">
                <a:alpha val="18000"/>
              </a:srgbClr>
            </a:outerShdw>
          </a:effectLst>
        </p:spPr>
      </p:sp>
      <p:sp>
        <p:nvSpPr>
          <p:cNvPr id="23" name="Shape 20"/>
          <p:cNvSpPr/>
          <p:nvPr/>
        </p:nvSpPr>
        <p:spPr>
          <a:xfrm>
            <a:off x="4663440" y="4005072"/>
            <a:ext cx="4206240" cy="347472"/>
          </a:xfrm>
          <a:prstGeom prst="rect">
            <a:avLst/>
          </a:prstGeom>
          <a:solidFill>
            <a:srgbClr val="E8670D"/>
          </a:solidFill>
          <a:ln/>
        </p:spPr>
      </p:sp>
      <p:sp>
        <p:nvSpPr>
          <p:cNvPr id="24" name="Text 21"/>
          <p:cNvSpPr/>
          <p:nvPr/>
        </p:nvSpPr>
        <p:spPr>
          <a:xfrm>
            <a:off x="4754880" y="4050792"/>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Typical Project Setup (Java)</a:t>
            </a:r>
            <a:endParaRPr lang="en-US" sz="1100" dirty="0"/>
          </a:p>
        </p:txBody>
      </p:sp>
      <p:sp>
        <p:nvSpPr>
          <p:cNvPr id="25" name="Text 22"/>
          <p:cNvSpPr/>
          <p:nvPr/>
        </p:nvSpPr>
        <p:spPr>
          <a:xfrm>
            <a:off x="4773168" y="4407408"/>
            <a:ext cx="3986784" cy="694944"/>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1. IntelliJ + Maven project  2. Add selenium-java dependency</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3. Add TestNG  4. Create Page Objects  5. Write @Test methods</a:t>
            </a:r>
            <a:endParaRPr lang="en-US" sz="1000" dirty="0"/>
          </a:p>
          <a:p>
            <a:pPr marL="342900" indent="-342900">
              <a:spcAft>
                <a:spcPts val="200"/>
              </a:spcAft>
              <a:buSzPct val="100000"/>
              <a:buChar char="•"/>
            </a:pPr>
            <a:r>
              <a:rPr lang="en-US" sz="1000" dirty="0">
                <a:solidFill>
                  <a:srgbClr val="555555"/>
                </a:solidFill>
                <a:latin typeface="Calibri" pitchFamily="34" charset="0"/>
                <a:ea typeface="Calibri" pitchFamily="34" charset="-122"/>
                <a:cs typeface="Calibri" pitchFamily="34" charset="-120"/>
              </a:rPr>
              <a:t>6. Run via TestNG XML suite  7. View ExtentReports HTML output</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Playwright — Modern Cross-Browser Automation</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Microsoft's fast, reliable, feature-rich automation framework for modern web apps</a:t>
            </a:r>
            <a:endParaRPr lang="en-US" sz="1100" dirty="0"/>
          </a:p>
        </p:txBody>
      </p:sp>
      <p:sp>
        <p:nvSpPr>
          <p:cNvPr id="6" name="Shape 3"/>
          <p:cNvSpPr/>
          <p:nvPr/>
        </p:nvSpPr>
        <p:spPr>
          <a:xfrm>
            <a:off x="7790688" y="658368"/>
            <a:ext cx="1298448" cy="347472"/>
          </a:xfrm>
          <a:prstGeom prst="rect">
            <a:avLst/>
          </a:prstGeom>
          <a:solidFill>
            <a:srgbClr val="1E1E1E"/>
          </a:solidFill>
          <a:ln/>
        </p:spPr>
      </p:sp>
      <p:sp>
        <p:nvSpPr>
          <p:cNvPr id="7" name="Text 4"/>
          <p:cNvSpPr/>
          <p:nvPr/>
        </p:nvSpPr>
        <p:spPr>
          <a:xfrm>
            <a:off x="7790688" y="676656"/>
            <a:ext cx="1298448"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Automation</a:t>
            </a:r>
            <a:endParaRPr lang="en-US" sz="800" dirty="0"/>
          </a:p>
        </p:txBody>
      </p:sp>
      <p:sp>
        <p:nvSpPr>
          <p:cNvPr id="8" name="Shape 5"/>
          <p:cNvSpPr/>
          <p:nvPr/>
        </p:nvSpPr>
        <p:spPr>
          <a:xfrm>
            <a:off x="274320" y="960120"/>
            <a:ext cx="8595360" cy="621792"/>
          </a:xfrm>
          <a:prstGeom prst="rect">
            <a:avLst/>
          </a:prstGeom>
          <a:solidFill>
            <a:srgbClr val="1E1E1E"/>
          </a:solidFill>
          <a:ln/>
          <a:effectLst>
            <a:outerShdw blurRad="101600" dist="38100" dir="8100000" algn="bl" rotWithShape="0">
              <a:srgbClr val="000000">
                <a:alpha val="18000"/>
              </a:srgbClr>
            </a:outerShdw>
          </a:effectLst>
        </p:spPr>
      </p:sp>
      <p:sp>
        <p:nvSpPr>
          <p:cNvPr id="9" name="Text 6"/>
          <p:cNvSpPr/>
          <p:nvPr/>
        </p:nvSpPr>
        <p:spPr>
          <a:xfrm>
            <a:off x="384048" y="1014984"/>
            <a:ext cx="8375904" cy="512064"/>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Playwright is Microsoft's modern, open-source browser automation framework designed to address the limitations of Selenium. It offers faster execution, built-in auto-wait, native cross-browser support, and rich developer tooling — making it the preferred choice for new QA automation projects.</a:t>
            </a:r>
            <a:endParaRPr lang="en-US" sz="1200" dirty="0"/>
          </a:p>
        </p:txBody>
      </p:sp>
      <p:sp>
        <p:nvSpPr>
          <p:cNvPr id="10" name="Shape 7"/>
          <p:cNvSpPr/>
          <p:nvPr/>
        </p:nvSpPr>
        <p:spPr>
          <a:xfrm>
            <a:off x="274320" y="1737360"/>
            <a:ext cx="4206240" cy="2194560"/>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274320" y="1737360"/>
            <a:ext cx="4206240" cy="347472"/>
          </a:xfrm>
          <a:prstGeom prst="rect">
            <a:avLst/>
          </a:prstGeom>
          <a:solidFill>
            <a:srgbClr val="E8670D"/>
          </a:solidFill>
          <a:ln/>
        </p:spPr>
      </p:sp>
      <p:sp>
        <p:nvSpPr>
          <p:cNvPr id="12" name="Text 9"/>
          <p:cNvSpPr/>
          <p:nvPr/>
        </p:nvSpPr>
        <p:spPr>
          <a:xfrm>
            <a:off x="36576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Key Advantages Over Selenium</a:t>
            </a:r>
            <a:endParaRPr lang="en-US" sz="1100" dirty="0"/>
          </a:p>
        </p:txBody>
      </p:sp>
      <p:sp>
        <p:nvSpPr>
          <p:cNvPr id="13" name="Text 10"/>
          <p:cNvSpPr/>
          <p:nvPr/>
        </p:nvSpPr>
        <p:spPr>
          <a:xfrm>
            <a:off x="384048" y="2139696"/>
            <a:ext cx="3986784" cy="171907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Auto-wait: automatically waits for elements — far fewer flaky tests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Native cross-browser: ONE script runs Chromium, Firefox, and WebKit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Built-in tracing: full test replay with screenshots, network, DOM snapshots</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Faster execution: parallelism built in — no Grid configuration needed</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API testing: supports HTTP requests alongside UI tests in same script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Codegen: record browser interactions and auto-generate test code</a:t>
            </a:r>
            <a:endParaRPr lang="en-US" sz="1050" dirty="0"/>
          </a:p>
        </p:txBody>
      </p:sp>
      <p:sp>
        <p:nvSpPr>
          <p:cNvPr id="14" name="Shape 11"/>
          <p:cNvSpPr/>
          <p:nvPr/>
        </p:nvSpPr>
        <p:spPr>
          <a:xfrm>
            <a:off x="4663440" y="1737360"/>
            <a:ext cx="4206240" cy="2194560"/>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4663440" y="1737360"/>
            <a:ext cx="4206240" cy="347472"/>
          </a:xfrm>
          <a:prstGeom prst="rect">
            <a:avLst/>
          </a:prstGeom>
          <a:solidFill>
            <a:srgbClr val="1E1E1E"/>
          </a:solidFill>
          <a:ln/>
        </p:spPr>
      </p:sp>
      <p:sp>
        <p:nvSpPr>
          <p:cNvPr id="16" name="Text 13"/>
          <p:cNvSpPr/>
          <p:nvPr/>
        </p:nvSpPr>
        <p:spPr>
          <a:xfrm>
            <a:off x="4754880" y="178308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IDE &amp; Language Support</a:t>
            </a:r>
            <a:endParaRPr lang="en-US" sz="1100" dirty="0"/>
          </a:p>
        </p:txBody>
      </p:sp>
      <p:sp>
        <p:nvSpPr>
          <p:cNvPr id="17" name="Text 14"/>
          <p:cNvSpPr/>
          <p:nvPr/>
        </p:nvSpPr>
        <p:spPr>
          <a:xfrm>
            <a:off x="4773168" y="2139696"/>
            <a:ext cx="3986784" cy="1719072"/>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IntelliJ IDEA: Java + Playwright (com.microsoft.playwright dependency)</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VS Code: TypeScript/JavaScript (most common for Playwright)</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PyCharm: Python + Playwright (playwright.sync_api)</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All IDEs: Playwright test runner with built-in reporter</a:t>
            </a:r>
            <a:endParaRPr lang="en-US" sz="1050" dirty="0"/>
          </a:p>
          <a:p>
            <a:pPr marL="342900" indent="-342900">
              <a:spcAft>
                <a:spcPts val="300"/>
              </a:spcAft>
              <a:buSzPct val="100000"/>
              <a:buChar char="•"/>
            </a:pPr>
            <a:r>
              <a:rPr lang="en-US" sz="1050" dirty="0">
                <a:solidFill>
                  <a:srgbClr val="555555"/>
                </a:solidFill>
                <a:latin typeface="Calibri" pitchFamily="34" charset="0"/>
                <a:ea typeface="Calibri" pitchFamily="34" charset="-122"/>
                <a:cs typeface="Calibri" pitchFamily="34" charset="-120"/>
              </a:rPr>
              <a:t>IntelliJ + Maven: same setup pattern as Selenium — familiar to Java teams</a:t>
            </a:r>
            <a:endParaRPr lang="en-US" sz="1050" dirty="0"/>
          </a:p>
        </p:txBody>
      </p:sp>
      <p:sp>
        <p:nvSpPr>
          <p:cNvPr id="18" name="Text 15"/>
          <p:cNvSpPr/>
          <p:nvPr/>
        </p:nvSpPr>
        <p:spPr>
          <a:xfrm>
            <a:off x="274320" y="4041648"/>
            <a:ext cx="8595360" cy="256032"/>
          </a:xfrm>
          <a:prstGeom prst="rect">
            <a:avLst/>
          </a:prstGeom>
          <a:noFill/>
          <a:ln/>
        </p:spPr>
        <p:txBody>
          <a:bodyPr wrap="square" rtlCol="0" anchor="ctr"/>
          <a:lstStyle/>
          <a:p>
            <a:pPr marL="0" indent="0">
              <a:buNone/>
            </a:pPr>
            <a:r>
              <a:rPr lang="en-US" sz="1000" b="1" kern="0" spc="150" dirty="0">
                <a:solidFill>
                  <a:srgbClr val="E8670D"/>
                </a:solidFill>
                <a:latin typeface="Calibri" pitchFamily="34" charset="0"/>
                <a:ea typeface="Calibri" pitchFamily="34" charset="-122"/>
                <a:cs typeface="Calibri" pitchFamily="34" charset="-120"/>
              </a:rPr>
              <a:t>PLAYWRIGHT vs SELENIUM — QUICK REFERENCE</a:t>
            </a:r>
            <a:endParaRPr lang="en-US" sz="1000" dirty="0"/>
          </a:p>
        </p:txBody>
      </p:sp>
      <p:sp>
        <p:nvSpPr>
          <p:cNvPr id="19" name="Shape 16"/>
          <p:cNvSpPr/>
          <p:nvPr/>
        </p:nvSpPr>
        <p:spPr>
          <a:xfrm>
            <a:off x="274320" y="4315968"/>
            <a:ext cx="1371600" cy="329184"/>
          </a:xfrm>
          <a:prstGeom prst="rect">
            <a:avLst/>
          </a:prstGeom>
          <a:solidFill>
            <a:srgbClr val="E8670D"/>
          </a:solidFill>
          <a:ln w="6350">
            <a:solidFill>
              <a:srgbClr val="DDCCBB"/>
            </a:solidFill>
            <a:prstDash val="solid"/>
          </a:ln>
        </p:spPr>
      </p:sp>
      <p:sp>
        <p:nvSpPr>
          <p:cNvPr id="20" name="Text 17"/>
          <p:cNvSpPr/>
          <p:nvPr/>
        </p:nvSpPr>
        <p:spPr>
          <a:xfrm>
            <a:off x="320040" y="4370832"/>
            <a:ext cx="128016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Feature</a:t>
            </a:r>
            <a:endParaRPr lang="en-US" sz="950" dirty="0"/>
          </a:p>
        </p:txBody>
      </p:sp>
      <p:sp>
        <p:nvSpPr>
          <p:cNvPr id="21" name="Shape 18"/>
          <p:cNvSpPr/>
          <p:nvPr/>
        </p:nvSpPr>
        <p:spPr>
          <a:xfrm>
            <a:off x="1645920" y="4315968"/>
            <a:ext cx="3520440" cy="329184"/>
          </a:xfrm>
          <a:prstGeom prst="rect">
            <a:avLst/>
          </a:prstGeom>
          <a:solidFill>
            <a:srgbClr val="E8670D"/>
          </a:solidFill>
          <a:ln w="6350">
            <a:solidFill>
              <a:srgbClr val="DDCCBB"/>
            </a:solidFill>
            <a:prstDash val="solid"/>
          </a:ln>
        </p:spPr>
      </p:sp>
      <p:sp>
        <p:nvSpPr>
          <p:cNvPr id="22" name="Text 19"/>
          <p:cNvSpPr/>
          <p:nvPr/>
        </p:nvSpPr>
        <p:spPr>
          <a:xfrm>
            <a:off x="1691640" y="4370832"/>
            <a:ext cx="342900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Playwright</a:t>
            </a:r>
            <a:endParaRPr lang="en-US" sz="950" dirty="0"/>
          </a:p>
        </p:txBody>
      </p:sp>
      <p:sp>
        <p:nvSpPr>
          <p:cNvPr id="23" name="Shape 20"/>
          <p:cNvSpPr/>
          <p:nvPr/>
        </p:nvSpPr>
        <p:spPr>
          <a:xfrm>
            <a:off x="5166360" y="4315968"/>
            <a:ext cx="3520440" cy="329184"/>
          </a:xfrm>
          <a:prstGeom prst="rect">
            <a:avLst/>
          </a:prstGeom>
          <a:solidFill>
            <a:srgbClr val="E8670D"/>
          </a:solidFill>
          <a:ln w="6350">
            <a:solidFill>
              <a:srgbClr val="DDCCBB"/>
            </a:solidFill>
            <a:prstDash val="solid"/>
          </a:ln>
        </p:spPr>
      </p:sp>
      <p:sp>
        <p:nvSpPr>
          <p:cNvPr id="24" name="Text 21"/>
          <p:cNvSpPr/>
          <p:nvPr/>
        </p:nvSpPr>
        <p:spPr>
          <a:xfrm>
            <a:off x="5212080" y="4370832"/>
            <a:ext cx="342900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Selenium</a:t>
            </a:r>
            <a:endParaRPr lang="en-US" sz="950" dirty="0"/>
          </a:p>
        </p:txBody>
      </p:sp>
      <p:sp>
        <p:nvSpPr>
          <p:cNvPr id="25" name="Shape 22"/>
          <p:cNvSpPr/>
          <p:nvPr/>
        </p:nvSpPr>
        <p:spPr>
          <a:xfrm>
            <a:off x="274320" y="4645152"/>
            <a:ext cx="1371600" cy="329184"/>
          </a:xfrm>
          <a:prstGeom prst="rect">
            <a:avLst/>
          </a:prstGeom>
          <a:solidFill>
            <a:srgbClr val="FFFFFF"/>
          </a:solidFill>
          <a:ln w="6350">
            <a:solidFill>
              <a:srgbClr val="DDCCBB"/>
            </a:solidFill>
            <a:prstDash val="solid"/>
          </a:ln>
        </p:spPr>
      </p:sp>
      <p:sp>
        <p:nvSpPr>
          <p:cNvPr id="26" name="Text 23"/>
          <p:cNvSpPr/>
          <p:nvPr/>
        </p:nvSpPr>
        <p:spPr>
          <a:xfrm>
            <a:off x="320040" y="4700016"/>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Auto-wait</a:t>
            </a:r>
            <a:endParaRPr lang="en-US" sz="900" dirty="0"/>
          </a:p>
        </p:txBody>
      </p:sp>
      <p:sp>
        <p:nvSpPr>
          <p:cNvPr id="27" name="Shape 24"/>
          <p:cNvSpPr/>
          <p:nvPr/>
        </p:nvSpPr>
        <p:spPr>
          <a:xfrm>
            <a:off x="1645920" y="4645152"/>
            <a:ext cx="3520440" cy="329184"/>
          </a:xfrm>
          <a:prstGeom prst="rect">
            <a:avLst/>
          </a:prstGeom>
          <a:solidFill>
            <a:srgbClr val="FFFFFF"/>
          </a:solidFill>
          <a:ln w="6350">
            <a:solidFill>
              <a:srgbClr val="DDCCBB"/>
            </a:solidFill>
            <a:prstDash val="solid"/>
          </a:ln>
        </p:spPr>
      </p:sp>
      <p:sp>
        <p:nvSpPr>
          <p:cNvPr id="28" name="Text 25"/>
          <p:cNvSpPr/>
          <p:nvPr/>
        </p:nvSpPr>
        <p:spPr>
          <a:xfrm>
            <a:off x="1691640" y="4700016"/>
            <a:ext cx="342900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Built-in, intelligent</a:t>
            </a:r>
            <a:endParaRPr lang="en-US" sz="900" dirty="0"/>
          </a:p>
        </p:txBody>
      </p:sp>
      <p:sp>
        <p:nvSpPr>
          <p:cNvPr id="29" name="Shape 26"/>
          <p:cNvSpPr/>
          <p:nvPr/>
        </p:nvSpPr>
        <p:spPr>
          <a:xfrm>
            <a:off x="5166360" y="4645152"/>
            <a:ext cx="3520440" cy="329184"/>
          </a:xfrm>
          <a:prstGeom prst="rect">
            <a:avLst/>
          </a:prstGeom>
          <a:solidFill>
            <a:srgbClr val="FFFFFF"/>
          </a:solidFill>
          <a:ln w="6350">
            <a:solidFill>
              <a:srgbClr val="DDCCBB"/>
            </a:solidFill>
            <a:prstDash val="solid"/>
          </a:ln>
        </p:spPr>
      </p:sp>
      <p:sp>
        <p:nvSpPr>
          <p:cNvPr id="30" name="Text 27"/>
          <p:cNvSpPr/>
          <p:nvPr/>
        </p:nvSpPr>
        <p:spPr>
          <a:xfrm>
            <a:off x="5212080" y="4700016"/>
            <a:ext cx="342900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Manual waits/sleeps required</a:t>
            </a:r>
            <a:endParaRPr lang="en-US" sz="900" dirty="0"/>
          </a:p>
        </p:txBody>
      </p:sp>
      <p:sp>
        <p:nvSpPr>
          <p:cNvPr id="31" name="Shape 28"/>
          <p:cNvSpPr/>
          <p:nvPr/>
        </p:nvSpPr>
        <p:spPr>
          <a:xfrm>
            <a:off x="274320" y="4974336"/>
            <a:ext cx="1371600" cy="329184"/>
          </a:xfrm>
          <a:prstGeom prst="rect">
            <a:avLst/>
          </a:prstGeom>
          <a:solidFill>
            <a:srgbClr val="FFF5EE"/>
          </a:solidFill>
          <a:ln w="6350">
            <a:solidFill>
              <a:srgbClr val="DDCCBB"/>
            </a:solidFill>
            <a:prstDash val="solid"/>
          </a:ln>
        </p:spPr>
      </p:sp>
      <p:sp>
        <p:nvSpPr>
          <p:cNvPr id="32" name="Text 29"/>
          <p:cNvSpPr/>
          <p:nvPr/>
        </p:nvSpPr>
        <p:spPr>
          <a:xfrm>
            <a:off x="320040" y="5029200"/>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Cross-browser</a:t>
            </a:r>
            <a:endParaRPr lang="en-US" sz="900" dirty="0"/>
          </a:p>
        </p:txBody>
      </p:sp>
      <p:sp>
        <p:nvSpPr>
          <p:cNvPr id="33" name="Shape 30"/>
          <p:cNvSpPr/>
          <p:nvPr/>
        </p:nvSpPr>
        <p:spPr>
          <a:xfrm>
            <a:off x="1645920" y="4974336"/>
            <a:ext cx="3520440" cy="329184"/>
          </a:xfrm>
          <a:prstGeom prst="rect">
            <a:avLst/>
          </a:prstGeom>
          <a:solidFill>
            <a:srgbClr val="FFF5EE"/>
          </a:solidFill>
          <a:ln w="6350">
            <a:solidFill>
              <a:srgbClr val="DDCCBB"/>
            </a:solidFill>
            <a:prstDash val="solid"/>
          </a:ln>
        </p:spPr>
      </p:sp>
      <p:sp>
        <p:nvSpPr>
          <p:cNvPr id="34" name="Text 31"/>
          <p:cNvSpPr/>
          <p:nvPr/>
        </p:nvSpPr>
        <p:spPr>
          <a:xfrm>
            <a:off x="1691640" y="5029200"/>
            <a:ext cx="342900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Chromium + Firefox + WebKit</a:t>
            </a:r>
            <a:endParaRPr lang="en-US" sz="900" dirty="0"/>
          </a:p>
        </p:txBody>
      </p:sp>
      <p:sp>
        <p:nvSpPr>
          <p:cNvPr id="35" name="Shape 32"/>
          <p:cNvSpPr/>
          <p:nvPr/>
        </p:nvSpPr>
        <p:spPr>
          <a:xfrm>
            <a:off x="5166360" y="4974336"/>
            <a:ext cx="3520440" cy="329184"/>
          </a:xfrm>
          <a:prstGeom prst="rect">
            <a:avLst/>
          </a:prstGeom>
          <a:solidFill>
            <a:srgbClr val="FFF5EE"/>
          </a:solidFill>
          <a:ln w="6350">
            <a:solidFill>
              <a:srgbClr val="DDCCBB"/>
            </a:solidFill>
            <a:prstDash val="solid"/>
          </a:ln>
        </p:spPr>
      </p:sp>
      <p:sp>
        <p:nvSpPr>
          <p:cNvPr id="36" name="Text 33"/>
          <p:cNvSpPr/>
          <p:nvPr/>
        </p:nvSpPr>
        <p:spPr>
          <a:xfrm>
            <a:off x="5212080" y="5029200"/>
            <a:ext cx="342900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Requires separate WebDrivers</a:t>
            </a:r>
            <a:endParaRPr lang="en-US" sz="900" dirty="0"/>
          </a:p>
        </p:txBody>
      </p:sp>
      <p:sp>
        <p:nvSpPr>
          <p:cNvPr id="37" name="Shape 34"/>
          <p:cNvSpPr/>
          <p:nvPr/>
        </p:nvSpPr>
        <p:spPr>
          <a:xfrm>
            <a:off x="274320" y="5303520"/>
            <a:ext cx="1371600" cy="329184"/>
          </a:xfrm>
          <a:prstGeom prst="rect">
            <a:avLst/>
          </a:prstGeom>
          <a:solidFill>
            <a:srgbClr val="FFFFFF"/>
          </a:solidFill>
          <a:ln w="6350">
            <a:solidFill>
              <a:srgbClr val="DDCCBB"/>
            </a:solidFill>
            <a:prstDash val="solid"/>
          </a:ln>
        </p:spPr>
      </p:sp>
      <p:sp>
        <p:nvSpPr>
          <p:cNvPr id="38" name="Text 35"/>
          <p:cNvSpPr/>
          <p:nvPr/>
        </p:nvSpPr>
        <p:spPr>
          <a:xfrm>
            <a:off x="320040" y="5358384"/>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Speed</a:t>
            </a:r>
            <a:endParaRPr lang="en-US" sz="900" dirty="0"/>
          </a:p>
        </p:txBody>
      </p:sp>
      <p:sp>
        <p:nvSpPr>
          <p:cNvPr id="39" name="Shape 36"/>
          <p:cNvSpPr/>
          <p:nvPr/>
        </p:nvSpPr>
        <p:spPr>
          <a:xfrm>
            <a:off x="1645920" y="5303520"/>
            <a:ext cx="3520440" cy="329184"/>
          </a:xfrm>
          <a:prstGeom prst="rect">
            <a:avLst/>
          </a:prstGeom>
          <a:solidFill>
            <a:srgbClr val="FFFFFF"/>
          </a:solidFill>
          <a:ln w="6350">
            <a:solidFill>
              <a:srgbClr val="DDCCBB"/>
            </a:solidFill>
            <a:prstDash val="solid"/>
          </a:ln>
        </p:spPr>
      </p:sp>
      <p:sp>
        <p:nvSpPr>
          <p:cNvPr id="40" name="Text 37"/>
          <p:cNvSpPr/>
          <p:nvPr/>
        </p:nvSpPr>
        <p:spPr>
          <a:xfrm>
            <a:off x="1691640" y="5358384"/>
            <a:ext cx="342900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Faster (parallel built-in)</a:t>
            </a:r>
            <a:endParaRPr lang="en-US" sz="900" dirty="0"/>
          </a:p>
        </p:txBody>
      </p:sp>
      <p:sp>
        <p:nvSpPr>
          <p:cNvPr id="41" name="Shape 38"/>
          <p:cNvSpPr/>
          <p:nvPr/>
        </p:nvSpPr>
        <p:spPr>
          <a:xfrm>
            <a:off x="5166360" y="5303520"/>
            <a:ext cx="3520440" cy="329184"/>
          </a:xfrm>
          <a:prstGeom prst="rect">
            <a:avLst/>
          </a:prstGeom>
          <a:solidFill>
            <a:srgbClr val="FFFFFF"/>
          </a:solidFill>
          <a:ln w="6350">
            <a:solidFill>
              <a:srgbClr val="DDCCBB"/>
            </a:solidFill>
            <a:prstDash val="solid"/>
          </a:ln>
        </p:spPr>
      </p:sp>
      <p:sp>
        <p:nvSpPr>
          <p:cNvPr id="42" name="Text 39"/>
          <p:cNvSpPr/>
          <p:nvPr/>
        </p:nvSpPr>
        <p:spPr>
          <a:xfrm>
            <a:off x="5212080" y="5358384"/>
            <a:ext cx="342900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Slower (Grid setup required)</a:t>
            </a:r>
            <a:endParaRPr lang="en-US" sz="900" dirty="0"/>
          </a:p>
        </p:txBody>
      </p:sp>
      <p:sp>
        <p:nvSpPr>
          <p:cNvPr id="43" name="Shape 40"/>
          <p:cNvSpPr/>
          <p:nvPr/>
        </p:nvSpPr>
        <p:spPr>
          <a:xfrm>
            <a:off x="274320" y="5632704"/>
            <a:ext cx="1371600" cy="329184"/>
          </a:xfrm>
          <a:prstGeom prst="rect">
            <a:avLst/>
          </a:prstGeom>
          <a:solidFill>
            <a:srgbClr val="FFF5EE"/>
          </a:solidFill>
          <a:ln w="6350">
            <a:solidFill>
              <a:srgbClr val="DDCCBB"/>
            </a:solidFill>
            <a:prstDash val="solid"/>
          </a:ln>
        </p:spPr>
      </p:sp>
      <p:sp>
        <p:nvSpPr>
          <p:cNvPr id="44" name="Text 41"/>
          <p:cNvSpPr/>
          <p:nvPr/>
        </p:nvSpPr>
        <p:spPr>
          <a:xfrm>
            <a:off x="320040" y="5687568"/>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API Testing</a:t>
            </a:r>
            <a:endParaRPr lang="en-US" sz="900" dirty="0"/>
          </a:p>
        </p:txBody>
      </p:sp>
      <p:sp>
        <p:nvSpPr>
          <p:cNvPr id="45" name="Shape 42"/>
          <p:cNvSpPr/>
          <p:nvPr/>
        </p:nvSpPr>
        <p:spPr>
          <a:xfrm>
            <a:off x="1645920" y="5632704"/>
            <a:ext cx="3520440" cy="329184"/>
          </a:xfrm>
          <a:prstGeom prst="rect">
            <a:avLst/>
          </a:prstGeom>
          <a:solidFill>
            <a:srgbClr val="FFF5EE"/>
          </a:solidFill>
          <a:ln w="6350">
            <a:solidFill>
              <a:srgbClr val="DDCCBB"/>
            </a:solidFill>
            <a:prstDash val="solid"/>
          </a:ln>
        </p:spPr>
      </p:sp>
      <p:sp>
        <p:nvSpPr>
          <p:cNvPr id="46" name="Text 43"/>
          <p:cNvSpPr/>
          <p:nvPr/>
        </p:nvSpPr>
        <p:spPr>
          <a:xfrm>
            <a:off x="1691640" y="5687568"/>
            <a:ext cx="342900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Native HTTP request support</a:t>
            </a:r>
            <a:endParaRPr lang="en-US" sz="900" dirty="0"/>
          </a:p>
        </p:txBody>
      </p:sp>
      <p:sp>
        <p:nvSpPr>
          <p:cNvPr id="47" name="Shape 44"/>
          <p:cNvSpPr/>
          <p:nvPr/>
        </p:nvSpPr>
        <p:spPr>
          <a:xfrm>
            <a:off x="5166360" y="5632704"/>
            <a:ext cx="3520440" cy="329184"/>
          </a:xfrm>
          <a:prstGeom prst="rect">
            <a:avLst/>
          </a:prstGeom>
          <a:solidFill>
            <a:srgbClr val="FFF5EE"/>
          </a:solidFill>
          <a:ln w="6350">
            <a:solidFill>
              <a:srgbClr val="DDCCBB"/>
            </a:solidFill>
            <a:prstDash val="solid"/>
          </a:ln>
        </p:spPr>
      </p:sp>
      <p:sp>
        <p:nvSpPr>
          <p:cNvPr id="48" name="Text 45"/>
          <p:cNvSpPr/>
          <p:nvPr/>
        </p:nvSpPr>
        <p:spPr>
          <a:xfrm>
            <a:off x="5212080" y="5687568"/>
            <a:ext cx="342900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Needs separate library</a:t>
            </a:r>
            <a:endParaRPr lang="en-US" sz="900" dirty="0"/>
          </a:p>
        </p:txBody>
      </p:sp>
      <p:sp>
        <p:nvSpPr>
          <p:cNvPr id="49" name="Shape 46"/>
          <p:cNvSpPr/>
          <p:nvPr/>
        </p:nvSpPr>
        <p:spPr>
          <a:xfrm>
            <a:off x="274320" y="5961888"/>
            <a:ext cx="1371600" cy="329184"/>
          </a:xfrm>
          <a:prstGeom prst="rect">
            <a:avLst/>
          </a:prstGeom>
          <a:solidFill>
            <a:srgbClr val="FFFFFF"/>
          </a:solidFill>
          <a:ln w="6350">
            <a:solidFill>
              <a:srgbClr val="DDCCBB"/>
            </a:solidFill>
            <a:prstDash val="solid"/>
          </a:ln>
        </p:spPr>
      </p:sp>
      <p:sp>
        <p:nvSpPr>
          <p:cNvPr id="50" name="Text 47"/>
          <p:cNvSpPr/>
          <p:nvPr/>
        </p:nvSpPr>
        <p:spPr>
          <a:xfrm>
            <a:off x="320040" y="6016752"/>
            <a:ext cx="128016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Tracing</a:t>
            </a:r>
            <a:endParaRPr lang="en-US" sz="900" dirty="0"/>
          </a:p>
        </p:txBody>
      </p:sp>
      <p:sp>
        <p:nvSpPr>
          <p:cNvPr id="51" name="Shape 48"/>
          <p:cNvSpPr/>
          <p:nvPr/>
        </p:nvSpPr>
        <p:spPr>
          <a:xfrm>
            <a:off x="1645920" y="5961888"/>
            <a:ext cx="3520440" cy="329184"/>
          </a:xfrm>
          <a:prstGeom prst="rect">
            <a:avLst/>
          </a:prstGeom>
          <a:solidFill>
            <a:srgbClr val="FFFFFF"/>
          </a:solidFill>
          <a:ln w="6350">
            <a:solidFill>
              <a:srgbClr val="DDCCBB"/>
            </a:solidFill>
            <a:prstDash val="solid"/>
          </a:ln>
        </p:spPr>
      </p:sp>
      <p:sp>
        <p:nvSpPr>
          <p:cNvPr id="52" name="Text 49"/>
          <p:cNvSpPr/>
          <p:nvPr/>
        </p:nvSpPr>
        <p:spPr>
          <a:xfrm>
            <a:off x="1691640" y="6016752"/>
            <a:ext cx="342900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Built-in test recorder/trace</a:t>
            </a:r>
            <a:endParaRPr lang="en-US" sz="900" dirty="0"/>
          </a:p>
        </p:txBody>
      </p:sp>
      <p:sp>
        <p:nvSpPr>
          <p:cNvPr id="53" name="Shape 50"/>
          <p:cNvSpPr/>
          <p:nvPr/>
        </p:nvSpPr>
        <p:spPr>
          <a:xfrm>
            <a:off x="5166360" y="5961888"/>
            <a:ext cx="3520440" cy="329184"/>
          </a:xfrm>
          <a:prstGeom prst="rect">
            <a:avLst/>
          </a:prstGeom>
          <a:solidFill>
            <a:srgbClr val="FFFFFF"/>
          </a:solidFill>
          <a:ln w="6350">
            <a:solidFill>
              <a:srgbClr val="DDCCBB"/>
            </a:solidFill>
            <a:prstDash val="solid"/>
          </a:ln>
        </p:spPr>
      </p:sp>
      <p:sp>
        <p:nvSpPr>
          <p:cNvPr id="54" name="Text 51"/>
          <p:cNvSpPr/>
          <p:nvPr/>
        </p:nvSpPr>
        <p:spPr>
          <a:xfrm>
            <a:off x="5212080" y="6016752"/>
            <a:ext cx="3429000" cy="219456"/>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 Third-party tools required</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Test Automation Workflow — End to End</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How a complete automated testing pipeline works in a real project</a:t>
            </a:r>
            <a:endParaRPr lang="en-US" sz="1100" dirty="0"/>
          </a:p>
        </p:txBody>
      </p:sp>
      <p:sp>
        <p:nvSpPr>
          <p:cNvPr id="6" name="Shape 3"/>
          <p:cNvSpPr/>
          <p:nvPr/>
        </p:nvSpPr>
        <p:spPr>
          <a:xfrm>
            <a:off x="274320" y="987552"/>
            <a:ext cx="2743200" cy="1993392"/>
          </a:xfrm>
          <a:prstGeom prst="rect">
            <a:avLst/>
          </a:prstGeom>
          <a:solidFill>
            <a:srgbClr val="FFFFFF"/>
          </a:solidFill>
          <a:ln/>
          <a:effectLst>
            <a:outerShdw blurRad="101600" dist="38100" dir="8100000" algn="bl" rotWithShape="0">
              <a:srgbClr val="000000">
                <a:alpha val="18000"/>
              </a:srgbClr>
            </a:outerShdw>
          </a:effectLst>
        </p:spPr>
      </p:sp>
      <p:sp>
        <p:nvSpPr>
          <p:cNvPr id="7" name="Shape 4"/>
          <p:cNvSpPr/>
          <p:nvPr/>
        </p:nvSpPr>
        <p:spPr>
          <a:xfrm>
            <a:off x="347472" y="1060704"/>
            <a:ext cx="475488" cy="475488"/>
          </a:xfrm>
          <a:prstGeom prst="line">
            <a:avLst/>
          </a:prstGeom>
          <a:solidFill>
            <a:srgbClr val="E8670D"/>
          </a:solidFill>
          <a:ln/>
        </p:spPr>
      </p:sp>
      <p:sp>
        <p:nvSpPr>
          <p:cNvPr id="8" name="Text 5"/>
          <p:cNvSpPr/>
          <p:nvPr/>
        </p:nvSpPr>
        <p:spPr>
          <a:xfrm>
            <a:off x="347472" y="1078992"/>
            <a:ext cx="475488"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6"/>
          <p:cNvSpPr/>
          <p:nvPr/>
        </p:nvSpPr>
        <p:spPr>
          <a:xfrm>
            <a:off x="914400" y="1078992"/>
            <a:ext cx="2029968" cy="438912"/>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Identify Automation Candidates</a:t>
            </a:r>
            <a:endParaRPr lang="en-US" sz="1050" dirty="0"/>
          </a:p>
        </p:txBody>
      </p:sp>
      <p:sp>
        <p:nvSpPr>
          <p:cNvPr id="10" name="Text 7"/>
          <p:cNvSpPr/>
          <p:nvPr/>
        </p:nvSpPr>
        <p:spPr>
          <a:xfrm>
            <a:off x="365760" y="1609344"/>
            <a:ext cx="2578608" cy="1298448"/>
          </a:xfrm>
          <a:prstGeom prst="rect">
            <a:avLst/>
          </a:prstGeom>
          <a:noFill/>
          <a:ln/>
        </p:spPr>
        <p:txBody>
          <a:bodyPr wrap="square" rtlCol="0" anchor="t"/>
          <a:lstStyle/>
          <a:p>
            <a:pPr marL="0" indent="0">
              <a:buNone/>
            </a:pPr>
            <a:r>
              <a:rPr lang="en-US" sz="950" dirty="0">
                <a:solidFill>
                  <a:srgbClr val="555555"/>
                </a:solidFill>
                <a:latin typeface="Calibri" pitchFamily="34" charset="0"/>
                <a:ea typeface="Calibri" pitchFamily="34" charset="-122"/>
                <a:cs typeface="Calibri" pitchFamily="34" charset="-120"/>
              </a:rPr>
              <a:t>Analyse test suite: high frequency + stable + repeatable = automate. Prioritise regression suite and critical user journeys. Output: Automation backlog.</a:t>
            </a:r>
            <a:endParaRPr lang="en-US" sz="950" dirty="0"/>
          </a:p>
        </p:txBody>
      </p:sp>
      <p:sp>
        <p:nvSpPr>
          <p:cNvPr id="11" name="Shape 8"/>
          <p:cNvSpPr/>
          <p:nvPr/>
        </p:nvSpPr>
        <p:spPr>
          <a:xfrm>
            <a:off x="3182112" y="987552"/>
            <a:ext cx="2743200" cy="1993392"/>
          </a:xfrm>
          <a:prstGeom prst="rect">
            <a:avLst/>
          </a:prstGeom>
          <a:solidFill>
            <a:srgbClr val="FFFFFF"/>
          </a:solidFill>
          <a:ln/>
          <a:effectLst>
            <a:outerShdw blurRad="101600" dist="38100" dir="8100000" algn="bl" rotWithShape="0">
              <a:srgbClr val="000000">
                <a:alpha val="18000"/>
              </a:srgbClr>
            </a:outerShdw>
          </a:effectLst>
        </p:spPr>
      </p:sp>
      <p:sp>
        <p:nvSpPr>
          <p:cNvPr id="12" name="Shape 9"/>
          <p:cNvSpPr/>
          <p:nvPr/>
        </p:nvSpPr>
        <p:spPr>
          <a:xfrm>
            <a:off x="3255264" y="1060704"/>
            <a:ext cx="475488" cy="475488"/>
          </a:xfrm>
          <a:prstGeom prst="line">
            <a:avLst/>
          </a:prstGeom>
          <a:solidFill>
            <a:srgbClr val="1E1E1E"/>
          </a:solidFill>
          <a:ln/>
        </p:spPr>
      </p:sp>
      <p:sp>
        <p:nvSpPr>
          <p:cNvPr id="13" name="Text 10"/>
          <p:cNvSpPr/>
          <p:nvPr/>
        </p:nvSpPr>
        <p:spPr>
          <a:xfrm>
            <a:off x="3255264" y="1078992"/>
            <a:ext cx="475488"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p:nvPr/>
        </p:nvSpPr>
        <p:spPr>
          <a:xfrm>
            <a:off x="3822192" y="1078992"/>
            <a:ext cx="2029968" cy="438912"/>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Set Up Framework</a:t>
            </a:r>
            <a:endParaRPr lang="en-US" sz="1050" dirty="0"/>
          </a:p>
        </p:txBody>
      </p:sp>
      <p:sp>
        <p:nvSpPr>
          <p:cNvPr id="15" name="Text 12"/>
          <p:cNvSpPr/>
          <p:nvPr/>
        </p:nvSpPr>
        <p:spPr>
          <a:xfrm>
            <a:off x="3273552" y="1609344"/>
            <a:ext cx="2578608" cy="1298448"/>
          </a:xfrm>
          <a:prstGeom prst="rect">
            <a:avLst/>
          </a:prstGeom>
          <a:noFill/>
          <a:ln/>
        </p:spPr>
        <p:txBody>
          <a:bodyPr wrap="square" rtlCol="0" anchor="t"/>
          <a:lstStyle/>
          <a:p>
            <a:pPr marL="0" indent="0">
              <a:buNone/>
            </a:pPr>
            <a:r>
              <a:rPr lang="en-US" sz="950" dirty="0">
                <a:solidFill>
                  <a:srgbClr val="555555"/>
                </a:solidFill>
                <a:latin typeface="Calibri" pitchFamily="34" charset="0"/>
                <a:ea typeface="Calibri" pitchFamily="34" charset="-122"/>
                <a:cs typeface="Calibri" pitchFamily="34" charset="-120"/>
              </a:rPr>
              <a:t>Create project in IntelliJ (Maven + Java). Add dependencies: selenium-java / playwright. Set up Page Object Model structure. Configure TestNG or JUnit runner. Connect to CI/CD.</a:t>
            </a:r>
            <a:endParaRPr lang="en-US" sz="950" dirty="0"/>
          </a:p>
        </p:txBody>
      </p:sp>
      <p:sp>
        <p:nvSpPr>
          <p:cNvPr id="16" name="Shape 13"/>
          <p:cNvSpPr/>
          <p:nvPr/>
        </p:nvSpPr>
        <p:spPr>
          <a:xfrm>
            <a:off x="6089904" y="987552"/>
            <a:ext cx="2743200" cy="1993392"/>
          </a:xfrm>
          <a:prstGeom prst="rect">
            <a:avLst/>
          </a:prstGeom>
          <a:solidFill>
            <a:srgbClr val="FFFFFF"/>
          </a:solidFill>
          <a:ln/>
          <a:effectLst>
            <a:outerShdw blurRad="101600" dist="38100" dir="8100000" algn="bl" rotWithShape="0">
              <a:srgbClr val="000000">
                <a:alpha val="18000"/>
              </a:srgbClr>
            </a:outerShdw>
          </a:effectLst>
        </p:spPr>
      </p:sp>
      <p:sp>
        <p:nvSpPr>
          <p:cNvPr id="17" name="Shape 14"/>
          <p:cNvSpPr/>
          <p:nvPr/>
        </p:nvSpPr>
        <p:spPr>
          <a:xfrm>
            <a:off x="6163056" y="1060704"/>
            <a:ext cx="475488" cy="475488"/>
          </a:xfrm>
          <a:prstGeom prst="line">
            <a:avLst/>
          </a:prstGeom>
          <a:solidFill>
            <a:srgbClr val="E8670D"/>
          </a:solidFill>
          <a:ln/>
        </p:spPr>
      </p:sp>
      <p:sp>
        <p:nvSpPr>
          <p:cNvPr id="18" name="Text 15"/>
          <p:cNvSpPr/>
          <p:nvPr/>
        </p:nvSpPr>
        <p:spPr>
          <a:xfrm>
            <a:off x="6163056" y="1078992"/>
            <a:ext cx="475488"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6"/>
          <p:cNvSpPr/>
          <p:nvPr/>
        </p:nvSpPr>
        <p:spPr>
          <a:xfrm>
            <a:off x="6729984" y="1078992"/>
            <a:ext cx="2029968" cy="438912"/>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Write Test Scripts</a:t>
            </a:r>
            <a:endParaRPr lang="en-US" sz="1050" dirty="0"/>
          </a:p>
        </p:txBody>
      </p:sp>
      <p:sp>
        <p:nvSpPr>
          <p:cNvPr id="20" name="Text 17"/>
          <p:cNvSpPr/>
          <p:nvPr/>
        </p:nvSpPr>
        <p:spPr>
          <a:xfrm>
            <a:off x="6181344" y="1609344"/>
            <a:ext cx="2578608" cy="1298448"/>
          </a:xfrm>
          <a:prstGeom prst="rect">
            <a:avLst/>
          </a:prstGeom>
          <a:noFill/>
          <a:ln/>
        </p:spPr>
        <p:txBody>
          <a:bodyPr wrap="square" rtlCol="0" anchor="t"/>
          <a:lstStyle/>
          <a:p>
            <a:pPr marL="0" indent="0">
              <a:buNone/>
            </a:pPr>
            <a:r>
              <a:rPr lang="en-US" sz="950" dirty="0">
                <a:solidFill>
                  <a:srgbClr val="555555"/>
                </a:solidFill>
                <a:latin typeface="Calibri" pitchFamily="34" charset="0"/>
                <a:ea typeface="Calibri" pitchFamily="34" charset="-122"/>
                <a:cs typeface="Calibri" pitchFamily="34" charset="-120"/>
              </a:rPr>
              <a:t>Write Page Objects for each UI screen. Write test methods using @Test annotations. Add assertions: assertEquals, assertTrue. Parameterise with data providers (data-driven testing).</a:t>
            </a:r>
            <a:endParaRPr lang="en-US" sz="950" dirty="0"/>
          </a:p>
        </p:txBody>
      </p:sp>
      <p:sp>
        <p:nvSpPr>
          <p:cNvPr id="21" name="Shape 18"/>
          <p:cNvSpPr/>
          <p:nvPr/>
        </p:nvSpPr>
        <p:spPr>
          <a:xfrm>
            <a:off x="274320" y="3108960"/>
            <a:ext cx="2743200" cy="1993392"/>
          </a:xfrm>
          <a:prstGeom prst="rect">
            <a:avLst/>
          </a:prstGeom>
          <a:solidFill>
            <a:srgbClr val="FFFFFF"/>
          </a:solidFill>
          <a:ln/>
          <a:effectLst>
            <a:outerShdw blurRad="101600" dist="38100" dir="8100000" algn="bl" rotWithShape="0">
              <a:srgbClr val="000000">
                <a:alpha val="18000"/>
              </a:srgbClr>
            </a:outerShdw>
          </a:effectLst>
        </p:spPr>
      </p:sp>
      <p:sp>
        <p:nvSpPr>
          <p:cNvPr id="22" name="Shape 19"/>
          <p:cNvSpPr/>
          <p:nvPr/>
        </p:nvSpPr>
        <p:spPr>
          <a:xfrm>
            <a:off x="347472" y="3182112"/>
            <a:ext cx="475488" cy="475488"/>
          </a:xfrm>
          <a:prstGeom prst="line">
            <a:avLst/>
          </a:prstGeom>
          <a:solidFill>
            <a:srgbClr val="1E1E1E"/>
          </a:solidFill>
          <a:ln/>
        </p:spPr>
      </p:sp>
      <p:sp>
        <p:nvSpPr>
          <p:cNvPr id="23" name="Text 20"/>
          <p:cNvSpPr/>
          <p:nvPr/>
        </p:nvSpPr>
        <p:spPr>
          <a:xfrm>
            <a:off x="347472" y="3200400"/>
            <a:ext cx="475488"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Text 21"/>
          <p:cNvSpPr/>
          <p:nvPr/>
        </p:nvSpPr>
        <p:spPr>
          <a:xfrm>
            <a:off x="914400" y="3200400"/>
            <a:ext cx="2029968" cy="438912"/>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Execute Locally</a:t>
            </a:r>
            <a:endParaRPr lang="en-US" sz="1050" dirty="0"/>
          </a:p>
        </p:txBody>
      </p:sp>
      <p:sp>
        <p:nvSpPr>
          <p:cNvPr id="25" name="Text 22"/>
          <p:cNvSpPr/>
          <p:nvPr/>
        </p:nvSpPr>
        <p:spPr>
          <a:xfrm>
            <a:off x="365760" y="3730752"/>
            <a:ext cx="2578608" cy="1298448"/>
          </a:xfrm>
          <a:prstGeom prst="rect">
            <a:avLst/>
          </a:prstGeom>
          <a:noFill/>
          <a:ln/>
        </p:spPr>
        <p:txBody>
          <a:bodyPr wrap="square" rtlCol="0" anchor="t"/>
          <a:lstStyle/>
          <a:p>
            <a:pPr marL="0" indent="0">
              <a:buNone/>
            </a:pPr>
            <a:r>
              <a:rPr lang="en-US" sz="950" dirty="0">
                <a:solidFill>
                  <a:srgbClr val="555555"/>
                </a:solidFill>
                <a:latin typeface="Calibri" pitchFamily="34" charset="0"/>
                <a:ea typeface="Calibri" pitchFamily="34" charset="-122"/>
                <a:cs typeface="Calibri" pitchFamily="34" charset="-120"/>
              </a:rPr>
              <a:t>Run tests in IntelliJ via TestNG XML suite. Verify all tests pass on local environment. Debug and fix any script issues. Review Playwright trace viewer or ExtentReports.</a:t>
            </a:r>
            <a:endParaRPr lang="en-US" sz="950" dirty="0"/>
          </a:p>
        </p:txBody>
      </p:sp>
      <p:sp>
        <p:nvSpPr>
          <p:cNvPr id="26" name="Shape 23"/>
          <p:cNvSpPr/>
          <p:nvPr/>
        </p:nvSpPr>
        <p:spPr>
          <a:xfrm>
            <a:off x="3182112" y="3108960"/>
            <a:ext cx="2743200" cy="1993392"/>
          </a:xfrm>
          <a:prstGeom prst="rect">
            <a:avLst/>
          </a:prstGeom>
          <a:solidFill>
            <a:srgbClr val="FFFFFF"/>
          </a:solidFill>
          <a:ln/>
          <a:effectLst>
            <a:outerShdw blurRad="101600" dist="38100" dir="8100000" algn="bl" rotWithShape="0">
              <a:srgbClr val="000000">
                <a:alpha val="18000"/>
              </a:srgbClr>
            </a:outerShdw>
          </a:effectLst>
        </p:spPr>
      </p:sp>
      <p:sp>
        <p:nvSpPr>
          <p:cNvPr id="27" name="Shape 24"/>
          <p:cNvSpPr/>
          <p:nvPr/>
        </p:nvSpPr>
        <p:spPr>
          <a:xfrm>
            <a:off x="3255264" y="3182112"/>
            <a:ext cx="475488" cy="475488"/>
          </a:xfrm>
          <a:prstGeom prst="line">
            <a:avLst/>
          </a:prstGeom>
          <a:solidFill>
            <a:srgbClr val="E8670D"/>
          </a:solidFill>
          <a:ln/>
        </p:spPr>
      </p:sp>
      <p:sp>
        <p:nvSpPr>
          <p:cNvPr id="28" name="Text 25"/>
          <p:cNvSpPr/>
          <p:nvPr/>
        </p:nvSpPr>
        <p:spPr>
          <a:xfrm>
            <a:off x="3255264" y="3200400"/>
            <a:ext cx="475488"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9" name="Text 26"/>
          <p:cNvSpPr/>
          <p:nvPr/>
        </p:nvSpPr>
        <p:spPr>
          <a:xfrm>
            <a:off x="3822192" y="3200400"/>
            <a:ext cx="2029968" cy="438912"/>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Integrate with CI/CD</a:t>
            </a:r>
            <a:endParaRPr lang="en-US" sz="1050" dirty="0"/>
          </a:p>
        </p:txBody>
      </p:sp>
      <p:sp>
        <p:nvSpPr>
          <p:cNvPr id="30" name="Text 27"/>
          <p:cNvSpPr/>
          <p:nvPr/>
        </p:nvSpPr>
        <p:spPr>
          <a:xfrm>
            <a:off x="3273552" y="3730752"/>
            <a:ext cx="2578608" cy="1298448"/>
          </a:xfrm>
          <a:prstGeom prst="rect">
            <a:avLst/>
          </a:prstGeom>
          <a:noFill/>
          <a:ln/>
        </p:spPr>
        <p:txBody>
          <a:bodyPr wrap="square" rtlCol="0" anchor="t"/>
          <a:lstStyle/>
          <a:p>
            <a:pPr marL="0" indent="0">
              <a:buNone/>
            </a:pPr>
            <a:r>
              <a:rPr lang="en-US" sz="950" dirty="0">
                <a:solidFill>
                  <a:srgbClr val="555555"/>
                </a:solidFill>
                <a:latin typeface="Calibri" pitchFamily="34" charset="0"/>
                <a:ea typeface="Calibri" pitchFamily="34" charset="-122"/>
                <a:cs typeface="Calibri" pitchFamily="34" charset="-120"/>
              </a:rPr>
              <a:t>Push scripts to Git repository. Configure Jenkins / GitHub Actions pipeline. Pipeline: code commit → run automation → report results → notify team. Fail pipeline on test failure.</a:t>
            </a:r>
            <a:endParaRPr lang="en-US" sz="950" dirty="0"/>
          </a:p>
        </p:txBody>
      </p:sp>
      <p:sp>
        <p:nvSpPr>
          <p:cNvPr id="31" name="Shape 28"/>
          <p:cNvSpPr/>
          <p:nvPr/>
        </p:nvSpPr>
        <p:spPr>
          <a:xfrm>
            <a:off x="6089904" y="3108960"/>
            <a:ext cx="2743200" cy="1993392"/>
          </a:xfrm>
          <a:prstGeom prst="rect">
            <a:avLst/>
          </a:prstGeom>
          <a:solidFill>
            <a:srgbClr val="FFFFFF"/>
          </a:solidFill>
          <a:ln/>
          <a:effectLst>
            <a:outerShdw blurRad="101600" dist="38100" dir="8100000" algn="bl" rotWithShape="0">
              <a:srgbClr val="000000">
                <a:alpha val="18000"/>
              </a:srgbClr>
            </a:outerShdw>
          </a:effectLst>
        </p:spPr>
      </p:sp>
      <p:sp>
        <p:nvSpPr>
          <p:cNvPr id="32" name="Shape 29"/>
          <p:cNvSpPr/>
          <p:nvPr/>
        </p:nvSpPr>
        <p:spPr>
          <a:xfrm>
            <a:off x="6163056" y="3182112"/>
            <a:ext cx="475488" cy="475488"/>
          </a:xfrm>
          <a:prstGeom prst="line">
            <a:avLst/>
          </a:prstGeom>
          <a:solidFill>
            <a:srgbClr val="1E1E1E"/>
          </a:solidFill>
          <a:ln/>
        </p:spPr>
      </p:sp>
      <p:sp>
        <p:nvSpPr>
          <p:cNvPr id="33" name="Text 30"/>
          <p:cNvSpPr/>
          <p:nvPr/>
        </p:nvSpPr>
        <p:spPr>
          <a:xfrm>
            <a:off x="6163056" y="3200400"/>
            <a:ext cx="475488" cy="43891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4" name="Text 31"/>
          <p:cNvSpPr/>
          <p:nvPr/>
        </p:nvSpPr>
        <p:spPr>
          <a:xfrm>
            <a:off x="6729984" y="3200400"/>
            <a:ext cx="2029968" cy="438912"/>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Monitor &amp; Maintain</a:t>
            </a:r>
            <a:endParaRPr lang="en-US" sz="1050" dirty="0"/>
          </a:p>
        </p:txBody>
      </p:sp>
      <p:sp>
        <p:nvSpPr>
          <p:cNvPr id="35" name="Text 32"/>
          <p:cNvSpPr/>
          <p:nvPr/>
        </p:nvSpPr>
        <p:spPr>
          <a:xfrm>
            <a:off x="6181344" y="3730752"/>
            <a:ext cx="2578608" cy="1298448"/>
          </a:xfrm>
          <a:prstGeom prst="rect">
            <a:avLst/>
          </a:prstGeom>
          <a:noFill/>
          <a:ln/>
        </p:spPr>
        <p:txBody>
          <a:bodyPr wrap="square" rtlCol="0" anchor="t"/>
          <a:lstStyle/>
          <a:p>
            <a:pPr marL="0" indent="0">
              <a:buNone/>
            </a:pPr>
            <a:r>
              <a:rPr lang="en-US" sz="950" dirty="0">
                <a:solidFill>
                  <a:srgbClr val="555555"/>
                </a:solidFill>
                <a:latin typeface="Calibri" pitchFamily="34" charset="0"/>
                <a:ea typeface="Calibri" pitchFamily="34" charset="-122"/>
                <a:cs typeface="Calibri" pitchFamily="34" charset="-120"/>
              </a:rPr>
              <a:t>Review results after every run. Fix flaky tests immediately. Update scripts when UI changes. Expand suite with new test cases each sprint. Track automation coverage %.</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5669280" y="91440"/>
            <a:ext cx="3200400" cy="4572000"/>
          </a:xfrm>
          <a:prstGeom prst="rect">
            <a:avLst/>
          </a:prstGeom>
          <a:noFill/>
          <a:ln/>
        </p:spPr>
        <p:txBody>
          <a:bodyPr wrap="square" lIns="0" tIns="0" rIns="0" bIns="0" rtlCol="0" anchor="ctr"/>
          <a:lstStyle/>
          <a:p>
            <a:pPr marL="0" indent="0" algn="r">
              <a:buNone/>
            </a:pPr>
            <a:r>
              <a:rPr lang="en-US" sz="22000" b="1" dirty="0">
                <a:solidFill>
                  <a:srgbClr val="1E1E1E"/>
                </a:solidFill>
                <a:latin typeface="Calibri" pitchFamily="34" charset="0"/>
                <a:ea typeface="Calibri" pitchFamily="34" charset="-122"/>
                <a:cs typeface="Calibri" pitchFamily="34" charset="-120"/>
              </a:rPr>
              <a:t>9</a:t>
            </a:r>
            <a:endParaRPr lang="en-US" sz="22000" dirty="0"/>
          </a:p>
        </p:txBody>
      </p:sp>
      <p:sp>
        <p:nvSpPr>
          <p:cNvPr id="5" name="Text 3"/>
          <p:cNvSpPr/>
          <p:nvPr/>
        </p:nvSpPr>
        <p:spPr>
          <a:xfrm>
            <a:off x="457200" y="1097280"/>
            <a:ext cx="3657600" cy="384048"/>
          </a:xfrm>
          <a:prstGeom prst="rect">
            <a:avLst/>
          </a:prstGeom>
          <a:noFill/>
          <a:ln/>
        </p:spPr>
        <p:txBody>
          <a:bodyPr wrap="square" rtlCol="0" anchor="ctr"/>
          <a:lstStyle/>
          <a:p>
            <a:pPr marL="0" indent="0">
              <a:buNone/>
            </a:pPr>
            <a:r>
              <a:rPr lang="en-US" sz="1200" b="1" kern="0" spc="500" dirty="0">
                <a:solidFill>
                  <a:srgbClr val="E8670D"/>
                </a:solidFill>
                <a:latin typeface="Calibri" pitchFamily="34" charset="0"/>
                <a:ea typeface="Calibri" pitchFamily="34" charset="-122"/>
                <a:cs typeface="Calibri" pitchFamily="34" charset="-120"/>
              </a:rPr>
              <a:t>SECTION</a:t>
            </a:r>
            <a:endParaRPr lang="en-US" sz="1200" dirty="0"/>
          </a:p>
        </p:txBody>
      </p:sp>
      <p:sp>
        <p:nvSpPr>
          <p:cNvPr id="6" name="Text 4"/>
          <p:cNvSpPr/>
          <p:nvPr/>
        </p:nvSpPr>
        <p:spPr>
          <a:xfrm>
            <a:off x="457200" y="1508760"/>
            <a:ext cx="1097280" cy="8686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9</a:t>
            </a:r>
            <a:endParaRPr lang="en-US" sz="5800" dirty="0"/>
          </a:p>
        </p:txBody>
      </p:sp>
      <p:sp>
        <p:nvSpPr>
          <p:cNvPr id="7" name="Shape 5"/>
          <p:cNvSpPr/>
          <p:nvPr/>
        </p:nvSpPr>
        <p:spPr>
          <a:xfrm>
            <a:off x="457200" y="2487168"/>
            <a:ext cx="5029200" cy="54864"/>
          </a:xfrm>
          <a:prstGeom prst="rect">
            <a:avLst/>
          </a:prstGeom>
          <a:solidFill>
            <a:srgbClr val="E8670D"/>
          </a:solidFill>
          <a:ln/>
        </p:spPr>
      </p:sp>
      <p:sp>
        <p:nvSpPr>
          <p:cNvPr id="8" name="Text 6"/>
          <p:cNvSpPr/>
          <p:nvPr/>
        </p:nvSpPr>
        <p:spPr>
          <a:xfrm>
            <a:off x="457200" y="2606040"/>
            <a:ext cx="8046720" cy="11887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Real-World Testing Workflow</a:t>
            </a:r>
            <a:endParaRPr lang="en-US" sz="3000" dirty="0"/>
          </a:p>
        </p:txBody>
      </p:sp>
      <p:sp>
        <p:nvSpPr>
          <p:cNvPr id="9" name="Text 7"/>
          <p:cNvSpPr/>
          <p:nvPr/>
        </p:nvSpPr>
        <p:spPr>
          <a:xfrm>
            <a:off x="457200" y="3858768"/>
            <a:ext cx="7772400" cy="640080"/>
          </a:xfrm>
          <a:prstGeom prst="rect">
            <a:avLst/>
          </a:prstGeom>
          <a:noFill/>
          <a:ln/>
        </p:spPr>
        <p:txBody>
          <a:bodyPr wrap="square" rtlCol="0" anchor="ctr"/>
          <a:lstStyle/>
          <a:p>
            <a:pPr marL="0" indent="0">
              <a:buNone/>
            </a:pPr>
            <a:r>
              <a:rPr lang="en-US" sz="1300" dirty="0">
                <a:solidFill>
                  <a:srgbClr val="AAAAAA"/>
                </a:solidFill>
                <a:latin typeface="Calibri" pitchFamily="34" charset="0"/>
                <a:ea typeface="Calibri" pitchFamily="34" charset="-122"/>
                <a:cs typeface="Calibri" pitchFamily="34" charset="-120"/>
              </a:rPr>
              <a:t>How ALL testing types come together in a real software project</a:t>
            </a:r>
            <a:endParaRPr lang="en-US" sz="1300" dirty="0"/>
          </a:p>
        </p:txBody>
      </p:sp>
      <p:pic>
        <p:nvPicPr>
          <p:cNvPr id="10" name="Image 0" descr="preencoded.png"/>
          <p:cNvPicPr>
            <a:picLocks noChangeAspect="1"/>
          </p:cNvPicPr>
          <p:nvPr/>
        </p:nvPicPr>
        <p:blipFill>
          <a:blip r:embed="rId3"/>
          <a:stretch>
            <a:fillRect/>
          </a:stretch>
        </p:blipFill>
        <p:spPr>
          <a:xfrm>
            <a:off x="7132320" y="457200"/>
            <a:ext cx="1371600" cy="13716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Real-World Project: E-Commerce Platform Launch</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Step-by-step: how every testing type is applied from development to production</a:t>
            </a:r>
            <a:endParaRPr lang="en-US" sz="1100" dirty="0"/>
          </a:p>
        </p:txBody>
      </p:sp>
      <p:sp>
        <p:nvSpPr>
          <p:cNvPr id="6" name="Shape 3"/>
          <p:cNvSpPr/>
          <p:nvPr/>
        </p:nvSpPr>
        <p:spPr>
          <a:xfrm>
            <a:off x="274320" y="987552"/>
            <a:ext cx="8595360" cy="621792"/>
          </a:xfrm>
          <a:prstGeom prst="rect">
            <a:avLst/>
          </a:prstGeom>
          <a:solidFill>
            <a:srgbClr val="FFFFFF"/>
          </a:solidFill>
          <a:ln/>
          <a:effectLst>
            <a:outerShdw blurRad="101600" dist="38100" dir="8100000" algn="bl" rotWithShape="0">
              <a:srgbClr val="000000">
                <a:alpha val="18000"/>
              </a:srgbClr>
            </a:outerShdw>
          </a:effectLst>
        </p:spPr>
      </p:sp>
      <p:sp>
        <p:nvSpPr>
          <p:cNvPr id="7" name="Shape 4"/>
          <p:cNvSpPr/>
          <p:nvPr/>
        </p:nvSpPr>
        <p:spPr>
          <a:xfrm>
            <a:off x="274320" y="987552"/>
            <a:ext cx="1371600" cy="621792"/>
          </a:xfrm>
          <a:prstGeom prst="rect">
            <a:avLst/>
          </a:prstGeom>
          <a:solidFill>
            <a:srgbClr val="E8670D"/>
          </a:solidFill>
          <a:ln/>
        </p:spPr>
      </p:sp>
      <p:sp>
        <p:nvSpPr>
          <p:cNvPr id="8" name="Text 5"/>
          <p:cNvSpPr/>
          <p:nvPr/>
        </p:nvSpPr>
        <p:spPr>
          <a:xfrm>
            <a:off x="292608" y="1042416"/>
            <a:ext cx="1353312" cy="512064"/>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Sprint 1–2</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Development</a:t>
            </a:r>
            <a:endParaRPr lang="en-US" sz="850" dirty="0"/>
          </a:p>
        </p:txBody>
      </p:sp>
      <p:sp>
        <p:nvSpPr>
          <p:cNvPr id="9" name="Text 6"/>
          <p:cNvSpPr/>
          <p:nvPr/>
        </p:nvSpPr>
        <p:spPr>
          <a:xfrm>
            <a:off x="1719072" y="1024128"/>
            <a:ext cx="3840480" cy="201168"/>
          </a:xfrm>
          <a:prstGeom prst="rect">
            <a:avLst/>
          </a:prstGeom>
          <a:noFill/>
          <a:ln/>
        </p:spPr>
        <p:txBody>
          <a:bodyPr wrap="square" lIns="0" tIns="0" rIns="0" bIns="0" rtlCol="0" anchor="ctr"/>
          <a:lstStyle/>
          <a:p>
            <a:pPr marL="0" indent="0">
              <a:buNone/>
            </a:pPr>
            <a:r>
              <a:rPr lang="en-US" sz="900" b="1" dirty="0">
                <a:solidFill>
                  <a:srgbClr val="E8670D"/>
                </a:solidFill>
                <a:latin typeface="Calibri" pitchFamily="34" charset="0"/>
                <a:ea typeface="Calibri" pitchFamily="34" charset="-122"/>
                <a:cs typeface="Calibri" pitchFamily="34" charset="-120"/>
              </a:rPr>
              <a:t>Tests: Unit Testing • Integration Testing (API layer)</a:t>
            </a:r>
            <a:endParaRPr lang="en-US" sz="900" dirty="0"/>
          </a:p>
        </p:txBody>
      </p:sp>
      <p:sp>
        <p:nvSpPr>
          <p:cNvPr id="10" name="Text 7"/>
          <p:cNvSpPr/>
          <p:nvPr/>
        </p:nvSpPr>
        <p:spPr>
          <a:xfrm>
            <a:off x="1719072" y="1225296"/>
            <a:ext cx="3840480" cy="164592"/>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Who: Developers (unit) + QA (integration)</a:t>
            </a:r>
            <a:endParaRPr lang="en-US" sz="850" dirty="0"/>
          </a:p>
        </p:txBody>
      </p:sp>
      <p:sp>
        <p:nvSpPr>
          <p:cNvPr id="11" name="Text 8"/>
          <p:cNvSpPr/>
          <p:nvPr/>
        </p:nvSpPr>
        <p:spPr>
          <a:xfrm>
            <a:off x="1719072" y="1389888"/>
            <a:ext cx="3840480" cy="164592"/>
          </a:xfrm>
          <a:prstGeom prst="rect">
            <a:avLst/>
          </a:prstGeom>
          <a:noFill/>
          <a:ln/>
        </p:spPr>
        <p:txBody>
          <a:bodyPr wrap="square" lIns="0" tIns="0" rIns="0" bIns="0" rtlCol="0" anchor="ctr"/>
          <a:lstStyle/>
          <a:p>
            <a:pPr marL="0" indent="0">
              <a:buNone/>
            </a:pPr>
            <a:r>
              <a:rPr lang="en-US" sz="850" i="1" dirty="0">
                <a:solidFill>
                  <a:srgbClr val="777777"/>
                </a:solidFill>
                <a:latin typeface="Calibri" pitchFamily="34" charset="0"/>
                <a:ea typeface="Calibri" pitchFamily="34" charset="-122"/>
                <a:cs typeface="Calibri" pitchFamily="34" charset="-120"/>
              </a:rPr>
              <a:t>Tools: JUnit/TestNG (unit) • Postman (API)</a:t>
            </a:r>
            <a:endParaRPr lang="en-US" sz="850" dirty="0"/>
          </a:p>
        </p:txBody>
      </p:sp>
      <p:sp>
        <p:nvSpPr>
          <p:cNvPr id="12" name="Shape 9"/>
          <p:cNvSpPr/>
          <p:nvPr/>
        </p:nvSpPr>
        <p:spPr>
          <a:xfrm>
            <a:off x="5669280" y="1024128"/>
            <a:ext cx="73152" cy="548640"/>
          </a:xfrm>
          <a:prstGeom prst="rect">
            <a:avLst/>
          </a:prstGeom>
          <a:solidFill>
            <a:srgbClr val="E8670D"/>
          </a:solidFill>
          <a:ln/>
        </p:spPr>
      </p:sp>
      <p:sp>
        <p:nvSpPr>
          <p:cNvPr id="13" name="Text 10"/>
          <p:cNvSpPr/>
          <p:nvPr/>
        </p:nvSpPr>
        <p:spPr>
          <a:xfrm>
            <a:off x="5797296" y="1060704"/>
            <a:ext cx="2999232" cy="475488"/>
          </a:xfrm>
          <a:prstGeom prst="rect">
            <a:avLst/>
          </a:prstGeom>
          <a:noFill/>
          <a:ln/>
        </p:spPr>
        <p:txBody>
          <a:bodyPr wrap="square" rtlCol="0" anchor="ctr"/>
          <a:lstStyle/>
          <a:p>
            <a:pPr marL="0" indent="0">
              <a:buNone/>
            </a:pPr>
            <a:r>
              <a:rPr lang="en-US" sz="900" dirty="0">
                <a:solidFill>
                  <a:srgbClr val="1E1E1E"/>
                </a:solidFill>
                <a:latin typeface="Calibri" pitchFamily="34" charset="0"/>
                <a:ea typeface="Calibri" pitchFamily="34" charset="-122"/>
                <a:cs typeface="Calibri" pitchFamily="34" charset="-120"/>
              </a:rPr>
              <a:t>Individual components validated in isolation</a:t>
            </a:r>
            <a:endParaRPr lang="en-US" sz="900" dirty="0"/>
          </a:p>
        </p:txBody>
      </p:sp>
      <p:sp>
        <p:nvSpPr>
          <p:cNvPr id="14" name="Shape 11"/>
          <p:cNvSpPr/>
          <p:nvPr/>
        </p:nvSpPr>
        <p:spPr>
          <a:xfrm>
            <a:off x="274320" y="1682496"/>
            <a:ext cx="8595360" cy="621792"/>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274320" y="1682496"/>
            <a:ext cx="1371600" cy="621792"/>
          </a:xfrm>
          <a:prstGeom prst="rect">
            <a:avLst/>
          </a:prstGeom>
          <a:solidFill>
            <a:srgbClr val="1E1E1E"/>
          </a:solidFill>
          <a:ln/>
        </p:spPr>
      </p:sp>
      <p:sp>
        <p:nvSpPr>
          <p:cNvPr id="16" name="Text 13"/>
          <p:cNvSpPr/>
          <p:nvPr/>
        </p:nvSpPr>
        <p:spPr>
          <a:xfrm>
            <a:off x="292608" y="1737360"/>
            <a:ext cx="1353312" cy="512064"/>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Sprint 3</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QA Build Arrives</a:t>
            </a:r>
            <a:endParaRPr lang="en-US" sz="850" dirty="0"/>
          </a:p>
        </p:txBody>
      </p:sp>
      <p:sp>
        <p:nvSpPr>
          <p:cNvPr id="17" name="Text 14"/>
          <p:cNvSpPr/>
          <p:nvPr/>
        </p:nvSpPr>
        <p:spPr>
          <a:xfrm>
            <a:off x="1719072" y="1719072"/>
            <a:ext cx="3840480" cy="201168"/>
          </a:xfrm>
          <a:prstGeom prst="rect">
            <a:avLst/>
          </a:prstGeom>
          <a:noFill/>
          <a:ln/>
        </p:spPr>
        <p:txBody>
          <a:bodyPr wrap="square" lIns="0" tIns="0" rIns="0" bIns="0" rtlCol="0" anchor="ctr"/>
          <a:lstStyle/>
          <a:p>
            <a:pPr marL="0" indent="0">
              <a:buNone/>
            </a:pPr>
            <a:r>
              <a:rPr lang="en-US" sz="900" b="1" dirty="0">
                <a:solidFill>
                  <a:srgbClr val="E8670D"/>
                </a:solidFill>
                <a:latin typeface="Calibri" pitchFamily="34" charset="0"/>
                <a:ea typeface="Calibri" pitchFamily="34" charset="-122"/>
                <a:cs typeface="Calibri" pitchFamily="34" charset="-120"/>
              </a:rPr>
              <a:t>Tests: Smoke Testing • Exploratory Testing</a:t>
            </a:r>
            <a:endParaRPr lang="en-US" sz="900" dirty="0"/>
          </a:p>
        </p:txBody>
      </p:sp>
      <p:sp>
        <p:nvSpPr>
          <p:cNvPr id="18" name="Text 15"/>
          <p:cNvSpPr/>
          <p:nvPr/>
        </p:nvSpPr>
        <p:spPr>
          <a:xfrm>
            <a:off x="1719072" y="1920240"/>
            <a:ext cx="3840480" cy="164592"/>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Who: QA Engineers</a:t>
            </a:r>
            <a:endParaRPr lang="en-US" sz="850" dirty="0"/>
          </a:p>
        </p:txBody>
      </p:sp>
      <p:sp>
        <p:nvSpPr>
          <p:cNvPr id="19" name="Text 16"/>
          <p:cNvSpPr/>
          <p:nvPr/>
        </p:nvSpPr>
        <p:spPr>
          <a:xfrm>
            <a:off x="1719072" y="2084832"/>
            <a:ext cx="3840480" cy="164592"/>
          </a:xfrm>
          <a:prstGeom prst="rect">
            <a:avLst/>
          </a:prstGeom>
          <a:noFill/>
          <a:ln/>
        </p:spPr>
        <p:txBody>
          <a:bodyPr wrap="square" lIns="0" tIns="0" rIns="0" bIns="0" rtlCol="0" anchor="ctr"/>
          <a:lstStyle/>
          <a:p>
            <a:pPr marL="0" indent="0">
              <a:buNone/>
            </a:pPr>
            <a:r>
              <a:rPr lang="en-US" sz="850" i="1" dirty="0">
                <a:solidFill>
                  <a:srgbClr val="777777"/>
                </a:solidFill>
                <a:latin typeface="Calibri" pitchFamily="34" charset="0"/>
                <a:ea typeface="Calibri" pitchFamily="34" charset="-122"/>
                <a:cs typeface="Calibri" pitchFamily="34" charset="-120"/>
              </a:rPr>
              <a:t>Tools: Playwright CI smoke suite • Manual exploration</a:t>
            </a:r>
            <a:endParaRPr lang="en-US" sz="850" dirty="0"/>
          </a:p>
        </p:txBody>
      </p:sp>
      <p:sp>
        <p:nvSpPr>
          <p:cNvPr id="20" name="Shape 17"/>
          <p:cNvSpPr/>
          <p:nvPr/>
        </p:nvSpPr>
        <p:spPr>
          <a:xfrm>
            <a:off x="5669280" y="1719072"/>
            <a:ext cx="73152" cy="548640"/>
          </a:xfrm>
          <a:prstGeom prst="rect">
            <a:avLst/>
          </a:prstGeom>
          <a:solidFill>
            <a:srgbClr val="1E1E1E"/>
          </a:solidFill>
          <a:ln/>
        </p:spPr>
      </p:sp>
      <p:sp>
        <p:nvSpPr>
          <p:cNvPr id="21" name="Text 18"/>
          <p:cNvSpPr/>
          <p:nvPr/>
        </p:nvSpPr>
        <p:spPr>
          <a:xfrm>
            <a:off x="5797296" y="1755648"/>
            <a:ext cx="2999232" cy="475488"/>
          </a:xfrm>
          <a:prstGeom prst="rect">
            <a:avLst/>
          </a:prstGeom>
          <a:noFill/>
          <a:ln/>
        </p:spPr>
        <p:txBody>
          <a:bodyPr wrap="square" rtlCol="0" anchor="ctr"/>
          <a:lstStyle/>
          <a:p>
            <a:pPr marL="0" indent="0">
              <a:buNone/>
            </a:pPr>
            <a:r>
              <a:rPr lang="en-US" sz="900" dirty="0">
                <a:solidFill>
                  <a:srgbClr val="1E1E1E"/>
                </a:solidFill>
                <a:latin typeface="Calibri" pitchFamily="34" charset="0"/>
                <a:ea typeface="Calibri" pitchFamily="34" charset="-122"/>
                <a:cs typeface="Calibri" pitchFamily="34" charset="-120"/>
              </a:rPr>
              <a:t>Build confirmed stable. Unknown risks surfaced.</a:t>
            </a:r>
            <a:endParaRPr lang="en-US" sz="900" dirty="0"/>
          </a:p>
        </p:txBody>
      </p:sp>
      <p:sp>
        <p:nvSpPr>
          <p:cNvPr id="22" name="Shape 19"/>
          <p:cNvSpPr/>
          <p:nvPr/>
        </p:nvSpPr>
        <p:spPr>
          <a:xfrm>
            <a:off x="274320" y="2377440"/>
            <a:ext cx="8595360" cy="621792"/>
          </a:xfrm>
          <a:prstGeom prst="rect">
            <a:avLst/>
          </a:prstGeom>
          <a:solidFill>
            <a:srgbClr val="FFFFFF"/>
          </a:solidFill>
          <a:ln/>
          <a:effectLst>
            <a:outerShdw blurRad="101600" dist="38100" dir="8100000" algn="bl" rotWithShape="0">
              <a:srgbClr val="000000">
                <a:alpha val="18000"/>
              </a:srgbClr>
            </a:outerShdw>
          </a:effectLst>
        </p:spPr>
      </p:sp>
      <p:sp>
        <p:nvSpPr>
          <p:cNvPr id="23" name="Shape 20"/>
          <p:cNvSpPr/>
          <p:nvPr/>
        </p:nvSpPr>
        <p:spPr>
          <a:xfrm>
            <a:off x="274320" y="2377440"/>
            <a:ext cx="1371600" cy="621792"/>
          </a:xfrm>
          <a:prstGeom prst="rect">
            <a:avLst/>
          </a:prstGeom>
          <a:solidFill>
            <a:srgbClr val="E8670D"/>
          </a:solidFill>
          <a:ln/>
        </p:spPr>
      </p:sp>
      <p:sp>
        <p:nvSpPr>
          <p:cNvPr id="24" name="Text 21"/>
          <p:cNvSpPr/>
          <p:nvPr/>
        </p:nvSpPr>
        <p:spPr>
          <a:xfrm>
            <a:off x="292608" y="2432304"/>
            <a:ext cx="1353312" cy="512064"/>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Sprint 4</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Full QA Cycle</a:t>
            </a:r>
            <a:endParaRPr lang="en-US" sz="850" dirty="0"/>
          </a:p>
        </p:txBody>
      </p:sp>
      <p:sp>
        <p:nvSpPr>
          <p:cNvPr id="25" name="Text 22"/>
          <p:cNvSpPr/>
          <p:nvPr/>
        </p:nvSpPr>
        <p:spPr>
          <a:xfrm>
            <a:off x="1719072" y="2414016"/>
            <a:ext cx="3840480" cy="201168"/>
          </a:xfrm>
          <a:prstGeom prst="rect">
            <a:avLst/>
          </a:prstGeom>
          <a:noFill/>
          <a:ln/>
        </p:spPr>
        <p:txBody>
          <a:bodyPr wrap="square" lIns="0" tIns="0" rIns="0" bIns="0" rtlCol="0" anchor="ctr"/>
          <a:lstStyle/>
          <a:p>
            <a:pPr marL="0" indent="0">
              <a:buNone/>
            </a:pPr>
            <a:r>
              <a:rPr lang="en-US" sz="900" b="1" dirty="0">
                <a:solidFill>
                  <a:srgbClr val="E8670D"/>
                </a:solidFill>
                <a:latin typeface="Calibri" pitchFamily="34" charset="0"/>
                <a:ea typeface="Calibri" pitchFamily="34" charset="-122"/>
                <a:cs typeface="Calibri" pitchFamily="34" charset="-120"/>
              </a:rPr>
              <a:t>Tests: System Testing • Regression Testing • Performance Testing • Security Testing</a:t>
            </a:r>
            <a:endParaRPr lang="en-US" sz="900" dirty="0"/>
          </a:p>
        </p:txBody>
      </p:sp>
      <p:sp>
        <p:nvSpPr>
          <p:cNvPr id="26" name="Text 23"/>
          <p:cNvSpPr/>
          <p:nvPr/>
        </p:nvSpPr>
        <p:spPr>
          <a:xfrm>
            <a:off x="1719072" y="2615184"/>
            <a:ext cx="3840480" cy="164592"/>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Who: QA Engineering Team</a:t>
            </a:r>
            <a:endParaRPr lang="en-US" sz="850" dirty="0"/>
          </a:p>
        </p:txBody>
      </p:sp>
      <p:sp>
        <p:nvSpPr>
          <p:cNvPr id="27" name="Text 24"/>
          <p:cNvSpPr/>
          <p:nvPr/>
        </p:nvSpPr>
        <p:spPr>
          <a:xfrm>
            <a:off x="1719072" y="2779776"/>
            <a:ext cx="3840480" cy="164592"/>
          </a:xfrm>
          <a:prstGeom prst="rect">
            <a:avLst/>
          </a:prstGeom>
          <a:noFill/>
          <a:ln/>
        </p:spPr>
        <p:txBody>
          <a:bodyPr wrap="square" lIns="0" tIns="0" rIns="0" bIns="0" rtlCol="0" anchor="ctr"/>
          <a:lstStyle/>
          <a:p>
            <a:pPr marL="0" indent="0">
              <a:buNone/>
            </a:pPr>
            <a:r>
              <a:rPr lang="en-US" sz="850" i="1" dirty="0">
                <a:solidFill>
                  <a:srgbClr val="777777"/>
                </a:solidFill>
                <a:latin typeface="Calibri" pitchFamily="34" charset="0"/>
                <a:ea typeface="Calibri" pitchFamily="34" charset="-122"/>
                <a:cs typeface="Calibri" pitchFamily="34" charset="-120"/>
              </a:rPr>
              <a:t>Tools: Selenium/Playwright (system) • JMeter (perf) • ZAP (security)</a:t>
            </a:r>
            <a:endParaRPr lang="en-US" sz="850" dirty="0"/>
          </a:p>
        </p:txBody>
      </p:sp>
      <p:sp>
        <p:nvSpPr>
          <p:cNvPr id="28" name="Shape 25"/>
          <p:cNvSpPr/>
          <p:nvPr/>
        </p:nvSpPr>
        <p:spPr>
          <a:xfrm>
            <a:off x="5669280" y="2414016"/>
            <a:ext cx="73152" cy="548640"/>
          </a:xfrm>
          <a:prstGeom prst="rect">
            <a:avLst/>
          </a:prstGeom>
          <a:solidFill>
            <a:srgbClr val="E8670D"/>
          </a:solidFill>
          <a:ln/>
        </p:spPr>
      </p:sp>
      <p:sp>
        <p:nvSpPr>
          <p:cNvPr id="29" name="Text 26"/>
          <p:cNvSpPr/>
          <p:nvPr/>
        </p:nvSpPr>
        <p:spPr>
          <a:xfrm>
            <a:off x="5797296" y="2450592"/>
            <a:ext cx="2999232" cy="475488"/>
          </a:xfrm>
          <a:prstGeom prst="rect">
            <a:avLst/>
          </a:prstGeom>
          <a:noFill/>
          <a:ln/>
        </p:spPr>
        <p:txBody>
          <a:bodyPr wrap="square" rtlCol="0" anchor="ctr"/>
          <a:lstStyle/>
          <a:p>
            <a:pPr marL="0" indent="0">
              <a:buNone/>
            </a:pPr>
            <a:r>
              <a:rPr lang="en-US" sz="900" dirty="0">
                <a:solidFill>
                  <a:srgbClr val="1E1E1E"/>
                </a:solidFill>
                <a:latin typeface="Calibri" pitchFamily="34" charset="0"/>
                <a:ea typeface="Calibri" pitchFamily="34" charset="-122"/>
                <a:cs typeface="Calibri" pitchFamily="34" charset="-120"/>
              </a:rPr>
              <a:t>Full functional coverage. Non-functional baseline established.</a:t>
            </a:r>
            <a:endParaRPr lang="en-US" sz="900" dirty="0"/>
          </a:p>
        </p:txBody>
      </p:sp>
      <p:sp>
        <p:nvSpPr>
          <p:cNvPr id="30" name="Shape 27"/>
          <p:cNvSpPr/>
          <p:nvPr/>
        </p:nvSpPr>
        <p:spPr>
          <a:xfrm>
            <a:off x="274320" y="3072384"/>
            <a:ext cx="8595360" cy="621792"/>
          </a:xfrm>
          <a:prstGeom prst="rect">
            <a:avLst/>
          </a:prstGeom>
          <a:solidFill>
            <a:srgbClr val="FFFFFF"/>
          </a:solidFill>
          <a:ln/>
          <a:effectLst>
            <a:outerShdw blurRad="101600" dist="38100" dir="8100000" algn="bl" rotWithShape="0">
              <a:srgbClr val="000000">
                <a:alpha val="18000"/>
              </a:srgbClr>
            </a:outerShdw>
          </a:effectLst>
        </p:spPr>
      </p:sp>
      <p:sp>
        <p:nvSpPr>
          <p:cNvPr id="31" name="Shape 28"/>
          <p:cNvSpPr/>
          <p:nvPr/>
        </p:nvSpPr>
        <p:spPr>
          <a:xfrm>
            <a:off x="274320" y="3072384"/>
            <a:ext cx="1371600" cy="621792"/>
          </a:xfrm>
          <a:prstGeom prst="rect">
            <a:avLst/>
          </a:prstGeom>
          <a:solidFill>
            <a:srgbClr val="1E1E1E"/>
          </a:solidFill>
          <a:ln/>
        </p:spPr>
      </p:sp>
      <p:sp>
        <p:nvSpPr>
          <p:cNvPr id="32" name="Text 29"/>
          <p:cNvSpPr/>
          <p:nvPr/>
        </p:nvSpPr>
        <p:spPr>
          <a:xfrm>
            <a:off x="292608" y="3127248"/>
            <a:ext cx="1353312" cy="512064"/>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Sprint 5</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Pre-Release</a:t>
            </a:r>
            <a:endParaRPr lang="en-US" sz="850" dirty="0"/>
          </a:p>
        </p:txBody>
      </p:sp>
      <p:sp>
        <p:nvSpPr>
          <p:cNvPr id="33" name="Text 30"/>
          <p:cNvSpPr/>
          <p:nvPr/>
        </p:nvSpPr>
        <p:spPr>
          <a:xfrm>
            <a:off x="1719072" y="3108960"/>
            <a:ext cx="3840480" cy="201168"/>
          </a:xfrm>
          <a:prstGeom prst="rect">
            <a:avLst/>
          </a:prstGeom>
          <a:noFill/>
          <a:ln/>
        </p:spPr>
        <p:txBody>
          <a:bodyPr wrap="square" lIns="0" tIns="0" rIns="0" bIns="0" rtlCol="0" anchor="ctr"/>
          <a:lstStyle/>
          <a:p>
            <a:pPr marL="0" indent="0">
              <a:buNone/>
            </a:pPr>
            <a:r>
              <a:rPr lang="en-US" sz="900" b="1" dirty="0">
                <a:solidFill>
                  <a:srgbClr val="E8670D"/>
                </a:solidFill>
                <a:latin typeface="Calibri" pitchFamily="34" charset="0"/>
                <a:ea typeface="Calibri" pitchFamily="34" charset="-122"/>
                <a:cs typeface="Calibri" pitchFamily="34" charset="-120"/>
              </a:rPr>
              <a:t>Tests: UAT • Compatibility Testing • Sanity Testing (after fixes)</a:t>
            </a:r>
            <a:endParaRPr lang="en-US" sz="900" dirty="0"/>
          </a:p>
        </p:txBody>
      </p:sp>
      <p:sp>
        <p:nvSpPr>
          <p:cNvPr id="34" name="Text 31"/>
          <p:cNvSpPr/>
          <p:nvPr/>
        </p:nvSpPr>
        <p:spPr>
          <a:xfrm>
            <a:off x="1719072" y="3310128"/>
            <a:ext cx="3840480" cy="164592"/>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Who: Business Users (UAT) • QA (compatibility/sanity)</a:t>
            </a:r>
            <a:endParaRPr lang="en-US" sz="850" dirty="0"/>
          </a:p>
        </p:txBody>
      </p:sp>
      <p:sp>
        <p:nvSpPr>
          <p:cNvPr id="35" name="Text 32"/>
          <p:cNvSpPr/>
          <p:nvPr/>
        </p:nvSpPr>
        <p:spPr>
          <a:xfrm>
            <a:off x="1719072" y="3474720"/>
            <a:ext cx="3840480" cy="164592"/>
          </a:xfrm>
          <a:prstGeom prst="rect">
            <a:avLst/>
          </a:prstGeom>
          <a:noFill/>
          <a:ln/>
        </p:spPr>
        <p:txBody>
          <a:bodyPr wrap="square" lIns="0" tIns="0" rIns="0" bIns="0" rtlCol="0" anchor="ctr"/>
          <a:lstStyle/>
          <a:p>
            <a:pPr marL="0" indent="0">
              <a:buNone/>
            </a:pPr>
            <a:r>
              <a:rPr lang="en-US" sz="850" i="1" dirty="0">
                <a:solidFill>
                  <a:srgbClr val="777777"/>
                </a:solidFill>
                <a:latin typeface="Calibri" pitchFamily="34" charset="0"/>
                <a:ea typeface="Calibri" pitchFamily="34" charset="-122"/>
                <a:cs typeface="Calibri" pitchFamily="34" charset="-120"/>
              </a:rPr>
              <a:t>Tools: Playwright cross-browser • Manual UAT sessions</a:t>
            </a:r>
            <a:endParaRPr lang="en-US" sz="850" dirty="0"/>
          </a:p>
        </p:txBody>
      </p:sp>
      <p:sp>
        <p:nvSpPr>
          <p:cNvPr id="36" name="Shape 33"/>
          <p:cNvSpPr/>
          <p:nvPr/>
        </p:nvSpPr>
        <p:spPr>
          <a:xfrm>
            <a:off x="5669280" y="3108960"/>
            <a:ext cx="73152" cy="548640"/>
          </a:xfrm>
          <a:prstGeom prst="rect">
            <a:avLst/>
          </a:prstGeom>
          <a:solidFill>
            <a:srgbClr val="1E1E1E"/>
          </a:solidFill>
          <a:ln/>
        </p:spPr>
      </p:sp>
      <p:sp>
        <p:nvSpPr>
          <p:cNvPr id="37" name="Text 34"/>
          <p:cNvSpPr/>
          <p:nvPr/>
        </p:nvSpPr>
        <p:spPr>
          <a:xfrm>
            <a:off x="5797296" y="3145536"/>
            <a:ext cx="2999232" cy="475488"/>
          </a:xfrm>
          <a:prstGeom prst="rect">
            <a:avLst/>
          </a:prstGeom>
          <a:noFill/>
          <a:ln/>
        </p:spPr>
        <p:txBody>
          <a:bodyPr wrap="square" rtlCol="0" anchor="ctr"/>
          <a:lstStyle/>
          <a:p>
            <a:pPr marL="0" indent="0">
              <a:buNone/>
            </a:pPr>
            <a:r>
              <a:rPr lang="en-US" sz="900" dirty="0">
                <a:solidFill>
                  <a:srgbClr val="1E1E1E"/>
                </a:solidFill>
                <a:latin typeface="Calibri" pitchFamily="34" charset="0"/>
                <a:ea typeface="Calibri" pitchFamily="34" charset="-122"/>
                <a:cs typeface="Calibri" pitchFamily="34" charset="-120"/>
              </a:rPr>
              <a:t>Business sign-off. Cross-browser compatibility confirmed.</a:t>
            </a:r>
            <a:endParaRPr lang="en-US" sz="900" dirty="0"/>
          </a:p>
        </p:txBody>
      </p:sp>
      <p:sp>
        <p:nvSpPr>
          <p:cNvPr id="38" name="Shape 35"/>
          <p:cNvSpPr/>
          <p:nvPr/>
        </p:nvSpPr>
        <p:spPr>
          <a:xfrm>
            <a:off x="274320" y="3767328"/>
            <a:ext cx="8595360" cy="621792"/>
          </a:xfrm>
          <a:prstGeom prst="rect">
            <a:avLst/>
          </a:prstGeom>
          <a:solidFill>
            <a:srgbClr val="FFFFFF"/>
          </a:solidFill>
          <a:ln/>
          <a:effectLst>
            <a:outerShdw blurRad="101600" dist="38100" dir="8100000" algn="bl" rotWithShape="0">
              <a:srgbClr val="000000">
                <a:alpha val="18000"/>
              </a:srgbClr>
            </a:outerShdw>
          </a:effectLst>
        </p:spPr>
      </p:sp>
      <p:sp>
        <p:nvSpPr>
          <p:cNvPr id="39" name="Shape 36"/>
          <p:cNvSpPr/>
          <p:nvPr/>
        </p:nvSpPr>
        <p:spPr>
          <a:xfrm>
            <a:off x="274320" y="3767328"/>
            <a:ext cx="1371600" cy="621792"/>
          </a:xfrm>
          <a:prstGeom prst="rect">
            <a:avLst/>
          </a:prstGeom>
          <a:solidFill>
            <a:srgbClr val="E8670D"/>
          </a:solidFill>
          <a:ln/>
        </p:spPr>
      </p:sp>
      <p:sp>
        <p:nvSpPr>
          <p:cNvPr id="40" name="Text 37"/>
          <p:cNvSpPr/>
          <p:nvPr/>
        </p:nvSpPr>
        <p:spPr>
          <a:xfrm>
            <a:off x="292608" y="3822192"/>
            <a:ext cx="1353312" cy="512064"/>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Release Day</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Production Deploy</a:t>
            </a:r>
            <a:endParaRPr lang="en-US" sz="850" dirty="0"/>
          </a:p>
        </p:txBody>
      </p:sp>
      <p:sp>
        <p:nvSpPr>
          <p:cNvPr id="41" name="Text 38"/>
          <p:cNvSpPr/>
          <p:nvPr/>
        </p:nvSpPr>
        <p:spPr>
          <a:xfrm>
            <a:off x="1719072" y="3803904"/>
            <a:ext cx="3840480" cy="201168"/>
          </a:xfrm>
          <a:prstGeom prst="rect">
            <a:avLst/>
          </a:prstGeom>
          <a:noFill/>
          <a:ln/>
        </p:spPr>
        <p:txBody>
          <a:bodyPr wrap="square" lIns="0" tIns="0" rIns="0" bIns="0" rtlCol="0" anchor="ctr"/>
          <a:lstStyle/>
          <a:p>
            <a:pPr marL="0" indent="0">
              <a:buNone/>
            </a:pPr>
            <a:r>
              <a:rPr lang="en-US" sz="900" b="1" dirty="0">
                <a:solidFill>
                  <a:srgbClr val="E8670D"/>
                </a:solidFill>
                <a:latin typeface="Calibri" pitchFamily="34" charset="0"/>
                <a:ea typeface="Calibri" pitchFamily="34" charset="-122"/>
                <a:cs typeface="Calibri" pitchFamily="34" charset="-120"/>
              </a:rPr>
              <a:t>Tests: Smoke Testing (production) • Alpha Testing</a:t>
            </a:r>
            <a:endParaRPr lang="en-US" sz="900" dirty="0"/>
          </a:p>
        </p:txBody>
      </p:sp>
      <p:sp>
        <p:nvSpPr>
          <p:cNvPr id="42" name="Text 39"/>
          <p:cNvSpPr/>
          <p:nvPr/>
        </p:nvSpPr>
        <p:spPr>
          <a:xfrm>
            <a:off x="1719072" y="4005072"/>
            <a:ext cx="3840480" cy="164592"/>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Who: QA + DevOps</a:t>
            </a:r>
            <a:endParaRPr lang="en-US" sz="850" dirty="0"/>
          </a:p>
        </p:txBody>
      </p:sp>
      <p:sp>
        <p:nvSpPr>
          <p:cNvPr id="43" name="Text 40"/>
          <p:cNvSpPr/>
          <p:nvPr/>
        </p:nvSpPr>
        <p:spPr>
          <a:xfrm>
            <a:off x="1719072" y="4169664"/>
            <a:ext cx="3840480" cy="164592"/>
          </a:xfrm>
          <a:prstGeom prst="rect">
            <a:avLst/>
          </a:prstGeom>
          <a:noFill/>
          <a:ln/>
        </p:spPr>
        <p:txBody>
          <a:bodyPr wrap="square" lIns="0" tIns="0" rIns="0" bIns="0" rtlCol="0" anchor="ctr"/>
          <a:lstStyle/>
          <a:p>
            <a:pPr marL="0" indent="0">
              <a:buNone/>
            </a:pPr>
            <a:r>
              <a:rPr lang="en-US" sz="850" i="1" dirty="0">
                <a:solidFill>
                  <a:srgbClr val="777777"/>
                </a:solidFill>
                <a:latin typeface="Calibri" pitchFamily="34" charset="0"/>
                <a:ea typeface="Calibri" pitchFamily="34" charset="-122"/>
                <a:cs typeface="Calibri" pitchFamily="34" charset="-120"/>
              </a:rPr>
              <a:t>Tools: Playwright smoke suite triggered by deployment pipeline</a:t>
            </a:r>
            <a:endParaRPr lang="en-US" sz="850" dirty="0"/>
          </a:p>
        </p:txBody>
      </p:sp>
      <p:sp>
        <p:nvSpPr>
          <p:cNvPr id="44" name="Shape 41"/>
          <p:cNvSpPr/>
          <p:nvPr/>
        </p:nvSpPr>
        <p:spPr>
          <a:xfrm>
            <a:off x="5669280" y="3803904"/>
            <a:ext cx="73152" cy="548640"/>
          </a:xfrm>
          <a:prstGeom prst="rect">
            <a:avLst/>
          </a:prstGeom>
          <a:solidFill>
            <a:srgbClr val="E8670D"/>
          </a:solidFill>
          <a:ln/>
        </p:spPr>
      </p:sp>
      <p:sp>
        <p:nvSpPr>
          <p:cNvPr id="45" name="Text 42"/>
          <p:cNvSpPr/>
          <p:nvPr/>
        </p:nvSpPr>
        <p:spPr>
          <a:xfrm>
            <a:off x="5797296" y="3840480"/>
            <a:ext cx="2999232" cy="475488"/>
          </a:xfrm>
          <a:prstGeom prst="rect">
            <a:avLst/>
          </a:prstGeom>
          <a:noFill/>
          <a:ln/>
        </p:spPr>
        <p:txBody>
          <a:bodyPr wrap="square" rtlCol="0" anchor="ctr"/>
          <a:lstStyle/>
          <a:p>
            <a:pPr marL="0" indent="0">
              <a:buNone/>
            </a:pPr>
            <a:r>
              <a:rPr lang="en-US" sz="900" dirty="0">
                <a:solidFill>
                  <a:srgbClr val="1E1E1E"/>
                </a:solidFill>
                <a:latin typeface="Calibri" pitchFamily="34" charset="0"/>
                <a:ea typeface="Calibri" pitchFamily="34" charset="-122"/>
                <a:cs typeface="Calibri" pitchFamily="34" charset="-120"/>
              </a:rPr>
              <a:t>Production health confirmed. Go/No-Go decision made.</a:t>
            </a:r>
            <a:endParaRPr lang="en-US" sz="900" dirty="0"/>
          </a:p>
        </p:txBody>
      </p:sp>
      <p:sp>
        <p:nvSpPr>
          <p:cNvPr id="46" name="Shape 43"/>
          <p:cNvSpPr/>
          <p:nvPr/>
        </p:nvSpPr>
        <p:spPr>
          <a:xfrm>
            <a:off x="274320" y="4462272"/>
            <a:ext cx="8595360" cy="621792"/>
          </a:xfrm>
          <a:prstGeom prst="rect">
            <a:avLst/>
          </a:prstGeom>
          <a:solidFill>
            <a:srgbClr val="FFFFFF"/>
          </a:solidFill>
          <a:ln/>
          <a:effectLst>
            <a:outerShdw blurRad="101600" dist="38100" dir="8100000" algn="bl" rotWithShape="0">
              <a:srgbClr val="000000">
                <a:alpha val="18000"/>
              </a:srgbClr>
            </a:outerShdw>
          </a:effectLst>
        </p:spPr>
      </p:sp>
      <p:sp>
        <p:nvSpPr>
          <p:cNvPr id="47" name="Shape 44"/>
          <p:cNvSpPr/>
          <p:nvPr/>
        </p:nvSpPr>
        <p:spPr>
          <a:xfrm>
            <a:off x="274320" y="4462272"/>
            <a:ext cx="1371600" cy="621792"/>
          </a:xfrm>
          <a:prstGeom prst="rect">
            <a:avLst/>
          </a:prstGeom>
          <a:solidFill>
            <a:srgbClr val="1E1E1E"/>
          </a:solidFill>
          <a:ln/>
        </p:spPr>
      </p:sp>
      <p:sp>
        <p:nvSpPr>
          <p:cNvPr id="48" name="Text 45"/>
          <p:cNvSpPr/>
          <p:nvPr/>
        </p:nvSpPr>
        <p:spPr>
          <a:xfrm>
            <a:off x="292608" y="4517136"/>
            <a:ext cx="1353312" cy="512064"/>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Post-Release</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Live</a:t>
            </a:r>
            <a:endParaRPr lang="en-US" sz="850" dirty="0"/>
          </a:p>
        </p:txBody>
      </p:sp>
      <p:sp>
        <p:nvSpPr>
          <p:cNvPr id="49" name="Text 46"/>
          <p:cNvSpPr/>
          <p:nvPr/>
        </p:nvSpPr>
        <p:spPr>
          <a:xfrm>
            <a:off x="1719072" y="4498848"/>
            <a:ext cx="3840480" cy="201168"/>
          </a:xfrm>
          <a:prstGeom prst="rect">
            <a:avLst/>
          </a:prstGeom>
          <a:noFill/>
          <a:ln/>
        </p:spPr>
        <p:txBody>
          <a:bodyPr wrap="square" lIns="0" tIns="0" rIns="0" bIns="0" rtlCol="0" anchor="ctr"/>
          <a:lstStyle/>
          <a:p>
            <a:pPr marL="0" indent="0">
              <a:buNone/>
            </a:pPr>
            <a:r>
              <a:rPr lang="en-US" sz="900" b="1" dirty="0">
                <a:solidFill>
                  <a:srgbClr val="E8670D"/>
                </a:solidFill>
                <a:latin typeface="Calibri" pitchFamily="34" charset="0"/>
                <a:ea typeface="Calibri" pitchFamily="34" charset="-122"/>
                <a:cs typeface="Calibri" pitchFamily="34" charset="-120"/>
              </a:rPr>
              <a:t>Tests: Beta Testing • Monitoring • Regression (next sprint)</a:t>
            </a:r>
            <a:endParaRPr lang="en-US" sz="900" dirty="0"/>
          </a:p>
        </p:txBody>
      </p:sp>
      <p:sp>
        <p:nvSpPr>
          <p:cNvPr id="50" name="Text 47"/>
          <p:cNvSpPr/>
          <p:nvPr/>
        </p:nvSpPr>
        <p:spPr>
          <a:xfrm>
            <a:off x="1719072" y="4700016"/>
            <a:ext cx="3840480" cy="164592"/>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Who: External beta users + QA</a:t>
            </a:r>
            <a:endParaRPr lang="en-US" sz="850" dirty="0"/>
          </a:p>
        </p:txBody>
      </p:sp>
      <p:sp>
        <p:nvSpPr>
          <p:cNvPr id="51" name="Text 48"/>
          <p:cNvSpPr/>
          <p:nvPr/>
        </p:nvSpPr>
        <p:spPr>
          <a:xfrm>
            <a:off x="1719072" y="4864608"/>
            <a:ext cx="3840480" cy="164592"/>
          </a:xfrm>
          <a:prstGeom prst="rect">
            <a:avLst/>
          </a:prstGeom>
          <a:noFill/>
          <a:ln/>
        </p:spPr>
        <p:txBody>
          <a:bodyPr wrap="square" lIns="0" tIns="0" rIns="0" bIns="0" rtlCol="0" anchor="ctr"/>
          <a:lstStyle/>
          <a:p>
            <a:pPr marL="0" indent="0">
              <a:buNone/>
            </a:pPr>
            <a:r>
              <a:rPr lang="en-US" sz="850" i="1" dirty="0">
                <a:solidFill>
                  <a:srgbClr val="777777"/>
                </a:solidFill>
                <a:latin typeface="Calibri" pitchFamily="34" charset="0"/>
                <a:ea typeface="Calibri" pitchFamily="34" charset="-122"/>
                <a:cs typeface="Calibri" pitchFamily="34" charset="-120"/>
              </a:rPr>
              <a:t>Tools: Hotjar (UX) • Datadog (monitoring) • Playwright CI regression</a:t>
            </a:r>
            <a:endParaRPr lang="en-US" sz="850" dirty="0"/>
          </a:p>
        </p:txBody>
      </p:sp>
      <p:sp>
        <p:nvSpPr>
          <p:cNvPr id="52" name="Shape 49"/>
          <p:cNvSpPr/>
          <p:nvPr/>
        </p:nvSpPr>
        <p:spPr>
          <a:xfrm>
            <a:off x="5669280" y="4498848"/>
            <a:ext cx="73152" cy="548640"/>
          </a:xfrm>
          <a:prstGeom prst="rect">
            <a:avLst/>
          </a:prstGeom>
          <a:solidFill>
            <a:srgbClr val="1E1E1E"/>
          </a:solidFill>
          <a:ln/>
        </p:spPr>
      </p:sp>
      <p:sp>
        <p:nvSpPr>
          <p:cNvPr id="53" name="Text 50"/>
          <p:cNvSpPr/>
          <p:nvPr/>
        </p:nvSpPr>
        <p:spPr>
          <a:xfrm>
            <a:off x="5797296" y="4535424"/>
            <a:ext cx="2999232" cy="475488"/>
          </a:xfrm>
          <a:prstGeom prst="rect">
            <a:avLst/>
          </a:prstGeom>
          <a:noFill/>
          <a:ln/>
        </p:spPr>
        <p:txBody>
          <a:bodyPr wrap="square" rtlCol="0" anchor="ctr"/>
          <a:lstStyle/>
          <a:p>
            <a:pPr marL="0" indent="0">
              <a:buNone/>
            </a:pPr>
            <a:r>
              <a:rPr lang="en-US" sz="900" dirty="0">
                <a:solidFill>
                  <a:srgbClr val="1E1E1E"/>
                </a:solidFill>
                <a:latin typeface="Calibri" pitchFamily="34" charset="0"/>
                <a:ea typeface="Calibri" pitchFamily="34" charset="-122"/>
                <a:cs typeface="Calibri" pitchFamily="34" charset="-120"/>
              </a:rPr>
              <a:t>Real-world validation. Continuous regression safety net active.</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70D"/>
          </a:solidFill>
          <a:ln/>
        </p:spPr>
      </p:sp>
      <p:sp>
        <p:nvSpPr>
          <p:cNvPr id="3" name="Shape 1"/>
          <p:cNvSpPr/>
          <p:nvPr/>
        </p:nvSpPr>
        <p:spPr>
          <a:xfrm>
            <a:off x="0" y="5065776"/>
            <a:ext cx="9144000" cy="77724"/>
          </a:xfrm>
          <a:prstGeom prst="rect">
            <a:avLst/>
          </a:prstGeom>
          <a:solidFill>
            <a:srgbClr val="E8670D"/>
          </a:solidFill>
          <a:ln/>
        </p:spPr>
      </p:sp>
      <p:sp>
        <p:nvSpPr>
          <p:cNvPr id="4" name="Text 2"/>
          <p:cNvSpPr/>
          <p:nvPr/>
        </p:nvSpPr>
        <p:spPr>
          <a:xfrm>
            <a:off x="5669280" y="91440"/>
            <a:ext cx="3200400" cy="4572000"/>
          </a:xfrm>
          <a:prstGeom prst="rect">
            <a:avLst/>
          </a:prstGeom>
          <a:noFill/>
          <a:ln/>
        </p:spPr>
        <p:txBody>
          <a:bodyPr wrap="square" lIns="0" tIns="0" rIns="0" bIns="0" rtlCol="0" anchor="ctr"/>
          <a:lstStyle/>
          <a:p>
            <a:pPr marL="0" indent="0" algn="r">
              <a:buNone/>
            </a:pPr>
            <a:r>
              <a:rPr lang="en-US" sz="22000" b="1" dirty="0">
                <a:solidFill>
                  <a:srgbClr val="1E1E1E"/>
                </a:solidFill>
                <a:latin typeface="Calibri" pitchFamily="34" charset="0"/>
                <a:ea typeface="Calibri" pitchFamily="34" charset="-122"/>
                <a:cs typeface="Calibri" pitchFamily="34" charset="-120"/>
              </a:rPr>
              <a:t>10</a:t>
            </a:r>
            <a:endParaRPr lang="en-US" sz="22000" dirty="0"/>
          </a:p>
        </p:txBody>
      </p:sp>
      <p:sp>
        <p:nvSpPr>
          <p:cNvPr id="5" name="Text 3"/>
          <p:cNvSpPr/>
          <p:nvPr/>
        </p:nvSpPr>
        <p:spPr>
          <a:xfrm>
            <a:off x="457200" y="1097280"/>
            <a:ext cx="3657600" cy="384048"/>
          </a:xfrm>
          <a:prstGeom prst="rect">
            <a:avLst/>
          </a:prstGeom>
          <a:noFill/>
          <a:ln/>
        </p:spPr>
        <p:txBody>
          <a:bodyPr wrap="square" rtlCol="0" anchor="ctr"/>
          <a:lstStyle/>
          <a:p>
            <a:pPr marL="0" indent="0">
              <a:buNone/>
            </a:pPr>
            <a:r>
              <a:rPr lang="en-US" sz="1200" b="1" kern="0" spc="500" dirty="0">
                <a:solidFill>
                  <a:srgbClr val="E8670D"/>
                </a:solidFill>
                <a:latin typeface="Calibri" pitchFamily="34" charset="0"/>
                <a:ea typeface="Calibri" pitchFamily="34" charset="-122"/>
                <a:cs typeface="Calibri" pitchFamily="34" charset="-120"/>
              </a:rPr>
              <a:t>SECTION</a:t>
            </a:r>
            <a:endParaRPr lang="en-US" sz="1200" dirty="0"/>
          </a:p>
        </p:txBody>
      </p:sp>
      <p:sp>
        <p:nvSpPr>
          <p:cNvPr id="6" name="Text 4"/>
          <p:cNvSpPr/>
          <p:nvPr/>
        </p:nvSpPr>
        <p:spPr>
          <a:xfrm>
            <a:off x="457200" y="1508760"/>
            <a:ext cx="1097280" cy="8686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10</a:t>
            </a:r>
            <a:endParaRPr lang="en-US" sz="5800" dirty="0"/>
          </a:p>
        </p:txBody>
      </p:sp>
      <p:sp>
        <p:nvSpPr>
          <p:cNvPr id="7" name="Shape 5"/>
          <p:cNvSpPr/>
          <p:nvPr/>
        </p:nvSpPr>
        <p:spPr>
          <a:xfrm>
            <a:off x="457200" y="2487168"/>
            <a:ext cx="5029200" cy="54864"/>
          </a:xfrm>
          <a:prstGeom prst="rect">
            <a:avLst/>
          </a:prstGeom>
          <a:solidFill>
            <a:srgbClr val="E8670D"/>
          </a:solidFill>
          <a:ln/>
        </p:spPr>
      </p:sp>
      <p:sp>
        <p:nvSpPr>
          <p:cNvPr id="8" name="Text 6"/>
          <p:cNvSpPr/>
          <p:nvPr/>
        </p:nvSpPr>
        <p:spPr>
          <a:xfrm>
            <a:off x="457200" y="2606040"/>
            <a:ext cx="8046720" cy="11887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Best Practices &amp; Summary</a:t>
            </a:r>
            <a:endParaRPr lang="en-US" sz="3000" dirty="0"/>
          </a:p>
        </p:txBody>
      </p:sp>
      <p:sp>
        <p:nvSpPr>
          <p:cNvPr id="9" name="Text 7"/>
          <p:cNvSpPr/>
          <p:nvPr/>
        </p:nvSpPr>
        <p:spPr>
          <a:xfrm>
            <a:off x="457200" y="3858768"/>
            <a:ext cx="7772400" cy="640080"/>
          </a:xfrm>
          <a:prstGeom prst="rect">
            <a:avLst/>
          </a:prstGeom>
          <a:noFill/>
          <a:ln/>
        </p:spPr>
        <p:txBody>
          <a:bodyPr wrap="square" rtlCol="0" anchor="ctr"/>
          <a:lstStyle/>
          <a:p>
            <a:pPr marL="0" indent="0">
              <a:buNone/>
            </a:pPr>
            <a:r>
              <a:rPr lang="en-US" sz="1300" dirty="0">
                <a:solidFill>
                  <a:srgbClr val="AAAAAA"/>
                </a:solidFill>
                <a:latin typeface="Calibri" pitchFamily="34" charset="0"/>
                <a:ea typeface="Calibri" pitchFamily="34" charset="-122"/>
                <a:cs typeface="Calibri" pitchFamily="34" charset="-120"/>
              </a:rPr>
              <a:t>Key principles for effective testing + complete recap of all testing types</a:t>
            </a:r>
            <a:endParaRPr lang="en-US" sz="1300" dirty="0"/>
          </a:p>
        </p:txBody>
      </p:sp>
      <p:pic>
        <p:nvPicPr>
          <p:cNvPr id="10" name="Image 0" descr="preencoded.png"/>
          <p:cNvPicPr>
            <a:picLocks noChangeAspect="1"/>
          </p:cNvPicPr>
          <p:nvPr/>
        </p:nvPicPr>
        <p:blipFill>
          <a:blip r:embed="rId3"/>
          <a:stretch>
            <a:fillRect/>
          </a:stretch>
        </p:blipFill>
        <p:spPr>
          <a:xfrm>
            <a:off x="7132320" y="457200"/>
            <a:ext cx="1371600" cy="13716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Best Practices in Software Testing — Part 1</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Principles that separate good testers from great testers</a:t>
            </a:r>
            <a:endParaRPr lang="en-US" sz="1100" dirty="0"/>
          </a:p>
        </p:txBody>
      </p:sp>
      <p:pic>
        <p:nvPicPr>
          <p:cNvPr id="5" name="Image 0" descr="preencoded.png"/>
          <p:cNvPicPr>
            <a:picLocks noChangeAspect="1"/>
          </p:cNvPicPr>
          <p:nvPr/>
        </p:nvPicPr>
        <p:blipFill>
          <a:blip r:embed="rId3"/>
          <a:stretch>
            <a:fillRect/>
          </a:stretch>
        </p:blipFill>
        <p:spPr>
          <a:xfrm>
            <a:off x="7818120" y="4663440"/>
            <a:ext cx="1207008" cy="347472"/>
          </a:xfrm>
          <a:prstGeom prst="rect">
            <a:avLst/>
          </a:prstGeom>
        </p:spPr>
      </p:pic>
      <p:sp>
        <p:nvSpPr>
          <p:cNvPr id="6" name="Shape 3"/>
          <p:cNvSpPr/>
          <p:nvPr/>
        </p:nvSpPr>
        <p:spPr>
          <a:xfrm>
            <a:off x="274320" y="987552"/>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7" name="Shape 4"/>
          <p:cNvSpPr/>
          <p:nvPr/>
        </p:nvSpPr>
        <p:spPr>
          <a:xfrm>
            <a:off x="274320" y="987552"/>
            <a:ext cx="4279392" cy="402336"/>
          </a:xfrm>
          <a:prstGeom prst="rect">
            <a:avLst/>
          </a:prstGeom>
          <a:solidFill>
            <a:srgbClr val="E8670D"/>
          </a:solidFill>
          <a:ln/>
        </p:spPr>
      </p:sp>
      <p:sp>
        <p:nvSpPr>
          <p:cNvPr id="8" name="Text 5"/>
          <p:cNvSpPr/>
          <p:nvPr/>
        </p:nvSpPr>
        <p:spPr>
          <a:xfrm>
            <a:off x="365760" y="1042416"/>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Write Tests for Requirements, Not Code</a:t>
            </a:r>
            <a:endParaRPr lang="en-US" sz="1100" dirty="0"/>
          </a:p>
        </p:txBody>
      </p:sp>
      <p:sp>
        <p:nvSpPr>
          <p:cNvPr id="9" name="Text 6"/>
          <p:cNvSpPr/>
          <p:nvPr/>
        </p:nvSpPr>
        <p:spPr>
          <a:xfrm>
            <a:off x="365760" y="1463040"/>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Every test case must trace back to a specific requirement. If you can't point to a requirement, the test case's value is questionable. Use the RTM to maintain traceability.</a:t>
            </a:r>
            <a:endParaRPr lang="en-US" sz="1000" dirty="0"/>
          </a:p>
        </p:txBody>
      </p:sp>
      <p:sp>
        <p:nvSpPr>
          <p:cNvPr id="10" name="Shape 7"/>
          <p:cNvSpPr/>
          <p:nvPr/>
        </p:nvSpPr>
        <p:spPr>
          <a:xfrm>
            <a:off x="4754880" y="987552"/>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4754880" y="987552"/>
            <a:ext cx="4279392" cy="402336"/>
          </a:xfrm>
          <a:prstGeom prst="rect">
            <a:avLst/>
          </a:prstGeom>
          <a:solidFill>
            <a:srgbClr val="E8670D"/>
          </a:solidFill>
          <a:ln/>
        </p:spPr>
      </p:sp>
      <p:sp>
        <p:nvSpPr>
          <p:cNvPr id="12" name="Text 9"/>
          <p:cNvSpPr/>
          <p:nvPr/>
        </p:nvSpPr>
        <p:spPr>
          <a:xfrm>
            <a:off x="4846320" y="1042416"/>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Follow the Testing Pyramid</a:t>
            </a:r>
            <a:endParaRPr lang="en-US" sz="1100" dirty="0"/>
          </a:p>
        </p:txBody>
      </p:sp>
      <p:sp>
        <p:nvSpPr>
          <p:cNvPr id="13" name="Text 10"/>
          <p:cNvSpPr/>
          <p:nvPr/>
        </p:nvSpPr>
        <p:spPr>
          <a:xfrm>
            <a:off x="4846320" y="1463040"/>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70% unit tests (fast, cheap), 20% integration tests, 10% UI/E2E tests (slow, expensive). Inverting the pyramid creates slow, expensive, fragile test suites.</a:t>
            </a:r>
            <a:endParaRPr lang="en-US" sz="1000" dirty="0"/>
          </a:p>
        </p:txBody>
      </p:sp>
      <p:sp>
        <p:nvSpPr>
          <p:cNvPr id="14" name="Shape 11"/>
          <p:cNvSpPr/>
          <p:nvPr/>
        </p:nvSpPr>
        <p:spPr>
          <a:xfrm>
            <a:off x="274320" y="2468880"/>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274320" y="2468880"/>
            <a:ext cx="4279392" cy="402336"/>
          </a:xfrm>
          <a:prstGeom prst="rect">
            <a:avLst/>
          </a:prstGeom>
          <a:solidFill>
            <a:srgbClr val="1E1E1E"/>
          </a:solidFill>
          <a:ln/>
        </p:spPr>
      </p:sp>
      <p:sp>
        <p:nvSpPr>
          <p:cNvPr id="16" name="Text 13"/>
          <p:cNvSpPr/>
          <p:nvPr/>
        </p:nvSpPr>
        <p:spPr>
          <a:xfrm>
            <a:off x="365760" y="2523744"/>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Shift Testing Left</a:t>
            </a:r>
            <a:endParaRPr lang="en-US" sz="1100" dirty="0"/>
          </a:p>
        </p:txBody>
      </p:sp>
      <p:sp>
        <p:nvSpPr>
          <p:cNvPr id="17" name="Text 14"/>
          <p:cNvSpPr/>
          <p:nvPr/>
        </p:nvSpPr>
        <p:spPr>
          <a:xfrm>
            <a:off x="365760" y="2944368"/>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Get QA involved from the requirements phase. Review specifications before development begins. Find defects in documents — not in production code.</a:t>
            </a:r>
            <a:endParaRPr lang="en-US" sz="1000" dirty="0"/>
          </a:p>
        </p:txBody>
      </p:sp>
      <p:sp>
        <p:nvSpPr>
          <p:cNvPr id="18" name="Shape 15"/>
          <p:cNvSpPr/>
          <p:nvPr/>
        </p:nvSpPr>
        <p:spPr>
          <a:xfrm>
            <a:off x="4754880" y="2468880"/>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4754880" y="2468880"/>
            <a:ext cx="4279392" cy="402336"/>
          </a:xfrm>
          <a:prstGeom prst="rect">
            <a:avLst/>
          </a:prstGeom>
          <a:solidFill>
            <a:srgbClr val="1E1E1E"/>
          </a:solidFill>
          <a:ln/>
        </p:spPr>
      </p:sp>
      <p:sp>
        <p:nvSpPr>
          <p:cNvPr id="20" name="Text 17"/>
          <p:cNvSpPr/>
          <p:nvPr/>
        </p:nvSpPr>
        <p:spPr>
          <a:xfrm>
            <a:off x="4846320" y="2523744"/>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Risk-Based Test Prioritisation</a:t>
            </a:r>
            <a:endParaRPr lang="en-US" sz="1100" dirty="0"/>
          </a:p>
        </p:txBody>
      </p:sp>
      <p:sp>
        <p:nvSpPr>
          <p:cNvPr id="21" name="Text 18"/>
          <p:cNvSpPr/>
          <p:nvPr/>
        </p:nvSpPr>
        <p:spPr>
          <a:xfrm>
            <a:off x="4846320" y="2944368"/>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Not all features are equal. Test the most critical, highest-risk features most thoroughly. Allocate 80% of testing effort to 20% of highest-risk functionality.</a:t>
            </a:r>
            <a:endParaRPr lang="en-US" sz="1000" dirty="0"/>
          </a:p>
        </p:txBody>
      </p:sp>
      <p:sp>
        <p:nvSpPr>
          <p:cNvPr id="22" name="Shape 19"/>
          <p:cNvSpPr/>
          <p:nvPr/>
        </p:nvSpPr>
        <p:spPr>
          <a:xfrm>
            <a:off x="274320" y="3950208"/>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23" name="Shape 20"/>
          <p:cNvSpPr/>
          <p:nvPr/>
        </p:nvSpPr>
        <p:spPr>
          <a:xfrm>
            <a:off x="274320" y="3950208"/>
            <a:ext cx="4279392" cy="402336"/>
          </a:xfrm>
          <a:prstGeom prst="rect">
            <a:avLst/>
          </a:prstGeom>
          <a:solidFill>
            <a:srgbClr val="2A2A2A"/>
          </a:solidFill>
          <a:ln/>
        </p:spPr>
      </p:sp>
      <p:sp>
        <p:nvSpPr>
          <p:cNvPr id="24" name="Text 21"/>
          <p:cNvSpPr/>
          <p:nvPr/>
        </p:nvSpPr>
        <p:spPr>
          <a:xfrm>
            <a:off x="365760" y="4005072"/>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Automate Regression Continuously</a:t>
            </a:r>
            <a:endParaRPr lang="en-US" sz="1100" dirty="0"/>
          </a:p>
        </p:txBody>
      </p:sp>
      <p:sp>
        <p:nvSpPr>
          <p:cNvPr id="25" name="Text 22"/>
          <p:cNvSpPr/>
          <p:nvPr/>
        </p:nvSpPr>
        <p:spPr>
          <a:xfrm>
            <a:off x="365760" y="4425696"/>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Add new regression tests every sprint. Run the full regression suite on every merge via CI/CD. Never let the regression suite shrink — quality debt compounds.</a:t>
            </a:r>
            <a:endParaRPr lang="en-US" sz="1000" dirty="0"/>
          </a:p>
        </p:txBody>
      </p:sp>
      <p:sp>
        <p:nvSpPr>
          <p:cNvPr id="26" name="Shape 23"/>
          <p:cNvSpPr/>
          <p:nvPr/>
        </p:nvSpPr>
        <p:spPr>
          <a:xfrm>
            <a:off x="4754880" y="3950208"/>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27" name="Shape 24"/>
          <p:cNvSpPr/>
          <p:nvPr/>
        </p:nvSpPr>
        <p:spPr>
          <a:xfrm>
            <a:off x="4754880" y="3950208"/>
            <a:ext cx="4279392" cy="402336"/>
          </a:xfrm>
          <a:prstGeom prst="rect">
            <a:avLst/>
          </a:prstGeom>
          <a:solidFill>
            <a:srgbClr val="2A2A2A"/>
          </a:solidFill>
          <a:ln/>
        </p:spPr>
      </p:sp>
      <p:sp>
        <p:nvSpPr>
          <p:cNvPr id="28" name="Text 25"/>
          <p:cNvSpPr/>
          <p:nvPr/>
        </p:nvSpPr>
        <p:spPr>
          <a:xfrm>
            <a:off x="4846320" y="4005072"/>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Log Every Defect Formally</a:t>
            </a:r>
            <a:endParaRPr lang="en-US" sz="1100" dirty="0"/>
          </a:p>
        </p:txBody>
      </p:sp>
      <p:sp>
        <p:nvSpPr>
          <p:cNvPr id="29" name="Text 26"/>
          <p:cNvSpPr/>
          <p:nvPr/>
        </p:nvSpPr>
        <p:spPr>
          <a:xfrm>
            <a:off x="4846320" y="4425696"/>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Every deviation from expected behaviour must be formally documented with steps to reproduce, environment, severity, and priority. Verbal bug reports are lost bugs.</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Best Practices in Software Testing — Part 2</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Advanced principles for continuous quality improvement</a:t>
            </a:r>
            <a:endParaRPr lang="en-US" sz="1100" dirty="0"/>
          </a:p>
        </p:txBody>
      </p:sp>
      <p:pic>
        <p:nvPicPr>
          <p:cNvPr id="5" name="Image 0" descr="preencoded.png"/>
          <p:cNvPicPr>
            <a:picLocks noChangeAspect="1"/>
          </p:cNvPicPr>
          <p:nvPr/>
        </p:nvPicPr>
        <p:blipFill>
          <a:blip r:embed="rId3"/>
          <a:stretch>
            <a:fillRect/>
          </a:stretch>
        </p:blipFill>
        <p:spPr>
          <a:xfrm>
            <a:off x="7818120" y="4663440"/>
            <a:ext cx="1207008" cy="347472"/>
          </a:xfrm>
          <a:prstGeom prst="rect">
            <a:avLst/>
          </a:prstGeom>
        </p:spPr>
      </p:pic>
      <p:sp>
        <p:nvSpPr>
          <p:cNvPr id="6" name="Shape 3"/>
          <p:cNvSpPr/>
          <p:nvPr/>
        </p:nvSpPr>
        <p:spPr>
          <a:xfrm>
            <a:off x="274320" y="987552"/>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7" name="Shape 4"/>
          <p:cNvSpPr/>
          <p:nvPr/>
        </p:nvSpPr>
        <p:spPr>
          <a:xfrm>
            <a:off x="274320" y="987552"/>
            <a:ext cx="4279392" cy="402336"/>
          </a:xfrm>
          <a:prstGeom prst="rect">
            <a:avLst/>
          </a:prstGeom>
          <a:solidFill>
            <a:srgbClr val="E8670D"/>
          </a:solidFill>
          <a:ln/>
        </p:spPr>
      </p:sp>
      <p:sp>
        <p:nvSpPr>
          <p:cNvPr id="8" name="Text 5"/>
          <p:cNvSpPr/>
          <p:nvPr/>
        </p:nvSpPr>
        <p:spPr>
          <a:xfrm>
            <a:off x="365760" y="1042416"/>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Collaborate Early with Developers</a:t>
            </a:r>
            <a:endParaRPr lang="en-US" sz="1100" dirty="0"/>
          </a:p>
        </p:txBody>
      </p:sp>
      <p:sp>
        <p:nvSpPr>
          <p:cNvPr id="9" name="Text 6"/>
          <p:cNvSpPr/>
          <p:nvPr/>
        </p:nvSpPr>
        <p:spPr>
          <a:xfrm>
            <a:off x="365760" y="1463040"/>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QA is not the gatekeeper who rejects developer work. QA is a quality partner who collaborates throughout. Pair with developers during development — not after. Shared ownership of quality produces better outcomes.</a:t>
            </a:r>
            <a:endParaRPr lang="en-US" sz="1000" dirty="0"/>
          </a:p>
        </p:txBody>
      </p:sp>
      <p:sp>
        <p:nvSpPr>
          <p:cNvPr id="10" name="Shape 7"/>
          <p:cNvSpPr/>
          <p:nvPr/>
        </p:nvSpPr>
        <p:spPr>
          <a:xfrm>
            <a:off x="4754880" y="987552"/>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11" name="Shape 8"/>
          <p:cNvSpPr/>
          <p:nvPr/>
        </p:nvSpPr>
        <p:spPr>
          <a:xfrm>
            <a:off x="4754880" y="987552"/>
            <a:ext cx="4279392" cy="402336"/>
          </a:xfrm>
          <a:prstGeom prst="rect">
            <a:avLst/>
          </a:prstGeom>
          <a:solidFill>
            <a:srgbClr val="E8670D"/>
          </a:solidFill>
          <a:ln/>
        </p:spPr>
      </p:sp>
      <p:sp>
        <p:nvSpPr>
          <p:cNvPr id="12" name="Text 9"/>
          <p:cNvSpPr/>
          <p:nvPr/>
        </p:nvSpPr>
        <p:spPr>
          <a:xfrm>
            <a:off x="4846320" y="1042416"/>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Measure and Track Quality Metrics</a:t>
            </a:r>
            <a:endParaRPr lang="en-US" sz="1100" dirty="0"/>
          </a:p>
        </p:txBody>
      </p:sp>
      <p:sp>
        <p:nvSpPr>
          <p:cNvPr id="13" name="Text 10"/>
          <p:cNvSpPr/>
          <p:nvPr/>
        </p:nvSpPr>
        <p:spPr>
          <a:xfrm>
            <a:off x="4846320" y="1463040"/>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Track: defect density, test coverage, pass/fail rate, defect leakage (escaped to production), automation coverage %. Use metrics to improve — not to blame. Data-driven QA improves continuously.</a:t>
            </a:r>
            <a:endParaRPr lang="en-US" sz="1000" dirty="0"/>
          </a:p>
        </p:txBody>
      </p:sp>
      <p:sp>
        <p:nvSpPr>
          <p:cNvPr id="14" name="Shape 11"/>
          <p:cNvSpPr/>
          <p:nvPr/>
        </p:nvSpPr>
        <p:spPr>
          <a:xfrm>
            <a:off x="274320" y="2468880"/>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15" name="Shape 12"/>
          <p:cNvSpPr/>
          <p:nvPr/>
        </p:nvSpPr>
        <p:spPr>
          <a:xfrm>
            <a:off x="274320" y="2468880"/>
            <a:ext cx="4279392" cy="402336"/>
          </a:xfrm>
          <a:prstGeom prst="rect">
            <a:avLst/>
          </a:prstGeom>
          <a:solidFill>
            <a:srgbClr val="1E1E1E"/>
          </a:solidFill>
          <a:ln/>
        </p:spPr>
      </p:sp>
      <p:sp>
        <p:nvSpPr>
          <p:cNvPr id="16" name="Text 13"/>
          <p:cNvSpPr/>
          <p:nvPr/>
        </p:nvSpPr>
        <p:spPr>
          <a:xfrm>
            <a:off x="365760" y="2523744"/>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Apply Continuous Testing in CI/CD</a:t>
            </a:r>
            <a:endParaRPr lang="en-US" sz="1100" dirty="0"/>
          </a:p>
        </p:txBody>
      </p:sp>
      <p:sp>
        <p:nvSpPr>
          <p:cNvPr id="17" name="Text 14"/>
          <p:cNvSpPr/>
          <p:nvPr/>
        </p:nvSpPr>
        <p:spPr>
          <a:xfrm>
            <a:off x="365760" y="2944368"/>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Testing must run automatically on every code change — not just at the end of a sprint. Playwright and Selenium suites integrated with Jenkins/GitHub Actions provide real-time quality feedback to developers.</a:t>
            </a:r>
            <a:endParaRPr lang="en-US" sz="1000" dirty="0"/>
          </a:p>
        </p:txBody>
      </p:sp>
      <p:sp>
        <p:nvSpPr>
          <p:cNvPr id="18" name="Shape 15"/>
          <p:cNvSpPr/>
          <p:nvPr/>
        </p:nvSpPr>
        <p:spPr>
          <a:xfrm>
            <a:off x="4754880" y="2468880"/>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19" name="Shape 16"/>
          <p:cNvSpPr/>
          <p:nvPr/>
        </p:nvSpPr>
        <p:spPr>
          <a:xfrm>
            <a:off x="4754880" y="2468880"/>
            <a:ext cx="4279392" cy="402336"/>
          </a:xfrm>
          <a:prstGeom prst="rect">
            <a:avLst/>
          </a:prstGeom>
          <a:solidFill>
            <a:srgbClr val="1E1E1E"/>
          </a:solidFill>
          <a:ln/>
        </p:spPr>
      </p:sp>
      <p:sp>
        <p:nvSpPr>
          <p:cNvPr id="20" name="Text 17"/>
          <p:cNvSpPr/>
          <p:nvPr/>
        </p:nvSpPr>
        <p:spPr>
          <a:xfrm>
            <a:off x="4846320" y="2523744"/>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Invest in Exploratory Testing</a:t>
            </a:r>
            <a:endParaRPr lang="en-US" sz="1100" dirty="0"/>
          </a:p>
        </p:txBody>
      </p:sp>
      <p:sp>
        <p:nvSpPr>
          <p:cNvPr id="21" name="Text 18"/>
          <p:cNvSpPr/>
          <p:nvPr/>
        </p:nvSpPr>
        <p:spPr>
          <a:xfrm>
            <a:off x="4846320" y="2944368"/>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Allocate 20% of testing time to unscripted exploration. Scripted tests validate known scenarios. Exploratory testing discovers unknown risks. Both are necessary for comprehensive coverage.</a:t>
            </a:r>
            <a:endParaRPr lang="en-US" sz="1000" dirty="0"/>
          </a:p>
        </p:txBody>
      </p:sp>
      <p:sp>
        <p:nvSpPr>
          <p:cNvPr id="22" name="Shape 19"/>
          <p:cNvSpPr/>
          <p:nvPr/>
        </p:nvSpPr>
        <p:spPr>
          <a:xfrm>
            <a:off x="274320" y="3950208"/>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23" name="Shape 20"/>
          <p:cNvSpPr/>
          <p:nvPr/>
        </p:nvSpPr>
        <p:spPr>
          <a:xfrm>
            <a:off x="274320" y="3950208"/>
            <a:ext cx="4279392" cy="402336"/>
          </a:xfrm>
          <a:prstGeom prst="rect">
            <a:avLst/>
          </a:prstGeom>
          <a:solidFill>
            <a:srgbClr val="2A2A2A"/>
          </a:solidFill>
          <a:ln/>
        </p:spPr>
      </p:sp>
      <p:sp>
        <p:nvSpPr>
          <p:cNvPr id="24" name="Text 21"/>
          <p:cNvSpPr/>
          <p:nvPr/>
        </p:nvSpPr>
        <p:spPr>
          <a:xfrm>
            <a:off x="365760" y="4005072"/>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Maintain Test Documentation</a:t>
            </a:r>
            <a:endParaRPr lang="en-US" sz="1100" dirty="0"/>
          </a:p>
        </p:txBody>
      </p:sp>
      <p:sp>
        <p:nvSpPr>
          <p:cNvPr id="25" name="Text 22"/>
          <p:cNvSpPr/>
          <p:nvPr/>
        </p:nvSpPr>
        <p:spPr>
          <a:xfrm>
            <a:off x="365760" y="4425696"/>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Test cases, plans, and results must be documented and updated. Undocumented tests cannot be reproduced, reviewed, or improved. Test documentation is a team asset — not a personal record.</a:t>
            </a:r>
            <a:endParaRPr lang="en-US" sz="1000" dirty="0"/>
          </a:p>
        </p:txBody>
      </p:sp>
      <p:sp>
        <p:nvSpPr>
          <p:cNvPr id="26" name="Shape 23"/>
          <p:cNvSpPr/>
          <p:nvPr/>
        </p:nvSpPr>
        <p:spPr>
          <a:xfrm>
            <a:off x="4754880" y="3950208"/>
            <a:ext cx="4279392" cy="1353312"/>
          </a:xfrm>
          <a:prstGeom prst="rect">
            <a:avLst/>
          </a:prstGeom>
          <a:solidFill>
            <a:srgbClr val="FFFFFF"/>
          </a:solidFill>
          <a:ln/>
          <a:effectLst>
            <a:outerShdw blurRad="101600" dist="38100" dir="8100000" algn="bl" rotWithShape="0">
              <a:srgbClr val="000000">
                <a:alpha val="18000"/>
              </a:srgbClr>
            </a:outerShdw>
          </a:effectLst>
        </p:spPr>
      </p:sp>
      <p:sp>
        <p:nvSpPr>
          <p:cNvPr id="27" name="Shape 24"/>
          <p:cNvSpPr/>
          <p:nvPr/>
        </p:nvSpPr>
        <p:spPr>
          <a:xfrm>
            <a:off x="4754880" y="3950208"/>
            <a:ext cx="4279392" cy="402336"/>
          </a:xfrm>
          <a:prstGeom prst="rect">
            <a:avLst/>
          </a:prstGeom>
          <a:solidFill>
            <a:srgbClr val="2A2A2A"/>
          </a:solidFill>
          <a:ln/>
        </p:spPr>
      </p:sp>
      <p:sp>
        <p:nvSpPr>
          <p:cNvPr id="28" name="Text 25"/>
          <p:cNvSpPr/>
          <p:nvPr/>
        </p:nvSpPr>
        <p:spPr>
          <a:xfrm>
            <a:off x="4846320" y="4005072"/>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Retrospect and Improve Every Cycle</a:t>
            </a:r>
            <a:endParaRPr lang="en-US" sz="1100" dirty="0"/>
          </a:p>
        </p:txBody>
      </p:sp>
      <p:sp>
        <p:nvSpPr>
          <p:cNvPr id="29" name="Text 26"/>
          <p:cNvSpPr/>
          <p:nvPr/>
        </p:nvSpPr>
        <p:spPr>
          <a:xfrm>
            <a:off x="4846320" y="4425696"/>
            <a:ext cx="4114800" cy="82296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After every release: review defect escape rate, test coverage gaps, and estimation accuracy. Use Lessons Learned to update processes. Great QA teams get measurably better each cycle.</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Summary — All Testing Types at a Glance</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Your complete reference card: every testing type covered in this session</a:t>
            </a:r>
            <a:endParaRPr lang="en-US" sz="1100" dirty="0"/>
          </a:p>
        </p:txBody>
      </p:sp>
      <p:sp>
        <p:nvSpPr>
          <p:cNvPr id="6" name="Shape 3"/>
          <p:cNvSpPr/>
          <p:nvPr/>
        </p:nvSpPr>
        <p:spPr>
          <a:xfrm>
            <a:off x="274320" y="960120"/>
            <a:ext cx="1371600" cy="310896"/>
          </a:xfrm>
          <a:prstGeom prst="rect">
            <a:avLst/>
          </a:prstGeom>
          <a:solidFill>
            <a:srgbClr val="E8670D"/>
          </a:solidFill>
          <a:ln w="6350">
            <a:solidFill>
              <a:srgbClr val="DDCCBB"/>
            </a:solidFill>
            <a:prstDash val="solid"/>
          </a:ln>
        </p:spPr>
      </p:sp>
      <p:sp>
        <p:nvSpPr>
          <p:cNvPr id="7" name="Text 4"/>
          <p:cNvSpPr/>
          <p:nvPr/>
        </p:nvSpPr>
        <p:spPr>
          <a:xfrm>
            <a:off x="320040" y="1014984"/>
            <a:ext cx="1280160" cy="20116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Testing Type</a:t>
            </a:r>
            <a:endParaRPr lang="en-US" sz="950" dirty="0"/>
          </a:p>
        </p:txBody>
      </p:sp>
      <p:sp>
        <p:nvSpPr>
          <p:cNvPr id="8" name="Shape 5"/>
          <p:cNvSpPr/>
          <p:nvPr/>
        </p:nvSpPr>
        <p:spPr>
          <a:xfrm>
            <a:off x="1645920" y="960120"/>
            <a:ext cx="1188720" cy="310896"/>
          </a:xfrm>
          <a:prstGeom prst="rect">
            <a:avLst/>
          </a:prstGeom>
          <a:solidFill>
            <a:srgbClr val="E8670D"/>
          </a:solidFill>
          <a:ln w="6350">
            <a:solidFill>
              <a:srgbClr val="DDCCBB"/>
            </a:solidFill>
            <a:prstDash val="solid"/>
          </a:ln>
        </p:spPr>
      </p:sp>
      <p:sp>
        <p:nvSpPr>
          <p:cNvPr id="9" name="Text 6"/>
          <p:cNvSpPr/>
          <p:nvPr/>
        </p:nvSpPr>
        <p:spPr>
          <a:xfrm>
            <a:off x="1691640" y="1014984"/>
            <a:ext cx="1097280" cy="20116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Category</a:t>
            </a:r>
            <a:endParaRPr lang="en-US" sz="950" dirty="0"/>
          </a:p>
        </p:txBody>
      </p:sp>
      <p:sp>
        <p:nvSpPr>
          <p:cNvPr id="10" name="Shape 7"/>
          <p:cNvSpPr/>
          <p:nvPr/>
        </p:nvSpPr>
        <p:spPr>
          <a:xfrm>
            <a:off x="2834640" y="960120"/>
            <a:ext cx="1828800" cy="310896"/>
          </a:xfrm>
          <a:prstGeom prst="rect">
            <a:avLst/>
          </a:prstGeom>
          <a:solidFill>
            <a:srgbClr val="E8670D"/>
          </a:solidFill>
          <a:ln w="6350">
            <a:solidFill>
              <a:srgbClr val="DDCCBB"/>
            </a:solidFill>
            <a:prstDash val="solid"/>
          </a:ln>
        </p:spPr>
      </p:sp>
      <p:sp>
        <p:nvSpPr>
          <p:cNvPr id="11" name="Text 8"/>
          <p:cNvSpPr/>
          <p:nvPr/>
        </p:nvSpPr>
        <p:spPr>
          <a:xfrm>
            <a:off x="2880360" y="1014984"/>
            <a:ext cx="1737360" cy="20116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Purpose</a:t>
            </a:r>
            <a:endParaRPr lang="en-US" sz="950" dirty="0"/>
          </a:p>
        </p:txBody>
      </p:sp>
      <p:sp>
        <p:nvSpPr>
          <p:cNvPr id="12" name="Shape 9"/>
          <p:cNvSpPr/>
          <p:nvPr/>
        </p:nvSpPr>
        <p:spPr>
          <a:xfrm>
            <a:off x="4663440" y="960120"/>
            <a:ext cx="1554480" cy="310896"/>
          </a:xfrm>
          <a:prstGeom prst="rect">
            <a:avLst/>
          </a:prstGeom>
          <a:solidFill>
            <a:srgbClr val="E8670D"/>
          </a:solidFill>
          <a:ln w="6350">
            <a:solidFill>
              <a:srgbClr val="DDCCBB"/>
            </a:solidFill>
            <a:prstDash val="solid"/>
          </a:ln>
        </p:spPr>
      </p:sp>
      <p:sp>
        <p:nvSpPr>
          <p:cNvPr id="13" name="Text 10"/>
          <p:cNvSpPr/>
          <p:nvPr/>
        </p:nvSpPr>
        <p:spPr>
          <a:xfrm>
            <a:off x="4709160" y="1014984"/>
            <a:ext cx="1463040" cy="20116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Key Tools</a:t>
            </a:r>
            <a:endParaRPr lang="en-US" sz="950" dirty="0"/>
          </a:p>
        </p:txBody>
      </p:sp>
      <p:sp>
        <p:nvSpPr>
          <p:cNvPr id="14" name="Shape 11"/>
          <p:cNvSpPr/>
          <p:nvPr/>
        </p:nvSpPr>
        <p:spPr>
          <a:xfrm>
            <a:off x="6217920" y="960120"/>
            <a:ext cx="2377440" cy="310896"/>
          </a:xfrm>
          <a:prstGeom prst="rect">
            <a:avLst/>
          </a:prstGeom>
          <a:solidFill>
            <a:srgbClr val="E8670D"/>
          </a:solidFill>
          <a:ln w="6350">
            <a:solidFill>
              <a:srgbClr val="DDCCBB"/>
            </a:solidFill>
            <a:prstDash val="solid"/>
          </a:ln>
        </p:spPr>
      </p:sp>
      <p:sp>
        <p:nvSpPr>
          <p:cNvPr id="15" name="Text 12"/>
          <p:cNvSpPr/>
          <p:nvPr/>
        </p:nvSpPr>
        <p:spPr>
          <a:xfrm>
            <a:off x="6263640" y="1014984"/>
            <a:ext cx="2286000" cy="20116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When Used</a:t>
            </a:r>
            <a:endParaRPr lang="en-US" sz="950" dirty="0"/>
          </a:p>
        </p:txBody>
      </p:sp>
      <p:sp>
        <p:nvSpPr>
          <p:cNvPr id="16" name="Shape 13"/>
          <p:cNvSpPr/>
          <p:nvPr/>
        </p:nvSpPr>
        <p:spPr>
          <a:xfrm>
            <a:off x="274320" y="1271016"/>
            <a:ext cx="1371600" cy="310896"/>
          </a:xfrm>
          <a:prstGeom prst="rect">
            <a:avLst/>
          </a:prstGeom>
          <a:solidFill>
            <a:srgbClr val="FFFFFF"/>
          </a:solidFill>
          <a:ln w="6350">
            <a:solidFill>
              <a:srgbClr val="DDCCBB"/>
            </a:solidFill>
            <a:prstDash val="solid"/>
          </a:ln>
        </p:spPr>
      </p:sp>
      <p:sp>
        <p:nvSpPr>
          <p:cNvPr id="17" name="Text 14"/>
          <p:cNvSpPr/>
          <p:nvPr/>
        </p:nvSpPr>
        <p:spPr>
          <a:xfrm>
            <a:off x="320040" y="1325880"/>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Unit Testing</a:t>
            </a:r>
            <a:endParaRPr lang="en-US" sz="900" dirty="0"/>
          </a:p>
        </p:txBody>
      </p:sp>
      <p:sp>
        <p:nvSpPr>
          <p:cNvPr id="18" name="Shape 15"/>
          <p:cNvSpPr/>
          <p:nvPr/>
        </p:nvSpPr>
        <p:spPr>
          <a:xfrm>
            <a:off x="1645920" y="1271016"/>
            <a:ext cx="1188720" cy="310896"/>
          </a:xfrm>
          <a:prstGeom prst="rect">
            <a:avLst/>
          </a:prstGeom>
          <a:solidFill>
            <a:srgbClr val="FFFFFF"/>
          </a:solidFill>
          <a:ln w="6350">
            <a:solidFill>
              <a:srgbClr val="DDCCBB"/>
            </a:solidFill>
            <a:prstDash val="solid"/>
          </a:ln>
        </p:spPr>
      </p:sp>
      <p:sp>
        <p:nvSpPr>
          <p:cNvPr id="19" name="Text 16"/>
          <p:cNvSpPr/>
          <p:nvPr/>
        </p:nvSpPr>
        <p:spPr>
          <a:xfrm>
            <a:off x="1691640" y="1325880"/>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Functional/Auto</a:t>
            </a:r>
            <a:endParaRPr lang="en-US" sz="900" dirty="0"/>
          </a:p>
        </p:txBody>
      </p:sp>
      <p:sp>
        <p:nvSpPr>
          <p:cNvPr id="20" name="Shape 17"/>
          <p:cNvSpPr/>
          <p:nvPr/>
        </p:nvSpPr>
        <p:spPr>
          <a:xfrm>
            <a:off x="2834640" y="1271016"/>
            <a:ext cx="1828800" cy="310896"/>
          </a:xfrm>
          <a:prstGeom prst="rect">
            <a:avLst/>
          </a:prstGeom>
          <a:solidFill>
            <a:srgbClr val="FFFFFF"/>
          </a:solidFill>
          <a:ln w="6350">
            <a:solidFill>
              <a:srgbClr val="DDCCBB"/>
            </a:solidFill>
            <a:prstDash val="solid"/>
          </a:ln>
        </p:spPr>
      </p:sp>
      <p:sp>
        <p:nvSpPr>
          <p:cNvPr id="21" name="Text 18"/>
          <p:cNvSpPr/>
          <p:nvPr/>
        </p:nvSpPr>
        <p:spPr>
          <a:xfrm>
            <a:off x="2880360" y="1325880"/>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Test individual code functions</a:t>
            </a:r>
            <a:endParaRPr lang="en-US" sz="900" dirty="0"/>
          </a:p>
        </p:txBody>
      </p:sp>
      <p:sp>
        <p:nvSpPr>
          <p:cNvPr id="22" name="Shape 19"/>
          <p:cNvSpPr/>
          <p:nvPr/>
        </p:nvSpPr>
        <p:spPr>
          <a:xfrm>
            <a:off x="4663440" y="1271016"/>
            <a:ext cx="1554480" cy="310896"/>
          </a:xfrm>
          <a:prstGeom prst="rect">
            <a:avLst/>
          </a:prstGeom>
          <a:solidFill>
            <a:srgbClr val="FFFFFF"/>
          </a:solidFill>
          <a:ln w="6350">
            <a:solidFill>
              <a:srgbClr val="DDCCBB"/>
            </a:solidFill>
            <a:prstDash val="solid"/>
          </a:ln>
        </p:spPr>
      </p:sp>
      <p:sp>
        <p:nvSpPr>
          <p:cNvPr id="23" name="Text 20"/>
          <p:cNvSpPr/>
          <p:nvPr/>
        </p:nvSpPr>
        <p:spPr>
          <a:xfrm>
            <a:off x="4709160" y="1325880"/>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JUnit, TestNG, Mockito</a:t>
            </a:r>
            <a:endParaRPr lang="en-US" sz="900" dirty="0"/>
          </a:p>
        </p:txBody>
      </p:sp>
      <p:sp>
        <p:nvSpPr>
          <p:cNvPr id="24" name="Shape 21"/>
          <p:cNvSpPr/>
          <p:nvPr/>
        </p:nvSpPr>
        <p:spPr>
          <a:xfrm>
            <a:off x="6217920" y="1271016"/>
            <a:ext cx="2377440" cy="310896"/>
          </a:xfrm>
          <a:prstGeom prst="rect">
            <a:avLst/>
          </a:prstGeom>
          <a:solidFill>
            <a:srgbClr val="FFFFFF"/>
          </a:solidFill>
          <a:ln w="6350">
            <a:solidFill>
              <a:srgbClr val="DDCCBB"/>
            </a:solidFill>
            <a:prstDash val="solid"/>
          </a:ln>
        </p:spPr>
      </p:sp>
      <p:sp>
        <p:nvSpPr>
          <p:cNvPr id="25" name="Text 22"/>
          <p:cNvSpPr/>
          <p:nvPr/>
        </p:nvSpPr>
        <p:spPr>
          <a:xfrm>
            <a:off x="6263640" y="1325880"/>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During development (TDD)</a:t>
            </a:r>
            <a:endParaRPr lang="en-US" sz="900" dirty="0"/>
          </a:p>
        </p:txBody>
      </p:sp>
      <p:sp>
        <p:nvSpPr>
          <p:cNvPr id="26" name="Shape 23"/>
          <p:cNvSpPr/>
          <p:nvPr/>
        </p:nvSpPr>
        <p:spPr>
          <a:xfrm>
            <a:off x="274320" y="1581912"/>
            <a:ext cx="1371600" cy="310896"/>
          </a:xfrm>
          <a:prstGeom prst="rect">
            <a:avLst/>
          </a:prstGeom>
          <a:solidFill>
            <a:srgbClr val="FFF5EE"/>
          </a:solidFill>
          <a:ln w="6350">
            <a:solidFill>
              <a:srgbClr val="DDCCBB"/>
            </a:solidFill>
            <a:prstDash val="solid"/>
          </a:ln>
        </p:spPr>
      </p:sp>
      <p:sp>
        <p:nvSpPr>
          <p:cNvPr id="27" name="Text 24"/>
          <p:cNvSpPr/>
          <p:nvPr/>
        </p:nvSpPr>
        <p:spPr>
          <a:xfrm>
            <a:off x="320040" y="1636776"/>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Integration Testing</a:t>
            </a:r>
            <a:endParaRPr lang="en-US" sz="900" dirty="0"/>
          </a:p>
        </p:txBody>
      </p:sp>
      <p:sp>
        <p:nvSpPr>
          <p:cNvPr id="28" name="Shape 25"/>
          <p:cNvSpPr/>
          <p:nvPr/>
        </p:nvSpPr>
        <p:spPr>
          <a:xfrm>
            <a:off x="1645920" y="1581912"/>
            <a:ext cx="1188720" cy="310896"/>
          </a:xfrm>
          <a:prstGeom prst="rect">
            <a:avLst/>
          </a:prstGeom>
          <a:solidFill>
            <a:srgbClr val="FFF5EE"/>
          </a:solidFill>
          <a:ln w="6350">
            <a:solidFill>
              <a:srgbClr val="DDCCBB"/>
            </a:solidFill>
            <a:prstDash val="solid"/>
          </a:ln>
        </p:spPr>
      </p:sp>
      <p:sp>
        <p:nvSpPr>
          <p:cNvPr id="29" name="Text 26"/>
          <p:cNvSpPr/>
          <p:nvPr/>
        </p:nvSpPr>
        <p:spPr>
          <a:xfrm>
            <a:off x="1691640" y="1636776"/>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Functional</a:t>
            </a:r>
            <a:endParaRPr lang="en-US" sz="900" dirty="0"/>
          </a:p>
        </p:txBody>
      </p:sp>
      <p:sp>
        <p:nvSpPr>
          <p:cNvPr id="30" name="Shape 27"/>
          <p:cNvSpPr/>
          <p:nvPr/>
        </p:nvSpPr>
        <p:spPr>
          <a:xfrm>
            <a:off x="2834640" y="1581912"/>
            <a:ext cx="1828800" cy="310896"/>
          </a:xfrm>
          <a:prstGeom prst="rect">
            <a:avLst/>
          </a:prstGeom>
          <a:solidFill>
            <a:srgbClr val="FFF5EE"/>
          </a:solidFill>
          <a:ln w="6350">
            <a:solidFill>
              <a:srgbClr val="DDCCBB"/>
            </a:solidFill>
            <a:prstDash val="solid"/>
          </a:ln>
        </p:spPr>
      </p:sp>
      <p:sp>
        <p:nvSpPr>
          <p:cNvPr id="31" name="Text 28"/>
          <p:cNvSpPr/>
          <p:nvPr/>
        </p:nvSpPr>
        <p:spPr>
          <a:xfrm>
            <a:off x="2880360" y="1636776"/>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Test component interactions</a:t>
            </a:r>
            <a:endParaRPr lang="en-US" sz="900" dirty="0"/>
          </a:p>
        </p:txBody>
      </p:sp>
      <p:sp>
        <p:nvSpPr>
          <p:cNvPr id="32" name="Shape 29"/>
          <p:cNvSpPr/>
          <p:nvPr/>
        </p:nvSpPr>
        <p:spPr>
          <a:xfrm>
            <a:off x="4663440" y="1581912"/>
            <a:ext cx="1554480" cy="310896"/>
          </a:xfrm>
          <a:prstGeom prst="rect">
            <a:avLst/>
          </a:prstGeom>
          <a:solidFill>
            <a:srgbClr val="FFF5EE"/>
          </a:solidFill>
          <a:ln w="6350">
            <a:solidFill>
              <a:srgbClr val="DDCCBB"/>
            </a:solidFill>
            <a:prstDash val="solid"/>
          </a:ln>
        </p:spPr>
      </p:sp>
      <p:sp>
        <p:nvSpPr>
          <p:cNvPr id="33" name="Text 30"/>
          <p:cNvSpPr/>
          <p:nvPr/>
        </p:nvSpPr>
        <p:spPr>
          <a:xfrm>
            <a:off x="4709160" y="1636776"/>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Postman, Selenium, WireMock</a:t>
            </a:r>
            <a:endParaRPr lang="en-US" sz="900" dirty="0"/>
          </a:p>
        </p:txBody>
      </p:sp>
      <p:sp>
        <p:nvSpPr>
          <p:cNvPr id="34" name="Shape 31"/>
          <p:cNvSpPr/>
          <p:nvPr/>
        </p:nvSpPr>
        <p:spPr>
          <a:xfrm>
            <a:off x="6217920" y="1581912"/>
            <a:ext cx="2377440" cy="310896"/>
          </a:xfrm>
          <a:prstGeom prst="rect">
            <a:avLst/>
          </a:prstGeom>
          <a:solidFill>
            <a:srgbClr val="FFF5EE"/>
          </a:solidFill>
          <a:ln w="6350">
            <a:solidFill>
              <a:srgbClr val="DDCCBB"/>
            </a:solidFill>
            <a:prstDash val="solid"/>
          </a:ln>
        </p:spPr>
      </p:sp>
      <p:sp>
        <p:nvSpPr>
          <p:cNvPr id="35" name="Text 32"/>
          <p:cNvSpPr/>
          <p:nvPr/>
        </p:nvSpPr>
        <p:spPr>
          <a:xfrm>
            <a:off x="6263640" y="1636776"/>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After unit testing</a:t>
            </a:r>
            <a:endParaRPr lang="en-US" sz="900" dirty="0"/>
          </a:p>
        </p:txBody>
      </p:sp>
      <p:sp>
        <p:nvSpPr>
          <p:cNvPr id="36" name="Shape 33"/>
          <p:cNvSpPr/>
          <p:nvPr/>
        </p:nvSpPr>
        <p:spPr>
          <a:xfrm>
            <a:off x="274320" y="1892808"/>
            <a:ext cx="1371600" cy="310896"/>
          </a:xfrm>
          <a:prstGeom prst="rect">
            <a:avLst/>
          </a:prstGeom>
          <a:solidFill>
            <a:srgbClr val="FFFFFF"/>
          </a:solidFill>
          <a:ln w="6350">
            <a:solidFill>
              <a:srgbClr val="DDCCBB"/>
            </a:solidFill>
            <a:prstDash val="solid"/>
          </a:ln>
        </p:spPr>
      </p:sp>
      <p:sp>
        <p:nvSpPr>
          <p:cNvPr id="37" name="Text 34"/>
          <p:cNvSpPr/>
          <p:nvPr/>
        </p:nvSpPr>
        <p:spPr>
          <a:xfrm>
            <a:off x="320040" y="1947672"/>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System Testing</a:t>
            </a:r>
            <a:endParaRPr lang="en-US" sz="900" dirty="0"/>
          </a:p>
        </p:txBody>
      </p:sp>
      <p:sp>
        <p:nvSpPr>
          <p:cNvPr id="38" name="Shape 35"/>
          <p:cNvSpPr/>
          <p:nvPr/>
        </p:nvSpPr>
        <p:spPr>
          <a:xfrm>
            <a:off x="1645920" y="1892808"/>
            <a:ext cx="1188720" cy="310896"/>
          </a:xfrm>
          <a:prstGeom prst="rect">
            <a:avLst/>
          </a:prstGeom>
          <a:solidFill>
            <a:srgbClr val="FFFFFF"/>
          </a:solidFill>
          <a:ln w="6350">
            <a:solidFill>
              <a:srgbClr val="DDCCBB"/>
            </a:solidFill>
            <a:prstDash val="solid"/>
          </a:ln>
        </p:spPr>
      </p:sp>
      <p:sp>
        <p:nvSpPr>
          <p:cNvPr id="39" name="Text 36"/>
          <p:cNvSpPr/>
          <p:nvPr/>
        </p:nvSpPr>
        <p:spPr>
          <a:xfrm>
            <a:off x="1691640" y="1947672"/>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Functional</a:t>
            </a:r>
            <a:endParaRPr lang="en-US" sz="900" dirty="0"/>
          </a:p>
        </p:txBody>
      </p:sp>
      <p:sp>
        <p:nvSpPr>
          <p:cNvPr id="40" name="Shape 37"/>
          <p:cNvSpPr/>
          <p:nvPr/>
        </p:nvSpPr>
        <p:spPr>
          <a:xfrm>
            <a:off x="2834640" y="1892808"/>
            <a:ext cx="1828800" cy="310896"/>
          </a:xfrm>
          <a:prstGeom prst="rect">
            <a:avLst/>
          </a:prstGeom>
          <a:solidFill>
            <a:srgbClr val="FFFFFF"/>
          </a:solidFill>
          <a:ln w="6350">
            <a:solidFill>
              <a:srgbClr val="DDCCBB"/>
            </a:solidFill>
            <a:prstDash val="solid"/>
          </a:ln>
        </p:spPr>
      </p:sp>
      <p:sp>
        <p:nvSpPr>
          <p:cNvPr id="41" name="Text 38"/>
          <p:cNvSpPr/>
          <p:nvPr/>
        </p:nvSpPr>
        <p:spPr>
          <a:xfrm>
            <a:off x="2880360" y="1947672"/>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End-to-end validation</a:t>
            </a:r>
            <a:endParaRPr lang="en-US" sz="900" dirty="0"/>
          </a:p>
        </p:txBody>
      </p:sp>
      <p:sp>
        <p:nvSpPr>
          <p:cNvPr id="42" name="Shape 39"/>
          <p:cNvSpPr/>
          <p:nvPr/>
        </p:nvSpPr>
        <p:spPr>
          <a:xfrm>
            <a:off x="4663440" y="1892808"/>
            <a:ext cx="1554480" cy="310896"/>
          </a:xfrm>
          <a:prstGeom prst="rect">
            <a:avLst/>
          </a:prstGeom>
          <a:solidFill>
            <a:srgbClr val="FFFFFF"/>
          </a:solidFill>
          <a:ln w="6350">
            <a:solidFill>
              <a:srgbClr val="DDCCBB"/>
            </a:solidFill>
            <a:prstDash val="solid"/>
          </a:ln>
        </p:spPr>
      </p:sp>
      <p:sp>
        <p:nvSpPr>
          <p:cNvPr id="43" name="Text 40"/>
          <p:cNvSpPr/>
          <p:nvPr/>
        </p:nvSpPr>
        <p:spPr>
          <a:xfrm>
            <a:off x="4709160" y="1947672"/>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Selenium, Playwright</a:t>
            </a:r>
            <a:endParaRPr lang="en-US" sz="900" dirty="0"/>
          </a:p>
        </p:txBody>
      </p:sp>
      <p:sp>
        <p:nvSpPr>
          <p:cNvPr id="44" name="Shape 41"/>
          <p:cNvSpPr/>
          <p:nvPr/>
        </p:nvSpPr>
        <p:spPr>
          <a:xfrm>
            <a:off x="6217920" y="1892808"/>
            <a:ext cx="2377440" cy="310896"/>
          </a:xfrm>
          <a:prstGeom prst="rect">
            <a:avLst/>
          </a:prstGeom>
          <a:solidFill>
            <a:srgbClr val="FFFFFF"/>
          </a:solidFill>
          <a:ln w="6350">
            <a:solidFill>
              <a:srgbClr val="DDCCBB"/>
            </a:solidFill>
            <a:prstDash val="solid"/>
          </a:ln>
        </p:spPr>
      </p:sp>
      <p:sp>
        <p:nvSpPr>
          <p:cNvPr id="45" name="Text 42"/>
          <p:cNvSpPr/>
          <p:nvPr/>
        </p:nvSpPr>
        <p:spPr>
          <a:xfrm>
            <a:off x="6263640" y="1947672"/>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UAT</a:t>
            </a:r>
            <a:endParaRPr lang="en-US" sz="900" dirty="0"/>
          </a:p>
        </p:txBody>
      </p:sp>
      <p:sp>
        <p:nvSpPr>
          <p:cNvPr id="46" name="Shape 43"/>
          <p:cNvSpPr/>
          <p:nvPr/>
        </p:nvSpPr>
        <p:spPr>
          <a:xfrm>
            <a:off x="274320" y="2203704"/>
            <a:ext cx="1371600" cy="310896"/>
          </a:xfrm>
          <a:prstGeom prst="rect">
            <a:avLst/>
          </a:prstGeom>
          <a:solidFill>
            <a:srgbClr val="FFF5EE"/>
          </a:solidFill>
          <a:ln w="6350">
            <a:solidFill>
              <a:srgbClr val="DDCCBB"/>
            </a:solidFill>
            <a:prstDash val="solid"/>
          </a:ln>
        </p:spPr>
      </p:sp>
      <p:sp>
        <p:nvSpPr>
          <p:cNvPr id="47" name="Text 44"/>
          <p:cNvSpPr/>
          <p:nvPr/>
        </p:nvSpPr>
        <p:spPr>
          <a:xfrm>
            <a:off x="320040" y="2258568"/>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UAT</a:t>
            </a:r>
            <a:endParaRPr lang="en-US" sz="900" dirty="0"/>
          </a:p>
        </p:txBody>
      </p:sp>
      <p:sp>
        <p:nvSpPr>
          <p:cNvPr id="48" name="Shape 45"/>
          <p:cNvSpPr/>
          <p:nvPr/>
        </p:nvSpPr>
        <p:spPr>
          <a:xfrm>
            <a:off x="1645920" y="2203704"/>
            <a:ext cx="1188720" cy="310896"/>
          </a:xfrm>
          <a:prstGeom prst="rect">
            <a:avLst/>
          </a:prstGeom>
          <a:solidFill>
            <a:srgbClr val="FFF5EE"/>
          </a:solidFill>
          <a:ln w="6350">
            <a:solidFill>
              <a:srgbClr val="DDCCBB"/>
            </a:solidFill>
            <a:prstDash val="solid"/>
          </a:ln>
        </p:spPr>
      </p:sp>
      <p:sp>
        <p:nvSpPr>
          <p:cNvPr id="49" name="Text 46"/>
          <p:cNvSpPr/>
          <p:nvPr/>
        </p:nvSpPr>
        <p:spPr>
          <a:xfrm>
            <a:off x="1691640" y="2258568"/>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Functional</a:t>
            </a:r>
            <a:endParaRPr lang="en-US" sz="900" dirty="0"/>
          </a:p>
        </p:txBody>
      </p:sp>
      <p:sp>
        <p:nvSpPr>
          <p:cNvPr id="50" name="Shape 47"/>
          <p:cNvSpPr/>
          <p:nvPr/>
        </p:nvSpPr>
        <p:spPr>
          <a:xfrm>
            <a:off x="2834640" y="2203704"/>
            <a:ext cx="1828800" cy="310896"/>
          </a:xfrm>
          <a:prstGeom prst="rect">
            <a:avLst/>
          </a:prstGeom>
          <a:solidFill>
            <a:srgbClr val="FFF5EE"/>
          </a:solidFill>
          <a:ln w="6350">
            <a:solidFill>
              <a:srgbClr val="DDCCBB"/>
            </a:solidFill>
            <a:prstDash val="solid"/>
          </a:ln>
        </p:spPr>
      </p:sp>
      <p:sp>
        <p:nvSpPr>
          <p:cNvPr id="51" name="Text 48"/>
          <p:cNvSpPr/>
          <p:nvPr/>
        </p:nvSpPr>
        <p:spPr>
          <a:xfrm>
            <a:off x="2880360" y="2258568"/>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Business acceptance</a:t>
            </a:r>
            <a:endParaRPr lang="en-US" sz="900" dirty="0"/>
          </a:p>
        </p:txBody>
      </p:sp>
      <p:sp>
        <p:nvSpPr>
          <p:cNvPr id="52" name="Shape 49"/>
          <p:cNvSpPr/>
          <p:nvPr/>
        </p:nvSpPr>
        <p:spPr>
          <a:xfrm>
            <a:off x="4663440" y="2203704"/>
            <a:ext cx="1554480" cy="310896"/>
          </a:xfrm>
          <a:prstGeom prst="rect">
            <a:avLst/>
          </a:prstGeom>
          <a:solidFill>
            <a:srgbClr val="FFF5EE"/>
          </a:solidFill>
          <a:ln w="6350">
            <a:solidFill>
              <a:srgbClr val="DDCCBB"/>
            </a:solidFill>
            <a:prstDash val="solid"/>
          </a:ln>
        </p:spPr>
      </p:sp>
      <p:sp>
        <p:nvSpPr>
          <p:cNvPr id="53" name="Text 50"/>
          <p:cNvSpPr/>
          <p:nvPr/>
        </p:nvSpPr>
        <p:spPr>
          <a:xfrm>
            <a:off x="4709160" y="2258568"/>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Manual, test management tools</a:t>
            </a:r>
            <a:endParaRPr lang="en-US" sz="900" dirty="0"/>
          </a:p>
        </p:txBody>
      </p:sp>
      <p:sp>
        <p:nvSpPr>
          <p:cNvPr id="54" name="Shape 51"/>
          <p:cNvSpPr/>
          <p:nvPr/>
        </p:nvSpPr>
        <p:spPr>
          <a:xfrm>
            <a:off x="6217920" y="2203704"/>
            <a:ext cx="2377440" cy="310896"/>
          </a:xfrm>
          <a:prstGeom prst="rect">
            <a:avLst/>
          </a:prstGeom>
          <a:solidFill>
            <a:srgbClr val="FFF5EE"/>
          </a:solidFill>
          <a:ln w="6350">
            <a:solidFill>
              <a:srgbClr val="DDCCBB"/>
            </a:solidFill>
            <a:prstDash val="solid"/>
          </a:ln>
        </p:spPr>
      </p:sp>
      <p:sp>
        <p:nvSpPr>
          <p:cNvPr id="55" name="Text 52"/>
          <p:cNvSpPr/>
          <p:nvPr/>
        </p:nvSpPr>
        <p:spPr>
          <a:xfrm>
            <a:off x="6263640" y="2258568"/>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release, by business</a:t>
            </a:r>
            <a:endParaRPr lang="en-US" sz="900" dirty="0"/>
          </a:p>
        </p:txBody>
      </p:sp>
      <p:sp>
        <p:nvSpPr>
          <p:cNvPr id="56" name="Shape 53"/>
          <p:cNvSpPr/>
          <p:nvPr/>
        </p:nvSpPr>
        <p:spPr>
          <a:xfrm>
            <a:off x="274320" y="2514600"/>
            <a:ext cx="1371600" cy="310896"/>
          </a:xfrm>
          <a:prstGeom prst="rect">
            <a:avLst/>
          </a:prstGeom>
          <a:solidFill>
            <a:srgbClr val="FFFFFF"/>
          </a:solidFill>
          <a:ln w="6350">
            <a:solidFill>
              <a:srgbClr val="DDCCBB"/>
            </a:solidFill>
            <a:prstDash val="solid"/>
          </a:ln>
        </p:spPr>
      </p:sp>
      <p:sp>
        <p:nvSpPr>
          <p:cNvPr id="57" name="Text 54"/>
          <p:cNvSpPr/>
          <p:nvPr/>
        </p:nvSpPr>
        <p:spPr>
          <a:xfrm>
            <a:off x="320040" y="2569464"/>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Smoke Testing</a:t>
            </a:r>
            <a:endParaRPr lang="en-US" sz="900" dirty="0"/>
          </a:p>
        </p:txBody>
      </p:sp>
      <p:sp>
        <p:nvSpPr>
          <p:cNvPr id="58" name="Shape 55"/>
          <p:cNvSpPr/>
          <p:nvPr/>
        </p:nvSpPr>
        <p:spPr>
          <a:xfrm>
            <a:off x="1645920" y="2514600"/>
            <a:ext cx="1188720" cy="310896"/>
          </a:xfrm>
          <a:prstGeom prst="rect">
            <a:avLst/>
          </a:prstGeom>
          <a:solidFill>
            <a:srgbClr val="FFFFFF"/>
          </a:solidFill>
          <a:ln w="6350">
            <a:solidFill>
              <a:srgbClr val="DDCCBB"/>
            </a:solidFill>
            <a:prstDash val="solid"/>
          </a:ln>
        </p:spPr>
      </p:sp>
      <p:sp>
        <p:nvSpPr>
          <p:cNvPr id="59" name="Text 56"/>
          <p:cNvSpPr/>
          <p:nvPr/>
        </p:nvSpPr>
        <p:spPr>
          <a:xfrm>
            <a:off x="1691640" y="2569464"/>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Functional</a:t>
            </a:r>
            <a:endParaRPr lang="en-US" sz="900" dirty="0"/>
          </a:p>
        </p:txBody>
      </p:sp>
      <p:sp>
        <p:nvSpPr>
          <p:cNvPr id="60" name="Shape 57"/>
          <p:cNvSpPr/>
          <p:nvPr/>
        </p:nvSpPr>
        <p:spPr>
          <a:xfrm>
            <a:off x="2834640" y="2514600"/>
            <a:ext cx="1828800" cy="310896"/>
          </a:xfrm>
          <a:prstGeom prst="rect">
            <a:avLst/>
          </a:prstGeom>
          <a:solidFill>
            <a:srgbClr val="FFFFFF"/>
          </a:solidFill>
          <a:ln w="6350">
            <a:solidFill>
              <a:srgbClr val="DDCCBB"/>
            </a:solidFill>
            <a:prstDash val="solid"/>
          </a:ln>
        </p:spPr>
      </p:sp>
      <p:sp>
        <p:nvSpPr>
          <p:cNvPr id="61" name="Text 58"/>
          <p:cNvSpPr/>
          <p:nvPr/>
        </p:nvSpPr>
        <p:spPr>
          <a:xfrm>
            <a:off x="2880360" y="2569464"/>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Build stability check</a:t>
            </a:r>
            <a:endParaRPr lang="en-US" sz="900" dirty="0"/>
          </a:p>
        </p:txBody>
      </p:sp>
      <p:sp>
        <p:nvSpPr>
          <p:cNvPr id="62" name="Shape 59"/>
          <p:cNvSpPr/>
          <p:nvPr/>
        </p:nvSpPr>
        <p:spPr>
          <a:xfrm>
            <a:off x="4663440" y="2514600"/>
            <a:ext cx="1554480" cy="310896"/>
          </a:xfrm>
          <a:prstGeom prst="rect">
            <a:avLst/>
          </a:prstGeom>
          <a:solidFill>
            <a:srgbClr val="FFFFFF"/>
          </a:solidFill>
          <a:ln w="6350">
            <a:solidFill>
              <a:srgbClr val="DDCCBB"/>
            </a:solidFill>
            <a:prstDash val="solid"/>
          </a:ln>
        </p:spPr>
      </p:sp>
      <p:sp>
        <p:nvSpPr>
          <p:cNvPr id="63" name="Text 60"/>
          <p:cNvSpPr/>
          <p:nvPr/>
        </p:nvSpPr>
        <p:spPr>
          <a:xfrm>
            <a:off x="4709160" y="2569464"/>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Playwright CI, Postman</a:t>
            </a:r>
            <a:endParaRPr lang="en-US" sz="900" dirty="0"/>
          </a:p>
        </p:txBody>
      </p:sp>
      <p:sp>
        <p:nvSpPr>
          <p:cNvPr id="64" name="Shape 61"/>
          <p:cNvSpPr/>
          <p:nvPr/>
        </p:nvSpPr>
        <p:spPr>
          <a:xfrm>
            <a:off x="6217920" y="2514600"/>
            <a:ext cx="2377440" cy="310896"/>
          </a:xfrm>
          <a:prstGeom prst="rect">
            <a:avLst/>
          </a:prstGeom>
          <a:solidFill>
            <a:srgbClr val="FFFFFF"/>
          </a:solidFill>
          <a:ln w="6350">
            <a:solidFill>
              <a:srgbClr val="DDCCBB"/>
            </a:solidFill>
            <a:prstDash val="solid"/>
          </a:ln>
        </p:spPr>
      </p:sp>
      <p:sp>
        <p:nvSpPr>
          <p:cNvPr id="65" name="Text 62"/>
          <p:cNvSpPr/>
          <p:nvPr/>
        </p:nvSpPr>
        <p:spPr>
          <a:xfrm>
            <a:off x="6263640" y="2569464"/>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After every deployment</a:t>
            </a:r>
            <a:endParaRPr lang="en-US" sz="900" dirty="0"/>
          </a:p>
        </p:txBody>
      </p:sp>
      <p:sp>
        <p:nvSpPr>
          <p:cNvPr id="66" name="Shape 63"/>
          <p:cNvSpPr/>
          <p:nvPr/>
        </p:nvSpPr>
        <p:spPr>
          <a:xfrm>
            <a:off x="274320" y="2825496"/>
            <a:ext cx="1371600" cy="310896"/>
          </a:xfrm>
          <a:prstGeom prst="rect">
            <a:avLst/>
          </a:prstGeom>
          <a:solidFill>
            <a:srgbClr val="FFF5EE"/>
          </a:solidFill>
          <a:ln w="6350">
            <a:solidFill>
              <a:srgbClr val="DDCCBB"/>
            </a:solidFill>
            <a:prstDash val="solid"/>
          </a:ln>
        </p:spPr>
      </p:sp>
      <p:sp>
        <p:nvSpPr>
          <p:cNvPr id="67" name="Text 64"/>
          <p:cNvSpPr/>
          <p:nvPr/>
        </p:nvSpPr>
        <p:spPr>
          <a:xfrm>
            <a:off x="320040" y="2880360"/>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Sanity Testing</a:t>
            </a:r>
            <a:endParaRPr lang="en-US" sz="900" dirty="0"/>
          </a:p>
        </p:txBody>
      </p:sp>
      <p:sp>
        <p:nvSpPr>
          <p:cNvPr id="68" name="Shape 65"/>
          <p:cNvSpPr/>
          <p:nvPr/>
        </p:nvSpPr>
        <p:spPr>
          <a:xfrm>
            <a:off x="1645920" y="2825496"/>
            <a:ext cx="1188720" cy="310896"/>
          </a:xfrm>
          <a:prstGeom prst="rect">
            <a:avLst/>
          </a:prstGeom>
          <a:solidFill>
            <a:srgbClr val="FFF5EE"/>
          </a:solidFill>
          <a:ln w="6350">
            <a:solidFill>
              <a:srgbClr val="DDCCBB"/>
            </a:solidFill>
            <a:prstDash val="solid"/>
          </a:ln>
        </p:spPr>
      </p:sp>
      <p:sp>
        <p:nvSpPr>
          <p:cNvPr id="69" name="Text 66"/>
          <p:cNvSpPr/>
          <p:nvPr/>
        </p:nvSpPr>
        <p:spPr>
          <a:xfrm>
            <a:off x="1691640" y="2880360"/>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Functional</a:t>
            </a:r>
            <a:endParaRPr lang="en-US" sz="900" dirty="0"/>
          </a:p>
        </p:txBody>
      </p:sp>
      <p:sp>
        <p:nvSpPr>
          <p:cNvPr id="70" name="Shape 67"/>
          <p:cNvSpPr/>
          <p:nvPr/>
        </p:nvSpPr>
        <p:spPr>
          <a:xfrm>
            <a:off x="2834640" y="2825496"/>
            <a:ext cx="1828800" cy="310896"/>
          </a:xfrm>
          <a:prstGeom prst="rect">
            <a:avLst/>
          </a:prstGeom>
          <a:solidFill>
            <a:srgbClr val="FFF5EE"/>
          </a:solidFill>
          <a:ln w="6350">
            <a:solidFill>
              <a:srgbClr val="DDCCBB"/>
            </a:solidFill>
            <a:prstDash val="solid"/>
          </a:ln>
        </p:spPr>
      </p:sp>
      <p:sp>
        <p:nvSpPr>
          <p:cNvPr id="71" name="Text 68"/>
          <p:cNvSpPr/>
          <p:nvPr/>
        </p:nvSpPr>
        <p:spPr>
          <a:xfrm>
            <a:off x="2880360" y="2880360"/>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Verify specific fix</a:t>
            </a:r>
            <a:endParaRPr lang="en-US" sz="900" dirty="0"/>
          </a:p>
        </p:txBody>
      </p:sp>
      <p:sp>
        <p:nvSpPr>
          <p:cNvPr id="72" name="Shape 69"/>
          <p:cNvSpPr/>
          <p:nvPr/>
        </p:nvSpPr>
        <p:spPr>
          <a:xfrm>
            <a:off x="4663440" y="2825496"/>
            <a:ext cx="1554480" cy="310896"/>
          </a:xfrm>
          <a:prstGeom prst="rect">
            <a:avLst/>
          </a:prstGeom>
          <a:solidFill>
            <a:srgbClr val="FFF5EE"/>
          </a:solidFill>
          <a:ln w="6350">
            <a:solidFill>
              <a:srgbClr val="DDCCBB"/>
            </a:solidFill>
            <a:prstDash val="solid"/>
          </a:ln>
        </p:spPr>
      </p:sp>
      <p:sp>
        <p:nvSpPr>
          <p:cNvPr id="73" name="Text 70"/>
          <p:cNvSpPr/>
          <p:nvPr/>
        </p:nvSpPr>
        <p:spPr>
          <a:xfrm>
            <a:off x="4709160" y="2880360"/>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Manual + targeted scripts</a:t>
            </a:r>
            <a:endParaRPr lang="en-US" sz="900" dirty="0"/>
          </a:p>
        </p:txBody>
      </p:sp>
      <p:sp>
        <p:nvSpPr>
          <p:cNvPr id="74" name="Shape 71"/>
          <p:cNvSpPr/>
          <p:nvPr/>
        </p:nvSpPr>
        <p:spPr>
          <a:xfrm>
            <a:off x="6217920" y="2825496"/>
            <a:ext cx="2377440" cy="310896"/>
          </a:xfrm>
          <a:prstGeom prst="rect">
            <a:avLst/>
          </a:prstGeom>
          <a:solidFill>
            <a:srgbClr val="FFF5EE"/>
          </a:solidFill>
          <a:ln w="6350">
            <a:solidFill>
              <a:srgbClr val="DDCCBB"/>
            </a:solidFill>
            <a:prstDash val="solid"/>
          </a:ln>
        </p:spPr>
      </p:sp>
      <p:sp>
        <p:nvSpPr>
          <p:cNvPr id="75" name="Text 72"/>
          <p:cNvSpPr/>
          <p:nvPr/>
        </p:nvSpPr>
        <p:spPr>
          <a:xfrm>
            <a:off x="6263640" y="2880360"/>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After bug fix</a:t>
            </a:r>
            <a:endParaRPr lang="en-US" sz="900" dirty="0"/>
          </a:p>
        </p:txBody>
      </p:sp>
      <p:sp>
        <p:nvSpPr>
          <p:cNvPr id="76" name="Shape 73"/>
          <p:cNvSpPr/>
          <p:nvPr/>
        </p:nvSpPr>
        <p:spPr>
          <a:xfrm>
            <a:off x="274320" y="3136392"/>
            <a:ext cx="1371600" cy="310896"/>
          </a:xfrm>
          <a:prstGeom prst="rect">
            <a:avLst/>
          </a:prstGeom>
          <a:solidFill>
            <a:srgbClr val="FFFFFF"/>
          </a:solidFill>
          <a:ln w="6350">
            <a:solidFill>
              <a:srgbClr val="DDCCBB"/>
            </a:solidFill>
            <a:prstDash val="solid"/>
          </a:ln>
        </p:spPr>
      </p:sp>
      <p:sp>
        <p:nvSpPr>
          <p:cNvPr id="77" name="Text 74"/>
          <p:cNvSpPr/>
          <p:nvPr/>
        </p:nvSpPr>
        <p:spPr>
          <a:xfrm>
            <a:off x="320040" y="3191256"/>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Regression Testing</a:t>
            </a:r>
            <a:endParaRPr lang="en-US" sz="900" dirty="0"/>
          </a:p>
        </p:txBody>
      </p:sp>
      <p:sp>
        <p:nvSpPr>
          <p:cNvPr id="78" name="Shape 75"/>
          <p:cNvSpPr/>
          <p:nvPr/>
        </p:nvSpPr>
        <p:spPr>
          <a:xfrm>
            <a:off x="1645920" y="3136392"/>
            <a:ext cx="1188720" cy="310896"/>
          </a:xfrm>
          <a:prstGeom prst="rect">
            <a:avLst/>
          </a:prstGeom>
          <a:solidFill>
            <a:srgbClr val="FFFFFF"/>
          </a:solidFill>
          <a:ln w="6350">
            <a:solidFill>
              <a:srgbClr val="DDCCBB"/>
            </a:solidFill>
            <a:prstDash val="solid"/>
          </a:ln>
        </p:spPr>
      </p:sp>
      <p:sp>
        <p:nvSpPr>
          <p:cNvPr id="79" name="Text 76"/>
          <p:cNvSpPr/>
          <p:nvPr/>
        </p:nvSpPr>
        <p:spPr>
          <a:xfrm>
            <a:off x="1691640" y="3191256"/>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Functional/Auto</a:t>
            </a:r>
            <a:endParaRPr lang="en-US" sz="900" dirty="0"/>
          </a:p>
        </p:txBody>
      </p:sp>
      <p:sp>
        <p:nvSpPr>
          <p:cNvPr id="80" name="Shape 77"/>
          <p:cNvSpPr/>
          <p:nvPr/>
        </p:nvSpPr>
        <p:spPr>
          <a:xfrm>
            <a:off x="2834640" y="3136392"/>
            <a:ext cx="1828800" cy="310896"/>
          </a:xfrm>
          <a:prstGeom prst="rect">
            <a:avLst/>
          </a:prstGeom>
          <a:solidFill>
            <a:srgbClr val="FFFFFF"/>
          </a:solidFill>
          <a:ln w="6350">
            <a:solidFill>
              <a:srgbClr val="DDCCBB"/>
            </a:solidFill>
            <a:prstDash val="solid"/>
          </a:ln>
        </p:spPr>
      </p:sp>
      <p:sp>
        <p:nvSpPr>
          <p:cNvPr id="81" name="Text 78"/>
          <p:cNvSpPr/>
          <p:nvPr/>
        </p:nvSpPr>
        <p:spPr>
          <a:xfrm>
            <a:off x="2880360" y="3191256"/>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Prevent old bugs returning</a:t>
            </a:r>
            <a:endParaRPr lang="en-US" sz="900" dirty="0"/>
          </a:p>
        </p:txBody>
      </p:sp>
      <p:sp>
        <p:nvSpPr>
          <p:cNvPr id="82" name="Shape 79"/>
          <p:cNvSpPr/>
          <p:nvPr/>
        </p:nvSpPr>
        <p:spPr>
          <a:xfrm>
            <a:off x="4663440" y="3136392"/>
            <a:ext cx="1554480" cy="310896"/>
          </a:xfrm>
          <a:prstGeom prst="rect">
            <a:avLst/>
          </a:prstGeom>
          <a:solidFill>
            <a:srgbClr val="FFFFFF"/>
          </a:solidFill>
          <a:ln w="6350">
            <a:solidFill>
              <a:srgbClr val="DDCCBB"/>
            </a:solidFill>
            <a:prstDash val="solid"/>
          </a:ln>
        </p:spPr>
      </p:sp>
      <p:sp>
        <p:nvSpPr>
          <p:cNvPr id="83" name="Text 80"/>
          <p:cNvSpPr/>
          <p:nvPr/>
        </p:nvSpPr>
        <p:spPr>
          <a:xfrm>
            <a:off x="4709160" y="3191256"/>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Selenium, Playwright + CI</a:t>
            </a:r>
            <a:endParaRPr lang="en-US" sz="900" dirty="0"/>
          </a:p>
        </p:txBody>
      </p:sp>
      <p:sp>
        <p:nvSpPr>
          <p:cNvPr id="84" name="Shape 81"/>
          <p:cNvSpPr/>
          <p:nvPr/>
        </p:nvSpPr>
        <p:spPr>
          <a:xfrm>
            <a:off x="6217920" y="3136392"/>
            <a:ext cx="2377440" cy="310896"/>
          </a:xfrm>
          <a:prstGeom prst="rect">
            <a:avLst/>
          </a:prstGeom>
          <a:solidFill>
            <a:srgbClr val="FFFFFF"/>
          </a:solidFill>
          <a:ln w="6350">
            <a:solidFill>
              <a:srgbClr val="DDCCBB"/>
            </a:solidFill>
            <a:prstDash val="solid"/>
          </a:ln>
        </p:spPr>
      </p:sp>
      <p:sp>
        <p:nvSpPr>
          <p:cNvPr id="85" name="Text 82"/>
          <p:cNvSpPr/>
          <p:nvPr/>
        </p:nvSpPr>
        <p:spPr>
          <a:xfrm>
            <a:off x="6263640" y="3191256"/>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every release</a:t>
            </a:r>
            <a:endParaRPr lang="en-US" sz="900" dirty="0"/>
          </a:p>
        </p:txBody>
      </p:sp>
      <p:sp>
        <p:nvSpPr>
          <p:cNvPr id="86" name="Shape 83"/>
          <p:cNvSpPr/>
          <p:nvPr/>
        </p:nvSpPr>
        <p:spPr>
          <a:xfrm>
            <a:off x="274320" y="3447288"/>
            <a:ext cx="1371600" cy="310896"/>
          </a:xfrm>
          <a:prstGeom prst="rect">
            <a:avLst/>
          </a:prstGeom>
          <a:solidFill>
            <a:srgbClr val="FFF5EE"/>
          </a:solidFill>
          <a:ln w="6350">
            <a:solidFill>
              <a:srgbClr val="DDCCBB"/>
            </a:solidFill>
            <a:prstDash val="solid"/>
          </a:ln>
        </p:spPr>
      </p:sp>
      <p:sp>
        <p:nvSpPr>
          <p:cNvPr id="87" name="Text 84"/>
          <p:cNvSpPr/>
          <p:nvPr/>
        </p:nvSpPr>
        <p:spPr>
          <a:xfrm>
            <a:off x="320040" y="3502152"/>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Load Testing</a:t>
            </a:r>
            <a:endParaRPr lang="en-US" sz="900" dirty="0"/>
          </a:p>
        </p:txBody>
      </p:sp>
      <p:sp>
        <p:nvSpPr>
          <p:cNvPr id="88" name="Shape 85"/>
          <p:cNvSpPr/>
          <p:nvPr/>
        </p:nvSpPr>
        <p:spPr>
          <a:xfrm>
            <a:off x="1645920" y="3447288"/>
            <a:ext cx="1188720" cy="310896"/>
          </a:xfrm>
          <a:prstGeom prst="rect">
            <a:avLst/>
          </a:prstGeom>
          <a:solidFill>
            <a:srgbClr val="FFF5EE"/>
          </a:solidFill>
          <a:ln w="6350">
            <a:solidFill>
              <a:srgbClr val="DDCCBB"/>
            </a:solidFill>
            <a:prstDash val="solid"/>
          </a:ln>
        </p:spPr>
      </p:sp>
      <p:sp>
        <p:nvSpPr>
          <p:cNvPr id="89" name="Text 86"/>
          <p:cNvSpPr/>
          <p:nvPr/>
        </p:nvSpPr>
        <p:spPr>
          <a:xfrm>
            <a:off x="1691640" y="3502152"/>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Non-Functional</a:t>
            </a:r>
            <a:endParaRPr lang="en-US" sz="900" dirty="0"/>
          </a:p>
        </p:txBody>
      </p:sp>
      <p:sp>
        <p:nvSpPr>
          <p:cNvPr id="90" name="Shape 87"/>
          <p:cNvSpPr/>
          <p:nvPr/>
        </p:nvSpPr>
        <p:spPr>
          <a:xfrm>
            <a:off x="2834640" y="3447288"/>
            <a:ext cx="1828800" cy="310896"/>
          </a:xfrm>
          <a:prstGeom prst="rect">
            <a:avLst/>
          </a:prstGeom>
          <a:solidFill>
            <a:srgbClr val="FFF5EE"/>
          </a:solidFill>
          <a:ln w="6350">
            <a:solidFill>
              <a:srgbClr val="DDCCBB"/>
            </a:solidFill>
            <a:prstDash val="solid"/>
          </a:ln>
        </p:spPr>
      </p:sp>
      <p:sp>
        <p:nvSpPr>
          <p:cNvPr id="91" name="Text 88"/>
          <p:cNvSpPr/>
          <p:nvPr/>
        </p:nvSpPr>
        <p:spPr>
          <a:xfrm>
            <a:off x="2880360" y="3502152"/>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Normal traffic performance</a:t>
            </a:r>
            <a:endParaRPr lang="en-US" sz="900" dirty="0"/>
          </a:p>
        </p:txBody>
      </p:sp>
      <p:sp>
        <p:nvSpPr>
          <p:cNvPr id="92" name="Shape 89"/>
          <p:cNvSpPr/>
          <p:nvPr/>
        </p:nvSpPr>
        <p:spPr>
          <a:xfrm>
            <a:off x="4663440" y="3447288"/>
            <a:ext cx="1554480" cy="310896"/>
          </a:xfrm>
          <a:prstGeom prst="rect">
            <a:avLst/>
          </a:prstGeom>
          <a:solidFill>
            <a:srgbClr val="FFF5EE"/>
          </a:solidFill>
          <a:ln w="6350">
            <a:solidFill>
              <a:srgbClr val="DDCCBB"/>
            </a:solidFill>
            <a:prstDash val="solid"/>
          </a:ln>
        </p:spPr>
      </p:sp>
      <p:sp>
        <p:nvSpPr>
          <p:cNvPr id="93" name="Text 90"/>
          <p:cNvSpPr/>
          <p:nvPr/>
        </p:nvSpPr>
        <p:spPr>
          <a:xfrm>
            <a:off x="4709160" y="3502152"/>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JMeter, k6, Gatling</a:t>
            </a:r>
            <a:endParaRPr lang="en-US" sz="900" dirty="0"/>
          </a:p>
        </p:txBody>
      </p:sp>
      <p:sp>
        <p:nvSpPr>
          <p:cNvPr id="94" name="Shape 91"/>
          <p:cNvSpPr/>
          <p:nvPr/>
        </p:nvSpPr>
        <p:spPr>
          <a:xfrm>
            <a:off x="6217920" y="3447288"/>
            <a:ext cx="2377440" cy="310896"/>
          </a:xfrm>
          <a:prstGeom prst="rect">
            <a:avLst/>
          </a:prstGeom>
          <a:solidFill>
            <a:srgbClr val="FFF5EE"/>
          </a:solidFill>
          <a:ln w="6350">
            <a:solidFill>
              <a:srgbClr val="DDCCBB"/>
            </a:solidFill>
            <a:prstDash val="solid"/>
          </a:ln>
        </p:spPr>
      </p:sp>
      <p:sp>
        <p:nvSpPr>
          <p:cNvPr id="95" name="Text 92"/>
          <p:cNvSpPr/>
          <p:nvPr/>
        </p:nvSpPr>
        <p:spPr>
          <a:xfrm>
            <a:off x="6263640" y="3502152"/>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release/major events</a:t>
            </a:r>
            <a:endParaRPr lang="en-US" sz="900" dirty="0"/>
          </a:p>
        </p:txBody>
      </p:sp>
      <p:sp>
        <p:nvSpPr>
          <p:cNvPr id="96" name="Shape 93"/>
          <p:cNvSpPr/>
          <p:nvPr/>
        </p:nvSpPr>
        <p:spPr>
          <a:xfrm>
            <a:off x="274320" y="3758184"/>
            <a:ext cx="1371600" cy="310896"/>
          </a:xfrm>
          <a:prstGeom prst="rect">
            <a:avLst/>
          </a:prstGeom>
          <a:solidFill>
            <a:srgbClr val="FFFFFF"/>
          </a:solidFill>
          <a:ln w="6350">
            <a:solidFill>
              <a:srgbClr val="DDCCBB"/>
            </a:solidFill>
            <a:prstDash val="solid"/>
          </a:ln>
        </p:spPr>
      </p:sp>
      <p:sp>
        <p:nvSpPr>
          <p:cNvPr id="97" name="Text 94"/>
          <p:cNvSpPr/>
          <p:nvPr/>
        </p:nvSpPr>
        <p:spPr>
          <a:xfrm>
            <a:off x="320040" y="3813048"/>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Stress Testing</a:t>
            </a:r>
            <a:endParaRPr lang="en-US" sz="900" dirty="0"/>
          </a:p>
        </p:txBody>
      </p:sp>
      <p:sp>
        <p:nvSpPr>
          <p:cNvPr id="98" name="Shape 95"/>
          <p:cNvSpPr/>
          <p:nvPr/>
        </p:nvSpPr>
        <p:spPr>
          <a:xfrm>
            <a:off x="1645920" y="3758184"/>
            <a:ext cx="1188720" cy="310896"/>
          </a:xfrm>
          <a:prstGeom prst="rect">
            <a:avLst/>
          </a:prstGeom>
          <a:solidFill>
            <a:srgbClr val="FFFFFF"/>
          </a:solidFill>
          <a:ln w="6350">
            <a:solidFill>
              <a:srgbClr val="DDCCBB"/>
            </a:solidFill>
            <a:prstDash val="solid"/>
          </a:ln>
        </p:spPr>
      </p:sp>
      <p:sp>
        <p:nvSpPr>
          <p:cNvPr id="99" name="Text 96"/>
          <p:cNvSpPr/>
          <p:nvPr/>
        </p:nvSpPr>
        <p:spPr>
          <a:xfrm>
            <a:off x="1691640" y="3813048"/>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Non-Functional</a:t>
            </a:r>
            <a:endParaRPr lang="en-US" sz="900" dirty="0"/>
          </a:p>
        </p:txBody>
      </p:sp>
      <p:sp>
        <p:nvSpPr>
          <p:cNvPr id="100" name="Shape 97"/>
          <p:cNvSpPr/>
          <p:nvPr/>
        </p:nvSpPr>
        <p:spPr>
          <a:xfrm>
            <a:off x="2834640" y="3758184"/>
            <a:ext cx="1828800" cy="310896"/>
          </a:xfrm>
          <a:prstGeom prst="rect">
            <a:avLst/>
          </a:prstGeom>
          <a:solidFill>
            <a:srgbClr val="FFFFFF"/>
          </a:solidFill>
          <a:ln w="6350">
            <a:solidFill>
              <a:srgbClr val="DDCCBB"/>
            </a:solidFill>
            <a:prstDash val="solid"/>
          </a:ln>
        </p:spPr>
      </p:sp>
      <p:sp>
        <p:nvSpPr>
          <p:cNvPr id="101" name="Text 98"/>
          <p:cNvSpPr/>
          <p:nvPr/>
        </p:nvSpPr>
        <p:spPr>
          <a:xfrm>
            <a:off x="2880360" y="3813048"/>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Find breaking point</a:t>
            </a:r>
            <a:endParaRPr lang="en-US" sz="900" dirty="0"/>
          </a:p>
        </p:txBody>
      </p:sp>
      <p:sp>
        <p:nvSpPr>
          <p:cNvPr id="102" name="Shape 99"/>
          <p:cNvSpPr/>
          <p:nvPr/>
        </p:nvSpPr>
        <p:spPr>
          <a:xfrm>
            <a:off x="4663440" y="3758184"/>
            <a:ext cx="1554480" cy="310896"/>
          </a:xfrm>
          <a:prstGeom prst="rect">
            <a:avLst/>
          </a:prstGeom>
          <a:solidFill>
            <a:srgbClr val="FFFFFF"/>
          </a:solidFill>
          <a:ln w="6350">
            <a:solidFill>
              <a:srgbClr val="DDCCBB"/>
            </a:solidFill>
            <a:prstDash val="solid"/>
          </a:ln>
        </p:spPr>
      </p:sp>
      <p:sp>
        <p:nvSpPr>
          <p:cNvPr id="103" name="Text 100"/>
          <p:cNvSpPr/>
          <p:nvPr/>
        </p:nvSpPr>
        <p:spPr>
          <a:xfrm>
            <a:off x="4709160" y="3813048"/>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JMeter, Locust</a:t>
            </a:r>
            <a:endParaRPr lang="en-US" sz="900" dirty="0"/>
          </a:p>
        </p:txBody>
      </p:sp>
      <p:sp>
        <p:nvSpPr>
          <p:cNvPr id="104" name="Shape 101"/>
          <p:cNvSpPr/>
          <p:nvPr/>
        </p:nvSpPr>
        <p:spPr>
          <a:xfrm>
            <a:off x="6217920" y="3758184"/>
            <a:ext cx="2377440" cy="310896"/>
          </a:xfrm>
          <a:prstGeom prst="rect">
            <a:avLst/>
          </a:prstGeom>
          <a:solidFill>
            <a:srgbClr val="FFFFFF"/>
          </a:solidFill>
          <a:ln w="6350">
            <a:solidFill>
              <a:srgbClr val="DDCCBB"/>
            </a:solidFill>
            <a:prstDash val="solid"/>
          </a:ln>
        </p:spPr>
      </p:sp>
      <p:sp>
        <p:nvSpPr>
          <p:cNvPr id="105" name="Text 102"/>
          <p:cNvSpPr/>
          <p:nvPr/>
        </p:nvSpPr>
        <p:spPr>
          <a:xfrm>
            <a:off x="6263640" y="3813048"/>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Capacity planning</a:t>
            </a:r>
            <a:endParaRPr lang="en-US" sz="900" dirty="0"/>
          </a:p>
        </p:txBody>
      </p:sp>
      <p:sp>
        <p:nvSpPr>
          <p:cNvPr id="106" name="Shape 103"/>
          <p:cNvSpPr/>
          <p:nvPr/>
        </p:nvSpPr>
        <p:spPr>
          <a:xfrm>
            <a:off x="274320" y="4069080"/>
            <a:ext cx="1371600" cy="310896"/>
          </a:xfrm>
          <a:prstGeom prst="rect">
            <a:avLst/>
          </a:prstGeom>
          <a:solidFill>
            <a:srgbClr val="FFF5EE"/>
          </a:solidFill>
          <a:ln w="6350">
            <a:solidFill>
              <a:srgbClr val="DDCCBB"/>
            </a:solidFill>
            <a:prstDash val="solid"/>
          </a:ln>
        </p:spPr>
      </p:sp>
      <p:sp>
        <p:nvSpPr>
          <p:cNvPr id="107" name="Text 104"/>
          <p:cNvSpPr/>
          <p:nvPr/>
        </p:nvSpPr>
        <p:spPr>
          <a:xfrm>
            <a:off x="320040" y="4123944"/>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Spike Testing</a:t>
            </a:r>
            <a:endParaRPr lang="en-US" sz="900" dirty="0"/>
          </a:p>
        </p:txBody>
      </p:sp>
      <p:sp>
        <p:nvSpPr>
          <p:cNvPr id="108" name="Shape 105"/>
          <p:cNvSpPr/>
          <p:nvPr/>
        </p:nvSpPr>
        <p:spPr>
          <a:xfrm>
            <a:off x="1645920" y="4069080"/>
            <a:ext cx="1188720" cy="310896"/>
          </a:xfrm>
          <a:prstGeom prst="rect">
            <a:avLst/>
          </a:prstGeom>
          <a:solidFill>
            <a:srgbClr val="FFF5EE"/>
          </a:solidFill>
          <a:ln w="6350">
            <a:solidFill>
              <a:srgbClr val="DDCCBB"/>
            </a:solidFill>
            <a:prstDash val="solid"/>
          </a:ln>
        </p:spPr>
      </p:sp>
      <p:sp>
        <p:nvSpPr>
          <p:cNvPr id="109" name="Text 106"/>
          <p:cNvSpPr/>
          <p:nvPr/>
        </p:nvSpPr>
        <p:spPr>
          <a:xfrm>
            <a:off x="1691640" y="4123944"/>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Non-Functional</a:t>
            </a:r>
            <a:endParaRPr lang="en-US" sz="900" dirty="0"/>
          </a:p>
        </p:txBody>
      </p:sp>
      <p:sp>
        <p:nvSpPr>
          <p:cNvPr id="110" name="Shape 107"/>
          <p:cNvSpPr/>
          <p:nvPr/>
        </p:nvSpPr>
        <p:spPr>
          <a:xfrm>
            <a:off x="2834640" y="4069080"/>
            <a:ext cx="1828800" cy="310896"/>
          </a:xfrm>
          <a:prstGeom prst="rect">
            <a:avLst/>
          </a:prstGeom>
          <a:solidFill>
            <a:srgbClr val="FFF5EE"/>
          </a:solidFill>
          <a:ln w="6350">
            <a:solidFill>
              <a:srgbClr val="DDCCBB"/>
            </a:solidFill>
            <a:prstDash val="solid"/>
          </a:ln>
        </p:spPr>
      </p:sp>
      <p:sp>
        <p:nvSpPr>
          <p:cNvPr id="111" name="Text 108"/>
          <p:cNvSpPr/>
          <p:nvPr/>
        </p:nvSpPr>
        <p:spPr>
          <a:xfrm>
            <a:off x="2880360" y="4123944"/>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Handle sudden traffic surge</a:t>
            </a:r>
            <a:endParaRPr lang="en-US" sz="900" dirty="0"/>
          </a:p>
        </p:txBody>
      </p:sp>
      <p:sp>
        <p:nvSpPr>
          <p:cNvPr id="112" name="Shape 109"/>
          <p:cNvSpPr/>
          <p:nvPr/>
        </p:nvSpPr>
        <p:spPr>
          <a:xfrm>
            <a:off x="4663440" y="4069080"/>
            <a:ext cx="1554480" cy="310896"/>
          </a:xfrm>
          <a:prstGeom prst="rect">
            <a:avLst/>
          </a:prstGeom>
          <a:solidFill>
            <a:srgbClr val="FFF5EE"/>
          </a:solidFill>
          <a:ln w="6350">
            <a:solidFill>
              <a:srgbClr val="DDCCBB"/>
            </a:solidFill>
            <a:prstDash val="solid"/>
          </a:ln>
        </p:spPr>
      </p:sp>
      <p:sp>
        <p:nvSpPr>
          <p:cNvPr id="113" name="Text 110"/>
          <p:cNvSpPr/>
          <p:nvPr/>
        </p:nvSpPr>
        <p:spPr>
          <a:xfrm>
            <a:off x="4709160" y="4123944"/>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Gatling, k6</a:t>
            </a:r>
            <a:endParaRPr lang="en-US" sz="900" dirty="0"/>
          </a:p>
        </p:txBody>
      </p:sp>
      <p:sp>
        <p:nvSpPr>
          <p:cNvPr id="114" name="Shape 111"/>
          <p:cNvSpPr/>
          <p:nvPr/>
        </p:nvSpPr>
        <p:spPr>
          <a:xfrm>
            <a:off x="6217920" y="4069080"/>
            <a:ext cx="2377440" cy="310896"/>
          </a:xfrm>
          <a:prstGeom prst="rect">
            <a:avLst/>
          </a:prstGeom>
          <a:solidFill>
            <a:srgbClr val="FFF5EE"/>
          </a:solidFill>
          <a:ln w="6350">
            <a:solidFill>
              <a:srgbClr val="DDCCBB"/>
            </a:solidFill>
            <a:prstDash val="solid"/>
          </a:ln>
        </p:spPr>
      </p:sp>
      <p:sp>
        <p:nvSpPr>
          <p:cNvPr id="115" name="Text 112"/>
          <p:cNvSpPr/>
          <p:nvPr/>
        </p:nvSpPr>
        <p:spPr>
          <a:xfrm>
            <a:off x="6263640" y="4123944"/>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viral campaigns</a:t>
            </a:r>
            <a:endParaRPr lang="en-US" sz="900" dirty="0"/>
          </a:p>
        </p:txBody>
      </p:sp>
      <p:sp>
        <p:nvSpPr>
          <p:cNvPr id="116" name="Shape 113"/>
          <p:cNvSpPr/>
          <p:nvPr/>
        </p:nvSpPr>
        <p:spPr>
          <a:xfrm>
            <a:off x="274320" y="4379976"/>
            <a:ext cx="1371600" cy="310896"/>
          </a:xfrm>
          <a:prstGeom prst="rect">
            <a:avLst/>
          </a:prstGeom>
          <a:solidFill>
            <a:srgbClr val="FFFFFF"/>
          </a:solidFill>
          <a:ln w="6350">
            <a:solidFill>
              <a:srgbClr val="DDCCBB"/>
            </a:solidFill>
            <a:prstDash val="solid"/>
          </a:ln>
        </p:spPr>
      </p:sp>
      <p:sp>
        <p:nvSpPr>
          <p:cNvPr id="117" name="Text 114"/>
          <p:cNvSpPr/>
          <p:nvPr/>
        </p:nvSpPr>
        <p:spPr>
          <a:xfrm>
            <a:off x="320040" y="4434840"/>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Endurance Testing</a:t>
            </a:r>
            <a:endParaRPr lang="en-US" sz="900" dirty="0"/>
          </a:p>
        </p:txBody>
      </p:sp>
      <p:sp>
        <p:nvSpPr>
          <p:cNvPr id="118" name="Shape 115"/>
          <p:cNvSpPr/>
          <p:nvPr/>
        </p:nvSpPr>
        <p:spPr>
          <a:xfrm>
            <a:off x="1645920" y="4379976"/>
            <a:ext cx="1188720" cy="310896"/>
          </a:xfrm>
          <a:prstGeom prst="rect">
            <a:avLst/>
          </a:prstGeom>
          <a:solidFill>
            <a:srgbClr val="FFFFFF"/>
          </a:solidFill>
          <a:ln w="6350">
            <a:solidFill>
              <a:srgbClr val="DDCCBB"/>
            </a:solidFill>
            <a:prstDash val="solid"/>
          </a:ln>
        </p:spPr>
      </p:sp>
      <p:sp>
        <p:nvSpPr>
          <p:cNvPr id="119" name="Text 116"/>
          <p:cNvSpPr/>
          <p:nvPr/>
        </p:nvSpPr>
        <p:spPr>
          <a:xfrm>
            <a:off x="1691640" y="4434840"/>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Non-Functional</a:t>
            </a:r>
            <a:endParaRPr lang="en-US" sz="900" dirty="0"/>
          </a:p>
        </p:txBody>
      </p:sp>
      <p:sp>
        <p:nvSpPr>
          <p:cNvPr id="120" name="Shape 117"/>
          <p:cNvSpPr/>
          <p:nvPr/>
        </p:nvSpPr>
        <p:spPr>
          <a:xfrm>
            <a:off x="2834640" y="4379976"/>
            <a:ext cx="1828800" cy="310896"/>
          </a:xfrm>
          <a:prstGeom prst="rect">
            <a:avLst/>
          </a:prstGeom>
          <a:solidFill>
            <a:srgbClr val="FFFFFF"/>
          </a:solidFill>
          <a:ln w="6350">
            <a:solidFill>
              <a:srgbClr val="DDCCBB"/>
            </a:solidFill>
            <a:prstDash val="solid"/>
          </a:ln>
        </p:spPr>
      </p:sp>
      <p:sp>
        <p:nvSpPr>
          <p:cNvPr id="121" name="Text 118"/>
          <p:cNvSpPr/>
          <p:nvPr/>
        </p:nvSpPr>
        <p:spPr>
          <a:xfrm>
            <a:off x="2880360" y="4434840"/>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Long-term stability</a:t>
            </a:r>
            <a:endParaRPr lang="en-US" sz="900" dirty="0"/>
          </a:p>
        </p:txBody>
      </p:sp>
      <p:sp>
        <p:nvSpPr>
          <p:cNvPr id="122" name="Shape 119"/>
          <p:cNvSpPr/>
          <p:nvPr/>
        </p:nvSpPr>
        <p:spPr>
          <a:xfrm>
            <a:off x="4663440" y="4379976"/>
            <a:ext cx="1554480" cy="310896"/>
          </a:xfrm>
          <a:prstGeom prst="rect">
            <a:avLst/>
          </a:prstGeom>
          <a:solidFill>
            <a:srgbClr val="FFFFFF"/>
          </a:solidFill>
          <a:ln w="6350">
            <a:solidFill>
              <a:srgbClr val="DDCCBB"/>
            </a:solidFill>
            <a:prstDash val="solid"/>
          </a:ln>
        </p:spPr>
      </p:sp>
      <p:sp>
        <p:nvSpPr>
          <p:cNvPr id="123" name="Text 120"/>
          <p:cNvSpPr/>
          <p:nvPr/>
        </p:nvSpPr>
        <p:spPr>
          <a:xfrm>
            <a:off x="4709160" y="4434840"/>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JMeter (long runs)</a:t>
            </a:r>
            <a:endParaRPr lang="en-US" sz="900" dirty="0"/>
          </a:p>
        </p:txBody>
      </p:sp>
      <p:sp>
        <p:nvSpPr>
          <p:cNvPr id="124" name="Shape 121"/>
          <p:cNvSpPr/>
          <p:nvPr/>
        </p:nvSpPr>
        <p:spPr>
          <a:xfrm>
            <a:off x="6217920" y="4379976"/>
            <a:ext cx="2377440" cy="310896"/>
          </a:xfrm>
          <a:prstGeom prst="rect">
            <a:avLst/>
          </a:prstGeom>
          <a:solidFill>
            <a:srgbClr val="FFFFFF"/>
          </a:solidFill>
          <a:ln w="6350">
            <a:solidFill>
              <a:srgbClr val="DDCCBB"/>
            </a:solidFill>
            <a:prstDash val="solid"/>
          </a:ln>
        </p:spPr>
      </p:sp>
      <p:sp>
        <p:nvSpPr>
          <p:cNvPr id="125" name="Text 122"/>
          <p:cNvSpPr/>
          <p:nvPr/>
        </p:nvSpPr>
        <p:spPr>
          <a:xfrm>
            <a:off x="6263640" y="4434840"/>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24/7 live systems</a:t>
            </a:r>
            <a:endParaRPr lang="en-US" sz="900" dirty="0"/>
          </a:p>
        </p:txBody>
      </p:sp>
      <p:sp>
        <p:nvSpPr>
          <p:cNvPr id="126" name="Shape 123"/>
          <p:cNvSpPr/>
          <p:nvPr/>
        </p:nvSpPr>
        <p:spPr>
          <a:xfrm>
            <a:off x="274320" y="4690872"/>
            <a:ext cx="1371600" cy="310896"/>
          </a:xfrm>
          <a:prstGeom prst="rect">
            <a:avLst/>
          </a:prstGeom>
          <a:solidFill>
            <a:srgbClr val="FFF5EE"/>
          </a:solidFill>
          <a:ln w="6350">
            <a:solidFill>
              <a:srgbClr val="DDCCBB"/>
            </a:solidFill>
            <a:prstDash val="solid"/>
          </a:ln>
        </p:spPr>
      </p:sp>
      <p:sp>
        <p:nvSpPr>
          <p:cNvPr id="127" name="Text 124"/>
          <p:cNvSpPr/>
          <p:nvPr/>
        </p:nvSpPr>
        <p:spPr>
          <a:xfrm>
            <a:off x="320040" y="4745736"/>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Security Testing</a:t>
            </a:r>
            <a:endParaRPr lang="en-US" sz="900" dirty="0"/>
          </a:p>
        </p:txBody>
      </p:sp>
      <p:sp>
        <p:nvSpPr>
          <p:cNvPr id="128" name="Shape 125"/>
          <p:cNvSpPr/>
          <p:nvPr/>
        </p:nvSpPr>
        <p:spPr>
          <a:xfrm>
            <a:off x="1645920" y="4690872"/>
            <a:ext cx="1188720" cy="310896"/>
          </a:xfrm>
          <a:prstGeom prst="rect">
            <a:avLst/>
          </a:prstGeom>
          <a:solidFill>
            <a:srgbClr val="FFF5EE"/>
          </a:solidFill>
          <a:ln w="6350">
            <a:solidFill>
              <a:srgbClr val="DDCCBB"/>
            </a:solidFill>
            <a:prstDash val="solid"/>
          </a:ln>
        </p:spPr>
      </p:sp>
      <p:sp>
        <p:nvSpPr>
          <p:cNvPr id="129" name="Text 126"/>
          <p:cNvSpPr/>
          <p:nvPr/>
        </p:nvSpPr>
        <p:spPr>
          <a:xfrm>
            <a:off x="1691640" y="4745736"/>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Non-Functional</a:t>
            </a:r>
            <a:endParaRPr lang="en-US" sz="900" dirty="0"/>
          </a:p>
        </p:txBody>
      </p:sp>
      <p:sp>
        <p:nvSpPr>
          <p:cNvPr id="130" name="Shape 127"/>
          <p:cNvSpPr/>
          <p:nvPr/>
        </p:nvSpPr>
        <p:spPr>
          <a:xfrm>
            <a:off x="2834640" y="4690872"/>
            <a:ext cx="1828800" cy="310896"/>
          </a:xfrm>
          <a:prstGeom prst="rect">
            <a:avLst/>
          </a:prstGeom>
          <a:solidFill>
            <a:srgbClr val="FFF5EE"/>
          </a:solidFill>
          <a:ln w="6350">
            <a:solidFill>
              <a:srgbClr val="DDCCBB"/>
            </a:solidFill>
            <a:prstDash val="solid"/>
          </a:ln>
        </p:spPr>
      </p:sp>
      <p:sp>
        <p:nvSpPr>
          <p:cNvPr id="131" name="Text 128"/>
          <p:cNvSpPr/>
          <p:nvPr/>
        </p:nvSpPr>
        <p:spPr>
          <a:xfrm>
            <a:off x="2880360" y="4745736"/>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Find vulnerabilities</a:t>
            </a:r>
            <a:endParaRPr lang="en-US" sz="900" dirty="0"/>
          </a:p>
        </p:txBody>
      </p:sp>
      <p:sp>
        <p:nvSpPr>
          <p:cNvPr id="132" name="Shape 129"/>
          <p:cNvSpPr/>
          <p:nvPr/>
        </p:nvSpPr>
        <p:spPr>
          <a:xfrm>
            <a:off x="4663440" y="4690872"/>
            <a:ext cx="1554480" cy="310896"/>
          </a:xfrm>
          <a:prstGeom prst="rect">
            <a:avLst/>
          </a:prstGeom>
          <a:solidFill>
            <a:srgbClr val="FFF5EE"/>
          </a:solidFill>
          <a:ln w="6350">
            <a:solidFill>
              <a:srgbClr val="DDCCBB"/>
            </a:solidFill>
            <a:prstDash val="solid"/>
          </a:ln>
        </p:spPr>
      </p:sp>
      <p:sp>
        <p:nvSpPr>
          <p:cNvPr id="133" name="Text 130"/>
          <p:cNvSpPr/>
          <p:nvPr/>
        </p:nvSpPr>
        <p:spPr>
          <a:xfrm>
            <a:off x="4709160" y="4745736"/>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OWASP ZAP, Burp Suite</a:t>
            </a:r>
            <a:endParaRPr lang="en-US" sz="900" dirty="0"/>
          </a:p>
        </p:txBody>
      </p:sp>
      <p:sp>
        <p:nvSpPr>
          <p:cNvPr id="134" name="Shape 131"/>
          <p:cNvSpPr/>
          <p:nvPr/>
        </p:nvSpPr>
        <p:spPr>
          <a:xfrm>
            <a:off x="6217920" y="4690872"/>
            <a:ext cx="2377440" cy="310896"/>
          </a:xfrm>
          <a:prstGeom prst="rect">
            <a:avLst/>
          </a:prstGeom>
          <a:solidFill>
            <a:srgbClr val="FFF5EE"/>
          </a:solidFill>
          <a:ln w="6350">
            <a:solidFill>
              <a:srgbClr val="DDCCBB"/>
            </a:solidFill>
            <a:prstDash val="solid"/>
          </a:ln>
        </p:spPr>
      </p:sp>
      <p:sp>
        <p:nvSpPr>
          <p:cNvPr id="135" name="Text 132"/>
          <p:cNvSpPr/>
          <p:nvPr/>
        </p:nvSpPr>
        <p:spPr>
          <a:xfrm>
            <a:off x="6263640" y="4745736"/>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every release</a:t>
            </a:r>
            <a:endParaRPr lang="en-US" sz="900" dirty="0"/>
          </a:p>
        </p:txBody>
      </p:sp>
      <p:sp>
        <p:nvSpPr>
          <p:cNvPr id="136" name="Shape 133"/>
          <p:cNvSpPr/>
          <p:nvPr/>
        </p:nvSpPr>
        <p:spPr>
          <a:xfrm>
            <a:off x="274320" y="5001768"/>
            <a:ext cx="1371600" cy="310896"/>
          </a:xfrm>
          <a:prstGeom prst="rect">
            <a:avLst/>
          </a:prstGeom>
          <a:solidFill>
            <a:srgbClr val="FFFFFF"/>
          </a:solidFill>
          <a:ln w="6350">
            <a:solidFill>
              <a:srgbClr val="DDCCBB"/>
            </a:solidFill>
            <a:prstDash val="solid"/>
          </a:ln>
        </p:spPr>
      </p:sp>
      <p:sp>
        <p:nvSpPr>
          <p:cNvPr id="137" name="Text 134"/>
          <p:cNvSpPr/>
          <p:nvPr/>
        </p:nvSpPr>
        <p:spPr>
          <a:xfrm>
            <a:off x="320040" y="5056632"/>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Usability Testing</a:t>
            </a:r>
            <a:endParaRPr lang="en-US" sz="900" dirty="0"/>
          </a:p>
        </p:txBody>
      </p:sp>
      <p:sp>
        <p:nvSpPr>
          <p:cNvPr id="138" name="Shape 135"/>
          <p:cNvSpPr/>
          <p:nvPr/>
        </p:nvSpPr>
        <p:spPr>
          <a:xfrm>
            <a:off x="1645920" y="5001768"/>
            <a:ext cx="1188720" cy="310896"/>
          </a:xfrm>
          <a:prstGeom prst="rect">
            <a:avLst/>
          </a:prstGeom>
          <a:solidFill>
            <a:srgbClr val="FFFFFF"/>
          </a:solidFill>
          <a:ln w="6350">
            <a:solidFill>
              <a:srgbClr val="DDCCBB"/>
            </a:solidFill>
            <a:prstDash val="solid"/>
          </a:ln>
        </p:spPr>
      </p:sp>
      <p:sp>
        <p:nvSpPr>
          <p:cNvPr id="139" name="Text 136"/>
          <p:cNvSpPr/>
          <p:nvPr/>
        </p:nvSpPr>
        <p:spPr>
          <a:xfrm>
            <a:off x="1691640" y="5056632"/>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Non-Functional</a:t>
            </a:r>
            <a:endParaRPr lang="en-US" sz="900" dirty="0"/>
          </a:p>
        </p:txBody>
      </p:sp>
      <p:sp>
        <p:nvSpPr>
          <p:cNvPr id="140" name="Shape 137"/>
          <p:cNvSpPr/>
          <p:nvPr/>
        </p:nvSpPr>
        <p:spPr>
          <a:xfrm>
            <a:off x="2834640" y="5001768"/>
            <a:ext cx="1828800" cy="310896"/>
          </a:xfrm>
          <a:prstGeom prst="rect">
            <a:avLst/>
          </a:prstGeom>
          <a:solidFill>
            <a:srgbClr val="FFFFFF"/>
          </a:solidFill>
          <a:ln w="6350">
            <a:solidFill>
              <a:srgbClr val="DDCCBB"/>
            </a:solidFill>
            <a:prstDash val="solid"/>
          </a:ln>
        </p:spPr>
      </p:sp>
      <p:sp>
        <p:nvSpPr>
          <p:cNvPr id="141" name="Text 138"/>
          <p:cNvSpPr/>
          <p:nvPr/>
        </p:nvSpPr>
        <p:spPr>
          <a:xfrm>
            <a:off x="2880360" y="5056632"/>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UX quality</a:t>
            </a:r>
            <a:endParaRPr lang="en-US" sz="900" dirty="0"/>
          </a:p>
        </p:txBody>
      </p:sp>
      <p:sp>
        <p:nvSpPr>
          <p:cNvPr id="142" name="Shape 139"/>
          <p:cNvSpPr/>
          <p:nvPr/>
        </p:nvSpPr>
        <p:spPr>
          <a:xfrm>
            <a:off x="4663440" y="5001768"/>
            <a:ext cx="1554480" cy="310896"/>
          </a:xfrm>
          <a:prstGeom prst="rect">
            <a:avLst/>
          </a:prstGeom>
          <a:solidFill>
            <a:srgbClr val="FFFFFF"/>
          </a:solidFill>
          <a:ln w="6350">
            <a:solidFill>
              <a:srgbClr val="DDCCBB"/>
            </a:solidFill>
            <a:prstDash val="solid"/>
          </a:ln>
        </p:spPr>
      </p:sp>
      <p:sp>
        <p:nvSpPr>
          <p:cNvPr id="143" name="Text 140"/>
          <p:cNvSpPr/>
          <p:nvPr/>
        </p:nvSpPr>
        <p:spPr>
          <a:xfrm>
            <a:off x="4709160" y="5056632"/>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Hotjar, UserTesting.com</a:t>
            </a:r>
            <a:endParaRPr lang="en-US" sz="900" dirty="0"/>
          </a:p>
        </p:txBody>
      </p:sp>
      <p:sp>
        <p:nvSpPr>
          <p:cNvPr id="144" name="Shape 141"/>
          <p:cNvSpPr/>
          <p:nvPr/>
        </p:nvSpPr>
        <p:spPr>
          <a:xfrm>
            <a:off x="6217920" y="5001768"/>
            <a:ext cx="2377440" cy="310896"/>
          </a:xfrm>
          <a:prstGeom prst="rect">
            <a:avLst/>
          </a:prstGeom>
          <a:solidFill>
            <a:srgbClr val="FFFFFF"/>
          </a:solidFill>
          <a:ln w="6350">
            <a:solidFill>
              <a:srgbClr val="DDCCBB"/>
            </a:solidFill>
            <a:prstDash val="solid"/>
          </a:ln>
        </p:spPr>
      </p:sp>
      <p:sp>
        <p:nvSpPr>
          <p:cNvPr id="145" name="Text 142"/>
          <p:cNvSpPr/>
          <p:nvPr/>
        </p:nvSpPr>
        <p:spPr>
          <a:xfrm>
            <a:off x="6263640" y="5056632"/>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Design &amp; release phases</a:t>
            </a:r>
            <a:endParaRPr lang="en-US" sz="900" dirty="0"/>
          </a:p>
        </p:txBody>
      </p:sp>
      <p:sp>
        <p:nvSpPr>
          <p:cNvPr id="146" name="Shape 143"/>
          <p:cNvSpPr/>
          <p:nvPr/>
        </p:nvSpPr>
        <p:spPr>
          <a:xfrm>
            <a:off x="274320" y="5312664"/>
            <a:ext cx="1371600" cy="310896"/>
          </a:xfrm>
          <a:prstGeom prst="rect">
            <a:avLst/>
          </a:prstGeom>
          <a:solidFill>
            <a:srgbClr val="FFF5EE"/>
          </a:solidFill>
          <a:ln w="6350">
            <a:solidFill>
              <a:srgbClr val="DDCCBB"/>
            </a:solidFill>
            <a:prstDash val="solid"/>
          </a:ln>
        </p:spPr>
      </p:sp>
      <p:sp>
        <p:nvSpPr>
          <p:cNvPr id="147" name="Text 144"/>
          <p:cNvSpPr/>
          <p:nvPr/>
        </p:nvSpPr>
        <p:spPr>
          <a:xfrm>
            <a:off x="320040" y="5367528"/>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Compatibility Testing</a:t>
            </a:r>
            <a:endParaRPr lang="en-US" sz="900" dirty="0"/>
          </a:p>
        </p:txBody>
      </p:sp>
      <p:sp>
        <p:nvSpPr>
          <p:cNvPr id="148" name="Shape 145"/>
          <p:cNvSpPr/>
          <p:nvPr/>
        </p:nvSpPr>
        <p:spPr>
          <a:xfrm>
            <a:off x="1645920" y="5312664"/>
            <a:ext cx="1188720" cy="310896"/>
          </a:xfrm>
          <a:prstGeom prst="rect">
            <a:avLst/>
          </a:prstGeom>
          <a:solidFill>
            <a:srgbClr val="FFF5EE"/>
          </a:solidFill>
          <a:ln w="6350">
            <a:solidFill>
              <a:srgbClr val="DDCCBB"/>
            </a:solidFill>
            <a:prstDash val="solid"/>
          </a:ln>
        </p:spPr>
      </p:sp>
      <p:sp>
        <p:nvSpPr>
          <p:cNvPr id="149" name="Text 146"/>
          <p:cNvSpPr/>
          <p:nvPr/>
        </p:nvSpPr>
        <p:spPr>
          <a:xfrm>
            <a:off x="1691640" y="5367528"/>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Non-Functional</a:t>
            </a:r>
            <a:endParaRPr lang="en-US" sz="900" dirty="0"/>
          </a:p>
        </p:txBody>
      </p:sp>
      <p:sp>
        <p:nvSpPr>
          <p:cNvPr id="150" name="Shape 147"/>
          <p:cNvSpPr/>
          <p:nvPr/>
        </p:nvSpPr>
        <p:spPr>
          <a:xfrm>
            <a:off x="2834640" y="5312664"/>
            <a:ext cx="1828800" cy="310896"/>
          </a:xfrm>
          <a:prstGeom prst="rect">
            <a:avLst/>
          </a:prstGeom>
          <a:solidFill>
            <a:srgbClr val="FFF5EE"/>
          </a:solidFill>
          <a:ln w="6350">
            <a:solidFill>
              <a:srgbClr val="DDCCBB"/>
            </a:solidFill>
            <a:prstDash val="solid"/>
          </a:ln>
        </p:spPr>
      </p:sp>
      <p:sp>
        <p:nvSpPr>
          <p:cNvPr id="151" name="Text 148"/>
          <p:cNvSpPr/>
          <p:nvPr/>
        </p:nvSpPr>
        <p:spPr>
          <a:xfrm>
            <a:off x="2880360" y="5367528"/>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Cross-browser/device</a:t>
            </a:r>
            <a:endParaRPr lang="en-US" sz="900" dirty="0"/>
          </a:p>
        </p:txBody>
      </p:sp>
      <p:sp>
        <p:nvSpPr>
          <p:cNvPr id="152" name="Shape 149"/>
          <p:cNvSpPr/>
          <p:nvPr/>
        </p:nvSpPr>
        <p:spPr>
          <a:xfrm>
            <a:off x="4663440" y="5312664"/>
            <a:ext cx="1554480" cy="310896"/>
          </a:xfrm>
          <a:prstGeom prst="rect">
            <a:avLst/>
          </a:prstGeom>
          <a:solidFill>
            <a:srgbClr val="FFF5EE"/>
          </a:solidFill>
          <a:ln w="6350">
            <a:solidFill>
              <a:srgbClr val="DDCCBB"/>
            </a:solidFill>
            <a:prstDash val="solid"/>
          </a:ln>
        </p:spPr>
      </p:sp>
      <p:sp>
        <p:nvSpPr>
          <p:cNvPr id="153" name="Text 150"/>
          <p:cNvSpPr/>
          <p:nvPr/>
        </p:nvSpPr>
        <p:spPr>
          <a:xfrm>
            <a:off x="4709160" y="5367528"/>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Playwright, BrowserStack</a:t>
            </a:r>
            <a:endParaRPr lang="en-US" sz="900" dirty="0"/>
          </a:p>
        </p:txBody>
      </p:sp>
      <p:sp>
        <p:nvSpPr>
          <p:cNvPr id="154" name="Shape 151"/>
          <p:cNvSpPr/>
          <p:nvPr/>
        </p:nvSpPr>
        <p:spPr>
          <a:xfrm>
            <a:off x="6217920" y="5312664"/>
            <a:ext cx="2377440" cy="310896"/>
          </a:xfrm>
          <a:prstGeom prst="rect">
            <a:avLst/>
          </a:prstGeom>
          <a:solidFill>
            <a:srgbClr val="FFF5EE"/>
          </a:solidFill>
          <a:ln w="6350">
            <a:solidFill>
              <a:srgbClr val="DDCCBB"/>
            </a:solidFill>
            <a:prstDash val="solid"/>
          </a:ln>
        </p:spPr>
      </p:sp>
      <p:sp>
        <p:nvSpPr>
          <p:cNvPr id="155" name="Text 152"/>
          <p:cNvSpPr/>
          <p:nvPr/>
        </p:nvSpPr>
        <p:spPr>
          <a:xfrm>
            <a:off x="6263640" y="5367528"/>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release</a:t>
            </a:r>
            <a:endParaRPr lang="en-US" sz="900" dirty="0"/>
          </a:p>
        </p:txBody>
      </p:sp>
      <p:sp>
        <p:nvSpPr>
          <p:cNvPr id="156" name="Shape 153"/>
          <p:cNvSpPr/>
          <p:nvPr/>
        </p:nvSpPr>
        <p:spPr>
          <a:xfrm>
            <a:off x="274320" y="5623560"/>
            <a:ext cx="1371600" cy="310896"/>
          </a:xfrm>
          <a:prstGeom prst="rect">
            <a:avLst/>
          </a:prstGeom>
          <a:solidFill>
            <a:srgbClr val="FFFFFF"/>
          </a:solidFill>
          <a:ln w="6350">
            <a:solidFill>
              <a:srgbClr val="DDCCBB"/>
            </a:solidFill>
            <a:prstDash val="solid"/>
          </a:ln>
        </p:spPr>
      </p:sp>
      <p:sp>
        <p:nvSpPr>
          <p:cNvPr id="157" name="Text 154"/>
          <p:cNvSpPr/>
          <p:nvPr/>
        </p:nvSpPr>
        <p:spPr>
          <a:xfrm>
            <a:off x="320040" y="5678424"/>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Reliability Testing</a:t>
            </a:r>
            <a:endParaRPr lang="en-US" sz="900" dirty="0"/>
          </a:p>
        </p:txBody>
      </p:sp>
      <p:sp>
        <p:nvSpPr>
          <p:cNvPr id="158" name="Shape 155"/>
          <p:cNvSpPr/>
          <p:nvPr/>
        </p:nvSpPr>
        <p:spPr>
          <a:xfrm>
            <a:off x="1645920" y="5623560"/>
            <a:ext cx="1188720" cy="310896"/>
          </a:xfrm>
          <a:prstGeom prst="rect">
            <a:avLst/>
          </a:prstGeom>
          <a:solidFill>
            <a:srgbClr val="FFFFFF"/>
          </a:solidFill>
          <a:ln w="6350">
            <a:solidFill>
              <a:srgbClr val="DDCCBB"/>
            </a:solidFill>
            <a:prstDash val="solid"/>
          </a:ln>
        </p:spPr>
      </p:sp>
      <p:sp>
        <p:nvSpPr>
          <p:cNvPr id="159" name="Text 156"/>
          <p:cNvSpPr/>
          <p:nvPr/>
        </p:nvSpPr>
        <p:spPr>
          <a:xfrm>
            <a:off x="1691640" y="5678424"/>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Non-Functional</a:t>
            </a:r>
            <a:endParaRPr lang="en-US" sz="900" dirty="0"/>
          </a:p>
        </p:txBody>
      </p:sp>
      <p:sp>
        <p:nvSpPr>
          <p:cNvPr id="160" name="Shape 157"/>
          <p:cNvSpPr/>
          <p:nvPr/>
        </p:nvSpPr>
        <p:spPr>
          <a:xfrm>
            <a:off x="2834640" y="5623560"/>
            <a:ext cx="1828800" cy="310896"/>
          </a:xfrm>
          <a:prstGeom prst="rect">
            <a:avLst/>
          </a:prstGeom>
          <a:solidFill>
            <a:srgbClr val="FFFFFF"/>
          </a:solidFill>
          <a:ln w="6350">
            <a:solidFill>
              <a:srgbClr val="DDCCBB"/>
            </a:solidFill>
            <a:prstDash val="solid"/>
          </a:ln>
        </p:spPr>
      </p:sp>
      <p:sp>
        <p:nvSpPr>
          <p:cNvPr id="161" name="Text 158"/>
          <p:cNvSpPr/>
          <p:nvPr/>
        </p:nvSpPr>
        <p:spPr>
          <a:xfrm>
            <a:off x="2880360" y="5678424"/>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Consistent stable behaviour</a:t>
            </a:r>
            <a:endParaRPr lang="en-US" sz="900" dirty="0"/>
          </a:p>
        </p:txBody>
      </p:sp>
      <p:sp>
        <p:nvSpPr>
          <p:cNvPr id="162" name="Shape 159"/>
          <p:cNvSpPr/>
          <p:nvPr/>
        </p:nvSpPr>
        <p:spPr>
          <a:xfrm>
            <a:off x="4663440" y="5623560"/>
            <a:ext cx="1554480" cy="310896"/>
          </a:xfrm>
          <a:prstGeom prst="rect">
            <a:avLst/>
          </a:prstGeom>
          <a:solidFill>
            <a:srgbClr val="FFFFFF"/>
          </a:solidFill>
          <a:ln w="6350">
            <a:solidFill>
              <a:srgbClr val="DDCCBB"/>
            </a:solidFill>
            <a:prstDash val="solid"/>
          </a:ln>
        </p:spPr>
      </p:sp>
      <p:sp>
        <p:nvSpPr>
          <p:cNvPr id="163" name="Text 160"/>
          <p:cNvSpPr/>
          <p:nvPr/>
        </p:nvSpPr>
        <p:spPr>
          <a:xfrm>
            <a:off x="4709160" y="5678424"/>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Monitoring + load tools</a:t>
            </a:r>
            <a:endParaRPr lang="en-US" sz="900" dirty="0"/>
          </a:p>
        </p:txBody>
      </p:sp>
      <p:sp>
        <p:nvSpPr>
          <p:cNvPr id="164" name="Shape 161"/>
          <p:cNvSpPr/>
          <p:nvPr/>
        </p:nvSpPr>
        <p:spPr>
          <a:xfrm>
            <a:off x="6217920" y="5623560"/>
            <a:ext cx="2377440" cy="310896"/>
          </a:xfrm>
          <a:prstGeom prst="rect">
            <a:avLst/>
          </a:prstGeom>
          <a:solidFill>
            <a:srgbClr val="FFFFFF"/>
          </a:solidFill>
          <a:ln w="6350">
            <a:solidFill>
              <a:srgbClr val="DDCCBB"/>
            </a:solidFill>
            <a:prstDash val="solid"/>
          </a:ln>
        </p:spPr>
      </p:sp>
      <p:sp>
        <p:nvSpPr>
          <p:cNvPr id="165" name="Text 162"/>
          <p:cNvSpPr/>
          <p:nvPr/>
        </p:nvSpPr>
        <p:spPr>
          <a:xfrm>
            <a:off x="6263640" y="5678424"/>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Ongoing &amp; pre-release</a:t>
            </a:r>
            <a:endParaRPr lang="en-US" sz="900" dirty="0"/>
          </a:p>
        </p:txBody>
      </p:sp>
      <p:sp>
        <p:nvSpPr>
          <p:cNvPr id="166" name="Shape 163"/>
          <p:cNvSpPr/>
          <p:nvPr/>
        </p:nvSpPr>
        <p:spPr>
          <a:xfrm>
            <a:off x="274320" y="5934456"/>
            <a:ext cx="1371600" cy="310896"/>
          </a:xfrm>
          <a:prstGeom prst="rect">
            <a:avLst/>
          </a:prstGeom>
          <a:solidFill>
            <a:srgbClr val="FFF5EE"/>
          </a:solidFill>
          <a:ln w="6350">
            <a:solidFill>
              <a:srgbClr val="DDCCBB"/>
            </a:solidFill>
            <a:prstDash val="solid"/>
          </a:ln>
        </p:spPr>
      </p:sp>
      <p:sp>
        <p:nvSpPr>
          <p:cNvPr id="167" name="Text 164"/>
          <p:cNvSpPr/>
          <p:nvPr/>
        </p:nvSpPr>
        <p:spPr>
          <a:xfrm>
            <a:off x="320040" y="5989320"/>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Scalability Testing</a:t>
            </a:r>
            <a:endParaRPr lang="en-US" sz="900" dirty="0"/>
          </a:p>
        </p:txBody>
      </p:sp>
      <p:sp>
        <p:nvSpPr>
          <p:cNvPr id="168" name="Shape 165"/>
          <p:cNvSpPr/>
          <p:nvPr/>
        </p:nvSpPr>
        <p:spPr>
          <a:xfrm>
            <a:off x="1645920" y="5934456"/>
            <a:ext cx="1188720" cy="310896"/>
          </a:xfrm>
          <a:prstGeom prst="rect">
            <a:avLst/>
          </a:prstGeom>
          <a:solidFill>
            <a:srgbClr val="FFF5EE"/>
          </a:solidFill>
          <a:ln w="6350">
            <a:solidFill>
              <a:srgbClr val="DDCCBB"/>
            </a:solidFill>
            <a:prstDash val="solid"/>
          </a:ln>
        </p:spPr>
      </p:sp>
      <p:sp>
        <p:nvSpPr>
          <p:cNvPr id="169" name="Text 166"/>
          <p:cNvSpPr/>
          <p:nvPr/>
        </p:nvSpPr>
        <p:spPr>
          <a:xfrm>
            <a:off x="1691640" y="5989320"/>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Non-Functional</a:t>
            </a:r>
            <a:endParaRPr lang="en-US" sz="900" dirty="0"/>
          </a:p>
        </p:txBody>
      </p:sp>
      <p:sp>
        <p:nvSpPr>
          <p:cNvPr id="170" name="Shape 167"/>
          <p:cNvSpPr/>
          <p:nvPr/>
        </p:nvSpPr>
        <p:spPr>
          <a:xfrm>
            <a:off x="2834640" y="5934456"/>
            <a:ext cx="1828800" cy="310896"/>
          </a:xfrm>
          <a:prstGeom prst="rect">
            <a:avLst/>
          </a:prstGeom>
          <a:solidFill>
            <a:srgbClr val="FFF5EE"/>
          </a:solidFill>
          <a:ln w="6350">
            <a:solidFill>
              <a:srgbClr val="DDCCBB"/>
            </a:solidFill>
            <a:prstDash val="solid"/>
          </a:ln>
        </p:spPr>
      </p:sp>
      <p:sp>
        <p:nvSpPr>
          <p:cNvPr id="171" name="Text 168"/>
          <p:cNvSpPr/>
          <p:nvPr/>
        </p:nvSpPr>
        <p:spPr>
          <a:xfrm>
            <a:off x="2880360" y="5989320"/>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Handle growth</a:t>
            </a:r>
            <a:endParaRPr lang="en-US" sz="900" dirty="0"/>
          </a:p>
        </p:txBody>
      </p:sp>
      <p:sp>
        <p:nvSpPr>
          <p:cNvPr id="172" name="Shape 169"/>
          <p:cNvSpPr/>
          <p:nvPr/>
        </p:nvSpPr>
        <p:spPr>
          <a:xfrm>
            <a:off x="4663440" y="5934456"/>
            <a:ext cx="1554480" cy="310896"/>
          </a:xfrm>
          <a:prstGeom prst="rect">
            <a:avLst/>
          </a:prstGeom>
          <a:solidFill>
            <a:srgbClr val="FFF5EE"/>
          </a:solidFill>
          <a:ln w="6350">
            <a:solidFill>
              <a:srgbClr val="DDCCBB"/>
            </a:solidFill>
            <a:prstDash val="solid"/>
          </a:ln>
        </p:spPr>
      </p:sp>
      <p:sp>
        <p:nvSpPr>
          <p:cNvPr id="173" name="Text 170"/>
          <p:cNvSpPr/>
          <p:nvPr/>
        </p:nvSpPr>
        <p:spPr>
          <a:xfrm>
            <a:off x="4709160" y="5989320"/>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JMeter, cloud load tools</a:t>
            </a:r>
            <a:endParaRPr lang="en-US" sz="900" dirty="0"/>
          </a:p>
        </p:txBody>
      </p:sp>
      <p:sp>
        <p:nvSpPr>
          <p:cNvPr id="174" name="Shape 171"/>
          <p:cNvSpPr/>
          <p:nvPr/>
        </p:nvSpPr>
        <p:spPr>
          <a:xfrm>
            <a:off x="6217920" y="5934456"/>
            <a:ext cx="2377440" cy="310896"/>
          </a:xfrm>
          <a:prstGeom prst="rect">
            <a:avLst/>
          </a:prstGeom>
          <a:solidFill>
            <a:srgbClr val="FFF5EE"/>
          </a:solidFill>
          <a:ln w="6350">
            <a:solidFill>
              <a:srgbClr val="DDCCBB"/>
            </a:solidFill>
            <a:prstDash val="solid"/>
          </a:ln>
        </p:spPr>
      </p:sp>
      <p:sp>
        <p:nvSpPr>
          <p:cNvPr id="175" name="Text 172"/>
          <p:cNvSpPr/>
          <p:nvPr/>
        </p:nvSpPr>
        <p:spPr>
          <a:xfrm>
            <a:off x="6263640" y="5989320"/>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scale-up events</a:t>
            </a:r>
            <a:endParaRPr lang="en-US" sz="900" dirty="0"/>
          </a:p>
        </p:txBody>
      </p:sp>
      <p:sp>
        <p:nvSpPr>
          <p:cNvPr id="176" name="Shape 173"/>
          <p:cNvSpPr/>
          <p:nvPr/>
        </p:nvSpPr>
        <p:spPr>
          <a:xfrm>
            <a:off x="274320" y="6245352"/>
            <a:ext cx="1371600" cy="310896"/>
          </a:xfrm>
          <a:prstGeom prst="rect">
            <a:avLst/>
          </a:prstGeom>
          <a:solidFill>
            <a:srgbClr val="FFFFFF"/>
          </a:solidFill>
          <a:ln w="6350">
            <a:solidFill>
              <a:srgbClr val="DDCCBB"/>
            </a:solidFill>
            <a:prstDash val="solid"/>
          </a:ln>
        </p:spPr>
      </p:sp>
      <p:sp>
        <p:nvSpPr>
          <p:cNvPr id="177" name="Text 174"/>
          <p:cNvSpPr/>
          <p:nvPr/>
        </p:nvSpPr>
        <p:spPr>
          <a:xfrm>
            <a:off x="320040" y="6300216"/>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Exploratory Testing</a:t>
            </a:r>
            <a:endParaRPr lang="en-US" sz="900" dirty="0"/>
          </a:p>
        </p:txBody>
      </p:sp>
      <p:sp>
        <p:nvSpPr>
          <p:cNvPr id="178" name="Shape 175"/>
          <p:cNvSpPr/>
          <p:nvPr/>
        </p:nvSpPr>
        <p:spPr>
          <a:xfrm>
            <a:off x="1645920" y="6245352"/>
            <a:ext cx="1188720" cy="310896"/>
          </a:xfrm>
          <a:prstGeom prst="rect">
            <a:avLst/>
          </a:prstGeom>
          <a:solidFill>
            <a:srgbClr val="FFFFFF"/>
          </a:solidFill>
          <a:ln w="6350">
            <a:solidFill>
              <a:srgbClr val="DDCCBB"/>
            </a:solidFill>
            <a:prstDash val="solid"/>
          </a:ln>
        </p:spPr>
      </p:sp>
      <p:sp>
        <p:nvSpPr>
          <p:cNvPr id="179" name="Text 176"/>
          <p:cNvSpPr/>
          <p:nvPr/>
        </p:nvSpPr>
        <p:spPr>
          <a:xfrm>
            <a:off x="1691640" y="6300216"/>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Manual</a:t>
            </a:r>
            <a:endParaRPr lang="en-US" sz="900" dirty="0"/>
          </a:p>
        </p:txBody>
      </p:sp>
      <p:sp>
        <p:nvSpPr>
          <p:cNvPr id="180" name="Shape 177"/>
          <p:cNvSpPr/>
          <p:nvPr/>
        </p:nvSpPr>
        <p:spPr>
          <a:xfrm>
            <a:off x="2834640" y="6245352"/>
            <a:ext cx="1828800" cy="310896"/>
          </a:xfrm>
          <a:prstGeom prst="rect">
            <a:avLst/>
          </a:prstGeom>
          <a:solidFill>
            <a:srgbClr val="FFFFFF"/>
          </a:solidFill>
          <a:ln w="6350">
            <a:solidFill>
              <a:srgbClr val="DDCCBB"/>
            </a:solidFill>
            <a:prstDash val="solid"/>
          </a:ln>
        </p:spPr>
      </p:sp>
      <p:sp>
        <p:nvSpPr>
          <p:cNvPr id="181" name="Text 178"/>
          <p:cNvSpPr/>
          <p:nvPr/>
        </p:nvSpPr>
        <p:spPr>
          <a:xfrm>
            <a:off x="2880360" y="6300216"/>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Discover unknown risks</a:t>
            </a:r>
            <a:endParaRPr lang="en-US" sz="900" dirty="0"/>
          </a:p>
        </p:txBody>
      </p:sp>
      <p:sp>
        <p:nvSpPr>
          <p:cNvPr id="182" name="Shape 179"/>
          <p:cNvSpPr/>
          <p:nvPr/>
        </p:nvSpPr>
        <p:spPr>
          <a:xfrm>
            <a:off x="4663440" y="6245352"/>
            <a:ext cx="1554480" cy="310896"/>
          </a:xfrm>
          <a:prstGeom prst="rect">
            <a:avLst/>
          </a:prstGeom>
          <a:solidFill>
            <a:srgbClr val="FFFFFF"/>
          </a:solidFill>
          <a:ln w="6350">
            <a:solidFill>
              <a:srgbClr val="DDCCBB"/>
            </a:solidFill>
            <a:prstDash val="solid"/>
          </a:ln>
        </p:spPr>
      </p:sp>
      <p:sp>
        <p:nvSpPr>
          <p:cNvPr id="183" name="Text 180"/>
          <p:cNvSpPr/>
          <p:nvPr/>
        </p:nvSpPr>
        <p:spPr>
          <a:xfrm>
            <a:off x="4709160" y="6300216"/>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Manual (human-led)</a:t>
            </a:r>
            <a:endParaRPr lang="en-US" sz="900" dirty="0"/>
          </a:p>
        </p:txBody>
      </p:sp>
      <p:sp>
        <p:nvSpPr>
          <p:cNvPr id="184" name="Shape 181"/>
          <p:cNvSpPr/>
          <p:nvPr/>
        </p:nvSpPr>
        <p:spPr>
          <a:xfrm>
            <a:off x="6217920" y="6245352"/>
            <a:ext cx="2377440" cy="310896"/>
          </a:xfrm>
          <a:prstGeom prst="rect">
            <a:avLst/>
          </a:prstGeom>
          <a:solidFill>
            <a:srgbClr val="FFFFFF"/>
          </a:solidFill>
          <a:ln w="6350">
            <a:solidFill>
              <a:srgbClr val="DDCCBB"/>
            </a:solidFill>
            <a:prstDash val="solid"/>
          </a:ln>
        </p:spPr>
      </p:sp>
      <p:sp>
        <p:nvSpPr>
          <p:cNvPr id="185" name="Text 182"/>
          <p:cNvSpPr/>
          <p:nvPr/>
        </p:nvSpPr>
        <p:spPr>
          <a:xfrm>
            <a:off x="6263640" y="6300216"/>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After system testing</a:t>
            </a:r>
            <a:endParaRPr lang="en-US" sz="900" dirty="0"/>
          </a:p>
        </p:txBody>
      </p:sp>
      <p:sp>
        <p:nvSpPr>
          <p:cNvPr id="186" name="Shape 183"/>
          <p:cNvSpPr/>
          <p:nvPr/>
        </p:nvSpPr>
        <p:spPr>
          <a:xfrm>
            <a:off x="274320" y="6556248"/>
            <a:ext cx="1371600" cy="310896"/>
          </a:xfrm>
          <a:prstGeom prst="rect">
            <a:avLst/>
          </a:prstGeom>
          <a:solidFill>
            <a:srgbClr val="FFF5EE"/>
          </a:solidFill>
          <a:ln w="6350">
            <a:solidFill>
              <a:srgbClr val="DDCCBB"/>
            </a:solidFill>
            <a:prstDash val="solid"/>
          </a:ln>
        </p:spPr>
      </p:sp>
      <p:sp>
        <p:nvSpPr>
          <p:cNvPr id="187" name="Text 184"/>
          <p:cNvSpPr/>
          <p:nvPr/>
        </p:nvSpPr>
        <p:spPr>
          <a:xfrm>
            <a:off x="320040" y="6611112"/>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Ad-hoc Testing</a:t>
            </a:r>
            <a:endParaRPr lang="en-US" sz="900" dirty="0"/>
          </a:p>
        </p:txBody>
      </p:sp>
      <p:sp>
        <p:nvSpPr>
          <p:cNvPr id="188" name="Shape 185"/>
          <p:cNvSpPr/>
          <p:nvPr/>
        </p:nvSpPr>
        <p:spPr>
          <a:xfrm>
            <a:off x="1645920" y="6556248"/>
            <a:ext cx="1188720" cy="310896"/>
          </a:xfrm>
          <a:prstGeom prst="rect">
            <a:avLst/>
          </a:prstGeom>
          <a:solidFill>
            <a:srgbClr val="FFF5EE"/>
          </a:solidFill>
          <a:ln w="6350">
            <a:solidFill>
              <a:srgbClr val="DDCCBB"/>
            </a:solidFill>
            <a:prstDash val="solid"/>
          </a:ln>
        </p:spPr>
      </p:sp>
      <p:sp>
        <p:nvSpPr>
          <p:cNvPr id="189" name="Text 186"/>
          <p:cNvSpPr/>
          <p:nvPr/>
        </p:nvSpPr>
        <p:spPr>
          <a:xfrm>
            <a:off x="1691640" y="6611112"/>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Manual</a:t>
            </a:r>
            <a:endParaRPr lang="en-US" sz="900" dirty="0"/>
          </a:p>
        </p:txBody>
      </p:sp>
      <p:sp>
        <p:nvSpPr>
          <p:cNvPr id="190" name="Shape 187"/>
          <p:cNvSpPr/>
          <p:nvPr/>
        </p:nvSpPr>
        <p:spPr>
          <a:xfrm>
            <a:off x="2834640" y="6556248"/>
            <a:ext cx="1828800" cy="310896"/>
          </a:xfrm>
          <a:prstGeom prst="rect">
            <a:avLst/>
          </a:prstGeom>
          <a:solidFill>
            <a:srgbClr val="FFF5EE"/>
          </a:solidFill>
          <a:ln w="6350">
            <a:solidFill>
              <a:srgbClr val="DDCCBB"/>
            </a:solidFill>
            <a:prstDash val="solid"/>
          </a:ln>
        </p:spPr>
      </p:sp>
      <p:sp>
        <p:nvSpPr>
          <p:cNvPr id="191" name="Text 188"/>
          <p:cNvSpPr/>
          <p:nvPr/>
        </p:nvSpPr>
        <p:spPr>
          <a:xfrm>
            <a:off x="2880360" y="6611112"/>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Informal quick checks</a:t>
            </a:r>
            <a:endParaRPr lang="en-US" sz="900" dirty="0"/>
          </a:p>
        </p:txBody>
      </p:sp>
      <p:sp>
        <p:nvSpPr>
          <p:cNvPr id="192" name="Shape 189"/>
          <p:cNvSpPr/>
          <p:nvPr/>
        </p:nvSpPr>
        <p:spPr>
          <a:xfrm>
            <a:off x="4663440" y="6556248"/>
            <a:ext cx="1554480" cy="310896"/>
          </a:xfrm>
          <a:prstGeom prst="rect">
            <a:avLst/>
          </a:prstGeom>
          <a:solidFill>
            <a:srgbClr val="FFF5EE"/>
          </a:solidFill>
          <a:ln w="6350">
            <a:solidFill>
              <a:srgbClr val="DDCCBB"/>
            </a:solidFill>
            <a:prstDash val="solid"/>
          </a:ln>
        </p:spPr>
      </p:sp>
      <p:sp>
        <p:nvSpPr>
          <p:cNvPr id="193" name="Text 190"/>
          <p:cNvSpPr/>
          <p:nvPr/>
        </p:nvSpPr>
        <p:spPr>
          <a:xfrm>
            <a:off x="4709160" y="6611112"/>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Manual</a:t>
            </a:r>
            <a:endParaRPr lang="en-US" sz="900" dirty="0"/>
          </a:p>
        </p:txBody>
      </p:sp>
      <p:sp>
        <p:nvSpPr>
          <p:cNvPr id="194" name="Shape 191"/>
          <p:cNvSpPr/>
          <p:nvPr/>
        </p:nvSpPr>
        <p:spPr>
          <a:xfrm>
            <a:off x="6217920" y="6556248"/>
            <a:ext cx="2377440" cy="310896"/>
          </a:xfrm>
          <a:prstGeom prst="rect">
            <a:avLst/>
          </a:prstGeom>
          <a:solidFill>
            <a:srgbClr val="FFF5EE"/>
          </a:solidFill>
          <a:ln w="6350">
            <a:solidFill>
              <a:srgbClr val="DDCCBB"/>
            </a:solidFill>
            <a:prstDash val="solid"/>
          </a:ln>
        </p:spPr>
      </p:sp>
      <p:sp>
        <p:nvSpPr>
          <p:cNvPr id="195" name="Text 192"/>
          <p:cNvSpPr/>
          <p:nvPr/>
        </p:nvSpPr>
        <p:spPr>
          <a:xfrm>
            <a:off x="6263640" y="6611112"/>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Any time — supplementary</a:t>
            </a:r>
            <a:endParaRPr lang="en-US" sz="900" dirty="0"/>
          </a:p>
        </p:txBody>
      </p:sp>
      <p:sp>
        <p:nvSpPr>
          <p:cNvPr id="196" name="Shape 193"/>
          <p:cNvSpPr/>
          <p:nvPr/>
        </p:nvSpPr>
        <p:spPr>
          <a:xfrm>
            <a:off x="274320" y="6867144"/>
            <a:ext cx="1371600" cy="310896"/>
          </a:xfrm>
          <a:prstGeom prst="rect">
            <a:avLst/>
          </a:prstGeom>
          <a:solidFill>
            <a:srgbClr val="FFFFFF"/>
          </a:solidFill>
          <a:ln w="6350">
            <a:solidFill>
              <a:srgbClr val="DDCCBB"/>
            </a:solidFill>
            <a:prstDash val="solid"/>
          </a:ln>
        </p:spPr>
      </p:sp>
      <p:sp>
        <p:nvSpPr>
          <p:cNvPr id="197" name="Text 194"/>
          <p:cNvSpPr/>
          <p:nvPr/>
        </p:nvSpPr>
        <p:spPr>
          <a:xfrm>
            <a:off x="320040" y="6922008"/>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Alpha Testing</a:t>
            </a:r>
            <a:endParaRPr lang="en-US" sz="900" dirty="0"/>
          </a:p>
        </p:txBody>
      </p:sp>
      <p:sp>
        <p:nvSpPr>
          <p:cNvPr id="198" name="Shape 195"/>
          <p:cNvSpPr/>
          <p:nvPr/>
        </p:nvSpPr>
        <p:spPr>
          <a:xfrm>
            <a:off x="1645920" y="6867144"/>
            <a:ext cx="1188720" cy="310896"/>
          </a:xfrm>
          <a:prstGeom prst="rect">
            <a:avLst/>
          </a:prstGeom>
          <a:solidFill>
            <a:srgbClr val="FFFFFF"/>
          </a:solidFill>
          <a:ln w="6350">
            <a:solidFill>
              <a:srgbClr val="DDCCBB"/>
            </a:solidFill>
            <a:prstDash val="solid"/>
          </a:ln>
        </p:spPr>
      </p:sp>
      <p:sp>
        <p:nvSpPr>
          <p:cNvPr id="199" name="Text 196"/>
          <p:cNvSpPr/>
          <p:nvPr/>
        </p:nvSpPr>
        <p:spPr>
          <a:xfrm>
            <a:off x="1691640" y="6922008"/>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UAT/Internal</a:t>
            </a:r>
            <a:endParaRPr lang="en-US" sz="900" dirty="0"/>
          </a:p>
        </p:txBody>
      </p:sp>
      <p:sp>
        <p:nvSpPr>
          <p:cNvPr id="200" name="Shape 197"/>
          <p:cNvSpPr/>
          <p:nvPr/>
        </p:nvSpPr>
        <p:spPr>
          <a:xfrm>
            <a:off x="2834640" y="6867144"/>
            <a:ext cx="1828800" cy="310896"/>
          </a:xfrm>
          <a:prstGeom prst="rect">
            <a:avLst/>
          </a:prstGeom>
          <a:solidFill>
            <a:srgbClr val="FFFFFF"/>
          </a:solidFill>
          <a:ln w="6350">
            <a:solidFill>
              <a:srgbClr val="DDCCBB"/>
            </a:solidFill>
            <a:prstDash val="solid"/>
          </a:ln>
        </p:spPr>
      </p:sp>
      <p:sp>
        <p:nvSpPr>
          <p:cNvPr id="201" name="Text 198"/>
          <p:cNvSpPr/>
          <p:nvPr/>
        </p:nvSpPr>
        <p:spPr>
          <a:xfrm>
            <a:off x="2880360" y="6922008"/>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Internal pre-release</a:t>
            </a:r>
            <a:endParaRPr lang="en-US" sz="900" dirty="0"/>
          </a:p>
        </p:txBody>
      </p:sp>
      <p:sp>
        <p:nvSpPr>
          <p:cNvPr id="202" name="Shape 199"/>
          <p:cNvSpPr/>
          <p:nvPr/>
        </p:nvSpPr>
        <p:spPr>
          <a:xfrm>
            <a:off x="4663440" y="6867144"/>
            <a:ext cx="1554480" cy="310896"/>
          </a:xfrm>
          <a:prstGeom prst="rect">
            <a:avLst/>
          </a:prstGeom>
          <a:solidFill>
            <a:srgbClr val="FFFFFF"/>
          </a:solidFill>
          <a:ln w="6350">
            <a:solidFill>
              <a:srgbClr val="DDCCBB"/>
            </a:solidFill>
            <a:prstDash val="solid"/>
          </a:ln>
        </p:spPr>
      </p:sp>
      <p:sp>
        <p:nvSpPr>
          <p:cNvPr id="203" name="Text 200"/>
          <p:cNvSpPr/>
          <p:nvPr/>
        </p:nvSpPr>
        <p:spPr>
          <a:xfrm>
            <a:off x="4709160" y="6922008"/>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All applicable tools</a:t>
            </a:r>
            <a:endParaRPr lang="en-US" sz="900" dirty="0"/>
          </a:p>
        </p:txBody>
      </p:sp>
      <p:sp>
        <p:nvSpPr>
          <p:cNvPr id="204" name="Shape 201"/>
          <p:cNvSpPr/>
          <p:nvPr/>
        </p:nvSpPr>
        <p:spPr>
          <a:xfrm>
            <a:off x="6217920" y="6867144"/>
            <a:ext cx="2377440" cy="310896"/>
          </a:xfrm>
          <a:prstGeom prst="rect">
            <a:avLst/>
          </a:prstGeom>
          <a:solidFill>
            <a:srgbClr val="FFFFFF"/>
          </a:solidFill>
          <a:ln w="6350">
            <a:solidFill>
              <a:srgbClr val="DDCCBB"/>
            </a:solidFill>
            <a:prstDash val="solid"/>
          </a:ln>
        </p:spPr>
      </p:sp>
      <p:sp>
        <p:nvSpPr>
          <p:cNvPr id="205" name="Text 202"/>
          <p:cNvSpPr/>
          <p:nvPr/>
        </p:nvSpPr>
        <p:spPr>
          <a:xfrm>
            <a:off x="6263640" y="6922008"/>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beta release</a:t>
            </a:r>
            <a:endParaRPr lang="en-US" sz="900" dirty="0"/>
          </a:p>
        </p:txBody>
      </p:sp>
      <p:sp>
        <p:nvSpPr>
          <p:cNvPr id="206" name="Shape 203"/>
          <p:cNvSpPr/>
          <p:nvPr/>
        </p:nvSpPr>
        <p:spPr>
          <a:xfrm>
            <a:off x="274320" y="7178040"/>
            <a:ext cx="1371600" cy="310896"/>
          </a:xfrm>
          <a:prstGeom prst="rect">
            <a:avLst/>
          </a:prstGeom>
          <a:solidFill>
            <a:srgbClr val="FFF5EE"/>
          </a:solidFill>
          <a:ln w="6350">
            <a:solidFill>
              <a:srgbClr val="DDCCBB"/>
            </a:solidFill>
            <a:prstDash val="solid"/>
          </a:ln>
        </p:spPr>
      </p:sp>
      <p:sp>
        <p:nvSpPr>
          <p:cNvPr id="207" name="Text 204"/>
          <p:cNvSpPr/>
          <p:nvPr/>
        </p:nvSpPr>
        <p:spPr>
          <a:xfrm>
            <a:off x="320040" y="7232904"/>
            <a:ext cx="12801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Beta Testing</a:t>
            </a:r>
            <a:endParaRPr lang="en-US" sz="900" dirty="0"/>
          </a:p>
        </p:txBody>
      </p:sp>
      <p:sp>
        <p:nvSpPr>
          <p:cNvPr id="208" name="Shape 205"/>
          <p:cNvSpPr/>
          <p:nvPr/>
        </p:nvSpPr>
        <p:spPr>
          <a:xfrm>
            <a:off x="1645920" y="7178040"/>
            <a:ext cx="1188720" cy="310896"/>
          </a:xfrm>
          <a:prstGeom prst="rect">
            <a:avLst/>
          </a:prstGeom>
          <a:solidFill>
            <a:srgbClr val="FFF5EE"/>
          </a:solidFill>
          <a:ln w="6350">
            <a:solidFill>
              <a:srgbClr val="DDCCBB"/>
            </a:solidFill>
            <a:prstDash val="solid"/>
          </a:ln>
        </p:spPr>
      </p:sp>
      <p:sp>
        <p:nvSpPr>
          <p:cNvPr id="209" name="Text 206"/>
          <p:cNvSpPr/>
          <p:nvPr/>
        </p:nvSpPr>
        <p:spPr>
          <a:xfrm>
            <a:off x="1691640" y="7232904"/>
            <a:ext cx="109728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UAT/External</a:t>
            </a:r>
            <a:endParaRPr lang="en-US" sz="900" dirty="0"/>
          </a:p>
        </p:txBody>
      </p:sp>
      <p:sp>
        <p:nvSpPr>
          <p:cNvPr id="210" name="Shape 207"/>
          <p:cNvSpPr/>
          <p:nvPr/>
        </p:nvSpPr>
        <p:spPr>
          <a:xfrm>
            <a:off x="2834640" y="7178040"/>
            <a:ext cx="1828800" cy="310896"/>
          </a:xfrm>
          <a:prstGeom prst="rect">
            <a:avLst/>
          </a:prstGeom>
          <a:solidFill>
            <a:srgbClr val="FFF5EE"/>
          </a:solidFill>
          <a:ln w="6350">
            <a:solidFill>
              <a:srgbClr val="DDCCBB"/>
            </a:solidFill>
            <a:prstDash val="solid"/>
          </a:ln>
        </p:spPr>
      </p:sp>
      <p:sp>
        <p:nvSpPr>
          <p:cNvPr id="211" name="Text 208"/>
          <p:cNvSpPr/>
          <p:nvPr/>
        </p:nvSpPr>
        <p:spPr>
          <a:xfrm>
            <a:off x="2880360" y="7232904"/>
            <a:ext cx="173736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Real-user validation</a:t>
            </a:r>
            <a:endParaRPr lang="en-US" sz="900" dirty="0"/>
          </a:p>
        </p:txBody>
      </p:sp>
      <p:sp>
        <p:nvSpPr>
          <p:cNvPr id="212" name="Shape 209"/>
          <p:cNvSpPr/>
          <p:nvPr/>
        </p:nvSpPr>
        <p:spPr>
          <a:xfrm>
            <a:off x="4663440" y="7178040"/>
            <a:ext cx="1554480" cy="310896"/>
          </a:xfrm>
          <a:prstGeom prst="rect">
            <a:avLst/>
          </a:prstGeom>
          <a:solidFill>
            <a:srgbClr val="FFF5EE"/>
          </a:solidFill>
          <a:ln w="6350">
            <a:solidFill>
              <a:srgbClr val="DDCCBB"/>
            </a:solidFill>
            <a:prstDash val="solid"/>
          </a:ln>
        </p:spPr>
      </p:sp>
      <p:sp>
        <p:nvSpPr>
          <p:cNvPr id="213" name="Text 210"/>
          <p:cNvSpPr/>
          <p:nvPr/>
        </p:nvSpPr>
        <p:spPr>
          <a:xfrm>
            <a:off x="4709160" y="7232904"/>
            <a:ext cx="146304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Production monitoring</a:t>
            </a:r>
            <a:endParaRPr lang="en-US" sz="900" dirty="0"/>
          </a:p>
        </p:txBody>
      </p:sp>
      <p:sp>
        <p:nvSpPr>
          <p:cNvPr id="214" name="Shape 211"/>
          <p:cNvSpPr/>
          <p:nvPr/>
        </p:nvSpPr>
        <p:spPr>
          <a:xfrm>
            <a:off x="6217920" y="7178040"/>
            <a:ext cx="2377440" cy="310896"/>
          </a:xfrm>
          <a:prstGeom prst="rect">
            <a:avLst/>
          </a:prstGeom>
          <a:solidFill>
            <a:srgbClr val="FFF5EE"/>
          </a:solidFill>
          <a:ln w="6350">
            <a:solidFill>
              <a:srgbClr val="DDCCBB"/>
            </a:solidFill>
            <a:prstDash val="solid"/>
          </a:ln>
        </p:spPr>
      </p:sp>
      <p:sp>
        <p:nvSpPr>
          <p:cNvPr id="215" name="Text 212"/>
          <p:cNvSpPr/>
          <p:nvPr/>
        </p:nvSpPr>
        <p:spPr>
          <a:xfrm>
            <a:off x="6263640" y="7232904"/>
            <a:ext cx="2286000" cy="201168"/>
          </a:xfrm>
          <a:prstGeom prst="rect">
            <a:avLst/>
          </a:prstGeom>
          <a:noFill/>
          <a:ln/>
        </p:spPr>
        <p:txBody>
          <a:bodyPr wrap="square" lIns="0" tIns="0" rIns="0" bIns="0" rtlCol="0" anchor="ctr"/>
          <a:lstStyle/>
          <a:p>
            <a:pPr marL="0" indent="0">
              <a:buNone/>
            </a:pPr>
            <a:r>
              <a:rPr lang="en-US" sz="900" dirty="0">
                <a:solidFill>
                  <a:srgbClr val="1E1E1E"/>
                </a:solidFill>
                <a:latin typeface="Calibri" pitchFamily="34" charset="0"/>
                <a:ea typeface="Calibri" pitchFamily="34" charset="-122"/>
                <a:cs typeface="Calibri" pitchFamily="34" charset="-120"/>
              </a:rPr>
              <a:t>Before public launch</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4F4"/>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8670D"/>
          </a:solidFill>
          <a:ln/>
        </p:spPr>
      </p:sp>
      <p:sp>
        <p:nvSpPr>
          <p:cNvPr id="3" name="Text 1"/>
          <p:cNvSpPr/>
          <p:nvPr/>
        </p:nvSpPr>
        <p:spPr>
          <a:xfrm>
            <a:off x="292608" y="54864"/>
            <a:ext cx="768096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Takeaways</a:t>
            </a:r>
            <a:endParaRPr lang="en-US" sz="2200" dirty="0"/>
          </a:p>
        </p:txBody>
      </p:sp>
      <p:sp>
        <p:nvSpPr>
          <p:cNvPr id="4" name="Text 2"/>
          <p:cNvSpPr/>
          <p:nvPr/>
        </p:nvSpPr>
        <p:spPr>
          <a:xfrm>
            <a:off x="292608" y="658368"/>
            <a:ext cx="7498080"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The most important concepts from this training session</a:t>
            </a:r>
            <a:endParaRPr lang="en-US" sz="1100" dirty="0"/>
          </a:p>
        </p:txBody>
      </p:sp>
      <p:sp>
        <p:nvSpPr>
          <p:cNvPr id="6" name="Shape 3"/>
          <p:cNvSpPr/>
          <p:nvPr/>
        </p:nvSpPr>
        <p:spPr>
          <a:xfrm>
            <a:off x="274320" y="987552"/>
            <a:ext cx="8595360" cy="512064"/>
          </a:xfrm>
          <a:prstGeom prst="rect">
            <a:avLst/>
          </a:prstGeom>
          <a:solidFill>
            <a:srgbClr val="FFFFFF"/>
          </a:solidFill>
          <a:ln/>
          <a:effectLst>
            <a:outerShdw blurRad="101600" dist="38100" dir="8100000" algn="bl" rotWithShape="0">
              <a:srgbClr val="000000">
                <a:alpha val="18000"/>
              </a:srgbClr>
            </a:outerShdw>
          </a:effectLst>
        </p:spPr>
      </p:sp>
      <p:sp>
        <p:nvSpPr>
          <p:cNvPr id="7" name="Shape 4"/>
          <p:cNvSpPr/>
          <p:nvPr/>
        </p:nvSpPr>
        <p:spPr>
          <a:xfrm>
            <a:off x="292608" y="1042416"/>
            <a:ext cx="402336" cy="402336"/>
          </a:xfrm>
          <a:prstGeom prst="line">
            <a:avLst/>
          </a:prstGeom>
          <a:solidFill>
            <a:srgbClr val="E8670D"/>
          </a:solidFill>
          <a:ln/>
        </p:spPr>
      </p:sp>
      <p:sp>
        <p:nvSpPr>
          <p:cNvPr id="8" name="Text 5"/>
          <p:cNvSpPr/>
          <p:nvPr/>
        </p:nvSpPr>
        <p:spPr>
          <a:xfrm>
            <a:off x="292608" y="1060704"/>
            <a:ext cx="402336"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804672" y="1042416"/>
            <a:ext cx="2286000" cy="201168"/>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Testing is a discipline, not a phase:</a:t>
            </a:r>
            <a:endParaRPr lang="en-US" sz="1050" dirty="0"/>
          </a:p>
        </p:txBody>
      </p:sp>
      <p:sp>
        <p:nvSpPr>
          <p:cNvPr id="10" name="Text 7"/>
          <p:cNvSpPr/>
          <p:nvPr/>
        </p:nvSpPr>
        <p:spPr>
          <a:xfrm>
            <a:off x="804672" y="1261872"/>
            <a:ext cx="795528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Quality engineering runs throughout the entire SDLC — from requirements to post-production monitoring. Shift-left means finding bugs earlier, where they are cheapest to fix.</a:t>
            </a:r>
            <a:endParaRPr lang="en-US" sz="950" dirty="0"/>
          </a:p>
        </p:txBody>
      </p:sp>
      <p:sp>
        <p:nvSpPr>
          <p:cNvPr id="11" name="Shape 8"/>
          <p:cNvSpPr/>
          <p:nvPr/>
        </p:nvSpPr>
        <p:spPr>
          <a:xfrm>
            <a:off x="274320" y="1572768"/>
            <a:ext cx="8595360" cy="512064"/>
          </a:xfrm>
          <a:prstGeom prst="rect">
            <a:avLst/>
          </a:prstGeom>
          <a:solidFill>
            <a:srgbClr val="FFFFFF"/>
          </a:solidFill>
          <a:ln/>
          <a:effectLst>
            <a:outerShdw blurRad="101600" dist="38100" dir="8100000" algn="bl" rotWithShape="0">
              <a:srgbClr val="000000">
                <a:alpha val="18000"/>
              </a:srgbClr>
            </a:outerShdw>
          </a:effectLst>
        </p:spPr>
      </p:sp>
      <p:sp>
        <p:nvSpPr>
          <p:cNvPr id="12" name="Shape 9"/>
          <p:cNvSpPr/>
          <p:nvPr/>
        </p:nvSpPr>
        <p:spPr>
          <a:xfrm>
            <a:off x="292608" y="1627632"/>
            <a:ext cx="402336" cy="402336"/>
          </a:xfrm>
          <a:prstGeom prst="line">
            <a:avLst/>
          </a:prstGeom>
          <a:solidFill>
            <a:srgbClr val="1E1E1E"/>
          </a:solidFill>
          <a:ln/>
        </p:spPr>
      </p:sp>
      <p:sp>
        <p:nvSpPr>
          <p:cNvPr id="13" name="Text 10"/>
          <p:cNvSpPr/>
          <p:nvPr/>
        </p:nvSpPr>
        <p:spPr>
          <a:xfrm>
            <a:off x="292608" y="1645920"/>
            <a:ext cx="402336"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804672" y="1627632"/>
            <a:ext cx="2286000" cy="201168"/>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Know your categories:</a:t>
            </a:r>
            <a:endParaRPr lang="en-US" sz="1050" dirty="0"/>
          </a:p>
        </p:txBody>
      </p:sp>
      <p:sp>
        <p:nvSpPr>
          <p:cNvPr id="15" name="Text 12"/>
          <p:cNvSpPr/>
          <p:nvPr/>
        </p:nvSpPr>
        <p:spPr>
          <a:xfrm>
            <a:off x="804672" y="1847088"/>
            <a:ext cx="795528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Every test type belongs to a category: Functional/Non-Functional, Manual/Automated. Understanding the category tells you why the test exists and how to approach it.</a:t>
            </a:r>
            <a:endParaRPr lang="en-US" sz="950" dirty="0"/>
          </a:p>
        </p:txBody>
      </p:sp>
      <p:sp>
        <p:nvSpPr>
          <p:cNvPr id="16" name="Shape 13"/>
          <p:cNvSpPr/>
          <p:nvPr/>
        </p:nvSpPr>
        <p:spPr>
          <a:xfrm>
            <a:off x="274320" y="2157984"/>
            <a:ext cx="8595360" cy="512064"/>
          </a:xfrm>
          <a:prstGeom prst="rect">
            <a:avLst/>
          </a:prstGeom>
          <a:solidFill>
            <a:srgbClr val="FFFFFF"/>
          </a:solidFill>
          <a:ln/>
          <a:effectLst>
            <a:outerShdw blurRad="101600" dist="38100" dir="8100000" algn="bl" rotWithShape="0">
              <a:srgbClr val="000000">
                <a:alpha val="18000"/>
              </a:srgbClr>
            </a:outerShdw>
          </a:effectLst>
        </p:spPr>
      </p:sp>
      <p:sp>
        <p:nvSpPr>
          <p:cNvPr id="17" name="Shape 14"/>
          <p:cNvSpPr/>
          <p:nvPr/>
        </p:nvSpPr>
        <p:spPr>
          <a:xfrm>
            <a:off x="292608" y="2212848"/>
            <a:ext cx="402336" cy="402336"/>
          </a:xfrm>
          <a:prstGeom prst="line">
            <a:avLst/>
          </a:prstGeom>
          <a:solidFill>
            <a:srgbClr val="E8670D"/>
          </a:solidFill>
          <a:ln/>
        </p:spPr>
      </p:sp>
      <p:sp>
        <p:nvSpPr>
          <p:cNvPr id="18" name="Text 15"/>
          <p:cNvSpPr/>
          <p:nvPr/>
        </p:nvSpPr>
        <p:spPr>
          <a:xfrm>
            <a:off x="292608" y="2231136"/>
            <a:ext cx="402336"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p:nvPr/>
        </p:nvSpPr>
        <p:spPr>
          <a:xfrm>
            <a:off x="804672" y="2203704"/>
            <a:ext cx="2286000" cy="201168"/>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Functional + Non-Functional = Complete testing:</a:t>
            </a:r>
            <a:endParaRPr lang="en-US" sz="1050" dirty="0"/>
          </a:p>
        </p:txBody>
      </p:sp>
      <p:sp>
        <p:nvSpPr>
          <p:cNvPr id="20" name="Text 17"/>
          <p:cNvSpPr/>
          <p:nvPr/>
        </p:nvSpPr>
        <p:spPr>
          <a:xfrm>
            <a:off x="804672" y="2459736"/>
            <a:ext cx="795528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Functional testing confirms the app works. Non-functional testing confirms it performs, scales, and is secure. You need BOTH — one without the other leaves critical gaps.</a:t>
            </a:r>
            <a:endParaRPr lang="en-US" sz="950" dirty="0"/>
          </a:p>
        </p:txBody>
      </p:sp>
      <p:sp>
        <p:nvSpPr>
          <p:cNvPr id="21" name="Shape 18"/>
          <p:cNvSpPr/>
          <p:nvPr/>
        </p:nvSpPr>
        <p:spPr>
          <a:xfrm>
            <a:off x="274320" y="2743200"/>
            <a:ext cx="8595360" cy="512064"/>
          </a:xfrm>
          <a:prstGeom prst="rect">
            <a:avLst/>
          </a:prstGeom>
          <a:solidFill>
            <a:srgbClr val="FFFFFF"/>
          </a:solidFill>
          <a:ln/>
          <a:effectLst>
            <a:outerShdw blurRad="101600" dist="38100" dir="8100000" algn="bl" rotWithShape="0">
              <a:srgbClr val="000000">
                <a:alpha val="18000"/>
              </a:srgbClr>
            </a:outerShdw>
          </a:effectLst>
        </p:spPr>
      </p:sp>
      <p:sp>
        <p:nvSpPr>
          <p:cNvPr id="22" name="Shape 19"/>
          <p:cNvSpPr/>
          <p:nvPr/>
        </p:nvSpPr>
        <p:spPr>
          <a:xfrm>
            <a:off x="292608" y="2798064"/>
            <a:ext cx="402336" cy="402336"/>
          </a:xfrm>
          <a:prstGeom prst="line">
            <a:avLst/>
          </a:prstGeom>
          <a:solidFill>
            <a:srgbClr val="1E1E1E"/>
          </a:solidFill>
          <a:ln/>
        </p:spPr>
      </p:sp>
      <p:sp>
        <p:nvSpPr>
          <p:cNvPr id="23" name="Text 20"/>
          <p:cNvSpPr/>
          <p:nvPr/>
        </p:nvSpPr>
        <p:spPr>
          <a:xfrm>
            <a:off x="292608" y="2816352"/>
            <a:ext cx="402336"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1"/>
          <p:cNvSpPr/>
          <p:nvPr/>
        </p:nvSpPr>
        <p:spPr>
          <a:xfrm>
            <a:off x="804672" y="2798064"/>
            <a:ext cx="2286000" cy="201168"/>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Automate what is stable and repetitive:</a:t>
            </a:r>
            <a:endParaRPr lang="en-US" sz="1050" dirty="0"/>
          </a:p>
        </p:txBody>
      </p:sp>
      <p:sp>
        <p:nvSpPr>
          <p:cNvPr id="25" name="Text 22"/>
          <p:cNvSpPr/>
          <p:nvPr/>
        </p:nvSpPr>
        <p:spPr>
          <a:xfrm>
            <a:off x="804672" y="3017520"/>
            <a:ext cx="795528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Regression suites, smoke tests, and CI/CD gates are perfect for Selenium and Playwright automation. Exploratory, usability, and one-off tests stay manual.</a:t>
            </a:r>
            <a:endParaRPr lang="en-US" sz="950" dirty="0"/>
          </a:p>
        </p:txBody>
      </p:sp>
      <p:sp>
        <p:nvSpPr>
          <p:cNvPr id="26" name="Shape 23"/>
          <p:cNvSpPr/>
          <p:nvPr/>
        </p:nvSpPr>
        <p:spPr>
          <a:xfrm>
            <a:off x="274320" y="3328416"/>
            <a:ext cx="8595360" cy="512064"/>
          </a:xfrm>
          <a:prstGeom prst="rect">
            <a:avLst/>
          </a:prstGeom>
          <a:solidFill>
            <a:srgbClr val="FFFFFF"/>
          </a:solidFill>
          <a:ln/>
          <a:effectLst>
            <a:outerShdw blurRad="101600" dist="38100" dir="8100000" algn="bl" rotWithShape="0">
              <a:srgbClr val="000000">
                <a:alpha val="18000"/>
              </a:srgbClr>
            </a:outerShdw>
          </a:effectLst>
        </p:spPr>
      </p:sp>
      <p:sp>
        <p:nvSpPr>
          <p:cNvPr id="27" name="Shape 24"/>
          <p:cNvSpPr/>
          <p:nvPr/>
        </p:nvSpPr>
        <p:spPr>
          <a:xfrm>
            <a:off x="292608" y="3383280"/>
            <a:ext cx="402336" cy="402336"/>
          </a:xfrm>
          <a:prstGeom prst="line">
            <a:avLst/>
          </a:prstGeom>
          <a:solidFill>
            <a:srgbClr val="E8670D"/>
          </a:solidFill>
          <a:ln/>
        </p:spPr>
      </p:sp>
      <p:sp>
        <p:nvSpPr>
          <p:cNvPr id="28" name="Text 25"/>
          <p:cNvSpPr/>
          <p:nvPr/>
        </p:nvSpPr>
        <p:spPr>
          <a:xfrm>
            <a:off x="292608" y="3401568"/>
            <a:ext cx="402336"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6"/>
          <p:cNvSpPr/>
          <p:nvPr/>
        </p:nvSpPr>
        <p:spPr>
          <a:xfrm>
            <a:off x="804672" y="3383280"/>
            <a:ext cx="2286000" cy="201168"/>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Selenium &amp; Playwright are your core tools:</a:t>
            </a:r>
            <a:endParaRPr lang="en-US" sz="1050" dirty="0"/>
          </a:p>
        </p:txBody>
      </p:sp>
      <p:sp>
        <p:nvSpPr>
          <p:cNvPr id="30" name="Text 27"/>
          <p:cNvSpPr/>
          <p:nvPr/>
        </p:nvSpPr>
        <p:spPr>
          <a:xfrm>
            <a:off x="804672" y="3602736"/>
            <a:ext cx="795528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Selenium (Java/IntelliJ/Eclipse) for established projects. Playwright for modern, fast, cross-browser automation. Both are industry standards at Lubanzi.</a:t>
            </a:r>
            <a:endParaRPr lang="en-US" sz="950" dirty="0"/>
          </a:p>
        </p:txBody>
      </p:sp>
      <p:sp>
        <p:nvSpPr>
          <p:cNvPr id="31" name="Shape 28"/>
          <p:cNvSpPr/>
          <p:nvPr/>
        </p:nvSpPr>
        <p:spPr>
          <a:xfrm>
            <a:off x="274320" y="3913632"/>
            <a:ext cx="8595360" cy="512064"/>
          </a:xfrm>
          <a:prstGeom prst="rect">
            <a:avLst/>
          </a:prstGeom>
          <a:solidFill>
            <a:srgbClr val="FFFFFF"/>
          </a:solidFill>
          <a:ln/>
          <a:effectLst>
            <a:outerShdw blurRad="101600" dist="38100" dir="8100000" algn="bl" rotWithShape="0">
              <a:srgbClr val="000000">
                <a:alpha val="18000"/>
              </a:srgbClr>
            </a:outerShdw>
          </a:effectLst>
        </p:spPr>
      </p:sp>
      <p:sp>
        <p:nvSpPr>
          <p:cNvPr id="32" name="Shape 29"/>
          <p:cNvSpPr/>
          <p:nvPr/>
        </p:nvSpPr>
        <p:spPr>
          <a:xfrm>
            <a:off x="292608" y="3968496"/>
            <a:ext cx="402336" cy="402336"/>
          </a:xfrm>
          <a:prstGeom prst="line">
            <a:avLst/>
          </a:prstGeom>
          <a:solidFill>
            <a:srgbClr val="1E1E1E"/>
          </a:solidFill>
          <a:ln/>
        </p:spPr>
      </p:sp>
      <p:sp>
        <p:nvSpPr>
          <p:cNvPr id="33" name="Text 30"/>
          <p:cNvSpPr/>
          <p:nvPr/>
        </p:nvSpPr>
        <p:spPr>
          <a:xfrm>
            <a:off x="292608" y="3986784"/>
            <a:ext cx="402336"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Text 31"/>
          <p:cNvSpPr/>
          <p:nvPr/>
        </p:nvSpPr>
        <p:spPr>
          <a:xfrm>
            <a:off x="804672" y="3968496"/>
            <a:ext cx="2286000" cy="201168"/>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Every testing type has a purpose:</a:t>
            </a:r>
            <a:endParaRPr lang="en-US" sz="1050" dirty="0"/>
          </a:p>
        </p:txBody>
      </p:sp>
      <p:sp>
        <p:nvSpPr>
          <p:cNvPr id="35" name="Text 32"/>
          <p:cNvSpPr/>
          <p:nvPr/>
        </p:nvSpPr>
        <p:spPr>
          <a:xfrm>
            <a:off x="804672" y="4187952"/>
            <a:ext cx="795528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No testing type is redundant. Smoke tests protect your execution time. Regression protects existing quality. Security testing protects your users. Apply each at the right moment.</a:t>
            </a:r>
            <a:endParaRPr lang="en-US" sz="950" dirty="0"/>
          </a:p>
        </p:txBody>
      </p:sp>
      <p:sp>
        <p:nvSpPr>
          <p:cNvPr id="36" name="Shape 33"/>
          <p:cNvSpPr/>
          <p:nvPr/>
        </p:nvSpPr>
        <p:spPr>
          <a:xfrm>
            <a:off x="274320" y="4498848"/>
            <a:ext cx="8595360" cy="512064"/>
          </a:xfrm>
          <a:prstGeom prst="rect">
            <a:avLst/>
          </a:prstGeom>
          <a:solidFill>
            <a:srgbClr val="FFFFFF"/>
          </a:solidFill>
          <a:ln/>
          <a:effectLst>
            <a:outerShdw blurRad="101600" dist="38100" dir="8100000" algn="bl" rotWithShape="0">
              <a:srgbClr val="000000">
                <a:alpha val="18000"/>
              </a:srgbClr>
            </a:outerShdw>
          </a:effectLst>
        </p:spPr>
      </p:sp>
      <p:sp>
        <p:nvSpPr>
          <p:cNvPr id="37" name="Shape 34"/>
          <p:cNvSpPr/>
          <p:nvPr/>
        </p:nvSpPr>
        <p:spPr>
          <a:xfrm>
            <a:off x="292608" y="4553712"/>
            <a:ext cx="402336" cy="402336"/>
          </a:xfrm>
          <a:prstGeom prst="line">
            <a:avLst/>
          </a:prstGeom>
          <a:solidFill>
            <a:srgbClr val="E8670D"/>
          </a:solidFill>
          <a:ln/>
        </p:spPr>
      </p:sp>
      <p:sp>
        <p:nvSpPr>
          <p:cNvPr id="38" name="Text 35"/>
          <p:cNvSpPr/>
          <p:nvPr/>
        </p:nvSpPr>
        <p:spPr>
          <a:xfrm>
            <a:off x="292608" y="4572000"/>
            <a:ext cx="402336"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9" name="Text 36"/>
          <p:cNvSpPr/>
          <p:nvPr/>
        </p:nvSpPr>
        <p:spPr>
          <a:xfrm>
            <a:off x="804672" y="4553712"/>
            <a:ext cx="2286000" cy="201168"/>
          </a:xfrm>
          <a:prstGeom prst="rect">
            <a:avLst/>
          </a:prstGeom>
          <a:noFill/>
          <a:ln/>
        </p:spPr>
        <p:txBody>
          <a:bodyPr wrap="square" lIns="0" tIns="0" rIns="0" bIns="0" rtlCol="0" anchor="ctr"/>
          <a:lstStyle/>
          <a:p>
            <a:pPr marL="0" indent="0">
              <a:buNone/>
            </a:pPr>
            <a:r>
              <a:rPr lang="en-US" sz="1050" b="1" dirty="0">
                <a:solidFill>
                  <a:srgbClr val="1E1E1E"/>
                </a:solidFill>
                <a:latin typeface="Calibri" pitchFamily="34" charset="0"/>
                <a:ea typeface="Calibri" pitchFamily="34" charset="-122"/>
                <a:cs typeface="Calibri" pitchFamily="34" charset="-120"/>
              </a:rPr>
              <a:t>Measure, learn, and improve:</a:t>
            </a:r>
            <a:endParaRPr lang="en-US" sz="1050" dirty="0"/>
          </a:p>
        </p:txBody>
      </p:sp>
      <p:sp>
        <p:nvSpPr>
          <p:cNvPr id="40" name="Text 37"/>
          <p:cNvSpPr/>
          <p:nvPr/>
        </p:nvSpPr>
        <p:spPr>
          <a:xfrm>
            <a:off x="804672" y="4773168"/>
            <a:ext cx="7955280" cy="18288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Track defect density, test coverage, and automation percentage. Use metrics to continuously improve your QA practice. Data-driven QA engineering is the mark of a senior professional.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5509</TotalTime>
  <Words>9465</Words>
  <Application>Microsoft Office PowerPoint</Application>
  <PresentationFormat>On-screen Show (16:9)</PresentationFormat>
  <Paragraphs>1073</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Software Testing — Lubanzi Quality Engineering</dc:title>
  <dc:subject>PptxGenJS Presentation</dc:subject>
  <dc:creator>PptxGenJS</dc:creator>
  <cp:lastModifiedBy>Isaac Mahlangu (Lubanzi ICT Consulting)</cp:lastModifiedBy>
  <cp:revision>8</cp:revision>
  <dcterms:created xsi:type="dcterms:W3CDTF">2026-04-12T09:03:16Z</dcterms:created>
  <dcterms:modified xsi:type="dcterms:W3CDTF">2026-04-20T09:44:08Z</dcterms:modified>
</cp:coreProperties>
</file>