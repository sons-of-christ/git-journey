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76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What We Will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Agenda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Introduction to Testing Techniques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9105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91056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6968" y="1627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Categories: Black Box, White Box, Grey 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" y="2258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Black Box Testing Techniques (Full Detail)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52928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68" y="2889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White Box Testing Techniques (Full Detail)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8386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83864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83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6968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Grey Box Testing Techniques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53035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" y="4151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Static vs Dynamic Testing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96012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960120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960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21808" y="9966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Experience-Based Testing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59105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591056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21808" y="1627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Risk-Based Testing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222199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221992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221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21808" y="2258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Test Design in Automation (Selenium / Playwright)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28529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852928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321808" y="2889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Real-World Application Scenario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48386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483864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483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11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321808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Best Practices &amp; Common Mistakes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411480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4114800"/>
            <a:ext cx="530352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321808" y="4151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Summary &amp; Q&amp;A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920240"/>
            <a:ext cx="8686800" cy="54864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 to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00"/>
                </a:solidFill>
              </a:rPr>
              <a:t>Testing Techniques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Understanding the foundation of structured software quality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8229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4389120"/>
            <a:ext cx="822960" cy="36576"/>
          </a:xfrm>
          <a:prstGeom prst="rect">
            <a:avLst/>
          </a:prstGeom>
          <a:solidFill>
            <a:srgbClr val="FF6B00">
              <a:alpha val="89000"/>
            </a:srgbClr>
          </a:solidFill>
          <a:ln w="12700">
            <a:solidFill>
              <a:srgbClr val="FF6B00">
                <a:alpha val="89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4389120"/>
            <a:ext cx="822960" cy="36576"/>
          </a:xfrm>
          <a:prstGeom prst="rect">
            <a:avLst/>
          </a:prstGeom>
          <a:solidFill>
            <a:srgbClr val="FF6B00">
              <a:alpha val="78000"/>
            </a:srgbClr>
          </a:solidFill>
          <a:ln w="12700">
            <a:solidFill>
              <a:srgbClr val="FF6B00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4389120"/>
            <a:ext cx="822960" cy="36576"/>
          </a:xfrm>
          <a:prstGeom prst="rect">
            <a:avLst/>
          </a:prstGeom>
          <a:solidFill>
            <a:srgbClr val="FF6B00">
              <a:alpha val="67000"/>
            </a:srgbClr>
          </a:solidFill>
          <a:ln w="12700">
            <a:solidFill>
              <a:srgbClr val="FF6B00">
                <a:alpha val="6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4389120"/>
            <a:ext cx="822960" cy="36576"/>
          </a:xfrm>
          <a:prstGeom prst="rect">
            <a:avLst/>
          </a:prstGeom>
          <a:solidFill>
            <a:srgbClr val="FF6B00">
              <a:alpha val="56000"/>
            </a:srgbClr>
          </a:solidFill>
          <a:ln w="12700">
            <a:solidFill>
              <a:srgbClr val="FF6B00">
                <a:alpha val="5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4389120"/>
            <a:ext cx="822960" cy="36576"/>
          </a:xfrm>
          <a:prstGeom prst="rect">
            <a:avLst/>
          </a:prstGeom>
          <a:solidFill>
            <a:srgbClr val="FF6B00">
              <a:alpha val="45000"/>
            </a:srgbClr>
          </a:solidFill>
          <a:ln w="12700">
            <a:solidFill>
              <a:srgbClr val="FF6B00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389120"/>
            <a:ext cx="822960" cy="36576"/>
          </a:xfrm>
          <a:prstGeom prst="rect">
            <a:avLst/>
          </a:prstGeom>
          <a:solidFill>
            <a:srgbClr val="FF6B00">
              <a:alpha val="34000"/>
            </a:srgbClr>
          </a:solidFill>
          <a:ln w="12700">
            <a:solidFill>
              <a:srgbClr val="FF6B00">
                <a:alpha val="3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389120"/>
            <a:ext cx="822960" cy="36576"/>
          </a:xfrm>
          <a:prstGeom prst="rect">
            <a:avLst/>
          </a:prstGeom>
          <a:solidFill>
            <a:srgbClr val="FF6B00">
              <a:alpha val="23000"/>
            </a:srgbClr>
          </a:solidFill>
          <a:ln w="12700">
            <a:solidFill>
              <a:srgbClr val="FF6B00">
                <a:alpha val="23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Are Software Testing Techniques?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01 — Introduction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Introduction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2618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Software Testing Techniques are structured, systematic methods used to design, select, and execute test cases that validate whether a software application meets its requirements and functions correctly in all expected — and unexpected — scenarios.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03120"/>
            <a:ext cx="40690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03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45059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Rather than testing randomly, techniques provide a defined strategy for selecting what to test and how to test it — ensuring nothing critical is missed.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10312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103120"/>
            <a:ext cx="40690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03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 Maximization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45059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Techniques help identify all relevant inputs, states, and conditions to be tested, minimizing gaps in test coverage.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29000"/>
            <a:ext cx="40690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29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Defect Detection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7647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Each technique targets specific types of defects — boundary errors, logic flaws, state issues — allowing teams to find bugs efficiently.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4290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429000"/>
            <a:ext cx="40690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29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Industry Alignment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77647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All major QA frameworks (ISTQB, IEEE 829) and automation tools (Selenium, Playwright) are built around these proven techniques.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Testing Techniques Are Important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01 — Introduction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Introduction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Industry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00"/>
                </a:solidFill>
              </a:rPr>
              <a:t>80%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of software defects found in testing never reach production when proper techniques are applied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00"/>
                </a:solidFill>
              </a:rPr>
              <a:t>60%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reduction in test case redundancy when using structured techniques vs random testing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00"/>
                </a:solidFill>
              </a:rPr>
              <a:t>$1.5T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" y="4251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lost globally each year due to poor software quality (Consortium for IT Software Quality)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96012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960120"/>
            <a:ext cx="347472" cy="67665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6012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12464" y="1014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Prevents Costly Production Bugs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12464" y="1271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Finding a bug in production costs 10–100× more than finding it during testing. Proper techniques surface defects early.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173736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1737360"/>
            <a:ext cx="347472" cy="67665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73736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12464" y="1792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Improves Test Coverage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12464" y="2048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Techniques ensure edge cases, boundary values, and complex logic paths are systematically tested — not guessed.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51460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514600"/>
            <a:ext cx="347472" cy="67665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51460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12464" y="2569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Enables Repeatable, Reliable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12464" y="2825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Documented techniques make tests reproducible across team members, releases, and environments.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29184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291840"/>
            <a:ext cx="347472" cy="67665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29184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12464" y="3346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Supports Automation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12464" y="3602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Tools like Selenium and Playwright rely on the same principles — equivalence partitioning, boundary analysis — to build robust automated test suites.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06908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4069080"/>
            <a:ext cx="347472" cy="67665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06908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712464" y="4123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Satisfies Regulatory Requirements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12464" y="4379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In industries like banking, healthcare, and aerospace, using documented testing techniques is often a compliance requirement.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Categories of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00"/>
                </a:solidFill>
              </a:rPr>
              <a:t>Testing Techniques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Black Box  •  White Box  •  Grey Box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Categories of Testing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Three Fundamental Perspectives on Software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Categories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" y="96012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" y="960120"/>
            <a:ext cx="283464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 Box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External Behavior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" y="16002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The tester has NO knowledge of the internal code, architecture, or implementation. Testing is based entirely on input/output behavior and requirements.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" y="2487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Primarily used by: QA Engineers, End Users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" y="2761488"/>
            <a:ext cx="2606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8163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Key Techniques: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" y="30175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Equivalence Partitioning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" y="32461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Boundary Value Analysis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6616" y="3474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Decision Table Testing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6616" y="37033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State Transition Testing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6616" y="39319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Use Case Testing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" y="41605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Error Guessing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18688" y="96012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960120"/>
            <a:ext cx="2834640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White Box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28416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9B0"/>
                </a:solidFill>
              </a:rPr>
              <a:t>Internal 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16002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The tester has FULL knowledge of the internal code structure, logic, and implementation. Tests are designed based on the source code itself.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2487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Primarily used by: Developers, Senior QA Engineers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28416" y="2761488"/>
            <a:ext cx="2606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28163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Key Techniques: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30175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Statement Coverage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28416" y="32461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Branch Coverage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28416" y="3474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Path Coverage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28416" y="37033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Loop Testing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28416" y="39319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Control Flow Testing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90488" y="96012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0488" y="960120"/>
            <a:ext cx="2834640" cy="56692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96012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Grey Box Testing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0216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Hybrid Approach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0216" y="16002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The tester has PARTIAL knowledge of the internal system — typically the architecture and data structures but not the full source code. Combines both approaches.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0216" y="2487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Primarily used by: QA Engineers with Dev background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0216" y="2761488"/>
            <a:ext cx="260604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8163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Key Techniques: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0216" y="30175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Integration Testing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0216" y="32461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Penetration Testing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0216" y="3474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Database Testing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00216" y="37033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Web Service / API Testing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Comparison: Black Box vs White Box vs Grey Box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At-a-Glance Reference Guide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Categories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5020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Black Box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White Box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Grey Box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Knowledge of Code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Full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Who Performs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QA Testers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Developers / Senior QA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QA Engineers w/ dev skills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Test Basis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Requirements &amp; Specs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Source Code &amp; Logic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Architecture + Specs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Focus Area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External behavior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Internal paths/logic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Integration &amp; security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Strengths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User-perspective, broad coverage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Deep code logic coverage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Balanced, realistic scenarios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Limitations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Misses internal logic gaps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Requires code access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Complexity in hybrid approach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Automation Tools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Selenium, Playwright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JUnit, JaCoCo, Emma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Postman, Burp Suite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</a:rPr>
                        <a:t>ISTQB 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Specification-based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Structure-based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Experience + Structure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Black Box Testing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00"/>
                </a:solidFill>
              </a:rPr>
              <a:t>Techniques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Testing from the user's perspective — no internal knowledge required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00"/>
                </a:solidFill>
              </a:rPr>
              <a:t>▸  Equivalence Partitioning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Boundary Value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Decision Table Testing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00"/>
                </a:solidFill>
              </a:rPr>
              <a:t>▸  State Transition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Use Case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Error Guessing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Equivalence Partitioning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Black Box Technique #1 — Definition &amp; Purpose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1188720" cy="2468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BLACK BOX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960120"/>
            <a:ext cx="64008" cy="7772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00"/>
                </a:solidFill>
              </a:rPr>
              <a:t>Definition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1216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Equivalence Partitioning (EP) divides the range of possible input values into groups (partitions or classes) where all values in a group are expected to be processed identically by the software. One test case is then selected from each partition to represent the entire group.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2834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20240"/>
            <a:ext cx="283464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 Partition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233172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Inputs that the system SHOULD accept and process correctly. Tests in this class verify that the system handles expected values properly.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566160"/>
            <a:ext cx="1005840" cy="2468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661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85876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Age field (18–65): Testing with 35 — valid, expected to pass.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920240"/>
            <a:ext cx="2834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920240"/>
            <a:ext cx="28346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Invalid Partition (Low)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233172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Inputs BELOW the valid range. These should be rejected by the system with an appropriate error message.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566160"/>
            <a:ext cx="1005840" cy="2468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5661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55848" y="385876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Age field: Testing with 5 — below minimum, should be rejected.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2834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920240"/>
            <a:ext cx="28346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Invalid Partition (High)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7648" y="2331720"/>
            <a:ext cx="2633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Inputs ABOVE the valid range. These should also trigger validation errors and be handled gracefully.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27648" y="3566160"/>
            <a:ext cx="1005840" cy="2468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5661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385876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Age field: Testing with 200 — above maximum, should be rejected.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Equivalence Partitioning — Step-by-Step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How to Apply This Technique in Practice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527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Identify the Input Field / Parameter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13990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Identify each input field or parameter that needs to be tested. Example: A registration form has fields for Name, Email, Age, and Password.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243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9848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Determine the Valid Range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9848" y="27706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Read the requirements to understand what values are considered valid. Example: Age must be between 18 and 65 (inclusive).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9959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95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9848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Define the Partitions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" y="41422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Create at least three partitions: one valid class and at least one invalid class on each side (below and above).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527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52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Select One Representative Value per Partition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13990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Pick any one value from each partition. The key insight: if one value in a partition works/fails, they all should.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6243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4688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Design Test Cases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27706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Write one test case per selected value. Document expected results for each test.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7033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995928"/>
            <a:ext cx="530352" cy="53035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95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04688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Execute and Record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04688" y="41422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Run the tests, capture actual results, and compare with expected outcomes. Log defects for any mismatch.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Boundary Value Analysis (BVA)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Black Box Technique #2 — Testing at the Edges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7132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Boundary Value Analysis extends Equivalence Partitioning by focusing specifically on the BOUNDARIES between partitions. Defects are statistically most common at boundary values — off-by-one errors are one of the most frequent bugs in software development.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Example: Age field accepting values 18 to 65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901952"/>
            <a:ext cx="1371600" cy="2468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901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BVA DIAGRAM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651760"/>
            <a:ext cx="777240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2578608"/>
            <a:ext cx="329184" cy="32918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74C3C"/>
                </a:solidFill>
              </a:rPr>
              <a:t>Min-1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74C3C"/>
                </a:solidFill>
              </a:rPr>
              <a:t>(Invalid)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87168" y="2578608"/>
            <a:ext cx="329184" cy="3291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Min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(Valid)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767328" y="2578608"/>
            <a:ext cx="329184" cy="3291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6616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Min+1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(Valid)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47488" y="2578608"/>
            <a:ext cx="329184" cy="3291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Max-1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(Valid)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27648" y="2578608"/>
            <a:ext cx="329184" cy="32918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2648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Max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ECC71"/>
                </a:solidFill>
              </a:rPr>
              <a:t>(Valid)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607808" y="2578608"/>
            <a:ext cx="329184" cy="32918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25786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0664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74C3C"/>
                </a:solidFill>
              </a:rPr>
              <a:t>Max+1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74C3C"/>
                </a:solidFill>
              </a:rPr>
              <a:t>(Invalid)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8328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383280"/>
            <a:ext cx="28346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Why Boundaries?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376732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Developers commonly make off-by-one mistakes (e.g., using &gt; instead of &gt;= in a condition). BVA specifically targets these error-prone areas.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338328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383280"/>
            <a:ext cx="28346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BVA Values to Test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55848" y="376732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For each boundary, test: minimum − 1 (invalid), minimum (valid), minimum + 1 (valid), maximum − 1 (valid), maximum (valid), maximum + 1 (invalid).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38328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3383280"/>
            <a:ext cx="28346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Real-World Example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376732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A bank's transfer limit is $1 to $10,000. BVA tests: $0, $1, $2, $9,999, $10,000, $10,001 to catch boundary handling errors.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 Table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Black Box Technique #3 — Condition-Action Mapping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6583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Decision Table Testing is used when a system's behavior depends on MULTIPLE CONDITIONS acting simultaneously. The table maps all combinations of conditions to their corresponding actions — making it impossible to miss a combination.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7373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Example Scenario: Online Loan Application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0299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Conditions: Credit Score (Good/Poor) × Employment Status (Employed/Unemployed) × Loan Amount (Low/High)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8595360" cy="24323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Conditions / Actions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C1: Credit Score Good?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C2: Employed?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C3: Loan Amount Low?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Action: Approve Loan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</a:rPr>
                        <a:t>Action: Request Review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9C1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9C1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Action: Reject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State Transition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Black Box Technique #4 — System States &amp; Transitions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5486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State Transition Testing models a system as a finite state machine. States represent conditions; events trigger transitions between them. Test cases validate every state and every valid/invalid transition.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6276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</a:rPr>
              <a:t>Example: ATM System — State Machine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8288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IDLE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212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</a:rPr>
              <a:t>Waiting for card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06040" y="1920240"/>
            <a:ext cx="1920240" cy="56692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INSERTED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06040" y="21808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</a:rPr>
              <a:t>Awaiting PIN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983480" y="1920240"/>
            <a:ext cx="201168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AUTHENTICATED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</a:rPr>
              <a:t>Ready for txn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06040" y="2834640"/>
            <a:ext cx="19202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0604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LOCKED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3218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</a:rPr>
              <a:t>3 bad attempts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148840" y="2176272"/>
            <a:ext cx="457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6B00"/>
                </a:solidFill>
              </a:rPr>
              <a:t>Insert Card ▶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26280" y="2176272"/>
            <a:ext cx="457200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7D32"/>
                </a:solidFill>
              </a:rPr>
              <a:t>PIN OK ▶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566160" y="2487168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91256" y="23362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</a:rPr>
              <a:t>3× Wrong ▼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234440" y="2487168"/>
            <a:ext cx="36576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3408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</a:rPr>
              <a:t>Logout ▼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Derived Test Cases: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11880"/>
          <a:ext cx="8595360" cy="1325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TC#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Start 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Event / Input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Expected End 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Insert valid card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CARD INSERTED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CARD INSERTED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Enter correct PIN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AUTHENTICATED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CARD INSERTED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Wrong PIN × 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LOCKED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AUTHENTICATED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 Out / Session timeout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 Case Testing &amp; Error Guessing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Black Box Techniques #5 and #6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Black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 Case Testing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Use Case Testing derives test cases from use cases — documented descriptions of how a USER interacts with a system to achieve a GOAL. Each use case maps a main flow and alternative/exception flows.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Example — Login Use Case: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395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▸  Main Flow: Valid credentials → Authenticated →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▸  Alt Flow 1: Wrong password → Error shown → User retries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236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▸  Alt Flow 2: Forgot Password → Reset email sent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▸  Exception Flow: System unavailable → Error page shown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6B00"/>
                </a:solidFill>
              </a:rPr>
              <a:t>Test cases cover EACH flow path — including exception paths developers often overlook.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Error Guessing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16052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Error Guessing is an experience-based technique where testers use knowledge of common mistakes and past defects to intuitively design test cases. No formal structure — driven by expertise.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084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Common Errors Testers Target: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359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Empty inputs / null / blank fields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596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Zero and negative values in numeric fields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Extremely long text strings (buffer overflow)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072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Special characters: !@#$%^&amp;*() in name fields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310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Duplicate submissions (double-click bug)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547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Invalid dates: 31/13/2024, 00/00/0000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SQL injection strings in input fields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40233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●  Network disconnection mid-transaction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6B00"/>
                </a:solidFill>
              </a:rPr>
              <a:t>Best combined with structured techniques — not used in isolation.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White Box Testing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00"/>
                </a:solidFill>
              </a:rPr>
              <a:t>Techniques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Code-level testing — validating every path, branch, and statement in the source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00"/>
                </a:solidFill>
              </a:rPr>
              <a:t>▸  Statement Coverage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Branch Coverage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Path Coverage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Loop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</a:rPr>
              <a:t>▸  Control Flow Testing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Statement Coverage &amp; Branch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White Box Techniques #1 and #2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White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Statement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Goal: Ensure every EXECUTABLE LINE of code is executed at least once.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</a:rPr>
              <a:t>Formula:  Statements Covered ÷ Total Statements × 100%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3794760" cy="1280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03120"/>
            <a:ext cx="36758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check_discount(age, member):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discount = 0              # S1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age &gt; 60:              # S2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 = 20          # S3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member == True:        # S4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 += 10         # S5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discount           # S6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40156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To achieve 100% statement coverage: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▸  TC1: age=70, member=True   → Covers S1–S6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▸  TC2: age=40, member=False  → Covers S1, S2, S4, S6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S3 and S5 only covered when conditions are true.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416052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Coverage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4173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Goal: Ensure both TRUE and FALSE outcomes of every DECISION POINT are executed.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</a:rPr>
              <a:t>Formula:  Branches Covered ÷ Total Branches × 100%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0574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Branch coverage is STRONGER than statement coverage. 100% branch coverage automatically gives 100% statement coverage — but NOT vice versa.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Example Branches to Test: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944368"/>
            <a:ext cx="38862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71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if age &gt; 60 → TRUE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Input: age=70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30540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S3 executes (discount=20)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00600" y="3401568"/>
            <a:ext cx="3886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29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if age &gt; 60 → FALSE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3602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Input: age=40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35112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S3 skipped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00600" y="3858768"/>
            <a:ext cx="3886200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if member==True → TRUE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4059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Input: member=True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6560" y="39684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S5 executes (discount+=10)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00600" y="4315968"/>
            <a:ext cx="3886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343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if member==True → FALSE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45171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Input: member=False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66560" y="4425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S5 skipped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Path Coverage &amp; Loop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White Box Techniques #3 and #4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White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Path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Goal: Ensure every POSSIBLE PATH through the code (entry to exit) is executed at least once. Most thorough but computationally expensive.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</a:rPr>
              <a:t>Key Concept: Cyclomatic Complexity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Cyclomatic Complexity = E − N + 2P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(Edges − Nodes + 2 × Connected components)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This number tells you the MINIMUM test cases needed to achieve full path coverage.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All paths in discount example: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Path 1: S1→S2(F)→S4(F)→S6 — age≤60, not member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Path 2: S1→S2(T)→S3→S4(F)→S6 — senior, not member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986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Path 3: S1→S2(F)→S4(T)→S5→S6 — not senior, member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352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▸  Path 4: S1→S2(T)→S3→S4(T)→S5→S6 — senior + member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416052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Loop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4173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Goal: Specifically test loops (for/while/do-while) — common sources of off-by-one errors, infinite loops, and exit condition bugs.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1938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Simple Loop: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19456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0 iterations (skip entirely)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237744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1 iteration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256032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2 iterations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Typical middle value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292608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Max − 1 iterations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Max iterations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29184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Max + 1 (should fail/stop)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34198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Nested Loop: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7588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Min values for all loops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385876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Inner max, outer min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04164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Both loops at maximum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422452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Test each loop independently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4462272"/>
            <a:ext cx="3886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5171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</a:rPr>
              <a:t>Infinite loop risk: Always test loops where the exit condition might never be reached.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Control Flow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White Box Technique #5 — Graph-Based Execution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White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5943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Control Flow Testing uses a Control Flow Graph (CFG) — a visual representation of ALL POSSIBLE EXECUTION PATHS through a program. Each node represents a block of code; edges represent transitions. This enables systematic path identification.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393192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CFG — Password Validator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4480" y="2084832"/>
            <a:ext cx="77724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0848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START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54480" y="2651760"/>
            <a:ext cx="777240" cy="45720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651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Length ≥ 8?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554480" y="3246120"/>
            <a:ext cx="777240" cy="45720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246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Has Number?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77724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0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0" y="2926080"/>
            <a:ext cx="77724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FAIL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3840480"/>
            <a:ext cx="77724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840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FAIL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01952" y="2542032"/>
            <a:ext cx="18288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1952" y="3154680"/>
            <a:ext cx="18288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2999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7D32"/>
                </a:solidFill>
              </a:rPr>
              <a:t>YES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" y="37307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7D32"/>
                </a:solidFill>
              </a:rPr>
              <a:t>YES→PASS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304288" y="28163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</a:rPr>
              <a:t>NO→FAIL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304288" y="37307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</a:rPr>
              <a:t>NO→FAIL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434840" y="1691640"/>
            <a:ext cx="4389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34840" y="1691640"/>
            <a:ext cx="64008" cy="9601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746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CFG Components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90288" y="2002536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Node (Basic Block): Statements with no internal branches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90288" y="2139696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Edge: Transition from one block to another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90288" y="2276856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Decision Node: Point with multiple outgoing edges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90288" y="2414016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Entry Node: Start of execution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90288" y="2551176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Exit Node: Return / end of function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34840" y="2734056"/>
            <a:ext cx="4389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2734056"/>
            <a:ext cx="64008" cy="9601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0288" y="27889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How to Build a CFG (Steps)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90288" y="3044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Step 1: Break code into basic blocks (no branches inside)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90288" y="318211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Step 2: Draw each block as a node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90288" y="331927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Step 3: Add directed edges for each possible transition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90288" y="345643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Step 4: Label edges with conditions (True/False)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90288" y="35935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Step 5: Calculate cyclomatic complexity to count paths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34840" y="3776472"/>
            <a:ext cx="4389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34840" y="3776472"/>
            <a:ext cx="64008" cy="9601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0288" y="38313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Tools Used in Industry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90288" y="4087368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IntelliJ IDEA: Built-in control flow analyzer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90288" y="4224528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Eclipse: Control Flow plugin available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90288" y="4361688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SonarQube: Static code path analysis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90288" y="4498848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▸  JaCoCo: Java code coverage (branch + statement)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SECTIONS 05 &amp;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Grey Box Testing &amp;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00"/>
                </a:solidFill>
              </a:rPr>
              <a:t>Static vs Dynamic Testing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Hybrid approaches and execution vs non-execution based testing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Grey Box Testing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05 — The Hybrid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Grey Box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6583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Grey Box Testing sits between Black Box and White Box testing. The tester has PARTIAL knowledge — typically the database schema, API contracts, and architecture — but NOT the full source code. This allows more targeted, realistic tests.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28800"/>
            <a:ext cx="4069080" cy="3291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28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/ Web Service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21284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Tester knows the API contract (endpoints, request/response structure) but not the backend implementation. Tests validate correct responses, error codes, and data integrity.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76148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Example: Using Postman: POST /users with valid JSON returns 201 Created and the record appears in the database.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82880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828800"/>
            <a:ext cx="4069080" cy="32918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828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21284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Tester has access to the database schema and can write SQL queries to validate that front-end operations correctly persist data — without seeing the backend code.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7448" y="276148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Example: After user registration: SELECT * FROM users WHERE email='test@test.com' — verify all fields stored correctly.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93008"/>
            <a:ext cx="4069080" cy="329184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93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877056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Tester knows how modules communicate (interfaces, data contracts) and validates that data passes correctly between components — without knowing each module's internal logic.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442569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Example: Verify that when payment service returns SUCCESS, order service correctly updates order status to 'Confirmed'.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3493008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493008"/>
            <a:ext cx="4069080" cy="32918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493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Penetration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3877056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Tester knows the architecture and tech stack, enabling targeted security tests: SQL injection, XSS attacks, authentication bypasses based on known vulnerability patterns.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7448" y="442569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Example: Knowing the app uses MySQL, test: ' OR '1'='1 in login field to check for SQL injection vulnerability.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Static vs Dynamic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06 — Two Fundamental Testing Paradigms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Static vs Dynamic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Static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Code is NEVER executed. Defects are found by examining artifacts — source code, design documents, requirements — manually or with automated analysis tools.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54864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Reviews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Informal/formal examination of code or docs by peers. Goal: find defects early, share knowledge, improve quality before execution.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761488"/>
            <a:ext cx="54864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Walkthroughs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Author leads reviewers through document/code step-by-step. Questions and suggestions encouraged. Less formal than inspections.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511296"/>
            <a:ext cx="54864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Inspections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856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Most formal type. Defined process with roles (moderator, reader, recorder, author). Produces a defect log and follow-up actions.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261104"/>
            <a:ext cx="54864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97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Static Analysis Tools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535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Automated tools scan code without execution. Tools: SonarQube, Checkstyle, PMD, FindBugs. Detect: code smells, null pointer risks, duplicates.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960120"/>
            <a:ext cx="425196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Dynamic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14173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Code IS executed. The system is run with specific inputs and actual outputs are compared to expected results.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54864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048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Unit Testing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Tests individual functions/methods in isolation. Tools: JUnit (Java), pytest (Python). Typically done by developers during coding.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761488"/>
            <a:ext cx="54864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Integration Testing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Tests how multiple components work together. Validates data flow between modules, APIs, and databases.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511296"/>
            <a:ext cx="54864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547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System Testing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7856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Tests the complete, integrated system against requirements. Performed by QA teams. Covers functional and non-functional requirements.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4261104"/>
            <a:ext cx="54864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297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Acceptance Testing (UAT)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535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Final validation by end users/stakeholders. Confirms the system meets business requirements before go-live.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Experience-Based Testing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07 — Exploratory, Ad-hoc &amp; Checklist-Based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Experience-Based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28346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Exploratory Testing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4081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6B00"/>
                </a:solidFill>
              </a:rPr>
              <a:t>WHEN TO USE: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572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When requirements are incomplete, new features released, or time is limited.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920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Tester simultaneously DESIGNS and EXECUTES tests — learning about the system as they go. No predefined test script. Uses intuition, curiosity, and experience.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6517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✓ ADVANTAGES: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Finds defects scripted tests miss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2999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Adapts in real-time to behavior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" y="316382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Excellent for usability/UX issues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332841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Fast — no upfront writing required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4048" y="35295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✗ LIMITATIONS: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371246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Hard to measure coverage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387705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Results depend on tester skill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4041648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Difficult to reproduce exactly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461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960120"/>
            <a:ext cx="283464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Ad-hoc Testing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55848" y="14081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6B00"/>
                </a:solidFill>
              </a:rPr>
              <a:t>WHEN TO USE: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55848" y="1572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Quick sanity checks, end-of-sprint validation, or when formal docs are not yet available.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1920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Most informal technique — no planning, no documentation, no structure. Tester performs random testing based on domain knowledge. Fast defect detection.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26517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✓ ADVANTAGES: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55848" y="283464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Extremely fast to start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55848" y="2999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No preparation needed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55848" y="316382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Good for quick smoke tests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55848" y="3364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✗ LIMITATIONS: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5848" y="35478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No repeatability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55848" y="371246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No documentation of coverage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55848" y="387705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Coverage is unpredictable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960120"/>
            <a:ext cx="2834640" cy="384048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Checklist-Based Testing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27648" y="14081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6B00"/>
                </a:solidFill>
              </a:rPr>
              <a:t>WHEN TO USE: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27648" y="1572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Regression testing, compliance verification, or when a standard set of conditions must always be validated.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27648" y="1920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Uses a pre-defined checklist of conditions that must be verified. Derived from experience, standards, or previous defects. Less rigid than formal test cases.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27648" y="26517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✓ ADVANTAGES: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27648" y="283464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Consistent — same items each release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27648" y="2999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Quick to execute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27648" y="316382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Good for compliance/audits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27648" y="332841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</a:rPr>
              <a:t>+ Reusable across releases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27648" y="35295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✗ LIMITATIONS: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27648" y="3712464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May become outdated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27648" y="3877056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Limited to known failure modes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27648" y="4041648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− Doesn't capture full detail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Risk-Based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08 — Prioritizing Testing Where It Matters Most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Risk-Based Testing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6583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Risk-Based Testing (RBT) prioritizes testing based on RISK = Likelihood of failure × Impact of failure. High-risk areas receive the most testing effort. This ensures the most critical parts of the system are validated most thoroughly.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Risk Assessment Matrix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11680"/>
          <a:ext cx="411480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Likelihood ↓ / Impact →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 Impact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 Impact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 Impact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HIGH Likelihood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21C24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MEDIUM Likelihood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21C24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LOW Likelihood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572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How to Apply Risk-Based Testing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011680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36592" y="2103120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93792" y="20756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Identify Components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93792" y="22860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List all features, modules, and functions to be tested.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2633472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2724912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193792" y="2697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Assess Likelihood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93792" y="29077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Rate probability of failure (1–5) based on complexity, history, and change frequency.</a:t>
            </a:r>
            <a:endParaRPr lang="en-US" sz="850" dirty="0"/>
          </a:p>
        </p:txBody>
      </p:sp>
      <p:sp>
        <p:nvSpPr>
          <p:cNvPr id="13" name="Shape 22"/>
          <p:cNvSpPr/>
          <p:nvPr/>
        </p:nvSpPr>
        <p:spPr>
          <a:xfrm>
            <a:off x="4663440" y="3255264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36592" y="3346704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93792" y="33192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Assess Impact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193792" y="3529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Rate business impact if it fails (financial, reputational, safety, legal).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63440" y="3877056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36592" y="3968496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36592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93792" y="39410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Calculate Risk Score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93792" y="41513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Multiply Likelihood × Impact. Higher score = higher testing priority.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63440" y="4498848"/>
            <a:ext cx="4160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36592" y="4590288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592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193792" y="45628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Allocate Testing Effort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193792" y="4773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Spend 60–70% of testing effort on high-risk areas; less on low-risk.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28600" y="3739896"/>
            <a:ext cx="397060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3749040"/>
            <a:ext cx="64008" cy="10241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" y="37856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Real-World Example: E-Commerce Platform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75488" y="404164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CRITICAL: Payment processing (high change likelihood + catastrophic if fails)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                  Test first and most exhaustively.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HIGH: User login/session management — Security risk, tested next.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MEDIUM: Product search filters — Moderate business impact.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LOW: Admin report export — Internal use, low user impact.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Test Design Techniques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00"/>
                </a:solidFill>
              </a:rPr>
              <a:t>in Automation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Applying testing techniques using Selenium, Playwright, IntelliJ &amp; Eclipse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Techniques in Automation — Selenium &amp; Playwright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09 — From Test Design to Automated Scripts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Automation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Selenium — EP &amp; BVA Example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Scenario: Test age field (valid: 18–65) using EP and BVA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374904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830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testValidAge()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driver.findElement(By.id("age"))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.sendKeys("35"); // Valid partition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driver.findElement(By.id("submit"))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.click();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Assert.assertEquals(driver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.findElement(By.id("msg"))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.getText(), "Age Accepted");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testBoundaryMin()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driver.findElement(By.id("age"))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.sendKeys("18"); // Min boundary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Assert.assertEquals(driver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.findElement(By.id("msg"))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.getText(), "Age Accepted");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testInvalidLow()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driver.findElement(By.id("age"))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.sendKeys("5"); // Below valid range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Assert.assertEquals(driver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.findElement(By.id("msg"))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.getText(), "Age must be 18-65");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Tools: Selenium WebDriver + Java + JUnit + IntelliJ IDEA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Used in: CI/CD pipelines with Jenkins/GitHub Actions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425196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Playwright — Decision Table + State Transition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Scenario: Test login states (valid/invalid credentials)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97764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8308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Decision table row 1 — valid creds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test('valid login -&gt; dashboard', async ({ page })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page.fill('#email', 'user@test.com');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page.fill('#password', 'SecurePass1!');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page.click('#loginBtn');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expect(page).toHaveURL('/dashboard');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 transition: 3 fails -&gt; LOCKED state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test('3 wrong passwords -&gt; locked', async ({ page })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3; i++)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page.fill('#email', 'user@test.com');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page.fill('#password', 'wrongpass');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page.click('#loginBtn');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expect(page.locator('#error'))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.toHaveText('Account locked');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0" y="4114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Tools: Playwright + TypeScript + VS Code / WebStorm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Advantage: Built-in auto-wait, multi-browser, mobile emulation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Development Environments — IntelliJ IDEA &amp; Eclipse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09 — Tooling for Quality Engineers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Automation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IntelliJ IDEA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1280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by JetBrains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53619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Industry-leading Java/Kotlin IDE. Preferred by most QA automation engineers for Selenium and Playwright Java test development.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084832"/>
            <a:ext cx="3657600" cy="274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9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Key Features for QA Engineers: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395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Smart code completion and refactoring for test code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688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Built-in JUnit &amp; TestNG test runner with visual results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9809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Maven/Gradle integration for dependency management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273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Git integration — commit, push, branch from IDE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Coverage runner — highlights uncovered code lines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Debugger — step through test execution line by 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1513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Plugin: Cucumber support for BDD test writing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Remote run support — execute tests on CI servers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9204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960120"/>
            <a:ext cx="40233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Eclipse IDE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1280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by Eclipse Foundation (Open Source)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01768" y="153619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Free, open-source IDE widely used in enterprise Java development and QA automation. Highly extensible through plugins.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01768" y="2084832"/>
            <a:ext cx="3657600" cy="274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139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Key Features for QA Engineers: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01768" y="2395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JUnit integration — run tests directly from 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01768" y="26883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TestNG plugin — advanced test configuration options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01768" y="29809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Maven plugin (m2e) — manage Selenium/Playwright deps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01768" y="3273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EclEmma — code coverage visualization plugin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01768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Git support via EGit plugin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01768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Selenium IDE plugin — record and playback browser tests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01768" y="41513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Step debugger — debug failing automated tests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01768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▸  Free and open-source — no license cost for interns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00"/>
                </a:solidFill>
              </a:rPr>
              <a:t>SECTION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Real-World Application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00"/>
                </a:solidFill>
              </a:rPr>
              <a:t>Scenario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Applying all techniques to a real e-commerce login &amp; checkout system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Real-World Scenario — E-Commerce Application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Applying Multiple Techniques to a Login &amp; Checkout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Real-World Application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64008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05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System: An e-commerce web application with user registration, login, product browsing, shopping cart, and payment checkout. Let's see how each testing technique contributes to finding different categories of defects.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27632"/>
          <a:ext cx="859536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Technique Applied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Tested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Defect Found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Test Case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Equivalence Partitioning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Registration — Age Field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System accepts age=0 (invalid partition not handled)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Test with age=-1 (invalid low), age=25 (valid), age=200 (invalid high).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Boundary Value Analysis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Password Length (8–20 chars)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System allows 7-char passwords — off-by-one error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Test: 7 chars (fail), 8 chars (pass), 9 (pass), 20 (pass), 21 chars (fail).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Decision Table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Login — Credentials + Account Status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Suspended accounts with correct credentials bypass suspension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Combination: valid creds + suspended = 'Account suspended', not login.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State Transition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Login Attempt States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Account doesn't lock after 3 failed attempts — security gap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Fail 1 → Fail 2 → Fail 3 → Account LOCKED (no further attempts).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BVA (Checkout)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Shipping at $50+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Free shipping applied at $49.99 — boundary not handled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Test: $49.99 (no free ship), $50.00 (free ship), $50.01 (free ship).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</a:rPr>
                        <a:t>Error Guessing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Payment Form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C0392B"/>
                          </a:solidFill>
                        </a:rPr>
                        <a:t>SQL injection in credit card field crashes payment page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888888"/>
                          </a:solidFill>
                        </a:rPr>
                        <a:t>Enter: 4111 1111 1111 1111' DROP TABLE orders;-- in card number field.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F6B00"/>
                </a:solidFill>
              </a:rPr>
              <a:t>Key Insight: No single technique found ALL defects. The combination of multiple techniques achieves comprehensive quality.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Best Practices for Using Testing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11 — Maximizing Quality Engineering Effectiveness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Best Practices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875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875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1155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115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115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Combine Multiple Techniques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14630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Never rely on just one technique. Use BVA alongside EP, add state transition for workflow, and layer in error guessing. Each catches different defect types — combination maximizes coverage.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9875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875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1155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115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115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Let Requirements Drive Selection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8888" y="14630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Complex conditional logic → Decision Table. Input ranges → EP + BVA. Sequential workflows → State Transition. No requirements → Exploratory. Match technique to the problem.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591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591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871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Prioritize Using Risk-Based Approach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28346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Not all features need equal testing depth. Identify high-risk, high-impact areas first. Allocate effort proportionally — more resources on payment, authentication, data integrity.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3591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591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24871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4871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Design Tests Before Writing Code (Shift Left)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8888" y="28346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Work with developers during requirements phase. Early test design catches ambiguities in requirements — far cheaper than fixing production bugs. Use static testing on specifications.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7307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7307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8587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Translate Techniques Directly to Automation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42062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Every technique can become automated: EP partitions → @ParameterizedTest. BVA boundaries → data-driven arrays. State transitions → Playwright scenario flows.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73075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730752"/>
            <a:ext cx="41148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8888" y="385876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Document and Peer-Review Test Designs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18888" y="420624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Test designs (partitions, decision tables, state diagrams) should be reviewed. Mistakes in test design propagate to hundreds of test cases — catch them early.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Mistakes in Testing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686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</a:rPr>
              <a:t>Section 12 — What to Avoid as a QA Engineer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Quality Engineering | Software Testing Techniques  |  Common Mistakes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82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875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87552"/>
            <a:ext cx="41148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78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Testing Only the Happy Path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1078992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1389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Only testing where everything works perfectly. Most production bugs occur in error handling, edge cases, and exception flows. Always test what happens when things go wrong.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For every positive test, design at least 2 negative tests.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9875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87552"/>
            <a:ext cx="41148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078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Applying Only One Technique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1078992"/>
            <a:ext cx="6858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18888" y="1389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Using only equivalence partitioning and skipping BVA, state transitions, or decision tables. Each catches a completely different class of defect — one technique gives false coverage confidence.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Combine at least 3 techniques per feature module.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359152"/>
            <a:ext cx="41148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Ignoring Edge Cases &amp; Boundaries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2450592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4505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2761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Testing with 'typical' values like 50 for an age field of 18–65. Boundary errors (off-by-one: &gt;= vs &gt;) are the #1 source of subtle production bugs.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Always test min, min+1, max-1, max, and just outside boundaries.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3591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59152"/>
            <a:ext cx="411480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Confusing EP with BVA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1000" y="2450592"/>
            <a:ext cx="68580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24505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18888" y="2761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Treating BVA as simply 'choosing from a partition.' EP selects any representative value. BVA specifically tests boundary values. These are complementary, not the same technique.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18888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Use EP to define partitions; use BVA to select values at partition edges.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7307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30752"/>
            <a:ext cx="411480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Over-Testing Low-Risk Areas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66160" y="3822192"/>
            <a:ext cx="68580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3822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4048" y="4133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80% of testing effort on a static 'About Us' page while complex payment processing is under-tested. This is an inefficient allocation of QA resources.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Apply risk-based testing to prioritize effort proportionally to risk.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3730752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730752"/>
            <a:ext cx="41148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✗  Not Reviewing Test Designs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01000" y="3822192"/>
            <a:ext cx="6858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3822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18888" y="4133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Mistake: Designing partitions or decision tables without peer review. An error in the test design phase propagates to all test cases built from it — creating widespread coverage gaps.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18888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Fix: Always have a second QA engineer review all test designs before execution.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00"/>
                </a:solidFill>
              </a:rPr>
              <a:t>What Every QA Engineer Must Remember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161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Testing Techniques Are Not Optional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They are the scientific foundation of quality engineering. Without them, testing is guesswork. With them, it is a repeatable, measurable discipline.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789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2161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Each Technique Targets a Specific Defect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01568" y="16733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EP &amp; BVA → input validation. Decision Tables → logic combinations. State Transition → workflow bugs. Use Case → user journey gaps. Coverage → code logic.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10789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2161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12252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 Techniques for Maximum Coverage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27648" y="16733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No single technique provides complete assurance. Layer multiple techniques to validate from multiple perspectives simultaneously.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0449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Automation Amplifies Technique Value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Every technique can be automated using Selenium, Playwright, or JUnit — making them repeatable, scalable, and part of your CI/CD pipeline.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29077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30449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86200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 Dictates Priority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01568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Not everything can be tested equally. Use risk-based testing to focus your most intensive technique application on features that matter most.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2907792"/>
            <a:ext cx="2743200" cy="162763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304495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0540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Quality Engineering Is a Mindset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7648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Techniques are tools. The real skill is knowing WHEN, WHERE, and HOW to apply them. That judgment comes from practice, review, and continuous learning.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</TotalTime>
  <Words>5720</Words>
  <Application>Microsoft Office PowerPoint</Application>
  <PresentationFormat>On-screen Show (16:9)</PresentationFormat>
  <Paragraphs>792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Techniques</dc:title>
  <dc:subject>PptxGenJS Presentation</dc:subject>
  <dc:creator>Quality Engineering Team</dc:creator>
  <cp:lastModifiedBy>Isaac Mahlangu (Lubanzi ICT Consulting)</cp:lastModifiedBy>
  <cp:revision>6</cp:revision>
  <dcterms:created xsi:type="dcterms:W3CDTF">2026-04-13T07:33:23Z</dcterms:created>
  <dcterms:modified xsi:type="dcterms:W3CDTF">2026-04-20T09:50:11Z</dcterms:modified>
</cp:coreProperties>
</file>