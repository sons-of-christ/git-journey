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5"/>
  </p:notesMasterIdLst>
  <p:sldIdLst>
    <p:sldId id="257" r:id="rId2"/>
    <p:sldId id="258" r:id="rId3"/>
    <p:sldId id="259" r:id="rId4"/>
    <p:sldId id="260" r:id="rId5"/>
    <p:sldId id="261" r:id="rId6"/>
    <p:sldId id="262" r:id="rId7"/>
    <p:sldId id="263" r:id="rId8"/>
    <p:sldId id="264" r:id="rId9"/>
    <p:sldId id="265" r:id="rId10"/>
    <p:sldId id="266" r:id="rId11"/>
    <p:sldId id="267" r:id="rId12"/>
    <p:sldId id="268" r:id="rId13"/>
    <p:sldId id="269" r:id="rId14"/>
    <p:sldId id="270" r:id="rId15"/>
    <p:sldId id="271" r:id="rId16"/>
    <p:sldId id="272" r:id="rId17"/>
    <p:sldId id="273" r:id="rId18"/>
    <p:sldId id="274" r:id="rId19"/>
    <p:sldId id="275" r:id="rId20"/>
    <p:sldId id="276" r:id="rId21"/>
    <p:sldId id="277" r:id="rId22"/>
    <p:sldId id="278" r:id="rId23"/>
    <p:sldId id="279" r:id="rId24"/>
    <p:sldId id="280" r:id="rId25"/>
    <p:sldId id="281" r:id="rId26"/>
    <p:sldId id="282" r:id="rId27"/>
    <p:sldId id="283" r:id="rId28"/>
    <p:sldId id="284" r:id="rId29"/>
    <p:sldId id="285" r:id="rId30"/>
    <p:sldId id="286" r:id="rId31"/>
    <p:sldId id="287" r:id="rId32"/>
    <p:sldId id="288" r:id="rId33"/>
    <p:sldId id="289" r:id="rId34"/>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09" d="100"/>
          <a:sy n="109" d="100"/>
        </p:scale>
        <p:origin x="706" y="8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ableStyles" Target="tableStyles.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notesMaster" Target="notesMasters/notesMaster1.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58067856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2">
    <p:bg>
      <p:bgPr>
        <a:solidFill>
          <a:srgbClr val="F5F5F5"/>
        </a:solidFill>
        <a:effectLst/>
      </p:bgPr>
    </p:bg>
    <p:spTree>
      <p:nvGrpSpPr>
        <p:cNvPr id="1" name=""/>
        <p:cNvGrpSpPr/>
        <p:nvPr/>
      </p:nvGrpSpPr>
      <p:grpSpPr>
        <a:xfrm>
          <a:off x="0" y="0"/>
          <a:ext cx="0" cy="0"/>
          <a:chOff x="0" y="0"/>
          <a:chExt cx="0" cy="0"/>
        </a:xfrm>
      </p:grpSpPr>
      <p:sp>
        <p:nvSpPr>
          <p:cNvPr id="2" name="Shape 0"/>
          <p:cNvSpPr/>
          <p:nvPr/>
        </p:nvSpPr>
        <p:spPr>
          <a:xfrm>
            <a:off x="0" y="0"/>
            <a:ext cx="9144000" cy="621792"/>
          </a:xfrm>
          <a:prstGeom prst="rect">
            <a:avLst/>
          </a:prstGeom>
          <a:solidFill>
            <a:srgbClr val="0D0D0D"/>
          </a:solidFill>
          <a:ln w="12700">
            <a:solidFill>
              <a:srgbClr val="0D0D0D"/>
            </a:solidFill>
            <a:prstDash val="solid"/>
          </a:ln>
        </p:spPr>
      </p:sp>
      <p:sp>
        <p:nvSpPr>
          <p:cNvPr id="3" name="Shape 1"/>
          <p:cNvSpPr/>
          <p:nvPr/>
        </p:nvSpPr>
        <p:spPr>
          <a:xfrm>
            <a:off x="0" y="0"/>
            <a:ext cx="64008" cy="621792"/>
          </a:xfrm>
          <a:prstGeom prst="rect">
            <a:avLst/>
          </a:prstGeom>
          <a:solidFill>
            <a:srgbClr val="FF6500"/>
          </a:solidFill>
          <a:ln w="12700">
            <a:solidFill>
              <a:srgbClr val="FF6500"/>
            </a:solidFill>
            <a:prstDash val="solid"/>
          </a:ln>
        </p:spPr>
      </p:sp>
      <p:sp>
        <p:nvSpPr>
          <p:cNvPr id="4" name="Text 2"/>
          <p:cNvSpPr/>
          <p:nvPr/>
        </p:nvSpPr>
        <p:spPr>
          <a:xfrm>
            <a:off x="201168" y="64008"/>
            <a:ext cx="8503920" cy="493776"/>
          </a:xfrm>
          <a:prstGeom prst="rect">
            <a:avLst/>
          </a:prstGeom>
          <a:noFill/>
          <a:ln/>
        </p:spPr>
        <p:txBody>
          <a:bodyPr wrap="square" lIns="0" tIns="0" rIns="0" bIns="0" rtlCol="0" anchor="ctr"/>
          <a:lstStyle/>
          <a:p>
            <a:r>
              <a:rPr lang="en-US" sz="2000" b="1" dirty="0">
                <a:solidFill>
                  <a:srgbClr val="FFFFFF"/>
                </a:solidFill>
                <a:latin typeface="Calibri" pitchFamily="34" charset="0"/>
                <a:ea typeface="Calibri" pitchFamily="34" charset="-122"/>
                <a:cs typeface="Calibri" pitchFamily="34" charset="-120"/>
              </a:rPr>
              <a:t>Presentation Agenda</a:t>
            </a:r>
            <a:endParaRPr lang="en-US" sz="2000" dirty="0"/>
          </a:p>
        </p:txBody>
      </p:sp>
      <p:sp>
        <p:nvSpPr>
          <p:cNvPr id="5" name="Shape 3"/>
          <p:cNvSpPr/>
          <p:nvPr/>
        </p:nvSpPr>
        <p:spPr>
          <a:xfrm>
            <a:off x="0" y="4828032"/>
            <a:ext cx="9144000" cy="315468"/>
          </a:xfrm>
          <a:prstGeom prst="rect">
            <a:avLst/>
          </a:prstGeom>
          <a:solidFill>
            <a:srgbClr val="0D0D0D"/>
          </a:solidFill>
          <a:ln w="12700">
            <a:solidFill>
              <a:srgbClr val="0D0D0D"/>
            </a:solidFill>
            <a:prstDash val="solid"/>
          </a:ln>
        </p:spPr>
      </p:sp>
      <p:sp>
        <p:nvSpPr>
          <p:cNvPr id="6" name="Text 4"/>
          <p:cNvSpPr/>
          <p:nvPr/>
        </p:nvSpPr>
        <p:spPr>
          <a:xfrm>
            <a:off x="182880" y="4855464"/>
            <a:ext cx="7315200" cy="228600"/>
          </a:xfrm>
          <a:prstGeom prst="rect">
            <a:avLst/>
          </a:prstGeom>
          <a:noFill/>
          <a:ln/>
        </p:spPr>
        <p:txBody>
          <a:bodyPr wrap="square" lIns="0" tIns="0" rIns="0" bIns="0" rtlCol="0" anchor="ctr"/>
          <a:lstStyle/>
          <a:p>
            <a:pPr marL="0" indent="0">
              <a:buNone/>
            </a:pPr>
            <a:r>
              <a:rPr lang="en-US" sz="850" dirty="0">
                <a:solidFill>
                  <a:srgbClr val="999999"/>
                </a:solidFill>
                <a:latin typeface="Calibri" pitchFamily="34" charset="0"/>
                <a:ea typeface="Calibri" pitchFamily="34" charset="-122"/>
                <a:cs typeface="Calibri" pitchFamily="34" charset="-120"/>
              </a:rPr>
              <a:t>Quality Engineering | Test Case Development in STLC</a:t>
            </a:r>
            <a:endParaRPr lang="en-US" sz="850" dirty="0"/>
          </a:p>
        </p:txBody>
      </p:sp>
      <p:sp>
        <p:nvSpPr>
          <p:cNvPr id="7" name="Text 5"/>
          <p:cNvSpPr/>
          <p:nvPr/>
        </p:nvSpPr>
        <p:spPr>
          <a:xfrm>
            <a:off x="7406640" y="4855464"/>
            <a:ext cx="1554480" cy="228600"/>
          </a:xfrm>
          <a:prstGeom prst="rect">
            <a:avLst/>
          </a:prstGeom>
          <a:noFill/>
          <a:ln/>
        </p:spPr>
        <p:txBody>
          <a:bodyPr wrap="square" lIns="0" tIns="0" rIns="0" bIns="0" rtlCol="0" anchor="ctr"/>
          <a:lstStyle/>
          <a:p>
            <a:pPr marL="0" indent="0" algn="r">
              <a:buNone/>
            </a:pPr>
            <a:r>
              <a:rPr lang="en-US" sz="850" b="1" dirty="0">
                <a:solidFill>
                  <a:srgbClr val="FF6500"/>
                </a:solidFill>
                <a:latin typeface="Calibri" pitchFamily="34" charset="0"/>
                <a:ea typeface="Calibri" pitchFamily="34" charset="-122"/>
                <a:cs typeface="Calibri" pitchFamily="34" charset="-120"/>
              </a:rPr>
              <a:t>INTERNAL TRAINING</a:t>
            </a:r>
            <a:endParaRPr lang="en-US" sz="850" dirty="0"/>
          </a:p>
        </p:txBody>
      </p:sp>
      <p:sp>
        <p:nvSpPr>
          <p:cNvPr id="8" name="Shape 6"/>
          <p:cNvSpPr/>
          <p:nvPr/>
        </p:nvSpPr>
        <p:spPr>
          <a:xfrm>
            <a:off x="228600" y="731520"/>
            <a:ext cx="4160520" cy="3977640"/>
          </a:xfrm>
          <a:prstGeom prst="rect">
            <a:avLst/>
          </a:prstGeom>
          <a:solidFill>
            <a:srgbClr val="FFFFFF"/>
          </a:solidFill>
          <a:ln w="12700">
            <a:solidFill>
              <a:srgbClr val="DEDEDE"/>
            </a:solidFill>
            <a:prstDash val="solid"/>
          </a:ln>
          <a:effectLst>
            <a:outerShdw blurRad="76200" dist="25400" dir="8100000" algn="bl" rotWithShape="0">
              <a:srgbClr val="000000">
                <a:alpha val="13000"/>
              </a:srgbClr>
            </a:outerShdw>
          </a:effectLst>
        </p:spPr>
      </p:sp>
      <p:sp>
        <p:nvSpPr>
          <p:cNvPr id="9" name="Shape 7"/>
          <p:cNvSpPr/>
          <p:nvPr/>
        </p:nvSpPr>
        <p:spPr>
          <a:xfrm>
            <a:off x="4754880" y="731520"/>
            <a:ext cx="4160520" cy="3977640"/>
          </a:xfrm>
          <a:prstGeom prst="rect">
            <a:avLst/>
          </a:prstGeom>
          <a:solidFill>
            <a:srgbClr val="FFFFFF"/>
          </a:solidFill>
          <a:ln w="12700">
            <a:solidFill>
              <a:srgbClr val="DEDEDE"/>
            </a:solidFill>
            <a:prstDash val="solid"/>
          </a:ln>
          <a:effectLst>
            <a:outerShdw blurRad="76200" dist="25400" dir="8100000" algn="bl" rotWithShape="0">
              <a:srgbClr val="000000">
                <a:alpha val="13000"/>
              </a:srgbClr>
            </a:outerShdw>
          </a:effectLst>
        </p:spPr>
      </p:sp>
      <p:sp>
        <p:nvSpPr>
          <p:cNvPr id="10" name="Shape 8"/>
          <p:cNvSpPr/>
          <p:nvPr/>
        </p:nvSpPr>
        <p:spPr>
          <a:xfrm>
            <a:off x="228600" y="731520"/>
            <a:ext cx="4160520" cy="384048"/>
          </a:xfrm>
          <a:prstGeom prst="rect">
            <a:avLst/>
          </a:prstGeom>
          <a:solidFill>
            <a:srgbClr val="0D0D0D"/>
          </a:solidFill>
          <a:ln w="12700">
            <a:solidFill>
              <a:srgbClr val="0D0D0D"/>
            </a:solidFill>
            <a:prstDash val="solid"/>
          </a:ln>
        </p:spPr>
      </p:sp>
      <p:sp>
        <p:nvSpPr>
          <p:cNvPr id="11" name="Text 9"/>
          <p:cNvSpPr/>
          <p:nvPr/>
        </p:nvSpPr>
        <p:spPr>
          <a:xfrm>
            <a:off x="320040" y="768096"/>
            <a:ext cx="3977640" cy="310896"/>
          </a:xfrm>
          <a:prstGeom prst="rect">
            <a:avLst/>
          </a:prstGeom>
          <a:noFill/>
          <a:ln/>
        </p:spPr>
        <p:txBody>
          <a:bodyPr wrap="square" lIns="0" tIns="0" rIns="0" bIns="0" rtlCol="0" anchor="ctr"/>
          <a:lstStyle/>
          <a:p>
            <a:pPr marL="0" indent="0">
              <a:buNone/>
            </a:pPr>
            <a:r>
              <a:rPr lang="en-US" sz="1100" b="1" kern="0" spc="100" dirty="0">
                <a:solidFill>
                  <a:srgbClr val="FF6500"/>
                </a:solidFill>
                <a:latin typeface="Arial" pitchFamily="34" charset="0"/>
                <a:ea typeface="Arial" pitchFamily="34" charset="-122"/>
                <a:cs typeface="Arial" pitchFamily="34" charset="-120"/>
              </a:rPr>
              <a:t>PART 1 — FOUNDATIONS</a:t>
            </a:r>
            <a:endParaRPr lang="en-US" sz="1100" dirty="0"/>
          </a:p>
        </p:txBody>
      </p:sp>
      <p:sp>
        <p:nvSpPr>
          <p:cNvPr id="12" name="Shape 10"/>
          <p:cNvSpPr/>
          <p:nvPr/>
        </p:nvSpPr>
        <p:spPr>
          <a:xfrm>
            <a:off x="4754880" y="731520"/>
            <a:ext cx="4160520" cy="384048"/>
          </a:xfrm>
          <a:prstGeom prst="rect">
            <a:avLst/>
          </a:prstGeom>
          <a:solidFill>
            <a:srgbClr val="0D0D0D"/>
          </a:solidFill>
          <a:ln w="12700">
            <a:solidFill>
              <a:srgbClr val="0D0D0D"/>
            </a:solidFill>
            <a:prstDash val="solid"/>
          </a:ln>
        </p:spPr>
      </p:sp>
      <p:sp>
        <p:nvSpPr>
          <p:cNvPr id="13" name="Text 11"/>
          <p:cNvSpPr/>
          <p:nvPr/>
        </p:nvSpPr>
        <p:spPr>
          <a:xfrm>
            <a:off x="4846320" y="768096"/>
            <a:ext cx="3977640" cy="310896"/>
          </a:xfrm>
          <a:prstGeom prst="rect">
            <a:avLst/>
          </a:prstGeom>
          <a:noFill/>
          <a:ln/>
        </p:spPr>
        <p:txBody>
          <a:bodyPr wrap="square" lIns="0" tIns="0" rIns="0" bIns="0" rtlCol="0" anchor="ctr"/>
          <a:lstStyle/>
          <a:p>
            <a:pPr marL="0" indent="0">
              <a:buNone/>
            </a:pPr>
            <a:r>
              <a:rPr lang="en-US" sz="1100" b="1" kern="0" spc="100" dirty="0">
                <a:solidFill>
                  <a:srgbClr val="FF6500"/>
                </a:solidFill>
                <a:latin typeface="Arial" pitchFamily="34" charset="0"/>
                <a:ea typeface="Arial" pitchFamily="34" charset="-122"/>
                <a:cs typeface="Arial" pitchFamily="34" charset="-120"/>
              </a:rPr>
              <a:t>PART 2 — TOOLS &amp; PROCESS</a:t>
            </a:r>
            <a:endParaRPr lang="en-US" sz="1100" dirty="0"/>
          </a:p>
        </p:txBody>
      </p:sp>
      <p:sp>
        <p:nvSpPr>
          <p:cNvPr id="14" name="Shape 12"/>
          <p:cNvSpPr/>
          <p:nvPr/>
        </p:nvSpPr>
        <p:spPr>
          <a:xfrm>
            <a:off x="274320" y="1170432"/>
            <a:ext cx="329184" cy="274320"/>
          </a:xfrm>
          <a:prstGeom prst="rect">
            <a:avLst/>
          </a:prstGeom>
          <a:solidFill>
            <a:srgbClr val="FF6500"/>
          </a:solidFill>
          <a:ln w="12700">
            <a:solidFill>
              <a:srgbClr val="FF6500"/>
            </a:solidFill>
            <a:prstDash val="solid"/>
          </a:ln>
        </p:spPr>
      </p:sp>
      <p:sp>
        <p:nvSpPr>
          <p:cNvPr id="15" name="Text 13"/>
          <p:cNvSpPr/>
          <p:nvPr/>
        </p:nvSpPr>
        <p:spPr>
          <a:xfrm>
            <a:off x="274320" y="1170432"/>
            <a:ext cx="329184" cy="274320"/>
          </a:xfrm>
          <a:prstGeom prst="rect">
            <a:avLst/>
          </a:prstGeom>
          <a:noFill/>
          <a:ln/>
        </p:spPr>
        <p:txBody>
          <a:bodyPr wrap="square" lIns="0" tIns="0" rIns="0" bIns="0" rtlCol="0" anchor="ctr"/>
          <a:lstStyle/>
          <a:p>
            <a:pPr marL="0" indent="0" algn="ctr">
              <a:buNone/>
            </a:pPr>
            <a:r>
              <a:rPr lang="en-US" sz="1000" b="1" dirty="0">
                <a:solidFill>
                  <a:srgbClr val="FFFFFF"/>
                </a:solidFill>
                <a:latin typeface="Arial" pitchFamily="34" charset="0"/>
                <a:ea typeface="Arial" pitchFamily="34" charset="-122"/>
                <a:cs typeface="Arial" pitchFamily="34" charset="-120"/>
              </a:rPr>
              <a:t>01</a:t>
            </a:r>
            <a:endParaRPr lang="en-US" sz="1000" dirty="0"/>
          </a:p>
        </p:txBody>
      </p:sp>
      <p:sp>
        <p:nvSpPr>
          <p:cNvPr id="16" name="Text 14"/>
          <p:cNvSpPr/>
          <p:nvPr/>
        </p:nvSpPr>
        <p:spPr>
          <a:xfrm>
            <a:off x="658368" y="1188720"/>
            <a:ext cx="3566160" cy="256032"/>
          </a:xfrm>
          <a:prstGeom prst="rect">
            <a:avLst/>
          </a:prstGeom>
          <a:noFill/>
          <a:ln/>
        </p:spPr>
        <p:txBody>
          <a:bodyPr wrap="square" lIns="0" tIns="0" rIns="0" bIns="0" rtlCol="0" anchor="ctr"/>
          <a:lstStyle/>
          <a:p>
            <a:pPr marL="0" indent="0">
              <a:buNone/>
            </a:pPr>
            <a:r>
              <a:rPr lang="en-US" sz="1150" dirty="0">
                <a:solidFill>
                  <a:srgbClr val="2C2C2C"/>
                </a:solidFill>
                <a:latin typeface="Calibri" pitchFamily="34" charset="0"/>
                <a:ea typeface="Calibri" pitchFamily="34" charset="-122"/>
                <a:cs typeface="Calibri" pitchFamily="34" charset="-120"/>
              </a:rPr>
              <a:t>Introduction to Test Case Development</a:t>
            </a:r>
            <a:endParaRPr lang="en-US" sz="1150" dirty="0"/>
          </a:p>
        </p:txBody>
      </p:sp>
      <p:sp>
        <p:nvSpPr>
          <p:cNvPr id="17" name="Shape 15"/>
          <p:cNvSpPr/>
          <p:nvPr/>
        </p:nvSpPr>
        <p:spPr>
          <a:xfrm>
            <a:off x="274320" y="1600200"/>
            <a:ext cx="329184" cy="274320"/>
          </a:xfrm>
          <a:prstGeom prst="rect">
            <a:avLst/>
          </a:prstGeom>
          <a:solidFill>
            <a:srgbClr val="FF6500"/>
          </a:solidFill>
          <a:ln w="12700">
            <a:solidFill>
              <a:srgbClr val="FF6500"/>
            </a:solidFill>
            <a:prstDash val="solid"/>
          </a:ln>
        </p:spPr>
      </p:sp>
      <p:sp>
        <p:nvSpPr>
          <p:cNvPr id="18" name="Text 16"/>
          <p:cNvSpPr/>
          <p:nvPr/>
        </p:nvSpPr>
        <p:spPr>
          <a:xfrm>
            <a:off x="274320" y="1600200"/>
            <a:ext cx="329184" cy="274320"/>
          </a:xfrm>
          <a:prstGeom prst="rect">
            <a:avLst/>
          </a:prstGeom>
          <a:noFill/>
          <a:ln/>
        </p:spPr>
        <p:txBody>
          <a:bodyPr wrap="square" lIns="0" tIns="0" rIns="0" bIns="0" rtlCol="0" anchor="ctr"/>
          <a:lstStyle/>
          <a:p>
            <a:pPr marL="0" indent="0" algn="ctr">
              <a:buNone/>
            </a:pPr>
            <a:r>
              <a:rPr lang="en-US" sz="1000" b="1" dirty="0">
                <a:solidFill>
                  <a:srgbClr val="FFFFFF"/>
                </a:solidFill>
                <a:latin typeface="Arial" pitchFamily="34" charset="0"/>
                <a:ea typeface="Arial" pitchFamily="34" charset="-122"/>
                <a:cs typeface="Arial" pitchFamily="34" charset="-120"/>
              </a:rPr>
              <a:t>02</a:t>
            </a:r>
            <a:endParaRPr lang="en-US" sz="1000" dirty="0"/>
          </a:p>
        </p:txBody>
      </p:sp>
      <p:sp>
        <p:nvSpPr>
          <p:cNvPr id="19" name="Text 17"/>
          <p:cNvSpPr/>
          <p:nvPr/>
        </p:nvSpPr>
        <p:spPr>
          <a:xfrm>
            <a:off x="658368" y="1618488"/>
            <a:ext cx="3566160" cy="256032"/>
          </a:xfrm>
          <a:prstGeom prst="rect">
            <a:avLst/>
          </a:prstGeom>
          <a:noFill/>
          <a:ln/>
        </p:spPr>
        <p:txBody>
          <a:bodyPr wrap="square" lIns="0" tIns="0" rIns="0" bIns="0" rtlCol="0" anchor="ctr"/>
          <a:lstStyle/>
          <a:p>
            <a:pPr marL="0" indent="0">
              <a:buNone/>
            </a:pPr>
            <a:r>
              <a:rPr lang="en-US" sz="1150" dirty="0">
                <a:solidFill>
                  <a:srgbClr val="5A5A5A"/>
                </a:solidFill>
                <a:latin typeface="Calibri" pitchFamily="34" charset="0"/>
                <a:ea typeface="Calibri" pitchFamily="34" charset="-122"/>
                <a:cs typeface="Calibri" pitchFamily="34" charset="-120"/>
              </a:rPr>
              <a:t>Objectives of Test Case Development</a:t>
            </a:r>
            <a:endParaRPr lang="en-US" sz="1150" dirty="0"/>
          </a:p>
        </p:txBody>
      </p:sp>
      <p:sp>
        <p:nvSpPr>
          <p:cNvPr id="20" name="Shape 18"/>
          <p:cNvSpPr/>
          <p:nvPr/>
        </p:nvSpPr>
        <p:spPr>
          <a:xfrm>
            <a:off x="274320" y="2029968"/>
            <a:ext cx="329184" cy="274320"/>
          </a:xfrm>
          <a:prstGeom prst="rect">
            <a:avLst/>
          </a:prstGeom>
          <a:solidFill>
            <a:srgbClr val="FF6500"/>
          </a:solidFill>
          <a:ln w="12700">
            <a:solidFill>
              <a:srgbClr val="FF6500"/>
            </a:solidFill>
            <a:prstDash val="solid"/>
          </a:ln>
        </p:spPr>
      </p:sp>
      <p:sp>
        <p:nvSpPr>
          <p:cNvPr id="21" name="Text 19"/>
          <p:cNvSpPr/>
          <p:nvPr/>
        </p:nvSpPr>
        <p:spPr>
          <a:xfrm>
            <a:off x="274320" y="2029968"/>
            <a:ext cx="329184" cy="274320"/>
          </a:xfrm>
          <a:prstGeom prst="rect">
            <a:avLst/>
          </a:prstGeom>
          <a:noFill/>
          <a:ln/>
        </p:spPr>
        <p:txBody>
          <a:bodyPr wrap="square" lIns="0" tIns="0" rIns="0" bIns="0" rtlCol="0" anchor="ctr"/>
          <a:lstStyle/>
          <a:p>
            <a:pPr marL="0" indent="0" algn="ctr">
              <a:buNone/>
            </a:pPr>
            <a:r>
              <a:rPr lang="en-US" sz="1000" b="1" dirty="0">
                <a:solidFill>
                  <a:srgbClr val="FFFFFF"/>
                </a:solidFill>
                <a:latin typeface="Arial" pitchFamily="34" charset="0"/>
                <a:ea typeface="Arial" pitchFamily="34" charset="-122"/>
                <a:cs typeface="Arial" pitchFamily="34" charset="-120"/>
              </a:rPr>
              <a:t>03</a:t>
            </a:r>
            <a:endParaRPr lang="en-US" sz="1000" dirty="0"/>
          </a:p>
        </p:txBody>
      </p:sp>
      <p:sp>
        <p:nvSpPr>
          <p:cNvPr id="22" name="Text 20"/>
          <p:cNvSpPr/>
          <p:nvPr/>
        </p:nvSpPr>
        <p:spPr>
          <a:xfrm>
            <a:off x="658368" y="2048256"/>
            <a:ext cx="3566160" cy="256032"/>
          </a:xfrm>
          <a:prstGeom prst="rect">
            <a:avLst/>
          </a:prstGeom>
          <a:noFill/>
          <a:ln/>
        </p:spPr>
        <p:txBody>
          <a:bodyPr wrap="square" lIns="0" tIns="0" rIns="0" bIns="0" rtlCol="0" anchor="ctr"/>
          <a:lstStyle/>
          <a:p>
            <a:pPr marL="0" indent="0">
              <a:buNone/>
            </a:pPr>
            <a:r>
              <a:rPr lang="en-US" sz="1150" dirty="0">
                <a:solidFill>
                  <a:srgbClr val="2C2C2C"/>
                </a:solidFill>
                <a:latin typeface="Calibri" pitchFamily="34" charset="0"/>
                <a:ea typeface="Calibri" pitchFamily="34" charset="-122"/>
                <a:cs typeface="Calibri" pitchFamily="34" charset="-120"/>
              </a:rPr>
              <a:t>Understanding Requirements &amp; RTM</a:t>
            </a:r>
            <a:endParaRPr lang="en-US" sz="1150" dirty="0"/>
          </a:p>
        </p:txBody>
      </p:sp>
      <p:sp>
        <p:nvSpPr>
          <p:cNvPr id="23" name="Shape 21"/>
          <p:cNvSpPr/>
          <p:nvPr/>
        </p:nvSpPr>
        <p:spPr>
          <a:xfrm>
            <a:off x="274320" y="2459736"/>
            <a:ext cx="329184" cy="274320"/>
          </a:xfrm>
          <a:prstGeom prst="rect">
            <a:avLst/>
          </a:prstGeom>
          <a:solidFill>
            <a:srgbClr val="FF6500"/>
          </a:solidFill>
          <a:ln w="12700">
            <a:solidFill>
              <a:srgbClr val="FF6500"/>
            </a:solidFill>
            <a:prstDash val="solid"/>
          </a:ln>
        </p:spPr>
      </p:sp>
      <p:sp>
        <p:nvSpPr>
          <p:cNvPr id="24" name="Text 22"/>
          <p:cNvSpPr/>
          <p:nvPr/>
        </p:nvSpPr>
        <p:spPr>
          <a:xfrm>
            <a:off x="274320" y="2459736"/>
            <a:ext cx="329184" cy="274320"/>
          </a:xfrm>
          <a:prstGeom prst="rect">
            <a:avLst/>
          </a:prstGeom>
          <a:noFill/>
          <a:ln/>
        </p:spPr>
        <p:txBody>
          <a:bodyPr wrap="square" lIns="0" tIns="0" rIns="0" bIns="0" rtlCol="0" anchor="ctr"/>
          <a:lstStyle/>
          <a:p>
            <a:pPr marL="0" indent="0" algn="ctr">
              <a:buNone/>
            </a:pPr>
            <a:r>
              <a:rPr lang="en-US" sz="1000" b="1" dirty="0">
                <a:solidFill>
                  <a:srgbClr val="FFFFFF"/>
                </a:solidFill>
                <a:latin typeface="Arial" pitchFamily="34" charset="0"/>
                <a:ea typeface="Arial" pitchFamily="34" charset="-122"/>
                <a:cs typeface="Arial" pitchFamily="34" charset="-120"/>
              </a:rPr>
              <a:t>04</a:t>
            </a:r>
            <a:endParaRPr lang="en-US" sz="1000" dirty="0"/>
          </a:p>
        </p:txBody>
      </p:sp>
      <p:sp>
        <p:nvSpPr>
          <p:cNvPr id="25" name="Text 23"/>
          <p:cNvSpPr/>
          <p:nvPr/>
        </p:nvSpPr>
        <p:spPr>
          <a:xfrm>
            <a:off x="658368" y="2478024"/>
            <a:ext cx="3566160" cy="256032"/>
          </a:xfrm>
          <a:prstGeom prst="rect">
            <a:avLst/>
          </a:prstGeom>
          <a:noFill/>
          <a:ln/>
        </p:spPr>
        <p:txBody>
          <a:bodyPr wrap="square" lIns="0" tIns="0" rIns="0" bIns="0" rtlCol="0" anchor="ctr"/>
          <a:lstStyle/>
          <a:p>
            <a:pPr marL="0" indent="0">
              <a:buNone/>
            </a:pPr>
            <a:r>
              <a:rPr lang="en-US" sz="1150" dirty="0">
                <a:solidFill>
                  <a:srgbClr val="5A5A5A"/>
                </a:solidFill>
                <a:latin typeface="Calibri" pitchFamily="34" charset="0"/>
                <a:ea typeface="Calibri" pitchFamily="34" charset="-122"/>
                <a:cs typeface="Calibri" pitchFamily="34" charset="-120"/>
              </a:rPr>
              <a:t>Structure of a Test Case — All 11 Fields</a:t>
            </a:r>
            <a:endParaRPr lang="en-US" sz="1150" dirty="0"/>
          </a:p>
        </p:txBody>
      </p:sp>
      <p:sp>
        <p:nvSpPr>
          <p:cNvPr id="26" name="Shape 24"/>
          <p:cNvSpPr/>
          <p:nvPr/>
        </p:nvSpPr>
        <p:spPr>
          <a:xfrm>
            <a:off x="274320" y="2889504"/>
            <a:ext cx="329184" cy="274320"/>
          </a:xfrm>
          <a:prstGeom prst="rect">
            <a:avLst/>
          </a:prstGeom>
          <a:solidFill>
            <a:srgbClr val="FF6500"/>
          </a:solidFill>
          <a:ln w="12700">
            <a:solidFill>
              <a:srgbClr val="FF6500"/>
            </a:solidFill>
            <a:prstDash val="solid"/>
          </a:ln>
        </p:spPr>
      </p:sp>
      <p:sp>
        <p:nvSpPr>
          <p:cNvPr id="27" name="Text 25"/>
          <p:cNvSpPr/>
          <p:nvPr/>
        </p:nvSpPr>
        <p:spPr>
          <a:xfrm>
            <a:off x="274320" y="2889504"/>
            <a:ext cx="329184" cy="274320"/>
          </a:xfrm>
          <a:prstGeom prst="rect">
            <a:avLst/>
          </a:prstGeom>
          <a:noFill/>
          <a:ln/>
        </p:spPr>
        <p:txBody>
          <a:bodyPr wrap="square" lIns="0" tIns="0" rIns="0" bIns="0" rtlCol="0" anchor="ctr"/>
          <a:lstStyle/>
          <a:p>
            <a:pPr marL="0" indent="0" algn="ctr">
              <a:buNone/>
            </a:pPr>
            <a:r>
              <a:rPr lang="en-US" sz="1000" b="1" dirty="0">
                <a:solidFill>
                  <a:srgbClr val="FFFFFF"/>
                </a:solidFill>
                <a:latin typeface="Arial" pitchFamily="34" charset="0"/>
                <a:ea typeface="Arial" pitchFamily="34" charset="-122"/>
                <a:cs typeface="Arial" pitchFamily="34" charset="-120"/>
              </a:rPr>
              <a:t>05</a:t>
            </a:r>
            <a:endParaRPr lang="en-US" sz="1000" dirty="0"/>
          </a:p>
        </p:txBody>
      </p:sp>
      <p:sp>
        <p:nvSpPr>
          <p:cNvPr id="28" name="Text 26"/>
          <p:cNvSpPr/>
          <p:nvPr/>
        </p:nvSpPr>
        <p:spPr>
          <a:xfrm>
            <a:off x="658368" y="2907792"/>
            <a:ext cx="3566160" cy="256032"/>
          </a:xfrm>
          <a:prstGeom prst="rect">
            <a:avLst/>
          </a:prstGeom>
          <a:noFill/>
          <a:ln/>
        </p:spPr>
        <p:txBody>
          <a:bodyPr wrap="square" lIns="0" tIns="0" rIns="0" bIns="0" rtlCol="0" anchor="ctr"/>
          <a:lstStyle/>
          <a:p>
            <a:pPr marL="0" indent="0">
              <a:buNone/>
            </a:pPr>
            <a:r>
              <a:rPr lang="en-US" sz="1150" dirty="0">
                <a:solidFill>
                  <a:srgbClr val="2C2C2C"/>
                </a:solidFill>
                <a:latin typeface="Calibri" pitchFamily="34" charset="0"/>
                <a:ea typeface="Calibri" pitchFamily="34" charset="-122"/>
                <a:cs typeface="Calibri" pitchFamily="34" charset="-120"/>
              </a:rPr>
              <a:t>Types of Test Cases with Examples</a:t>
            </a:r>
            <a:endParaRPr lang="en-US" sz="1150" dirty="0"/>
          </a:p>
        </p:txBody>
      </p:sp>
      <p:sp>
        <p:nvSpPr>
          <p:cNvPr id="29" name="Shape 27"/>
          <p:cNvSpPr/>
          <p:nvPr/>
        </p:nvSpPr>
        <p:spPr>
          <a:xfrm>
            <a:off x="274320" y="3319272"/>
            <a:ext cx="329184" cy="274320"/>
          </a:xfrm>
          <a:prstGeom prst="rect">
            <a:avLst/>
          </a:prstGeom>
          <a:solidFill>
            <a:srgbClr val="FF6500"/>
          </a:solidFill>
          <a:ln w="12700">
            <a:solidFill>
              <a:srgbClr val="FF6500"/>
            </a:solidFill>
            <a:prstDash val="solid"/>
          </a:ln>
        </p:spPr>
      </p:sp>
      <p:sp>
        <p:nvSpPr>
          <p:cNvPr id="30" name="Text 28"/>
          <p:cNvSpPr/>
          <p:nvPr/>
        </p:nvSpPr>
        <p:spPr>
          <a:xfrm>
            <a:off x="274320" y="3319272"/>
            <a:ext cx="329184" cy="274320"/>
          </a:xfrm>
          <a:prstGeom prst="rect">
            <a:avLst/>
          </a:prstGeom>
          <a:noFill/>
          <a:ln/>
        </p:spPr>
        <p:txBody>
          <a:bodyPr wrap="square" lIns="0" tIns="0" rIns="0" bIns="0" rtlCol="0" anchor="ctr"/>
          <a:lstStyle/>
          <a:p>
            <a:pPr marL="0" indent="0" algn="ctr">
              <a:buNone/>
            </a:pPr>
            <a:r>
              <a:rPr lang="en-US" sz="1000" b="1" dirty="0">
                <a:solidFill>
                  <a:srgbClr val="FFFFFF"/>
                </a:solidFill>
                <a:latin typeface="Arial" pitchFamily="34" charset="0"/>
                <a:ea typeface="Arial" pitchFamily="34" charset="-122"/>
                <a:cs typeface="Arial" pitchFamily="34" charset="-120"/>
              </a:rPr>
              <a:t>06</a:t>
            </a:r>
            <a:endParaRPr lang="en-US" sz="1000" dirty="0"/>
          </a:p>
        </p:txBody>
      </p:sp>
      <p:sp>
        <p:nvSpPr>
          <p:cNvPr id="31" name="Text 29"/>
          <p:cNvSpPr/>
          <p:nvPr/>
        </p:nvSpPr>
        <p:spPr>
          <a:xfrm>
            <a:off x="658368" y="3337560"/>
            <a:ext cx="3566160" cy="256032"/>
          </a:xfrm>
          <a:prstGeom prst="rect">
            <a:avLst/>
          </a:prstGeom>
          <a:noFill/>
          <a:ln/>
        </p:spPr>
        <p:txBody>
          <a:bodyPr wrap="square" lIns="0" tIns="0" rIns="0" bIns="0" rtlCol="0" anchor="ctr"/>
          <a:lstStyle/>
          <a:p>
            <a:pPr marL="0" indent="0">
              <a:buNone/>
            </a:pPr>
            <a:r>
              <a:rPr lang="en-US" sz="1150" dirty="0">
                <a:solidFill>
                  <a:srgbClr val="5A5A5A"/>
                </a:solidFill>
                <a:latin typeface="Calibri" pitchFamily="34" charset="0"/>
                <a:ea typeface="Calibri" pitchFamily="34" charset="-122"/>
                <a:cs typeface="Calibri" pitchFamily="34" charset="-120"/>
              </a:rPr>
              <a:t>Test Case Design Techniques</a:t>
            </a:r>
            <a:endParaRPr lang="en-US" sz="1150" dirty="0"/>
          </a:p>
        </p:txBody>
      </p:sp>
      <p:sp>
        <p:nvSpPr>
          <p:cNvPr id="32" name="Shape 30"/>
          <p:cNvSpPr/>
          <p:nvPr/>
        </p:nvSpPr>
        <p:spPr>
          <a:xfrm>
            <a:off x="274320" y="3749040"/>
            <a:ext cx="329184" cy="274320"/>
          </a:xfrm>
          <a:prstGeom prst="rect">
            <a:avLst/>
          </a:prstGeom>
          <a:solidFill>
            <a:srgbClr val="FF6500"/>
          </a:solidFill>
          <a:ln w="12700">
            <a:solidFill>
              <a:srgbClr val="FF6500"/>
            </a:solidFill>
            <a:prstDash val="solid"/>
          </a:ln>
        </p:spPr>
      </p:sp>
      <p:sp>
        <p:nvSpPr>
          <p:cNvPr id="33" name="Text 31"/>
          <p:cNvSpPr/>
          <p:nvPr/>
        </p:nvSpPr>
        <p:spPr>
          <a:xfrm>
            <a:off x="274320" y="3749040"/>
            <a:ext cx="329184" cy="274320"/>
          </a:xfrm>
          <a:prstGeom prst="rect">
            <a:avLst/>
          </a:prstGeom>
          <a:noFill/>
          <a:ln/>
        </p:spPr>
        <p:txBody>
          <a:bodyPr wrap="square" lIns="0" tIns="0" rIns="0" bIns="0" rtlCol="0" anchor="ctr"/>
          <a:lstStyle/>
          <a:p>
            <a:pPr marL="0" indent="0" algn="ctr">
              <a:buNone/>
            </a:pPr>
            <a:r>
              <a:rPr lang="en-US" sz="1000" b="1" dirty="0">
                <a:solidFill>
                  <a:srgbClr val="FFFFFF"/>
                </a:solidFill>
                <a:latin typeface="Arial" pitchFamily="34" charset="0"/>
                <a:ea typeface="Arial" pitchFamily="34" charset="-122"/>
                <a:cs typeface="Arial" pitchFamily="34" charset="-120"/>
              </a:rPr>
              <a:t>07</a:t>
            </a:r>
            <a:endParaRPr lang="en-US" sz="1000" dirty="0"/>
          </a:p>
        </p:txBody>
      </p:sp>
      <p:sp>
        <p:nvSpPr>
          <p:cNvPr id="34" name="Text 32"/>
          <p:cNvSpPr/>
          <p:nvPr/>
        </p:nvSpPr>
        <p:spPr>
          <a:xfrm>
            <a:off x="658368" y="3767328"/>
            <a:ext cx="3566160" cy="256032"/>
          </a:xfrm>
          <a:prstGeom prst="rect">
            <a:avLst/>
          </a:prstGeom>
          <a:noFill/>
          <a:ln/>
        </p:spPr>
        <p:txBody>
          <a:bodyPr wrap="square" lIns="0" tIns="0" rIns="0" bIns="0" rtlCol="0" anchor="ctr"/>
          <a:lstStyle/>
          <a:p>
            <a:pPr marL="0" indent="0">
              <a:buNone/>
            </a:pPr>
            <a:r>
              <a:rPr lang="en-US" sz="1150" dirty="0">
                <a:solidFill>
                  <a:srgbClr val="2C2C2C"/>
                </a:solidFill>
                <a:latin typeface="Calibri" pitchFamily="34" charset="0"/>
                <a:ea typeface="Calibri" pitchFamily="34" charset="-122"/>
                <a:cs typeface="Calibri" pitchFamily="34" charset="-120"/>
              </a:rPr>
              <a:t>Best Practices for Writing Test Cases</a:t>
            </a:r>
            <a:endParaRPr lang="en-US" sz="1150" dirty="0"/>
          </a:p>
        </p:txBody>
      </p:sp>
      <p:sp>
        <p:nvSpPr>
          <p:cNvPr id="35" name="Shape 33"/>
          <p:cNvSpPr/>
          <p:nvPr/>
        </p:nvSpPr>
        <p:spPr>
          <a:xfrm>
            <a:off x="274320" y="4178808"/>
            <a:ext cx="329184" cy="274320"/>
          </a:xfrm>
          <a:prstGeom prst="rect">
            <a:avLst/>
          </a:prstGeom>
          <a:solidFill>
            <a:srgbClr val="FF6500"/>
          </a:solidFill>
          <a:ln w="12700">
            <a:solidFill>
              <a:srgbClr val="FF6500"/>
            </a:solidFill>
            <a:prstDash val="solid"/>
          </a:ln>
        </p:spPr>
      </p:sp>
      <p:sp>
        <p:nvSpPr>
          <p:cNvPr id="36" name="Text 34"/>
          <p:cNvSpPr/>
          <p:nvPr/>
        </p:nvSpPr>
        <p:spPr>
          <a:xfrm>
            <a:off x="274320" y="4178808"/>
            <a:ext cx="329184" cy="274320"/>
          </a:xfrm>
          <a:prstGeom prst="rect">
            <a:avLst/>
          </a:prstGeom>
          <a:noFill/>
          <a:ln/>
        </p:spPr>
        <p:txBody>
          <a:bodyPr wrap="square" lIns="0" tIns="0" rIns="0" bIns="0" rtlCol="0" anchor="ctr"/>
          <a:lstStyle/>
          <a:p>
            <a:pPr marL="0" indent="0" algn="ctr">
              <a:buNone/>
            </a:pPr>
            <a:r>
              <a:rPr lang="en-US" sz="1000" b="1" dirty="0">
                <a:solidFill>
                  <a:srgbClr val="FFFFFF"/>
                </a:solidFill>
                <a:latin typeface="Arial" pitchFamily="34" charset="0"/>
                <a:ea typeface="Arial" pitchFamily="34" charset="-122"/>
                <a:cs typeface="Arial" pitchFamily="34" charset="-120"/>
              </a:rPr>
              <a:t>08</a:t>
            </a:r>
            <a:endParaRPr lang="en-US" sz="1000" dirty="0"/>
          </a:p>
        </p:txBody>
      </p:sp>
      <p:sp>
        <p:nvSpPr>
          <p:cNvPr id="37" name="Text 35"/>
          <p:cNvSpPr/>
          <p:nvPr/>
        </p:nvSpPr>
        <p:spPr>
          <a:xfrm>
            <a:off x="658368" y="4197096"/>
            <a:ext cx="3566160" cy="256032"/>
          </a:xfrm>
          <a:prstGeom prst="rect">
            <a:avLst/>
          </a:prstGeom>
          <a:noFill/>
          <a:ln/>
        </p:spPr>
        <p:txBody>
          <a:bodyPr wrap="square" lIns="0" tIns="0" rIns="0" bIns="0" rtlCol="0" anchor="ctr"/>
          <a:lstStyle/>
          <a:p>
            <a:pPr marL="0" indent="0">
              <a:buNone/>
            </a:pPr>
            <a:r>
              <a:rPr lang="en-US" sz="1150" dirty="0">
                <a:solidFill>
                  <a:srgbClr val="5A5A5A"/>
                </a:solidFill>
                <a:latin typeface="Calibri" pitchFamily="34" charset="0"/>
                <a:ea typeface="Calibri" pitchFamily="34" charset="-122"/>
                <a:cs typeface="Calibri" pitchFamily="34" charset="-120"/>
              </a:rPr>
              <a:t>Test Data Preparation</a:t>
            </a:r>
            <a:endParaRPr lang="en-US" sz="1150" dirty="0"/>
          </a:p>
        </p:txBody>
      </p:sp>
      <p:sp>
        <p:nvSpPr>
          <p:cNvPr id="38" name="Shape 36"/>
          <p:cNvSpPr/>
          <p:nvPr/>
        </p:nvSpPr>
        <p:spPr>
          <a:xfrm>
            <a:off x="4800600" y="1170432"/>
            <a:ext cx="329184" cy="274320"/>
          </a:xfrm>
          <a:prstGeom prst="rect">
            <a:avLst/>
          </a:prstGeom>
          <a:solidFill>
            <a:srgbClr val="FF6500"/>
          </a:solidFill>
          <a:ln w="12700">
            <a:solidFill>
              <a:srgbClr val="FF6500"/>
            </a:solidFill>
            <a:prstDash val="solid"/>
          </a:ln>
        </p:spPr>
      </p:sp>
      <p:sp>
        <p:nvSpPr>
          <p:cNvPr id="39" name="Text 37"/>
          <p:cNvSpPr/>
          <p:nvPr/>
        </p:nvSpPr>
        <p:spPr>
          <a:xfrm>
            <a:off x="4800600" y="1170432"/>
            <a:ext cx="329184" cy="274320"/>
          </a:xfrm>
          <a:prstGeom prst="rect">
            <a:avLst/>
          </a:prstGeom>
          <a:noFill/>
          <a:ln/>
        </p:spPr>
        <p:txBody>
          <a:bodyPr wrap="square" lIns="0" tIns="0" rIns="0" bIns="0" rtlCol="0" anchor="ctr"/>
          <a:lstStyle/>
          <a:p>
            <a:pPr marL="0" indent="0" algn="ctr">
              <a:buNone/>
            </a:pPr>
            <a:r>
              <a:rPr lang="en-US" sz="1000" b="1" dirty="0">
                <a:solidFill>
                  <a:srgbClr val="FFFFFF"/>
                </a:solidFill>
                <a:latin typeface="Arial" pitchFamily="34" charset="0"/>
                <a:ea typeface="Arial" pitchFamily="34" charset="-122"/>
                <a:cs typeface="Arial" pitchFamily="34" charset="-120"/>
              </a:rPr>
              <a:t>09</a:t>
            </a:r>
            <a:endParaRPr lang="en-US" sz="1000" dirty="0"/>
          </a:p>
        </p:txBody>
      </p:sp>
      <p:sp>
        <p:nvSpPr>
          <p:cNvPr id="40" name="Text 38"/>
          <p:cNvSpPr/>
          <p:nvPr/>
        </p:nvSpPr>
        <p:spPr>
          <a:xfrm>
            <a:off x="5184648" y="1188720"/>
            <a:ext cx="3566160" cy="256032"/>
          </a:xfrm>
          <a:prstGeom prst="rect">
            <a:avLst/>
          </a:prstGeom>
          <a:noFill/>
          <a:ln/>
        </p:spPr>
        <p:txBody>
          <a:bodyPr wrap="square" lIns="0" tIns="0" rIns="0" bIns="0" rtlCol="0" anchor="ctr"/>
          <a:lstStyle/>
          <a:p>
            <a:pPr marL="0" indent="0">
              <a:buNone/>
            </a:pPr>
            <a:r>
              <a:rPr lang="en-US" sz="1150" dirty="0">
                <a:solidFill>
                  <a:srgbClr val="2C2C2C"/>
                </a:solidFill>
                <a:latin typeface="Calibri" pitchFamily="34" charset="0"/>
                <a:ea typeface="Calibri" pitchFamily="34" charset="-122"/>
                <a:cs typeface="Calibri" pitchFamily="34" charset="-120"/>
              </a:rPr>
              <a:t>Manual vs Automated Test Cases</a:t>
            </a:r>
            <a:endParaRPr lang="en-US" sz="1150" dirty="0"/>
          </a:p>
        </p:txBody>
      </p:sp>
      <p:sp>
        <p:nvSpPr>
          <p:cNvPr id="41" name="Shape 39"/>
          <p:cNvSpPr/>
          <p:nvPr/>
        </p:nvSpPr>
        <p:spPr>
          <a:xfrm>
            <a:off x="4800600" y="1600200"/>
            <a:ext cx="329184" cy="274320"/>
          </a:xfrm>
          <a:prstGeom prst="rect">
            <a:avLst/>
          </a:prstGeom>
          <a:solidFill>
            <a:srgbClr val="FF6500"/>
          </a:solidFill>
          <a:ln w="12700">
            <a:solidFill>
              <a:srgbClr val="FF6500"/>
            </a:solidFill>
            <a:prstDash val="solid"/>
          </a:ln>
        </p:spPr>
      </p:sp>
      <p:sp>
        <p:nvSpPr>
          <p:cNvPr id="42" name="Text 40"/>
          <p:cNvSpPr/>
          <p:nvPr/>
        </p:nvSpPr>
        <p:spPr>
          <a:xfrm>
            <a:off x="4800600" y="1600200"/>
            <a:ext cx="329184" cy="274320"/>
          </a:xfrm>
          <a:prstGeom prst="rect">
            <a:avLst/>
          </a:prstGeom>
          <a:noFill/>
          <a:ln/>
        </p:spPr>
        <p:txBody>
          <a:bodyPr wrap="square" lIns="0" tIns="0" rIns="0" bIns="0" rtlCol="0" anchor="ctr"/>
          <a:lstStyle/>
          <a:p>
            <a:pPr marL="0" indent="0" algn="ctr">
              <a:buNone/>
            </a:pPr>
            <a:r>
              <a:rPr lang="en-US" sz="1000" b="1" dirty="0">
                <a:solidFill>
                  <a:srgbClr val="FFFFFF"/>
                </a:solidFill>
                <a:latin typeface="Arial" pitchFamily="34" charset="0"/>
                <a:ea typeface="Arial" pitchFamily="34" charset="-122"/>
                <a:cs typeface="Arial" pitchFamily="34" charset="-120"/>
              </a:rPr>
              <a:t>10</a:t>
            </a:r>
            <a:endParaRPr lang="en-US" sz="1000" dirty="0"/>
          </a:p>
        </p:txBody>
      </p:sp>
      <p:sp>
        <p:nvSpPr>
          <p:cNvPr id="43" name="Text 41"/>
          <p:cNvSpPr/>
          <p:nvPr/>
        </p:nvSpPr>
        <p:spPr>
          <a:xfrm>
            <a:off x="5184648" y="1618488"/>
            <a:ext cx="3566160" cy="256032"/>
          </a:xfrm>
          <a:prstGeom prst="rect">
            <a:avLst/>
          </a:prstGeom>
          <a:noFill/>
          <a:ln/>
        </p:spPr>
        <p:txBody>
          <a:bodyPr wrap="square" lIns="0" tIns="0" rIns="0" bIns="0" rtlCol="0" anchor="ctr"/>
          <a:lstStyle/>
          <a:p>
            <a:pPr marL="0" indent="0">
              <a:buNone/>
            </a:pPr>
            <a:r>
              <a:rPr lang="en-US" sz="1150" dirty="0">
                <a:solidFill>
                  <a:srgbClr val="5A5A5A"/>
                </a:solidFill>
                <a:latin typeface="Calibri" pitchFamily="34" charset="0"/>
                <a:ea typeface="Calibri" pitchFamily="34" charset="-122"/>
                <a:cs typeface="Calibri" pitchFamily="34" charset="-120"/>
              </a:rPr>
              <a:t>Selenium &amp; Playwright Code Examples</a:t>
            </a:r>
            <a:endParaRPr lang="en-US" sz="1150" dirty="0"/>
          </a:p>
        </p:txBody>
      </p:sp>
      <p:sp>
        <p:nvSpPr>
          <p:cNvPr id="44" name="Shape 42"/>
          <p:cNvSpPr/>
          <p:nvPr/>
        </p:nvSpPr>
        <p:spPr>
          <a:xfrm>
            <a:off x="4800600" y="2029968"/>
            <a:ext cx="329184" cy="274320"/>
          </a:xfrm>
          <a:prstGeom prst="rect">
            <a:avLst/>
          </a:prstGeom>
          <a:solidFill>
            <a:srgbClr val="FF6500"/>
          </a:solidFill>
          <a:ln w="12700">
            <a:solidFill>
              <a:srgbClr val="FF6500"/>
            </a:solidFill>
            <a:prstDash val="solid"/>
          </a:ln>
        </p:spPr>
      </p:sp>
      <p:sp>
        <p:nvSpPr>
          <p:cNvPr id="45" name="Text 43"/>
          <p:cNvSpPr/>
          <p:nvPr/>
        </p:nvSpPr>
        <p:spPr>
          <a:xfrm>
            <a:off x="4800600" y="2029968"/>
            <a:ext cx="329184" cy="274320"/>
          </a:xfrm>
          <a:prstGeom prst="rect">
            <a:avLst/>
          </a:prstGeom>
          <a:noFill/>
          <a:ln/>
        </p:spPr>
        <p:txBody>
          <a:bodyPr wrap="square" lIns="0" tIns="0" rIns="0" bIns="0" rtlCol="0" anchor="ctr"/>
          <a:lstStyle/>
          <a:p>
            <a:pPr marL="0" indent="0" algn="ctr">
              <a:buNone/>
            </a:pPr>
            <a:r>
              <a:rPr lang="en-US" sz="1000" b="1" dirty="0">
                <a:solidFill>
                  <a:srgbClr val="FFFFFF"/>
                </a:solidFill>
                <a:latin typeface="Arial" pitchFamily="34" charset="0"/>
                <a:ea typeface="Arial" pitchFamily="34" charset="-122"/>
                <a:cs typeface="Arial" pitchFamily="34" charset="-120"/>
              </a:rPr>
              <a:t>11</a:t>
            </a:r>
            <a:endParaRPr lang="en-US" sz="1000" dirty="0"/>
          </a:p>
        </p:txBody>
      </p:sp>
      <p:sp>
        <p:nvSpPr>
          <p:cNvPr id="46" name="Text 44"/>
          <p:cNvSpPr/>
          <p:nvPr/>
        </p:nvSpPr>
        <p:spPr>
          <a:xfrm>
            <a:off x="5184648" y="2048256"/>
            <a:ext cx="3566160" cy="256032"/>
          </a:xfrm>
          <a:prstGeom prst="rect">
            <a:avLst/>
          </a:prstGeom>
          <a:noFill/>
          <a:ln/>
        </p:spPr>
        <p:txBody>
          <a:bodyPr wrap="square" lIns="0" tIns="0" rIns="0" bIns="0" rtlCol="0" anchor="ctr"/>
          <a:lstStyle/>
          <a:p>
            <a:pPr marL="0" indent="0">
              <a:buNone/>
            </a:pPr>
            <a:r>
              <a:rPr lang="en-US" sz="1150" dirty="0">
                <a:solidFill>
                  <a:srgbClr val="2C2C2C"/>
                </a:solidFill>
                <a:latin typeface="Calibri" pitchFamily="34" charset="0"/>
                <a:ea typeface="Calibri" pitchFamily="34" charset="-122"/>
                <a:cs typeface="Calibri" pitchFamily="34" charset="-120"/>
              </a:rPr>
              <a:t>Test Case Review &amp; Optimization</a:t>
            </a:r>
            <a:endParaRPr lang="en-US" sz="1150" dirty="0"/>
          </a:p>
        </p:txBody>
      </p:sp>
      <p:sp>
        <p:nvSpPr>
          <p:cNvPr id="47" name="Shape 45"/>
          <p:cNvSpPr/>
          <p:nvPr/>
        </p:nvSpPr>
        <p:spPr>
          <a:xfrm>
            <a:off x="4800600" y="2459736"/>
            <a:ext cx="329184" cy="274320"/>
          </a:xfrm>
          <a:prstGeom prst="rect">
            <a:avLst/>
          </a:prstGeom>
          <a:solidFill>
            <a:srgbClr val="FF6500"/>
          </a:solidFill>
          <a:ln w="12700">
            <a:solidFill>
              <a:srgbClr val="FF6500"/>
            </a:solidFill>
            <a:prstDash val="solid"/>
          </a:ln>
        </p:spPr>
      </p:sp>
      <p:sp>
        <p:nvSpPr>
          <p:cNvPr id="48" name="Text 46"/>
          <p:cNvSpPr/>
          <p:nvPr/>
        </p:nvSpPr>
        <p:spPr>
          <a:xfrm>
            <a:off x="4800600" y="2459736"/>
            <a:ext cx="329184" cy="274320"/>
          </a:xfrm>
          <a:prstGeom prst="rect">
            <a:avLst/>
          </a:prstGeom>
          <a:noFill/>
          <a:ln/>
        </p:spPr>
        <p:txBody>
          <a:bodyPr wrap="square" lIns="0" tIns="0" rIns="0" bIns="0" rtlCol="0" anchor="ctr"/>
          <a:lstStyle/>
          <a:p>
            <a:pPr marL="0" indent="0" algn="ctr">
              <a:buNone/>
            </a:pPr>
            <a:r>
              <a:rPr lang="en-US" sz="1000" b="1" dirty="0">
                <a:solidFill>
                  <a:srgbClr val="FFFFFF"/>
                </a:solidFill>
                <a:latin typeface="Arial" pitchFamily="34" charset="0"/>
                <a:ea typeface="Arial" pitchFamily="34" charset="-122"/>
                <a:cs typeface="Arial" pitchFamily="34" charset="-120"/>
              </a:rPr>
              <a:t>12</a:t>
            </a:r>
            <a:endParaRPr lang="en-US" sz="1000" dirty="0"/>
          </a:p>
        </p:txBody>
      </p:sp>
      <p:sp>
        <p:nvSpPr>
          <p:cNvPr id="49" name="Text 47"/>
          <p:cNvSpPr/>
          <p:nvPr/>
        </p:nvSpPr>
        <p:spPr>
          <a:xfrm>
            <a:off x="5184648" y="2478024"/>
            <a:ext cx="3566160" cy="256032"/>
          </a:xfrm>
          <a:prstGeom prst="rect">
            <a:avLst/>
          </a:prstGeom>
          <a:noFill/>
          <a:ln/>
        </p:spPr>
        <p:txBody>
          <a:bodyPr wrap="square" lIns="0" tIns="0" rIns="0" bIns="0" rtlCol="0" anchor="ctr"/>
          <a:lstStyle/>
          <a:p>
            <a:pPr marL="0" indent="0">
              <a:buNone/>
            </a:pPr>
            <a:r>
              <a:rPr lang="en-US" sz="1150" dirty="0">
                <a:solidFill>
                  <a:srgbClr val="5A5A5A"/>
                </a:solidFill>
                <a:latin typeface="Calibri" pitchFamily="34" charset="0"/>
                <a:ea typeface="Calibri" pitchFamily="34" charset="-122"/>
                <a:cs typeface="Calibri" pitchFamily="34" charset="-120"/>
              </a:rPr>
              <a:t>Entry &amp; Exit Criteria</a:t>
            </a:r>
            <a:endParaRPr lang="en-US" sz="1150" dirty="0"/>
          </a:p>
        </p:txBody>
      </p:sp>
      <p:sp>
        <p:nvSpPr>
          <p:cNvPr id="50" name="Shape 48"/>
          <p:cNvSpPr/>
          <p:nvPr/>
        </p:nvSpPr>
        <p:spPr>
          <a:xfrm>
            <a:off x="4800600" y="2889504"/>
            <a:ext cx="329184" cy="274320"/>
          </a:xfrm>
          <a:prstGeom prst="rect">
            <a:avLst/>
          </a:prstGeom>
          <a:solidFill>
            <a:srgbClr val="FF6500"/>
          </a:solidFill>
          <a:ln w="12700">
            <a:solidFill>
              <a:srgbClr val="FF6500"/>
            </a:solidFill>
            <a:prstDash val="solid"/>
          </a:ln>
        </p:spPr>
      </p:sp>
      <p:sp>
        <p:nvSpPr>
          <p:cNvPr id="51" name="Text 49"/>
          <p:cNvSpPr/>
          <p:nvPr/>
        </p:nvSpPr>
        <p:spPr>
          <a:xfrm>
            <a:off x="4800600" y="2889504"/>
            <a:ext cx="329184" cy="274320"/>
          </a:xfrm>
          <a:prstGeom prst="rect">
            <a:avLst/>
          </a:prstGeom>
          <a:noFill/>
          <a:ln/>
        </p:spPr>
        <p:txBody>
          <a:bodyPr wrap="square" lIns="0" tIns="0" rIns="0" bIns="0" rtlCol="0" anchor="ctr"/>
          <a:lstStyle/>
          <a:p>
            <a:pPr marL="0" indent="0" algn="ctr">
              <a:buNone/>
            </a:pPr>
            <a:r>
              <a:rPr lang="en-US" sz="1000" b="1" dirty="0">
                <a:solidFill>
                  <a:srgbClr val="FFFFFF"/>
                </a:solidFill>
                <a:latin typeface="Arial" pitchFamily="34" charset="0"/>
                <a:ea typeface="Arial" pitchFamily="34" charset="-122"/>
                <a:cs typeface="Arial" pitchFamily="34" charset="-120"/>
              </a:rPr>
              <a:t>13</a:t>
            </a:r>
            <a:endParaRPr lang="en-US" sz="1000" dirty="0"/>
          </a:p>
        </p:txBody>
      </p:sp>
      <p:sp>
        <p:nvSpPr>
          <p:cNvPr id="52" name="Text 50"/>
          <p:cNvSpPr/>
          <p:nvPr/>
        </p:nvSpPr>
        <p:spPr>
          <a:xfrm>
            <a:off x="5184648" y="2907792"/>
            <a:ext cx="3566160" cy="256032"/>
          </a:xfrm>
          <a:prstGeom prst="rect">
            <a:avLst/>
          </a:prstGeom>
          <a:noFill/>
          <a:ln/>
        </p:spPr>
        <p:txBody>
          <a:bodyPr wrap="square" lIns="0" tIns="0" rIns="0" bIns="0" rtlCol="0" anchor="ctr"/>
          <a:lstStyle/>
          <a:p>
            <a:pPr marL="0" indent="0">
              <a:buNone/>
            </a:pPr>
            <a:r>
              <a:rPr lang="en-US" sz="1150" dirty="0">
                <a:solidFill>
                  <a:srgbClr val="2C2C2C"/>
                </a:solidFill>
                <a:latin typeface="Calibri" pitchFamily="34" charset="0"/>
                <a:ea typeface="Calibri" pitchFamily="34" charset="-122"/>
                <a:cs typeface="Calibri" pitchFamily="34" charset="-120"/>
              </a:rPr>
              <a:t>Deliverables of Test Case Development</a:t>
            </a:r>
            <a:endParaRPr lang="en-US" sz="1150" dirty="0"/>
          </a:p>
        </p:txBody>
      </p:sp>
      <p:sp>
        <p:nvSpPr>
          <p:cNvPr id="53" name="Shape 51"/>
          <p:cNvSpPr/>
          <p:nvPr/>
        </p:nvSpPr>
        <p:spPr>
          <a:xfrm>
            <a:off x="4800600" y="3319272"/>
            <a:ext cx="329184" cy="274320"/>
          </a:xfrm>
          <a:prstGeom prst="rect">
            <a:avLst/>
          </a:prstGeom>
          <a:solidFill>
            <a:srgbClr val="FF6500"/>
          </a:solidFill>
          <a:ln w="12700">
            <a:solidFill>
              <a:srgbClr val="FF6500"/>
            </a:solidFill>
            <a:prstDash val="solid"/>
          </a:ln>
        </p:spPr>
      </p:sp>
      <p:sp>
        <p:nvSpPr>
          <p:cNvPr id="54" name="Text 52"/>
          <p:cNvSpPr/>
          <p:nvPr/>
        </p:nvSpPr>
        <p:spPr>
          <a:xfrm>
            <a:off x="4800600" y="3319272"/>
            <a:ext cx="329184" cy="274320"/>
          </a:xfrm>
          <a:prstGeom prst="rect">
            <a:avLst/>
          </a:prstGeom>
          <a:noFill/>
          <a:ln/>
        </p:spPr>
        <p:txBody>
          <a:bodyPr wrap="square" lIns="0" tIns="0" rIns="0" bIns="0" rtlCol="0" anchor="ctr"/>
          <a:lstStyle/>
          <a:p>
            <a:pPr marL="0" indent="0" algn="ctr">
              <a:buNone/>
            </a:pPr>
            <a:r>
              <a:rPr lang="en-US" sz="1000" b="1" dirty="0">
                <a:solidFill>
                  <a:srgbClr val="FFFFFF"/>
                </a:solidFill>
                <a:latin typeface="Arial" pitchFamily="34" charset="0"/>
                <a:ea typeface="Arial" pitchFamily="34" charset="-122"/>
                <a:cs typeface="Arial" pitchFamily="34" charset="-120"/>
              </a:rPr>
              <a:t>14</a:t>
            </a:r>
            <a:endParaRPr lang="en-US" sz="1000" dirty="0"/>
          </a:p>
        </p:txBody>
      </p:sp>
      <p:sp>
        <p:nvSpPr>
          <p:cNvPr id="55" name="Text 53"/>
          <p:cNvSpPr/>
          <p:nvPr/>
        </p:nvSpPr>
        <p:spPr>
          <a:xfrm>
            <a:off x="5184648" y="3337560"/>
            <a:ext cx="3566160" cy="256032"/>
          </a:xfrm>
          <a:prstGeom prst="rect">
            <a:avLst/>
          </a:prstGeom>
          <a:noFill/>
          <a:ln/>
        </p:spPr>
        <p:txBody>
          <a:bodyPr wrap="square" lIns="0" tIns="0" rIns="0" bIns="0" rtlCol="0" anchor="ctr"/>
          <a:lstStyle/>
          <a:p>
            <a:pPr marL="0" indent="0">
              <a:buNone/>
            </a:pPr>
            <a:r>
              <a:rPr lang="en-US" sz="1150" dirty="0">
                <a:solidFill>
                  <a:srgbClr val="5A5A5A"/>
                </a:solidFill>
                <a:latin typeface="Calibri" pitchFamily="34" charset="0"/>
                <a:ea typeface="Calibri" pitchFamily="34" charset="-122"/>
                <a:cs typeface="Calibri" pitchFamily="34" charset="-120"/>
              </a:rPr>
              <a:t>Sample Templates &amp; Real-World Examples</a:t>
            </a:r>
            <a:endParaRPr lang="en-US" sz="1150" dirty="0"/>
          </a:p>
        </p:txBody>
      </p:sp>
      <p:sp>
        <p:nvSpPr>
          <p:cNvPr id="56" name="Shape 54"/>
          <p:cNvSpPr/>
          <p:nvPr/>
        </p:nvSpPr>
        <p:spPr>
          <a:xfrm>
            <a:off x="4800600" y="3749040"/>
            <a:ext cx="329184" cy="274320"/>
          </a:xfrm>
          <a:prstGeom prst="rect">
            <a:avLst/>
          </a:prstGeom>
          <a:solidFill>
            <a:srgbClr val="FF6500"/>
          </a:solidFill>
          <a:ln w="12700">
            <a:solidFill>
              <a:srgbClr val="FF6500"/>
            </a:solidFill>
            <a:prstDash val="solid"/>
          </a:ln>
        </p:spPr>
      </p:sp>
      <p:sp>
        <p:nvSpPr>
          <p:cNvPr id="57" name="Text 55"/>
          <p:cNvSpPr/>
          <p:nvPr/>
        </p:nvSpPr>
        <p:spPr>
          <a:xfrm>
            <a:off x="4800600" y="3749040"/>
            <a:ext cx="329184" cy="274320"/>
          </a:xfrm>
          <a:prstGeom prst="rect">
            <a:avLst/>
          </a:prstGeom>
          <a:noFill/>
          <a:ln/>
        </p:spPr>
        <p:txBody>
          <a:bodyPr wrap="square" lIns="0" tIns="0" rIns="0" bIns="0" rtlCol="0" anchor="ctr"/>
          <a:lstStyle/>
          <a:p>
            <a:pPr marL="0" indent="0" algn="ctr">
              <a:buNone/>
            </a:pPr>
            <a:r>
              <a:rPr lang="en-US" sz="1000" b="1" dirty="0">
                <a:solidFill>
                  <a:srgbClr val="FFFFFF"/>
                </a:solidFill>
                <a:latin typeface="Arial" pitchFamily="34" charset="0"/>
                <a:ea typeface="Arial" pitchFamily="34" charset="-122"/>
                <a:cs typeface="Arial" pitchFamily="34" charset="-120"/>
              </a:rPr>
              <a:t>15</a:t>
            </a:r>
            <a:endParaRPr lang="en-US" sz="1000" dirty="0"/>
          </a:p>
        </p:txBody>
      </p:sp>
      <p:sp>
        <p:nvSpPr>
          <p:cNvPr id="58" name="Text 56"/>
          <p:cNvSpPr/>
          <p:nvPr/>
        </p:nvSpPr>
        <p:spPr>
          <a:xfrm>
            <a:off x="5184648" y="3767328"/>
            <a:ext cx="3566160" cy="256032"/>
          </a:xfrm>
          <a:prstGeom prst="rect">
            <a:avLst/>
          </a:prstGeom>
          <a:noFill/>
          <a:ln/>
        </p:spPr>
        <p:txBody>
          <a:bodyPr wrap="square" lIns="0" tIns="0" rIns="0" bIns="0" rtlCol="0" anchor="ctr"/>
          <a:lstStyle/>
          <a:p>
            <a:pPr marL="0" indent="0">
              <a:buNone/>
            </a:pPr>
            <a:r>
              <a:rPr lang="en-US" sz="1150" dirty="0">
                <a:solidFill>
                  <a:srgbClr val="2C2C2C"/>
                </a:solidFill>
                <a:latin typeface="Calibri" pitchFamily="34" charset="0"/>
                <a:ea typeface="Calibri" pitchFamily="34" charset="-122"/>
                <a:cs typeface="Calibri" pitchFamily="34" charset="-120"/>
              </a:rPr>
              <a:t>Common Mistakes to Avoid</a:t>
            </a:r>
            <a:endParaRPr lang="en-US" sz="1150" dirty="0"/>
          </a:p>
        </p:txBody>
      </p:sp>
      <p:sp>
        <p:nvSpPr>
          <p:cNvPr id="59" name="Shape 57"/>
          <p:cNvSpPr/>
          <p:nvPr/>
        </p:nvSpPr>
        <p:spPr>
          <a:xfrm>
            <a:off x="4800600" y="4178808"/>
            <a:ext cx="329184" cy="274320"/>
          </a:xfrm>
          <a:prstGeom prst="rect">
            <a:avLst/>
          </a:prstGeom>
          <a:solidFill>
            <a:srgbClr val="FF6500"/>
          </a:solidFill>
          <a:ln w="12700">
            <a:solidFill>
              <a:srgbClr val="FF6500"/>
            </a:solidFill>
            <a:prstDash val="solid"/>
          </a:ln>
        </p:spPr>
      </p:sp>
      <p:sp>
        <p:nvSpPr>
          <p:cNvPr id="60" name="Text 58"/>
          <p:cNvSpPr/>
          <p:nvPr/>
        </p:nvSpPr>
        <p:spPr>
          <a:xfrm>
            <a:off x="4800600" y="4178808"/>
            <a:ext cx="329184" cy="274320"/>
          </a:xfrm>
          <a:prstGeom prst="rect">
            <a:avLst/>
          </a:prstGeom>
          <a:noFill/>
          <a:ln/>
        </p:spPr>
        <p:txBody>
          <a:bodyPr wrap="square" lIns="0" tIns="0" rIns="0" bIns="0" rtlCol="0" anchor="ctr"/>
          <a:lstStyle/>
          <a:p>
            <a:pPr marL="0" indent="0" algn="ctr">
              <a:buNone/>
            </a:pPr>
            <a:r>
              <a:rPr lang="en-US" sz="1000" b="1" dirty="0">
                <a:solidFill>
                  <a:srgbClr val="FFFFFF"/>
                </a:solidFill>
                <a:latin typeface="Arial" pitchFamily="34" charset="0"/>
                <a:ea typeface="Arial" pitchFamily="34" charset="-122"/>
                <a:cs typeface="Arial" pitchFamily="34" charset="-120"/>
              </a:rPr>
              <a:t>16</a:t>
            </a:r>
            <a:endParaRPr lang="en-US" sz="1000" dirty="0"/>
          </a:p>
        </p:txBody>
      </p:sp>
      <p:sp>
        <p:nvSpPr>
          <p:cNvPr id="61" name="Text 59"/>
          <p:cNvSpPr/>
          <p:nvPr/>
        </p:nvSpPr>
        <p:spPr>
          <a:xfrm>
            <a:off x="5184648" y="4197096"/>
            <a:ext cx="3566160" cy="256032"/>
          </a:xfrm>
          <a:prstGeom prst="rect">
            <a:avLst/>
          </a:prstGeom>
          <a:noFill/>
          <a:ln/>
        </p:spPr>
        <p:txBody>
          <a:bodyPr wrap="square" lIns="0" tIns="0" rIns="0" bIns="0" rtlCol="0" anchor="ctr"/>
          <a:lstStyle/>
          <a:p>
            <a:pPr marL="0" indent="0">
              <a:buNone/>
            </a:pPr>
            <a:r>
              <a:rPr lang="en-US" sz="1150" dirty="0">
                <a:solidFill>
                  <a:srgbClr val="5A5A5A"/>
                </a:solidFill>
                <a:latin typeface="Calibri" pitchFamily="34" charset="0"/>
                <a:ea typeface="Calibri" pitchFamily="34" charset="-122"/>
                <a:cs typeface="Calibri" pitchFamily="34" charset="-120"/>
              </a:rPr>
              <a:t>Summary &amp; Key Takeaways</a:t>
            </a:r>
            <a:endParaRPr lang="en-US" sz="11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3">
    <p:bg>
      <p:bgPr>
        <a:solidFill>
          <a:srgbClr val="F5F5F5"/>
        </a:solidFill>
        <a:effectLst/>
      </p:bgPr>
    </p:bg>
    <p:spTree>
      <p:nvGrpSpPr>
        <p:cNvPr id="1" name=""/>
        <p:cNvGrpSpPr/>
        <p:nvPr/>
      </p:nvGrpSpPr>
      <p:grpSpPr>
        <a:xfrm>
          <a:off x="0" y="0"/>
          <a:ext cx="0" cy="0"/>
          <a:chOff x="0" y="0"/>
          <a:chExt cx="0" cy="0"/>
        </a:xfrm>
      </p:grpSpPr>
      <p:sp>
        <p:nvSpPr>
          <p:cNvPr id="2" name="Shape 0"/>
          <p:cNvSpPr/>
          <p:nvPr/>
        </p:nvSpPr>
        <p:spPr>
          <a:xfrm>
            <a:off x="0" y="0"/>
            <a:ext cx="9144000" cy="621792"/>
          </a:xfrm>
          <a:prstGeom prst="rect">
            <a:avLst/>
          </a:prstGeom>
          <a:solidFill>
            <a:srgbClr val="0D0D0D"/>
          </a:solidFill>
          <a:ln w="12700">
            <a:solidFill>
              <a:srgbClr val="0D0D0D"/>
            </a:solidFill>
            <a:prstDash val="solid"/>
          </a:ln>
        </p:spPr>
      </p:sp>
      <p:sp>
        <p:nvSpPr>
          <p:cNvPr id="3" name="Shape 1"/>
          <p:cNvSpPr/>
          <p:nvPr/>
        </p:nvSpPr>
        <p:spPr>
          <a:xfrm>
            <a:off x="0" y="0"/>
            <a:ext cx="64008" cy="621792"/>
          </a:xfrm>
          <a:prstGeom prst="rect">
            <a:avLst/>
          </a:prstGeom>
          <a:solidFill>
            <a:srgbClr val="FF6500"/>
          </a:solidFill>
          <a:ln w="12700">
            <a:solidFill>
              <a:srgbClr val="FF6500"/>
            </a:solidFill>
            <a:prstDash val="solid"/>
          </a:ln>
        </p:spPr>
      </p:sp>
      <p:sp>
        <p:nvSpPr>
          <p:cNvPr id="4" name="Text 2"/>
          <p:cNvSpPr/>
          <p:nvPr/>
        </p:nvSpPr>
        <p:spPr>
          <a:xfrm>
            <a:off x="201168" y="64008"/>
            <a:ext cx="8503920" cy="493776"/>
          </a:xfrm>
          <a:prstGeom prst="rect">
            <a:avLst/>
          </a:prstGeom>
          <a:noFill/>
          <a:ln/>
        </p:spPr>
        <p:txBody>
          <a:bodyPr wrap="square" lIns="0" tIns="0" rIns="0" bIns="0" rtlCol="0" anchor="ctr"/>
          <a:lstStyle/>
          <a:p>
            <a:pPr marL="0" indent="0">
              <a:buNone/>
            </a:pPr>
            <a:r>
              <a:rPr lang="en-US" sz="1900" b="1" dirty="0">
                <a:solidFill>
                  <a:srgbClr val="FFFFFF"/>
                </a:solidFill>
                <a:latin typeface="Arial" pitchFamily="34" charset="0"/>
                <a:ea typeface="Arial" pitchFamily="34" charset="-122"/>
                <a:cs typeface="Arial" pitchFamily="34" charset="-120"/>
              </a:rPr>
              <a:t>Introduction to Test Case Development — Definition</a:t>
            </a:r>
            <a:endParaRPr lang="en-US" sz="1900" dirty="0"/>
          </a:p>
        </p:txBody>
      </p:sp>
      <p:sp>
        <p:nvSpPr>
          <p:cNvPr id="5" name="Shape 3"/>
          <p:cNvSpPr/>
          <p:nvPr/>
        </p:nvSpPr>
        <p:spPr>
          <a:xfrm>
            <a:off x="0" y="4828032"/>
            <a:ext cx="9144000" cy="315468"/>
          </a:xfrm>
          <a:prstGeom prst="rect">
            <a:avLst/>
          </a:prstGeom>
          <a:solidFill>
            <a:srgbClr val="0D0D0D"/>
          </a:solidFill>
          <a:ln w="12700">
            <a:solidFill>
              <a:srgbClr val="0D0D0D"/>
            </a:solidFill>
            <a:prstDash val="solid"/>
          </a:ln>
        </p:spPr>
      </p:sp>
      <p:sp>
        <p:nvSpPr>
          <p:cNvPr id="6" name="Text 4"/>
          <p:cNvSpPr/>
          <p:nvPr/>
        </p:nvSpPr>
        <p:spPr>
          <a:xfrm>
            <a:off x="182880" y="4855464"/>
            <a:ext cx="7315200" cy="228600"/>
          </a:xfrm>
          <a:prstGeom prst="rect">
            <a:avLst/>
          </a:prstGeom>
          <a:noFill/>
          <a:ln/>
        </p:spPr>
        <p:txBody>
          <a:bodyPr wrap="square" lIns="0" tIns="0" rIns="0" bIns="0" rtlCol="0" anchor="ctr"/>
          <a:lstStyle/>
          <a:p>
            <a:pPr marL="0" indent="0">
              <a:buNone/>
            </a:pPr>
            <a:r>
              <a:rPr lang="en-US" sz="850" dirty="0">
                <a:solidFill>
                  <a:srgbClr val="999999"/>
                </a:solidFill>
                <a:latin typeface="Calibri" pitchFamily="34" charset="0"/>
                <a:ea typeface="Calibri" pitchFamily="34" charset="-122"/>
                <a:cs typeface="Calibri" pitchFamily="34" charset="-120"/>
              </a:rPr>
              <a:t>Quality Engineering | Test Case Development in STLC</a:t>
            </a:r>
            <a:endParaRPr lang="en-US" sz="850" dirty="0"/>
          </a:p>
        </p:txBody>
      </p:sp>
      <p:sp>
        <p:nvSpPr>
          <p:cNvPr id="7" name="Text 5"/>
          <p:cNvSpPr/>
          <p:nvPr/>
        </p:nvSpPr>
        <p:spPr>
          <a:xfrm>
            <a:off x="7406640" y="4855464"/>
            <a:ext cx="1554480" cy="228600"/>
          </a:xfrm>
          <a:prstGeom prst="rect">
            <a:avLst/>
          </a:prstGeom>
          <a:noFill/>
          <a:ln/>
        </p:spPr>
        <p:txBody>
          <a:bodyPr wrap="square" lIns="0" tIns="0" rIns="0" bIns="0" rtlCol="0" anchor="ctr"/>
          <a:lstStyle/>
          <a:p>
            <a:pPr marL="0" indent="0" algn="r">
              <a:buNone/>
            </a:pPr>
            <a:r>
              <a:rPr lang="en-US" sz="850" b="1" dirty="0">
                <a:solidFill>
                  <a:srgbClr val="FF6500"/>
                </a:solidFill>
                <a:latin typeface="Calibri" pitchFamily="34" charset="0"/>
                <a:ea typeface="Calibri" pitchFamily="34" charset="-122"/>
                <a:cs typeface="Calibri" pitchFamily="34" charset="-120"/>
              </a:rPr>
              <a:t>INTERNAL TRAINING</a:t>
            </a:r>
            <a:endParaRPr lang="en-US" sz="850" dirty="0"/>
          </a:p>
        </p:txBody>
      </p:sp>
      <p:sp>
        <p:nvSpPr>
          <p:cNvPr id="8" name="Shape 6"/>
          <p:cNvSpPr/>
          <p:nvPr/>
        </p:nvSpPr>
        <p:spPr>
          <a:xfrm>
            <a:off x="228600" y="777240"/>
            <a:ext cx="8686800" cy="1143000"/>
          </a:xfrm>
          <a:prstGeom prst="rect">
            <a:avLst/>
          </a:prstGeom>
          <a:solidFill>
            <a:srgbClr val="0D0D0D"/>
          </a:solidFill>
          <a:ln w="12700">
            <a:solidFill>
              <a:srgbClr val="0D0D0D"/>
            </a:solidFill>
            <a:prstDash val="solid"/>
          </a:ln>
          <a:effectLst>
            <a:outerShdw blurRad="76200" dist="25400" dir="8100000" algn="bl" rotWithShape="0">
              <a:srgbClr val="000000">
                <a:alpha val="13000"/>
              </a:srgbClr>
            </a:outerShdw>
          </a:effectLst>
        </p:spPr>
      </p:sp>
      <p:sp>
        <p:nvSpPr>
          <p:cNvPr id="9" name="Shape 7"/>
          <p:cNvSpPr/>
          <p:nvPr/>
        </p:nvSpPr>
        <p:spPr>
          <a:xfrm>
            <a:off x="228600" y="777240"/>
            <a:ext cx="73152" cy="1143000"/>
          </a:xfrm>
          <a:prstGeom prst="rect">
            <a:avLst/>
          </a:prstGeom>
          <a:solidFill>
            <a:srgbClr val="FF6500"/>
          </a:solidFill>
          <a:ln w="12700">
            <a:solidFill>
              <a:srgbClr val="FF6500"/>
            </a:solidFill>
            <a:prstDash val="solid"/>
          </a:ln>
        </p:spPr>
      </p:sp>
      <p:sp>
        <p:nvSpPr>
          <p:cNvPr id="10" name="Text 8"/>
          <p:cNvSpPr/>
          <p:nvPr/>
        </p:nvSpPr>
        <p:spPr>
          <a:xfrm>
            <a:off x="411480" y="804672"/>
            <a:ext cx="1828800" cy="274320"/>
          </a:xfrm>
          <a:prstGeom prst="rect">
            <a:avLst/>
          </a:prstGeom>
          <a:noFill/>
          <a:ln/>
        </p:spPr>
        <p:txBody>
          <a:bodyPr wrap="square" lIns="0" tIns="0" rIns="0" bIns="0" rtlCol="0" anchor="ctr"/>
          <a:lstStyle/>
          <a:p>
            <a:pPr marL="0" indent="0">
              <a:buNone/>
            </a:pPr>
            <a:r>
              <a:rPr lang="en-US" sz="1000" b="1" kern="0" spc="200" dirty="0">
                <a:solidFill>
                  <a:srgbClr val="FF6500"/>
                </a:solidFill>
                <a:latin typeface="Arial" pitchFamily="34" charset="0"/>
                <a:ea typeface="Arial" pitchFamily="34" charset="-122"/>
                <a:cs typeface="Arial" pitchFamily="34" charset="-120"/>
              </a:rPr>
              <a:t>DEFINITION</a:t>
            </a:r>
            <a:endParaRPr lang="en-US" sz="1000" dirty="0"/>
          </a:p>
        </p:txBody>
      </p:sp>
      <p:sp>
        <p:nvSpPr>
          <p:cNvPr id="11" name="Text 9"/>
          <p:cNvSpPr/>
          <p:nvPr/>
        </p:nvSpPr>
        <p:spPr>
          <a:xfrm>
            <a:off x="411480" y="1051560"/>
            <a:ext cx="8229600" cy="777240"/>
          </a:xfrm>
          <a:prstGeom prst="rect">
            <a:avLst/>
          </a:prstGeom>
          <a:noFill/>
          <a:ln/>
        </p:spPr>
        <p:txBody>
          <a:bodyPr wrap="square" lIns="0" tIns="0" rIns="0" bIns="0" rtlCol="0" anchor="t"/>
          <a:lstStyle/>
          <a:p>
            <a:pPr marL="0" indent="0">
              <a:buNone/>
            </a:pPr>
            <a:r>
              <a:rPr lang="en-US" sz="1400" dirty="0">
                <a:solidFill>
                  <a:srgbClr val="FFFFFF"/>
                </a:solidFill>
                <a:latin typeface="Calibri" pitchFamily="34" charset="0"/>
                <a:ea typeface="Calibri" pitchFamily="34" charset="-122"/>
                <a:cs typeface="Calibri" pitchFamily="34" charset="-120"/>
              </a:rPr>
              <a:t>A Test Case is a structured document that specifies the conditions, input data, execution steps, and expected results used to verify that a specific function or feature of a software application behaves as intended.</a:t>
            </a:r>
            <a:endParaRPr lang="en-US" sz="1400" dirty="0"/>
          </a:p>
        </p:txBody>
      </p:sp>
      <p:sp>
        <p:nvSpPr>
          <p:cNvPr id="12" name="Shape 10"/>
          <p:cNvSpPr/>
          <p:nvPr/>
        </p:nvSpPr>
        <p:spPr>
          <a:xfrm>
            <a:off x="228600" y="2103120"/>
            <a:ext cx="2743200" cy="2542032"/>
          </a:xfrm>
          <a:prstGeom prst="rect">
            <a:avLst/>
          </a:prstGeom>
          <a:solidFill>
            <a:srgbClr val="FFFFFF"/>
          </a:solidFill>
          <a:ln w="12700">
            <a:solidFill>
              <a:srgbClr val="DEDEDE"/>
            </a:solidFill>
            <a:prstDash val="solid"/>
          </a:ln>
          <a:effectLst>
            <a:outerShdw blurRad="76200" dist="25400" dir="8100000" algn="bl" rotWithShape="0">
              <a:srgbClr val="000000">
                <a:alpha val="13000"/>
              </a:srgbClr>
            </a:outerShdw>
          </a:effectLst>
        </p:spPr>
      </p:sp>
      <p:sp>
        <p:nvSpPr>
          <p:cNvPr id="13" name="Shape 11"/>
          <p:cNvSpPr/>
          <p:nvPr/>
        </p:nvSpPr>
        <p:spPr>
          <a:xfrm>
            <a:off x="228600" y="2103120"/>
            <a:ext cx="54864" cy="2542032"/>
          </a:xfrm>
          <a:prstGeom prst="rect">
            <a:avLst/>
          </a:prstGeom>
          <a:solidFill>
            <a:srgbClr val="FF6500"/>
          </a:solidFill>
          <a:ln w="12700">
            <a:solidFill>
              <a:srgbClr val="FF6500"/>
            </a:solidFill>
            <a:prstDash val="solid"/>
          </a:ln>
        </p:spPr>
      </p:sp>
      <p:sp>
        <p:nvSpPr>
          <p:cNvPr id="14" name="Text 12"/>
          <p:cNvSpPr/>
          <p:nvPr/>
        </p:nvSpPr>
        <p:spPr>
          <a:xfrm>
            <a:off x="338328" y="2167128"/>
            <a:ext cx="2578608" cy="274320"/>
          </a:xfrm>
          <a:prstGeom prst="rect">
            <a:avLst/>
          </a:prstGeom>
          <a:noFill/>
          <a:ln/>
        </p:spPr>
        <p:txBody>
          <a:bodyPr wrap="square" lIns="0" tIns="0" rIns="0" bIns="0" rtlCol="0" anchor="ctr"/>
          <a:lstStyle/>
          <a:p>
            <a:pPr marL="0" indent="0">
              <a:buNone/>
            </a:pPr>
            <a:r>
              <a:rPr lang="en-US" sz="1300" b="1" dirty="0">
                <a:solidFill>
                  <a:srgbClr val="FF6500"/>
                </a:solidFill>
                <a:latin typeface="Arial" pitchFamily="34" charset="0"/>
                <a:ea typeface="Arial" pitchFamily="34" charset="-122"/>
                <a:cs typeface="Arial" pitchFamily="34" charset="-120"/>
              </a:rPr>
              <a:t>What to Test</a:t>
            </a:r>
            <a:endParaRPr lang="en-US" sz="1300" dirty="0"/>
          </a:p>
        </p:txBody>
      </p:sp>
      <p:sp>
        <p:nvSpPr>
          <p:cNvPr id="15" name="Text 13"/>
          <p:cNvSpPr/>
          <p:nvPr/>
        </p:nvSpPr>
        <p:spPr>
          <a:xfrm>
            <a:off x="338328" y="2468880"/>
            <a:ext cx="2578608" cy="2084832"/>
          </a:xfrm>
          <a:prstGeom prst="rect">
            <a:avLst/>
          </a:prstGeom>
          <a:noFill/>
          <a:ln/>
        </p:spPr>
        <p:txBody>
          <a:bodyPr wrap="square" lIns="0" tIns="0" rIns="0" bIns="0" rtlCol="0" anchor="t"/>
          <a:lstStyle/>
          <a:p>
            <a:pPr marL="0" indent="0">
              <a:buNone/>
            </a:pPr>
            <a:r>
              <a:rPr lang="en-US" sz="1150" dirty="0">
                <a:solidFill>
                  <a:srgbClr val="2C2C2C"/>
                </a:solidFill>
                <a:latin typeface="Calibri" pitchFamily="34" charset="0"/>
                <a:ea typeface="Calibri" pitchFamily="34" charset="-122"/>
                <a:cs typeface="Calibri" pitchFamily="34" charset="-120"/>
              </a:rPr>
              <a:t>The specific feature, function, or behaviour that needs to be verified — directly linked to a business or technical requirement.</a:t>
            </a:r>
            <a:endParaRPr lang="en-US" sz="1150" dirty="0"/>
          </a:p>
        </p:txBody>
      </p:sp>
      <p:sp>
        <p:nvSpPr>
          <p:cNvPr id="16" name="Shape 14"/>
          <p:cNvSpPr/>
          <p:nvPr/>
        </p:nvSpPr>
        <p:spPr>
          <a:xfrm>
            <a:off x="3127248" y="2103120"/>
            <a:ext cx="2743200" cy="2542032"/>
          </a:xfrm>
          <a:prstGeom prst="rect">
            <a:avLst/>
          </a:prstGeom>
          <a:solidFill>
            <a:srgbClr val="FFFFFF"/>
          </a:solidFill>
          <a:ln w="12700">
            <a:solidFill>
              <a:srgbClr val="DEDEDE"/>
            </a:solidFill>
            <a:prstDash val="solid"/>
          </a:ln>
          <a:effectLst>
            <a:outerShdw blurRad="76200" dist="25400" dir="8100000" algn="bl" rotWithShape="0">
              <a:srgbClr val="000000">
                <a:alpha val="13000"/>
              </a:srgbClr>
            </a:outerShdw>
          </a:effectLst>
        </p:spPr>
      </p:sp>
      <p:sp>
        <p:nvSpPr>
          <p:cNvPr id="17" name="Shape 15"/>
          <p:cNvSpPr/>
          <p:nvPr/>
        </p:nvSpPr>
        <p:spPr>
          <a:xfrm>
            <a:off x="3127248" y="2103120"/>
            <a:ext cx="54864" cy="2542032"/>
          </a:xfrm>
          <a:prstGeom prst="rect">
            <a:avLst/>
          </a:prstGeom>
          <a:solidFill>
            <a:srgbClr val="FF6500"/>
          </a:solidFill>
          <a:ln w="12700">
            <a:solidFill>
              <a:srgbClr val="FF6500"/>
            </a:solidFill>
            <a:prstDash val="solid"/>
          </a:ln>
        </p:spPr>
      </p:sp>
      <p:sp>
        <p:nvSpPr>
          <p:cNvPr id="18" name="Text 16"/>
          <p:cNvSpPr/>
          <p:nvPr/>
        </p:nvSpPr>
        <p:spPr>
          <a:xfrm>
            <a:off x="3236976" y="2167128"/>
            <a:ext cx="2578608" cy="274320"/>
          </a:xfrm>
          <a:prstGeom prst="rect">
            <a:avLst/>
          </a:prstGeom>
          <a:noFill/>
          <a:ln/>
        </p:spPr>
        <p:txBody>
          <a:bodyPr wrap="square" lIns="0" tIns="0" rIns="0" bIns="0" rtlCol="0" anchor="ctr"/>
          <a:lstStyle/>
          <a:p>
            <a:pPr marL="0" indent="0">
              <a:buNone/>
            </a:pPr>
            <a:r>
              <a:rPr lang="en-US" sz="1300" b="1" dirty="0">
                <a:solidFill>
                  <a:srgbClr val="FF6500"/>
                </a:solidFill>
                <a:latin typeface="Arial" pitchFamily="34" charset="0"/>
                <a:ea typeface="Arial" pitchFamily="34" charset="-122"/>
                <a:cs typeface="Arial" pitchFamily="34" charset="-120"/>
              </a:rPr>
              <a:t>How to Test</a:t>
            </a:r>
            <a:endParaRPr lang="en-US" sz="1300" dirty="0"/>
          </a:p>
        </p:txBody>
      </p:sp>
      <p:sp>
        <p:nvSpPr>
          <p:cNvPr id="19" name="Text 17"/>
          <p:cNvSpPr/>
          <p:nvPr/>
        </p:nvSpPr>
        <p:spPr>
          <a:xfrm>
            <a:off x="3236976" y="2468880"/>
            <a:ext cx="2578608" cy="2084832"/>
          </a:xfrm>
          <a:prstGeom prst="rect">
            <a:avLst/>
          </a:prstGeom>
          <a:noFill/>
          <a:ln/>
        </p:spPr>
        <p:txBody>
          <a:bodyPr wrap="square" lIns="0" tIns="0" rIns="0" bIns="0" rtlCol="0" anchor="t"/>
          <a:lstStyle/>
          <a:p>
            <a:pPr marL="0" indent="0">
              <a:buNone/>
            </a:pPr>
            <a:r>
              <a:rPr lang="en-US" sz="1150" dirty="0">
                <a:solidFill>
                  <a:srgbClr val="2C2C2C"/>
                </a:solidFill>
                <a:latin typeface="Calibri" pitchFamily="34" charset="0"/>
                <a:ea typeface="Calibri" pitchFamily="34" charset="-122"/>
                <a:cs typeface="Calibri" pitchFamily="34" charset="-120"/>
              </a:rPr>
              <a:t>The exact steps a tester must follow to execute the test: navigating the UI, entering data, triggering actions, and observing outcomes.</a:t>
            </a:r>
            <a:endParaRPr lang="en-US" sz="1150" dirty="0"/>
          </a:p>
        </p:txBody>
      </p:sp>
      <p:sp>
        <p:nvSpPr>
          <p:cNvPr id="20" name="Shape 18"/>
          <p:cNvSpPr/>
          <p:nvPr/>
        </p:nvSpPr>
        <p:spPr>
          <a:xfrm>
            <a:off x="6025896" y="2103120"/>
            <a:ext cx="2743200" cy="2542032"/>
          </a:xfrm>
          <a:prstGeom prst="rect">
            <a:avLst/>
          </a:prstGeom>
          <a:solidFill>
            <a:srgbClr val="FFFFFF"/>
          </a:solidFill>
          <a:ln w="12700">
            <a:solidFill>
              <a:srgbClr val="DEDEDE"/>
            </a:solidFill>
            <a:prstDash val="solid"/>
          </a:ln>
          <a:effectLst>
            <a:outerShdw blurRad="76200" dist="25400" dir="8100000" algn="bl" rotWithShape="0">
              <a:srgbClr val="000000">
                <a:alpha val="13000"/>
              </a:srgbClr>
            </a:outerShdw>
          </a:effectLst>
        </p:spPr>
      </p:sp>
      <p:sp>
        <p:nvSpPr>
          <p:cNvPr id="21" name="Shape 19"/>
          <p:cNvSpPr/>
          <p:nvPr/>
        </p:nvSpPr>
        <p:spPr>
          <a:xfrm>
            <a:off x="6025896" y="2103120"/>
            <a:ext cx="54864" cy="2542032"/>
          </a:xfrm>
          <a:prstGeom prst="rect">
            <a:avLst/>
          </a:prstGeom>
          <a:solidFill>
            <a:srgbClr val="FF6500"/>
          </a:solidFill>
          <a:ln w="12700">
            <a:solidFill>
              <a:srgbClr val="FF6500"/>
            </a:solidFill>
            <a:prstDash val="solid"/>
          </a:ln>
        </p:spPr>
      </p:sp>
      <p:sp>
        <p:nvSpPr>
          <p:cNvPr id="22" name="Text 20"/>
          <p:cNvSpPr/>
          <p:nvPr/>
        </p:nvSpPr>
        <p:spPr>
          <a:xfrm>
            <a:off x="6135624" y="2167128"/>
            <a:ext cx="2578608" cy="274320"/>
          </a:xfrm>
          <a:prstGeom prst="rect">
            <a:avLst/>
          </a:prstGeom>
          <a:noFill/>
          <a:ln/>
        </p:spPr>
        <p:txBody>
          <a:bodyPr wrap="square" lIns="0" tIns="0" rIns="0" bIns="0" rtlCol="0" anchor="ctr"/>
          <a:lstStyle/>
          <a:p>
            <a:pPr marL="0" indent="0">
              <a:buNone/>
            </a:pPr>
            <a:r>
              <a:rPr lang="en-US" sz="1300" b="1" dirty="0">
                <a:solidFill>
                  <a:srgbClr val="FF6500"/>
                </a:solidFill>
                <a:latin typeface="Arial" pitchFamily="34" charset="0"/>
                <a:ea typeface="Arial" pitchFamily="34" charset="-122"/>
                <a:cs typeface="Arial" pitchFamily="34" charset="-120"/>
              </a:rPr>
              <a:t>Expected Outcome</a:t>
            </a:r>
            <a:endParaRPr lang="en-US" sz="1300" dirty="0"/>
          </a:p>
        </p:txBody>
      </p:sp>
      <p:sp>
        <p:nvSpPr>
          <p:cNvPr id="23" name="Text 21"/>
          <p:cNvSpPr/>
          <p:nvPr/>
        </p:nvSpPr>
        <p:spPr>
          <a:xfrm>
            <a:off x="6135624" y="2468880"/>
            <a:ext cx="2578608" cy="2084832"/>
          </a:xfrm>
          <a:prstGeom prst="rect">
            <a:avLst/>
          </a:prstGeom>
          <a:noFill/>
          <a:ln/>
        </p:spPr>
        <p:txBody>
          <a:bodyPr wrap="square" lIns="0" tIns="0" rIns="0" bIns="0" rtlCol="0" anchor="t"/>
          <a:lstStyle/>
          <a:p>
            <a:pPr marL="0" indent="0">
              <a:buNone/>
            </a:pPr>
            <a:r>
              <a:rPr lang="en-US" sz="1150" dirty="0">
                <a:solidFill>
                  <a:srgbClr val="2C2C2C"/>
                </a:solidFill>
                <a:latin typeface="Calibri" pitchFamily="34" charset="0"/>
                <a:ea typeface="Calibri" pitchFamily="34" charset="-122"/>
                <a:cs typeface="Calibri" pitchFamily="34" charset="-120"/>
              </a:rPr>
              <a:t>The precise result the system must produce when the steps are executed correctly, forming the pass/fail benchmark.</a:t>
            </a:r>
            <a:endParaRPr lang="en-US" sz="11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4">
    <p:bg>
      <p:bgPr>
        <a:solidFill>
          <a:srgbClr val="F5F5F5"/>
        </a:solidFill>
        <a:effectLst/>
      </p:bgPr>
    </p:bg>
    <p:spTree>
      <p:nvGrpSpPr>
        <p:cNvPr id="1" name=""/>
        <p:cNvGrpSpPr/>
        <p:nvPr/>
      </p:nvGrpSpPr>
      <p:grpSpPr>
        <a:xfrm>
          <a:off x="0" y="0"/>
          <a:ext cx="0" cy="0"/>
          <a:chOff x="0" y="0"/>
          <a:chExt cx="0" cy="0"/>
        </a:xfrm>
      </p:grpSpPr>
      <p:sp>
        <p:nvSpPr>
          <p:cNvPr id="2" name="Shape 0"/>
          <p:cNvSpPr/>
          <p:nvPr/>
        </p:nvSpPr>
        <p:spPr>
          <a:xfrm>
            <a:off x="0" y="0"/>
            <a:ext cx="9144000" cy="621792"/>
          </a:xfrm>
          <a:prstGeom prst="rect">
            <a:avLst/>
          </a:prstGeom>
          <a:solidFill>
            <a:srgbClr val="0D0D0D"/>
          </a:solidFill>
          <a:ln w="12700">
            <a:solidFill>
              <a:srgbClr val="0D0D0D"/>
            </a:solidFill>
            <a:prstDash val="solid"/>
          </a:ln>
        </p:spPr>
      </p:sp>
      <p:sp>
        <p:nvSpPr>
          <p:cNvPr id="3" name="Shape 1"/>
          <p:cNvSpPr/>
          <p:nvPr/>
        </p:nvSpPr>
        <p:spPr>
          <a:xfrm>
            <a:off x="0" y="0"/>
            <a:ext cx="64008" cy="621792"/>
          </a:xfrm>
          <a:prstGeom prst="rect">
            <a:avLst/>
          </a:prstGeom>
          <a:solidFill>
            <a:srgbClr val="FF6500"/>
          </a:solidFill>
          <a:ln w="12700">
            <a:solidFill>
              <a:srgbClr val="FF6500"/>
            </a:solidFill>
            <a:prstDash val="solid"/>
          </a:ln>
        </p:spPr>
      </p:sp>
      <p:sp>
        <p:nvSpPr>
          <p:cNvPr id="4" name="Text 2"/>
          <p:cNvSpPr/>
          <p:nvPr/>
        </p:nvSpPr>
        <p:spPr>
          <a:xfrm>
            <a:off x="201168" y="64008"/>
            <a:ext cx="8503920" cy="493776"/>
          </a:xfrm>
          <a:prstGeom prst="rect">
            <a:avLst/>
          </a:prstGeom>
          <a:noFill/>
          <a:ln/>
        </p:spPr>
        <p:txBody>
          <a:bodyPr wrap="square" lIns="0" tIns="0" rIns="0" bIns="0" rtlCol="0" anchor="ctr"/>
          <a:lstStyle/>
          <a:p>
            <a:pPr marL="0" indent="0">
              <a:buNone/>
            </a:pPr>
            <a:r>
              <a:rPr lang="en-US" sz="1900" b="1" dirty="0">
                <a:solidFill>
                  <a:srgbClr val="FFFFFF"/>
                </a:solidFill>
                <a:latin typeface="Arial" pitchFamily="34" charset="0"/>
                <a:ea typeface="Arial" pitchFamily="34" charset="-122"/>
                <a:cs typeface="Arial" pitchFamily="34" charset="-120"/>
              </a:rPr>
              <a:t>Importance of Test Cases &amp; Role in the STLC</a:t>
            </a:r>
            <a:endParaRPr lang="en-US" sz="1900" dirty="0"/>
          </a:p>
        </p:txBody>
      </p:sp>
      <p:sp>
        <p:nvSpPr>
          <p:cNvPr id="5" name="Shape 3"/>
          <p:cNvSpPr/>
          <p:nvPr/>
        </p:nvSpPr>
        <p:spPr>
          <a:xfrm>
            <a:off x="0" y="4828032"/>
            <a:ext cx="9144000" cy="315468"/>
          </a:xfrm>
          <a:prstGeom prst="rect">
            <a:avLst/>
          </a:prstGeom>
          <a:solidFill>
            <a:srgbClr val="0D0D0D"/>
          </a:solidFill>
          <a:ln w="12700">
            <a:solidFill>
              <a:srgbClr val="0D0D0D"/>
            </a:solidFill>
            <a:prstDash val="solid"/>
          </a:ln>
        </p:spPr>
      </p:sp>
      <p:sp>
        <p:nvSpPr>
          <p:cNvPr id="6" name="Text 4"/>
          <p:cNvSpPr/>
          <p:nvPr/>
        </p:nvSpPr>
        <p:spPr>
          <a:xfrm>
            <a:off x="182880" y="4855464"/>
            <a:ext cx="7315200" cy="228600"/>
          </a:xfrm>
          <a:prstGeom prst="rect">
            <a:avLst/>
          </a:prstGeom>
          <a:noFill/>
          <a:ln/>
        </p:spPr>
        <p:txBody>
          <a:bodyPr wrap="square" lIns="0" tIns="0" rIns="0" bIns="0" rtlCol="0" anchor="ctr"/>
          <a:lstStyle/>
          <a:p>
            <a:pPr marL="0" indent="0">
              <a:buNone/>
            </a:pPr>
            <a:r>
              <a:rPr lang="en-US" sz="850" dirty="0">
                <a:solidFill>
                  <a:srgbClr val="999999"/>
                </a:solidFill>
                <a:latin typeface="Calibri" pitchFamily="34" charset="0"/>
                <a:ea typeface="Calibri" pitchFamily="34" charset="-122"/>
                <a:cs typeface="Calibri" pitchFamily="34" charset="-120"/>
              </a:rPr>
              <a:t>Quality Engineering | Test Case Development in STLC</a:t>
            </a:r>
            <a:endParaRPr lang="en-US" sz="850" dirty="0"/>
          </a:p>
        </p:txBody>
      </p:sp>
      <p:sp>
        <p:nvSpPr>
          <p:cNvPr id="7" name="Text 5"/>
          <p:cNvSpPr/>
          <p:nvPr/>
        </p:nvSpPr>
        <p:spPr>
          <a:xfrm>
            <a:off x="7406640" y="4855464"/>
            <a:ext cx="1554480" cy="228600"/>
          </a:xfrm>
          <a:prstGeom prst="rect">
            <a:avLst/>
          </a:prstGeom>
          <a:noFill/>
          <a:ln/>
        </p:spPr>
        <p:txBody>
          <a:bodyPr wrap="square" lIns="0" tIns="0" rIns="0" bIns="0" rtlCol="0" anchor="ctr"/>
          <a:lstStyle/>
          <a:p>
            <a:pPr marL="0" indent="0" algn="r">
              <a:buNone/>
            </a:pPr>
            <a:r>
              <a:rPr lang="en-US" sz="850" b="1" dirty="0">
                <a:solidFill>
                  <a:srgbClr val="FF6500"/>
                </a:solidFill>
                <a:latin typeface="Calibri" pitchFamily="34" charset="0"/>
                <a:ea typeface="Calibri" pitchFamily="34" charset="-122"/>
                <a:cs typeface="Calibri" pitchFamily="34" charset="-120"/>
              </a:rPr>
              <a:t>INTERNAL TRAINING</a:t>
            </a:r>
            <a:endParaRPr lang="en-US" sz="850" dirty="0"/>
          </a:p>
        </p:txBody>
      </p:sp>
      <p:sp>
        <p:nvSpPr>
          <p:cNvPr id="8" name="Shape 6"/>
          <p:cNvSpPr/>
          <p:nvPr/>
        </p:nvSpPr>
        <p:spPr>
          <a:xfrm>
            <a:off x="228600" y="777240"/>
            <a:ext cx="4023360" cy="3931920"/>
          </a:xfrm>
          <a:prstGeom prst="rect">
            <a:avLst/>
          </a:prstGeom>
          <a:solidFill>
            <a:srgbClr val="FFFFFF"/>
          </a:solidFill>
          <a:ln w="12700">
            <a:solidFill>
              <a:srgbClr val="DEDEDE"/>
            </a:solidFill>
            <a:prstDash val="solid"/>
          </a:ln>
          <a:effectLst>
            <a:outerShdw blurRad="76200" dist="25400" dir="8100000" algn="bl" rotWithShape="0">
              <a:srgbClr val="000000">
                <a:alpha val="13000"/>
              </a:srgbClr>
            </a:outerShdw>
          </a:effectLst>
        </p:spPr>
      </p:sp>
      <p:sp>
        <p:nvSpPr>
          <p:cNvPr id="9" name="Shape 7"/>
          <p:cNvSpPr/>
          <p:nvPr/>
        </p:nvSpPr>
        <p:spPr>
          <a:xfrm>
            <a:off x="228600" y="777240"/>
            <a:ext cx="4023360" cy="384048"/>
          </a:xfrm>
          <a:prstGeom prst="rect">
            <a:avLst/>
          </a:prstGeom>
          <a:solidFill>
            <a:srgbClr val="0D0D0D"/>
          </a:solidFill>
          <a:ln w="12700">
            <a:solidFill>
              <a:srgbClr val="0D0D0D"/>
            </a:solidFill>
            <a:prstDash val="solid"/>
          </a:ln>
        </p:spPr>
      </p:sp>
      <p:sp>
        <p:nvSpPr>
          <p:cNvPr id="10" name="Text 8"/>
          <p:cNvSpPr/>
          <p:nvPr/>
        </p:nvSpPr>
        <p:spPr>
          <a:xfrm>
            <a:off x="320040" y="804672"/>
            <a:ext cx="3840480" cy="310896"/>
          </a:xfrm>
          <a:prstGeom prst="rect">
            <a:avLst/>
          </a:prstGeom>
          <a:noFill/>
          <a:ln/>
        </p:spPr>
        <p:txBody>
          <a:bodyPr wrap="square" lIns="0" tIns="0" rIns="0" bIns="0" rtlCol="0" anchor="ctr"/>
          <a:lstStyle/>
          <a:p>
            <a:pPr marL="0" indent="0">
              <a:buNone/>
            </a:pPr>
            <a:r>
              <a:rPr lang="en-US" sz="1100" b="1" kern="0" spc="50" dirty="0">
                <a:solidFill>
                  <a:srgbClr val="FF6500"/>
                </a:solidFill>
                <a:latin typeface="Arial" pitchFamily="34" charset="0"/>
                <a:ea typeface="Arial" pitchFamily="34" charset="-122"/>
                <a:cs typeface="Arial" pitchFamily="34" charset="-120"/>
              </a:rPr>
              <a:t>WHY ARE TEST CASES IMPORTANT?</a:t>
            </a:r>
            <a:endParaRPr lang="en-US" sz="1100" dirty="0"/>
          </a:p>
        </p:txBody>
      </p:sp>
      <p:sp>
        <p:nvSpPr>
          <p:cNvPr id="11" name="Text 9"/>
          <p:cNvSpPr/>
          <p:nvPr/>
        </p:nvSpPr>
        <p:spPr>
          <a:xfrm>
            <a:off x="347472" y="1234440"/>
            <a:ext cx="3749040" cy="3383280"/>
          </a:xfrm>
          <a:prstGeom prst="rect">
            <a:avLst/>
          </a:prstGeom>
          <a:noFill/>
          <a:ln/>
        </p:spPr>
        <p:txBody>
          <a:bodyPr wrap="square" lIns="0" tIns="0" rIns="0" bIns="0" rtlCol="0" anchor="t"/>
          <a:lstStyle/>
          <a:p>
            <a:pPr marL="342900" indent="-342900">
              <a:spcAft>
                <a:spcPts val="600"/>
              </a:spcAft>
              <a:buSzPct val="100000"/>
              <a:buChar char="•"/>
            </a:pPr>
            <a:r>
              <a:rPr lang="en-US" sz="1100" dirty="0">
                <a:solidFill>
                  <a:srgbClr val="2C2C2C"/>
                </a:solidFill>
                <a:latin typeface="Calibri" pitchFamily="34" charset="0"/>
                <a:ea typeface="Calibri" pitchFamily="34" charset="-122"/>
                <a:cs typeface="Calibri" pitchFamily="34" charset="-120"/>
              </a:rPr>
              <a:t>Provide a repeatable, structured approach to testing — no ad-hoc guesswork</a:t>
            </a:r>
            <a:endParaRPr lang="en-US" sz="1100" dirty="0"/>
          </a:p>
          <a:p>
            <a:pPr marL="342900" indent="-342900">
              <a:spcAft>
                <a:spcPts val="600"/>
              </a:spcAft>
              <a:buSzPct val="100000"/>
              <a:buChar char="•"/>
            </a:pPr>
            <a:r>
              <a:rPr lang="en-US" sz="1100" dirty="0">
                <a:solidFill>
                  <a:srgbClr val="5A5A5A"/>
                </a:solidFill>
                <a:latin typeface="Calibri" pitchFamily="34" charset="0"/>
                <a:ea typeface="Calibri" pitchFamily="34" charset="-122"/>
                <a:cs typeface="Calibri" pitchFamily="34" charset="-120"/>
              </a:rPr>
              <a:t>Ensure every requirement is covered before software is released</a:t>
            </a:r>
            <a:endParaRPr lang="en-US" sz="1100" dirty="0"/>
          </a:p>
          <a:p>
            <a:pPr marL="342900" indent="-342900">
              <a:spcAft>
                <a:spcPts val="600"/>
              </a:spcAft>
              <a:buSzPct val="100000"/>
              <a:buChar char="•"/>
            </a:pPr>
            <a:r>
              <a:rPr lang="en-US" sz="1100" dirty="0">
                <a:solidFill>
                  <a:srgbClr val="2C2C2C"/>
                </a:solidFill>
                <a:latin typeface="Calibri" pitchFamily="34" charset="0"/>
                <a:ea typeface="Calibri" pitchFamily="34" charset="-122"/>
                <a:cs typeface="Calibri" pitchFamily="34" charset="-120"/>
              </a:rPr>
              <a:t>Serve as the primary communication bridge between developers and QA teams</a:t>
            </a:r>
            <a:endParaRPr lang="en-US" sz="1100" dirty="0"/>
          </a:p>
          <a:p>
            <a:pPr marL="342900" indent="-342900">
              <a:spcAft>
                <a:spcPts val="600"/>
              </a:spcAft>
              <a:buSzPct val="100000"/>
              <a:buChar char="•"/>
            </a:pPr>
            <a:r>
              <a:rPr lang="en-US" sz="1100" dirty="0">
                <a:solidFill>
                  <a:srgbClr val="5A5A5A"/>
                </a:solidFill>
                <a:latin typeface="Calibri" pitchFamily="34" charset="0"/>
                <a:ea typeface="Calibri" pitchFamily="34" charset="-122"/>
                <a:cs typeface="Calibri" pitchFamily="34" charset="-120"/>
              </a:rPr>
              <a:t>Enable consistent results regardless of who executes the test</a:t>
            </a:r>
            <a:endParaRPr lang="en-US" sz="1100" dirty="0"/>
          </a:p>
          <a:p>
            <a:pPr marL="342900" indent="-342900">
              <a:spcAft>
                <a:spcPts val="600"/>
              </a:spcAft>
              <a:buSzPct val="100000"/>
              <a:buChar char="•"/>
            </a:pPr>
            <a:r>
              <a:rPr lang="en-US" sz="1100" dirty="0">
                <a:solidFill>
                  <a:srgbClr val="2C2C2C"/>
                </a:solidFill>
                <a:latin typeface="Calibri" pitchFamily="34" charset="0"/>
                <a:ea typeface="Calibri" pitchFamily="34" charset="-122"/>
                <a:cs typeface="Calibri" pitchFamily="34" charset="-120"/>
              </a:rPr>
              <a:t>Create a paper trail for audit, compliance, and regression testing</a:t>
            </a:r>
            <a:endParaRPr lang="en-US" sz="1100" dirty="0"/>
          </a:p>
          <a:p>
            <a:pPr marL="342900" indent="-342900">
              <a:spcAft>
                <a:spcPts val="600"/>
              </a:spcAft>
              <a:buSzPct val="100000"/>
              <a:buChar char="•"/>
            </a:pPr>
            <a:r>
              <a:rPr lang="en-US" sz="1100" dirty="0">
                <a:solidFill>
                  <a:srgbClr val="5A5A5A"/>
                </a:solidFill>
                <a:latin typeface="Calibri" pitchFamily="34" charset="0"/>
                <a:ea typeface="Calibri" pitchFamily="34" charset="-122"/>
                <a:cs typeface="Calibri" pitchFamily="34" charset="-120"/>
              </a:rPr>
              <a:t>Help detect defects early — reducing the cost of fixing bugs post-release</a:t>
            </a:r>
            <a:endParaRPr lang="en-US" sz="1100" dirty="0"/>
          </a:p>
          <a:p>
            <a:pPr marL="342900" indent="-342900">
              <a:spcAft>
                <a:spcPts val="600"/>
              </a:spcAft>
              <a:buSzPct val="100000"/>
              <a:buChar char="•"/>
            </a:pPr>
            <a:r>
              <a:rPr lang="en-US" sz="1100" dirty="0">
                <a:solidFill>
                  <a:srgbClr val="2C2C2C"/>
                </a:solidFill>
                <a:latin typeface="Calibri" pitchFamily="34" charset="0"/>
                <a:ea typeface="Calibri" pitchFamily="34" charset="-122"/>
                <a:cs typeface="Calibri" pitchFamily="34" charset="-120"/>
              </a:rPr>
              <a:t>Support automation: well-written manual test cases translate directly into automated scripts</a:t>
            </a:r>
            <a:endParaRPr lang="en-US" sz="1100" dirty="0"/>
          </a:p>
        </p:txBody>
      </p:sp>
      <p:sp>
        <p:nvSpPr>
          <p:cNvPr id="12" name="Shape 10"/>
          <p:cNvSpPr/>
          <p:nvPr/>
        </p:nvSpPr>
        <p:spPr>
          <a:xfrm>
            <a:off x="4480560" y="777240"/>
            <a:ext cx="4434840" cy="3931920"/>
          </a:xfrm>
          <a:prstGeom prst="rect">
            <a:avLst/>
          </a:prstGeom>
          <a:solidFill>
            <a:srgbClr val="FFFFFF"/>
          </a:solidFill>
          <a:ln w="12700">
            <a:solidFill>
              <a:srgbClr val="DEDEDE"/>
            </a:solidFill>
            <a:prstDash val="solid"/>
          </a:ln>
          <a:effectLst>
            <a:outerShdw blurRad="76200" dist="25400" dir="8100000" algn="bl" rotWithShape="0">
              <a:srgbClr val="000000">
                <a:alpha val="13000"/>
              </a:srgbClr>
            </a:outerShdw>
          </a:effectLst>
        </p:spPr>
      </p:sp>
      <p:sp>
        <p:nvSpPr>
          <p:cNvPr id="13" name="Shape 11"/>
          <p:cNvSpPr/>
          <p:nvPr/>
        </p:nvSpPr>
        <p:spPr>
          <a:xfrm>
            <a:off x="4480560" y="777240"/>
            <a:ext cx="4434840" cy="384048"/>
          </a:xfrm>
          <a:prstGeom prst="rect">
            <a:avLst/>
          </a:prstGeom>
          <a:solidFill>
            <a:srgbClr val="0D0D0D"/>
          </a:solidFill>
          <a:ln w="12700">
            <a:solidFill>
              <a:srgbClr val="0D0D0D"/>
            </a:solidFill>
            <a:prstDash val="solid"/>
          </a:ln>
        </p:spPr>
      </p:sp>
      <p:sp>
        <p:nvSpPr>
          <p:cNvPr id="14" name="Text 12"/>
          <p:cNvSpPr/>
          <p:nvPr/>
        </p:nvSpPr>
        <p:spPr>
          <a:xfrm>
            <a:off x="4572000" y="804672"/>
            <a:ext cx="4206240" cy="310896"/>
          </a:xfrm>
          <a:prstGeom prst="rect">
            <a:avLst/>
          </a:prstGeom>
          <a:noFill/>
          <a:ln/>
        </p:spPr>
        <p:txBody>
          <a:bodyPr wrap="square" lIns="0" tIns="0" rIns="0" bIns="0" rtlCol="0" anchor="ctr"/>
          <a:lstStyle/>
          <a:p>
            <a:pPr marL="0" indent="0">
              <a:buNone/>
            </a:pPr>
            <a:r>
              <a:rPr lang="en-US" sz="1100" b="1" kern="0" spc="50" dirty="0">
                <a:solidFill>
                  <a:srgbClr val="FF6500"/>
                </a:solidFill>
                <a:latin typeface="Arial" pitchFamily="34" charset="0"/>
                <a:ea typeface="Arial" pitchFamily="34" charset="-122"/>
                <a:cs typeface="Arial" pitchFamily="34" charset="-120"/>
              </a:rPr>
              <a:t>WHERE DOES IT FIT IN THE STLC?</a:t>
            </a:r>
            <a:endParaRPr lang="en-US" sz="1100" dirty="0"/>
          </a:p>
        </p:txBody>
      </p:sp>
      <p:sp>
        <p:nvSpPr>
          <p:cNvPr id="15" name="Shape 13"/>
          <p:cNvSpPr/>
          <p:nvPr/>
        </p:nvSpPr>
        <p:spPr>
          <a:xfrm>
            <a:off x="4617720" y="1280160"/>
            <a:ext cx="4160520" cy="438912"/>
          </a:xfrm>
          <a:prstGeom prst="rect">
            <a:avLst/>
          </a:prstGeom>
          <a:solidFill>
            <a:srgbClr val="F8F8F8"/>
          </a:solidFill>
          <a:ln w="12700">
            <a:solidFill>
              <a:srgbClr val="DEDEDE"/>
            </a:solidFill>
            <a:prstDash val="solid"/>
          </a:ln>
        </p:spPr>
      </p:sp>
      <p:sp>
        <p:nvSpPr>
          <p:cNvPr id="16" name="Text 14"/>
          <p:cNvSpPr/>
          <p:nvPr/>
        </p:nvSpPr>
        <p:spPr>
          <a:xfrm>
            <a:off x="4617720" y="1280160"/>
            <a:ext cx="365760" cy="438912"/>
          </a:xfrm>
          <a:prstGeom prst="rect">
            <a:avLst/>
          </a:prstGeom>
          <a:noFill/>
          <a:ln/>
        </p:spPr>
        <p:txBody>
          <a:bodyPr wrap="square" lIns="0" tIns="0" rIns="0" bIns="0" rtlCol="0" anchor="ctr"/>
          <a:lstStyle/>
          <a:p>
            <a:pPr marL="0" indent="0" algn="ctr">
              <a:buNone/>
            </a:pPr>
            <a:r>
              <a:rPr lang="en-US" sz="1400" b="1" dirty="0">
                <a:solidFill>
                  <a:srgbClr val="FF6500"/>
                </a:solidFill>
                <a:latin typeface="Arial Black" pitchFamily="34" charset="0"/>
                <a:ea typeface="Arial Black" pitchFamily="34" charset="-122"/>
                <a:cs typeface="Arial Black" pitchFamily="34" charset="-120"/>
              </a:rPr>
              <a:t>1</a:t>
            </a:r>
            <a:endParaRPr lang="en-US" sz="1400" dirty="0"/>
          </a:p>
        </p:txBody>
      </p:sp>
      <p:sp>
        <p:nvSpPr>
          <p:cNvPr id="17" name="Text 15"/>
          <p:cNvSpPr/>
          <p:nvPr/>
        </p:nvSpPr>
        <p:spPr>
          <a:xfrm>
            <a:off x="5029200" y="1280160"/>
            <a:ext cx="3566160" cy="438912"/>
          </a:xfrm>
          <a:prstGeom prst="rect">
            <a:avLst/>
          </a:prstGeom>
          <a:noFill/>
          <a:ln/>
        </p:spPr>
        <p:txBody>
          <a:bodyPr wrap="square" lIns="0" tIns="0" rIns="0" bIns="0" rtlCol="0" anchor="ctr"/>
          <a:lstStyle/>
          <a:p>
            <a:pPr marL="0" indent="0">
              <a:buNone/>
            </a:pPr>
            <a:r>
              <a:rPr lang="en-US" sz="1250" dirty="0">
                <a:solidFill>
                  <a:srgbClr val="2C2C2C"/>
                </a:solidFill>
                <a:latin typeface="Calibri" pitchFamily="34" charset="0"/>
                <a:ea typeface="Calibri" pitchFamily="34" charset="-122"/>
                <a:cs typeface="Calibri" pitchFamily="34" charset="-120"/>
              </a:rPr>
              <a:t>Requirement Analysis</a:t>
            </a:r>
            <a:endParaRPr lang="en-US" sz="1250" dirty="0"/>
          </a:p>
        </p:txBody>
      </p:sp>
      <p:sp>
        <p:nvSpPr>
          <p:cNvPr id="18" name="Shape 16"/>
          <p:cNvSpPr/>
          <p:nvPr/>
        </p:nvSpPr>
        <p:spPr>
          <a:xfrm>
            <a:off x="4617720" y="1828800"/>
            <a:ext cx="4160520" cy="438912"/>
          </a:xfrm>
          <a:prstGeom prst="rect">
            <a:avLst/>
          </a:prstGeom>
          <a:solidFill>
            <a:srgbClr val="FFFFFF"/>
          </a:solidFill>
          <a:ln w="12700">
            <a:solidFill>
              <a:srgbClr val="DEDEDE"/>
            </a:solidFill>
            <a:prstDash val="solid"/>
          </a:ln>
        </p:spPr>
      </p:sp>
      <p:sp>
        <p:nvSpPr>
          <p:cNvPr id="19" name="Text 17"/>
          <p:cNvSpPr/>
          <p:nvPr/>
        </p:nvSpPr>
        <p:spPr>
          <a:xfrm>
            <a:off x="4617720" y="1828800"/>
            <a:ext cx="365760" cy="438912"/>
          </a:xfrm>
          <a:prstGeom prst="rect">
            <a:avLst/>
          </a:prstGeom>
          <a:noFill/>
          <a:ln/>
        </p:spPr>
        <p:txBody>
          <a:bodyPr wrap="square" lIns="0" tIns="0" rIns="0" bIns="0" rtlCol="0" anchor="ctr"/>
          <a:lstStyle/>
          <a:p>
            <a:pPr marL="0" indent="0" algn="ctr">
              <a:buNone/>
            </a:pPr>
            <a:r>
              <a:rPr lang="en-US" sz="1400" b="1" dirty="0">
                <a:solidFill>
                  <a:srgbClr val="FF6500"/>
                </a:solidFill>
                <a:latin typeface="Arial Black" pitchFamily="34" charset="0"/>
                <a:ea typeface="Arial Black" pitchFamily="34" charset="-122"/>
                <a:cs typeface="Arial Black" pitchFamily="34" charset="-120"/>
              </a:rPr>
              <a:t>2</a:t>
            </a:r>
            <a:endParaRPr lang="en-US" sz="1400" dirty="0"/>
          </a:p>
        </p:txBody>
      </p:sp>
      <p:sp>
        <p:nvSpPr>
          <p:cNvPr id="20" name="Text 18"/>
          <p:cNvSpPr/>
          <p:nvPr/>
        </p:nvSpPr>
        <p:spPr>
          <a:xfrm>
            <a:off x="5029200" y="1828800"/>
            <a:ext cx="3566160" cy="438912"/>
          </a:xfrm>
          <a:prstGeom prst="rect">
            <a:avLst/>
          </a:prstGeom>
          <a:noFill/>
          <a:ln/>
        </p:spPr>
        <p:txBody>
          <a:bodyPr wrap="square" lIns="0" tIns="0" rIns="0" bIns="0" rtlCol="0" anchor="ctr"/>
          <a:lstStyle/>
          <a:p>
            <a:pPr marL="0" indent="0">
              <a:buNone/>
            </a:pPr>
            <a:r>
              <a:rPr lang="en-US" sz="1250" dirty="0">
                <a:solidFill>
                  <a:srgbClr val="2C2C2C"/>
                </a:solidFill>
                <a:latin typeface="Calibri" pitchFamily="34" charset="0"/>
                <a:ea typeface="Calibri" pitchFamily="34" charset="-122"/>
                <a:cs typeface="Calibri" pitchFamily="34" charset="-120"/>
              </a:rPr>
              <a:t>Test Planning</a:t>
            </a:r>
            <a:endParaRPr lang="en-US" sz="1250" dirty="0"/>
          </a:p>
        </p:txBody>
      </p:sp>
      <p:sp>
        <p:nvSpPr>
          <p:cNvPr id="21" name="Shape 19"/>
          <p:cNvSpPr/>
          <p:nvPr/>
        </p:nvSpPr>
        <p:spPr>
          <a:xfrm>
            <a:off x="4617720" y="2377440"/>
            <a:ext cx="4160520" cy="438912"/>
          </a:xfrm>
          <a:prstGeom prst="rect">
            <a:avLst/>
          </a:prstGeom>
          <a:solidFill>
            <a:srgbClr val="FF6500"/>
          </a:solidFill>
          <a:ln w="12700">
            <a:solidFill>
              <a:srgbClr val="FF6500"/>
            </a:solidFill>
            <a:prstDash val="solid"/>
          </a:ln>
        </p:spPr>
      </p:sp>
      <p:sp>
        <p:nvSpPr>
          <p:cNvPr id="22" name="Text 20"/>
          <p:cNvSpPr/>
          <p:nvPr/>
        </p:nvSpPr>
        <p:spPr>
          <a:xfrm>
            <a:off x="4617720" y="2377440"/>
            <a:ext cx="365760" cy="438912"/>
          </a:xfrm>
          <a:prstGeom prst="rect">
            <a:avLst/>
          </a:prstGeom>
          <a:noFill/>
          <a:ln/>
        </p:spPr>
        <p:txBody>
          <a:bodyPr wrap="square" lIns="0" tIns="0" rIns="0" bIns="0" rtlCol="0" anchor="ctr"/>
          <a:lstStyle/>
          <a:p>
            <a:pPr marL="0" indent="0" algn="ctr">
              <a:buNone/>
            </a:pPr>
            <a:r>
              <a:rPr lang="en-US" sz="1400" b="1" dirty="0">
                <a:solidFill>
                  <a:srgbClr val="FFFFFF"/>
                </a:solidFill>
                <a:latin typeface="Arial Black" pitchFamily="34" charset="0"/>
                <a:ea typeface="Arial Black" pitchFamily="34" charset="-122"/>
                <a:cs typeface="Arial Black" pitchFamily="34" charset="-120"/>
              </a:rPr>
              <a:t>3</a:t>
            </a:r>
            <a:endParaRPr lang="en-US" sz="1400" dirty="0"/>
          </a:p>
        </p:txBody>
      </p:sp>
      <p:sp>
        <p:nvSpPr>
          <p:cNvPr id="23" name="Text 21"/>
          <p:cNvSpPr/>
          <p:nvPr/>
        </p:nvSpPr>
        <p:spPr>
          <a:xfrm>
            <a:off x="5029200" y="2377440"/>
            <a:ext cx="3566160" cy="438912"/>
          </a:xfrm>
          <a:prstGeom prst="rect">
            <a:avLst/>
          </a:prstGeom>
          <a:noFill/>
          <a:ln/>
        </p:spPr>
        <p:txBody>
          <a:bodyPr wrap="square" lIns="0" tIns="0" rIns="0" bIns="0" rtlCol="0" anchor="ctr"/>
          <a:lstStyle/>
          <a:p>
            <a:pPr marL="0" indent="0">
              <a:buNone/>
            </a:pPr>
            <a:r>
              <a:rPr lang="en-US" sz="1250" b="1" dirty="0">
                <a:solidFill>
                  <a:srgbClr val="FFFFFF"/>
                </a:solidFill>
                <a:latin typeface="Arial" pitchFamily="34" charset="0"/>
                <a:ea typeface="Arial" pitchFamily="34" charset="-122"/>
                <a:cs typeface="Arial" pitchFamily="34" charset="-120"/>
              </a:rPr>
              <a:t>Test Case Development</a:t>
            </a:r>
            <a:endParaRPr lang="en-US" sz="1250" dirty="0"/>
          </a:p>
        </p:txBody>
      </p:sp>
      <p:sp>
        <p:nvSpPr>
          <p:cNvPr id="24" name="Text 22"/>
          <p:cNvSpPr/>
          <p:nvPr/>
        </p:nvSpPr>
        <p:spPr>
          <a:xfrm>
            <a:off x="6858000" y="2441448"/>
            <a:ext cx="1828800" cy="274320"/>
          </a:xfrm>
          <a:prstGeom prst="rect">
            <a:avLst/>
          </a:prstGeom>
          <a:noFill/>
          <a:ln/>
        </p:spPr>
        <p:txBody>
          <a:bodyPr wrap="square" lIns="0" tIns="0" rIns="0" bIns="0" rtlCol="0" anchor="ctr"/>
          <a:lstStyle/>
          <a:p>
            <a:pPr marL="0" indent="0">
              <a:buNone/>
            </a:pPr>
            <a:r>
              <a:rPr lang="en-US" sz="900" b="1" i="1" dirty="0">
                <a:solidFill>
                  <a:srgbClr val="FFFFFF"/>
                </a:solidFill>
                <a:latin typeface="Arial" pitchFamily="34" charset="0"/>
                <a:ea typeface="Arial" pitchFamily="34" charset="-122"/>
                <a:cs typeface="Arial" pitchFamily="34" charset="-120"/>
              </a:rPr>
              <a:t>← YOU ARE HERE</a:t>
            </a:r>
            <a:endParaRPr lang="en-US" sz="900" dirty="0"/>
          </a:p>
        </p:txBody>
      </p:sp>
      <p:sp>
        <p:nvSpPr>
          <p:cNvPr id="25" name="Shape 23"/>
          <p:cNvSpPr/>
          <p:nvPr/>
        </p:nvSpPr>
        <p:spPr>
          <a:xfrm>
            <a:off x="4617720" y="2926080"/>
            <a:ext cx="4160520" cy="438912"/>
          </a:xfrm>
          <a:prstGeom prst="rect">
            <a:avLst/>
          </a:prstGeom>
          <a:solidFill>
            <a:srgbClr val="FFFFFF"/>
          </a:solidFill>
          <a:ln w="12700">
            <a:solidFill>
              <a:srgbClr val="DEDEDE"/>
            </a:solidFill>
            <a:prstDash val="solid"/>
          </a:ln>
        </p:spPr>
      </p:sp>
      <p:sp>
        <p:nvSpPr>
          <p:cNvPr id="26" name="Text 24"/>
          <p:cNvSpPr/>
          <p:nvPr/>
        </p:nvSpPr>
        <p:spPr>
          <a:xfrm>
            <a:off x="4617720" y="2926080"/>
            <a:ext cx="365760" cy="438912"/>
          </a:xfrm>
          <a:prstGeom prst="rect">
            <a:avLst/>
          </a:prstGeom>
          <a:noFill/>
          <a:ln/>
        </p:spPr>
        <p:txBody>
          <a:bodyPr wrap="square" lIns="0" tIns="0" rIns="0" bIns="0" rtlCol="0" anchor="ctr"/>
          <a:lstStyle/>
          <a:p>
            <a:pPr marL="0" indent="0" algn="ctr">
              <a:buNone/>
            </a:pPr>
            <a:r>
              <a:rPr lang="en-US" sz="1400" b="1" dirty="0">
                <a:solidFill>
                  <a:srgbClr val="FF6500"/>
                </a:solidFill>
                <a:latin typeface="Arial Black" pitchFamily="34" charset="0"/>
                <a:ea typeface="Arial Black" pitchFamily="34" charset="-122"/>
                <a:cs typeface="Arial Black" pitchFamily="34" charset="-120"/>
              </a:rPr>
              <a:t>4</a:t>
            </a:r>
            <a:endParaRPr lang="en-US" sz="1400" dirty="0"/>
          </a:p>
        </p:txBody>
      </p:sp>
      <p:sp>
        <p:nvSpPr>
          <p:cNvPr id="27" name="Text 25"/>
          <p:cNvSpPr/>
          <p:nvPr/>
        </p:nvSpPr>
        <p:spPr>
          <a:xfrm>
            <a:off x="5029200" y="2926080"/>
            <a:ext cx="3566160" cy="438912"/>
          </a:xfrm>
          <a:prstGeom prst="rect">
            <a:avLst/>
          </a:prstGeom>
          <a:noFill/>
          <a:ln/>
        </p:spPr>
        <p:txBody>
          <a:bodyPr wrap="square" lIns="0" tIns="0" rIns="0" bIns="0" rtlCol="0" anchor="ctr"/>
          <a:lstStyle/>
          <a:p>
            <a:pPr marL="0" indent="0">
              <a:buNone/>
            </a:pPr>
            <a:r>
              <a:rPr lang="en-US" sz="1250" dirty="0">
                <a:solidFill>
                  <a:srgbClr val="2C2C2C"/>
                </a:solidFill>
                <a:latin typeface="Calibri" pitchFamily="34" charset="0"/>
                <a:ea typeface="Calibri" pitchFamily="34" charset="-122"/>
                <a:cs typeface="Calibri" pitchFamily="34" charset="-120"/>
              </a:rPr>
              <a:t>Test Environment Setup</a:t>
            </a:r>
            <a:endParaRPr lang="en-US" sz="1250" dirty="0"/>
          </a:p>
        </p:txBody>
      </p:sp>
      <p:sp>
        <p:nvSpPr>
          <p:cNvPr id="28" name="Shape 26"/>
          <p:cNvSpPr/>
          <p:nvPr/>
        </p:nvSpPr>
        <p:spPr>
          <a:xfrm>
            <a:off x="4617720" y="3474720"/>
            <a:ext cx="4160520" cy="438912"/>
          </a:xfrm>
          <a:prstGeom prst="rect">
            <a:avLst/>
          </a:prstGeom>
          <a:solidFill>
            <a:srgbClr val="F8F8F8"/>
          </a:solidFill>
          <a:ln w="12700">
            <a:solidFill>
              <a:srgbClr val="DEDEDE"/>
            </a:solidFill>
            <a:prstDash val="solid"/>
          </a:ln>
        </p:spPr>
      </p:sp>
      <p:sp>
        <p:nvSpPr>
          <p:cNvPr id="29" name="Text 27"/>
          <p:cNvSpPr/>
          <p:nvPr/>
        </p:nvSpPr>
        <p:spPr>
          <a:xfrm>
            <a:off x="4617720" y="3474720"/>
            <a:ext cx="365760" cy="438912"/>
          </a:xfrm>
          <a:prstGeom prst="rect">
            <a:avLst/>
          </a:prstGeom>
          <a:noFill/>
          <a:ln/>
        </p:spPr>
        <p:txBody>
          <a:bodyPr wrap="square" lIns="0" tIns="0" rIns="0" bIns="0" rtlCol="0" anchor="ctr"/>
          <a:lstStyle/>
          <a:p>
            <a:pPr marL="0" indent="0" algn="ctr">
              <a:buNone/>
            </a:pPr>
            <a:r>
              <a:rPr lang="en-US" sz="1400" b="1" dirty="0">
                <a:solidFill>
                  <a:srgbClr val="FF6500"/>
                </a:solidFill>
                <a:latin typeface="Arial Black" pitchFamily="34" charset="0"/>
                <a:ea typeface="Arial Black" pitchFamily="34" charset="-122"/>
                <a:cs typeface="Arial Black" pitchFamily="34" charset="-120"/>
              </a:rPr>
              <a:t>5</a:t>
            </a:r>
            <a:endParaRPr lang="en-US" sz="1400" dirty="0"/>
          </a:p>
        </p:txBody>
      </p:sp>
      <p:sp>
        <p:nvSpPr>
          <p:cNvPr id="30" name="Text 28"/>
          <p:cNvSpPr/>
          <p:nvPr/>
        </p:nvSpPr>
        <p:spPr>
          <a:xfrm>
            <a:off x="5029200" y="3474720"/>
            <a:ext cx="3566160" cy="438912"/>
          </a:xfrm>
          <a:prstGeom prst="rect">
            <a:avLst/>
          </a:prstGeom>
          <a:noFill/>
          <a:ln/>
        </p:spPr>
        <p:txBody>
          <a:bodyPr wrap="square" lIns="0" tIns="0" rIns="0" bIns="0" rtlCol="0" anchor="ctr"/>
          <a:lstStyle/>
          <a:p>
            <a:pPr marL="0" indent="0">
              <a:buNone/>
            </a:pPr>
            <a:r>
              <a:rPr lang="en-US" sz="1250" dirty="0">
                <a:solidFill>
                  <a:srgbClr val="2C2C2C"/>
                </a:solidFill>
                <a:latin typeface="Calibri" pitchFamily="34" charset="0"/>
                <a:ea typeface="Calibri" pitchFamily="34" charset="-122"/>
                <a:cs typeface="Calibri" pitchFamily="34" charset="-120"/>
              </a:rPr>
              <a:t>Test Execution</a:t>
            </a:r>
            <a:endParaRPr lang="en-US" sz="1250" dirty="0"/>
          </a:p>
        </p:txBody>
      </p:sp>
      <p:sp>
        <p:nvSpPr>
          <p:cNvPr id="31" name="Shape 29"/>
          <p:cNvSpPr/>
          <p:nvPr/>
        </p:nvSpPr>
        <p:spPr>
          <a:xfrm>
            <a:off x="4617720" y="4023360"/>
            <a:ext cx="4160520" cy="438912"/>
          </a:xfrm>
          <a:prstGeom prst="rect">
            <a:avLst/>
          </a:prstGeom>
          <a:solidFill>
            <a:srgbClr val="FFFFFF"/>
          </a:solidFill>
          <a:ln w="12700">
            <a:solidFill>
              <a:srgbClr val="DEDEDE"/>
            </a:solidFill>
            <a:prstDash val="solid"/>
          </a:ln>
        </p:spPr>
      </p:sp>
      <p:sp>
        <p:nvSpPr>
          <p:cNvPr id="32" name="Text 30"/>
          <p:cNvSpPr/>
          <p:nvPr/>
        </p:nvSpPr>
        <p:spPr>
          <a:xfrm>
            <a:off x="4617720" y="4023360"/>
            <a:ext cx="365760" cy="438912"/>
          </a:xfrm>
          <a:prstGeom prst="rect">
            <a:avLst/>
          </a:prstGeom>
          <a:noFill/>
          <a:ln/>
        </p:spPr>
        <p:txBody>
          <a:bodyPr wrap="square" lIns="0" tIns="0" rIns="0" bIns="0" rtlCol="0" anchor="ctr"/>
          <a:lstStyle/>
          <a:p>
            <a:pPr marL="0" indent="0" algn="ctr">
              <a:buNone/>
            </a:pPr>
            <a:r>
              <a:rPr lang="en-US" sz="1400" b="1" dirty="0">
                <a:solidFill>
                  <a:srgbClr val="FF6500"/>
                </a:solidFill>
                <a:latin typeface="Arial Black" pitchFamily="34" charset="0"/>
                <a:ea typeface="Arial Black" pitchFamily="34" charset="-122"/>
                <a:cs typeface="Arial Black" pitchFamily="34" charset="-120"/>
              </a:rPr>
              <a:t>6</a:t>
            </a:r>
            <a:endParaRPr lang="en-US" sz="1400" dirty="0"/>
          </a:p>
        </p:txBody>
      </p:sp>
      <p:sp>
        <p:nvSpPr>
          <p:cNvPr id="33" name="Text 31"/>
          <p:cNvSpPr/>
          <p:nvPr/>
        </p:nvSpPr>
        <p:spPr>
          <a:xfrm>
            <a:off x="5029200" y="4023360"/>
            <a:ext cx="3566160" cy="438912"/>
          </a:xfrm>
          <a:prstGeom prst="rect">
            <a:avLst/>
          </a:prstGeom>
          <a:noFill/>
          <a:ln/>
        </p:spPr>
        <p:txBody>
          <a:bodyPr wrap="square" lIns="0" tIns="0" rIns="0" bIns="0" rtlCol="0" anchor="ctr"/>
          <a:lstStyle/>
          <a:p>
            <a:pPr marL="0" indent="0">
              <a:buNone/>
            </a:pPr>
            <a:r>
              <a:rPr lang="en-US" sz="1250" dirty="0">
                <a:solidFill>
                  <a:srgbClr val="2C2C2C"/>
                </a:solidFill>
                <a:latin typeface="Calibri" pitchFamily="34" charset="0"/>
                <a:ea typeface="Calibri" pitchFamily="34" charset="-122"/>
                <a:cs typeface="Calibri" pitchFamily="34" charset="-120"/>
              </a:rPr>
              <a:t>Test Closure</a:t>
            </a:r>
            <a:endParaRPr lang="en-US" sz="12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5">
    <p:bg>
      <p:bgPr>
        <a:solidFill>
          <a:srgbClr val="F5F5F5"/>
        </a:solidFill>
        <a:effectLst/>
      </p:bgPr>
    </p:bg>
    <p:spTree>
      <p:nvGrpSpPr>
        <p:cNvPr id="1" name=""/>
        <p:cNvGrpSpPr/>
        <p:nvPr/>
      </p:nvGrpSpPr>
      <p:grpSpPr>
        <a:xfrm>
          <a:off x="0" y="0"/>
          <a:ext cx="0" cy="0"/>
          <a:chOff x="0" y="0"/>
          <a:chExt cx="0" cy="0"/>
        </a:xfrm>
      </p:grpSpPr>
      <p:sp>
        <p:nvSpPr>
          <p:cNvPr id="2" name="Shape 0"/>
          <p:cNvSpPr/>
          <p:nvPr/>
        </p:nvSpPr>
        <p:spPr>
          <a:xfrm>
            <a:off x="0" y="0"/>
            <a:ext cx="9144000" cy="621792"/>
          </a:xfrm>
          <a:prstGeom prst="rect">
            <a:avLst/>
          </a:prstGeom>
          <a:solidFill>
            <a:srgbClr val="0D0D0D"/>
          </a:solidFill>
          <a:ln w="12700">
            <a:solidFill>
              <a:srgbClr val="0D0D0D"/>
            </a:solidFill>
            <a:prstDash val="solid"/>
          </a:ln>
        </p:spPr>
      </p:sp>
      <p:sp>
        <p:nvSpPr>
          <p:cNvPr id="3" name="Shape 1"/>
          <p:cNvSpPr/>
          <p:nvPr/>
        </p:nvSpPr>
        <p:spPr>
          <a:xfrm>
            <a:off x="0" y="0"/>
            <a:ext cx="64008" cy="621792"/>
          </a:xfrm>
          <a:prstGeom prst="rect">
            <a:avLst/>
          </a:prstGeom>
          <a:solidFill>
            <a:srgbClr val="FF6500"/>
          </a:solidFill>
          <a:ln w="12700">
            <a:solidFill>
              <a:srgbClr val="FF6500"/>
            </a:solidFill>
            <a:prstDash val="solid"/>
          </a:ln>
        </p:spPr>
      </p:sp>
      <p:sp>
        <p:nvSpPr>
          <p:cNvPr id="4" name="Text 2"/>
          <p:cNvSpPr/>
          <p:nvPr/>
        </p:nvSpPr>
        <p:spPr>
          <a:xfrm>
            <a:off x="201168" y="64008"/>
            <a:ext cx="8503920" cy="493776"/>
          </a:xfrm>
          <a:prstGeom prst="rect">
            <a:avLst/>
          </a:prstGeom>
          <a:noFill/>
          <a:ln/>
        </p:spPr>
        <p:txBody>
          <a:bodyPr wrap="square" lIns="0" tIns="0" rIns="0" bIns="0" rtlCol="0" anchor="ctr"/>
          <a:lstStyle/>
          <a:p>
            <a:pPr marL="0" indent="0">
              <a:buNone/>
            </a:pPr>
            <a:r>
              <a:rPr lang="en-US" sz="1900" b="1" dirty="0">
                <a:solidFill>
                  <a:srgbClr val="FFFFFF"/>
                </a:solidFill>
                <a:latin typeface="Arial" pitchFamily="34" charset="0"/>
                <a:ea typeface="Arial" pitchFamily="34" charset="-122"/>
                <a:cs typeface="Arial" pitchFamily="34" charset="-120"/>
              </a:rPr>
              <a:t>Test Scenario vs Test Case vs Test Script — Key Differences</a:t>
            </a:r>
            <a:endParaRPr lang="en-US" sz="1900" dirty="0"/>
          </a:p>
        </p:txBody>
      </p:sp>
      <p:sp>
        <p:nvSpPr>
          <p:cNvPr id="5" name="Shape 3"/>
          <p:cNvSpPr/>
          <p:nvPr/>
        </p:nvSpPr>
        <p:spPr>
          <a:xfrm>
            <a:off x="0" y="4828032"/>
            <a:ext cx="9144000" cy="315468"/>
          </a:xfrm>
          <a:prstGeom prst="rect">
            <a:avLst/>
          </a:prstGeom>
          <a:solidFill>
            <a:srgbClr val="0D0D0D"/>
          </a:solidFill>
          <a:ln w="12700">
            <a:solidFill>
              <a:srgbClr val="0D0D0D"/>
            </a:solidFill>
            <a:prstDash val="solid"/>
          </a:ln>
        </p:spPr>
      </p:sp>
      <p:sp>
        <p:nvSpPr>
          <p:cNvPr id="6" name="Text 4"/>
          <p:cNvSpPr/>
          <p:nvPr/>
        </p:nvSpPr>
        <p:spPr>
          <a:xfrm>
            <a:off x="182880" y="4855464"/>
            <a:ext cx="7315200" cy="228600"/>
          </a:xfrm>
          <a:prstGeom prst="rect">
            <a:avLst/>
          </a:prstGeom>
          <a:noFill/>
          <a:ln/>
        </p:spPr>
        <p:txBody>
          <a:bodyPr wrap="square" lIns="0" tIns="0" rIns="0" bIns="0" rtlCol="0" anchor="ctr"/>
          <a:lstStyle/>
          <a:p>
            <a:pPr marL="0" indent="0">
              <a:buNone/>
            </a:pPr>
            <a:r>
              <a:rPr lang="en-US" sz="850" dirty="0">
                <a:solidFill>
                  <a:srgbClr val="999999"/>
                </a:solidFill>
                <a:latin typeface="Calibri" pitchFamily="34" charset="0"/>
                <a:ea typeface="Calibri" pitchFamily="34" charset="-122"/>
                <a:cs typeface="Calibri" pitchFamily="34" charset="-120"/>
              </a:rPr>
              <a:t>Quality Engineering | Test Case Development in STLC</a:t>
            </a:r>
            <a:endParaRPr lang="en-US" sz="850" dirty="0"/>
          </a:p>
        </p:txBody>
      </p:sp>
      <p:sp>
        <p:nvSpPr>
          <p:cNvPr id="7" name="Text 5"/>
          <p:cNvSpPr/>
          <p:nvPr/>
        </p:nvSpPr>
        <p:spPr>
          <a:xfrm>
            <a:off x="7406640" y="4855464"/>
            <a:ext cx="1554480" cy="228600"/>
          </a:xfrm>
          <a:prstGeom prst="rect">
            <a:avLst/>
          </a:prstGeom>
          <a:noFill/>
          <a:ln/>
        </p:spPr>
        <p:txBody>
          <a:bodyPr wrap="square" lIns="0" tIns="0" rIns="0" bIns="0" rtlCol="0" anchor="ctr"/>
          <a:lstStyle/>
          <a:p>
            <a:pPr marL="0" indent="0" algn="r">
              <a:buNone/>
            </a:pPr>
            <a:r>
              <a:rPr lang="en-US" sz="850" b="1" dirty="0">
                <a:solidFill>
                  <a:srgbClr val="FF6500"/>
                </a:solidFill>
                <a:latin typeface="Calibri" pitchFamily="34" charset="0"/>
                <a:ea typeface="Calibri" pitchFamily="34" charset="-122"/>
                <a:cs typeface="Calibri" pitchFamily="34" charset="-120"/>
              </a:rPr>
              <a:t>INTERNAL TRAINING</a:t>
            </a:r>
            <a:endParaRPr lang="en-US" sz="85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228600" y="777240"/>
          <a:ext cx="8641080" cy="3759200"/>
        </p:xfrm>
        <a:graphic>
          <a:graphicData uri="http://schemas.openxmlformats.org/drawingml/2006/table">
            <a:tbl>
              <a:tblPr/>
              <a:tblGrid>
                <a:gridCol w="1463040">
                  <a:extLst>
                    <a:ext uri="{9D8B030D-6E8A-4147-A177-3AD203B41FA5}">
                      <a16:colId xmlns:a16="http://schemas.microsoft.com/office/drawing/2014/main" val="20000"/>
                    </a:ext>
                  </a:extLst>
                </a:gridCol>
                <a:gridCol w="2331720">
                  <a:extLst>
                    <a:ext uri="{9D8B030D-6E8A-4147-A177-3AD203B41FA5}">
                      <a16:colId xmlns:a16="http://schemas.microsoft.com/office/drawing/2014/main" val="20001"/>
                    </a:ext>
                  </a:extLst>
                </a:gridCol>
                <a:gridCol w="2514600">
                  <a:extLst>
                    <a:ext uri="{9D8B030D-6E8A-4147-A177-3AD203B41FA5}">
                      <a16:colId xmlns:a16="http://schemas.microsoft.com/office/drawing/2014/main" val="20002"/>
                    </a:ext>
                  </a:extLst>
                </a:gridCol>
                <a:gridCol w="2331720">
                  <a:extLst>
                    <a:ext uri="{9D8B030D-6E8A-4147-A177-3AD203B41FA5}">
                      <a16:colId xmlns:a16="http://schemas.microsoft.com/office/drawing/2014/main" val="20003"/>
                    </a:ext>
                  </a:extLst>
                </a:gridCol>
              </a:tblGrid>
              <a:tr h="502920">
                <a:tc>
                  <a:txBody>
                    <a:bodyPr/>
                    <a:lstStyle/>
                    <a:p>
                      <a:pPr marL="0" indent="0">
                        <a:buNone/>
                      </a:pPr>
                      <a:r>
                        <a:rPr lang="en-US" sz="1200" b="1" dirty="0">
                          <a:solidFill>
                            <a:srgbClr val="FF6500"/>
                          </a:solidFill>
                          <a:latin typeface="Arial" pitchFamily="34" charset="0"/>
                          <a:ea typeface="Arial" pitchFamily="34" charset="-122"/>
                          <a:cs typeface="Arial" pitchFamily="34" charset="-120"/>
                        </a:rPr>
                        <a:t>Aspect</a:t>
                      </a:r>
                      <a:endParaRPr lang="en-US" sz="1200" dirty="0">
                        <a:latin typeface="Arial" charset="0"/>
                        <a:ea typeface="Arial" charset="0"/>
                        <a:cs typeface="Arial" charset="0"/>
                      </a:endParaRPr>
                    </a:p>
                  </a:txBody>
                  <a:tcPr marL="50800" marR="50800" marT="50800" marB="50800">
                    <a:lnL w="12700" cap="flat" cmpd="sng" algn="ctr">
                      <a:solidFill>
                        <a:srgbClr val="DEDEDE"/>
                      </a:solidFill>
                      <a:prstDash val="solid"/>
                      <a:round/>
                      <a:headEnd type="none" w="med" len="med"/>
                      <a:tailEnd type="none" w="med" len="med"/>
                    </a:lnL>
                    <a:lnR w="12700" cap="flat" cmpd="sng" algn="ctr">
                      <a:solidFill>
                        <a:srgbClr val="DEDEDE"/>
                      </a:solidFill>
                      <a:prstDash val="solid"/>
                      <a:round/>
                      <a:headEnd type="none" w="med" len="med"/>
                      <a:tailEnd type="none" w="med" len="med"/>
                    </a:lnR>
                    <a:lnT w="12700" cap="flat" cmpd="sng" algn="ctr">
                      <a:solidFill>
                        <a:srgbClr val="DEDEDE"/>
                      </a:solidFill>
                      <a:prstDash val="solid"/>
                      <a:round/>
                      <a:headEnd type="none" w="med" len="med"/>
                      <a:tailEnd type="none" w="med" len="med"/>
                    </a:lnT>
                    <a:lnB w="12700" cap="flat" cmpd="sng" algn="ctr">
                      <a:solidFill>
                        <a:srgbClr val="DEDEDE"/>
                      </a:solidFill>
                      <a:prstDash val="solid"/>
                      <a:round/>
                      <a:headEnd type="none" w="med" len="med"/>
                      <a:tailEnd type="none" w="med" len="med"/>
                    </a:lnB>
                    <a:solidFill>
                      <a:srgbClr val="0D0D0D"/>
                    </a:solidFill>
                  </a:tcPr>
                </a:tc>
                <a:tc>
                  <a:txBody>
                    <a:bodyPr/>
                    <a:lstStyle/>
                    <a:p>
                      <a:pPr marL="0" indent="0">
                        <a:buNone/>
                      </a:pPr>
                      <a:r>
                        <a:rPr lang="en-US" sz="1200" b="1" dirty="0">
                          <a:solidFill>
                            <a:srgbClr val="FF6500"/>
                          </a:solidFill>
                          <a:latin typeface="Arial" pitchFamily="34" charset="0"/>
                          <a:ea typeface="Arial" pitchFamily="34" charset="-122"/>
                          <a:cs typeface="Arial" pitchFamily="34" charset="-120"/>
                        </a:rPr>
                        <a:t>Test Scenario</a:t>
                      </a:r>
                      <a:endParaRPr lang="en-US" sz="1200" dirty="0">
                        <a:latin typeface="Arial" charset="0"/>
                        <a:ea typeface="Arial" charset="0"/>
                        <a:cs typeface="Arial" charset="0"/>
                      </a:endParaRPr>
                    </a:p>
                  </a:txBody>
                  <a:tcPr marL="50800" marR="50800" marT="50800" marB="50800">
                    <a:lnL w="12700" cap="flat" cmpd="sng" algn="ctr">
                      <a:solidFill>
                        <a:srgbClr val="DEDEDE"/>
                      </a:solidFill>
                      <a:prstDash val="solid"/>
                      <a:round/>
                      <a:headEnd type="none" w="med" len="med"/>
                      <a:tailEnd type="none" w="med" len="med"/>
                    </a:lnL>
                    <a:lnR w="12700" cap="flat" cmpd="sng" algn="ctr">
                      <a:solidFill>
                        <a:srgbClr val="DEDEDE"/>
                      </a:solidFill>
                      <a:prstDash val="solid"/>
                      <a:round/>
                      <a:headEnd type="none" w="med" len="med"/>
                      <a:tailEnd type="none" w="med" len="med"/>
                    </a:lnR>
                    <a:lnT w="12700" cap="flat" cmpd="sng" algn="ctr">
                      <a:solidFill>
                        <a:srgbClr val="DEDEDE"/>
                      </a:solidFill>
                      <a:prstDash val="solid"/>
                      <a:round/>
                      <a:headEnd type="none" w="med" len="med"/>
                      <a:tailEnd type="none" w="med" len="med"/>
                    </a:lnT>
                    <a:lnB w="12700" cap="flat" cmpd="sng" algn="ctr">
                      <a:solidFill>
                        <a:srgbClr val="DEDEDE"/>
                      </a:solidFill>
                      <a:prstDash val="solid"/>
                      <a:round/>
                      <a:headEnd type="none" w="med" len="med"/>
                      <a:tailEnd type="none" w="med" len="med"/>
                    </a:lnB>
                    <a:solidFill>
                      <a:srgbClr val="0D0D0D"/>
                    </a:solidFill>
                  </a:tcPr>
                </a:tc>
                <a:tc>
                  <a:txBody>
                    <a:bodyPr/>
                    <a:lstStyle/>
                    <a:p>
                      <a:pPr marL="0" indent="0">
                        <a:buNone/>
                      </a:pPr>
                      <a:r>
                        <a:rPr lang="en-US" sz="1200" b="1" dirty="0">
                          <a:solidFill>
                            <a:srgbClr val="FF6500"/>
                          </a:solidFill>
                          <a:latin typeface="Arial" pitchFamily="34" charset="0"/>
                          <a:ea typeface="Arial" pitchFamily="34" charset="-122"/>
                          <a:cs typeface="Arial" pitchFamily="34" charset="-120"/>
                        </a:rPr>
                        <a:t>Test Case</a:t>
                      </a:r>
                      <a:endParaRPr lang="en-US" sz="1200" dirty="0">
                        <a:latin typeface="Arial" charset="0"/>
                        <a:ea typeface="Arial" charset="0"/>
                        <a:cs typeface="Arial" charset="0"/>
                      </a:endParaRPr>
                    </a:p>
                  </a:txBody>
                  <a:tcPr marL="50800" marR="50800" marT="50800" marB="50800">
                    <a:lnL w="12700" cap="flat" cmpd="sng" algn="ctr">
                      <a:solidFill>
                        <a:srgbClr val="DEDEDE"/>
                      </a:solidFill>
                      <a:prstDash val="solid"/>
                      <a:round/>
                      <a:headEnd type="none" w="med" len="med"/>
                      <a:tailEnd type="none" w="med" len="med"/>
                    </a:lnL>
                    <a:lnR w="12700" cap="flat" cmpd="sng" algn="ctr">
                      <a:solidFill>
                        <a:srgbClr val="DEDEDE"/>
                      </a:solidFill>
                      <a:prstDash val="solid"/>
                      <a:round/>
                      <a:headEnd type="none" w="med" len="med"/>
                      <a:tailEnd type="none" w="med" len="med"/>
                    </a:lnR>
                    <a:lnT w="12700" cap="flat" cmpd="sng" algn="ctr">
                      <a:solidFill>
                        <a:srgbClr val="DEDEDE"/>
                      </a:solidFill>
                      <a:prstDash val="solid"/>
                      <a:round/>
                      <a:headEnd type="none" w="med" len="med"/>
                      <a:tailEnd type="none" w="med" len="med"/>
                    </a:lnT>
                    <a:lnB w="12700" cap="flat" cmpd="sng" algn="ctr">
                      <a:solidFill>
                        <a:srgbClr val="DEDEDE"/>
                      </a:solidFill>
                      <a:prstDash val="solid"/>
                      <a:round/>
                      <a:headEnd type="none" w="med" len="med"/>
                      <a:tailEnd type="none" w="med" len="med"/>
                    </a:lnB>
                    <a:solidFill>
                      <a:srgbClr val="0D0D0D"/>
                    </a:solidFill>
                  </a:tcPr>
                </a:tc>
                <a:tc>
                  <a:txBody>
                    <a:bodyPr/>
                    <a:lstStyle/>
                    <a:p>
                      <a:pPr marL="0" indent="0">
                        <a:buNone/>
                      </a:pPr>
                      <a:r>
                        <a:rPr lang="en-US" sz="1200" b="1" dirty="0">
                          <a:solidFill>
                            <a:srgbClr val="FF6500"/>
                          </a:solidFill>
                          <a:latin typeface="Arial" pitchFamily="34" charset="0"/>
                          <a:ea typeface="Arial" pitchFamily="34" charset="-122"/>
                          <a:cs typeface="Arial" pitchFamily="34" charset="-120"/>
                        </a:rPr>
                        <a:t>Test Script</a:t>
                      </a:r>
                      <a:endParaRPr lang="en-US" sz="1200" dirty="0">
                        <a:latin typeface="Arial" charset="0"/>
                        <a:ea typeface="Arial" charset="0"/>
                        <a:cs typeface="Arial" charset="0"/>
                      </a:endParaRPr>
                    </a:p>
                  </a:txBody>
                  <a:tcPr marL="50800" marR="50800" marT="50800" marB="50800">
                    <a:lnL w="12700" cap="flat" cmpd="sng" algn="ctr">
                      <a:solidFill>
                        <a:srgbClr val="DEDEDE"/>
                      </a:solidFill>
                      <a:prstDash val="solid"/>
                      <a:round/>
                      <a:headEnd type="none" w="med" len="med"/>
                      <a:tailEnd type="none" w="med" len="med"/>
                    </a:lnL>
                    <a:lnR w="12700" cap="flat" cmpd="sng" algn="ctr">
                      <a:solidFill>
                        <a:srgbClr val="DEDEDE"/>
                      </a:solidFill>
                      <a:prstDash val="solid"/>
                      <a:round/>
                      <a:headEnd type="none" w="med" len="med"/>
                      <a:tailEnd type="none" w="med" len="med"/>
                    </a:lnR>
                    <a:lnT w="12700" cap="flat" cmpd="sng" algn="ctr">
                      <a:solidFill>
                        <a:srgbClr val="DEDEDE"/>
                      </a:solidFill>
                      <a:prstDash val="solid"/>
                      <a:round/>
                      <a:headEnd type="none" w="med" len="med"/>
                      <a:tailEnd type="none" w="med" len="med"/>
                    </a:lnT>
                    <a:lnB w="12700" cap="flat" cmpd="sng" algn="ctr">
                      <a:solidFill>
                        <a:srgbClr val="DEDEDE"/>
                      </a:solidFill>
                      <a:prstDash val="solid"/>
                      <a:round/>
                      <a:headEnd type="none" w="med" len="med"/>
                      <a:tailEnd type="none" w="med" len="med"/>
                    </a:lnB>
                    <a:solidFill>
                      <a:srgbClr val="0D0D0D"/>
                    </a:solidFill>
                  </a:tcPr>
                </a:tc>
                <a:extLst>
                  <a:ext uri="{0D108BD9-81ED-4DB2-BD59-A6C34878D82A}">
                    <a16:rowId xmlns:a16="http://schemas.microsoft.com/office/drawing/2014/main" val="10000"/>
                  </a:ext>
                </a:extLst>
              </a:tr>
              <a:tr h="502920">
                <a:tc>
                  <a:txBody>
                    <a:bodyPr/>
                    <a:lstStyle/>
                    <a:p>
                      <a:pPr marL="0" indent="0">
                        <a:buNone/>
                      </a:pPr>
                      <a:r>
                        <a:rPr lang="en-US" sz="1050" dirty="0">
                          <a:solidFill>
                            <a:srgbClr val="2C2C2C"/>
                          </a:solidFill>
                          <a:latin typeface="Calibri" pitchFamily="34" charset="0"/>
                          <a:ea typeface="Calibri" pitchFamily="34" charset="-122"/>
                          <a:cs typeface="Calibri" pitchFamily="34" charset="-120"/>
                        </a:rPr>
                        <a:t>Definition</a:t>
                      </a:r>
                      <a:endParaRPr lang="en-US" sz="1050" dirty="0">
                        <a:latin typeface="Calibri" charset="0"/>
                        <a:ea typeface="Calibri" charset="0"/>
                        <a:cs typeface="Calibri" charset="0"/>
                      </a:endParaRPr>
                    </a:p>
                  </a:txBody>
                  <a:tcPr marL="50800" marR="50800" marT="50800" marB="50800" anchor="ctr">
                    <a:lnL w="12700" cap="flat" cmpd="sng" algn="ctr">
                      <a:solidFill>
                        <a:srgbClr val="DEDEDE"/>
                      </a:solidFill>
                      <a:prstDash val="solid"/>
                      <a:round/>
                      <a:headEnd type="none" w="med" len="med"/>
                      <a:tailEnd type="none" w="med" len="med"/>
                    </a:lnL>
                    <a:lnR w="12700" cap="flat" cmpd="sng" algn="ctr">
                      <a:solidFill>
                        <a:srgbClr val="DEDEDE"/>
                      </a:solidFill>
                      <a:prstDash val="solid"/>
                      <a:round/>
                      <a:headEnd type="none" w="med" len="med"/>
                      <a:tailEnd type="none" w="med" len="med"/>
                    </a:lnR>
                    <a:lnT w="12700" cap="flat" cmpd="sng" algn="ctr">
                      <a:solidFill>
                        <a:srgbClr val="DEDEDE"/>
                      </a:solidFill>
                      <a:prstDash val="solid"/>
                      <a:round/>
                      <a:headEnd type="none" w="med" len="med"/>
                      <a:tailEnd type="none" w="med" len="med"/>
                    </a:lnT>
                    <a:lnB w="12700" cap="flat" cmpd="sng" algn="ctr">
                      <a:solidFill>
                        <a:srgbClr val="DEDEDE"/>
                      </a:solidFill>
                      <a:prstDash val="solid"/>
                      <a:round/>
                      <a:headEnd type="none" w="med" len="med"/>
                      <a:tailEnd type="none" w="med" len="med"/>
                    </a:lnB>
                    <a:solidFill>
                      <a:srgbClr val="FFFFFF"/>
                    </a:solidFill>
                  </a:tcPr>
                </a:tc>
                <a:tc>
                  <a:txBody>
                    <a:bodyPr/>
                    <a:lstStyle/>
                    <a:p>
                      <a:pPr marL="0" indent="0">
                        <a:buNone/>
                      </a:pPr>
                      <a:r>
                        <a:rPr lang="en-US" sz="1050" dirty="0">
                          <a:solidFill>
                            <a:srgbClr val="2C2C2C"/>
                          </a:solidFill>
                          <a:latin typeface="Calibri" pitchFamily="34" charset="0"/>
                          <a:ea typeface="Calibri" pitchFamily="34" charset="-122"/>
                          <a:cs typeface="Calibri" pitchFamily="34" charset="-120"/>
                        </a:rPr>
                        <a:t>High-level description of WHAT to test</a:t>
                      </a:r>
                      <a:endParaRPr lang="en-US" sz="1050" dirty="0">
                        <a:latin typeface="Calibri" charset="0"/>
                        <a:ea typeface="Calibri" charset="0"/>
                        <a:cs typeface="Calibri" charset="0"/>
                      </a:endParaRPr>
                    </a:p>
                  </a:txBody>
                  <a:tcPr marL="50800" marR="50800" marT="50800" marB="50800" anchor="ctr">
                    <a:lnL w="12700" cap="flat" cmpd="sng" algn="ctr">
                      <a:solidFill>
                        <a:srgbClr val="DEDEDE"/>
                      </a:solidFill>
                      <a:prstDash val="solid"/>
                      <a:round/>
                      <a:headEnd type="none" w="med" len="med"/>
                      <a:tailEnd type="none" w="med" len="med"/>
                    </a:lnL>
                    <a:lnR w="12700" cap="flat" cmpd="sng" algn="ctr">
                      <a:solidFill>
                        <a:srgbClr val="DEDEDE"/>
                      </a:solidFill>
                      <a:prstDash val="solid"/>
                      <a:round/>
                      <a:headEnd type="none" w="med" len="med"/>
                      <a:tailEnd type="none" w="med" len="med"/>
                    </a:lnR>
                    <a:lnT w="12700" cap="flat" cmpd="sng" algn="ctr">
                      <a:solidFill>
                        <a:srgbClr val="DEDEDE"/>
                      </a:solidFill>
                      <a:prstDash val="solid"/>
                      <a:round/>
                      <a:headEnd type="none" w="med" len="med"/>
                      <a:tailEnd type="none" w="med" len="med"/>
                    </a:lnT>
                    <a:lnB w="12700" cap="flat" cmpd="sng" algn="ctr">
                      <a:solidFill>
                        <a:srgbClr val="DEDEDE"/>
                      </a:solidFill>
                      <a:prstDash val="solid"/>
                      <a:round/>
                      <a:headEnd type="none" w="med" len="med"/>
                      <a:tailEnd type="none" w="med" len="med"/>
                    </a:lnB>
                    <a:solidFill>
                      <a:srgbClr val="FFFFFF"/>
                    </a:solidFill>
                  </a:tcPr>
                </a:tc>
                <a:tc>
                  <a:txBody>
                    <a:bodyPr/>
                    <a:lstStyle/>
                    <a:p>
                      <a:pPr marL="0" indent="0">
                        <a:buNone/>
                      </a:pPr>
                      <a:r>
                        <a:rPr lang="en-US" sz="1050" dirty="0">
                          <a:solidFill>
                            <a:srgbClr val="2C2C2C"/>
                          </a:solidFill>
                          <a:latin typeface="Calibri" pitchFamily="34" charset="0"/>
                          <a:ea typeface="Calibri" pitchFamily="34" charset="-122"/>
                          <a:cs typeface="Calibri" pitchFamily="34" charset="-120"/>
                        </a:rPr>
                        <a:t>Detailed specification of HOW to test</a:t>
                      </a:r>
                      <a:endParaRPr lang="en-US" sz="1050" dirty="0">
                        <a:latin typeface="Calibri" charset="0"/>
                        <a:ea typeface="Calibri" charset="0"/>
                        <a:cs typeface="Calibri" charset="0"/>
                      </a:endParaRPr>
                    </a:p>
                  </a:txBody>
                  <a:tcPr marL="50800" marR="50800" marT="50800" marB="50800" anchor="ctr">
                    <a:lnL w="12700" cap="flat" cmpd="sng" algn="ctr">
                      <a:solidFill>
                        <a:srgbClr val="DEDEDE"/>
                      </a:solidFill>
                      <a:prstDash val="solid"/>
                      <a:round/>
                      <a:headEnd type="none" w="med" len="med"/>
                      <a:tailEnd type="none" w="med" len="med"/>
                    </a:lnL>
                    <a:lnR w="12700" cap="flat" cmpd="sng" algn="ctr">
                      <a:solidFill>
                        <a:srgbClr val="DEDEDE"/>
                      </a:solidFill>
                      <a:prstDash val="solid"/>
                      <a:round/>
                      <a:headEnd type="none" w="med" len="med"/>
                      <a:tailEnd type="none" w="med" len="med"/>
                    </a:lnR>
                    <a:lnT w="12700" cap="flat" cmpd="sng" algn="ctr">
                      <a:solidFill>
                        <a:srgbClr val="DEDEDE"/>
                      </a:solidFill>
                      <a:prstDash val="solid"/>
                      <a:round/>
                      <a:headEnd type="none" w="med" len="med"/>
                      <a:tailEnd type="none" w="med" len="med"/>
                    </a:lnT>
                    <a:lnB w="12700" cap="flat" cmpd="sng" algn="ctr">
                      <a:solidFill>
                        <a:srgbClr val="DEDEDE"/>
                      </a:solidFill>
                      <a:prstDash val="solid"/>
                      <a:round/>
                      <a:headEnd type="none" w="med" len="med"/>
                      <a:tailEnd type="none" w="med" len="med"/>
                    </a:lnB>
                    <a:solidFill>
                      <a:srgbClr val="FFFFFF"/>
                    </a:solidFill>
                  </a:tcPr>
                </a:tc>
                <a:tc>
                  <a:txBody>
                    <a:bodyPr/>
                    <a:lstStyle/>
                    <a:p>
                      <a:pPr marL="0" indent="0">
                        <a:buNone/>
                      </a:pPr>
                      <a:r>
                        <a:rPr lang="en-US" sz="1050" dirty="0">
                          <a:solidFill>
                            <a:srgbClr val="2C2C2C"/>
                          </a:solidFill>
                          <a:latin typeface="Calibri" pitchFamily="34" charset="0"/>
                          <a:ea typeface="Calibri" pitchFamily="34" charset="-122"/>
                          <a:cs typeface="Calibri" pitchFamily="34" charset="-120"/>
                        </a:rPr>
                        <a:t>Automated code that executes the test case</a:t>
                      </a:r>
                      <a:endParaRPr lang="en-US" sz="1050" dirty="0">
                        <a:latin typeface="Calibri" charset="0"/>
                        <a:ea typeface="Calibri" charset="0"/>
                        <a:cs typeface="Calibri" charset="0"/>
                      </a:endParaRPr>
                    </a:p>
                  </a:txBody>
                  <a:tcPr marL="50800" marR="50800" marT="50800" marB="50800" anchor="ctr">
                    <a:lnL w="12700" cap="flat" cmpd="sng" algn="ctr">
                      <a:solidFill>
                        <a:srgbClr val="DEDEDE"/>
                      </a:solidFill>
                      <a:prstDash val="solid"/>
                      <a:round/>
                      <a:headEnd type="none" w="med" len="med"/>
                      <a:tailEnd type="none" w="med" len="med"/>
                    </a:lnL>
                    <a:lnR w="12700" cap="flat" cmpd="sng" algn="ctr">
                      <a:solidFill>
                        <a:srgbClr val="DEDEDE"/>
                      </a:solidFill>
                      <a:prstDash val="solid"/>
                      <a:round/>
                      <a:headEnd type="none" w="med" len="med"/>
                      <a:tailEnd type="none" w="med" len="med"/>
                    </a:lnR>
                    <a:lnT w="12700" cap="flat" cmpd="sng" algn="ctr">
                      <a:solidFill>
                        <a:srgbClr val="DEDEDE"/>
                      </a:solidFill>
                      <a:prstDash val="solid"/>
                      <a:round/>
                      <a:headEnd type="none" w="med" len="med"/>
                      <a:tailEnd type="none" w="med" len="med"/>
                    </a:lnT>
                    <a:lnB w="12700" cap="flat" cmpd="sng" algn="ctr">
                      <a:solidFill>
                        <a:srgbClr val="DEDEDE"/>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02920">
                <a:tc>
                  <a:txBody>
                    <a:bodyPr/>
                    <a:lstStyle/>
                    <a:p>
                      <a:pPr marL="0" indent="0">
                        <a:buNone/>
                      </a:pPr>
                      <a:r>
                        <a:rPr lang="en-US" sz="1050" dirty="0">
                          <a:solidFill>
                            <a:srgbClr val="2C2C2C"/>
                          </a:solidFill>
                          <a:latin typeface="Calibri" pitchFamily="34" charset="0"/>
                          <a:ea typeface="Calibri" pitchFamily="34" charset="-122"/>
                          <a:cs typeface="Calibri" pitchFamily="34" charset="-120"/>
                        </a:rPr>
                        <a:t>Detail Level</a:t>
                      </a:r>
                      <a:endParaRPr lang="en-US" sz="1050" dirty="0">
                        <a:latin typeface="Calibri" charset="0"/>
                        <a:ea typeface="Calibri" charset="0"/>
                        <a:cs typeface="Calibri" charset="0"/>
                      </a:endParaRPr>
                    </a:p>
                  </a:txBody>
                  <a:tcPr marL="50800" marR="50800" marT="50800" marB="50800" anchor="ctr">
                    <a:lnL w="12700" cap="flat" cmpd="sng" algn="ctr">
                      <a:solidFill>
                        <a:srgbClr val="DEDEDE"/>
                      </a:solidFill>
                      <a:prstDash val="solid"/>
                      <a:round/>
                      <a:headEnd type="none" w="med" len="med"/>
                      <a:tailEnd type="none" w="med" len="med"/>
                    </a:lnL>
                    <a:lnR w="12700" cap="flat" cmpd="sng" algn="ctr">
                      <a:solidFill>
                        <a:srgbClr val="DEDEDE"/>
                      </a:solidFill>
                      <a:prstDash val="solid"/>
                      <a:round/>
                      <a:headEnd type="none" w="med" len="med"/>
                      <a:tailEnd type="none" w="med" len="med"/>
                    </a:lnR>
                    <a:lnT w="12700" cap="flat" cmpd="sng" algn="ctr">
                      <a:solidFill>
                        <a:srgbClr val="DEDEDE"/>
                      </a:solidFill>
                      <a:prstDash val="solid"/>
                      <a:round/>
                      <a:headEnd type="none" w="med" len="med"/>
                      <a:tailEnd type="none" w="med" len="med"/>
                    </a:lnT>
                    <a:lnB w="12700" cap="flat" cmpd="sng" algn="ctr">
                      <a:solidFill>
                        <a:srgbClr val="DEDEDE"/>
                      </a:solidFill>
                      <a:prstDash val="solid"/>
                      <a:round/>
                      <a:headEnd type="none" w="med" len="med"/>
                      <a:tailEnd type="none" w="med" len="med"/>
                    </a:lnB>
                    <a:solidFill>
                      <a:srgbClr val="F0F0F0"/>
                    </a:solidFill>
                  </a:tcPr>
                </a:tc>
                <a:tc>
                  <a:txBody>
                    <a:bodyPr/>
                    <a:lstStyle/>
                    <a:p>
                      <a:pPr marL="0" indent="0">
                        <a:buNone/>
                      </a:pPr>
                      <a:r>
                        <a:rPr lang="en-US" sz="1050" dirty="0">
                          <a:solidFill>
                            <a:srgbClr val="2C2C2C"/>
                          </a:solidFill>
                          <a:latin typeface="Calibri" pitchFamily="34" charset="0"/>
                          <a:ea typeface="Calibri" pitchFamily="34" charset="-122"/>
                          <a:cs typeface="Calibri" pitchFamily="34" charset="-120"/>
                        </a:rPr>
                        <a:t>Low — broad and general</a:t>
                      </a:r>
                      <a:endParaRPr lang="en-US" sz="1050" dirty="0">
                        <a:latin typeface="Calibri" charset="0"/>
                        <a:ea typeface="Calibri" charset="0"/>
                        <a:cs typeface="Calibri" charset="0"/>
                      </a:endParaRPr>
                    </a:p>
                  </a:txBody>
                  <a:tcPr marL="50800" marR="50800" marT="50800" marB="50800" anchor="ctr">
                    <a:lnL w="12700" cap="flat" cmpd="sng" algn="ctr">
                      <a:solidFill>
                        <a:srgbClr val="DEDEDE"/>
                      </a:solidFill>
                      <a:prstDash val="solid"/>
                      <a:round/>
                      <a:headEnd type="none" w="med" len="med"/>
                      <a:tailEnd type="none" w="med" len="med"/>
                    </a:lnL>
                    <a:lnR w="12700" cap="flat" cmpd="sng" algn="ctr">
                      <a:solidFill>
                        <a:srgbClr val="DEDEDE"/>
                      </a:solidFill>
                      <a:prstDash val="solid"/>
                      <a:round/>
                      <a:headEnd type="none" w="med" len="med"/>
                      <a:tailEnd type="none" w="med" len="med"/>
                    </a:lnR>
                    <a:lnT w="12700" cap="flat" cmpd="sng" algn="ctr">
                      <a:solidFill>
                        <a:srgbClr val="DEDEDE"/>
                      </a:solidFill>
                      <a:prstDash val="solid"/>
                      <a:round/>
                      <a:headEnd type="none" w="med" len="med"/>
                      <a:tailEnd type="none" w="med" len="med"/>
                    </a:lnT>
                    <a:lnB w="12700" cap="flat" cmpd="sng" algn="ctr">
                      <a:solidFill>
                        <a:srgbClr val="DEDEDE"/>
                      </a:solidFill>
                      <a:prstDash val="solid"/>
                      <a:round/>
                      <a:headEnd type="none" w="med" len="med"/>
                      <a:tailEnd type="none" w="med" len="med"/>
                    </a:lnB>
                    <a:solidFill>
                      <a:srgbClr val="F0F0F0"/>
                    </a:solidFill>
                  </a:tcPr>
                </a:tc>
                <a:tc>
                  <a:txBody>
                    <a:bodyPr/>
                    <a:lstStyle/>
                    <a:p>
                      <a:pPr marL="0" indent="0">
                        <a:buNone/>
                      </a:pPr>
                      <a:r>
                        <a:rPr lang="en-US" sz="1050" dirty="0">
                          <a:solidFill>
                            <a:srgbClr val="2C2C2C"/>
                          </a:solidFill>
                          <a:latin typeface="Calibri" pitchFamily="34" charset="0"/>
                          <a:ea typeface="Calibri" pitchFamily="34" charset="-122"/>
                          <a:cs typeface="Calibri" pitchFamily="34" charset="-120"/>
                        </a:rPr>
                        <a:t>Medium/High — precise steps &amp; data</a:t>
                      </a:r>
                      <a:endParaRPr lang="en-US" sz="1050" dirty="0">
                        <a:latin typeface="Calibri" charset="0"/>
                        <a:ea typeface="Calibri" charset="0"/>
                        <a:cs typeface="Calibri" charset="0"/>
                      </a:endParaRPr>
                    </a:p>
                  </a:txBody>
                  <a:tcPr marL="50800" marR="50800" marT="50800" marB="50800" anchor="ctr">
                    <a:lnL w="12700" cap="flat" cmpd="sng" algn="ctr">
                      <a:solidFill>
                        <a:srgbClr val="DEDEDE"/>
                      </a:solidFill>
                      <a:prstDash val="solid"/>
                      <a:round/>
                      <a:headEnd type="none" w="med" len="med"/>
                      <a:tailEnd type="none" w="med" len="med"/>
                    </a:lnL>
                    <a:lnR w="12700" cap="flat" cmpd="sng" algn="ctr">
                      <a:solidFill>
                        <a:srgbClr val="DEDEDE"/>
                      </a:solidFill>
                      <a:prstDash val="solid"/>
                      <a:round/>
                      <a:headEnd type="none" w="med" len="med"/>
                      <a:tailEnd type="none" w="med" len="med"/>
                    </a:lnR>
                    <a:lnT w="12700" cap="flat" cmpd="sng" algn="ctr">
                      <a:solidFill>
                        <a:srgbClr val="DEDEDE"/>
                      </a:solidFill>
                      <a:prstDash val="solid"/>
                      <a:round/>
                      <a:headEnd type="none" w="med" len="med"/>
                      <a:tailEnd type="none" w="med" len="med"/>
                    </a:lnT>
                    <a:lnB w="12700" cap="flat" cmpd="sng" algn="ctr">
                      <a:solidFill>
                        <a:srgbClr val="DEDEDE"/>
                      </a:solidFill>
                      <a:prstDash val="solid"/>
                      <a:round/>
                      <a:headEnd type="none" w="med" len="med"/>
                      <a:tailEnd type="none" w="med" len="med"/>
                    </a:lnB>
                    <a:solidFill>
                      <a:srgbClr val="F0F0F0"/>
                    </a:solidFill>
                  </a:tcPr>
                </a:tc>
                <a:tc>
                  <a:txBody>
                    <a:bodyPr/>
                    <a:lstStyle/>
                    <a:p>
                      <a:pPr marL="0" indent="0">
                        <a:buNone/>
                      </a:pPr>
                      <a:r>
                        <a:rPr lang="en-US" sz="1050" dirty="0">
                          <a:solidFill>
                            <a:srgbClr val="2C2C2C"/>
                          </a:solidFill>
                          <a:latin typeface="Calibri" pitchFamily="34" charset="0"/>
                          <a:ea typeface="Calibri" pitchFamily="34" charset="-122"/>
                          <a:cs typeface="Calibri" pitchFamily="34" charset="-120"/>
                        </a:rPr>
                        <a:t>Very High — code with assertions</a:t>
                      </a:r>
                      <a:endParaRPr lang="en-US" sz="1050" dirty="0">
                        <a:latin typeface="Calibri" charset="0"/>
                        <a:ea typeface="Calibri" charset="0"/>
                        <a:cs typeface="Calibri" charset="0"/>
                      </a:endParaRPr>
                    </a:p>
                  </a:txBody>
                  <a:tcPr marL="50800" marR="50800" marT="50800" marB="50800" anchor="ctr">
                    <a:lnL w="12700" cap="flat" cmpd="sng" algn="ctr">
                      <a:solidFill>
                        <a:srgbClr val="DEDEDE"/>
                      </a:solidFill>
                      <a:prstDash val="solid"/>
                      <a:round/>
                      <a:headEnd type="none" w="med" len="med"/>
                      <a:tailEnd type="none" w="med" len="med"/>
                    </a:lnL>
                    <a:lnR w="12700" cap="flat" cmpd="sng" algn="ctr">
                      <a:solidFill>
                        <a:srgbClr val="DEDEDE"/>
                      </a:solidFill>
                      <a:prstDash val="solid"/>
                      <a:round/>
                      <a:headEnd type="none" w="med" len="med"/>
                      <a:tailEnd type="none" w="med" len="med"/>
                    </a:lnR>
                    <a:lnT w="12700" cap="flat" cmpd="sng" algn="ctr">
                      <a:solidFill>
                        <a:srgbClr val="DEDEDE"/>
                      </a:solidFill>
                      <a:prstDash val="solid"/>
                      <a:round/>
                      <a:headEnd type="none" w="med" len="med"/>
                      <a:tailEnd type="none" w="med" len="med"/>
                    </a:lnT>
                    <a:lnB w="12700" cap="flat" cmpd="sng" algn="ctr">
                      <a:solidFill>
                        <a:srgbClr val="DEDEDE"/>
                      </a:solidFill>
                      <a:prstDash val="solid"/>
                      <a:round/>
                      <a:headEnd type="none" w="med" len="med"/>
                      <a:tailEnd type="none" w="med" len="med"/>
                    </a:lnB>
                    <a:solidFill>
                      <a:srgbClr val="F0F0F0"/>
                    </a:solidFill>
                  </a:tcPr>
                </a:tc>
                <a:extLst>
                  <a:ext uri="{0D108BD9-81ED-4DB2-BD59-A6C34878D82A}">
                    <a16:rowId xmlns:a16="http://schemas.microsoft.com/office/drawing/2014/main" val="10002"/>
                  </a:ext>
                </a:extLst>
              </a:tr>
              <a:tr h="502920">
                <a:tc>
                  <a:txBody>
                    <a:bodyPr/>
                    <a:lstStyle/>
                    <a:p>
                      <a:pPr marL="0" indent="0">
                        <a:buNone/>
                      </a:pPr>
                      <a:r>
                        <a:rPr lang="en-US" sz="1050" dirty="0">
                          <a:solidFill>
                            <a:srgbClr val="2C2C2C"/>
                          </a:solidFill>
                          <a:latin typeface="Calibri" pitchFamily="34" charset="0"/>
                          <a:ea typeface="Calibri" pitchFamily="34" charset="-122"/>
                          <a:cs typeface="Calibri" pitchFamily="34" charset="-120"/>
                        </a:rPr>
                        <a:t>Performed by</a:t>
                      </a:r>
                      <a:endParaRPr lang="en-US" sz="1050" dirty="0">
                        <a:latin typeface="Calibri" charset="0"/>
                        <a:ea typeface="Calibri" charset="0"/>
                        <a:cs typeface="Calibri" charset="0"/>
                      </a:endParaRPr>
                    </a:p>
                  </a:txBody>
                  <a:tcPr marL="50800" marR="50800" marT="50800" marB="50800" anchor="ctr">
                    <a:lnL w="12700" cap="flat" cmpd="sng" algn="ctr">
                      <a:solidFill>
                        <a:srgbClr val="DEDEDE"/>
                      </a:solidFill>
                      <a:prstDash val="solid"/>
                      <a:round/>
                      <a:headEnd type="none" w="med" len="med"/>
                      <a:tailEnd type="none" w="med" len="med"/>
                    </a:lnL>
                    <a:lnR w="12700" cap="flat" cmpd="sng" algn="ctr">
                      <a:solidFill>
                        <a:srgbClr val="DEDEDE"/>
                      </a:solidFill>
                      <a:prstDash val="solid"/>
                      <a:round/>
                      <a:headEnd type="none" w="med" len="med"/>
                      <a:tailEnd type="none" w="med" len="med"/>
                    </a:lnR>
                    <a:lnT w="12700" cap="flat" cmpd="sng" algn="ctr">
                      <a:solidFill>
                        <a:srgbClr val="DEDEDE"/>
                      </a:solidFill>
                      <a:prstDash val="solid"/>
                      <a:round/>
                      <a:headEnd type="none" w="med" len="med"/>
                      <a:tailEnd type="none" w="med" len="med"/>
                    </a:lnT>
                    <a:lnB w="12700" cap="flat" cmpd="sng" algn="ctr">
                      <a:solidFill>
                        <a:srgbClr val="DEDEDE"/>
                      </a:solidFill>
                      <a:prstDash val="solid"/>
                      <a:round/>
                      <a:headEnd type="none" w="med" len="med"/>
                      <a:tailEnd type="none" w="med" len="med"/>
                    </a:lnB>
                    <a:solidFill>
                      <a:srgbClr val="FFFFFF"/>
                    </a:solidFill>
                  </a:tcPr>
                </a:tc>
                <a:tc>
                  <a:txBody>
                    <a:bodyPr/>
                    <a:lstStyle/>
                    <a:p>
                      <a:pPr marL="0" indent="0">
                        <a:buNone/>
                      </a:pPr>
                      <a:r>
                        <a:rPr lang="en-US" sz="1050" dirty="0">
                          <a:solidFill>
                            <a:srgbClr val="2C2C2C"/>
                          </a:solidFill>
                          <a:latin typeface="Calibri" pitchFamily="34" charset="0"/>
                          <a:ea typeface="Calibri" pitchFamily="34" charset="-122"/>
                          <a:cs typeface="Calibri" pitchFamily="34" charset="-120"/>
                        </a:rPr>
                        <a:t>Business Analyst / QA Lead</a:t>
                      </a:r>
                      <a:endParaRPr lang="en-US" sz="1050" dirty="0">
                        <a:latin typeface="Calibri" charset="0"/>
                        <a:ea typeface="Calibri" charset="0"/>
                        <a:cs typeface="Calibri" charset="0"/>
                      </a:endParaRPr>
                    </a:p>
                  </a:txBody>
                  <a:tcPr marL="50800" marR="50800" marT="50800" marB="50800" anchor="ctr">
                    <a:lnL w="12700" cap="flat" cmpd="sng" algn="ctr">
                      <a:solidFill>
                        <a:srgbClr val="DEDEDE"/>
                      </a:solidFill>
                      <a:prstDash val="solid"/>
                      <a:round/>
                      <a:headEnd type="none" w="med" len="med"/>
                      <a:tailEnd type="none" w="med" len="med"/>
                    </a:lnL>
                    <a:lnR w="12700" cap="flat" cmpd="sng" algn="ctr">
                      <a:solidFill>
                        <a:srgbClr val="DEDEDE"/>
                      </a:solidFill>
                      <a:prstDash val="solid"/>
                      <a:round/>
                      <a:headEnd type="none" w="med" len="med"/>
                      <a:tailEnd type="none" w="med" len="med"/>
                    </a:lnR>
                    <a:lnT w="12700" cap="flat" cmpd="sng" algn="ctr">
                      <a:solidFill>
                        <a:srgbClr val="DEDEDE"/>
                      </a:solidFill>
                      <a:prstDash val="solid"/>
                      <a:round/>
                      <a:headEnd type="none" w="med" len="med"/>
                      <a:tailEnd type="none" w="med" len="med"/>
                    </a:lnT>
                    <a:lnB w="12700" cap="flat" cmpd="sng" algn="ctr">
                      <a:solidFill>
                        <a:srgbClr val="DEDEDE"/>
                      </a:solidFill>
                      <a:prstDash val="solid"/>
                      <a:round/>
                      <a:headEnd type="none" w="med" len="med"/>
                      <a:tailEnd type="none" w="med" len="med"/>
                    </a:lnB>
                    <a:solidFill>
                      <a:srgbClr val="FFFFFF"/>
                    </a:solidFill>
                  </a:tcPr>
                </a:tc>
                <a:tc>
                  <a:txBody>
                    <a:bodyPr/>
                    <a:lstStyle/>
                    <a:p>
                      <a:pPr marL="0" indent="0">
                        <a:buNone/>
                      </a:pPr>
                      <a:r>
                        <a:rPr lang="en-US" sz="1050" dirty="0">
                          <a:solidFill>
                            <a:srgbClr val="2C2C2C"/>
                          </a:solidFill>
                          <a:latin typeface="Calibri" pitchFamily="34" charset="0"/>
                          <a:ea typeface="Calibri" pitchFamily="34" charset="-122"/>
                          <a:cs typeface="Calibri" pitchFamily="34" charset="-120"/>
                        </a:rPr>
                        <a:t>QA Engineer / Test Analyst</a:t>
                      </a:r>
                      <a:endParaRPr lang="en-US" sz="1050" dirty="0">
                        <a:latin typeface="Calibri" charset="0"/>
                        <a:ea typeface="Calibri" charset="0"/>
                        <a:cs typeface="Calibri" charset="0"/>
                      </a:endParaRPr>
                    </a:p>
                  </a:txBody>
                  <a:tcPr marL="50800" marR="50800" marT="50800" marB="50800" anchor="ctr">
                    <a:lnL w="12700" cap="flat" cmpd="sng" algn="ctr">
                      <a:solidFill>
                        <a:srgbClr val="DEDEDE"/>
                      </a:solidFill>
                      <a:prstDash val="solid"/>
                      <a:round/>
                      <a:headEnd type="none" w="med" len="med"/>
                      <a:tailEnd type="none" w="med" len="med"/>
                    </a:lnL>
                    <a:lnR w="12700" cap="flat" cmpd="sng" algn="ctr">
                      <a:solidFill>
                        <a:srgbClr val="DEDEDE"/>
                      </a:solidFill>
                      <a:prstDash val="solid"/>
                      <a:round/>
                      <a:headEnd type="none" w="med" len="med"/>
                      <a:tailEnd type="none" w="med" len="med"/>
                    </a:lnR>
                    <a:lnT w="12700" cap="flat" cmpd="sng" algn="ctr">
                      <a:solidFill>
                        <a:srgbClr val="DEDEDE"/>
                      </a:solidFill>
                      <a:prstDash val="solid"/>
                      <a:round/>
                      <a:headEnd type="none" w="med" len="med"/>
                      <a:tailEnd type="none" w="med" len="med"/>
                    </a:lnT>
                    <a:lnB w="12700" cap="flat" cmpd="sng" algn="ctr">
                      <a:solidFill>
                        <a:srgbClr val="DEDEDE"/>
                      </a:solidFill>
                      <a:prstDash val="solid"/>
                      <a:round/>
                      <a:headEnd type="none" w="med" len="med"/>
                      <a:tailEnd type="none" w="med" len="med"/>
                    </a:lnB>
                    <a:solidFill>
                      <a:srgbClr val="FFFFFF"/>
                    </a:solidFill>
                  </a:tcPr>
                </a:tc>
                <a:tc>
                  <a:txBody>
                    <a:bodyPr/>
                    <a:lstStyle/>
                    <a:p>
                      <a:pPr marL="0" indent="0">
                        <a:buNone/>
                      </a:pPr>
                      <a:r>
                        <a:rPr lang="en-US" sz="1050" dirty="0">
                          <a:solidFill>
                            <a:srgbClr val="2C2C2C"/>
                          </a:solidFill>
                          <a:latin typeface="Calibri" pitchFamily="34" charset="0"/>
                          <a:ea typeface="Calibri" pitchFamily="34" charset="-122"/>
                          <a:cs typeface="Calibri" pitchFamily="34" charset="-120"/>
                        </a:rPr>
                        <a:t>Automation Engineer</a:t>
                      </a:r>
                      <a:endParaRPr lang="en-US" sz="1050" dirty="0">
                        <a:latin typeface="Calibri" charset="0"/>
                        <a:ea typeface="Calibri" charset="0"/>
                        <a:cs typeface="Calibri" charset="0"/>
                      </a:endParaRPr>
                    </a:p>
                  </a:txBody>
                  <a:tcPr marL="50800" marR="50800" marT="50800" marB="50800" anchor="ctr">
                    <a:lnL w="12700" cap="flat" cmpd="sng" algn="ctr">
                      <a:solidFill>
                        <a:srgbClr val="DEDEDE"/>
                      </a:solidFill>
                      <a:prstDash val="solid"/>
                      <a:round/>
                      <a:headEnd type="none" w="med" len="med"/>
                      <a:tailEnd type="none" w="med" len="med"/>
                    </a:lnL>
                    <a:lnR w="12700" cap="flat" cmpd="sng" algn="ctr">
                      <a:solidFill>
                        <a:srgbClr val="DEDEDE"/>
                      </a:solidFill>
                      <a:prstDash val="solid"/>
                      <a:round/>
                      <a:headEnd type="none" w="med" len="med"/>
                      <a:tailEnd type="none" w="med" len="med"/>
                    </a:lnR>
                    <a:lnT w="12700" cap="flat" cmpd="sng" algn="ctr">
                      <a:solidFill>
                        <a:srgbClr val="DEDEDE"/>
                      </a:solidFill>
                      <a:prstDash val="solid"/>
                      <a:round/>
                      <a:headEnd type="none" w="med" len="med"/>
                      <a:tailEnd type="none" w="med" len="med"/>
                    </a:lnT>
                    <a:lnB w="12700" cap="flat" cmpd="sng" algn="ctr">
                      <a:solidFill>
                        <a:srgbClr val="DEDEDE"/>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502920">
                <a:tc>
                  <a:txBody>
                    <a:bodyPr/>
                    <a:lstStyle/>
                    <a:p>
                      <a:pPr marL="0" indent="0">
                        <a:buNone/>
                      </a:pPr>
                      <a:r>
                        <a:rPr lang="en-US" sz="1050" dirty="0">
                          <a:solidFill>
                            <a:srgbClr val="2C2C2C"/>
                          </a:solidFill>
                          <a:latin typeface="Calibri" pitchFamily="34" charset="0"/>
                          <a:ea typeface="Calibri" pitchFamily="34" charset="-122"/>
                          <a:cs typeface="Calibri" pitchFamily="34" charset="-120"/>
                        </a:rPr>
                        <a:t>Format</a:t>
                      </a:r>
                      <a:endParaRPr lang="en-US" sz="1050" dirty="0">
                        <a:latin typeface="Calibri" charset="0"/>
                        <a:ea typeface="Calibri" charset="0"/>
                        <a:cs typeface="Calibri" charset="0"/>
                      </a:endParaRPr>
                    </a:p>
                  </a:txBody>
                  <a:tcPr marL="50800" marR="50800" marT="50800" marB="50800" anchor="ctr">
                    <a:lnL w="12700" cap="flat" cmpd="sng" algn="ctr">
                      <a:solidFill>
                        <a:srgbClr val="DEDEDE"/>
                      </a:solidFill>
                      <a:prstDash val="solid"/>
                      <a:round/>
                      <a:headEnd type="none" w="med" len="med"/>
                      <a:tailEnd type="none" w="med" len="med"/>
                    </a:lnL>
                    <a:lnR w="12700" cap="flat" cmpd="sng" algn="ctr">
                      <a:solidFill>
                        <a:srgbClr val="DEDEDE"/>
                      </a:solidFill>
                      <a:prstDash val="solid"/>
                      <a:round/>
                      <a:headEnd type="none" w="med" len="med"/>
                      <a:tailEnd type="none" w="med" len="med"/>
                    </a:lnR>
                    <a:lnT w="12700" cap="flat" cmpd="sng" algn="ctr">
                      <a:solidFill>
                        <a:srgbClr val="DEDEDE"/>
                      </a:solidFill>
                      <a:prstDash val="solid"/>
                      <a:round/>
                      <a:headEnd type="none" w="med" len="med"/>
                      <a:tailEnd type="none" w="med" len="med"/>
                    </a:lnT>
                    <a:lnB w="12700" cap="flat" cmpd="sng" algn="ctr">
                      <a:solidFill>
                        <a:srgbClr val="DEDEDE"/>
                      </a:solidFill>
                      <a:prstDash val="solid"/>
                      <a:round/>
                      <a:headEnd type="none" w="med" len="med"/>
                      <a:tailEnd type="none" w="med" len="med"/>
                    </a:lnB>
                    <a:solidFill>
                      <a:srgbClr val="F0F0F0"/>
                    </a:solidFill>
                  </a:tcPr>
                </a:tc>
                <a:tc>
                  <a:txBody>
                    <a:bodyPr/>
                    <a:lstStyle/>
                    <a:p>
                      <a:pPr marL="0" indent="0">
                        <a:buNone/>
                      </a:pPr>
                      <a:r>
                        <a:rPr lang="en-US" sz="1050" dirty="0">
                          <a:solidFill>
                            <a:srgbClr val="2C2C2C"/>
                          </a:solidFill>
                          <a:latin typeface="Calibri" pitchFamily="34" charset="0"/>
                          <a:ea typeface="Calibri" pitchFamily="34" charset="-122"/>
                          <a:cs typeface="Calibri" pitchFamily="34" charset="-120"/>
                        </a:rPr>
                        <a:t>Plain text / bullet points</a:t>
                      </a:r>
                      <a:endParaRPr lang="en-US" sz="1050" dirty="0">
                        <a:latin typeface="Calibri" charset="0"/>
                        <a:ea typeface="Calibri" charset="0"/>
                        <a:cs typeface="Calibri" charset="0"/>
                      </a:endParaRPr>
                    </a:p>
                  </a:txBody>
                  <a:tcPr marL="50800" marR="50800" marT="50800" marB="50800" anchor="ctr">
                    <a:lnL w="12700" cap="flat" cmpd="sng" algn="ctr">
                      <a:solidFill>
                        <a:srgbClr val="DEDEDE"/>
                      </a:solidFill>
                      <a:prstDash val="solid"/>
                      <a:round/>
                      <a:headEnd type="none" w="med" len="med"/>
                      <a:tailEnd type="none" w="med" len="med"/>
                    </a:lnL>
                    <a:lnR w="12700" cap="flat" cmpd="sng" algn="ctr">
                      <a:solidFill>
                        <a:srgbClr val="DEDEDE"/>
                      </a:solidFill>
                      <a:prstDash val="solid"/>
                      <a:round/>
                      <a:headEnd type="none" w="med" len="med"/>
                      <a:tailEnd type="none" w="med" len="med"/>
                    </a:lnR>
                    <a:lnT w="12700" cap="flat" cmpd="sng" algn="ctr">
                      <a:solidFill>
                        <a:srgbClr val="DEDEDE"/>
                      </a:solidFill>
                      <a:prstDash val="solid"/>
                      <a:round/>
                      <a:headEnd type="none" w="med" len="med"/>
                      <a:tailEnd type="none" w="med" len="med"/>
                    </a:lnT>
                    <a:lnB w="12700" cap="flat" cmpd="sng" algn="ctr">
                      <a:solidFill>
                        <a:srgbClr val="DEDEDE"/>
                      </a:solidFill>
                      <a:prstDash val="solid"/>
                      <a:round/>
                      <a:headEnd type="none" w="med" len="med"/>
                      <a:tailEnd type="none" w="med" len="med"/>
                    </a:lnB>
                    <a:solidFill>
                      <a:srgbClr val="F0F0F0"/>
                    </a:solidFill>
                  </a:tcPr>
                </a:tc>
                <a:tc>
                  <a:txBody>
                    <a:bodyPr/>
                    <a:lstStyle/>
                    <a:p>
                      <a:pPr marL="0" indent="0">
                        <a:buNone/>
                      </a:pPr>
                      <a:r>
                        <a:rPr lang="en-US" sz="1050" dirty="0">
                          <a:solidFill>
                            <a:srgbClr val="2C2C2C"/>
                          </a:solidFill>
                          <a:latin typeface="Calibri" pitchFamily="34" charset="0"/>
                          <a:ea typeface="Calibri" pitchFamily="34" charset="-122"/>
                          <a:cs typeface="Calibri" pitchFamily="34" charset="-120"/>
                        </a:rPr>
                        <a:t>Structured table document</a:t>
                      </a:r>
                      <a:endParaRPr lang="en-US" sz="1050" dirty="0">
                        <a:latin typeface="Calibri" charset="0"/>
                        <a:ea typeface="Calibri" charset="0"/>
                        <a:cs typeface="Calibri" charset="0"/>
                      </a:endParaRPr>
                    </a:p>
                  </a:txBody>
                  <a:tcPr marL="50800" marR="50800" marT="50800" marB="50800" anchor="ctr">
                    <a:lnL w="12700" cap="flat" cmpd="sng" algn="ctr">
                      <a:solidFill>
                        <a:srgbClr val="DEDEDE"/>
                      </a:solidFill>
                      <a:prstDash val="solid"/>
                      <a:round/>
                      <a:headEnd type="none" w="med" len="med"/>
                      <a:tailEnd type="none" w="med" len="med"/>
                    </a:lnL>
                    <a:lnR w="12700" cap="flat" cmpd="sng" algn="ctr">
                      <a:solidFill>
                        <a:srgbClr val="DEDEDE"/>
                      </a:solidFill>
                      <a:prstDash val="solid"/>
                      <a:round/>
                      <a:headEnd type="none" w="med" len="med"/>
                      <a:tailEnd type="none" w="med" len="med"/>
                    </a:lnR>
                    <a:lnT w="12700" cap="flat" cmpd="sng" algn="ctr">
                      <a:solidFill>
                        <a:srgbClr val="DEDEDE"/>
                      </a:solidFill>
                      <a:prstDash val="solid"/>
                      <a:round/>
                      <a:headEnd type="none" w="med" len="med"/>
                      <a:tailEnd type="none" w="med" len="med"/>
                    </a:lnT>
                    <a:lnB w="12700" cap="flat" cmpd="sng" algn="ctr">
                      <a:solidFill>
                        <a:srgbClr val="DEDEDE"/>
                      </a:solidFill>
                      <a:prstDash val="solid"/>
                      <a:round/>
                      <a:headEnd type="none" w="med" len="med"/>
                      <a:tailEnd type="none" w="med" len="med"/>
                    </a:lnB>
                    <a:solidFill>
                      <a:srgbClr val="F0F0F0"/>
                    </a:solidFill>
                  </a:tcPr>
                </a:tc>
                <a:tc>
                  <a:txBody>
                    <a:bodyPr/>
                    <a:lstStyle/>
                    <a:p>
                      <a:pPr marL="0" indent="0">
                        <a:buNone/>
                      </a:pPr>
                      <a:r>
                        <a:rPr lang="en-US" sz="1050" dirty="0">
                          <a:solidFill>
                            <a:srgbClr val="2C2C2C"/>
                          </a:solidFill>
                          <a:latin typeface="Calibri" pitchFamily="34" charset="0"/>
                          <a:ea typeface="Calibri" pitchFamily="34" charset="-122"/>
                          <a:cs typeface="Calibri" pitchFamily="34" charset="-120"/>
                        </a:rPr>
                        <a:t>Code file (Java, JS, Python)</a:t>
                      </a:r>
                      <a:endParaRPr lang="en-US" sz="1050" dirty="0">
                        <a:latin typeface="Calibri" charset="0"/>
                        <a:ea typeface="Calibri" charset="0"/>
                        <a:cs typeface="Calibri" charset="0"/>
                      </a:endParaRPr>
                    </a:p>
                  </a:txBody>
                  <a:tcPr marL="50800" marR="50800" marT="50800" marB="50800" anchor="ctr">
                    <a:lnL w="12700" cap="flat" cmpd="sng" algn="ctr">
                      <a:solidFill>
                        <a:srgbClr val="DEDEDE"/>
                      </a:solidFill>
                      <a:prstDash val="solid"/>
                      <a:round/>
                      <a:headEnd type="none" w="med" len="med"/>
                      <a:tailEnd type="none" w="med" len="med"/>
                    </a:lnL>
                    <a:lnR w="12700" cap="flat" cmpd="sng" algn="ctr">
                      <a:solidFill>
                        <a:srgbClr val="DEDEDE"/>
                      </a:solidFill>
                      <a:prstDash val="solid"/>
                      <a:round/>
                      <a:headEnd type="none" w="med" len="med"/>
                      <a:tailEnd type="none" w="med" len="med"/>
                    </a:lnR>
                    <a:lnT w="12700" cap="flat" cmpd="sng" algn="ctr">
                      <a:solidFill>
                        <a:srgbClr val="DEDEDE"/>
                      </a:solidFill>
                      <a:prstDash val="solid"/>
                      <a:round/>
                      <a:headEnd type="none" w="med" len="med"/>
                      <a:tailEnd type="none" w="med" len="med"/>
                    </a:lnT>
                    <a:lnB w="12700" cap="flat" cmpd="sng" algn="ctr">
                      <a:solidFill>
                        <a:srgbClr val="DEDEDE"/>
                      </a:solidFill>
                      <a:prstDash val="solid"/>
                      <a:round/>
                      <a:headEnd type="none" w="med" len="med"/>
                      <a:tailEnd type="none" w="med" len="med"/>
                    </a:lnB>
                    <a:solidFill>
                      <a:srgbClr val="F0F0F0"/>
                    </a:solidFill>
                  </a:tcPr>
                </a:tc>
                <a:extLst>
                  <a:ext uri="{0D108BD9-81ED-4DB2-BD59-A6C34878D82A}">
                    <a16:rowId xmlns:a16="http://schemas.microsoft.com/office/drawing/2014/main" val="10004"/>
                  </a:ext>
                </a:extLst>
              </a:tr>
              <a:tr h="502920">
                <a:tc>
                  <a:txBody>
                    <a:bodyPr/>
                    <a:lstStyle/>
                    <a:p>
                      <a:pPr marL="0" indent="0">
                        <a:buNone/>
                      </a:pPr>
                      <a:r>
                        <a:rPr lang="en-US" sz="1050" dirty="0">
                          <a:solidFill>
                            <a:srgbClr val="2C2C2C"/>
                          </a:solidFill>
                          <a:latin typeface="Calibri" pitchFamily="34" charset="0"/>
                          <a:ea typeface="Calibri" pitchFamily="34" charset="-122"/>
                          <a:cs typeface="Calibri" pitchFamily="34" charset="-120"/>
                        </a:rPr>
                        <a:t>Tool</a:t>
                      </a:r>
                      <a:endParaRPr lang="en-US" sz="1050" dirty="0">
                        <a:latin typeface="Calibri" charset="0"/>
                        <a:ea typeface="Calibri" charset="0"/>
                        <a:cs typeface="Calibri" charset="0"/>
                      </a:endParaRPr>
                    </a:p>
                  </a:txBody>
                  <a:tcPr marL="50800" marR="50800" marT="50800" marB="50800" anchor="ctr">
                    <a:lnL w="12700" cap="flat" cmpd="sng" algn="ctr">
                      <a:solidFill>
                        <a:srgbClr val="DEDEDE"/>
                      </a:solidFill>
                      <a:prstDash val="solid"/>
                      <a:round/>
                      <a:headEnd type="none" w="med" len="med"/>
                      <a:tailEnd type="none" w="med" len="med"/>
                    </a:lnL>
                    <a:lnR w="12700" cap="flat" cmpd="sng" algn="ctr">
                      <a:solidFill>
                        <a:srgbClr val="DEDEDE"/>
                      </a:solidFill>
                      <a:prstDash val="solid"/>
                      <a:round/>
                      <a:headEnd type="none" w="med" len="med"/>
                      <a:tailEnd type="none" w="med" len="med"/>
                    </a:lnR>
                    <a:lnT w="12700" cap="flat" cmpd="sng" algn="ctr">
                      <a:solidFill>
                        <a:srgbClr val="DEDEDE"/>
                      </a:solidFill>
                      <a:prstDash val="solid"/>
                      <a:round/>
                      <a:headEnd type="none" w="med" len="med"/>
                      <a:tailEnd type="none" w="med" len="med"/>
                    </a:lnT>
                    <a:lnB w="12700" cap="flat" cmpd="sng" algn="ctr">
                      <a:solidFill>
                        <a:srgbClr val="DEDEDE"/>
                      </a:solidFill>
                      <a:prstDash val="solid"/>
                      <a:round/>
                      <a:headEnd type="none" w="med" len="med"/>
                      <a:tailEnd type="none" w="med" len="med"/>
                    </a:lnB>
                    <a:solidFill>
                      <a:srgbClr val="FFFFFF"/>
                    </a:solidFill>
                  </a:tcPr>
                </a:tc>
                <a:tc>
                  <a:txBody>
                    <a:bodyPr/>
                    <a:lstStyle/>
                    <a:p>
                      <a:pPr marL="0" indent="0">
                        <a:buNone/>
                      </a:pPr>
                      <a:r>
                        <a:rPr lang="en-US" sz="1050" dirty="0">
                          <a:solidFill>
                            <a:srgbClr val="2C2C2C"/>
                          </a:solidFill>
                          <a:latin typeface="Calibri" pitchFamily="34" charset="0"/>
                          <a:ea typeface="Calibri" pitchFamily="34" charset="-122"/>
                          <a:cs typeface="Calibri" pitchFamily="34" charset="-120"/>
                        </a:rPr>
                        <a:t>Confluence, Word, Excel</a:t>
                      </a:r>
                      <a:endParaRPr lang="en-US" sz="1050" dirty="0">
                        <a:latin typeface="Calibri" charset="0"/>
                        <a:ea typeface="Calibri" charset="0"/>
                        <a:cs typeface="Calibri" charset="0"/>
                      </a:endParaRPr>
                    </a:p>
                  </a:txBody>
                  <a:tcPr marL="50800" marR="50800" marT="50800" marB="50800" anchor="ctr">
                    <a:lnL w="12700" cap="flat" cmpd="sng" algn="ctr">
                      <a:solidFill>
                        <a:srgbClr val="DEDEDE"/>
                      </a:solidFill>
                      <a:prstDash val="solid"/>
                      <a:round/>
                      <a:headEnd type="none" w="med" len="med"/>
                      <a:tailEnd type="none" w="med" len="med"/>
                    </a:lnL>
                    <a:lnR w="12700" cap="flat" cmpd="sng" algn="ctr">
                      <a:solidFill>
                        <a:srgbClr val="DEDEDE"/>
                      </a:solidFill>
                      <a:prstDash val="solid"/>
                      <a:round/>
                      <a:headEnd type="none" w="med" len="med"/>
                      <a:tailEnd type="none" w="med" len="med"/>
                    </a:lnR>
                    <a:lnT w="12700" cap="flat" cmpd="sng" algn="ctr">
                      <a:solidFill>
                        <a:srgbClr val="DEDEDE"/>
                      </a:solidFill>
                      <a:prstDash val="solid"/>
                      <a:round/>
                      <a:headEnd type="none" w="med" len="med"/>
                      <a:tailEnd type="none" w="med" len="med"/>
                    </a:lnT>
                    <a:lnB w="12700" cap="flat" cmpd="sng" algn="ctr">
                      <a:solidFill>
                        <a:srgbClr val="DEDEDE"/>
                      </a:solidFill>
                      <a:prstDash val="solid"/>
                      <a:round/>
                      <a:headEnd type="none" w="med" len="med"/>
                      <a:tailEnd type="none" w="med" len="med"/>
                    </a:lnB>
                    <a:solidFill>
                      <a:srgbClr val="FFFFFF"/>
                    </a:solidFill>
                  </a:tcPr>
                </a:tc>
                <a:tc>
                  <a:txBody>
                    <a:bodyPr/>
                    <a:lstStyle/>
                    <a:p>
                      <a:pPr marL="0" indent="0">
                        <a:buNone/>
                      </a:pPr>
                      <a:r>
                        <a:rPr lang="en-US" sz="1050" dirty="0">
                          <a:solidFill>
                            <a:srgbClr val="2C2C2C"/>
                          </a:solidFill>
                          <a:latin typeface="Calibri" pitchFamily="34" charset="0"/>
                          <a:ea typeface="Calibri" pitchFamily="34" charset="-122"/>
                          <a:cs typeface="Calibri" pitchFamily="34" charset="-120"/>
                        </a:rPr>
                        <a:t>Excel, Jira, TestRail, Zephyr</a:t>
                      </a:r>
                      <a:endParaRPr lang="en-US" sz="1050" dirty="0">
                        <a:latin typeface="Calibri" charset="0"/>
                        <a:ea typeface="Calibri" charset="0"/>
                        <a:cs typeface="Calibri" charset="0"/>
                      </a:endParaRPr>
                    </a:p>
                  </a:txBody>
                  <a:tcPr marL="50800" marR="50800" marT="50800" marB="50800" anchor="ctr">
                    <a:lnL w="12700" cap="flat" cmpd="sng" algn="ctr">
                      <a:solidFill>
                        <a:srgbClr val="DEDEDE"/>
                      </a:solidFill>
                      <a:prstDash val="solid"/>
                      <a:round/>
                      <a:headEnd type="none" w="med" len="med"/>
                      <a:tailEnd type="none" w="med" len="med"/>
                    </a:lnL>
                    <a:lnR w="12700" cap="flat" cmpd="sng" algn="ctr">
                      <a:solidFill>
                        <a:srgbClr val="DEDEDE"/>
                      </a:solidFill>
                      <a:prstDash val="solid"/>
                      <a:round/>
                      <a:headEnd type="none" w="med" len="med"/>
                      <a:tailEnd type="none" w="med" len="med"/>
                    </a:lnR>
                    <a:lnT w="12700" cap="flat" cmpd="sng" algn="ctr">
                      <a:solidFill>
                        <a:srgbClr val="DEDEDE"/>
                      </a:solidFill>
                      <a:prstDash val="solid"/>
                      <a:round/>
                      <a:headEnd type="none" w="med" len="med"/>
                      <a:tailEnd type="none" w="med" len="med"/>
                    </a:lnT>
                    <a:lnB w="12700" cap="flat" cmpd="sng" algn="ctr">
                      <a:solidFill>
                        <a:srgbClr val="DEDEDE"/>
                      </a:solidFill>
                      <a:prstDash val="solid"/>
                      <a:round/>
                      <a:headEnd type="none" w="med" len="med"/>
                      <a:tailEnd type="none" w="med" len="med"/>
                    </a:lnB>
                    <a:solidFill>
                      <a:srgbClr val="FFFFFF"/>
                    </a:solidFill>
                  </a:tcPr>
                </a:tc>
                <a:tc>
                  <a:txBody>
                    <a:bodyPr/>
                    <a:lstStyle/>
                    <a:p>
                      <a:pPr marL="0" indent="0">
                        <a:buNone/>
                      </a:pPr>
                      <a:r>
                        <a:rPr lang="en-US" sz="1050" dirty="0">
                          <a:solidFill>
                            <a:srgbClr val="2C2C2C"/>
                          </a:solidFill>
                          <a:latin typeface="Calibri" pitchFamily="34" charset="0"/>
                          <a:ea typeface="Calibri" pitchFamily="34" charset="-122"/>
                          <a:cs typeface="Calibri" pitchFamily="34" charset="-120"/>
                        </a:rPr>
                        <a:t>Selenium, Playwright, JUnit</a:t>
                      </a:r>
                      <a:endParaRPr lang="en-US" sz="1050" dirty="0">
                        <a:latin typeface="Calibri" charset="0"/>
                        <a:ea typeface="Calibri" charset="0"/>
                        <a:cs typeface="Calibri" charset="0"/>
                      </a:endParaRPr>
                    </a:p>
                  </a:txBody>
                  <a:tcPr marL="50800" marR="50800" marT="50800" marB="50800" anchor="ctr">
                    <a:lnL w="12700" cap="flat" cmpd="sng" algn="ctr">
                      <a:solidFill>
                        <a:srgbClr val="DEDEDE"/>
                      </a:solidFill>
                      <a:prstDash val="solid"/>
                      <a:round/>
                      <a:headEnd type="none" w="med" len="med"/>
                      <a:tailEnd type="none" w="med" len="med"/>
                    </a:lnL>
                    <a:lnR w="12700" cap="flat" cmpd="sng" algn="ctr">
                      <a:solidFill>
                        <a:srgbClr val="DEDEDE"/>
                      </a:solidFill>
                      <a:prstDash val="solid"/>
                      <a:round/>
                      <a:headEnd type="none" w="med" len="med"/>
                      <a:tailEnd type="none" w="med" len="med"/>
                    </a:lnR>
                    <a:lnT w="12700" cap="flat" cmpd="sng" algn="ctr">
                      <a:solidFill>
                        <a:srgbClr val="DEDEDE"/>
                      </a:solidFill>
                      <a:prstDash val="solid"/>
                      <a:round/>
                      <a:headEnd type="none" w="med" len="med"/>
                      <a:tailEnd type="none" w="med" len="med"/>
                    </a:lnT>
                    <a:lnB w="12700" cap="flat" cmpd="sng" algn="ctr">
                      <a:solidFill>
                        <a:srgbClr val="DEDEDE"/>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502920">
                <a:tc>
                  <a:txBody>
                    <a:bodyPr/>
                    <a:lstStyle/>
                    <a:p>
                      <a:pPr marL="0" indent="0">
                        <a:buNone/>
                      </a:pPr>
                      <a:r>
                        <a:rPr lang="en-US" sz="1050" dirty="0">
                          <a:solidFill>
                            <a:srgbClr val="2C2C2C"/>
                          </a:solidFill>
                          <a:latin typeface="Calibri" pitchFamily="34" charset="0"/>
                          <a:ea typeface="Calibri" pitchFamily="34" charset="-122"/>
                          <a:cs typeface="Calibri" pitchFamily="34" charset="-120"/>
                        </a:rPr>
                        <a:t>Example</a:t>
                      </a:r>
                      <a:endParaRPr lang="en-US" sz="1050" dirty="0">
                        <a:latin typeface="Calibri" charset="0"/>
                        <a:ea typeface="Calibri" charset="0"/>
                        <a:cs typeface="Calibri" charset="0"/>
                      </a:endParaRPr>
                    </a:p>
                  </a:txBody>
                  <a:tcPr marL="50800" marR="50800" marT="50800" marB="50800" anchor="ctr">
                    <a:lnL w="12700" cap="flat" cmpd="sng" algn="ctr">
                      <a:solidFill>
                        <a:srgbClr val="DEDEDE"/>
                      </a:solidFill>
                      <a:prstDash val="solid"/>
                      <a:round/>
                      <a:headEnd type="none" w="med" len="med"/>
                      <a:tailEnd type="none" w="med" len="med"/>
                    </a:lnL>
                    <a:lnR w="12700" cap="flat" cmpd="sng" algn="ctr">
                      <a:solidFill>
                        <a:srgbClr val="DEDEDE"/>
                      </a:solidFill>
                      <a:prstDash val="solid"/>
                      <a:round/>
                      <a:headEnd type="none" w="med" len="med"/>
                      <a:tailEnd type="none" w="med" len="med"/>
                    </a:lnR>
                    <a:lnT w="12700" cap="flat" cmpd="sng" algn="ctr">
                      <a:solidFill>
                        <a:srgbClr val="DEDEDE"/>
                      </a:solidFill>
                      <a:prstDash val="solid"/>
                      <a:round/>
                      <a:headEnd type="none" w="med" len="med"/>
                      <a:tailEnd type="none" w="med" len="med"/>
                    </a:lnT>
                    <a:lnB w="12700" cap="flat" cmpd="sng" algn="ctr">
                      <a:solidFill>
                        <a:srgbClr val="DEDEDE"/>
                      </a:solidFill>
                      <a:prstDash val="solid"/>
                      <a:round/>
                      <a:headEnd type="none" w="med" len="med"/>
                      <a:tailEnd type="none" w="med" len="med"/>
                    </a:lnB>
                    <a:solidFill>
                      <a:srgbClr val="F0F0F0"/>
                    </a:solidFill>
                  </a:tcPr>
                </a:tc>
                <a:tc>
                  <a:txBody>
                    <a:bodyPr/>
                    <a:lstStyle/>
                    <a:p>
                      <a:pPr marL="0" indent="0">
                        <a:buNone/>
                      </a:pPr>
                      <a:r>
                        <a:rPr lang="en-US" sz="1050" dirty="0">
                          <a:solidFill>
                            <a:srgbClr val="2C2C2C"/>
                          </a:solidFill>
                          <a:latin typeface="Calibri" pitchFamily="34" charset="0"/>
                          <a:ea typeface="Calibri" pitchFamily="34" charset="-122"/>
                          <a:cs typeface="Calibri" pitchFamily="34" charset="-120"/>
                        </a:rPr>
                        <a:t>'Test the login functionality of the application'</a:t>
                      </a:r>
                      <a:endParaRPr lang="en-US" sz="1050" dirty="0">
                        <a:latin typeface="Calibri" charset="0"/>
                        <a:ea typeface="Calibri" charset="0"/>
                        <a:cs typeface="Calibri" charset="0"/>
                      </a:endParaRPr>
                    </a:p>
                  </a:txBody>
                  <a:tcPr marL="50800" marR="50800" marT="50800" marB="50800" anchor="ctr">
                    <a:lnL w="12700" cap="flat" cmpd="sng" algn="ctr">
                      <a:solidFill>
                        <a:srgbClr val="DEDEDE"/>
                      </a:solidFill>
                      <a:prstDash val="solid"/>
                      <a:round/>
                      <a:headEnd type="none" w="med" len="med"/>
                      <a:tailEnd type="none" w="med" len="med"/>
                    </a:lnL>
                    <a:lnR w="12700" cap="flat" cmpd="sng" algn="ctr">
                      <a:solidFill>
                        <a:srgbClr val="DEDEDE"/>
                      </a:solidFill>
                      <a:prstDash val="solid"/>
                      <a:round/>
                      <a:headEnd type="none" w="med" len="med"/>
                      <a:tailEnd type="none" w="med" len="med"/>
                    </a:lnR>
                    <a:lnT w="12700" cap="flat" cmpd="sng" algn="ctr">
                      <a:solidFill>
                        <a:srgbClr val="DEDEDE"/>
                      </a:solidFill>
                      <a:prstDash val="solid"/>
                      <a:round/>
                      <a:headEnd type="none" w="med" len="med"/>
                      <a:tailEnd type="none" w="med" len="med"/>
                    </a:lnT>
                    <a:lnB w="12700" cap="flat" cmpd="sng" algn="ctr">
                      <a:solidFill>
                        <a:srgbClr val="DEDEDE"/>
                      </a:solidFill>
                      <a:prstDash val="solid"/>
                      <a:round/>
                      <a:headEnd type="none" w="med" len="med"/>
                      <a:tailEnd type="none" w="med" len="med"/>
                    </a:lnB>
                    <a:solidFill>
                      <a:srgbClr val="F0F0F0"/>
                    </a:solidFill>
                  </a:tcPr>
                </a:tc>
                <a:tc>
                  <a:txBody>
                    <a:bodyPr/>
                    <a:lstStyle/>
                    <a:p>
                      <a:pPr marL="0" indent="0">
                        <a:buNone/>
                      </a:pPr>
                      <a:r>
                        <a:rPr lang="en-US" sz="1050" dirty="0">
                          <a:solidFill>
                            <a:srgbClr val="2C2C2C"/>
                          </a:solidFill>
                          <a:latin typeface="Calibri" pitchFamily="34" charset="0"/>
                          <a:ea typeface="Calibri" pitchFamily="34" charset="-122"/>
                          <a:cs typeface="Calibri" pitchFamily="34" charset="-120"/>
                        </a:rPr>
                        <a:t>TC_001: Enter valid email + password → Click Login → Verify dashboard loads</a:t>
                      </a:r>
                      <a:endParaRPr lang="en-US" sz="1050" dirty="0">
                        <a:latin typeface="Calibri" charset="0"/>
                        <a:ea typeface="Calibri" charset="0"/>
                        <a:cs typeface="Calibri" charset="0"/>
                      </a:endParaRPr>
                    </a:p>
                  </a:txBody>
                  <a:tcPr marL="50800" marR="50800" marT="50800" marB="50800" anchor="ctr">
                    <a:lnL w="12700" cap="flat" cmpd="sng" algn="ctr">
                      <a:solidFill>
                        <a:srgbClr val="DEDEDE"/>
                      </a:solidFill>
                      <a:prstDash val="solid"/>
                      <a:round/>
                      <a:headEnd type="none" w="med" len="med"/>
                      <a:tailEnd type="none" w="med" len="med"/>
                    </a:lnL>
                    <a:lnR w="12700" cap="flat" cmpd="sng" algn="ctr">
                      <a:solidFill>
                        <a:srgbClr val="DEDEDE"/>
                      </a:solidFill>
                      <a:prstDash val="solid"/>
                      <a:round/>
                      <a:headEnd type="none" w="med" len="med"/>
                      <a:tailEnd type="none" w="med" len="med"/>
                    </a:lnR>
                    <a:lnT w="12700" cap="flat" cmpd="sng" algn="ctr">
                      <a:solidFill>
                        <a:srgbClr val="DEDEDE"/>
                      </a:solidFill>
                      <a:prstDash val="solid"/>
                      <a:round/>
                      <a:headEnd type="none" w="med" len="med"/>
                      <a:tailEnd type="none" w="med" len="med"/>
                    </a:lnT>
                    <a:lnB w="12700" cap="flat" cmpd="sng" algn="ctr">
                      <a:solidFill>
                        <a:srgbClr val="DEDEDE"/>
                      </a:solidFill>
                      <a:prstDash val="solid"/>
                      <a:round/>
                      <a:headEnd type="none" w="med" len="med"/>
                      <a:tailEnd type="none" w="med" len="med"/>
                    </a:lnB>
                    <a:solidFill>
                      <a:srgbClr val="F0F0F0"/>
                    </a:solidFill>
                  </a:tcPr>
                </a:tc>
                <a:tc>
                  <a:txBody>
                    <a:bodyPr/>
                    <a:lstStyle/>
                    <a:p>
                      <a:pPr marL="0" indent="0">
                        <a:buNone/>
                      </a:pPr>
                      <a:r>
                        <a:rPr lang="en-US" sz="1050" dirty="0">
                          <a:solidFill>
                            <a:srgbClr val="2C2C2C"/>
                          </a:solidFill>
                          <a:latin typeface="Calibri" pitchFamily="34" charset="0"/>
                          <a:ea typeface="Calibri" pitchFamily="34" charset="-122"/>
                          <a:cs typeface="Calibri" pitchFamily="34" charset="-120"/>
                        </a:rPr>
                        <a:t>driver.findElement(By.id('loginBtn')).click();</a:t>
                      </a:r>
                      <a:endParaRPr lang="en-US" sz="1050" dirty="0">
                        <a:latin typeface="Calibri" charset="0"/>
                        <a:ea typeface="Calibri" charset="0"/>
                        <a:cs typeface="Calibri" charset="0"/>
                      </a:endParaRPr>
                    </a:p>
                    <a:p>
                      <a:pPr marL="0" indent="0">
                        <a:buNone/>
                      </a:pPr>
                      <a:r>
                        <a:rPr lang="en-US" sz="1050" dirty="0">
                          <a:solidFill>
                            <a:srgbClr val="2C2C2C"/>
                          </a:solidFill>
                          <a:latin typeface="Calibri" pitchFamily="34" charset="0"/>
                          <a:ea typeface="Calibri" pitchFamily="34" charset="-122"/>
                          <a:cs typeface="Calibri" pitchFamily="34" charset="-120"/>
                        </a:rPr>
                        <a:t>assertEquals(driver.getTitle(), 'Dashboard');</a:t>
                      </a:r>
                      <a:endParaRPr lang="en-US" sz="1050" dirty="0">
                        <a:latin typeface="Calibri" charset="0"/>
                        <a:ea typeface="Calibri" charset="0"/>
                        <a:cs typeface="Calibri" charset="0"/>
                      </a:endParaRPr>
                    </a:p>
                  </a:txBody>
                  <a:tcPr marL="50800" marR="50800" marT="50800" marB="50800" anchor="ctr">
                    <a:lnL w="12700" cap="flat" cmpd="sng" algn="ctr">
                      <a:solidFill>
                        <a:srgbClr val="DEDEDE"/>
                      </a:solidFill>
                      <a:prstDash val="solid"/>
                      <a:round/>
                      <a:headEnd type="none" w="med" len="med"/>
                      <a:tailEnd type="none" w="med" len="med"/>
                    </a:lnL>
                    <a:lnR w="12700" cap="flat" cmpd="sng" algn="ctr">
                      <a:solidFill>
                        <a:srgbClr val="DEDEDE"/>
                      </a:solidFill>
                      <a:prstDash val="solid"/>
                      <a:round/>
                      <a:headEnd type="none" w="med" len="med"/>
                      <a:tailEnd type="none" w="med" len="med"/>
                    </a:lnR>
                    <a:lnT w="12700" cap="flat" cmpd="sng" algn="ctr">
                      <a:solidFill>
                        <a:srgbClr val="DEDEDE"/>
                      </a:solidFill>
                      <a:prstDash val="solid"/>
                      <a:round/>
                      <a:headEnd type="none" w="med" len="med"/>
                      <a:tailEnd type="none" w="med" len="med"/>
                    </a:lnT>
                    <a:lnB w="12700" cap="flat" cmpd="sng" algn="ctr">
                      <a:solidFill>
                        <a:srgbClr val="DEDEDE"/>
                      </a:solidFill>
                      <a:prstDash val="solid"/>
                      <a:round/>
                      <a:headEnd type="none" w="med" len="med"/>
                      <a:tailEnd type="none" w="med" len="med"/>
                    </a:lnB>
                    <a:solidFill>
                      <a:srgbClr val="F0F0F0"/>
                    </a:solidFill>
                  </a:tcPr>
                </a:tc>
                <a:extLst>
                  <a:ext uri="{0D108BD9-81ED-4DB2-BD59-A6C34878D82A}">
                    <a16:rowId xmlns:a16="http://schemas.microsoft.com/office/drawing/2014/main" val="10006"/>
                  </a:ext>
                </a:extLst>
              </a:tr>
            </a:tbl>
          </a:graphicData>
        </a:graphic>
      </p:graphicFrame>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6">
    <p:bg>
      <p:bgPr>
        <a:solidFill>
          <a:srgbClr val="0D0D0D"/>
        </a:solidFill>
        <a:effectLst/>
      </p:bgPr>
    </p:bg>
    <p:spTree>
      <p:nvGrpSpPr>
        <p:cNvPr id="1" name=""/>
        <p:cNvGrpSpPr/>
        <p:nvPr/>
      </p:nvGrpSpPr>
      <p:grpSpPr>
        <a:xfrm>
          <a:off x="0" y="0"/>
          <a:ext cx="0" cy="0"/>
          <a:chOff x="0" y="0"/>
          <a:chExt cx="0" cy="0"/>
        </a:xfrm>
      </p:grpSpPr>
      <p:sp>
        <p:nvSpPr>
          <p:cNvPr id="2" name="Shape 0"/>
          <p:cNvSpPr/>
          <p:nvPr/>
        </p:nvSpPr>
        <p:spPr>
          <a:xfrm>
            <a:off x="0" y="0"/>
            <a:ext cx="64008" cy="5143500"/>
          </a:xfrm>
          <a:prstGeom prst="rect">
            <a:avLst/>
          </a:prstGeom>
          <a:solidFill>
            <a:srgbClr val="FF6500"/>
          </a:solidFill>
          <a:ln w="12700">
            <a:solidFill>
              <a:srgbClr val="FF6500"/>
            </a:solidFill>
            <a:prstDash val="solid"/>
          </a:ln>
        </p:spPr>
      </p:sp>
      <p:sp>
        <p:nvSpPr>
          <p:cNvPr id="3" name="Shape 1"/>
          <p:cNvSpPr/>
          <p:nvPr/>
        </p:nvSpPr>
        <p:spPr>
          <a:xfrm>
            <a:off x="0" y="4828032"/>
            <a:ext cx="9144000" cy="315468"/>
          </a:xfrm>
          <a:prstGeom prst="rect">
            <a:avLst/>
          </a:prstGeom>
          <a:solidFill>
            <a:srgbClr val="FF6500"/>
          </a:solidFill>
          <a:ln w="12700">
            <a:solidFill>
              <a:srgbClr val="FF6500"/>
            </a:solidFill>
            <a:prstDash val="solid"/>
          </a:ln>
        </p:spPr>
      </p:sp>
      <p:sp>
        <p:nvSpPr>
          <p:cNvPr id="4" name="Shape 2"/>
          <p:cNvSpPr/>
          <p:nvPr/>
        </p:nvSpPr>
        <p:spPr>
          <a:xfrm>
            <a:off x="228600" y="365760"/>
            <a:ext cx="640080" cy="640080"/>
          </a:xfrm>
          <a:prstGeom prst="rect">
            <a:avLst/>
          </a:prstGeom>
          <a:solidFill>
            <a:srgbClr val="FF6500"/>
          </a:solidFill>
          <a:ln w="12700">
            <a:solidFill>
              <a:srgbClr val="FF6500"/>
            </a:solidFill>
            <a:prstDash val="solid"/>
          </a:ln>
        </p:spPr>
      </p:sp>
      <p:sp>
        <p:nvSpPr>
          <p:cNvPr id="5" name="Text 3"/>
          <p:cNvSpPr/>
          <p:nvPr/>
        </p:nvSpPr>
        <p:spPr>
          <a:xfrm>
            <a:off x="228600" y="365760"/>
            <a:ext cx="640080" cy="640080"/>
          </a:xfrm>
          <a:prstGeom prst="rect">
            <a:avLst/>
          </a:prstGeom>
          <a:noFill/>
          <a:ln/>
        </p:spPr>
        <p:txBody>
          <a:bodyPr wrap="square" lIns="0" tIns="0" rIns="0" bIns="0" rtlCol="0" anchor="ctr"/>
          <a:lstStyle/>
          <a:p>
            <a:pPr marL="0" indent="0" algn="ctr">
              <a:buNone/>
            </a:pPr>
            <a:r>
              <a:rPr lang="en-US" sz="2600" b="1" dirty="0">
                <a:solidFill>
                  <a:srgbClr val="FFFFFF"/>
                </a:solidFill>
                <a:latin typeface="Arial Black" pitchFamily="34" charset="0"/>
                <a:ea typeface="Arial Black" pitchFamily="34" charset="-122"/>
                <a:cs typeface="Arial Black" pitchFamily="34" charset="-120"/>
              </a:rPr>
              <a:t>02</a:t>
            </a:r>
            <a:endParaRPr lang="en-US" sz="2600" dirty="0"/>
          </a:p>
        </p:txBody>
      </p:sp>
      <p:sp>
        <p:nvSpPr>
          <p:cNvPr id="6" name="Text 4"/>
          <p:cNvSpPr/>
          <p:nvPr/>
        </p:nvSpPr>
        <p:spPr>
          <a:xfrm>
            <a:off x="1005840" y="475488"/>
            <a:ext cx="4572000" cy="420624"/>
          </a:xfrm>
          <a:prstGeom prst="rect">
            <a:avLst/>
          </a:prstGeom>
          <a:noFill/>
          <a:ln/>
        </p:spPr>
        <p:txBody>
          <a:bodyPr wrap="square" lIns="0" tIns="0" rIns="0" bIns="0" rtlCol="0" anchor="ctr"/>
          <a:lstStyle/>
          <a:p>
            <a:pPr marL="0" indent="0">
              <a:buNone/>
            </a:pPr>
            <a:r>
              <a:rPr lang="en-US" sz="1200" dirty="0">
                <a:solidFill>
                  <a:srgbClr val="AAAAAA"/>
                </a:solidFill>
                <a:latin typeface="Calibri" pitchFamily="34" charset="0"/>
                <a:ea typeface="Calibri" pitchFamily="34" charset="-122"/>
                <a:cs typeface="Calibri" pitchFamily="34" charset="-120"/>
              </a:rPr>
              <a:t>SECTION TWO</a:t>
            </a:r>
            <a:endParaRPr lang="en-US" sz="1200" dirty="0"/>
          </a:p>
        </p:txBody>
      </p:sp>
      <p:sp>
        <p:nvSpPr>
          <p:cNvPr id="7" name="Text 5"/>
          <p:cNvSpPr/>
          <p:nvPr/>
        </p:nvSpPr>
        <p:spPr>
          <a:xfrm>
            <a:off x="228600" y="1097280"/>
            <a:ext cx="8503920" cy="822960"/>
          </a:xfrm>
          <a:prstGeom prst="rect">
            <a:avLst/>
          </a:prstGeom>
          <a:noFill/>
          <a:ln/>
        </p:spPr>
        <p:txBody>
          <a:bodyPr wrap="square" lIns="0" tIns="0" rIns="0" bIns="0" rtlCol="0" anchor="ctr"/>
          <a:lstStyle/>
          <a:p>
            <a:pPr marL="0" indent="0">
              <a:buNone/>
            </a:pPr>
            <a:r>
              <a:rPr lang="en-US" sz="3600" b="1" dirty="0">
                <a:solidFill>
                  <a:srgbClr val="FFFFFF"/>
                </a:solidFill>
                <a:latin typeface="Arial Black" pitchFamily="34" charset="0"/>
                <a:ea typeface="Arial Black" pitchFamily="34" charset="-122"/>
                <a:cs typeface="Arial Black" pitchFamily="34" charset="-120"/>
              </a:rPr>
              <a:t>Objectives of Test Case Development</a:t>
            </a:r>
            <a:endParaRPr lang="en-US" sz="3600" dirty="0"/>
          </a:p>
        </p:txBody>
      </p:sp>
      <p:sp>
        <p:nvSpPr>
          <p:cNvPr id="8" name="Text 6"/>
          <p:cNvSpPr/>
          <p:nvPr/>
        </p:nvSpPr>
        <p:spPr>
          <a:xfrm>
            <a:off x="228600" y="1965960"/>
            <a:ext cx="7772400" cy="457200"/>
          </a:xfrm>
          <a:prstGeom prst="rect">
            <a:avLst/>
          </a:prstGeom>
          <a:noFill/>
          <a:ln/>
        </p:spPr>
        <p:txBody>
          <a:bodyPr wrap="square" lIns="0" tIns="0" rIns="0" bIns="0" rtlCol="0" anchor="ctr"/>
          <a:lstStyle/>
          <a:p>
            <a:pPr marL="0" indent="0">
              <a:buNone/>
            </a:pPr>
            <a:r>
              <a:rPr lang="en-US" sz="1500" i="1" dirty="0">
                <a:solidFill>
                  <a:srgbClr val="AAAAAA"/>
                </a:solidFill>
                <a:latin typeface="Calibri" pitchFamily="34" charset="0"/>
                <a:ea typeface="Calibri" pitchFamily="34" charset="-122"/>
                <a:cs typeface="Calibri" pitchFamily="34" charset="-120"/>
              </a:rPr>
              <a:t>Why do we write test cases? What are we trying to achieve?</a:t>
            </a:r>
            <a:endParaRPr lang="en-US" sz="1500" dirty="0"/>
          </a:p>
        </p:txBody>
      </p:sp>
      <p:sp>
        <p:nvSpPr>
          <p:cNvPr id="9" name="Shape 7"/>
          <p:cNvSpPr/>
          <p:nvPr/>
        </p:nvSpPr>
        <p:spPr>
          <a:xfrm>
            <a:off x="228600" y="2606040"/>
            <a:ext cx="4206240" cy="594360"/>
          </a:xfrm>
          <a:prstGeom prst="rect">
            <a:avLst/>
          </a:prstGeom>
          <a:solidFill>
            <a:srgbClr val="1A1A1A"/>
          </a:solidFill>
          <a:ln w="12700">
            <a:solidFill>
              <a:srgbClr val="333333"/>
            </a:solidFill>
            <a:prstDash val="solid"/>
          </a:ln>
        </p:spPr>
      </p:sp>
      <p:sp>
        <p:nvSpPr>
          <p:cNvPr id="10" name="Shape 8"/>
          <p:cNvSpPr/>
          <p:nvPr/>
        </p:nvSpPr>
        <p:spPr>
          <a:xfrm>
            <a:off x="228600" y="2606040"/>
            <a:ext cx="457200" cy="594360"/>
          </a:xfrm>
          <a:prstGeom prst="rect">
            <a:avLst/>
          </a:prstGeom>
          <a:solidFill>
            <a:srgbClr val="FF6500"/>
          </a:solidFill>
          <a:ln w="12700">
            <a:solidFill>
              <a:srgbClr val="FF6500"/>
            </a:solidFill>
            <a:prstDash val="solid"/>
          </a:ln>
        </p:spPr>
      </p:sp>
      <p:sp>
        <p:nvSpPr>
          <p:cNvPr id="11" name="Text 9"/>
          <p:cNvSpPr/>
          <p:nvPr/>
        </p:nvSpPr>
        <p:spPr>
          <a:xfrm>
            <a:off x="228600" y="2606040"/>
            <a:ext cx="457200" cy="594360"/>
          </a:xfrm>
          <a:prstGeom prst="rect">
            <a:avLst/>
          </a:prstGeom>
          <a:noFill/>
          <a:ln/>
        </p:spPr>
        <p:txBody>
          <a:bodyPr wrap="square" lIns="0" tIns="0" rIns="0" bIns="0" rtlCol="0" anchor="ctr"/>
          <a:lstStyle/>
          <a:p>
            <a:pPr marL="0" indent="0" algn="ctr">
              <a:buNone/>
            </a:pPr>
            <a:r>
              <a:rPr lang="en-US" sz="1300" b="1" dirty="0">
                <a:solidFill>
                  <a:srgbClr val="FFFFFF"/>
                </a:solidFill>
                <a:latin typeface="Arial Black" pitchFamily="34" charset="0"/>
                <a:ea typeface="Arial Black" pitchFamily="34" charset="-122"/>
                <a:cs typeface="Arial Black" pitchFamily="34" charset="-120"/>
              </a:rPr>
              <a:t>01</a:t>
            </a:r>
            <a:endParaRPr lang="en-US" sz="1300" dirty="0"/>
          </a:p>
        </p:txBody>
      </p:sp>
      <p:sp>
        <p:nvSpPr>
          <p:cNvPr id="12" name="Text 10"/>
          <p:cNvSpPr/>
          <p:nvPr/>
        </p:nvSpPr>
        <p:spPr>
          <a:xfrm>
            <a:off x="731520" y="2642616"/>
            <a:ext cx="3566160" cy="228600"/>
          </a:xfrm>
          <a:prstGeom prst="rect">
            <a:avLst/>
          </a:prstGeom>
          <a:noFill/>
          <a:ln/>
        </p:spPr>
        <p:txBody>
          <a:bodyPr wrap="square" lIns="0" tIns="0" rIns="0" bIns="0" rtlCol="0" anchor="ctr"/>
          <a:lstStyle/>
          <a:p>
            <a:pPr marL="0" indent="0">
              <a:buNone/>
            </a:pPr>
            <a:r>
              <a:rPr lang="en-US" sz="1200" b="1" dirty="0">
                <a:solidFill>
                  <a:srgbClr val="FFFFFF"/>
                </a:solidFill>
                <a:latin typeface="Arial" pitchFamily="34" charset="0"/>
                <a:ea typeface="Arial" pitchFamily="34" charset="-122"/>
                <a:cs typeface="Arial" pitchFamily="34" charset="-120"/>
              </a:rPr>
              <a:t>Requirement Coverage</a:t>
            </a:r>
            <a:endParaRPr lang="en-US" sz="1200" dirty="0"/>
          </a:p>
        </p:txBody>
      </p:sp>
      <p:sp>
        <p:nvSpPr>
          <p:cNvPr id="13" name="Text 11"/>
          <p:cNvSpPr/>
          <p:nvPr/>
        </p:nvSpPr>
        <p:spPr>
          <a:xfrm>
            <a:off x="731520" y="2880360"/>
            <a:ext cx="3566160" cy="274320"/>
          </a:xfrm>
          <a:prstGeom prst="rect">
            <a:avLst/>
          </a:prstGeom>
          <a:noFill/>
          <a:ln/>
        </p:spPr>
        <p:txBody>
          <a:bodyPr wrap="square" lIns="0" tIns="0" rIns="0" bIns="0" rtlCol="0" anchor="ctr"/>
          <a:lstStyle/>
          <a:p>
            <a:pPr marL="0" indent="0">
              <a:buNone/>
            </a:pPr>
            <a:r>
              <a:rPr lang="en-US" sz="950" dirty="0">
                <a:solidFill>
                  <a:srgbClr val="AAAAAA"/>
                </a:solidFill>
                <a:latin typeface="Calibri" pitchFamily="34" charset="0"/>
                <a:ea typeface="Calibri" pitchFamily="34" charset="-122"/>
                <a:cs typeface="Calibri" pitchFamily="34" charset="-120"/>
              </a:rPr>
              <a:t>Guarantee every business and functional requirement has at least one associated test case.</a:t>
            </a:r>
            <a:endParaRPr lang="en-US" sz="950" dirty="0"/>
          </a:p>
        </p:txBody>
      </p:sp>
      <p:sp>
        <p:nvSpPr>
          <p:cNvPr id="14" name="Shape 12"/>
          <p:cNvSpPr/>
          <p:nvPr/>
        </p:nvSpPr>
        <p:spPr>
          <a:xfrm>
            <a:off x="228600" y="3319272"/>
            <a:ext cx="4206240" cy="594360"/>
          </a:xfrm>
          <a:prstGeom prst="rect">
            <a:avLst/>
          </a:prstGeom>
          <a:solidFill>
            <a:srgbClr val="1A1A1A"/>
          </a:solidFill>
          <a:ln w="12700">
            <a:solidFill>
              <a:srgbClr val="333333"/>
            </a:solidFill>
            <a:prstDash val="solid"/>
          </a:ln>
        </p:spPr>
      </p:sp>
      <p:sp>
        <p:nvSpPr>
          <p:cNvPr id="15" name="Shape 13"/>
          <p:cNvSpPr/>
          <p:nvPr/>
        </p:nvSpPr>
        <p:spPr>
          <a:xfrm>
            <a:off x="228600" y="3319272"/>
            <a:ext cx="457200" cy="594360"/>
          </a:xfrm>
          <a:prstGeom prst="rect">
            <a:avLst/>
          </a:prstGeom>
          <a:solidFill>
            <a:srgbClr val="FF6500"/>
          </a:solidFill>
          <a:ln w="12700">
            <a:solidFill>
              <a:srgbClr val="FF6500"/>
            </a:solidFill>
            <a:prstDash val="solid"/>
          </a:ln>
        </p:spPr>
      </p:sp>
      <p:sp>
        <p:nvSpPr>
          <p:cNvPr id="16" name="Text 14"/>
          <p:cNvSpPr/>
          <p:nvPr/>
        </p:nvSpPr>
        <p:spPr>
          <a:xfrm>
            <a:off x="228600" y="3319272"/>
            <a:ext cx="457200" cy="594360"/>
          </a:xfrm>
          <a:prstGeom prst="rect">
            <a:avLst/>
          </a:prstGeom>
          <a:noFill/>
          <a:ln/>
        </p:spPr>
        <p:txBody>
          <a:bodyPr wrap="square" lIns="0" tIns="0" rIns="0" bIns="0" rtlCol="0" anchor="ctr"/>
          <a:lstStyle/>
          <a:p>
            <a:pPr marL="0" indent="0" algn="ctr">
              <a:buNone/>
            </a:pPr>
            <a:r>
              <a:rPr lang="en-US" sz="1300" b="1" dirty="0">
                <a:solidFill>
                  <a:srgbClr val="FFFFFF"/>
                </a:solidFill>
                <a:latin typeface="Arial Black" pitchFamily="34" charset="0"/>
                <a:ea typeface="Arial Black" pitchFamily="34" charset="-122"/>
                <a:cs typeface="Arial Black" pitchFamily="34" charset="-120"/>
              </a:rPr>
              <a:t>02</a:t>
            </a:r>
            <a:endParaRPr lang="en-US" sz="1300" dirty="0"/>
          </a:p>
        </p:txBody>
      </p:sp>
      <p:sp>
        <p:nvSpPr>
          <p:cNvPr id="17" name="Text 15"/>
          <p:cNvSpPr/>
          <p:nvPr/>
        </p:nvSpPr>
        <p:spPr>
          <a:xfrm>
            <a:off x="731520" y="3355848"/>
            <a:ext cx="3566160" cy="228600"/>
          </a:xfrm>
          <a:prstGeom prst="rect">
            <a:avLst/>
          </a:prstGeom>
          <a:noFill/>
          <a:ln/>
        </p:spPr>
        <p:txBody>
          <a:bodyPr wrap="square" lIns="0" tIns="0" rIns="0" bIns="0" rtlCol="0" anchor="ctr"/>
          <a:lstStyle/>
          <a:p>
            <a:pPr marL="0" indent="0">
              <a:buNone/>
            </a:pPr>
            <a:r>
              <a:rPr lang="en-US" sz="1200" b="1" dirty="0">
                <a:solidFill>
                  <a:srgbClr val="FFFFFF"/>
                </a:solidFill>
                <a:latin typeface="Arial" pitchFamily="34" charset="0"/>
                <a:ea typeface="Arial" pitchFamily="34" charset="-122"/>
                <a:cs typeface="Arial" pitchFamily="34" charset="-120"/>
              </a:rPr>
              <a:t>Functionality Validation</a:t>
            </a:r>
            <a:endParaRPr lang="en-US" sz="1200" dirty="0"/>
          </a:p>
        </p:txBody>
      </p:sp>
      <p:sp>
        <p:nvSpPr>
          <p:cNvPr id="18" name="Text 16"/>
          <p:cNvSpPr/>
          <p:nvPr/>
        </p:nvSpPr>
        <p:spPr>
          <a:xfrm>
            <a:off x="731520" y="3593592"/>
            <a:ext cx="3566160" cy="274320"/>
          </a:xfrm>
          <a:prstGeom prst="rect">
            <a:avLst/>
          </a:prstGeom>
          <a:noFill/>
          <a:ln/>
        </p:spPr>
        <p:txBody>
          <a:bodyPr wrap="square" lIns="0" tIns="0" rIns="0" bIns="0" rtlCol="0" anchor="ctr"/>
          <a:lstStyle/>
          <a:p>
            <a:pPr marL="0" indent="0">
              <a:buNone/>
            </a:pPr>
            <a:r>
              <a:rPr lang="en-US" sz="950" dirty="0">
                <a:solidFill>
                  <a:srgbClr val="AAAAAA"/>
                </a:solidFill>
                <a:latin typeface="Calibri" pitchFamily="34" charset="0"/>
                <a:ea typeface="Calibri" pitchFamily="34" charset="-122"/>
                <a:cs typeface="Calibri" pitchFamily="34" charset="-120"/>
              </a:rPr>
              <a:t>Confirm that each feature behaves exactly as specified in the requirements documentation.</a:t>
            </a:r>
            <a:endParaRPr lang="en-US" sz="950" dirty="0"/>
          </a:p>
        </p:txBody>
      </p:sp>
      <p:sp>
        <p:nvSpPr>
          <p:cNvPr id="19" name="Shape 17"/>
          <p:cNvSpPr/>
          <p:nvPr/>
        </p:nvSpPr>
        <p:spPr>
          <a:xfrm>
            <a:off x="228600" y="4032504"/>
            <a:ext cx="4206240" cy="594360"/>
          </a:xfrm>
          <a:prstGeom prst="rect">
            <a:avLst/>
          </a:prstGeom>
          <a:solidFill>
            <a:srgbClr val="1A1A1A"/>
          </a:solidFill>
          <a:ln w="12700">
            <a:solidFill>
              <a:srgbClr val="333333"/>
            </a:solidFill>
            <a:prstDash val="solid"/>
          </a:ln>
        </p:spPr>
      </p:sp>
      <p:sp>
        <p:nvSpPr>
          <p:cNvPr id="20" name="Shape 18"/>
          <p:cNvSpPr/>
          <p:nvPr/>
        </p:nvSpPr>
        <p:spPr>
          <a:xfrm>
            <a:off x="228600" y="4032504"/>
            <a:ext cx="457200" cy="594360"/>
          </a:xfrm>
          <a:prstGeom prst="rect">
            <a:avLst/>
          </a:prstGeom>
          <a:solidFill>
            <a:srgbClr val="FF6500"/>
          </a:solidFill>
          <a:ln w="12700">
            <a:solidFill>
              <a:srgbClr val="FF6500"/>
            </a:solidFill>
            <a:prstDash val="solid"/>
          </a:ln>
        </p:spPr>
      </p:sp>
      <p:sp>
        <p:nvSpPr>
          <p:cNvPr id="21" name="Text 19"/>
          <p:cNvSpPr/>
          <p:nvPr/>
        </p:nvSpPr>
        <p:spPr>
          <a:xfrm>
            <a:off x="228600" y="4032504"/>
            <a:ext cx="457200" cy="594360"/>
          </a:xfrm>
          <a:prstGeom prst="rect">
            <a:avLst/>
          </a:prstGeom>
          <a:noFill/>
          <a:ln/>
        </p:spPr>
        <p:txBody>
          <a:bodyPr wrap="square" lIns="0" tIns="0" rIns="0" bIns="0" rtlCol="0" anchor="ctr"/>
          <a:lstStyle/>
          <a:p>
            <a:pPr marL="0" indent="0" algn="ctr">
              <a:buNone/>
            </a:pPr>
            <a:r>
              <a:rPr lang="en-US" sz="1300" b="1" dirty="0">
                <a:solidFill>
                  <a:srgbClr val="FFFFFF"/>
                </a:solidFill>
                <a:latin typeface="Arial Black" pitchFamily="34" charset="0"/>
                <a:ea typeface="Arial Black" pitchFamily="34" charset="-122"/>
                <a:cs typeface="Arial Black" pitchFamily="34" charset="-120"/>
              </a:rPr>
              <a:t>03</a:t>
            </a:r>
            <a:endParaRPr lang="en-US" sz="1300" dirty="0"/>
          </a:p>
        </p:txBody>
      </p:sp>
      <p:sp>
        <p:nvSpPr>
          <p:cNvPr id="22" name="Text 20"/>
          <p:cNvSpPr/>
          <p:nvPr/>
        </p:nvSpPr>
        <p:spPr>
          <a:xfrm>
            <a:off x="731520" y="4069080"/>
            <a:ext cx="3566160" cy="228600"/>
          </a:xfrm>
          <a:prstGeom prst="rect">
            <a:avLst/>
          </a:prstGeom>
          <a:noFill/>
          <a:ln/>
        </p:spPr>
        <p:txBody>
          <a:bodyPr wrap="square" lIns="0" tIns="0" rIns="0" bIns="0" rtlCol="0" anchor="ctr"/>
          <a:lstStyle/>
          <a:p>
            <a:pPr marL="0" indent="0">
              <a:buNone/>
            </a:pPr>
            <a:r>
              <a:rPr lang="en-US" sz="1200" b="1" dirty="0">
                <a:solidFill>
                  <a:srgbClr val="FFFFFF"/>
                </a:solidFill>
                <a:latin typeface="Arial" pitchFamily="34" charset="0"/>
                <a:ea typeface="Arial" pitchFamily="34" charset="-122"/>
                <a:cs typeface="Arial" pitchFamily="34" charset="-120"/>
              </a:rPr>
              <a:t>Early Defect Detection</a:t>
            </a:r>
            <a:endParaRPr lang="en-US" sz="1200" dirty="0"/>
          </a:p>
        </p:txBody>
      </p:sp>
      <p:sp>
        <p:nvSpPr>
          <p:cNvPr id="23" name="Text 21"/>
          <p:cNvSpPr/>
          <p:nvPr/>
        </p:nvSpPr>
        <p:spPr>
          <a:xfrm>
            <a:off x="731520" y="4306824"/>
            <a:ext cx="3566160" cy="274320"/>
          </a:xfrm>
          <a:prstGeom prst="rect">
            <a:avLst/>
          </a:prstGeom>
          <a:noFill/>
          <a:ln/>
        </p:spPr>
        <p:txBody>
          <a:bodyPr wrap="square" lIns="0" tIns="0" rIns="0" bIns="0" rtlCol="0" anchor="ctr"/>
          <a:lstStyle/>
          <a:p>
            <a:pPr marL="0" indent="0">
              <a:buNone/>
            </a:pPr>
            <a:r>
              <a:rPr lang="en-US" sz="950" dirty="0">
                <a:solidFill>
                  <a:srgbClr val="AAAAAA"/>
                </a:solidFill>
                <a:latin typeface="Calibri" pitchFamily="34" charset="0"/>
                <a:ea typeface="Calibri" pitchFamily="34" charset="-122"/>
                <a:cs typeface="Calibri" pitchFamily="34" charset="-120"/>
              </a:rPr>
              <a:t>Identify bugs as early as possible — the earlier a defect is found, the cheaper it is to fix.</a:t>
            </a:r>
            <a:endParaRPr lang="en-US" sz="950" dirty="0"/>
          </a:p>
        </p:txBody>
      </p:sp>
      <p:sp>
        <p:nvSpPr>
          <p:cNvPr id="24" name="Shape 22"/>
          <p:cNvSpPr/>
          <p:nvPr/>
        </p:nvSpPr>
        <p:spPr>
          <a:xfrm>
            <a:off x="4709160" y="2606040"/>
            <a:ext cx="4206240" cy="594360"/>
          </a:xfrm>
          <a:prstGeom prst="rect">
            <a:avLst/>
          </a:prstGeom>
          <a:solidFill>
            <a:srgbClr val="1A1A1A"/>
          </a:solidFill>
          <a:ln w="12700">
            <a:solidFill>
              <a:srgbClr val="333333"/>
            </a:solidFill>
            <a:prstDash val="solid"/>
          </a:ln>
        </p:spPr>
      </p:sp>
      <p:sp>
        <p:nvSpPr>
          <p:cNvPr id="25" name="Shape 23"/>
          <p:cNvSpPr/>
          <p:nvPr/>
        </p:nvSpPr>
        <p:spPr>
          <a:xfrm>
            <a:off x="4709160" y="2606040"/>
            <a:ext cx="457200" cy="594360"/>
          </a:xfrm>
          <a:prstGeom prst="rect">
            <a:avLst/>
          </a:prstGeom>
          <a:solidFill>
            <a:srgbClr val="FF6500"/>
          </a:solidFill>
          <a:ln w="12700">
            <a:solidFill>
              <a:srgbClr val="FF6500"/>
            </a:solidFill>
            <a:prstDash val="solid"/>
          </a:ln>
        </p:spPr>
      </p:sp>
      <p:sp>
        <p:nvSpPr>
          <p:cNvPr id="26" name="Text 24"/>
          <p:cNvSpPr/>
          <p:nvPr/>
        </p:nvSpPr>
        <p:spPr>
          <a:xfrm>
            <a:off x="4709160" y="2606040"/>
            <a:ext cx="457200" cy="594360"/>
          </a:xfrm>
          <a:prstGeom prst="rect">
            <a:avLst/>
          </a:prstGeom>
          <a:noFill/>
          <a:ln/>
        </p:spPr>
        <p:txBody>
          <a:bodyPr wrap="square" lIns="0" tIns="0" rIns="0" bIns="0" rtlCol="0" anchor="ctr"/>
          <a:lstStyle/>
          <a:p>
            <a:pPr marL="0" indent="0" algn="ctr">
              <a:buNone/>
            </a:pPr>
            <a:r>
              <a:rPr lang="en-US" sz="1300" b="1" dirty="0">
                <a:solidFill>
                  <a:srgbClr val="FFFFFF"/>
                </a:solidFill>
                <a:latin typeface="Arial Black" pitchFamily="34" charset="0"/>
                <a:ea typeface="Arial Black" pitchFamily="34" charset="-122"/>
                <a:cs typeface="Arial Black" pitchFamily="34" charset="-120"/>
              </a:rPr>
              <a:t>04</a:t>
            </a:r>
            <a:endParaRPr lang="en-US" sz="1300" dirty="0"/>
          </a:p>
        </p:txBody>
      </p:sp>
      <p:sp>
        <p:nvSpPr>
          <p:cNvPr id="27" name="Text 25"/>
          <p:cNvSpPr/>
          <p:nvPr/>
        </p:nvSpPr>
        <p:spPr>
          <a:xfrm>
            <a:off x="5212080" y="2642616"/>
            <a:ext cx="3566160" cy="228600"/>
          </a:xfrm>
          <a:prstGeom prst="rect">
            <a:avLst/>
          </a:prstGeom>
          <a:noFill/>
          <a:ln/>
        </p:spPr>
        <p:txBody>
          <a:bodyPr wrap="square" lIns="0" tIns="0" rIns="0" bIns="0" rtlCol="0" anchor="ctr"/>
          <a:lstStyle/>
          <a:p>
            <a:pPr marL="0" indent="0">
              <a:buNone/>
            </a:pPr>
            <a:r>
              <a:rPr lang="en-US" sz="1200" b="1" dirty="0">
                <a:solidFill>
                  <a:srgbClr val="FFFFFF"/>
                </a:solidFill>
                <a:latin typeface="Arial" pitchFamily="34" charset="0"/>
                <a:ea typeface="Arial" pitchFamily="34" charset="-122"/>
                <a:cs typeface="Arial" pitchFamily="34" charset="-120"/>
              </a:rPr>
              <a:t>Software Quality Assurance</a:t>
            </a:r>
            <a:endParaRPr lang="en-US" sz="1200" dirty="0"/>
          </a:p>
        </p:txBody>
      </p:sp>
      <p:sp>
        <p:nvSpPr>
          <p:cNvPr id="28" name="Text 26"/>
          <p:cNvSpPr/>
          <p:nvPr/>
        </p:nvSpPr>
        <p:spPr>
          <a:xfrm>
            <a:off x="5212080" y="2880360"/>
            <a:ext cx="3566160" cy="274320"/>
          </a:xfrm>
          <a:prstGeom prst="rect">
            <a:avLst/>
          </a:prstGeom>
          <a:noFill/>
          <a:ln/>
        </p:spPr>
        <p:txBody>
          <a:bodyPr wrap="square" lIns="0" tIns="0" rIns="0" bIns="0" rtlCol="0" anchor="ctr"/>
          <a:lstStyle/>
          <a:p>
            <a:pPr marL="0" indent="0">
              <a:buNone/>
            </a:pPr>
            <a:r>
              <a:rPr lang="en-US" sz="950" dirty="0">
                <a:solidFill>
                  <a:srgbClr val="AAAAAA"/>
                </a:solidFill>
                <a:latin typeface="Calibri" pitchFamily="34" charset="0"/>
                <a:ea typeface="Calibri" pitchFamily="34" charset="-122"/>
                <a:cs typeface="Calibri" pitchFamily="34" charset="-120"/>
              </a:rPr>
              <a:t>Provide objective evidence that the system meets defined quality standards before release.</a:t>
            </a:r>
            <a:endParaRPr lang="en-US" sz="950" dirty="0"/>
          </a:p>
        </p:txBody>
      </p:sp>
      <p:sp>
        <p:nvSpPr>
          <p:cNvPr id="29" name="Shape 27"/>
          <p:cNvSpPr/>
          <p:nvPr/>
        </p:nvSpPr>
        <p:spPr>
          <a:xfrm>
            <a:off x="4709160" y="3319272"/>
            <a:ext cx="4206240" cy="594360"/>
          </a:xfrm>
          <a:prstGeom prst="rect">
            <a:avLst/>
          </a:prstGeom>
          <a:solidFill>
            <a:srgbClr val="1A1A1A"/>
          </a:solidFill>
          <a:ln w="12700">
            <a:solidFill>
              <a:srgbClr val="333333"/>
            </a:solidFill>
            <a:prstDash val="solid"/>
          </a:ln>
        </p:spPr>
      </p:sp>
      <p:sp>
        <p:nvSpPr>
          <p:cNvPr id="30" name="Shape 28"/>
          <p:cNvSpPr/>
          <p:nvPr/>
        </p:nvSpPr>
        <p:spPr>
          <a:xfrm>
            <a:off x="4709160" y="3319272"/>
            <a:ext cx="457200" cy="594360"/>
          </a:xfrm>
          <a:prstGeom prst="rect">
            <a:avLst/>
          </a:prstGeom>
          <a:solidFill>
            <a:srgbClr val="FF6500"/>
          </a:solidFill>
          <a:ln w="12700">
            <a:solidFill>
              <a:srgbClr val="FF6500"/>
            </a:solidFill>
            <a:prstDash val="solid"/>
          </a:ln>
        </p:spPr>
      </p:sp>
      <p:sp>
        <p:nvSpPr>
          <p:cNvPr id="31" name="Text 29"/>
          <p:cNvSpPr/>
          <p:nvPr/>
        </p:nvSpPr>
        <p:spPr>
          <a:xfrm>
            <a:off x="4709160" y="3319272"/>
            <a:ext cx="457200" cy="594360"/>
          </a:xfrm>
          <a:prstGeom prst="rect">
            <a:avLst/>
          </a:prstGeom>
          <a:noFill/>
          <a:ln/>
        </p:spPr>
        <p:txBody>
          <a:bodyPr wrap="square" lIns="0" tIns="0" rIns="0" bIns="0" rtlCol="0" anchor="ctr"/>
          <a:lstStyle/>
          <a:p>
            <a:pPr marL="0" indent="0" algn="ctr">
              <a:buNone/>
            </a:pPr>
            <a:r>
              <a:rPr lang="en-US" sz="1300" b="1" dirty="0">
                <a:solidFill>
                  <a:srgbClr val="FFFFFF"/>
                </a:solidFill>
                <a:latin typeface="Arial Black" pitchFamily="34" charset="0"/>
                <a:ea typeface="Arial Black" pitchFamily="34" charset="-122"/>
                <a:cs typeface="Arial Black" pitchFamily="34" charset="-120"/>
              </a:rPr>
              <a:t>05</a:t>
            </a:r>
            <a:endParaRPr lang="en-US" sz="1300" dirty="0"/>
          </a:p>
        </p:txBody>
      </p:sp>
      <p:sp>
        <p:nvSpPr>
          <p:cNvPr id="32" name="Text 30"/>
          <p:cNvSpPr/>
          <p:nvPr/>
        </p:nvSpPr>
        <p:spPr>
          <a:xfrm>
            <a:off x="5212080" y="3355848"/>
            <a:ext cx="3566160" cy="228600"/>
          </a:xfrm>
          <a:prstGeom prst="rect">
            <a:avLst/>
          </a:prstGeom>
          <a:noFill/>
          <a:ln/>
        </p:spPr>
        <p:txBody>
          <a:bodyPr wrap="square" lIns="0" tIns="0" rIns="0" bIns="0" rtlCol="0" anchor="ctr"/>
          <a:lstStyle/>
          <a:p>
            <a:pPr marL="0" indent="0">
              <a:buNone/>
            </a:pPr>
            <a:r>
              <a:rPr lang="en-US" sz="1200" b="1" dirty="0">
                <a:solidFill>
                  <a:srgbClr val="FFFFFF"/>
                </a:solidFill>
                <a:latin typeface="Arial" pitchFamily="34" charset="0"/>
                <a:ea typeface="Arial" pitchFamily="34" charset="-122"/>
                <a:cs typeface="Arial" pitchFamily="34" charset="-120"/>
              </a:rPr>
              <a:t>Regression Assurance</a:t>
            </a:r>
            <a:endParaRPr lang="en-US" sz="1200" dirty="0"/>
          </a:p>
        </p:txBody>
      </p:sp>
      <p:sp>
        <p:nvSpPr>
          <p:cNvPr id="33" name="Text 31"/>
          <p:cNvSpPr/>
          <p:nvPr/>
        </p:nvSpPr>
        <p:spPr>
          <a:xfrm>
            <a:off x="5212080" y="3593592"/>
            <a:ext cx="3566160" cy="274320"/>
          </a:xfrm>
          <a:prstGeom prst="rect">
            <a:avLst/>
          </a:prstGeom>
          <a:noFill/>
          <a:ln/>
        </p:spPr>
        <p:txBody>
          <a:bodyPr wrap="square" lIns="0" tIns="0" rIns="0" bIns="0" rtlCol="0" anchor="ctr"/>
          <a:lstStyle/>
          <a:p>
            <a:pPr marL="0" indent="0">
              <a:buNone/>
            </a:pPr>
            <a:r>
              <a:rPr lang="en-US" sz="950" dirty="0">
                <a:solidFill>
                  <a:srgbClr val="AAAAAA"/>
                </a:solidFill>
                <a:latin typeface="Calibri" pitchFamily="34" charset="0"/>
                <a:ea typeface="Calibri" pitchFamily="34" charset="-122"/>
                <a:cs typeface="Calibri" pitchFamily="34" charset="-120"/>
              </a:rPr>
              <a:t>Enable re-testing after code changes to ensure existing functionality has not been broken.</a:t>
            </a:r>
            <a:endParaRPr lang="en-US" sz="950" dirty="0"/>
          </a:p>
        </p:txBody>
      </p:sp>
      <p:sp>
        <p:nvSpPr>
          <p:cNvPr id="34" name="Shape 32"/>
          <p:cNvSpPr/>
          <p:nvPr/>
        </p:nvSpPr>
        <p:spPr>
          <a:xfrm>
            <a:off x="4709160" y="4032504"/>
            <a:ext cx="4206240" cy="594360"/>
          </a:xfrm>
          <a:prstGeom prst="rect">
            <a:avLst/>
          </a:prstGeom>
          <a:solidFill>
            <a:srgbClr val="1A1A1A"/>
          </a:solidFill>
          <a:ln w="12700">
            <a:solidFill>
              <a:srgbClr val="333333"/>
            </a:solidFill>
            <a:prstDash val="solid"/>
          </a:ln>
        </p:spPr>
      </p:sp>
      <p:sp>
        <p:nvSpPr>
          <p:cNvPr id="35" name="Shape 33"/>
          <p:cNvSpPr/>
          <p:nvPr/>
        </p:nvSpPr>
        <p:spPr>
          <a:xfrm>
            <a:off x="4709160" y="4032504"/>
            <a:ext cx="457200" cy="594360"/>
          </a:xfrm>
          <a:prstGeom prst="rect">
            <a:avLst/>
          </a:prstGeom>
          <a:solidFill>
            <a:srgbClr val="FF6500"/>
          </a:solidFill>
          <a:ln w="12700">
            <a:solidFill>
              <a:srgbClr val="FF6500"/>
            </a:solidFill>
            <a:prstDash val="solid"/>
          </a:ln>
        </p:spPr>
      </p:sp>
      <p:sp>
        <p:nvSpPr>
          <p:cNvPr id="36" name="Text 34"/>
          <p:cNvSpPr/>
          <p:nvPr/>
        </p:nvSpPr>
        <p:spPr>
          <a:xfrm>
            <a:off x="4709160" y="4032504"/>
            <a:ext cx="457200" cy="594360"/>
          </a:xfrm>
          <a:prstGeom prst="rect">
            <a:avLst/>
          </a:prstGeom>
          <a:noFill/>
          <a:ln/>
        </p:spPr>
        <p:txBody>
          <a:bodyPr wrap="square" lIns="0" tIns="0" rIns="0" bIns="0" rtlCol="0" anchor="ctr"/>
          <a:lstStyle/>
          <a:p>
            <a:pPr marL="0" indent="0" algn="ctr">
              <a:buNone/>
            </a:pPr>
            <a:r>
              <a:rPr lang="en-US" sz="1300" b="1" dirty="0">
                <a:solidFill>
                  <a:srgbClr val="FFFFFF"/>
                </a:solidFill>
                <a:latin typeface="Arial Black" pitchFamily="34" charset="0"/>
                <a:ea typeface="Arial Black" pitchFamily="34" charset="-122"/>
                <a:cs typeface="Arial Black" pitchFamily="34" charset="-120"/>
              </a:rPr>
              <a:t>06</a:t>
            </a:r>
            <a:endParaRPr lang="en-US" sz="1300" dirty="0"/>
          </a:p>
        </p:txBody>
      </p:sp>
      <p:sp>
        <p:nvSpPr>
          <p:cNvPr id="37" name="Text 35"/>
          <p:cNvSpPr/>
          <p:nvPr/>
        </p:nvSpPr>
        <p:spPr>
          <a:xfrm>
            <a:off x="5212080" y="4069080"/>
            <a:ext cx="3566160" cy="228600"/>
          </a:xfrm>
          <a:prstGeom prst="rect">
            <a:avLst/>
          </a:prstGeom>
          <a:noFill/>
          <a:ln/>
        </p:spPr>
        <p:txBody>
          <a:bodyPr wrap="square" lIns="0" tIns="0" rIns="0" bIns="0" rtlCol="0" anchor="ctr"/>
          <a:lstStyle/>
          <a:p>
            <a:pPr marL="0" indent="0">
              <a:buNone/>
            </a:pPr>
            <a:r>
              <a:rPr lang="en-US" sz="1200" b="1" dirty="0">
                <a:solidFill>
                  <a:srgbClr val="FFFFFF"/>
                </a:solidFill>
                <a:latin typeface="Arial" pitchFamily="34" charset="0"/>
                <a:ea typeface="Arial" pitchFamily="34" charset="-122"/>
                <a:cs typeface="Arial" pitchFamily="34" charset="-120"/>
              </a:rPr>
              <a:t>Audit &amp; Compliance</a:t>
            </a:r>
            <a:endParaRPr lang="en-US" sz="1200" dirty="0"/>
          </a:p>
        </p:txBody>
      </p:sp>
      <p:sp>
        <p:nvSpPr>
          <p:cNvPr id="38" name="Text 36"/>
          <p:cNvSpPr/>
          <p:nvPr/>
        </p:nvSpPr>
        <p:spPr>
          <a:xfrm>
            <a:off x="5212080" y="4306824"/>
            <a:ext cx="3566160" cy="274320"/>
          </a:xfrm>
          <a:prstGeom prst="rect">
            <a:avLst/>
          </a:prstGeom>
          <a:noFill/>
          <a:ln/>
        </p:spPr>
        <p:txBody>
          <a:bodyPr wrap="square" lIns="0" tIns="0" rIns="0" bIns="0" rtlCol="0" anchor="ctr"/>
          <a:lstStyle/>
          <a:p>
            <a:pPr marL="0" indent="0">
              <a:buNone/>
            </a:pPr>
            <a:r>
              <a:rPr lang="en-US" sz="950" dirty="0">
                <a:solidFill>
                  <a:srgbClr val="AAAAAA"/>
                </a:solidFill>
                <a:latin typeface="Calibri" pitchFamily="34" charset="0"/>
                <a:ea typeface="Calibri" pitchFamily="34" charset="-122"/>
                <a:cs typeface="Calibri" pitchFamily="34" charset="-120"/>
              </a:rPr>
              <a:t>Produce documentation trails required for regulated industries such as finance, health, and government.</a:t>
            </a:r>
            <a:endParaRPr lang="en-US" sz="9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7">
    <p:bg>
      <p:bgPr>
        <a:solidFill>
          <a:srgbClr val="F5F5F5"/>
        </a:solidFill>
        <a:effectLst/>
      </p:bgPr>
    </p:bg>
    <p:spTree>
      <p:nvGrpSpPr>
        <p:cNvPr id="1" name=""/>
        <p:cNvGrpSpPr/>
        <p:nvPr/>
      </p:nvGrpSpPr>
      <p:grpSpPr>
        <a:xfrm>
          <a:off x="0" y="0"/>
          <a:ext cx="0" cy="0"/>
          <a:chOff x="0" y="0"/>
          <a:chExt cx="0" cy="0"/>
        </a:xfrm>
      </p:grpSpPr>
      <p:sp>
        <p:nvSpPr>
          <p:cNvPr id="2" name="Shape 0"/>
          <p:cNvSpPr/>
          <p:nvPr/>
        </p:nvSpPr>
        <p:spPr>
          <a:xfrm>
            <a:off x="0" y="0"/>
            <a:ext cx="9144000" cy="621792"/>
          </a:xfrm>
          <a:prstGeom prst="rect">
            <a:avLst/>
          </a:prstGeom>
          <a:solidFill>
            <a:srgbClr val="0D0D0D"/>
          </a:solidFill>
          <a:ln w="12700">
            <a:solidFill>
              <a:srgbClr val="0D0D0D"/>
            </a:solidFill>
            <a:prstDash val="solid"/>
          </a:ln>
        </p:spPr>
      </p:sp>
      <p:sp>
        <p:nvSpPr>
          <p:cNvPr id="3" name="Shape 1"/>
          <p:cNvSpPr/>
          <p:nvPr/>
        </p:nvSpPr>
        <p:spPr>
          <a:xfrm>
            <a:off x="0" y="0"/>
            <a:ext cx="64008" cy="621792"/>
          </a:xfrm>
          <a:prstGeom prst="rect">
            <a:avLst/>
          </a:prstGeom>
          <a:solidFill>
            <a:srgbClr val="FF6500"/>
          </a:solidFill>
          <a:ln w="12700">
            <a:solidFill>
              <a:srgbClr val="FF6500"/>
            </a:solidFill>
            <a:prstDash val="solid"/>
          </a:ln>
        </p:spPr>
      </p:sp>
      <p:sp>
        <p:nvSpPr>
          <p:cNvPr id="4" name="Text 2"/>
          <p:cNvSpPr/>
          <p:nvPr/>
        </p:nvSpPr>
        <p:spPr>
          <a:xfrm>
            <a:off x="201168" y="64008"/>
            <a:ext cx="8503920" cy="493776"/>
          </a:xfrm>
          <a:prstGeom prst="rect">
            <a:avLst/>
          </a:prstGeom>
          <a:noFill/>
          <a:ln/>
        </p:spPr>
        <p:txBody>
          <a:bodyPr wrap="square" lIns="0" tIns="0" rIns="0" bIns="0" rtlCol="0" anchor="ctr"/>
          <a:lstStyle/>
          <a:p>
            <a:pPr marL="0" indent="0">
              <a:buNone/>
            </a:pPr>
            <a:r>
              <a:rPr lang="en-US" sz="1900" b="1" dirty="0">
                <a:solidFill>
                  <a:srgbClr val="FFFFFF"/>
                </a:solidFill>
                <a:latin typeface="Arial" pitchFamily="34" charset="0"/>
                <a:ea typeface="Arial" pitchFamily="34" charset="-122"/>
                <a:cs typeface="Arial" pitchFamily="34" charset="-120"/>
              </a:rPr>
              <a:t>Understanding Requirements Before Writing Test Cases</a:t>
            </a:r>
            <a:endParaRPr lang="en-US" sz="1900" dirty="0"/>
          </a:p>
        </p:txBody>
      </p:sp>
      <p:sp>
        <p:nvSpPr>
          <p:cNvPr id="5" name="Shape 3"/>
          <p:cNvSpPr/>
          <p:nvPr/>
        </p:nvSpPr>
        <p:spPr>
          <a:xfrm>
            <a:off x="0" y="4828032"/>
            <a:ext cx="9144000" cy="315468"/>
          </a:xfrm>
          <a:prstGeom prst="rect">
            <a:avLst/>
          </a:prstGeom>
          <a:solidFill>
            <a:srgbClr val="0D0D0D"/>
          </a:solidFill>
          <a:ln w="12700">
            <a:solidFill>
              <a:srgbClr val="0D0D0D"/>
            </a:solidFill>
            <a:prstDash val="solid"/>
          </a:ln>
        </p:spPr>
      </p:sp>
      <p:sp>
        <p:nvSpPr>
          <p:cNvPr id="6" name="Text 4"/>
          <p:cNvSpPr/>
          <p:nvPr/>
        </p:nvSpPr>
        <p:spPr>
          <a:xfrm>
            <a:off x="182880" y="4855464"/>
            <a:ext cx="7315200" cy="228600"/>
          </a:xfrm>
          <a:prstGeom prst="rect">
            <a:avLst/>
          </a:prstGeom>
          <a:noFill/>
          <a:ln/>
        </p:spPr>
        <p:txBody>
          <a:bodyPr wrap="square" lIns="0" tIns="0" rIns="0" bIns="0" rtlCol="0" anchor="ctr"/>
          <a:lstStyle/>
          <a:p>
            <a:pPr marL="0" indent="0">
              <a:buNone/>
            </a:pPr>
            <a:r>
              <a:rPr lang="en-US" sz="850" dirty="0">
                <a:solidFill>
                  <a:srgbClr val="999999"/>
                </a:solidFill>
                <a:latin typeface="Calibri" pitchFamily="34" charset="0"/>
                <a:ea typeface="Calibri" pitchFamily="34" charset="-122"/>
                <a:cs typeface="Calibri" pitchFamily="34" charset="-120"/>
              </a:rPr>
              <a:t>Quality Engineering | Test Case Development in STLC</a:t>
            </a:r>
            <a:endParaRPr lang="en-US" sz="850" dirty="0"/>
          </a:p>
        </p:txBody>
      </p:sp>
      <p:sp>
        <p:nvSpPr>
          <p:cNvPr id="7" name="Text 5"/>
          <p:cNvSpPr/>
          <p:nvPr/>
        </p:nvSpPr>
        <p:spPr>
          <a:xfrm>
            <a:off x="7406640" y="4855464"/>
            <a:ext cx="1554480" cy="228600"/>
          </a:xfrm>
          <a:prstGeom prst="rect">
            <a:avLst/>
          </a:prstGeom>
          <a:noFill/>
          <a:ln/>
        </p:spPr>
        <p:txBody>
          <a:bodyPr wrap="square" lIns="0" tIns="0" rIns="0" bIns="0" rtlCol="0" anchor="ctr"/>
          <a:lstStyle/>
          <a:p>
            <a:pPr marL="0" indent="0" algn="r">
              <a:buNone/>
            </a:pPr>
            <a:r>
              <a:rPr lang="en-US" sz="850" b="1" dirty="0">
                <a:solidFill>
                  <a:srgbClr val="FF6500"/>
                </a:solidFill>
                <a:latin typeface="Calibri" pitchFamily="34" charset="0"/>
                <a:ea typeface="Calibri" pitchFamily="34" charset="-122"/>
                <a:cs typeface="Calibri" pitchFamily="34" charset="-120"/>
              </a:rPr>
              <a:t>INTERNAL TRAINING</a:t>
            </a:r>
            <a:endParaRPr lang="en-US" sz="850" dirty="0"/>
          </a:p>
        </p:txBody>
      </p:sp>
      <p:sp>
        <p:nvSpPr>
          <p:cNvPr id="8" name="Shape 6"/>
          <p:cNvSpPr/>
          <p:nvPr/>
        </p:nvSpPr>
        <p:spPr>
          <a:xfrm>
            <a:off x="228600" y="777240"/>
            <a:ext cx="4160520" cy="3913632"/>
          </a:xfrm>
          <a:prstGeom prst="rect">
            <a:avLst/>
          </a:prstGeom>
          <a:solidFill>
            <a:srgbClr val="FFFFFF"/>
          </a:solidFill>
          <a:ln w="12700">
            <a:solidFill>
              <a:srgbClr val="DEDEDE"/>
            </a:solidFill>
            <a:prstDash val="solid"/>
          </a:ln>
          <a:effectLst>
            <a:outerShdw blurRad="76200" dist="25400" dir="8100000" algn="bl" rotWithShape="0">
              <a:srgbClr val="000000">
                <a:alpha val="13000"/>
              </a:srgbClr>
            </a:outerShdw>
          </a:effectLst>
        </p:spPr>
      </p:sp>
      <p:sp>
        <p:nvSpPr>
          <p:cNvPr id="9" name="Shape 7"/>
          <p:cNvSpPr/>
          <p:nvPr/>
        </p:nvSpPr>
        <p:spPr>
          <a:xfrm>
            <a:off x="228600" y="777240"/>
            <a:ext cx="4160520" cy="475488"/>
          </a:xfrm>
          <a:prstGeom prst="rect">
            <a:avLst/>
          </a:prstGeom>
          <a:solidFill>
            <a:srgbClr val="0D0D0D"/>
          </a:solidFill>
          <a:ln w="12700">
            <a:solidFill>
              <a:srgbClr val="0D0D0D"/>
            </a:solidFill>
            <a:prstDash val="solid"/>
          </a:ln>
        </p:spPr>
      </p:sp>
      <p:sp>
        <p:nvSpPr>
          <p:cNvPr id="10" name="Shape 8"/>
          <p:cNvSpPr/>
          <p:nvPr/>
        </p:nvSpPr>
        <p:spPr>
          <a:xfrm>
            <a:off x="3611880" y="804672"/>
            <a:ext cx="640080" cy="384048"/>
          </a:xfrm>
          <a:prstGeom prst="rect">
            <a:avLst/>
          </a:prstGeom>
          <a:solidFill>
            <a:srgbClr val="FF6500"/>
          </a:solidFill>
          <a:ln w="12700">
            <a:solidFill>
              <a:srgbClr val="FF6500"/>
            </a:solidFill>
            <a:prstDash val="solid"/>
          </a:ln>
        </p:spPr>
      </p:sp>
      <p:sp>
        <p:nvSpPr>
          <p:cNvPr id="11" name="Text 9"/>
          <p:cNvSpPr/>
          <p:nvPr/>
        </p:nvSpPr>
        <p:spPr>
          <a:xfrm>
            <a:off x="3611880" y="804672"/>
            <a:ext cx="640080" cy="384048"/>
          </a:xfrm>
          <a:prstGeom prst="rect">
            <a:avLst/>
          </a:prstGeom>
          <a:noFill/>
          <a:ln/>
        </p:spPr>
        <p:txBody>
          <a:bodyPr wrap="square" lIns="0" tIns="0" rIns="0" bIns="0" rtlCol="0" anchor="ctr"/>
          <a:lstStyle/>
          <a:p>
            <a:pPr marL="0" indent="0" algn="ctr">
              <a:buNone/>
            </a:pPr>
            <a:r>
              <a:rPr lang="en-US" sz="1400" b="1" dirty="0">
                <a:solidFill>
                  <a:srgbClr val="FFFFFF"/>
                </a:solidFill>
                <a:latin typeface="Arial Black" pitchFamily="34" charset="0"/>
                <a:ea typeface="Arial Black" pitchFamily="34" charset="-122"/>
                <a:cs typeface="Arial Black" pitchFamily="34" charset="-120"/>
              </a:rPr>
              <a:t>BRD</a:t>
            </a:r>
            <a:endParaRPr lang="en-US" sz="1400" dirty="0"/>
          </a:p>
        </p:txBody>
      </p:sp>
      <p:sp>
        <p:nvSpPr>
          <p:cNvPr id="12" name="Text 10"/>
          <p:cNvSpPr/>
          <p:nvPr/>
        </p:nvSpPr>
        <p:spPr>
          <a:xfrm>
            <a:off x="338328" y="813816"/>
            <a:ext cx="3200400" cy="402336"/>
          </a:xfrm>
          <a:prstGeom prst="rect">
            <a:avLst/>
          </a:prstGeom>
          <a:noFill/>
          <a:ln/>
        </p:spPr>
        <p:txBody>
          <a:bodyPr wrap="square" lIns="0" tIns="0" rIns="0" bIns="0" rtlCol="0" anchor="ctr"/>
          <a:lstStyle/>
          <a:p>
            <a:pPr marL="0" indent="0">
              <a:buNone/>
            </a:pPr>
            <a:r>
              <a:rPr lang="en-US" sz="1100" b="1" dirty="0">
                <a:solidFill>
                  <a:srgbClr val="FFFFFF"/>
                </a:solidFill>
                <a:latin typeface="Arial" pitchFamily="34" charset="0"/>
                <a:ea typeface="Arial" pitchFamily="34" charset="-122"/>
                <a:cs typeface="Arial" pitchFamily="34" charset="-120"/>
              </a:rPr>
              <a:t>Business Requirements Document</a:t>
            </a:r>
            <a:endParaRPr lang="en-US" sz="1100" dirty="0"/>
          </a:p>
        </p:txBody>
      </p:sp>
      <p:sp>
        <p:nvSpPr>
          <p:cNvPr id="13" name="Text 11"/>
          <p:cNvSpPr/>
          <p:nvPr/>
        </p:nvSpPr>
        <p:spPr>
          <a:xfrm>
            <a:off x="338328" y="1316736"/>
            <a:ext cx="3913632" cy="1005840"/>
          </a:xfrm>
          <a:prstGeom prst="rect">
            <a:avLst/>
          </a:prstGeom>
          <a:noFill/>
          <a:ln/>
        </p:spPr>
        <p:txBody>
          <a:bodyPr wrap="square" lIns="0" tIns="0" rIns="0" bIns="0" rtlCol="0" anchor="t"/>
          <a:lstStyle/>
          <a:p>
            <a:pPr marL="0" indent="0">
              <a:buNone/>
            </a:pPr>
            <a:r>
              <a:rPr lang="en-US" sz="1050" dirty="0">
                <a:solidFill>
                  <a:srgbClr val="2C2C2C"/>
                </a:solidFill>
                <a:latin typeface="Calibri" pitchFamily="34" charset="0"/>
                <a:ea typeface="Calibri" pitchFamily="34" charset="-122"/>
                <a:cs typeface="Calibri" pitchFamily="34" charset="-120"/>
              </a:rPr>
              <a:t>Defines WHAT the business needs. Produced by Business Analysts in collaboration with stakeholders. Contains high-level goals, scope, and constraints. Written in business language — no technical implementation details.</a:t>
            </a:r>
            <a:endParaRPr lang="en-US" sz="1050" dirty="0"/>
          </a:p>
        </p:txBody>
      </p:sp>
      <p:sp>
        <p:nvSpPr>
          <p:cNvPr id="14" name="Text 12"/>
          <p:cNvSpPr/>
          <p:nvPr/>
        </p:nvSpPr>
        <p:spPr>
          <a:xfrm>
            <a:off x="338328" y="2377440"/>
            <a:ext cx="3657600" cy="256032"/>
          </a:xfrm>
          <a:prstGeom prst="rect">
            <a:avLst/>
          </a:prstGeom>
          <a:noFill/>
          <a:ln/>
        </p:spPr>
        <p:txBody>
          <a:bodyPr wrap="square" lIns="0" tIns="0" rIns="0" bIns="0" rtlCol="0" anchor="ctr"/>
          <a:lstStyle/>
          <a:p>
            <a:pPr marL="0" indent="0">
              <a:buNone/>
            </a:pPr>
            <a:r>
              <a:rPr lang="en-US" sz="1050" b="1" dirty="0">
                <a:solidFill>
                  <a:srgbClr val="FF6500"/>
                </a:solidFill>
                <a:latin typeface="Arial" pitchFamily="34" charset="0"/>
                <a:ea typeface="Arial" pitchFamily="34" charset="-122"/>
                <a:cs typeface="Arial" pitchFamily="34" charset="-120"/>
              </a:rPr>
              <a:t>Key Contents:</a:t>
            </a:r>
            <a:endParaRPr lang="en-US" sz="1050" dirty="0"/>
          </a:p>
        </p:txBody>
      </p:sp>
      <p:sp>
        <p:nvSpPr>
          <p:cNvPr id="15" name="Text 13"/>
          <p:cNvSpPr/>
          <p:nvPr/>
        </p:nvSpPr>
        <p:spPr>
          <a:xfrm>
            <a:off x="338328" y="2651760"/>
            <a:ext cx="3913632" cy="1920240"/>
          </a:xfrm>
          <a:prstGeom prst="rect">
            <a:avLst/>
          </a:prstGeom>
          <a:noFill/>
          <a:ln/>
        </p:spPr>
        <p:txBody>
          <a:bodyPr wrap="square" lIns="0" tIns="0" rIns="0" bIns="0" rtlCol="0" anchor="t"/>
          <a:lstStyle/>
          <a:p>
            <a:pPr marL="342900" indent="-342900">
              <a:spcAft>
                <a:spcPts val="500"/>
              </a:spcAft>
              <a:buSzPct val="100000"/>
              <a:buChar char="•"/>
            </a:pPr>
            <a:r>
              <a:rPr lang="en-US" sz="1050" dirty="0">
                <a:solidFill>
                  <a:srgbClr val="2C2C2C"/>
                </a:solidFill>
                <a:latin typeface="Calibri" pitchFamily="34" charset="0"/>
                <a:ea typeface="Calibri" pitchFamily="34" charset="-122"/>
                <a:cs typeface="Calibri" pitchFamily="34" charset="-120"/>
              </a:rPr>
              <a:t>Business goals &amp; objectives</a:t>
            </a:r>
            <a:endParaRPr lang="en-US" sz="1050" dirty="0"/>
          </a:p>
          <a:p>
            <a:pPr marL="342900" indent="-342900">
              <a:spcAft>
                <a:spcPts val="500"/>
              </a:spcAft>
              <a:buSzPct val="100000"/>
              <a:buChar char="•"/>
            </a:pPr>
            <a:r>
              <a:rPr lang="en-US" sz="1050" dirty="0">
                <a:solidFill>
                  <a:srgbClr val="5A5A5A"/>
                </a:solidFill>
                <a:latin typeface="Calibri" pitchFamily="34" charset="0"/>
                <a:ea typeface="Calibri" pitchFamily="34" charset="-122"/>
                <a:cs typeface="Calibri" pitchFamily="34" charset="-120"/>
              </a:rPr>
              <a:t>In-scope and out-of-scope items</a:t>
            </a:r>
            <a:endParaRPr lang="en-US" sz="1050" dirty="0"/>
          </a:p>
          <a:p>
            <a:pPr marL="342900" indent="-342900">
              <a:spcAft>
                <a:spcPts val="500"/>
              </a:spcAft>
              <a:buSzPct val="100000"/>
              <a:buChar char="•"/>
            </a:pPr>
            <a:r>
              <a:rPr lang="en-US" sz="1050" dirty="0">
                <a:solidFill>
                  <a:srgbClr val="2C2C2C"/>
                </a:solidFill>
                <a:latin typeface="Calibri" pitchFamily="34" charset="0"/>
                <a:ea typeface="Calibri" pitchFamily="34" charset="-122"/>
                <a:cs typeface="Calibri" pitchFamily="34" charset="-120"/>
              </a:rPr>
              <a:t>Key stakeholder sign-offs</a:t>
            </a:r>
            <a:endParaRPr lang="en-US" sz="1050" dirty="0"/>
          </a:p>
          <a:p>
            <a:pPr marL="342900" indent="-342900">
              <a:spcAft>
                <a:spcPts val="500"/>
              </a:spcAft>
              <a:buSzPct val="100000"/>
              <a:buChar char="•"/>
            </a:pPr>
            <a:r>
              <a:rPr lang="en-US" sz="1050" dirty="0">
                <a:solidFill>
                  <a:srgbClr val="5A5A5A"/>
                </a:solidFill>
                <a:latin typeface="Calibri" pitchFamily="34" charset="0"/>
                <a:ea typeface="Calibri" pitchFamily="34" charset="-122"/>
                <a:cs typeface="Calibri" pitchFamily="34" charset="-120"/>
              </a:rPr>
              <a:t>Use cases &amp; user stories</a:t>
            </a:r>
            <a:endParaRPr lang="en-US" sz="1050" dirty="0"/>
          </a:p>
          <a:p>
            <a:pPr marL="342900" indent="-342900">
              <a:spcAft>
                <a:spcPts val="500"/>
              </a:spcAft>
              <a:buSzPct val="100000"/>
              <a:buChar char="•"/>
            </a:pPr>
            <a:r>
              <a:rPr lang="en-US" sz="1050" dirty="0">
                <a:solidFill>
                  <a:srgbClr val="2C2C2C"/>
                </a:solidFill>
                <a:latin typeface="Calibri" pitchFamily="34" charset="0"/>
                <a:ea typeface="Calibri" pitchFamily="34" charset="-122"/>
                <a:cs typeface="Calibri" pitchFamily="34" charset="-120"/>
              </a:rPr>
              <a:t>Constraints &amp; assumptions</a:t>
            </a:r>
            <a:endParaRPr lang="en-US" sz="1050" dirty="0"/>
          </a:p>
        </p:txBody>
      </p:sp>
      <p:sp>
        <p:nvSpPr>
          <p:cNvPr id="16" name="Shape 14"/>
          <p:cNvSpPr/>
          <p:nvPr/>
        </p:nvSpPr>
        <p:spPr>
          <a:xfrm>
            <a:off x="4599432" y="777240"/>
            <a:ext cx="4160520" cy="3913632"/>
          </a:xfrm>
          <a:prstGeom prst="rect">
            <a:avLst/>
          </a:prstGeom>
          <a:solidFill>
            <a:srgbClr val="FFFFFF"/>
          </a:solidFill>
          <a:ln w="12700">
            <a:solidFill>
              <a:srgbClr val="DEDEDE"/>
            </a:solidFill>
            <a:prstDash val="solid"/>
          </a:ln>
          <a:effectLst>
            <a:outerShdw blurRad="76200" dist="25400" dir="8100000" algn="bl" rotWithShape="0">
              <a:srgbClr val="000000">
                <a:alpha val="13000"/>
              </a:srgbClr>
            </a:outerShdw>
          </a:effectLst>
        </p:spPr>
      </p:sp>
      <p:sp>
        <p:nvSpPr>
          <p:cNvPr id="17" name="Shape 15"/>
          <p:cNvSpPr/>
          <p:nvPr/>
        </p:nvSpPr>
        <p:spPr>
          <a:xfrm>
            <a:off x="4599432" y="777240"/>
            <a:ext cx="4160520" cy="475488"/>
          </a:xfrm>
          <a:prstGeom prst="rect">
            <a:avLst/>
          </a:prstGeom>
          <a:solidFill>
            <a:srgbClr val="0D0D0D"/>
          </a:solidFill>
          <a:ln w="12700">
            <a:solidFill>
              <a:srgbClr val="0D0D0D"/>
            </a:solidFill>
            <a:prstDash val="solid"/>
          </a:ln>
        </p:spPr>
      </p:sp>
      <p:sp>
        <p:nvSpPr>
          <p:cNvPr id="18" name="Shape 16"/>
          <p:cNvSpPr/>
          <p:nvPr/>
        </p:nvSpPr>
        <p:spPr>
          <a:xfrm>
            <a:off x="7982712" y="804672"/>
            <a:ext cx="640080" cy="384048"/>
          </a:xfrm>
          <a:prstGeom prst="rect">
            <a:avLst/>
          </a:prstGeom>
          <a:solidFill>
            <a:srgbClr val="FF6500"/>
          </a:solidFill>
          <a:ln w="12700">
            <a:solidFill>
              <a:srgbClr val="FF6500"/>
            </a:solidFill>
            <a:prstDash val="solid"/>
          </a:ln>
        </p:spPr>
      </p:sp>
      <p:sp>
        <p:nvSpPr>
          <p:cNvPr id="19" name="Text 17"/>
          <p:cNvSpPr/>
          <p:nvPr/>
        </p:nvSpPr>
        <p:spPr>
          <a:xfrm>
            <a:off x="7982712" y="804672"/>
            <a:ext cx="640080" cy="384048"/>
          </a:xfrm>
          <a:prstGeom prst="rect">
            <a:avLst/>
          </a:prstGeom>
          <a:noFill/>
          <a:ln/>
        </p:spPr>
        <p:txBody>
          <a:bodyPr wrap="square" lIns="0" tIns="0" rIns="0" bIns="0" rtlCol="0" anchor="ctr"/>
          <a:lstStyle/>
          <a:p>
            <a:pPr marL="0" indent="0" algn="ctr">
              <a:buNone/>
            </a:pPr>
            <a:r>
              <a:rPr lang="en-US" sz="1400" b="1" dirty="0">
                <a:solidFill>
                  <a:srgbClr val="FFFFFF"/>
                </a:solidFill>
                <a:latin typeface="Arial Black" pitchFamily="34" charset="0"/>
                <a:ea typeface="Arial Black" pitchFamily="34" charset="-122"/>
                <a:cs typeface="Arial Black" pitchFamily="34" charset="-120"/>
              </a:rPr>
              <a:t>SRS</a:t>
            </a:r>
            <a:endParaRPr lang="en-US" sz="1400" dirty="0"/>
          </a:p>
        </p:txBody>
      </p:sp>
      <p:sp>
        <p:nvSpPr>
          <p:cNvPr id="20" name="Text 18"/>
          <p:cNvSpPr/>
          <p:nvPr/>
        </p:nvSpPr>
        <p:spPr>
          <a:xfrm>
            <a:off x="4709160" y="813816"/>
            <a:ext cx="3200400" cy="402336"/>
          </a:xfrm>
          <a:prstGeom prst="rect">
            <a:avLst/>
          </a:prstGeom>
          <a:noFill/>
          <a:ln/>
        </p:spPr>
        <p:txBody>
          <a:bodyPr wrap="square" lIns="0" tIns="0" rIns="0" bIns="0" rtlCol="0" anchor="ctr"/>
          <a:lstStyle/>
          <a:p>
            <a:pPr marL="0" indent="0">
              <a:buNone/>
            </a:pPr>
            <a:r>
              <a:rPr lang="en-US" sz="1100" b="1" dirty="0">
                <a:solidFill>
                  <a:srgbClr val="FFFFFF"/>
                </a:solidFill>
                <a:latin typeface="Arial" pitchFamily="34" charset="0"/>
                <a:ea typeface="Arial" pitchFamily="34" charset="-122"/>
                <a:cs typeface="Arial" pitchFamily="34" charset="-120"/>
              </a:rPr>
              <a:t>Software Requirements Specification</a:t>
            </a:r>
            <a:endParaRPr lang="en-US" sz="1100" dirty="0"/>
          </a:p>
        </p:txBody>
      </p:sp>
      <p:sp>
        <p:nvSpPr>
          <p:cNvPr id="21" name="Text 19"/>
          <p:cNvSpPr/>
          <p:nvPr/>
        </p:nvSpPr>
        <p:spPr>
          <a:xfrm>
            <a:off x="4709160" y="1316736"/>
            <a:ext cx="3913632" cy="1005840"/>
          </a:xfrm>
          <a:prstGeom prst="rect">
            <a:avLst/>
          </a:prstGeom>
          <a:noFill/>
          <a:ln/>
        </p:spPr>
        <p:txBody>
          <a:bodyPr wrap="square" lIns="0" tIns="0" rIns="0" bIns="0" rtlCol="0" anchor="t"/>
          <a:lstStyle/>
          <a:p>
            <a:pPr marL="0" indent="0">
              <a:buNone/>
            </a:pPr>
            <a:r>
              <a:rPr lang="en-US" sz="1050" dirty="0">
                <a:solidFill>
                  <a:srgbClr val="2C2C2C"/>
                </a:solidFill>
                <a:latin typeface="Calibri" pitchFamily="34" charset="0"/>
                <a:ea typeface="Calibri" pitchFamily="34" charset="-122"/>
                <a:cs typeface="Calibri" pitchFamily="34" charset="-120"/>
              </a:rPr>
              <a:t>Translates the BRD into technical specifications. Defines HOW the system must behave. Produced by Systems Analysts or Product Owners. Contains detailed functional and non-functional requirements.</a:t>
            </a:r>
            <a:endParaRPr lang="en-US" sz="1050" dirty="0"/>
          </a:p>
        </p:txBody>
      </p:sp>
      <p:sp>
        <p:nvSpPr>
          <p:cNvPr id="22" name="Text 20"/>
          <p:cNvSpPr/>
          <p:nvPr/>
        </p:nvSpPr>
        <p:spPr>
          <a:xfrm>
            <a:off x="4709160" y="2377440"/>
            <a:ext cx="3657600" cy="256032"/>
          </a:xfrm>
          <a:prstGeom prst="rect">
            <a:avLst/>
          </a:prstGeom>
          <a:noFill/>
          <a:ln/>
        </p:spPr>
        <p:txBody>
          <a:bodyPr wrap="square" lIns="0" tIns="0" rIns="0" bIns="0" rtlCol="0" anchor="ctr"/>
          <a:lstStyle/>
          <a:p>
            <a:pPr marL="0" indent="0">
              <a:buNone/>
            </a:pPr>
            <a:r>
              <a:rPr lang="en-US" sz="1050" b="1" dirty="0">
                <a:solidFill>
                  <a:srgbClr val="FF6500"/>
                </a:solidFill>
                <a:latin typeface="Arial" pitchFamily="34" charset="0"/>
                <a:ea typeface="Arial" pitchFamily="34" charset="-122"/>
                <a:cs typeface="Arial" pitchFamily="34" charset="-120"/>
              </a:rPr>
              <a:t>Key Contents:</a:t>
            </a:r>
            <a:endParaRPr lang="en-US" sz="1050" dirty="0"/>
          </a:p>
        </p:txBody>
      </p:sp>
      <p:sp>
        <p:nvSpPr>
          <p:cNvPr id="23" name="Text 21"/>
          <p:cNvSpPr/>
          <p:nvPr/>
        </p:nvSpPr>
        <p:spPr>
          <a:xfrm>
            <a:off x="4709160" y="2651760"/>
            <a:ext cx="3913632" cy="1920240"/>
          </a:xfrm>
          <a:prstGeom prst="rect">
            <a:avLst/>
          </a:prstGeom>
          <a:noFill/>
          <a:ln/>
        </p:spPr>
        <p:txBody>
          <a:bodyPr wrap="square" lIns="0" tIns="0" rIns="0" bIns="0" rtlCol="0" anchor="t"/>
          <a:lstStyle/>
          <a:p>
            <a:pPr marL="342900" indent="-342900">
              <a:spcAft>
                <a:spcPts val="500"/>
              </a:spcAft>
              <a:buSzPct val="100000"/>
              <a:buChar char="•"/>
            </a:pPr>
            <a:r>
              <a:rPr lang="en-US" sz="1050" dirty="0">
                <a:solidFill>
                  <a:srgbClr val="2C2C2C"/>
                </a:solidFill>
                <a:latin typeface="Calibri" pitchFamily="34" charset="0"/>
                <a:ea typeface="Calibri" pitchFamily="34" charset="-122"/>
                <a:cs typeface="Calibri" pitchFamily="34" charset="-120"/>
              </a:rPr>
              <a:t>System functional requirements</a:t>
            </a:r>
            <a:endParaRPr lang="en-US" sz="1050" dirty="0"/>
          </a:p>
          <a:p>
            <a:pPr marL="342900" indent="-342900">
              <a:spcAft>
                <a:spcPts val="500"/>
              </a:spcAft>
              <a:buSzPct val="100000"/>
              <a:buChar char="•"/>
            </a:pPr>
            <a:r>
              <a:rPr lang="en-US" sz="1050" dirty="0">
                <a:solidFill>
                  <a:srgbClr val="5A5A5A"/>
                </a:solidFill>
                <a:latin typeface="Calibri" pitchFamily="34" charset="0"/>
                <a:ea typeface="Calibri" pitchFamily="34" charset="-122"/>
                <a:cs typeface="Calibri" pitchFamily="34" charset="-120"/>
              </a:rPr>
              <a:t>Data input/output specifications</a:t>
            </a:r>
            <a:endParaRPr lang="en-US" sz="1050" dirty="0"/>
          </a:p>
          <a:p>
            <a:pPr marL="342900" indent="-342900">
              <a:spcAft>
                <a:spcPts val="500"/>
              </a:spcAft>
              <a:buSzPct val="100000"/>
              <a:buChar char="•"/>
            </a:pPr>
            <a:r>
              <a:rPr lang="en-US" sz="1050" dirty="0">
                <a:solidFill>
                  <a:srgbClr val="2C2C2C"/>
                </a:solidFill>
                <a:latin typeface="Calibri" pitchFamily="34" charset="0"/>
                <a:ea typeface="Calibri" pitchFamily="34" charset="-122"/>
                <a:cs typeface="Calibri" pitchFamily="34" charset="-120"/>
              </a:rPr>
              <a:t>Interface requirements</a:t>
            </a:r>
            <a:endParaRPr lang="en-US" sz="1050" dirty="0"/>
          </a:p>
          <a:p>
            <a:pPr marL="342900" indent="-342900">
              <a:spcAft>
                <a:spcPts val="500"/>
              </a:spcAft>
              <a:buSzPct val="100000"/>
              <a:buChar char="•"/>
            </a:pPr>
            <a:r>
              <a:rPr lang="en-US" sz="1050" dirty="0">
                <a:solidFill>
                  <a:srgbClr val="5A5A5A"/>
                </a:solidFill>
                <a:latin typeface="Calibri" pitchFamily="34" charset="0"/>
                <a:ea typeface="Calibri" pitchFamily="34" charset="-122"/>
                <a:cs typeface="Calibri" pitchFamily="34" charset="-120"/>
              </a:rPr>
              <a:t>Performance benchmarks</a:t>
            </a:r>
            <a:endParaRPr lang="en-US" sz="1050" dirty="0"/>
          </a:p>
          <a:p>
            <a:pPr marL="342900" indent="-342900">
              <a:spcAft>
                <a:spcPts val="500"/>
              </a:spcAft>
              <a:buSzPct val="100000"/>
              <a:buChar char="•"/>
            </a:pPr>
            <a:r>
              <a:rPr lang="en-US" sz="1050" dirty="0">
                <a:solidFill>
                  <a:srgbClr val="2C2C2C"/>
                </a:solidFill>
                <a:latin typeface="Calibri" pitchFamily="34" charset="0"/>
                <a:ea typeface="Calibri" pitchFamily="34" charset="-122"/>
                <a:cs typeface="Calibri" pitchFamily="34" charset="-120"/>
              </a:rPr>
              <a:t>Security and compliance requirements</a:t>
            </a:r>
            <a:endParaRPr lang="en-US" sz="10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8">
    <p:bg>
      <p:bgPr>
        <a:solidFill>
          <a:srgbClr val="F5F5F5"/>
        </a:solidFill>
        <a:effectLst/>
      </p:bgPr>
    </p:bg>
    <p:spTree>
      <p:nvGrpSpPr>
        <p:cNvPr id="1" name=""/>
        <p:cNvGrpSpPr/>
        <p:nvPr/>
      </p:nvGrpSpPr>
      <p:grpSpPr>
        <a:xfrm>
          <a:off x="0" y="0"/>
          <a:ext cx="0" cy="0"/>
          <a:chOff x="0" y="0"/>
          <a:chExt cx="0" cy="0"/>
        </a:xfrm>
      </p:grpSpPr>
      <p:sp>
        <p:nvSpPr>
          <p:cNvPr id="2" name="Shape 0"/>
          <p:cNvSpPr/>
          <p:nvPr/>
        </p:nvSpPr>
        <p:spPr>
          <a:xfrm>
            <a:off x="0" y="0"/>
            <a:ext cx="9144000" cy="621792"/>
          </a:xfrm>
          <a:prstGeom prst="rect">
            <a:avLst/>
          </a:prstGeom>
          <a:solidFill>
            <a:srgbClr val="0D0D0D"/>
          </a:solidFill>
          <a:ln w="12700">
            <a:solidFill>
              <a:srgbClr val="0D0D0D"/>
            </a:solidFill>
            <a:prstDash val="solid"/>
          </a:ln>
        </p:spPr>
      </p:sp>
      <p:sp>
        <p:nvSpPr>
          <p:cNvPr id="3" name="Shape 1"/>
          <p:cNvSpPr/>
          <p:nvPr/>
        </p:nvSpPr>
        <p:spPr>
          <a:xfrm>
            <a:off x="0" y="0"/>
            <a:ext cx="64008" cy="621792"/>
          </a:xfrm>
          <a:prstGeom prst="rect">
            <a:avLst/>
          </a:prstGeom>
          <a:solidFill>
            <a:srgbClr val="FF6500"/>
          </a:solidFill>
          <a:ln w="12700">
            <a:solidFill>
              <a:srgbClr val="FF6500"/>
            </a:solidFill>
            <a:prstDash val="solid"/>
          </a:ln>
        </p:spPr>
      </p:sp>
      <p:sp>
        <p:nvSpPr>
          <p:cNvPr id="4" name="Text 2"/>
          <p:cNvSpPr/>
          <p:nvPr/>
        </p:nvSpPr>
        <p:spPr>
          <a:xfrm>
            <a:off x="201168" y="64008"/>
            <a:ext cx="8503920" cy="493776"/>
          </a:xfrm>
          <a:prstGeom prst="rect">
            <a:avLst/>
          </a:prstGeom>
          <a:noFill/>
          <a:ln/>
        </p:spPr>
        <p:txBody>
          <a:bodyPr wrap="square" lIns="0" tIns="0" rIns="0" bIns="0" rtlCol="0" anchor="ctr"/>
          <a:lstStyle/>
          <a:p>
            <a:pPr marL="0" indent="0">
              <a:buNone/>
            </a:pPr>
            <a:r>
              <a:rPr lang="en-US" sz="1900" b="1" dirty="0">
                <a:solidFill>
                  <a:srgbClr val="FFFFFF"/>
                </a:solidFill>
                <a:latin typeface="Arial" pitchFamily="34" charset="0"/>
                <a:ea typeface="Arial" pitchFamily="34" charset="-122"/>
                <a:cs typeface="Arial" pitchFamily="34" charset="-120"/>
              </a:rPr>
              <a:t>Functional vs Non-Functional Requirements — What Can Be Tested?</a:t>
            </a:r>
            <a:endParaRPr lang="en-US" sz="1900" dirty="0"/>
          </a:p>
        </p:txBody>
      </p:sp>
      <p:sp>
        <p:nvSpPr>
          <p:cNvPr id="5" name="Shape 3"/>
          <p:cNvSpPr/>
          <p:nvPr/>
        </p:nvSpPr>
        <p:spPr>
          <a:xfrm>
            <a:off x="0" y="4828032"/>
            <a:ext cx="9144000" cy="315468"/>
          </a:xfrm>
          <a:prstGeom prst="rect">
            <a:avLst/>
          </a:prstGeom>
          <a:solidFill>
            <a:srgbClr val="0D0D0D"/>
          </a:solidFill>
          <a:ln w="12700">
            <a:solidFill>
              <a:srgbClr val="0D0D0D"/>
            </a:solidFill>
            <a:prstDash val="solid"/>
          </a:ln>
        </p:spPr>
      </p:sp>
      <p:sp>
        <p:nvSpPr>
          <p:cNvPr id="6" name="Text 4"/>
          <p:cNvSpPr/>
          <p:nvPr/>
        </p:nvSpPr>
        <p:spPr>
          <a:xfrm>
            <a:off x="182880" y="4855464"/>
            <a:ext cx="7315200" cy="228600"/>
          </a:xfrm>
          <a:prstGeom prst="rect">
            <a:avLst/>
          </a:prstGeom>
          <a:noFill/>
          <a:ln/>
        </p:spPr>
        <p:txBody>
          <a:bodyPr wrap="square" lIns="0" tIns="0" rIns="0" bIns="0" rtlCol="0" anchor="ctr"/>
          <a:lstStyle/>
          <a:p>
            <a:pPr marL="0" indent="0">
              <a:buNone/>
            </a:pPr>
            <a:r>
              <a:rPr lang="en-US" sz="850" dirty="0">
                <a:solidFill>
                  <a:srgbClr val="999999"/>
                </a:solidFill>
                <a:latin typeface="Calibri" pitchFamily="34" charset="0"/>
                <a:ea typeface="Calibri" pitchFamily="34" charset="-122"/>
                <a:cs typeface="Calibri" pitchFamily="34" charset="-120"/>
              </a:rPr>
              <a:t>Quality Engineering | Test Case Development in STLC</a:t>
            </a:r>
            <a:endParaRPr lang="en-US" sz="850" dirty="0"/>
          </a:p>
        </p:txBody>
      </p:sp>
      <p:sp>
        <p:nvSpPr>
          <p:cNvPr id="7" name="Text 5"/>
          <p:cNvSpPr/>
          <p:nvPr/>
        </p:nvSpPr>
        <p:spPr>
          <a:xfrm>
            <a:off x="7406640" y="4855464"/>
            <a:ext cx="1554480" cy="228600"/>
          </a:xfrm>
          <a:prstGeom prst="rect">
            <a:avLst/>
          </a:prstGeom>
          <a:noFill/>
          <a:ln/>
        </p:spPr>
        <p:txBody>
          <a:bodyPr wrap="square" lIns="0" tIns="0" rIns="0" bIns="0" rtlCol="0" anchor="ctr"/>
          <a:lstStyle/>
          <a:p>
            <a:pPr marL="0" indent="0" algn="r">
              <a:buNone/>
            </a:pPr>
            <a:r>
              <a:rPr lang="en-US" sz="850" b="1" dirty="0">
                <a:solidFill>
                  <a:srgbClr val="FF6500"/>
                </a:solidFill>
                <a:latin typeface="Calibri" pitchFamily="34" charset="0"/>
                <a:ea typeface="Calibri" pitchFamily="34" charset="-122"/>
                <a:cs typeface="Calibri" pitchFamily="34" charset="-120"/>
              </a:rPr>
              <a:t>INTERNAL TRAINING</a:t>
            </a:r>
            <a:endParaRPr lang="en-US" sz="85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228600" y="777240"/>
          <a:ext cx="8686800" cy="3983228"/>
        </p:xfrm>
        <a:graphic>
          <a:graphicData uri="http://schemas.openxmlformats.org/drawingml/2006/table">
            <a:tbl>
              <a:tblPr/>
              <a:tblGrid>
                <a:gridCol w="1828800">
                  <a:extLst>
                    <a:ext uri="{9D8B030D-6E8A-4147-A177-3AD203B41FA5}">
                      <a16:colId xmlns:a16="http://schemas.microsoft.com/office/drawing/2014/main" val="20000"/>
                    </a:ext>
                  </a:extLst>
                </a:gridCol>
                <a:gridCol w="3401568">
                  <a:extLst>
                    <a:ext uri="{9D8B030D-6E8A-4147-A177-3AD203B41FA5}">
                      <a16:colId xmlns:a16="http://schemas.microsoft.com/office/drawing/2014/main" val="20001"/>
                    </a:ext>
                  </a:extLst>
                </a:gridCol>
                <a:gridCol w="3456432">
                  <a:extLst>
                    <a:ext uri="{9D8B030D-6E8A-4147-A177-3AD203B41FA5}">
                      <a16:colId xmlns:a16="http://schemas.microsoft.com/office/drawing/2014/main" val="20002"/>
                    </a:ext>
                  </a:extLst>
                </a:gridCol>
              </a:tblGrid>
              <a:tr h="566928">
                <a:tc>
                  <a:txBody>
                    <a:bodyPr/>
                    <a:lstStyle/>
                    <a:p>
                      <a:pPr marL="0" indent="0">
                        <a:buNone/>
                      </a:pPr>
                      <a:r>
                        <a:rPr lang="en-US" sz="1200" b="1" dirty="0">
                          <a:solidFill>
                            <a:srgbClr val="FF6500"/>
                          </a:solidFill>
                          <a:latin typeface="Arial" pitchFamily="34" charset="0"/>
                          <a:ea typeface="Arial" pitchFamily="34" charset="-122"/>
                          <a:cs typeface="Arial" pitchFamily="34" charset="-120"/>
                        </a:rPr>
                        <a:t>Attribute</a:t>
                      </a:r>
                      <a:endParaRPr lang="en-US" sz="1200" dirty="0">
                        <a:latin typeface="Arial" charset="0"/>
                        <a:ea typeface="Arial" charset="0"/>
                        <a:cs typeface="Arial" charset="0"/>
                      </a:endParaRPr>
                    </a:p>
                  </a:txBody>
                  <a:tcPr marL="50800" marR="50800" marT="50800" marB="50800">
                    <a:lnL w="12700" cap="flat" cmpd="sng" algn="ctr">
                      <a:solidFill>
                        <a:srgbClr val="DEDEDE"/>
                      </a:solidFill>
                      <a:prstDash val="solid"/>
                      <a:round/>
                      <a:headEnd type="none" w="med" len="med"/>
                      <a:tailEnd type="none" w="med" len="med"/>
                    </a:lnL>
                    <a:lnR w="12700" cap="flat" cmpd="sng" algn="ctr">
                      <a:solidFill>
                        <a:srgbClr val="DEDEDE"/>
                      </a:solidFill>
                      <a:prstDash val="solid"/>
                      <a:round/>
                      <a:headEnd type="none" w="med" len="med"/>
                      <a:tailEnd type="none" w="med" len="med"/>
                    </a:lnR>
                    <a:lnT w="12700" cap="flat" cmpd="sng" algn="ctr">
                      <a:solidFill>
                        <a:srgbClr val="DEDEDE"/>
                      </a:solidFill>
                      <a:prstDash val="solid"/>
                      <a:round/>
                      <a:headEnd type="none" w="med" len="med"/>
                      <a:tailEnd type="none" w="med" len="med"/>
                    </a:lnT>
                    <a:lnB w="12700" cap="flat" cmpd="sng" algn="ctr">
                      <a:solidFill>
                        <a:srgbClr val="DEDEDE"/>
                      </a:solidFill>
                      <a:prstDash val="solid"/>
                      <a:round/>
                      <a:headEnd type="none" w="med" len="med"/>
                      <a:tailEnd type="none" w="med" len="med"/>
                    </a:lnB>
                    <a:solidFill>
                      <a:srgbClr val="0D0D0D"/>
                    </a:solidFill>
                  </a:tcPr>
                </a:tc>
                <a:tc>
                  <a:txBody>
                    <a:bodyPr/>
                    <a:lstStyle/>
                    <a:p>
                      <a:pPr marL="0" indent="0">
                        <a:buNone/>
                      </a:pPr>
                      <a:r>
                        <a:rPr lang="en-US" sz="1200" b="1" dirty="0">
                          <a:solidFill>
                            <a:srgbClr val="FF6500"/>
                          </a:solidFill>
                          <a:latin typeface="Arial" pitchFamily="34" charset="0"/>
                          <a:ea typeface="Arial" pitchFamily="34" charset="-122"/>
                          <a:cs typeface="Arial" pitchFamily="34" charset="-120"/>
                        </a:rPr>
                        <a:t>Functional Requirement</a:t>
                      </a:r>
                      <a:endParaRPr lang="en-US" sz="1200" dirty="0">
                        <a:latin typeface="Arial" charset="0"/>
                        <a:ea typeface="Arial" charset="0"/>
                        <a:cs typeface="Arial" charset="0"/>
                      </a:endParaRPr>
                    </a:p>
                  </a:txBody>
                  <a:tcPr marL="50800" marR="50800" marT="50800" marB="50800">
                    <a:lnL w="12700" cap="flat" cmpd="sng" algn="ctr">
                      <a:solidFill>
                        <a:srgbClr val="DEDEDE"/>
                      </a:solidFill>
                      <a:prstDash val="solid"/>
                      <a:round/>
                      <a:headEnd type="none" w="med" len="med"/>
                      <a:tailEnd type="none" w="med" len="med"/>
                    </a:lnL>
                    <a:lnR w="12700" cap="flat" cmpd="sng" algn="ctr">
                      <a:solidFill>
                        <a:srgbClr val="DEDEDE"/>
                      </a:solidFill>
                      <a:prstDash val="solid"/>
                      <a:round/>
                      <a:headEnd type="none" w="med" len="med"/>
                      <a:tailEnd type="none" w="med" len="med"/>
                    </a:lnR>
                    <a:lnT w="12700" cap="flat" cmpd="sng" algn="ctr">
                      <a:solidFill>
                        <a:srgbClr val="DEDEDE"/>
                      </a:solidFill>
                      <a:prstDash val="solid"/>
                      <a:round/>
                      <a:headEnd type="none" w="med" len="med"/>
                      <a:tailEnd type="none" w="med" len="med"/>
                    </a:lnT>
                    <a:lnB w="12700" cap="flat" cmpd="sng" algn="ctr">
                      <a:solidFill>
                        <a:srgbClr val="DEDEDE"/>
                      </a:solidFill>
                      <a:prstDash val="solid"/>
                      <a:round/>
                      <a:headEnd type="none" w="med" len="med"/>
                      <a:tailEnd type="none" w="med" len="med"/>
                    </a:lnB>
                    <a:solidFill>
                      <a:srgbClr val="0D0D0D"/>
                    </a:solidFill>
                  </a:tcPr>
                </a:tc>
                <a:tc>
                  <a:txBody>
                    <a:bodyPr/>
                    <a:lstStyle/>
                    <a:p>
                      <a:pPr marL="0" indent="0">
                        <a:buNone/>
                      </a:pPr>
                      <a:r>
                        <a:rPr lang="en-US" sz="1200" b="1" dirty="0">
                          <a:solidFill>
                            <a:srgbClr val="FF6500"/>
                          </a:solidFill>
                          <a:latin typeface="Arial" pitchFamily="34" charset="0"/>
                          <a:ea typeface="Arial" pitchFamily="34" charset="-122"/>
                          <a:cs typeface="Arial" pitchFamily="34" charset="-120"/>
                        </a:rPr>
                        <a:t>Non-Functional Requirement</a:t>
                      </a:r>
                      <a:endParaRPr lang="en-US" sz="1200" dirty="0">
                        <a:latin typeface="Arial" charset="0"/>
                        <a:ea typeface="Arial" charset="0"/>
                        <a:cs typeface="Arial" charset="0"/>
                      </a:endParaRPr>
                    </a:p>
                  </a:txBody>
                  <a:tcPr marL="50800" marR="50800" marT="50800" marB="50800">
                    <a:lnL w="12700" cap="flat" cmpd="sng" algn="ctr">
                      <a:solidFill>
                        <a:srgbClr val="DEDEDE"/>
                      </a:solidFill>
                      <a:prstDash val="solid"/>
                      <a:round/>
                      <a:headEnd type="none" w="med" len="med"/>
                      <a:tailEnd type="none" w="med" len="med"/>
                    </a:lnL>
                    <a:lnR w="12700" cap="flat" cmpd="sng" algn="ctr">
                      <a:solidFill>
                        <a:srgbClr val="DEDEDE"/>
                      </a:solidFill>
                      <a:prstDash val="solid"/>
                      <a:round/>
                      <a:headEnd type="none" w="med" len="med"/>
                      <a:tailEnd type="none" w="med" len="med"/>
                    </a:lnR>
                    <a:lnT w="12700" cap="flat" cmpd="sng" algn="ctr">
                      <a:solidFill>
                        <a:srgbClr val="DEDEDE"/>
                      </a:solidFill>
                      <a:prstDash val="solid"/>
                      <a:round/>
                      <a:headEnd type="none" w="med" len="med"/>
                      <a:tailEnd type="none" w="med" len="med"/>
                    </a:lnT>
                    <a:lnB w="12700" cap="flat" cmpd="sng" algn="ctr">
                      <a:solidFill>
                        <a:srgbClr val="DEDEDE"/>
                      </a:solidFill>
                      <a:prstDash val="solid"/>
                      <a:round/>
                      <a:headEnd type="none" w="med" len="med"/>
                      <a:tailEnd type="none" w="med" len="med"/>
                    </a:lnB>
                    <a:solidFill>
                      <a:srgbClr val="0D0D0D"/>
                    </a:solidFill>
                  </a:tcPr>
                </a:tc>
                <a:extLst>
                  <a:ext uri="{0D108BD9-81ED-4DB2-BD59-A6C34878D82A}">
                    <a16:rowId xmlns:a16="http://schemas.microsoft.com/office/drawing/2014/main" val="10000"/>
                  </a:ext>
                </a:extLst>
              </a:tr>
              <a:tr h="566928">
                <a:tc>
                  <a:txBody>
                    <a:bodyPr/>
                    <a:lstStyle/>
                    <a:p>
                      <a:pPr marL="0" indent="0">
                        <a:buNone/>
                      </a:pPr>
                      <a:r>
                        <a:rPr lang="en-US" sz="1050" dirty="0">
                          <a:solidFill>
                            <a:srgbClr val="2C2C2C"/>
                          </a:solidFill>
                          <a:latin typeface="Calibri" pitchFamily="34" charset="0"/>
                          <a:ea typeface="Calibri" pitchFamily="34" charset="-122"/>
                          <a:cs typeface="Calibri" pitchFamily="34" charset="-120"/>
                        </a:rPr>
                        <a:t>Definition</a:t>
                      </a:r>
                      <a:endParaRPr lang="en-US" sz="1050" dirty="0">
                        <a:latin typeface="Calibri" charset="0"/>
                        <a:ea typeface="Calibri" charset="0"/>
                        <a:cs typeface="Calibri" charset="0"/>
                      </a:endParaRPr>
                    </a:p>
                  </a:txBody>
                  <a:tcPr marL="50800" marR="50800" marT="50800" marB="50800" anchor="ctr">
                    <a:lnL w="12700" cap="flat" cmpd="sng" algn="ctr">
                      <a:solidFill>
                        <a:srgbClr val="DEDEDE"/>
                      </a:solidFill>
                      <a:prstDash val="solid"/>
                      <a:round/>
                      <a:headEnd type="none" w="med" len="med"/>
                      <a:tailEnd type="none" w="med" len="med"/>
                    </a:lnL>
                    <a:lnR w="12700" cap="flat" cmpd="sng" algn="ctr">
                      <a:solidFill>
                        <a:srgbClr val="DEDEDE"/>
                      </a:solidFill>
                      <a:prstDash val="solid"/>
                      <a:round/>
                      <a:headEnd type="none" w="med" len="med"/>
                      <a:tailEnd type="none" w="med" len="med"/>
                    </a:lnR>
                    <a:lnT w="12700" cap="flat" cmpd="sng" algn="ctr">
                      <a:solidFill>
                        <a:srgbClr val="DEDEDE"/>
                      </a:solidFill>
                      <a:prstDash val="solid"/>
                      <a:round/>
                      <a:headEnd type="none" w="med" len="med"/>
                      <a:tailEnd type="none" w="med" len="med"/>
                    </a:lnT>
                    <a:lnB w="12700" cap="flat" cmpd="sng" algn="ctr">
                      <a:solidFill>
                        <a:srgbClr val="DEDEDE"/>
                      </a:solidFill>
                      <a:prstDash val="solid"/>
                      <a:round/>
                      <a:headEnd type="none" w="med" len="med"/>
                      <a:tailEnd type="none" w="med" len="med"/>
                    </a:lnB>
                    <a:solidFill>
                      <a:srgbClr val="FFFFFF"/>
                    </a:solidFill>
                  </a:tcPr>
                </a:tc>
                <a:tc>
                  <a:txBody>
                    <a:bodyPr/>
                    <a:lstStyle/>
                    <a:p>
                      <a:pPr marL="0" indent="0">
                        <a:buNone/>
                      </a:pPr>
                      <a:r>
                        <a:rPr lang="en-US" sz="1050" dirty="0">
                          <a:solidFill>
                            <a:srgbClr val="2C2C2C"/>
                          </a:solidFill>
                          <a:latin typeface="Calibri" pitchFamily="34" charset="0"/>
                          <a:ea typeface="Calibri" pitchFamily="34" charset="-122"/>
                          <a:cs typeface="Calibri" pitchFamily="34" charset="-120"/>
                        </a:rPr>
                        <a:t>Describes WHAT the system does</a:t>
                      </a:r>
                      <a:endParaRPr lang="en-US" sz="1050" dirty="0">
                        <a:latin typeface="Calibri" charset="0"/>
                        <a:ea typeface="Calibri" charset="0"/>
                        <a:cs typeface="Calibri" charset="0"/>
                      </a:endParaRPr>
                    </a:p>
                  </a:txBody>
                  <a:tcPr marL="50800" marR="50800" marT="50800" marB="50800" anchor="ctr">
                    <a:lnL w="12700" cap="flat" cmpd="sng" algn="ctr">
                      <a:solidFill>
                        <a:srgbClr val="DEDEDE"/>
                      </a:solidFill>
                      <a:prstDash val="solid"/>
                      <a:round/>
                      <a:headEnd type="none" w="med" len="med"/>
                      <a:tailEnd type="none" w="med" len="med"/>
                    </a:lnL>
                    <a:lnR w="12700" cap="flat" cmpd="sng" algn="ctr">
                      <a:solidFill>
                        <a:srgbClr val="DEDEDE"/>
                      </a:solidFill>
                      <a:prstDash val="solid"/>
                      <a:round/>
                      <a:headEnd type="none" w="med" len="med"/>
                      <a:tailEnd type="none" w="med" len="med"/>
                    </a:lnR>
                    <a:lnT w="12700" cap="flat" cmpd="sng" algn="ctr">
                      <a:solidFill>
                        <a:srgbClr val="DEDEDE"/>
                      </a:solidFill>
                      <a:prstDash val="solid"/>
                      <a:round/>
                      <a:headEnd type="none" w="med" len="med"/>
                      <a:tailEnd type="none" w="med" len="med"/>
                    </a:lnT>
                    <a:lnB w="12700" cap="flat" cmpd="sng" algn="ctr">
                      <a:solidFill>
                        <a:srgbClr val="DEDEDE"/>
                      </a:solidFill>
                      <a:prstDash val="solid"/>
                      <a:round/>
                      <a:headEnd type="none" w="med" len="med"/>
                      <a:tailEnd type="none" w="med" len="med"/>
                    </a:lnB>
                    <a:solidFill>
                      <a:srgbClr val="FFFFFF"/>
                    </a:solidFill>
                  </a:tcPr>
                </a:tc>
                <a:tc>
                  <a:txBody>
                    <a:bodyPr/>
                    <a:lstStyle/>
                    <a:p>
                      <a:pPr marL="0" indent="0">
                        <a:buNone/>
                      </a:pPr>
                      <a:r>
                        <a:rPr lang="en-US" sz="1050" dirty="0">
                          <a:solidFill>
                            <a:srgbClr val="2C2C2C"/>
                          </a:solidFill>
                          <a:latin typeface="Calibri" pitchFamily="34" charset="0"/>
                          <a:ea typeface="Calibri" pitchFamily="34" charset="-122"/>
                          <a:cs typeface="Calibri" pitchFamily="34" charset="-120"/>
                        </a:rPr>
                        <a:t>Describes HOW WELL the system does it</a:t>
                      </a:r>
                      <a:endParaRPr lang="en-US" sz="1050" dirty="0">
                        <a:latin typeface="Calibri" charset="0"/>
                        <a:ea typeface="Calibri" charset="0"/>
                        <a:cs typeface="Calibri" charset="0"/>
                      </a:endParaRPr>
                    </a:p>
                  </a:txBody>
                  <a:tcPr marL="50800" marR="50800" marT="50800" marB="50800" anchor="ctr">
                    <a:lnL w="12700" cap="flat" cmpd="sng" algn="ctr">
                      <a:solidFill>
                        <a:srgbClr val="DEDEDE"/>
                      </a:solidFill>
                      <a:prstDash val="solid"/>
                      <a:round/>
                      <a:headEnd type="none" w="med" len="med"/>
                      <a:tailEnd type="none" w="med" len="med"/>
                    </a:lnL>
                    <a:lnR w="12700" cap="flat" cmpd="sng" algn="ctr">
                      <a:solidFill>
                        <a:srgbClr val="DEDEDE"/>
                      </a:solidFill>
                      <a:prstDash val="solid"/>
                      <a:round/>
                      <a:headEnd type="none" w="med" len="med"/>
                      <a:tailEnd type="none" w="med" len="med"/>
                    </a:lnR>
                    <a:lnT w="12700" cap="flat" cmpd="sng" algn="ctr">
                      <a:solidFill>
                        <a:srgbClr val="DEDEDE"/>
                      </a:solidFill>
                      <a:prstDash val="solid"/>
                      <a:round/>
                      <a:headEnd type="none" w="med" len="med"/>
                      <a:tailEnd type="none" w="med" len="med"/>
                    </a:lnT>
                    <a:lnB w="12700" cap="flat" cmpd="sng" algn="ctr">
                      <a:solidFill>
                        <a:srgbClr val="DEDEDE"/>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66928">
                <a:tc>
                  <a:txBody>
                    <a:bodyPr/>
                    <a:lstStyle/>
                    <a:p>
                      <a:pPr marL="0" indent="0">
                        <a:buNone/>
                      </a:pPr>
                      <a:r>
                        <a:rPr lang="en-US" sz="1050" dirty="0">
                          <a:solidFill>
                            <a:srgbClr val="2C2C2C"/>
                          </a:solidFill>
                          <a:latin typeface="Calibri" pitchFamily="34" charset="0"/>
                          <a:ea typeface="Calibri" pitchFamily="34" charset="-122"/>
                          <a:cs typeface="Calibri" pitchFamily="34" charset="-120"/>
                        </a:rPr>
                        <a:t>Focus</a:t>
                      </a:r>
                      <a:endParaRPr lang="en-US" sz="1050" dirty="0">
                        <a:latin typeface="Calibri" charset="0"/>
                        <a:ea typeface="Calibri" charset="0"/>
                        <a:cs typeface="Calibri" charset="0"/>
                      </a:endParaRPr>
                    </a:p>
                  </a:txBody>
                  <a:tcPr marL="50800" marR="50800" marT="50800" marB="50800" anchor="ctr">
                    <a:lnL w="12700" cap="flat" cmpd="sng" algn="ctr">
                      <a:solidFill>
                        <a:srgbClr val="DEDEDE"/>
                      </a:solidFill>
                      <a:prstDash val="solid"/>
                      <a:round/>
                      <a:headEnd type="none" w="med" len="med"/>
                      <a:tailEnd type="none" w="med" len="med"/>
                    </a:lnL>
                    <a:lnR w="12700" cap="flat" cmpd="sng" algn="ctr">
                      <a:solidFill>
                        <a:srgbClr val="DEDEDE"/>
                      </a:solidFill>
                      <a:prstDash val="solid"/>
                      <a:round/>
                      <a:headEnd type="none" w="med" len="med"/>
                      <a:tailEnd type="none" w="med" len="med"/>
                    </a:lnR>
                    <a:lnT w="12700" cap="flat" cmpd="sng" algn="ctr">
                      <a:solidFill>
                        <a:srgbClr val="DEDEDE"/>
                      </a:solidFill>
                      <a:prstDash val="solid"/>
                      <a:round/>
                      <a:headEnd type="none" w="med" len="med"/>
                      <a:tailEnd type="none" w="med" len="med"/>
                    </a:lnT>
                    <a:lnB w="12700" cap="flat" cmpd="sng" algn="ctr">
                      <a:solidFill>
                        <a:srgbClr val="DEDEDE"/>
                      </a:solidFill>
                      <a:prstDash val="solid"/>
                      <a:round/>
                      <a:headEnd type="none" w="med" len="med"/>
                      <a:tailEnd type="none" w="med" len="med"/>
                    </a:lnB>
                    <a:solidFill>
                      <a:srgbClr val="F0F0F0"/>
                    </a:solidFill>
                  </a:tcPr>
                </a:tc>
                <a:tc>
                  <a:txBody>
                    <a:bodyPr/>
                    <a:lstStyle/>
                    <a:p>
                      <a:pPr marL="0" indent="0">
                        <a:buNone/>
                      </a:pPr>
                      <a:r>
                        <a:rPr lang="en-US" sz="1050" dirty="0">
                          <a:solidFill>
                            <a:srgbClr val="2C2C2C"/>
                          </a:solidFill>
                          <a:latin typeface="Calibri" pitchFamily="34" charset="0"/>
                          <a:ea typeface="Calibri" pitchFamily="34" charset="-122"/>
                          <a:cs typeface="Calibri" pitchFamily="34" charset="-120"/>
                        </a:rPr>
                        <a:t>Features, functions, and behaviour</a:t>
                      </a:r>
                      <a:endParaRPr lang="en-US" sz="1050" dirty="0">
                        <a:latin typeface="Calibri" charset="0"/>
                        <a:ea typeface="Calibri" charset="0"/>
                        <a:cs typeface="Calibri" charset="0"/>
                      </a:endParaRPr>
                    </a:p>
                  </a:txBody>
                  <a:tcPr marL="50800" marR="50800" marT="50800" marB="50800" anchor="ctr">
                    <a:lnL w="12700" cap="flat" cmpd="sng" algn="ctr">
                      <a:solidFill>
                        <a:srgbClr val="DEDEDE"/>
                      </a:solidFill>
                      <a:prstDash val="solid"/>
                      <a:round/>
                      <a:headEnd type="none" w="med" len="med"/>
                      <a:tailEnd type="none" w="med" len="med"/>
                    </a:lnL>
                    <a:lnR w="12700" cap="flat" cmpd="sng" algn="ctr">
                      <a:solidFill>
                        <a:srgbClr val="DEDEDE"/>
                      </a:solidFill>
                      <a:prstDash val="solid"/>
                      <a:round/>
                      <a:headEnd type="none" w="med" len="med"/>
                      <a:tailEnd type="none" w="med" len="med"/>
                    </a:lnR>
                    <a:lnT w="12700" cap="flat" cmpd="sng" algn="ctr">
                      <a:solidFill>
                        <a:srgbClr val="DEDEDE"/>
                      </a:solidFill>
                      <a:prstDash val="solid"/>
                      <a:round/>
                      <a:headEnd type="none" w="med" len="med"/>
                      <a:tailEnd type="none" w="med" len="med"/>
                    </a:lnT>
                    <a:lnB w="12700" cap="flat" cmpd="sng" algn="ctr">
                      <a:solidFill>
                        <a:srgbClr val="DEDEDE"/>
                      </a:solidFill>
                      <a:prstDash val="solid"/>
                      <a:round/>
                      <a:headEnd type="none" w="med" len="med"/>
                      <a:tailEnd type="none" w="med" len="med"/>
                    </a:lnB>
                    <a:solidFill>
                      <a:srgbClr val="F0F0F0"/>
                    </a:solidFill>
                  </a:tcPr>
                </a:tc>
                <a:tc>
                  <a:txBody>
                    <a:bodyPr/>
                    <a:lstStyle/>
                    <a:p>
                      <a:pPr marL="0" indent="0">
                        <a:buNone/>
                      </a:pPr>
                      <a:r>
                        <a:rPr lang="en-US" sz="1050" dirty="0">
                          <a:solidFill>
                            <a:srgbClr val="2C2C2C"/>
                          </a:solidFill>
                          <a:latin typeface="Calibri" pitchFamily="34" charset="0"/>
                          <a:ea typeface="Calibri" pitchFamily="34" charset="-122"/>
                          <a:cs typeface="Calibri" pitchFamily="34" charset="-120"/>
                        </a:rPr>
                        <a:t>Performance, security, usability, reliability</a:t>
                      </a:r>
                      <a:endParaRPr lang="en-US" sz="1050" dirty="0">
                        <a:latin typeface="Calibri" charset="0"/>
                        <a:ea typeface="Calibri" charset="0"/>
                        <a:cs typeface="Calibri" charset="0"/>
                      </a:endParaRPr>
                    </a:p>
                  </a:txBody>
                  <a:tcPr marL="50800" marR="50800" marT="50800" marB="50800" anchor="ctr">
                    <a:lnL w="12700" cap="flat" cmpd="sng" algn="ctr">
                      <a:solidFill>
                        <a:srgbClr val="DEDEDE"/>
                      </a:solidFill>
                      <a:prstDash val="solid"/>
                      <a:round/>
                      <a:headEnd type="none" w="med" len="med"/>
                      <a:tailEnd type="none" w="med" len="med"/>
                    </a:lnL>
                    <a:lnR w="12700" cap="flat" cmpd="sng" algn="ctr">
                      <a:solidFill>
                        <a:srgbClr val="DEDEDE"/>
                      </a:solidFill>
                      <a:prstDash val="solid"/>
                      <a:round/>
                      <a:headEnd type="none" w="med" len="med"/>
                      <a:tailEnd type="none" w="med" len="med"/>
                    </a:lnR>
                    <a:lnT w="12700" cap="flat" cmpd="sng" algn="ctr">
                      <a:solidFill>
                        <a:srgbClr val="DEDEDE"/>
                      </a:solidFill>
                      <a:prstDash val="solid"/>
                      <a:round/>
                      <a:headEnd type="none" w="med" len="med"/>
                      <a:tailEnd type="none" w="med" len="med"/>
                    </a:lnT>
                    <a:lnB w="12700" cap="flat" cmpd="sng" algn="ctr">
                      <a:solidFill>
                        <a:srgbClr val="DEDEDE"/>
                      </a:solidFill>
                      <a:prstDash val="solid"/>
                      <a:round/>
                      <a:headEnd type="none" w="med" len="med"/>
                      <a:tailEnd type="none" w="med" len="med"/>
                    </a:lnB>
                    <a:solidFill>
                      <a:srgbClr val="F0F0F0"/>
                    </a:solidFill>
                  </a:tcPr>
                </a:tc>
                <a:extLst>
                  <a:ext uri="{0D108BD9-81ED-4DB2-BD59-A6C34878D82A}">
                    <a16:rowId xmlns:a16="http://schemas.microsoft.com/office/drawing/2014/main" val="10002"/>
                  </a:ext>
                </a:extLst>
              </a:tr>
              <a:tr h="566928">
                <a:tc>
                  <a:txBody>
                    <a:bodyPr/>
                    <a:lstStyle/>
                    <a:p>
                      <a:pPr marL="0" indent="0">
                        <a:buNone/>
                      </a:pPr>
                      <a:r>
                        <a:rPr lang="en-US" sz="1050" dirty="0">
                          <a:solidFill>
                            <a:srgbClr val="2C2C2C"/>
                          </a:solidFill>
                          <a:latin typeface="Calibri" pitchFamily="34" charset="0"/>
                          <a:ea typeface="Calibri" pitchFamily="34" charset="-122"/>
                          <a:cs typeface="Calibri" pitchFamily="34" charset="-120"/>
                        </a:rPr>
                        <a:t>Examples</a:t>
                      </a:r>
                      <a:endParaRPr lang="en-US" sz="1050" dirty="0">
                        <a:latin typeface="Calibri" charset="0"/>
                        <a:ea typeface="Calibri" charset="0"/>
                        <a:cs typeface="Calibri" charset="0"/>
                      </a:endParaRPr>
                    </a:p>
                  </a:txBody>
                  <a:tcPr marL="50800" marR="50800" marT="50800" marB="50800" anchor="ctr">
                    <a:lnL w="12700" cap="flat" cmpd="sng" algn="ctr">
                      <a:solidFill>
                        <a:srgbClr val="DEDEDE"/>
                      </a:solidFill>
                      <a:prstDash val="solid"/>
                      <a:round/>
                      <a:headEnd type="none" w="med" len="med"/>
                      <a:tailEnd type="none" w="med" len="med"/>
                    </a:lnL>
                    <a:lnR w="12700" cap="flat" cmpd="sng" algn="ctr">
                      <a:solidFill>
                        <a:srgbClr val="DEDEDE"/>
                      </a:solidFill>
                      <a:prstDash val="solid"/>
                      <a:round/>
                      <a:headEnd type="none" w="med" len="med"/>
                      <a:tailEnd type="none" w="med" len="med"/>
                    </a:lnR>
                    <a:lnT w="12700" cap="flat" cmpd="sng" algn="ctr">
                      <a:solidFill>
                        <a:srgbClr val="DEDEDE"/>
                      </a:solidFill>
                      <a:prstDash val="solid"/>
                      <a:round/>
                      <a:headEnd type="none" w="med" len="med"/>
                      <a:tailEnd type="none" w="med" len="med"/>
                    </a:lnT>
                    <a:lnB w="12700" cap="flat" cmpd="sng" algn="ctr">
                      <a:solidFill>
                        <a:srgbClr val="DEDEDE"/>
                      </a:solidFill>
                      <a:prstDash val="solid"/>
                      <a:round/>
                      <a:headEnd type="none" w="med" len="med"/>
                      <a:tailEnd type="none" w="med" len="med"/>
                    </a:lnB>
                    <a:solidFill>
                      <a:srgbClr val="FFFFFF"/>
                    </a:solidFill>
                  </a:tcPr>
                </a:tc>
                <a:tc>
                  <a:txBody>
                    <a:bodyPr/>
                    <a:lstStyle/>
                    <a:p>
                      <a:pPr marL="0" indent="0">
                        <a:buNone/>
                      </a:pPr>
                      <a:r>
                        <a:rPr lang="en-US" sz="1050" dirty="0">
                          <a:solidFill>
                            <a:srgbClr val="2C2C2C"/>
                          </a:solidFill>
                          <a:latin typeface="Calibri" pitchFamily="34" charset="0"/>
                          <a:ea typeface="Calibri" pitchFamily="34" charset="-122"/>
                          <a:cs typeface="Calibri" pitchFamily="34" charset="-120"/>
                        </a:rPr>
                        <a:t>User can log in with valid credentials</a:t>
                      </a:r>
                      <a:endParaRPr lang="en-US" sz="1050" dirty="0">
                        <a:latin typeface="Calibri" charset="0"/>
                        <a:ea typeface="Calibri" charset="0"/>
                        <a:cs typeface="Calibri" charset="0"/>
                      </a:endParaRPr>
                    </a:p>
                    <a:p>
                      <a:pPr marL="0" indent="0">
                        <a:buNone/>
                      </a:pPr>
                      <a:r>
                        <a:rPr lang="en-US" sz="1050" dirty="0">
                          <a:solidFill>
                            <a:srgbClr val="2C2C2C"/>
                          </a:solidFill>
                          <a:latin typeface="Calibri" pitchFamily="34" charset="0"/>
                          <a:ea typeface="Calibri" pitchFamily="34" charset="-122"/>
                          <a:cs typeface="Calibri" pitchFamily="34" charset="-120"/>
                        </a:rPr>
                        <a:t>Form validates required fields</a:t>
                      </a:r>
                      <a:endParaRPr lang="en-US" sz="1050" dirty="0">
                        <a:latin typeface="Calibri" charset="0"/>
                        <a:ea typeface="Calibri" charset="0"/>
                        <a:cs typeface="Calibri" charset="0"/>
                      </a:endParaRPr>
                    </a:p>
                    <a:p>
                      <a:pPr marL="0" indent="0">
                        <a:buNone/>
                      </a:pPr>
                      <a:r>
                        <a:rPr lang="en-US" sz="1050" dirty="0">
                          <a:solidFill>
                            <a:srgbClr val="2C2C2C"/>
                          </a:solidFill>
                          <a:latin typeface="Calibri" pitchFamily="34" charset="0"/>
                          <a:ea typeface="Calibri" pitchFamily="34" charset="-122"/>
                          <a:cs typeface="Calibri" pitchFamily="34" charset="-120"/>
                        </a:rPr>
                        <a:t>System sends confirmation email</a:t>
                      </a:r>
                      <a:endParaRPr lang="en-US" sz="1050" dirty="0">
                        <a:latin typeface="Calibri" charset="0"/>
                        <a:ea typeface="Calibri" charset="0"/>
                        <a:cs typeface="Calibri" charset="0"/>
                      </a:endParaRPr>
                    </a:p>
                  </a:txBody>
                  <a:tcPr marL="50800" marR="50800" marT="50800" marB="50800" anchor="ctr">
                    <a:lnL w="12700" cap="flat" cmpd="sng" algn="ctr">
                      <a:solidFill>
                        <a:srgbClr val="DEDEDE"/>
                      </a:solidFill>
                      <a:prstDash val="solid"/>
                      <a:round/>
                      <a:headEnd type="none" w="med" len="med"/>
                      <a:tailEnd type="none" w="med" len="med"/>
                    </a:lnL>
                    <a:lnR w="12700" cap="flat" cmpd="sng" algn="ctr">
                      <a:solidFill>
                        <a:srgbClr val="DEDEDE"/>
                      </a:solidFill>
                      <a:prstDash val="solid"/>
                      <a:round/>
                      <a:headEnd type="none" w="med" len="med"/>
                      <a:tailEnd type="none" w="med" len="med"/>
                    </a:lnR>
                    <a:lnT w="12700" cap="flat" cmpd="sng" algn="ctr">
                      <a:solidFill>
                        <a:srgbClr val="DEDEDE"/>
                      </a:solidFill>
                      <a:prstDash val="solid"/>
                      <a:round/>
                      <a:headEnd type="none" w="med" len="med"/>
                      <a:tailEnd type="none" w="med" len="med"/>
                    </a:lnT>
                    <a:lnB w="12700" cap="flat" cmpd="sng" algn="ctr">
                      <a:solidFill>
                        <a:srgbClr val="DEDEDE"/>
                      </a:solidFill>
                      <a:prstDash val="solid"/>
                      <a:round/>
                      <a:headEnd type="none" w="med" len="med"/>
                      <a:tailEnd type="none" w="med" len="med"/>
                    </a:lnB>
                    <a:solidFill>
                      <a:srgbClr val="FFFFFF"/>
                    </a:solidFill>
                  </a:tcPr>
                </a:tc>
                <a:tc>
                  <a:txBody>
                    <a:bodyPr/>
                    <a:lstStyle/>
                    <a:p>
                      <a:pPr marL="0" indent="0">
                        <a:buNone/>
                      </a:pPr>
                      <a:r>
                        <a:rPr lang="en-US" sz="1050" dirty="0">
                          <a:solidFill>
                            <a:srgbClr val="2C2C2C"/>
                          </a:solidFill>
                          <a:latin typeface="Calibri" pitchFamily="34" charset="0"/>
                          <a:ea typeface="Calibri" pitchFamily="34" charset="-122"/>
                          <a:cs typeface="Calibri" pitchFamily="34" charset="-120"/>
                        </a:rPr>
                        <a:t>Page loads in under 2 seconds</a:t>
                      </a:r>
                      <a:endParaRPr lang="en-US" sz="1050" dirty="0">
                        <a:latin typeface="Calibri" charset="0"/>
                        <a:ea typeface="Calibri" charset="0"/>
                        <a:cs typeface="Calibri" charset="0"/>
                      </a:endParaRPr>
                    </a:p>
                    <a:p>
                      <a:pPr marL="0" indent="0">
                        <a:buNone/>
                      </a:pPr>
                      <a:r>
                        <a:rPr lang="en-US" sz="1050" dirty="0">
                          <a:solidFill>
                            <a:srgbClr val="2C2C2C"/>
                          </a:solidFill>
                          <a:latin typeface="Calibri" pitchFamily="34" charset="0"/>
                          <a:ea typeface="Calibri" pitchFamily="34" charset="-122"/>
                          <a:cs typeface="Calibri" pitchFamily="34" charset="-120"/>
                        </a:rPr>
                        <a:t>10,000 concurrent users supported</a:t>
                      </a:r>
                      <a:endParaRPr lang="en-US" sz="1050" dirty="0">
                        <a:latin typeface="Calibri" charset="0"/>
                        <a:ea typeface="Calibri" charset="0"/>
                        <a:cs typeface="Calibri" charset="0"/>
                      </a:endParaRPr>
                    </a:p>
                    <a:p>
                      <a:pPr marL="0" indent="0">
                        <a:buNone/>
                      </a:pPr>
                      <a:r>
                        <a:rPr lang="en-US" sz="1050" dirty="0">
                          <a:solidFill>
                            <a:srgbClr val="2C2C2C"/>
                          </a:solidFill>
                          <a:latin typeface="Calibri" pitchFamily="34" charset="0"/>
                          <a:ea typeface="Calibri" pitchFamily="34" charset="-122"/>
                          <a:cs typeface="Calibri" pitchFamily="34" charset="-120"/>
                        </a:rPr>
                        <a:t>Data encrypted with AES-256</a:t>
                      </a:r>
                      <a:endParaRPr lang="en-US" sz="1050" dirty="0">
                        <a:latin typeface="Calibri" charset="0"/>
                        <a:ea typeface="Calibri" charset="0"/>
                        <a:cs typeface="Calibri" charset="0"/>
                      </a:endParaRPr>
                    </a:p>
                  </a:txBody>
                  <a:tcPr marL="50800" marR="50800" marT="50800" marB="50800" anchor="ctr">
                    <a:lnL w="12700" cap="flat" cmpd="sng" algn="ctr">
                      <a:solidFill>
                        <a:srgbClr val="DEDEDE"/>
                      </a:solidFill>
                      <a:prstDash val="solid"/>
                      <a:round/>
                      <a:headEnd type="none" w="med" len="med"/>
                      <a:tailEnd type="none" w="med" len="med"/>
                    </a:lnL>
                    <a:lnR w="12700" cap="flat" cmpd="sng" algn="ctr">
                      <a:solidFill>
                        <a:srgbClr val="DEDEDE"/>
                      </a:solidFill>
                      <a:prstDash val="solid"/>
                      <a:round/>
                      <a:headEnd type="none" w="med" len="med"/>
                      <a:tailEnd type="none" w="med" len="med"/>
                    </a:lnR>
                    <a:lnT w="12700" cap="flat" cmpd="sng" algn="ctr">
                      <a:solidFill>
                        <a:srgbClr val="DEDEDE"/>
                      </a:solidFill>
                      <a:prstDash val="solid"/>
                      <a:round/>
                      <a:headEnd type="none" w="med" len="med"/>
                      <a:tailEnd type="none" w="med" len="med"/>
                    </a:lnT>
                    <a:lnB w="12700" cap="flat" cmpd="sng" algn="ctr">
                      <a:solidFill>
                        <a:srgbClr val="DEDEDE"/>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566928">
                <a:tc>
                  <a:txBody>
                    <a:bodyPr/>
                    <a:lstStyle/>
                    <a:p>
                      <a:pPr marL="0" indent="0">
                        <a:buNone/>
                      </a:pPr>
                      <a:r>
                        <a:rPr lang="en-US" sz="1050" dirty="0">
                          <a:solidFill>
                            <a:srgbClr val="2C2C2C"/>
                          </a:solidFill>
                          <a:latin typeface="Calibri" pitchFamily="34" charset="0"/>
                          <a:ea typeface="Calibri" pitchFamily="34" charset="-122"/>
                          <a:cs typeface="Calibri" pitchFamily="34" charset="-120"/>
                        </a:rPr>
                        <a:t>Test Types</a:t>
                      </a:r>
                      <a:endParaRPr lang="en-US" sz="1050" dirty="0">
                        <a:latin typeface="Calibri" charset="0"/>
                        <a:ea typeface="Calibri" charset="0"/>
                        <a:cs typeface="Calibri" charset="0"/>
                      </a:endParaRPr>
                    </a:p>
                  </a:txBody>
                  <a:tcPr marL="50800" marR="50800" marT="50800" marB="50800" anchor="ctr">
                    <a:lnL w="12700" cap="flat" cmpd="sng" algn="ctr">
                      <a:solidFill>
                        <a:srgbClr val="DEDEDE"/>
                      </a:solidFill>
                      <a:prstDash val="solid"/>
                      <a:round/>
                      <a:headEnd type="none" w="med" len="med"/>
                      <a:tailEnd type="none" w="med" len="med"/>
                    </a:lnL>
                    <a:lnR w="12700" cap="flat" cmpd="sng" algn="ctr">
                      <a:solidFill>
                        <a:srgbClr val="DEDEDE"/>
                      </a:solidFill>
                      <a:prstDash val="solid"/>
                      <a:round/>
                      <a:headEnd type="none" w="med" len="med"/>
                      <a:tailEnd type="none" w="med" len="med"/>
                    </a:lnR>
                    <a:lnT w="12700" cap="flat" cmpd="sng" algn="ctr">
                      <a:solidFill>
                        <a:srgbClr val="DEDEDE"/>
                      </a:solidFill>
                      <a:prstDash val="solid"/>
                      <a:round/>
                      <a:headEnd type="none" w="med" len="med"/>
                      <a:tailEnd type="none" w="med" len="med"/>
                    </a:lnT>
                    <a:lnB w="12700" cap="flat" cmpd="sng" algn="ctr">
                      <a:solidFill>
                        <a:srgbClr val="DEDEDE"/>
                      </a:solidFill>
                      <a:prstDash val="solid"/>
                      <a:round/>
                      <a:headEnd type="none" w="med" len="med"/>
                      <a:tailEnd type="none" w="med" len="med"/>
                    </a:lnB>
                    <a:solidFill>
                      <a:srgbClr val="F0F0F0"/>
                    </a:solidFill>
                  </a:tcPr>
                </a:tc>
                <a:tc>
                  <a:txBody>
                    <a:bodyPr/>
                    <a:lstStyle/>
                    <a:p>
                      <a:pPr marL="0" indent="0">
                        <a:buNone/>
                      </a:pPr>
                      <a:r>
                        <a:rPr lang="en-US" sz="1050" dirty="0">
                          <a:solidFill>
                            <a:srgbClr val="2C2C2C"/>
                          </a:solidFill>
                          <a:latin typeface="Calibri" pitchFamily="34" charset="0"/>
                          <a:ea typeface="Calibri" pitchFamily="34" charset="-122"/>
                          <a:cs typeface="Calibri" pitchFamily="34" charset="-120"/>
                        </a:rPr>
                        <a:t>Functional Testing, Integration Testing, UAT</a:t>
                      </a:r>
                      <a:endParaRPr lang="en-US" sz="1050" dirty="0">
                        <a:latin typeface="Calibri" charset="0"/>
                        <a:ea typeface="Calibri" charset="0"/>
                        <a:cs typeface="Calibri" charset="0"/>
                      </a:endParaRPr>
                    </a:p>
                  </a:txBody>
                  <a:tcPr marL="50800" marR="50800" marT="50800" marB="50800" anchor="ctr">
                    <a:lnL w="12700" cap="flat" cmpd="sng" algn="ctr">
                      <a:solidFill>
                        <a:srgbClr val="DEDEDE"/>
                      </a:solidFill>
                      <a:prstDash val="solid"/>
                      <a:round/>
                      <a:headEnd type="none" w="med" len="med"/>
                      <a:tailEnd type="none" w="med" len="med"/>
                    </a:lnL>
                    <a:lnR w="12700" cap="flat" cmpd="sng" algn="ctr">
                      <a:solidFill>
                        <a:srgbClr val="DEDEDE"/>
                      </a:solidFill>
                      <a:prstDash val="solid"/>
                      <a:round/>
                      <a:headEnd type="none" w="med" len="med"/>
                      <a:tailEnd type="none" w="med" len="med"/>
                    </a:lnR>
                    <a:lnT w="12700" cap="flat" cmpd="sng" algn="ctr">
                      <a:solidFill>
                        <a:srgbClr val="DEDEDE"/>
                      </a:solidFill>
                      <a:prstDash val="solid"/>
                      <a:round/>
                      <a:headEnd type="none" w="med" len="med"/>
                      <a:tailEnd type="none" w="med" len="med"/>
                    </a:lnT>
                    <a:lnB w="12700" cap="flat" cmpd="sng" algn="ctr">
                      <a:solidFill>
                        <a:srgbClr val="DEDEDE"/>
                      </a:solidFill>
                      <a:prstDash val="solid"/>
                      <a:round/>
                      <a:headEnd type="none" w="med" len="med"/>
                      <a:tailEnd type="none" w="med" len="med"/>
                    </a:lnB>
                    <a:solidFill>
                      <a:srgbClr val="F0F0F0"/>
                    </a:solidFill>
                  </a:tcPr>
                </a:tc>
                <a:tc>
                  <a:txBody>
                    <a:bodyPr/>
                    <a:lstStyle/>
                    <a:p>
                      <a:pPr marL="0" indent="0">
                        <a:buNone/>
                      </a:pPr>
                      <a:r>
                        <a:rPr lang="en-US" sz="1050" dirty="0">
                          <a:solidFill>
                            <a:srgbClr val="2C2C2C"/>
                          </a:solidFill>
                          <a:latin typeface="Calibri" pitchFamily="34" charset="0"/>
                          <a:ea typeface="Calibri" pitchFamily="34" charset="-122"/>
                          <a:cs typeface="Calibri" pitchFamily="34" charset="-120"/>
                        </a:rPr>
                        <a:t>Performance, Load, Stress, Security, Usability Testing</a:t>
                      </a:r>
                      <a:endParaRPr lang="en-US" sz="1050" dirty="0">
                        <a:latin typeface="Calibri" charset="0"/>
                        <a:ea typeface="Calibri" charset="0"/>
                        <a:cs typeface="Calibri" charset="0"/>
                      </a:endParaRPr>
                    </a:p>
                  </a:txBody>
                  <a:tcPr marL="50800" marR="50800" marT="50800" marB="50800" anchor="ctr">
                    <a:lnL w="12700" cap="flat" cmpd="sng" algn="ctr">
                      <a:solidFill>
                        <a:srgbClr val="DEDEDE"/>
                      </a:solidFill>
                      <a:prstDash val="solid"/>
                      <a:round/>
                      <a:headEnd type="none" w="med" len="med"/>
                      <a:tailEnd type="none" w="med" len="med"/>
                    </a:lnL>
                    <a:lnR w="12700" cap="flat" cmpd="sng" algn="ctr">
                      <a:solidFill>
                        <a:srgbClr val="DEDEDE"/>
                      </a:solidFill>
                      <a:prstDash val="solid"/>
                      <a:round/>
                      <a:headEnd type="none" w="med" len="med"/>
                      <a:tailEnd type="none" w="med" len="med"/>
                    </a:lnR>
                    <a:lnT w="12700" cap="flat" cmpd="sng" algn="ctr">
                      <a:solidFill>
                        <a:srgbClr val="DEDEDE"/>
                      </a:solidFill>
                      <a:prstDash val="solid"/>
                      <a:round/>
                      <a:headEnd type="none" w="med" len="med"/>
                      <a:tailEnd type="none" w="med" len="med"/>
                    </a:lnT>
                    <a:lnB w="12700" cap="flat" cmpd="sng" algn="ctr">
                      <a:solidFill>
                        <a:srgbClr val="DEDEDE"/>
                      </a:solidFill>
                      <a:prstDash val="solid"/>
                      <a:round/>
                      <a:headEnd type="none" w="med" len="med"/>
                      <a:tailEnd type="none" w="med" len="med"/>
                    </a:lnB>
                    <a:solidFill>
                      <a:srgbClr val="F0F0F0"/>
                    </a:solidFill>
                  </a:tcPr>
                </a:tc>
                <a:extLst>
                  <a:ext uri="{0D108BD9-81ED-4DB2-BD59-A6C34878D82A}">
                    <a16:rowId xmlns:a16="http://schemas.microsoft.com/office/drawing/2014/main" val="10004"/>
                  </a:ext>
                </a:extLst>
              </a:tr>
              <a:tr h="566928">
                <a:tc>
                  <a:txBody>
                    <a:bodyPr/>
                    <a:lstStyle/>
                    <a:p>
                      <a:pPr marL="0" indent="0">
                        <a:buNone/>
                      </a:pPr>
                      <a:r>
                        <a:rPr lang="en-US" sz="1050" dirty="0">
                          <a:solidFill>
                            <a:srgbClr val="2C2C2C"/>
                          </a:solidFill>
                          <a:latin typeface="Calibri" pitchFamily="34" charset="0"/>
                          <a:ea typeface="Calibri" pitchFamily="34" charset="-122"/>
                          <a:cs typeface="Calibri" pitchFamily="34" charset="-120"/>
                        </a:rPr>
                        <a:t>Tools</a:t>
                      </a:r>
                      <a:endParaRPr lang="en-US" sz="1050" dirty="0">
                        <a:latin typeface="Calibri" charset="0"/>
                        <a:ea typeface="Calibri" charset="0"/>
                        <a:cs typeface="Calibri" charset="0"/>
                      </a:endParaRPr>
                    </a:p>
                  </a:txBody>
                  <a:tcPr marL="50800" marR="50800" marT="50800" marB="50800" anchor="ctr">
                    <a:lnL w="12700" cap="flat" cmpd="sng" algn="ctr">
                      <a:solidFill>
                        <a:srgbClr val="DEDEDE"/>
                      </a:solidFill>
                      <a:prstDash val="solid"/>
                      <a:round/>
                      <a:headEnd type="none" w="med" len="med"/>
                      <a:tailEnd type="none" w="med" len="med"/>
                    </a:lnL>
                    <a:lnR w="12700" cap="flat" cmpd="sng" algn="ctr">
                      <a:solidFill>
                        <a:srgbClr val="DEDEDE"/>
                      </a:solidFill>
                      <a:prstDash val="solid"/>
                      <a:round/>
                      <a:headEnd type="none" w="med" len="med"/>
                      <a:tailEnd type="none" w="med" len="med"/>
                    </a:lnR>
                    <a:lnT w="12700" cap="flat" cmpd="sng" algn="ctr">
                      <a:solidFill>
                        <a:srgbClr val="DEDEDE"/>
                      </a:solidFill>
                      <a:prstDash val="solid"/>
                      <a:round/>
                      <a:headEnd type="none" w="med" len="med"/>
                      <a:tailEnd type="none" w="med" len="med"/>
                    </a:lnT>
                    <a:lnB w="12700" cap="flat" cmpd="sng" algn="ctr">
                      <a:solidFill>
                        <a:srgbClr val="DEDEDE"/>
                      </a:solidFill>
                      <a:prstDash val="solid"/>
                      <a:round/>
                      <a:headEnd type="none" w="med" len="med"/>
                      <a:tailEnd type="none" w="med" len="med"/>
                    </a:lnB>
                    <a:solidFill>
                      <a:srgbClr val="FFFFFF"/>
                    </a:solidFill>
                  </a:tcPr>
                </a:tc>
                <a:tc>
                  <a:txBody>
                    <a:bodyPr/>
                    <a:lstStyle/>
                    <a:p>
                      <a:pPr marL="0" indent="0">
                        <a:buNone/>
                      </a:pPr>
                      <a:r>
                        <a:rPr lang="en-US" sz="1050" dirty="0">
                          <a:solidFill>
                            <a:srgbClr val="2C2C2C"/>
                          </a:solidFill>
                          <a:latin typeface="Calibri" pitchFamily="34" charset="0"/>
                          <a:ea typeface="Calibri" pitchFamily="34" charset="-122"/>
                          <a:cs typeface="Calibri" pitchFamily="34" charset="-120"/>
                        </a:rPr>
                        <a:t>Selenium, Playwright, Postman, JUnit</a:t>
                      </a:r>
                      <a:endParaRPr lang="en-US" sz="1050" dirty="0">
                        <a:latin typeface="Calibri" charset="0"/>
                        <a:ea typeface="Calibri" charset="0"/>
                        <a:cs typeface="Calibri" charset="0"/>
                      </a:endParaRPr>
                    </a:p>
                  </a:txBody>
                  <a:tcPr marL="50800" marR="50800" marT="50800" marB="50800" anchor="ctr">
                    <a:lnL w="12700" cap="flat" cmpd="sng" algn="ctr">
                      <a:solidFill>
                        <a:srgbClr val="DEDEDE"/>
                      </a:solidFill>
                      <a:prstDash val="solid"/>
                      <a:round/>
                      <a:headEnd type="none" w="med" len="med"/>
                      <a:tailEnd type="none" w="med" len="med"/>
                    </a:lnL>
                    <a:lnR w="12700" cap="flat" cmpd="sng" algn="ctr">
                      <a:solidFill>
                        <a:srgbClr val="DEDEDE"/>
                      </a:solidFill>
                      <a:prstDash val="solid"/>
                      <a:round/>
                      <a:headEnd type="none" w="med" len="med"/>
                      <a:tailEnd type="none" w="med" len="med"/>
                    </a:lnR>
                    <a:lnT w="12700" cap="flat" cmpd="sng" algn="ctr">
                      <a:solidFill>
                        <a:srgbClr val="DEDEDE"/>
                      </a:solidFill>
                      <a:prstDash val="solid"/>
                      <a:round/>
                      <a:headEnd type="none" w="med" len="med"/>
                      <a:tailEnd type="none" w="med" len="med"/>
                    </a:lnT>
                    <a:lnB w="12700" cap="flat" cmpd="sng" algn="ctr">
                      <a:solidFill>
                        <a:srgbClr val="DEDEDE"/>
                      </a:solidFill>
                      <a:prstDash val="solid"/>
                      <a:round/>
                      <a:headEnd type="none" w="med" len="med"/>
                      <a:tailEnd type="none" w="med" len="med"/>
                    </a:lnB>
                    <a:solidFill>
                      <a:srgbClr val="FFFFFF"/>
                    </a:solidFill>
                  </a:tcPr>
                </a:tc>
                <a:tc>
                  <a:txBody>
                    <a:bodyPr/>
                    <a:lstStyle/>
                    <a:p>
                      <a:pPr marL="0" indent="0">
                        <a:buNone/>
                      </a:pPr>
                      <a:r>
                        <a:rPr lang="en-US" sz="1050" dirty="0">
                          <a:solidFill>
                            <a:srgbClr val="2C2C2C"/>
                          </a:solidFill>
                          <a:latin typeface="Calibri" pitchFamily="34" charset="0"/>
                          <a:ea typeface="Calibri" pitchFamily="34" charset="-122"/>
                          <a:cs typeface="Calibri" pitchFamily="34" charset="-120"/>
                        </a:rPr>
                        <a:t>JMeter, Gatling, OWASP ZAP, Lighthouse</a:t>
                      </a:r>
                      <a:endParaRPr lang="en-US" sz="1050" dirty="0">
                        <a:latin typeface="Calibri" charset="0"/>
                        <a:ea typeface="Calibri" charset="0"/>
                        <a:cs typeface="Calibri" charset="0"/>
                      </a:endParaRPr>
                    </a:p>
                  </a:txBody>
                  <a:tcPr marL="50800" marR="50800" marT="50800" marB="50800" anchor="ctr">
                    <a:lnL w="12700" cap="flat" cmpd="sng" algn="ctr">
                      <a:solidFill>
                        <a:srgbClr val="DEDEDE"/>
                      </a:solidFill>
                      <a:prstDash val="solid"/>
                      <a:round/>
                      <a:headEnd type="none" w="med" len="med"/>
                      <a:tailEnd type="none" w="med" len="med"/>
                    </a:lnL>
                    <a:lnR w="12700" cap="flat" cmpd="sng" algn="ctr">
                      <a:solidFill>
                        <a:srgbClr val="DEDEDE"/>
                      </a:solidFill>
                      <a:prstDash val="solid"/>
                      <a:round/>
                      <a:headEnd type="none" w="med" len="med"/>
                      <a:tailEnd type="none" w="med" len="med"/>
                    </a:lnR>
                    <a:lnT w="12700" cap="flat" cmpd="sng" algn="ctr">
                      <a:solidFill>
                        <a:srgbClr val="DEDEDE"/>
                      </a:solidFill>
                      <a:prstDash val="solid"/>
                      <a:round/>
                      <a:headEnd type="none" w="med" len="med"/>
                      <a:tailEnd type="none" w="med" len="med"/>
                    </a:lnT>
                    <a:lnB w="12700" cap="flat" cmpd="sng" algn="ctr">
                      <a:solidFill>
                        <a:srgbClr val="DEDEDE"/>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566928">
                <a:tc>
                  <a:txBody>
                    <a:bodyPr/>
                    <a:lstStyle/>
                    <a:p>
                      <a:pPr marL="0" indent="0">
                        <a:buNone/>
                      </a:pPr>
                      <a:r>
                        <a:rPr lang="en-US" sz="1050" dirty="0">
                          <a:solidFill>
                            <a:srgbClr val="2C2C2C"/>
                          </a:solidFill>
                          <a:latin typeface="Calibri" pitchFamily="34" charset="0"/>
                          <a:ea typeface="Calibri" pitchFamily="34" charset="-122"/>
                          <a:cs typeface="Calibri" pitchFamily="34" charset="-120"/>
                        </a:rPr>
                        <a:t>Testable?</a:t>
                      </a:r>
                      <a:endParaRPr lang="en-US" sz="1050" dirty="0">
                        <a:latin typeface="Calibri" charset="0"/>
                        <a:ea typeface="Calibri" charset="0"/>
                        <a:cs typeface="Calibri" charset="0"/>
                      </a:endParaRPr>
                    </a:p>
                  </a:txBody>
                  <a:tcPr marL="50800" marR="50800" marT="50800" marB="50800" anchor="ctr">
                    <a:lnL w="12700" cap="flat" cmpd="sng" algn="ctr">
                      <a:solidFill>
                        <a:srgbClr val="DEDEDE"/>
                      </a:solidFill>
                      <a:prstDash val="solid"/>
                      <a:round/>
                      <a:headEnd type="none" w="med" len="med"/>
                      <a:tailEnd type="none" w="med" len="med"/>
                    </a:lnL>
                    <a:lnR w="12700" cap="flat" cmpd="sng" algn="ctr">
                      <a:solidFill>
                        <a:srgbClr val="DEDEDE"/>
                      </a:solidFill>
                      <a:prstDash val="solid"/>
                      <a:round/>
                      <a:headEnd type="none" w="med" len="med"/>
                      <a:tailEnd type="none" w="med" len="med"/>
                    </a:lnR>
                    <a:lnT w="12700" cap="flat" cmpd="sng" algn="ctr">
                      <a:solidFill>
                        <a:srgbClr val="DEDEDE"/>
                      </a:solidFill>
                      <a:prstDash val="solid"/>
                      <a:round/>
                      <a:headEnd type="none" w="med" len="med"/>
                      <a:tailEnd type="none" w="med" len="med"/>
                    </a:lnT>
                    <a:lnB w="12700" cap="flat" cmpd="sng" algn="ctr">
                      <a:solidFill>
                        <a:srgbClr val="DEDEDE"/>
                      </a:solidFill>
                      <a:prstDash val="solid"/>
                      <a:round/>
                      <a:headEnd type="none" w="med" len="med"/>
                      <a:tailEnd type="none" w="med" len="med"/>
                    </a:lnB>
                    <a:solidFill>
                      <a:srgbClr val="F0F0F0"/>
                    </a:solidFill>
                  </a:tcPr>
                </a:tc>
                <a:tc>
                  <a:txBody>
                    <a:bodyPr/>
                    <a:lstStyle/>
                    <a:p>
                      <a:pPr marL="0" indent="0">
                        <a:buNone/>
                      </a:pPr>
                      <a:r>
                        <a:rPr lang="en-US" sz="1050" dirty="0">
                          <a:solidFill>
                            <a:srgbClr val="2C2C2C"/>
                          </a:solidFill>
                          <a:latin typeface="Calibri" pitchFamily="34" charset="0"/>
                          <a:ea typeface="Calibri" pitchFamily="34" charset="-122"/>
                          <a:cs typeface="Calibri" pitchFamily="34" charset="-120"/>
                        </a:rPr>
                        <a:t>Yes — clear pass/fail criteria</a:t>
                      </a:r>
                      <a:endParaRPr lang="en-US" sz="1050" dirty="0">
                        <a:latin typeface="Calibri" charset="0"/>
                        <a:ea typeface="Calibri" charset="0"/>
                        <a:cs typeface="Calibri" charset="0"/>
                      </a:endParaRPr>
                    </a:p>
                  </a:txBody>
                  <a:tcPr marL="50800" marR="50800" marT="50800" marB="50800" anchor="ctr">
                    <a:lnL w="12700" cap="flat" cmpd="sng" algn="ctr">
                      <a:solidFill>
                        <a:srgbClr val="DEDEDE"/>
                      </a:solidFill>
                      <a:prstDash val="solid"/>
                      <a:round/>
                      <a:headEnd type="none" w="med" len="med"/>
                      <a:tailEnd type="none" w="med" len="med"/>
                    </a:lnL>
                    <a:lnR w="12700" cap="flat" cmpd="sng" algn="ctr">
                      <a:solidFill>
                        <a:srgbClr val="DEDEDE"/>
                      </a:solidFill>
                      <a:prstDash val="solid"/>
                      <a:round/>
                      <a:headEnd type="none" w="med" len="med"/>
                      <a:tailEnd type="none" w="med" len="med"/>
                    </a:lnR>
                    <a:lnT w="12700" cap="flat" cmpd="sng" algn="ctr">
                      <a:solidFill>
                        <a:srgbClr val="DEDEDE"/>
                      </a:solidFill>
                      <a:prstDash val="solid"/>
                      <a:round/>
                      <a:headEnd type="none" w="med" len="med"/>
                      <a:tailEnd type="none" w="med" len="med"/>
                    </a:lnT>
                    <a:lnB w="12700" cap="flat" cmpd="sng" algn="ctr">
                      <a:solidFill>
                        <a:srgbClr val="DEDEDE"/>
                      </a:solidFill>
                      <a:prstDash val="solid"/>
                      <a:round/>
                      <a:headEnd type="none" w="med" len="med"/>
                      <a:tailEnd type="none" w="med" len="med"/>
                    </a:lnB>
                    <a:solidFill>
                      <a:srgbClr val="F0F0F0"/>
                    </a:solidFill>
                  </a:tcPr>
                </a:tc>
                <a:tc>
                  <a:txBody>
                    <a:bodyPr/>
                    <a:lstStyle/>
                    <a:p>
                      <a:pPr marL="0" indent="0">
                        <a:buNone/>
                      </a:pPr>
                      <a:r>
                        <a:rPr lang="en-US" sz="1050" dirty="0">
                          <a:solidFill>
                            <a:srgbClr val="2C2C2C"/>
                          </a:solidFill>
                          <a:latin typeface="Calibri" pitchFamily="34" charset="0"/>
                          <a:ea typeface="Calibri" pitchFamily="34" charset="-122"/>
                          <a:cs typeface="Calibri" pitchFamily="34" charset="-120"/>
                        </a:rPr>
                        <a:t>Yes — but requires measurable thresholds</a:t>
                      </a:r>
                      <a:endParaRPr lang="en-US" sz="1050" dirty="0">
                        <a:latin typeface="Calibri" charset="0"/>
                        <a:ea typeface="Calibri" charset="0"/>
                        <a:cs typeface="Calibri" charset="0"/>
                      </a:endParaRPr>
                    </a:p>
                  </a:txBody>
                  <a:tcPr marL="50800" marR="50800" marT="50800" marB="50800" anchor="ctr">
                    <a:lnL w="12700" cap="flat" cmpd="sng" algn="ctr">
                      <a:solidFill>
                        <a:srgbClr val="DEDEDE"/>
                      </a:solidFill>
                      <a:prstDash val="solid"/>
                      <a:round/>
                      <a:headEnd type="none" w="med" len="med"/>
                      <a:tailEnd type="none" w="med" len="med"/>
                    </a:lnL>
                    <a:lnR w="12700" cap="flat" cmpd="sng" algn="ctr">
                      <a:solidFill>
                        <a:srgbClr val="DEDEDE"/>
                      </a:solidFill>
                      <a:prstDash val="solid"/>
                      <a:round/>
                      <a:headEnd type="none" w="med" len="med"/>
                      <a:tailEnd type="none" w="med" len="med"/>
                    </a:lnR>
                    <a:lnT w="12700" cap="flat" cmpd="sng" algn="ctr">
                      <a:solidFill>
                        <a:srgbClr val="DEDEDE"/>
                      </a:solidFill>
                      <a:prstDash val="solid"/>
                      <a:round/>
                      <a:headEnd type="none" w="med" len="med"/>
                      <a:tailEnd type="none" w="med" len="med"/>
                    </a:lnT>
                    <a:lnB w="12700" cap="flat" cmpd="sng" algn="ctr">
                      <a:solidFill>
                        <a:srgbClr val="DEDEDE"/>
                      </a:solidFill>
                      <a:prstDash val="solid"/>
                      <a:round/>
                      <a:headEnd type="none" w="med" len="med"/>
                      <a:tailEnd type="none" w="med" len="med"/>
                    </a:lnB>
                    <a:solidFill>
                      <a:srgbClr val="F0F0F0"/>
                    </a:solidFill>
                  </a:tcPr>
                </a:tc>
                <a:extLst>
                  <a:ext uri="{0D108BD9-81ED-4DB2-BD59-A6C34878D82A}">
                    <a16:rowId xmlns:a16="http://schemas.microsoft.com/office/drawing/2014/main" val="10006"/>
                  </a:ext>
                </a:extLst>
              </a:tr>
            </a:tbl>
          </a:graphicData>
        </a:graphic>
      </p:graphicFrame>
      <p:sp>
        <p:nvSpPr>
          <p:cNvPr id="8" name="Shape 6"/>
          <p:cNvSpPr/>
          <p:nvPr/>
        </p:nvSpPr>
        <p:spPr>
          <a:xfrm>
            <a:off x="228600" y="4572000"/>
            <a:ext cx="8732520" cy="201168"/>
          </a:xfrm>
          <a:prstGeom prst="rect">
            <a:avLst/>
          </a:prstGeom>
          <a:solidFill>
            <a:srgbClr val="FFF3E0"/>
          </a:solidFill>
          <a:ln w="12700">
            <a:solidFill>
              <a:srgbClr val="FF6500"/>
            </a:solidFill>
            <a:prstDash val="solid"/>
          </a:ln>
        </p:spPr>
      </p:sp>
      <p:sp>
        <p:nvSpPr>
          <p:cNvPr id="10" name="Text 7"/>
          <p:cNvSpPr/>
          <p:nvPr/>
        </p:nvSpPr>
        <p:spPr>
          <a:xfrm>
            <a:off x="320040" y="4581144"/>
            <a:ext cx="8503920" cy="182880"/>
          </a:xfrm>
          <a:prstGeom prst="rect">
            <a:avLst/>
          </a:prstGeom>
          <a:noFill/>
          <a:ln/>
        </p:spPr>
        <p:txBody>
          <a:bodyPr wrap="square" lIns="0" tIns="0" rIns="0" bIns="0" rtlCol="0" anchor="ctr"/>
          <a:lstStyle/>
          <a:p>
            <a:pPr marL="0" indent="0">
              <a:buNone/>
            </a:pPr>
            <a:r>
              <a:rPr lang="en-US" sz="900" dirty="0">
                <a:solidFill>
                  <a:srgbClr val="2C2C2C"/>
                </a:solidFill>
                <a:latin typeface="Calibri" pitchFamily="34" charset="0"/>
                <a:ea typeface="Calibri" pitchFamily="34" charset="-122"/>
                <a:cs typeface="Calibri" pitchFamily="34" charset="-120"/>
              </a:rPr>
              <a:t>💡  QE TIP: A requirement is testable if it is specific, measurable, unambiguous, and has a clear expected outcome. Vague requirements must be clarified before test cases are written.</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9">
    <p:bg>
      <p:bgPr>
        <a:solidFill>
          <a:srgbClr val="F5F5F5"/>
        </a:solidFill>
        <a:effectLst/>
      </p:bgPr>
    </p:bg>
    <p:spTree>
      <p:nvGrpSpPr>
        <p:cNvPr id="1" name=""/>
        <p:cNvGrpSpPr/>
        <p:nvPr/>
      </p:nvGrpSpPr>
      <p:grpSpPr>
        <a:xfrm>
          <a:off x="0" y="0"/>
          <a:ext cx="0" cy="0"/>
          <a:chOff x="0" y="0"/>
          <a:chExt cx="0" cy="0"/>
        </a:xfrm>
      </p:grpSpPr>
      <p:sp>
        <p:nvSpPr>
          <p:cNvPr id="2" name="Shape 0"/>
          <p:cNvSpPr/>
          <p:nvPr/>
        </p:nvSpPr>
        <p:spPr>
          <a:xfrm>
            <a:off x="0" y="0"/>
            <a:ext cx="9144000" cy="621792"/>
          </a:xfrm>
          <a:prstGeom prst="rect">
            <a:avLst/>
          </a:prstGeom>
          <a:solidFill>
            <a:srgbClr val="0D0D0D"/>
          </a:solidFill>
          <a:ln w="12700">
            <a:solidFill>
              <a:srgbClr val="0D0D0D"/>
            </a:solidFill>
            <a:prstDash val="solid"/>
          </a:ln>
        </p:spPr>
      </p:sp>
      <p:sp>
        <p:nvSpPr>
          <p:cNvPr id="3" name="Shape 1"/>
          <p:cNvSpPr/>
          <p:nvPr/>
        </p:nvSpPr>
        <p:spPr>
          <a:xfrm>
            <a:off x="0" y="0"/>
            <a:ext cx="64008" cy="621792"/>
          </a:xfrm>
          <a:prstGeom prst="rect">
            <a:avLst/>
          </a:prstGeom>
          <a:solidFill>
            <a:srgbClr val="FF6500"/>
          </a:solidFill>
          <a:ln w="12700">
            <a:solidFill>
              <a:srgbClr val="FF6500"/>
            </a:solidFill>
            <a:prstDash val="solid"/>
          </a:ln>
        </p:spPr>
      </p:sp>
      <p:sp>
        <p:nvSpPr>
          <p:cNvPr id="4" name="Text 2"/>
          <p:cNvSpPr/>
          <p:nvPr/>
        </p:nvSpPr>
        <p:spPr>
          <a:xfrm>
            <a:off x="201168" y="64008"/>
            <a:ext cx="8503920" cy="493776"/>
          </a:xfrm>
          <a:prstGeom prst="rect">
            <a:avLst/>
          </a:prstGeom>
          <a:noFill/>
          <a:ln/>
        </p:spPr>
        <p:txBody>
          <a:bodyPr wrap="square" lIns="0" tIns="0" rIns="0" bIns="0" rtlCol="0" anchor="ctr"/>
          <a:lstStyle/>
          <a:p>
            <a:pPr marL="0" indent="0">
              <a:buNone/>
            </a:pPr>
            <a:r>
              <a:rPr lang="en-US" sz="1900" b="1" dirty="0">
                <a:solidFill>
                  <a:srgbClr val="FFFFFF"/>
                </a:solidFill>
                <a:latin typeface="Arial" pitchFamily="34" charset="0"/>
                <a:ea typeface="Arial" pitchFamily="34" charset="-122"/>
                <a:cs typeface="Arial" pitchFamily="34" charset="-120"/>
              </a:rPr>
              <a:t>Requirement Traceability Matrix (RTM) — Definition &amp; Purpose</a:t>
            </a:r>
            <a:endParaRPr lang="en-US" sz="1900" dirty="0"/>
          </a:p>
        </p:txBody>
      </p:sp>
      <p:sp>
        <p:nvSpPr>
          <p:cNvPr id="5" name="Shape 3"/>
          <p:cNvSpPr/>
          <p:nvPr/>
        </p:nvSpPr>
        <p:spPr>
          <a:xfrm>
            <a:off x="0" y="4828032"/>
            <a:ext cx="9144000" cy="315468"/>
          </a:xfrm>
          <a:prstGeom prst="rect">
            <a:avLst/>
          </a:prstGeom>
          <a:solidFill>
            <a:srgbClr val="0D0D0D"/>
          </a:solidFill>
          <a:ln w="12700">
            <a:solidFill>
              <a:srgbClr val="0D0D0D"/>
            </a:solidFill>
            <a:prstDash val="solid"/>
          </a:ln>
        </p:spPr>
      </p:sp>
      <p:sp>
        <p:nvSpPr>
          <p:cNvPr id="6" name="Text 4"/>
          <p:cNvSpPr/>
          <p:nvPr/>
        </p:nvSpPr>
        <p:spPr>
          <a:xfrm>
            <a:off x="182880" y="4855464"/>
            <a:ext cx="7315200" cy="228600"/>
          </a:xfrm>
          <a:prstGeom prst="rect">
            <a:avLst/>
          </a:prstGeom>
          <a:noFill/>
          <a:ln/>
        </p:spPr>
        <p:txBody>
          <a:bodyPr wrap="square" lIns="0" tIns="0" rIns="0" bIns="0" rtlCol="0" anchor="ctr"/>
          <a:lstStyle/>
          <a:p>
            <a:pPr marL="0" indent="0">
              <a:buNone/>
            </a:pPr>
            <a:r>
              <a:rPr lang="en-US" sz="850" dirty="0">
                <a:solidFill>
                  <a:srgbClr val="999999"/>
                </a:solidFill>
                <a:latin typeface="Calibri" pitchFamily="34" charset="0"/>
                <a:ea typeface="Calibri" pitchFamily="34" charset="-122"/>
                <a:cs typeface="Calibri" pitchFamily="34" charset="-120"/>
              </a:rPr>
              <a:t>Quality Engineering | Test Case Development in STLC</a:t>
            </a:r>
            <a:endParaRPr lang="en-US" sz="850" dirty="0"/>
          </a:p>
        </p:txBody>
      </p:sp>
      <p:sp>
        <p:nvSpPr>
          <p:cNvPr id="7" name="Text 5"/>
          <p:cNvSpPr/>
          <p:nvPr/>
        </p:nvSpPr>
        <p:spPr>
          <a:xfrm>
            <a:off x="7406640" y="4855464"/>
            <a:ext cx="1554480" cy="228600"/>
          </a:xfrm>
          <a:prstGeom prst="rect">
            <a:avLst/>
          </a:prstGeom>
          <a:noFill/>
          <a:ln/>
        </p:spPr>
        <p:txBody>
          <a:bodyPr wrap="square" lIns="0" tIns="0" rIns="0" bIns="0" rtlCol="0" anchor="ctr"/>
          <a:lstStyle/>
          <a:p>
            <a:pPr marL="0" indent="0" algn="r">
              <a:buNone/>
            </a:pPr>
            <a:r>
              <a:rPr lang="en-US" sz="850" b="1" dirty="0">
                <a:solidFill>
                  <a:srgbClr val="FF6500"/>
                </a:solidFill>
                <a:latin typeface="Calibri" pitchFamily="34" charset="0"/>
                <a:ea typeface="Calibri" pitchFamily="34" charset="-122"/>
                <a:cs typeface="Calibri" pitchFamily="34" charset="-120"/>
              </a:rPr>
              <a:t>INTERNAL TRAINING</a:t>
            </a:r>
            <a:endParaRPr lang="en-US" sz="850" dirty="0"/>
          </a:p>
        </p:txBody>
      </p:sp>
      <p:sp>
        <p:nvSpPr>
          <p:cNvPr id="8" name="Text 6"/>
          <p:cNvSpPr/>
          <p:nvPr/>
        </p:nvSpPr>
        <p:spPr>
          <a:xfrm>
            <a:off x="228600" y="777240"/>
            <a:ext cx="1371600" cy="822960"/>
          </a:xfrm>
          <a:prstGeom prst="rect">
            <a:avLst/>
          </a:prstGeom>
          <a:noFill/>
          <a:ln/>
        </p:spPr>
        <p:txBody>
          <a:bodyPr wrap="square" lIns="0" tIns="0" rIns="0" bIns="0" rtlCol="0" anchor="ctr"/>
          <a:lstStyle/>
          <a:p>
            <a:pPr marL="0" indent="0" algn="ctr">
              <a:buNone/>
            </a:pPr>
            <a:r>
              <a:rPr lang="en-US" sz="4400" b="1" dirty="0">
                <a:solidFill>
                  <a:srgbClr val="FF6500"/>
                </a:solidFill>
                <a:latin typeface="Arial Black" pitchFamily="34" charset="0"/>
                <a:ea typeface="Arial Black" pitchFamily="34" charset="-122"/>
                <a:cs typeface="Arial Black" pitchFamily="34" charset="-120"/>
              </a:rPr>
              <a:t>RTM</a:t>
            </a:r>
            <a:endParaRPr lang="en-US" sz="4400" dirty="0"/>
          </a:p>
        </p:txBody>
      </p:sp>
      <p:sp>
        <p:nvSpPr>
          <p:cNvPr id="9" name="Text 7"/>
          <p:cNvSpPr/>
          <p:nvPr/>
        </p:nvSpPr>
        <p:spPr>
          <a:xfrm>
            <a:off x="1691640" y="822960"/>
            <a:ext cx="7178040" cy="777240"/>
          </a:xfrm>
          <a:prstGeom prst="rect">
            <a:avLst/>
          </a:prstGeom>
          <a:noFill/>
          <a:ln/>
        </p:spPr>
        <p:txBody>
          <a:bodyPr wrap="square" lIns="0" tIns="0" rIns="0" bIns="0" rtlCol="0" anchor="ctr"/>
          <a:lstStyle/>
          <a:p>
            <a:pPr marL="0" indent="0">
              <a:buNone/>
            </a:pPr>
            <a:r>
              <a:rPr lang="en-US" sz="1250" dirty="0">
                <a:solidFill>
                  <a:srgbClr val="2C2C2C"/>
                </a:solidFill>
                <a:latin typeface="Calibri" pitchFamily="34" charset="0"/>
                <a:ea typeface="Calibri" pitchFamily="34" charset="-122"/>
                <a:cs typeface="Calibri" pitchFamily="34" charset="-120"/>
              </a:rPr>
              <a:t>The Requirement Traceability Matrix (RTM) is a document that maps and traces each business/functional requirement to its corresponding test case(s). It ensures complete test coverage — that no requirement has been left untested.</a:t>
            </a:r>
            <a:endParaRPr lang="en-US" sz="1250" dirty="0"/>
          </a:p>
        </p:txBody>
      </p:sp>
      <p:sp>
        <p:nvSpPr>
          <p:cNvPr id="10" name="Shape 8"/>
          <p:cNvSpPr/>
          <p:nvPr/>
        </p:nvSpPr>
        <p:spPr>
          <a:xfrm>
            <a:off x="228600" y="1755648"/>
            <a:ext cx="4160520" cy="1353312"/>
          </a:xfrm>
          <a:prstGeom prst="rect">
            <a:avLst/>
          </a:prstGeom>
          <a:solidFill>
            <a:srgbClr val="FFFFFF"/>
          </a:solidFill>
          <a:ln w="12700">
            <a:solidFill>
              <a:srgbClr val="DEDEDE"/>
            </a:solidFill>
            <a:prstDash val="solid"/>
          </a:ln>
          <a:effectLst>
            <a:outerShdw blurRad="76200" dist="25400" dir="8100000" algn="bl" rotWithShape="0">
              <a:srgbClr val="000000">
                <a:alpha val="13000"/>
              </a:srgbClr>
            </a:outerShdw>
          </a:effectLst>
        </p:spPr>
      </p:sp>
      <p:sp>
        <p:nvSpPr>
          <p:cNvPr id="11" name="Shape 9"/>
          <p:cNvSpPr/>
          <p:nvPr/>
        </p:nvSpPr>
        <p:spPr>
          <a:xfrm>
            <a:off x="228600" y="1755648"/>
            <a:ext cx="54864" cy="1353312"/>
          </a:xfrm>
          <a:prstGeom prst="rect">
            <a:avLst/>
          </a:prstGeom>
          <a:solidFill>
            <a:srgbClr val="FF6500"/>
          </a:solidFill>
          <a:ln w="12700">
            <a:solidFill>
              <a:srgbClr val="FF6500"/>
            </a:solidFill>
            <a:prstDash val="solid"/>
          </a:ln>
        </p:spPr>
      </p:sp>
      <p:sp>
        <p:nvSpPr>
          <p:cNvPr id="12" name="Text 10"/>
          <p:cNvSpPr/>
          <p:nvPr/>
        </p:nvSpPr>
        <p:spPr>
          <a:xfrm>
            <a:off x="338328" y="1819656"/>
            <a:ext cx="3995928" cy="274320"/>
          </a:xfrm>
          <a:prstGeom prst="rect">
            <a:avLst/>
          </a:prstGeom>
          <a:noFill/>
          <a:ln/>
        </p:spPr>
        <p:txBody>
          <a:bodyPr wrap="square" lIns="0" tIns="0" rIns="0" bIns="0" rtlCol="0" anchor="ctr"/>
          <a:lstStyle/>
          <a:p>
            <a:pPr marL="0" indent="0">
              <a:buNone/>
            </a:pPr>
            <a:r>
              <a:rPr lang="en-US" sz="1250" b="1" dirty="0">
                <a:solidFill>
                  <a:srgbClr val="FF6500"/>
                </a:solidFill>
                <a:latin typeface="Arial" pitchFamily="34" charset="0"/>
                <a:ea typeface="Arial" pitchFamily="34" charset="-122"/>
                <a:cs typeface="Arial" pitchFamily="34" charset="-120"/>
              </a:rPr>
              <a:t>Ensure Coverage</a:t>
            </a:r>
            <a:endParaRPr lang="en-US" sz="1250" dirty="0"/>
          </a:p>
        </p:txBody>
      </p:sp>
      <p:sp>
        <p:nvSpPr>
          <p:cNvPr id="13" name="Text 11"/>
          <p:cNvSpPr/>
          <p:nvPr/>
        </p:nvSpPr>
        <p:spPr>
          <a:xfrm>
            <a:off x="338328" y="2121408"/>
            <a:ext cx="3995928" cy="896112"/>
          </a:xfrm>
          <a:prstGeom prst="rect">
            <a:avLst/>
          </a:prstGeom>
          <a:noFill/>
          <a:ln/>
        </p:spPr>
        <p:txBody>
          <a:bodyPr wrap="square" lIns="0" tIns="0" rIns="0" bIns="0" rtlCol="0" anchor="t"/>
          <a:lstStyle/>
          <a:p>
            <a:pPr marL="0" indent="0">
              <a:buNone/>
            </a:pPr>
            <a:r>
              <a:rPr lang="en-US" sz="1100" dirty="0">
                <a:solidFill>
                  <a:srgbClr val="2C2C2C"/>
                </a:solidFill>
                <a:latin typeface="Calibri" pitchFamily="34" charset="0"/>
                <a:ea typeface="Calibri" pitchFamily="34" charset="-122"/>
                <a:cs typeface="Calibri" pitchFamily="34" charset="-120"/>
              </a:rPr>
              <a:t>Verifies that 100% of documented requirements have at least one test case assigned to them — preventing gaps in testing.</a:t>
            </a:r>
            <a:endParaRPr lang="en-US" sz="1100" dirty="0"/>
          </a:p>
        </p:txBody>
      </p:sp>
      <p:sp>
        <p:nvSpPr>
          <p:cNvPr id="14" name="Shape 12"/>
          <p:cNvSpPr/>
          <p:nvPr/>
        </p:nvSpPr>
        <p:spPr>
          <a:xfrm>
            <a:off x="4599432" y="1755648"/>
            <a:ext cx="4160520" cy="1353312"/>
          </a:xfrm>
          <a:prstGeom prst="rect">
            <a:avLst/>
          </a:prstGeom>
          <a:solidFill>
            <a:srgbClr val="FFFFFF"/>
          </a:solidFill>
          <a:ln w="12700">
            <a:solidFill>
              <a:srgbClr val="DEDEDE"/>
            </a:solidFill>
            <a:prstDash val="solid"/>
          </a:ln>
          <a:effectLst>
            <a:outerShdw blurRad="76200" dist="25400" dir="8100000" algn="bl" rotWithShape="0">
              <a:srgbClr val="000000">
                <a:alpha val="13000"/>
              </a:srgbClr>
            </a:outerShdw>
          </a:effectLst>
        </p:spPr>
      </p:sp>
      <p:sp>
        <p:nvSpPr>
          <p:cNvPr id="15" name="Shape 13"/>
          <p:cNvSpPr/>
          <p:nvPr/>
        </p:nvSpPr>
        <p:spPr>
          <a:xfrm>
            <a:off x="4599432" y="1755648"/>
            <a:ext cx="54864" cy="1353312"/>
          </a:xfrm>
          <a:prstGeom prst="rect">
            <a:avLst/>
          </a:prstGeom>
          <a:solidFill>
            <a:srgbClr val="FF6500"/>
          </a:solidFill>
          <a:ln w="12700">
            <a:solidFill>
              <a:srgbClr val="FF6500"/>
            </a:solidFill>
            <a:prstDash val="solid"/>
          </a:ln>
        </p:spPr>
      </p:sp>
      <p:sp>
        <p:nvSpPr>
          <p:cNvPr id="16" name="Text 14"/>
          <p:cNvSpPr/>
          <p:nvPr/>
        </p:nvSpPr>
        <p:spPr>
          <a:xfrm>
            <a:off x="4709160" y="1819656"/>
            <a:ext cx="3995928" cy="274320"/>
          </a:xfrm>
          <a:prstGeom prst="rect">
            <a:avLst/>
          </a:prstGeom>
          <a:noFill/>
          <a:ln/>
        </p:spPr>
        <p:txBody>
          <a:bodyPr wrap="square" lIns="0" tIns="0" rIns="0" bIns="0" rtlCol="0" anchor="ctr"/>
          <a:lstStyle/>
          <a:p>
            <a:pPr marL="0" indent="0">
              <a:buNone/>
            </a:pPr>
            <a:r>
              <a:rPr lang="en-US" sz="1250" b="1" dirty="0">
                <a:solidFill>
                  <a:srgbClr val="FF6500"/>
                </a:solidFill>
                <a:latin typeface="Arial" pitchFamily="34" charset="0"/>
                <a:ea typeface="Arial" pitchFamily="34" charset="-122"/>
                <a:cs typeface="Arial" pitchFamily="34" charset="-120"/>
              </a:rPr>
              <a:t>Track Test Progress</a:t>
            </a:r>
            <a:endParaRPr lang="en-US" sz="1250" dirty="0"/>
          </a:p>
        </p:txBody>
      </p:sp>
      <p:sp>
        <p:nvSpPr>
          <p:cNvPr id="17" name="Text 15"/>
          <p:cNvSpPr/>
          <p:nvPr/>
        </p:nvSpPr>
        <p:spPr>
          <a:xfrm>
            <a:off x="4709160" y="2121408"/>
            <a:ext cx="3995928" cy="896112"/>
          </a:xfrm>
          <a:prstGeom prst="rect">
            <a:avLst/>
          </a:prstGeom>
          <a:noFill/>
          <a:ln/>
        </p:spPr>
        <p:txBody>
          <a:bodyPr wrap="square" lIns="0" tIns="0" rIns="0" bIns="0" rtlCol="0" anchor="t"/>
          <a:lstStyle/>
          <a:p>
            <a:pPr marL="0" indent="0">
              <a:buNone/>
            </a:pPr>
            <a:r>
              <a:rPr lang="en-US" sz="1100" dirty="0">
                <a:solidFill>
                  <a:srgbClr val="2C2C2C"/>
                </a:solidFill>
                <a:latin typeface="Calibri" pitchFamily="34" charset="0"/>
                <a:ea typeface="Calibri" pitchFamily="34" charset="-122"/>
                <a:cs typeface="Calibri" pitchFamily="34" charset="-120"/>
              </a:rPr>
              <a:t>Provides real-time visibility into which requirements have been tested, are in progress, or are blocked, giving QA leads status at a glance.</a:t>
            </a:r>
            <a:endParaRPr lang="en-US" sz="1100" dirty="0"/>
          </a:p>
        </p:txBody>
      </p:sp>
      <p:sp>
        <p:nvSpPr>
          <p:cNvPr id="18" name="Shape 16"/>
          <p:cNvSpPr/>
          <p:nvPr/>
        </p:nvSpPr>
        <p:spPr>
          <a:xfrm>
            <a:off x="228600" y="3264408"/>
            <a:ext cx="4160520" cy="1353312"/>
          </a:xfrm>
          <a:prstGeom prst="rect">
            <a:avLst/>
          </a:prstGeom>
          <a:solidFill>
            <a:srgbClr val="FFFFFF"/>
          </a:solidFill>
          <a:ln w="12700">
            <a:solidFill>
              <a:srgbClr val="DEDEDE"/>
            </a:solidFill>
            <a:prstDash val="solid"/>
          </a:ln>
          <a:effectLst>
            <a:outerShdw blurRad="76200" dist="25400" dir="8100000" algn="bl" rotWithShape="0">
              <a:srgbClr val="000000">
                <a:alpha val="13000"/>
              </a:srgbClr>
            </a:outerShdw>
          </a:effectLst>
        </p:spPr>
      </p:sp>
      <p:sp>
        <p:nvSpPr>
          <p:cNvPr id="19" name="Shape 17"/>
          <p:cNvSpPr/>
          <p:nvPr/>
        </p:nvSpPr>
        <p:spPr>
          <a:xfrm>
            <a:off x="228600" y="3264408"/>
            <a:ext cx="54864" cy="1353312"/>
          </a:xfrm>
          <a:prstGeom prst="rect">
            <a:avLst/>
          </a:prstGeom>
          <a:solidFill>
            <a:srgbClr val="FF6500"/>
          </a:solidFill>
          <a:ln w="12700">
            <a:solidFill>
              <a:srgbClr val="FF6500"/>
            </a:solidFill>
            <a:prstDash val="solid"/>
          </a:ln>
        </p:spPr>
      </p:sp>
      <p:sp>
        <p:nvSpPr>
          <p:cNvPr id="20" name="Text 18"/>
          <p:cNvSpPr/>
          <p:nvPr/>
        </p:nvSpPr>
        <p:spPr>
          <a:xfrm>
            <a:off x="338328" y="3328416"/>
            <a:ext cx="3995928" cy="274320"/>
          </a:xfrm>
          <a:prstGeom prst="rect">
            <a:avLst/>
          </a:prstGeom>
          <a:noFill/>
          <a:ln/>
        </p:spPr>
        <p:txBody>
          <a:bodyPr wrap="square" lIns="0" tIns="0" rIns="0" bIns="0" rtlCol="0" anchor="ctr"/>
          <a:lstStyle/>
          <a:p>
            <a:pPr marL="0" indent="0">
              <a:buNone/>
            </a:pPr>
            <a:r>
              <a:rPr lang="en-US" sz="1250" b="1" dirty="0">
                <a:solidFill>
                  <a:srgbClr val="FF6500"/>
                </a:solidFill>
                <a:latin typeface="Arial" pitchFamily="34" charset="0"/>
                <a:ea typeface="Arial" pitchFamily="34" charset="-122"/>
                <a:cs typeface="Arial" pitchFamily="34" charset="-120"/>
              </a:rPr>
              <a:t>Impact Analysis</a:t>
            </a:r>
            <a:endParaRPr lang="en-US" sz="1250" dirty="0"/>
          </a:p>
        </p:txBody>
      </p:sp>
      <p:sp>
        <p:nvSpPr>
          <p:cNvPr id="21" name="Text 19"/>
          <p:cNvSpPr/>
          <p:nvPr/>
        </p:nvSpPr>
        <p:spPr>
          <a:xfrm>
            <a:off x="338328" y="3630168"/>
            <a:ext cx="3995928" cy="896112"/>
          </a:xfrm>
          <a:prstGeom prst="rect">
            <a:avLst/>
          </a:prstGeom>
          <a:noFill/>
          <a:ln/>
        </p:spPr>
        <p:txBody>
          <a:bodyPr wrap="square" lIns="0" tIns="0" rIns="0" bIns="0" rtlCol="0" anchor="t"/>
          <a:lstStyle/>
          <a:p>
            <a:pPr marL="0" indent="0">
              <a:buNone/>
            </a:pPr>
            <a:r>
              <a:rPr lang="en-US" sz="1100" dirty="0">
                <a:solidFill>
                  <a:srgbClr val="2C2C2C"/>
                </a:solidFill>
                <a:latin typeface="Calibri" pitchFamily="34" charset="0"/>
                <a:ea typeface="Calibri" pitchFamily="34" charset="-122"/>
                <a:cs typeface="Calibri" pitchFamily="34" charset="-120"/>
              </a:rPr>
              <a:t>When a requirement changes, the RTM immediately shows which test cases are affected — enabling fast and accurate regression planning.</a:t>
            </a:r>
            <a:endParaRPr lang="en-US" sz="1100" dirty="0"/>
          </a:p>
        </p:txBody>
      </p:sp>
      <p:sp>
        <p:nvSpPr>
          <p:cNvPr id="22" name="Shape 20"/>
          <p:cNvSpPr/>
          <p:nvPr/>
        </p:nvSpPr>
        <p:spPr>
          <a:xfrm>
            <a:off x="4599432" y="3264408"/>
            <a:ext cx="4160520" cy="1353312"/>
          </a:xfrm>
          <a:prstGeom prst="rect">
            <a:avLst/>
          </a:prstGeom>
          <a:solidFill>
            <a:srgbClr val="FFFFFF"/>
          </a:solidFill>
          <a:ln w="12700">
            <a:solidFill>
              <a:srgbClr val="DEDEDE"/>
            </a:solidFill>
            <a:prstDash val="solid"/>
          </a:ln>
          <a:effectLst>
            <a:outerShdw blurRad="76200" dist="25400" dir="8100000" algn="bl" rotWithShape="0">
              <a:srgbClr val="000000">
                <a:alpha val="13000"/>
              </a:srgbClr>
            </a:outerShdw>
          </a:effectLst>
        </p:spPr>
      </p:sp>
      <p:sp>
        <p:nvSpPr>
          <p:cNvPr id="23" name="Shape 21"/>
          <p:cNvSpPr/>
          <p:nvPr/>
        </p:nvSpPr>
        <p:spPr>
          <a:xfrm>
            <a:off x="4599432" y="3264408"/>
            <a:ext cx="54864" cy="1353312"/>
          </a:xfrm>
          <a:prstGeom prst="rect">
            <a:avLst/>
          </a:prstGeom>
          <a:solidFill>
            <a:srgbClr val="FF6500"/>
          </a:solidFill>
          <a:ln w="12700">
            <a:solidFill>
              <a:srgbClr val="FF6500"/>
            </a:solidFill>
            <a:prstDash val="solid"/>
          </a:ln>
        </p:spPr>
      </p:sp>
      <p:sp>
        <p:nvSpPr>
          <p:cNvPr id="24" name="Text 22"/>
          <p:cNvSpPr/>
          <p:nvPr/>
        </p:nvSpPr>
        <p:spPr>
          <a:xfrm>
            <a:off x="4709160" y="3328416"/>
            <a:ext cx="3995928" cy="274320"/>
          </a:xfrm>
          <a:prstGeom prst="rect">
            <a:avLst/>
          </a:prstGeom>
          <a:noFill/>
          <a:ln/>
        </p:spPr>
        <p:txBody>
          <a:bodyPr wrap="square" lIns="0" tIns="0" rIns="0" bIns="0" rtlCol="0" anchor="ctr"/>
          <a:lstStyle/>
          <a:p>
            <a:pPr marL="0" indent="0">
              <a:buNone/>
            </a:pPr>
            <a:r>
              <a:rPr lang="en-US" sz="1250" b="1" dirty="0">
                <a:solidFill>
                  <a:srgbClr val="FF6500"/>
                </a:solidFill>
                <a:latin typeface="Arial" pitchFamily="34" charset="0"/>
                <a:ea typeface="Arial" pitchFamily="34" charset="-122"/>
                <a:cs typeface="Arial" pitchFamily="34" charset="-120"/>
              </a:rPr>
              <a:t>Audit &amp; Compliance</a:t>
            </a:r>
            <a:endParaRPr lang="en-US" sz="1250" dirty="0"/>
          </a:p>
        </p:txBody>
      </p:sp>
      <p:sp>
        <p:nvSpPr>
          <p:cNvPr id="25" name="Text 23"/>
          <p:cNvSpPr/>
          <p:nvPr/>
        </p:nvSpPr>
        <p:spPr>
          <a:xfrm>
            <a:off x="4709160" y="3630168"/>
            <a:ext cx="3995928" cy="896112"/>
          </a:xfrm>
          <a:prstGeom prst="rect">
            <a:avLst/>
          </a:prstGeom>
          <a:noFill/>
          <a:ln/>
        </p:spPr>
        <p:txBody>
          <a:bodyPr wrap="square" lIns="0" tIns="0" rIns="0" bIns="0" rtlCol="0" anchor="t"/>
          <a:lstStyle/>
          <a:p>
            <a:pPr marL="0" indent="0">
              <a:buNone/>
            </a:pPr>
            <a:r>
              <a:rPr lang="en-US" sz="1100" dirty="0">
                <a:solidFill>
                  <a:srgbClr val="2C2C2C"/>
                </a:solidFill>
                <a:latin typeface="Calibri" pitchFamily="34" charset="0"/>
                <a:ea typeface="Calibri" pitchFamily="34" charset="-122"/>
                <a:cs typeface="Calibri" pitchFamily="34" charset="-120"/>
              </a:rPr>
              <a:t>Regulated industries (banking, healthcare, aviation) require traceability evidence to prove every requirement was tested before deployment.</a:t>
            </a:r>
            <a:endParaRPr lang="en-US" sz="1100" dirty="0"/>
          </a:p>
        </p:txBody>
      </p:sp>
      <p:sp>
        <p:nvSpPr>
          <p:cNvPr id="26" name="Shape 24"/>
          <p:cNvSpPr/>
          <p:nvPr/>
        </p:nvSpPr>
        <p:spPr>
          <a:xfrm>
            <a:off x="228600" y="4572000"/>
            <a:ext cx="8732520" cy="201168"/>
          </a:xfrm>
          <a:prstGeom prst="rect">
            <a:avLst/>
          </a:prstGeom>
          <a:solidFill>
            <a:srgbClr val="F0F0F0"/>
          </a:solidFill>
          <a:ln w="12700">
            <a:solidFill>
              <a:srgbClr val="DEDEDE"/>
            </a:solidFill>
            <a:prstDash val="solid"/>
          </a:ln>
        </p:spPr>
      </p:sp>
      <p:sp>
        <p:nvSpPr>
          <p:cNvPr id="27" name="Text 25"/>
          <p:cNvSpPr/>
          <p:nvPr/>
        </p:nvSpPr>
        <p:spPr>
          <a:xfrm>
            <a:off x="320040" y="4581144"/>
            <a:ext cx="8503920" cy="182880"/>
          </a:xfrm>
          <a:prstGeom prst="rect">
            <a:avLst/>
          </a:prstGeom>
          <a:noFill/>
          <a:ln/>
        </p:spPr>
        <p:txBody>
          <a:bodyPr wrap="square" lIns="0" tIns="0" rIns="0" bIns="0" rtlCol="0" anchor="ctr"/>
          <a:lstStyle/>
          <a:p>
            <a:pPr marL="0" indent="0" algn="ctr">
              <a:buNone/>
            </a:pPr>
            <a:r>
              <a:rPr lang="en-US" sz="900" dirty="0">
                <a:solidFill>
                  <a:srgbClr val="5A5A5A"/>
                </a:solidFill>
                <a:latin typeface="Calibri" pitchFamily="34" charset="0"/>
                <a:ea typeface="Calibri" pitchFamily="34" charset="-122"/>
                <a:cs typeface="Calibri" pitchFamily="34" charset="-120"/>
              </a:rPr>
              <a:t>RTM Columns: Req ID  |  Requirement Description  |  Test Case ID  |  Test Case Description  |  Status  |  Remarks</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10">
    <p:bg>
      <p:bgPr>
        <a:solidFill>
          <a:srgbClr val="F5F5F5"/>
        </a:solidFill>
        <a:effectLst/>
      </p:bgPr>
    </p:bg>
    <p:spTree>
      <p:nvGrpSpPr>
        <p:cNvPr id="1" name=""/>
        <p:cNvGrpSpPr/>
        <p:nvPr/>
      </p:nvGrpSpPr>
      <p:grpSpPr>
        <a:xfrm>
          <a:off x="0" y="0"/>
          <a:ext cx="0" cy="0"/>
          <a:chOff x="0" y="0"/>
          <a:chExt cx="0" cy="0"/>
        </a:xfrm>
      </p:grpSpPr>
      <p:sp>
        <p:nvSpPr>
          <p:cNvPr id="2" name="Shape 0"/>
          <p:cNvSpPr/>
          <p:nvPr/>
        </p:nvSpPr>
        <p:spPr>
          <a:xfrm>
            <a:off x="0" y="0"/>
            <a:ext cx="9144000" cy="621792"/>
          </a:xfrm>
          <a:prstGeom prst="rect">
            <a:avLst/>
          </a:prstGeom>
          <a:solidFill>
            <a:srgbClr val="0D0D0D"/>
          </a:solidFill>
          <a:ln w="12700">
            <a:solidFill>
              <a:srgbClr val="0D0D0D"/>
            </a:solidFill>
            <a:prstDash val="solid"/>
          </a:ln>
        </p:spPr>
      </p:sp>
      <p:sp>
        <p:nvSpPr>
          <p:cNvPr id="3" name="Shape 1"/>
          <p:cNvSpPr/>
          <p:nvPr/>
        </p:nvSpPr>
        <p:spPr>
          <a:xfrm>
            <a:off x="0" y="0"/>
            <a:ext cx="64008" cy="621792"/>
          </a:xfrm>
          <a:prstGeom prst="rect">
            <a:avLst/>
          </a:prstGeom>
          <a:solidFill>
            <a:srgbClr val="FF6500"/>
          </a:solidFill>
          <a:ln w="12700">
            <a:solidFill>
              <a:srgbClr val="FF6500"/>
            </a:solidFill>
            <a:prstDash val="solid"/>
          </a:ln>
        </p:spPr>
      </p:sp>
      <p:sp>
        <p:nvSpPr>
          <p:cNvPr id="4" name="Text 2"/>
          <p:cNvSpPr/>
          <p:nvPr/>
        </p:nvSpPr>
        <p:spPr>
          <a:xfrm>
            <a:off x="201168" y="64008"/>
            <a:ext cx="8503920" cy="493776"/>
          </a:xfrm>
          <a:prstGeom prst="rect">
            <a:avLst/>
          </a:prstGeom>
          <a:noFill/>
          <a:ln/>
        </p:spPr>
        <p:txBody>
          <a:bodyPr wrap="square" lIns="0" tIns="0" rIns="0" bIns="0" rtlCol="0" anchor="ctr"/>
          <a:lstStyle/>
          <a:p>
            <a:pPr marL="0" indent="0">
              <a:buNone/>
            </a:pPr>
            <a:r>
              <a:rPr lang="en-US" sz="1900" b="1" dirty="0">
                <a:solidFill>
                  <a:srgbClr val="FFFFFF"/>
                </a:solidFill>
                <a:latin typeface="Arial" pitchFamily="34" charset="0"/>
                <a:ea typeface="Arial" pitchFamily="34" charset="-122"/>
                <a:cs typeface="Arial" pitchFamily="34" charset="-120"/>
              </a:rPr>
              <a:t>RTM — Real-World Example (E-Commerce Login Module)</a:t>
            </a:r>
            <a:endParaRPr lang="en-US" sz="1900" dirty="0"/>
          </a:p>
        </p:txBody>
      </p:sp>
      <p:sp>
        <p:nvSpPr>
          <p:cNvPr id="5" name="Shape 3"/>
          <p:cNvSpPr/>
          <p:nvPr/>
        </p:nvSpPr>
        <p:spPr>
          <a:xfrm>
            <a:off x="0" y="4828032"/>
            <a:ext cx="9144000" cy="315468"/>
          </a:xfrm>
          <a:prstGeom prst="rect">
            <a:avLst/>
          </a:prstGeom>
          <a:solidFill>
            <a:srgbClr val="0D0D0D"/>
          </a:solidFill>
          <a:ln w="12700">
            <a:solidFill>
              <a:srgbClr val="0D0D0D"/>
            </a:solidFill>
            <a:prstDash val="solid"/>
          </a:ln>
        </p:spPr>
      </p:sp>
      <p:sp>
        <p:nvSpPr>
          <p:cNvPr id="6" name="Text 4"/>
          <p:cNvSpPr/>
          <p:nvPr/>
        </p:nvSpPr>
        <p:spPr>
          <a:xfrm>
            <a:off x="182880" y="4855464"/>
            <a:ext cx="7315200" cy="228600"/>
          </a:xfrm>
          <a:prstGeom prst="rect">
            <a:avLst/>
          </a:prstGeom>
          <a:noFill/>
          <a:ln/>
        </p:spPr>
        <p:txBody>
          <a:bodyPr wrap="square" lIns="0" tIns="0" rIns="0" bIns="0" rtlCol="0" anchor="ctr"/>
          <a:lstStyle/>
          <a:p>
            <a:pPr marL="0" indent="0">
              <a:buNone/>
            </a:pPr>
            <a:r>
              <a:rPr lang="en-US" sz="850" dirty="0">
                <a:solidFill>
                  <a:srgbClr val="999999"/>
                </a:solidFill>
                <a:latin typeface="Calibri" pitchFamily="34" charset="0"/>
                <a:ea typeface="Calibri" pitchFamily="34" charset="-122"/>
                <a:cs typeface="Calibri" pitchFamily="34" charset="-120"/>
              </a:rPr>
              <a:t>Quality Engineering | Test Case Development in STLC</a:t>
            </a:r>
            <a:endParaRPr lang="en-US" sz="850" dirty="0"/>
          </a:p>
        </p:txBody>
      </p:sp>
      <p:sp>
        <p:nvSpPr>
          <p:cNvPr id="7" name="Text 5"/>
          <p:cNvSpPr/>
          <p:nvPr/>
        </p:nvSpPr>
        <p:spPr>
          <a:xfrm>
            <a:off x="7406640" y="4855464"/>
            <a:ext cx="1554480" cy="228600"/>
          </a:xfrm>
          <a:prstGeom prst="rect">
            <a:avLst/>
          </a:prstGeom>
          <a:noFill/>
          <a:ln/>
        </p:spPr>
        <p:txBody>
          <a:bodyPr wrap="square" lIns="0" tIns="0" rIns="0" bIns="0" rtlCol="0" anchor="ctr"/>
          <a:lstStyle/>
          <a:p>
            <a:pPr marL="0" indent="0" algn="r">
              <a:buNone/>
            </a:pPr>
            <a:r>
              <a:rPr lang="en-US" sz="850" b="1" dirty="0">
                <a:solidFill>
                  <a:srgbClr val="FF6500"/>
                </a:solidFill>
                <a:latin typeface="Calibri" pitchFamily="34" charset="0"/>
                <a:ea typeface="Calibri" pitchFamily="34" charset="-122"/>
                <a:cs typeface="Calibri" pitchFamily="34" charset="-120"/>
              </a:rPr>
              <a:t>INTERNAL TRAINING</a:t>
            </a:r>
            <a:endParaRPr lang="en-US" sz="85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228600" y="777240"/>
          <a:ext cx="7863840" cy="3950208"/>
        </p:xfrm>
        <a:graphic>
          <a:graphicData uri="http://schemas.openxmlformats.org/drawingml/2006/table">
            <a:tbl>
              <a:tblPr/>
              <a:tblGrid>
                <a:gridCol w="777240">
                  <a:extLst>
                    <a:ext uri="{9D8B030D-6E8A-4147-A177-3AD203B41FA5}">
                      <a16:colId xmlns:a16="http://schemas.microsoft.com/office/drawing/2014/main" val="20000"/>
                    </a:ext>
                  </a:extLst>
                </a:gridCol>
                <a:gridCol w="2286000">
                  <a:extLst>
                    <a:ext uri="{9D8B030D-6E8A-4147-A177-3AD203B41FA5}">
                      <a16:colId xmlns:a16="http://schemas.microsoft.com/office/drawing/2014/main" val="20001"/>
                    </a:ext>
                  </a:extLst>
                </a:gridCol>
                <a:gridCol w="914400">
                  <a:extLst>
                    <a:ext uri="{9D8B030D-6E8A-4147-A177-3AD203B41FA5}">
                      <a16:colId xmlns:a16="http://schemas.microsoft.com/office/drawing/2014/main" val="20002"/>
                    </a:ext>
                  </a:extLst>
                </a:gridCol>
                <a:gridCol w="2286000">
                  <a:extLst>
                    <a:ext uri="{9D8B030D-6E8A-4147-A177-3AD203B41FA5}">
                      <a16:colId xmlns:a16="http://schemas.microsoft.com/office/drawing/2014/main" val="20003"/>
                    </a:ext>
                  </a:extLst>
                </a:gridCol>
                <a:gridCol w="685800">
                  <a:extLst>
                    <a:ext uri="{9D8B030D-6E8A-4147-A177-3AD203B41FA5}">
                      <a16:colId xmlns:a16="http://schemas.microsoft.com/office/drawing/2014/main" val="20004"/>
                    </a:ext>
                  </a:extLst>
                </a:gridCol>
                <a:gridCol w="914400">
                  <a:extLst>
                    <a:ext uri="{9D8B030D-6E8A-4147-A177-3AD203B41FA5}">
                      <a16:colId xmlns:a16="http://schemas.microsoft.com/office/drawing/2014/main" val="20005"/>
                    </a:ext>
                  </a:extLst>
                </a:gridCol>
              </a:tblGrid>
              <a:tr h="438912">
                <a:tc>
                  <a:txBody>
                    <a:bodyPr/>
                    <a:lstStyle/>
                    <a:p>
                      <a:pPr marL="0" indent="0">
                        <a:buNone/>
                      </a:pPr>
                      <a:r>
                        <a:rPr lang="en-US" sz="1000" b="1" dirty="0">
                          <a:solidFill>
                            <a:srgbClr val="FF6500"/>
                          </a:solidFill>
                          <a:latin typeface="Arial" pitchFamily="34" charset="0"/>
                          <a:ea typeface="Arial" pitchFamily="34" charset="-122"/>
                          <a:cs typeface="Arial" pitchFamily="34" charset="-120"/>
                        </a:rPr>
                        <a:t>Req ID</a:t>
                      </a:r>
                      <a:endParaRPr lang="en-US" sz="1000" dirty="0">
                        <a:latin typeface="Arial" charset="0"/>
                        <a:ea typeface="Arial" charset="0"/>
                        <a:cs typeface="Arial" charset="0"/>
                      </a:endParaRPr>
                    </a:p>
                  </a:txBody>
                  <a:tcPr marL="38100" marR="38100" marT="38100" marB="38100">
                    <a:lnL w="12700" cap="flat" cmpd="sng" algn="ctr">
                      <a:solidFill>
                        <a:srgbClr val="DEDEDE"/>
                      </a:solidFill>
                      <a:prstDash val="solid"/>
                      <a:round/>
                      <a:headEnd type="none" w="med" len="med"/>
                      <a:tailEnd type="none" w="med" len="med"/>
                    </a:lnL>
                    <a:lnR w="12700" cap="flat" cmpd="sng" algn="ctr">
                      <a:solidFill>
                        <a:srgbClr val="DEDEDE"/>
                      </a:solidFill>
                      <a:prstDash val="solid"/>
                      <a:round/>
                      <a:headEnd type="none" w="med" len="med"/>
                      <a:tailEnd type="none" w="med" len="med"/>
                    </a:lnR>
                    <a:lnT w="12700" cap="flat" cmpd="sng" algn="ctr">
                      <a:solidFill>
                        <a:srgbClr val="DEDEDE"/>
                      </a:solidFill>
                      <a:prstDash val="solid"/>
                      <a:round/>
                      <a:headEnd type="none" w="med" len="med"/>
                      <a:tailEnd type="none" w="med" len="med"/>
                    </a:lnT>
                    <a:lnB w="12700" cap="flat" cmpd="sng" algn="ctr">
                      <a:solidFill>
                        <a:srgbClr val="DEDEDE"/>
                      </a:solidFill>
                      <a:prstDash val="solid"/>
                      <a:round/>
                      <a:headEnd type="none" w="med" len="med"/>
                      <a:tailEnd type="none" w="med" len="med"/>
                    </a:lnB>
                    <a:solidFill>
                      <a:srgbClr val="0D0D0D"/>
                    </a:solidFill>
                  </a:tcPr>
                </a:tc>
                <a:tc>
                  <a:txBody>
                    <a:bodyPr/>
                    <a:lstStyle/>
                    <a:p>
                      <a:pPr marL="0" indent="0">
                        <a:buNone/>
                      </a:pPr>
                      <a:r>
                        <a:rPr lang="en-US" sz="1000" b="1" dirty="0">
                          <a:solidFill>
                            <a:srgbClr val="FF6500"/>
                          </a:solidFill>
                          <a:latin typeface="Arial" pitchFamily="34" charset="0"/>
                          <a:ea typeface="Arial" pitchFamily="34" charset="-122"/>
                          <a:cs typeface="Arial" pitchFamily="34" charset="-120"/>
                        </a:rPr>
                        <a:t>Requirement Description</a:t>
                      </a:r>
                      <a:endParaRPr lang="en-US" sz="1000" dirty="0">
                        <a:latin typeface="Arial" charset="0"/>
                        <a:ea typeface="Arial" charset="0"/>
                        <a:cs typeface="Arial" charset="0"/>
                      </a:endParaRPr>
                    </a:p>
                  </a:txBody>
                  <a:tcPr marL="38100" marR="38100" marT="38100" marB="38100">
                    <a:lnL w="12700" cap="flat" cmpd="sng" algn="ctr">
                      <a:solidFill>
                        <a:srgbClr val="DEDEDE"/>
                      </a:solidFill>
                      <a:prstDash val="solid"/>
                      <a:round/>
                      <a:headEnd type="none" w="med" len="med"/>
                      <a:tailEnd type="none" w="med" len="med"/>
                    </a:lnL>
                    <a:lnR w="12700" cap="flat" cmpd="sng" algn="ctr">
                      <a:solidFill>
                        <a:srgbClr val="DEDEDE"/>
                      </a:solidFill>
                      <a:prstDash val="solid"/>
                      <a:round/>
                      <a:headEnd type="none" w="med" len="med"/>
                      <a:tailEnd type="none" w="med" len="med"/>
                    </a:lnR>
                    <a:lnT w="12700" cap="flat" cmpd="sng" algn="ctr">
                      <a:solidFill>
                        <a:srgbClr val="DEDEDE"/>
                      </a:solidFill>
                      <a:prstDash val="solid"/>
                      <a:round/>
                      <a:headEnd type="none" w="med" len="med"/>
                      <a:tailEnd type="none" w="med" len="med"/>
                    </a:lnT>
                    <a:lnB w="12700" cap="flat" cmpd="sng" algn="ctr">
                      <a:solidFill>
                        <a:srgbClr val="DEDEDE"/>
                      </a:solidFill>
                      <a:prstDash val="solid"/>
                      <a:round/>
                      <a:headEnd type="none" w="med" len="med"/>
                      <a:tailEnd type="none" w="med" len="med"/>
                    </a:lnB>
                    <a:solidFill>
                      <a:srgbClr val="0D0D0D"/>
                    </a:solidFill>
                  </a:tcPr>
                </a:tc>
                <a:tc>
                  <a:txBody>
                    <a:bodyPr/>
                    <a:lstStyle/>
                    <a:p>
                      <a:pPr marL="0" indent="0">
                        <a:buNone/>
                      </a:pPr>
                      <a:r>
                        <a:rPr lang="en-US" sz="1000" b="1" dirty="0">
                          <a:solidFill>
                            <a:srgbClr val="FF6500"/>
                          </a:solidFill>
                          <a:latin typeface="Arial" pitchFamily="34" charset="0"/>
                          <a:ea typeface="Arial" pitchFamily="34" charset="-122"/>
                          <a:cs typeface="Arial" pitchFamily="34" charset="-120"/>
                        </a:rPr>
                        <a:t>Test Case ID</a:t>
                      </a:r>
                      <a:endParaRPr lang="en-US" sz="1000" dirty="0">
                        <a:latin typeface="Arial" charset="0"/>
                        <a:ea typeface="Arial" charset="0"/>
                        <a:cs typeface="Arial" charset="0"/>
                      </a:endParaRPr>
                    </a:p>
                  </a:txBody>
                  <a:tcPr marL="38100" marR="38100" marT="38100" marB="38100">
                    <a:lnL w="12700" cap="flat" cmpd="sng" algn="ctr">
                      <a:solidFill>
                        <a:srgbClr val="DEDEDE"/>
                      </a:solidFill>
                      <a:prstDash val="solid"/>
                      <a:round/>
                      <a:headEnd type="none" w="med" len="med"/>
                      <a:tailEnd type="none" w="med" len="med"/>
                    </a:lnL>
                    <a:lnR w="12700" cap="flat" cmpd="sng" algn="ctr">
                      <a:solidFill>
                        <a:srgbClr val="DEDEDE"/>
                      </a:solidFill>
                      <a:prstDash val="solid"/>
                      <a:round/>
                      <a:headEnd type="none" w="med" len="med"/>
                      <a:tailEnd type="none" w="med" len="med"/>
                    </a:lnR>
                    <a:lnT w="12700" cap="flat" cmpd="sng" algn="ctr">
                      <a:solidFill>
                        <a:srgbClr val="DEDEDE"/>
                      </a:solidFill>
                      <a:prstDash val="solid"/>
                      <a:round/>
                      <a:headEnd type="none" w="med" len="med"/>
                      <a:tailEnd type="none" w="med" len="med"/>
                    </a:lnT>
                    <a:lnB w="12700" cap="flat" cmpd="sng" algn="ctr">
                      <a:solidFill>
                        <a:srgbClr val="DEDEDE"/>
                      </a:solidFill>
                      <a:prstDash val="solid"/>
                      <a:round/>
                      <a:headEnd type="none" w="med" len="med"/>
                      <a:tailEnd type="none" w="med" len="med"/>
                    </a:lnB>
                    <a:solidFill>
                      <a:srgbClr val="0D0D0D"/>
                    </a:solidFill>
                  </a:tcPr>
                </a:tc>
                <a:tc>
                  <a:txBody>
                    <a:bodyPr/>
                    <a:lstStyle/>
                    <a:p>
                      <a:pPr marL="0" indent="0">
                        <a:buNone/>
                      </a:pPr>
                      <a:r>
                        <a:rPr lang="en-US" sz="1000" b="1" dirty="0">
                          <a:solidFill>
                            <a:srgbClr val="FF6500"/>
                          </a:solidFill>
                          <a:latin typeface="Arial" pitchFamily="34" charset="0"/>
                          <a:ea typeface="Arial" pitchFamily="34" charset="-122"/>
                          <a:cs typeface="Arial" pitchFamily="34" charset="-120"/>
                        </a:rPr>
                        <a:t>Test Case Description</a:t>
                      </a:r>
                      <a:endParaRPr lang="en-US" sz="1000" dirty="0">
                        <a:latin typeface="Arial" charset="0"/>
                        <a:ea typeface="Arial" charset="0"/>
                        <a:cs typeface="Arial" charset="0"/>
                      </a:endParaRPr>
                    </a:p>
                  </a:txBody>
                  <a:tcPr marL="38100" marR="38100" marT="38100" marB="38100">
                    <a:lnL w="12700" cap="flat" cmpd="sng" algn="ctr">
                      <a:solidFill>
                        <a:srgbClr val="DEDEDE"/>
                      </a:solidFill>
                      <a:prstDash val="solid"/>
                      <a:round/>
                      <a:headEnd type="none" w="med" len="med"/>
                      <a:tailEnd type="none" w="med" len="med"/>
                    </a:lnL>
                    <a:lnR w="12700" cap="flat" cmpd="sng" algn="ctr">
                      <a:solidFill>
                        <a:srgbClr val="DEDEDE"/>
                      </a:solidFill>
                      <a:prstDash val="solid"/>
                      <a:round/>
                      <a:headEnd type="none" w="med" len="med"/>
                      <a:tailEnd type="none" w="med" len="med"/>
                    </a:lnR>
                    <a:lnT w="12700" cap="flat" cmpd="sng" algn="ctr">
                      <a:solidFill>
                        <a:srgbClr val="DEDEDE"/>
                      </a:solidFill>
                      <a:prstDash val="solid"/>
                      <a:round/>
                      <a:headEnd type="none" w="med" len="med"/>
                      <a:tailEnd type="none" w="med" len="med"/>
                    </a:lnT>
                    <a:lnB w="12700" cap="flat" cmpd="sng" algn="ctr">
                      <a:solidFill>
                        <a:srgbClr val="DEDEDE"/>
                      </a:solidFill>
                      <a:prstDash val="solid"/>
                      <a:round/>
                      <a:headEnd type="none" w="med" len="med"/>
                      <a:tailEnd type="none" w="med" len="med"/>
                    </a:lnB>
                    <a:solidFill>
                      <a:srgbClr val="0D0D0D"/>
                    </a:solidFill>
                  </a:tcPr>
                </a:tc>
                <a:tc>
                  <a:txBody>
                    <a:bodyPr/>
                    <a:lstStyle/>
                    <a:p>
                      <a:pPr marL="0" indent="0">
                        <a:buNone/>
                      </a:pPr>
                      <a:r>
                        <a:rPr lang="en-US" sz="1000" b="1" dirty="0">
                          <a:solidFill>
                            <a:srgbClr val="FF6500"/>
                          </a:solidFill>
                          <a:latin typeface="Arial" pitchFamily="34" charset="0"/>
                          <a:ea typeface="Arial" pitchFamily="34" charset="-122"/>
                          <a:cs typeface="Arial" pitchFamily="34" charset="-120"/>
                        </a:rPr>
                        <a:t>Priority</a:t>
                      </a:r>
                      <a:endParaRPr lang="en-US" sz="1000" dirty="0">
                        <a:latin typeface="Arial" charset="0"/>
                        <a:ea typeface="Arial" charset="0"/>
                        <a:cs typeface="Arial" charset="0"/>
                      </a:endParaRPr>
                    </a:p>
                  </a:txBody>
                  <a:tcPr marL="38100" marR="38100" marT="38100" marB="38100">
                    <a:lnL w="12700" cap="flat" cmpd="sng" algn="ctr">
                      <a:solidFill>
                        <a:srgbClr val="DEDEDE"/>
                      </a:solidFill>
                      <a:prstDash val="solid"/>
                      <a:round/>
                      <a:headEnd type="none" w="med" len="med"/>
                      <a:tailEnd type="none" w="med" len="med"/>
                    </a:lnL>
                    <a:lnR w="12700" cap="flat" cmpd="sng" algn="ctr">
                      <a:solidFill>
                        <a:srgbClr val="DEDEDE"/>
                      </a:solidFill>
                      <a:prstDash val="solid"/>
                      <a:round/>
                      <a:headEnd type="none" w="med" len="med"/>
                      <a:tailEnd type="none" w="med" len="med"/>
                    </a:lnR>
                    <a:lnT w="12700" cap="flat" cmpd="sng" algn="ctr">
                      <a:solidFill>
                        <a:srgbClr val="DEDEDE"/>
                      </a:solidFill>
                      <a:prstDash val="solid"/>
                      <a:round/>
                      <a:headEnd type="none" w="med" len="med"/>
                      <a:tailEnd type="none" w="med" len="med"/>
                    </a:lnT>
                    <a:lnB w="12700" cap="flat" cmpd="sng" algn="ctr">
                      <a:solidFill>
                        <a:srgbClr val="DEDEDE"/>
                      </a:solidFill>
                      <a:prstDash val="solid"/>
                      <a:round/>
                      <a:headEnd type="none" w="med" len="med"/>
                      <a:tailEnd type="none" w="med" len="med"/>
                    </a:lnB>
                    <a:solidFill>
                      <a:srgbClr val="0D0D0D"/>
                    </a:solidFill>
                  </a:tcPr>
                </a:tc>
                <a:tc>
                  <a:txBody>
                    <a:bodyPr/>
                    <a:lstStyle/>
                    <a:p>
                      <a:pPr marL="0" indent="0">
                        <a:buNone/>
                      </a:pPr>
                      <a:r>
                        <a:rPr lang="en-US" sz="1000" b="1" dirty="0">
                          <a:solidFill>
                            <a:srgbClr val="FF6500"/>
                          </a:solidFill>
                          <a:latin typeface="Arial" pitchFamily="34" charset="0"/>
                          <a:ea typeface="Arial" pitchFamily="34" charset="-122"/>
                          <a:cs typeface="Arial" pitchFamily="34" charset="-120"/>
                        </a:rPr>
                        <a:t>Status</a:t>
                      </a:r>
                      <a:endParaRPr lang="en-US" sz="1000" dirty="0">
                        <a:latin typeface="Arial" charset="0"/>
                        <a:ea typeface="Arial" charset="0"/>
                        <a:cs typeface="Arial" charset="0"/>
                      </a:endParaRPr>
                    </a:p>
                  </a:txBody>
                  <a:tcPr marL="38100" marR="38100" marT="38100" marB="38100">
                    <a:lnL w="12700" cap="flat" cmpd="sng" algn="ctr">
                      <a:solidFill>
                        <a:srgbClr val="DEDEDE"/>
                      </a:solidFill>
                      <a:prstDash val="solid"/>
                      <a:round/>
                      <a:headEnd type="none" w="med" len="med"/>
                      <a:tailEnd type="none" w="med" len="med"/>
                    </a:lnL>
                    <a:lnR w="12700" cap="flat" cmpd="sng" algn="ctr">
                      <a:solidFill>
                        <a:srgbClr val="DEDEDE"/>
                      </a:solidFill>
                      <a:prstDash val="solid"/>
                      <a:round/>
                      <a:headEnd type="none" w="med" len="med"/>
                      <a:tailEnd type="none" w="med" len="med"/>
                    </a:lnR>
                    <a:lnT w="12700" cap="flat" cmpd="sng" algn="ctr">
                      <a:solidFill>
                        <a:srgbClr val="DEDEDE"/>
                      </a:solidFill>
                      <a:prstDash val="solid"/>
                      <a:round/>
                      <a:headEnd type="none" w="med" len="med"/>
                      <a:tailEnd type="none" w="med" len="med"/>
                    </a:lnT>
                    <a:lnB w="12700" cap="flat" cmpd="sng" algn="ctr">
                      <a:solidFill>
                        <a:srgbClr val="DEDEDE"/>
                      </a:solidFill>
                      <a:prstDash val="solid"/>
                      <a:round/>
                      <a:headEnd type="none" w="med" len="med"/>
                      <a:tailEnd type="none" w="med" len="med"/>
                    </a:lnB>
                    <a:solidFill>
                      <a:srgbClr val="0D0D0D"/>
                    </a:solidFill>
                  </a:tcPr>
                </a:tc>
                <a:extLst>
                  <a:ext uri="{0D108BD9-81ED-4DB2-BD59-A6C34878D82A}">
                    <a16:rowId xmlns:a16="http://schemas.microsoft.com/office/drawing/2014/main" val="10000"/>
                  </a:ext>
                </a:extLst>
              </a:tr>
              <a:tr h="438912">
                <a:tc>
                  <a:txBody>
                    <a:bodyPr/>
                    <a:lstStyle/>
                    <a:p>
                      <a:pPr marL="0" indent="0">
                        <a:buNone/>
                      </a:pPr>
                      <a:r>
                        <a:rPr lang="en-US" sz="1000" dirty="0">
                          <a:solidFill>
                            <a:srgbClr val="2C2C2C"/>
                          </a:solidFill>
                          <a:latin typeface="Calibri" pitchFamily="34" charset="0"/>
                          <a:ea typeface="Calibri" pitchFamily="34" charset="-122"/>
                          <a:cs typeface="Calibri" pitchFamily="34" charset="-120"/>
                        </a:rPr>
                        <a:t>REQ-001</a:t>
                      </a:r>
                      <a:endParaRPr lang="en-US" sz="1000" dirty="0">
                        <a:latin typeface="Calibri" charset="0"/>
                        <a:ea typeface="Calibri" charset="0"/>
                        <a:cs typeface="Calibri" charset="0"/>
                      </a:endParaRPr>
                    </a:p>
                  </a:txBody>
                  <a:tcPr marL="38100" marR="38100" marT="38100" marB="38100" anchor="ctr">
                    <a:lnL w="12700" cap="flat" cmpd="sng" algn="ctr">
                      <a:solidFill>
                        <a:srgbClr val="DEDEDE"/>
                      </a:solidFill>
                      <a:prstDash val="solid"/>
                      <a:round/>
                      <a:headEnd type="none" w="med" len="med"/>
                      <a:tailEnd type="none" w="med" len="med"/>
                    </a:lnL>
                    <a:lnR w="12700" cap="flat" cmpd="sng" algn="ctr">
                      <a:solidFill>
                        <a:srgbClr val="DEDEDE"/>
                      </a:solidFill>
                      <a:prstDash val="solid"/>
                      <a:round/>
                      <a:headEnd type="none" w="med" len="med"/>
                      <a:tailEnd type="none" w="med" len="med"/>
                    </a:lnR>
                    <a:lnT w="12700" cap="flat" cmpd="sng" algn="ctr">
                      <a:solidFill>
                        <a:srgbClr val="DEDEDE"/>
                      </a:solidFill>
                      <a:prstDash val="solid"/>
                      <a:round/>
                      <a:headEnd type="none" w="med" len="med"/>
                      <a:tailEnd type="none" w="med" len="med"/>
                    </a:lnT>
                    <a:lnB w="12700" cap="flat" cmpd="sng" algn="ctr">
                      <a:solidFill>
                        <a:srgbClr val="DEDEDE"/>
                      </a:solidFill>
                      <a:prstDash val="solid"/>
                      <a:round/>
                      <a:headEnd type="none" w="med" len="med"/>
                      <a:tailEnd type="none" w="med" len="med"/>
                    </a:lnB>
                    <a:solidFill>
                      <a:srgbClr val="FFFFFF"/>
                    </a:solidFill>
                  </a:tcPr>
                </a:tc>
                <a:tc>
                  <a:txBody>
                    <a:bodyPr/>
                    <a:lstStyle/>
                    <a:p>
                      <a:pPr marL="0" indent="0">
                        <a:buNone/>
                      </a:pPr>
                      <a:r>
                        <a:rPr lang="en-US" sz="1000" dirty="0">
                          <a:solidFill>
                            <a:srgbClr val="2C2C2C"/>
                          </a:solidFill>
                          <a:latin typeface="Calibri" pitchFamily="34" charset="0"/>
                          <a:ea typeface="Calibri" pitchFamily="34" charset="-122"/>
                          <a:cs typeface="Calibri" pitchFamily="34" charset="-120"/>
                        </a:rPr>
                        <a:t>User must log in with valid email and password</a:t>
                      </a:r>
                      <a:endParaRPr lang="en-US" sz="1000" dirty="0">
                        <a:latin typeface="Calibri" charset="0"/>
                        <a:ea typeface="Calibri" charset="0"/>
                        <a:cs typeface="Calibri" charset="0"/>
                      </a:endParaRPr>
                    </a:p>
                  </a:txBody>
                  <a:tcPr marL="38100" marR="38100" marT="38100" marB="38100" anchor="ctr">
                    <a:lnL w="12700" cap="flat" cmpd="sng" algn="ctr">
                      <a:solidFill>
                        <a:srgbClr val="DEDEDE"/>
                      </a:solidFill>
                      <a:prstDash val="solid"/>
                      <a:round/>
                      <a:headEnd type="none" w="med" len="med"/>
                      <a:tailEnd type="none" w="med" len="med"/>
                    </a:lnL>
                    <a:lnR w="12700" cap="flat" cmpd="sng" algn="ctr">
                      <a:solidFill>
                        <a:srgbClr val="DEDEDE"/>
                      </a:solidFill>
                      <a:prstDash val="solid"/>
                      <a:round/>
                      <a:headEnd type="none" w="med" len="med"/>
                      <a:tailEnd type="none" w="med" len="med"/>
                    </a:lnR>
                    <a:lnT w="12700" cap="flat" cmpd="sng" algn="ctr">
                      <a:solidFill>
                        <a:srgbClr val="DEDEDE"/>
                      </a:solidFill>
                      <a:prstDash val="solid"/>
                      <a:round/>
                      <a:headEnd type="none" w="med" len="med"/>
                      <a:tailEnd type="none" w="med" len="med"/>
                    </a:lnT>
                    <a:lnB w="12700" cap="flat" cmpd="sng" algn="ctr">
                      <a:solidFill>
                        <a:srgbClr val="DEDEDE"/>
                      </a:solidFill>
                      <a:prstDash val="solid"/>
                      <a:round/>
                      <a:headEnd type="none" w="med" len="med"/>
                      <a:tailEnd type="none" w="med" len="med"/>
                    </a:lnB>
                    <a:solidFill>
                      <a:srgbClr val="FFFFFF"/>
                    </a:solidFill>
                  </a:tcPr>
                </a:tc>
                <a:tc>
                  <a:txBody>
                    <a:bodyPr/>
                    <a:lstStyle/>
                    <a:p>
                      <a:pPr marL="0" indent="0">
                        <a:buNone/>
                      </a:pPr>
                      <a:r>
                        <a:rPr lang="en-US" sz="1000" dirty="0">
                          <a:solidFill>
                            <a:srgbClr val="2C2C2C"/>
                          </a:solidFill>
                          <a:latin typeface="Calibri" pitchFamily="34" charset="0"/>
                          <a:ea typeface="Calibri" pitchFamily="34" charset="-122"/>
                          <a:cs typeface="Calibri" pitchFamily="34" charset="-120"/>
                        </a:rPr>
                        <a:t>TC_LOGIN_001</a:t>
                      </a:r>
                      <a:endParaRPr lang="en-US" sz="1000" dirty="0">
                        <a:latin typeface="Calibri" charset="0"/>
                        <a:ea typeface="Calibri" charset="0"/>
                        <a:cs typeface="Calibri" charset="0"/>
                      </a:endParaRPr>
                    </a:p>
                  </a:txBody>
                  <a:tcPr marL="38100" marR="38100" marT="38100" marB="38100" anchor="ctr">
                    <a:lnL w="12700" cap="flat" cmpd="sng" algn="ctr">
                      <a:solidFill>
                        <a:srgbClr val="DEDEDE"/>
                      </a:solidFill>
                      <a:prstDash val="solid"/>
                      <a:round/>
                      <a:headEnd type="none" w="med" len="med"/>
                      <a:tailEnd type="none" w="med" len="med"/>
                    </a:lnL>
                    <a:lnR w="12700" cap="flat" cmpd="sng" algn="ctr">
                      <a:solidFill>
                        <a:srgbClr val="DEDEDE"/>
                      </a:solidFill>
                      <a:prstDash val="solid"/>
                      <a:round/>
                      <a:headEnd type="none" w="med" len="med"/>
                      <a:tailEnd type="none" w="med" len="med"/>
                    </a:lnR>
                    <a:lnT w="12700" cap="flat" cmpd="sng" algn="ctr">
                      <a:solidFill>
                        <a:srgbClr val="DEDEDE"/>
                      </a:solidFill>
                      <a:prstDash val="solid"/>
                      <a:round/>
                      <a:headEnd type="none" w="med" len="med"/>
                      <a:tailEnd type="none" w="med" len="med"/>
                    </a:lnT>
                    <a:lnB w="12700" cap="flat" cmpd="sng" algn="ctr">
                      <a:solidFill>
                        <a:srgbClr val="DEDEDE"/>
                      </a:solidFill>
                      <a:prstDash val="solid"/>
                      <a:round/>
                      <a:headEnd type="none" w="med" len="med"/>
                      <a:tailEnd type="none" w="med" len="med"/>
                    </a:lnB>
                    <a:solidFill>
                      <a:srgbClr val="FFFFFF"/>
                    </a:solidFill>
                  </a:tcPr>
                </a:tc>
                <a:tc>
                  <a:txBody>
                    <a:bodyPr/>
                    <a:lstStyle/>
                    <a:p>
                      <a:pPr marL="0" indent="0">
                        <a:buNone/>
                      </a:pPr>
                      <a:r>
                        <a:rPr lang="en-US" sz="1000" dirty="0">
                          <a:solidFill>
                            <a:srgbClr val="2C2C2C"/>
                          </a:solidFill>
                          <a:latin typeface="Calibri" pitchFamily="34" charset="0"/>
                          <a:ea typeface="Calibri" pitchFamily="34" charset="-122"/>
                          <a:cs typeface="Calibri" pitchFamily="34" charset="-120"/>
                        </a:rPr>
                        <a:t>Verify login with valid credentials</a:t>
                      </a:r>
                      <a:endParaRPr lang="en-US" sz="1000" dirty="0">
                        <a:latin typeface="Calibri" charset="0"/>
                        <a:ea typeface="Calibri" charset="0"/>
                        <a:cs typeface="Calibri" charset="0"/>
                      </a:endParaRPr>
                    </a:p>
                  </a:txBody>
                  <a:tcPr marL="38100" marR="38100" marT="38100" marB="38100" anchor="ctr">
                    <a:lnL w="12700" cap="flat" cmpd="sng" algn="ctr">
                      <a:solidFill>
                        <a:srgbClr val="DEDEDE"/>
                      </a:solidFill>
                      <a:prstDash val="solid"/>
                      <a:round/>
                      <a:headEnd type="none" w="med" len="med"/>
                      <a:tailEnd type="none" w="med" len="med"/>
                    </a:lnL>
                    <a:lnR w="12700" cap="flat" cmpd="sng" algn="ctr">
                      <a:solidFill>
                        <a:srgbClr val="DEDEDE"/>
                      </a:solidFill>
                      <a:prstDash val="solid"/>
                      <a:round/>
                      <a:headEnd type="none" w="med" len="med"/>
                      <a:tailEnd type="none" w="med" len="med"/>
                    </a:lnR>
                    <a:lnT w="12700" cap="flat" cmpd="sng" algn="ctr">
                      <a:solidFill>
                        <a:srgbClr val="DEDEDE"/>
                      </a:solidFill>
                      <a:prstDash val="solid"/>
                      <a:round/>
                      <a:headEnd type="none" w="med" len="med"/>
                      <a:tailEnd type="none" w="med" len="med"/>
                    </a:lnT>
                    <a:lnB w="12700" cap="flat" cmpd="sng" algn="ctr">
                      <a:solidFill>
                        <a:srgbClr val="DEDEDE"/>
                      </a:solidFill>
                      <a:prstDash val="solid"/>
                      <a:round/>
                      <a:headEnd type="none" w="med" len="med"/>
                      <a:tailEnd type="none" w="med" len="med"/>
                    </a:lnB>
                    <a:solidFill>
                      <a:srgbClr val="FFFFFF"/>
                    </a:solidFill>
                  </a:tcPr>
                </a:tc>
                <a:tc>
                  <a:txBody>
                    <a:bodyPr/>
                    <a:lstStyle/>
                    <a:p>
                      <a:pPr marL="0" indent="0">
                        <a:buNone/>
                      </a:pPr>
                      <a:r>
                        <a:rPr lang="en-US" sz="1000" dirty="0">
                          <a:solidFill>
                            <a:srgbClr val="2C2C2C"/>
                          </a:solidFill>
                          <a:latin typeface="Calibri" pitchFamily="34" charset="0"/>
                          <a:ea typeface="Calibri" pitchFamily="34" charset="-122"/>
                          <a:cs typeface="Calibri" pitchFamily="34" charset="-120"/>
                        </a:rPr>
                        <a:t>High</a:t>
                      </a:r>
                      <a:endParaRPr lang="en-US" sz="1000" dirty="0">
                        <a:latin typeface="Calibri" charset="0"/>
                        <a:ea typeface="Calibri" charset="0"/>
                        <a:cs typeface="Calibri" charset="0"/>
                      </a:endParaRPr>
                    </a:p>
                  </a:txBody>
                  <a:tcPr marL="38100" marR="38100" marT="38100" marB="38100" anchor="ctr">
                    <a:lnL w="12700" cap="flat" cmpd="sng" algn="ctr">
                      <a:solidFill>
                        <a:srgbClr val="DEDEDE"/>
                      </a:solidFill>
                      <a:prstDash val="solid"/>
                      <a:round/>
                      <a:headEnd type="none" w="med" len="med"/>
                      <a:tailEnd type="none" w="med" len="med"/>
                    </a:lnL>
                    <a:lnR w="12700" cap="flat" cmpd="sng" algn="ctr">
                      <a:solidFill>
                        <a:srgbClr val="DEDEDE"/>
                      </a:solidFill>
                      <a:prstDash val="solid"/>
                      <a:round/>
                      <a:headEnd type="none" w="med" len="med"/>
                      <a:tailEnd type="none" w="med" len="med"/>
                    </a:lnR>
                    <a:lnT w="12700" cap="flat" cmpd="sng" algn="ctr">
                      <a:solidFill>
                        <a:srgbClr val="DEDEDE"/>
                      </a:solidFill>
                      <a:prstDash val="solid"/>
                      <a:round/>
                      <a:headEnd type="none" w="med" len="med"/>
                      <a:tailEnd type="none" w="med" len="med"/>
                    </a:lnT>
                    <a:lnB w="12700" cap="flat" cmpd="sng" algn="ctr">
                      <a:solidFill>
                        <a:srgbClr val="DEDEDE"/>
                      </a:solidFill>
                      <a:prstDash val="solid"/>
                      <a:round/>
                      <a:headEnd type="none" w="med" len="med"/>
                      <a:tailEnd type="none" w="med" len="med"/>
                    </a:lnB>
                    <a:solidFill>
                      <a:srgbClr val="FFFFFF"/>
                    </a:solidFill>
                  </a:tcPr>
                </a:tc>
                <a:tc>
                  <a:txBody>
                    <a:bodyPr/>
                    <a:lstStyle/>
                    <a:p>
                      <a:pPr marL="0" indent="0">
                        <a:buNone/>
                      </a:pPr>
                      <a:r>
                        <a:rPr lang="en-US" sz="1000" b="1" dirty="0">
                          <a:solidFill>
                            <a:srgbClr val="27AE60"/>
                          </a:solidFill>
                          <a:latin typeface="Arial" pitchFamily="34" charset="0"/>
                          <a:ea typeface="Arial" pitchFamily="34" charset="-122"/>
                          <a:cs typeface="Arial" pitchFamily="34" charset="-120"/>
                        </a:rPr>
                        <a:t>Pass</a:t>
                      </a:r>
                      <a:endParaRPr lang="en-US" sz="1000" dirty="0">
                        <a:latin typeface="Arial" charset="0"/>
                        <a:ea typeface="Arial" charset="0"/>
                        <a:cs typeface="Arial" charset="0"/>
                      </a:endParaRPr>
                    </a:p>
                  </a:txBody>
                  <a:tcPr marL="38100" marR="38100" marT="38100" marB="38100" anchor="ctr">
                    <a:lnL w="12700" cap="flat" cmpd="sng" algn="ctr">
                      <a:solidFill>
                        <a:srgbClr val="DEDEDE"/>
                      </a:solidFill>
                      <a:prstDash val="solid"/>
                      <a:round/>
                      <a:headEnd type="none" w="med" len="med"/>
                      <a:tailEnd type="none" w="med" len="med"/>
                    </a:lnL>
                    <a:lnR w="12700" cap="flat" cmpd="sng" algn="ctr">
                      <a:solidFill>
                        <a:srgbClr val="DEDEDE"/>
                      </a:solidFill>
                      <a:prstDash val="solid"/>
                      <a:round/>
                      <a:headEnd type="none" w="med" len="med"/>
                      <a:tailEnd type="none" w="med" len="med"/>
                    </a:lnR>
                    <a:lnT w="12700" cap="flat" cmpd="sng" algn="ctr">
                      <a:solidFill>
                        <a:srgbClr val="DEDEDE"/>
                      </a:solidFill>
                      <a:prstDash val="solid"/>
                      <a:round/>
                      <a:headEnd type="none" w="med" len="med"/>
                      <a:tailEnd type="none" w="med" len="med"/>
                    </a:lnT>
                    <a:lnB w="12700" cap="flat" cmpd="sng" algn="ctr">
                      <a:solidFill>
                        <a:srgbClr val="DEDEDE"/>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38912">
                <a:tc>
                  <a:txBody>
                    <a:bodyPr/>
                    <a:lstStyle/>
                    <a:p>
                      <a:pPr marL="0" indent="0">
                        <a:buNone/>
                      </a:pPr>
                      <a:r>
                        <a:rPr lang="en-US" sz="1000" dirty="0">
                          <a:solidFill>
                            <a:srgbClr val="2C2C2C"/>
                          </a:solidFill>
                          <a:latin typeface="Calibri" pitchFamily="34" charset="0"/>
                          <a:ea typeface="Calibri" pitchFamily="34" charset="-122"/>
                          <a:cs typeface="Calibri" pitchFamily="34" charset="-120"/>
                        </a:rPr>
                        <a:t>REQ-001</a:t>
                      </a:r>
                      <a:endParaRPr lang="en-US" sz="1000" dirty="0">
                        <a:latin typeface="Calibri" charset="0"/>
                        <a:ea typeface="Calibri" charset="0"/>
                        <a:cs typeface="Calibri" charset="0"/>
                      </a:endParaRPr>
                    </a:p>
                  </a:txBody>
                  <a:tcPr marL="38100" marR="38100" marT="38100" marB="38100" anchor="ctr">
                    <a:lnL w="12700" cap="flat" cmpd="sng" algn="ctr">
                      <a:solidFill>
                        <a:srgbClr val="DEDEDE"/>
                      </a:solidFill>
                      <a:prstDash val="solid"/>
                      <a:round/>
                      <a:headEnd type="none" w="med" len="med"/>
                      <a:tailEnd type="none" w="med" len="med"/>
                    </a:lnL>
                    <a:lnR w="12700" cap="flat" cmpd="sng" algn="ctr">
                      <a:solidFill>
                        <a:srgbClr val="DEDEDE"/>
                      </a:solidFill>
                      <a:prstDash val="solid"/>
                      <a:round/>
                      <a:headEnd type="none" w="med" len="med"/>
                      <a:tailEnd type="none" w="med" len="med"/>
                    </a:lnR>
                    <a:lnT w="12700" cap="flat" cmpd="sng" algn="ctr">
                      <a:solidFill>
                        <a:srgbClr val="DEDEDE"/>
                      </a:solidFill>
                      <a:prstDash val="solid"/>
                      <a:round/>
                      <a:headEnd type="none" w="med" len="med"/>
                      <a:tailEnd type="none" w="med" len="med"/>
                    </a:lnT>
                    <a:lnB w="12700" cap="flat" cmpd="sng" algn="ctr">
                      <a:solidFill>
                        <a:srgbClr val="DEDEDE"/>
                      </a:solidFill>
                      <a:prstDash val="solid"/>
                      <a:round/>
                      <a:headEnd type="none" w="med" len="med"/>
                      <a:tailEnd type="none" w="med" len="med"/>
                    </a:lnB>
                    <a:solidFill>
                      <a:srgbClr val="F0F0F0"/>
                    </a:solidFill>
                  </a:tcPr>
                </a:tc>
                <a:tc>
                  <a:txBody>
                    <a:bodyPr/>
                    <a:lstStyle/>
                    <a:p>
                      <a:pPr marL="0" indent="0">
                        <a:buNone/>
                      </a:pPr>
                      <a:r>
                        <a:rPr lang="en-US" sz="1000" dirty="0">
                          <a:solidFill>
                            <a:srgbClr val="2C2C2C"/>
                          </a:solidFill>
                          <a:latin typeface="Calibri" pitchFamily="34" charset="0"/>
                          <a:ea typeface="Calibri" pitchFamily="34" charset="-122"/>
                          <a:cs typeface="Calibri" pitchFamily="34" charset="-120"/>
                        </a:rPr>
                        <a:t>User must log in with valid email and password</a:t>
                      </a:r>
                      <a:endParaRPr lang="en-US" sz="1000" dirty="0">
                        <a:latin typeface="Calibri" charset="0"/>
                        <a:ea typeface="Calibri" charset="0"/>
                        <a:cs typeface="Calibri" charset="0"/>
                      </a:endParaRPr>
                    </a:p>
                  </a:txBody>
                  <a:tcPr marL="38100" marR="38100" marT="38100" marB="38100" anchor="ctr">
                    <a:lnL w="12700" cap="flat" cmpd="sng" algn="ctr">
                      <a:solidFill>
                        <a:srgbClr val="DEDEDE"/>
                      </a:solidFill>
                      <a:prstDash val="solid"/>
                      <a:round/>
                      <a:headEnd type="none" w="med" len="med"/>
                      <a:tailEnd type="none" w="med" len="med"/>
                    </a:lnL>
                    <a:lnR w="12700" cap="flat" cmpd="sng" algn="ctr">
                      <a:solidFill>
                        <a:srgbClr val="DEDEDE"/>
                      </a:solidFill>
                      <a:prstDash val="solid"/>
                      <a:round/>
                      <a:headEnd type="none" w="med" len="med"/>
                      <a:tailEnd type="none" w="med" len="med"/>
                    </a:lnR>
                    <a:lnT w="12700" cap="flat" cmpd="sng" algn="ctr">
                      <a:solidFill>
                        <a:srgbClr val="DEDEDE"/>
                      </a:solidFill>
                      <a:prstDash val="solid"/>
                      <a:round/>
                      <a:headEnd type="none" w="med" len="med"/>
                      <a:tailEnd type="none" w="med" len="med"/>
                    </a:lnT>
                    <a:lnB w="12700" cap="flat" cmpd="sng" algn="ctr">
                      <a:solidFill>
                        <a:srgbClr val="DEDEDE"/>
                      </a:solidFill>
                      <a:prstDash val="solid"/>
                      <a:round/>
                      <a:headEnd type="none" w="med" len="med"/>
                      <a:tailEnd type="none" w="med" len="med"/>
                    </a:lnB>
                    <a:solidFill>
                      <a:srgbClr val="F0F0F0"/>
                    </a:solidFill>
                  </a:tcPr>
                </a:tc>
                <a:tc>
                  <a:txBody>
                    <a:bodyPr/>
                    <a:lstStyle/>
                    <a:p>
                      <a:pPr marL="0" indent="0">
                        <a:buNone/>
                      </a:pPr>
                      <a:r>
                        <a:rPr lang="en-US" sz="1000" dirty="0">
                          <a:solidFill>
                            <a:srgbClr val="2C2C2C"/>
                          </a:solidFill>
                          <a:latin typeface="Calibri" pitchFamily="34" charset="0"/>
                          <a:ea typeface="Calibri" pitchFamily="34" charset="-122"/>
                          <a:cs typeface="Calibri" pitchFamily="34" charset="-120"/>
                        </a:rPr>
                        <a:t>TC_LOGIN_002</a:t>
                      </a:r>
                      <a:endParaRPr lang="en-US" sz="1000" dirty="0">
                        <a:latin typeface="Calibri" charset="0"/>
                        <a:ea typeface="Calibri" charset="0"/>
                        <a:cs typeface="Calibri" charset="0"/>
                      </a:endParaRPr>
                    </a:p>
                  </a:txBody>
                  <a:tcPr marL="38100" marR="38100" marT="38100" marB="38100" anchor="ctr">
                    <a:lnL w="12700" cap="flat" cmpd="sng" algn="ctr">
                      <a:solidFill>
                        <a:srgbClr val="DEDEDE"/>
                      </a:solidFill>
                      <a:prstDash val="solid"/>
                      <a:round/>
                      <a:headEnd type="none" w="med" len="med"/>
                      <a:tailEnd type="none" w="med" len="med"/>
                    </a:lnL>
                    <a:lnR w="12700" cap="flat" cmpd="sng" algn="ctr">
                      <a:solidFill>
                        <a:srgbClr val="DEDEDE"/>
                      </a:solidFill>
                      <a:prstDash val="solid"/>
                      <a:round/>
                      <a:headEnd type="none" w="med" len="med"/>
                      <a:tailEnd type="none" w="med" len="med"/>
                    </a:lnR>
                    <a:lnT w="12700" cap="flat" cmpd="sng" algn="ctr">
                      <a:solidFill>
                        <a:srgbClr val="DEDEDE"/>
                      </a:solidFill>
                      <a:prstDash val="solid"/>
                      <a:round/>
                      <a:headEnd type="none" w="med" len="med"/>
                      <a:tailEnd type="none" w="med" len="med"/>
                    </a:lnT>
                    <a:lnB w="12700" cap="flat" cmpd="sng" algn="ctr">
                      <a:solidFill>
                        <a:srgbClr val="DEDEDE"/>
                      </a:solidFill>
                      <a:prstDash val="solid"/>
                      <a:round/>
                      <a:headEnd type="none" w="med" len="med"/>
                      <a:tailEnd type="none" w="med" len="med"/>
                    </a:lnB>
                    <a:solidFill>
                      <a:srgbClr val="F0F0F0"/>
                    </a:solidFill>
                  </a:tcPr>
                </a:tc>
                <a:tc>
                  <a:txBody>
                    <a:bodyPr/>
                    <a:lstStyle/>
                    <a:p>
                      <a:pPr marL="0" indent="0">
                        <a:buNone/>
                      </a:pPr>
                      <a:r>
                        <a:rPr lang="en-US" sz="1000" dirty="0">
                          <a:solidFill>
                            <a:srgbClr val="2C2C2C"/>
                          </a:solidFill>
                          <a:latin typeface="Calibri" pitchFamily="34" charset="0"/>
                          <a:ea typeface="Calibri" pitchFamily="34" charset="-122"/>
                          <a:cs typeface="Calibri" pitchFamily="34" charset="-120"/>
                        </a:rPr>
                        <a:t>Verify login with invalid password</a:t>
                      </a:r>
                      <a:endParaRPr lang="en-US" sz="1000" dirty="0">
                        <a:latin typeface="Calibri" charset="0"/>
                        <a:ea typeface="Calibri" charset="0"/>
                        <a:cs typeface="Calibri" charset="0"/>
                      </a:endParaRPr>
                    </a:p>
                  </a:txBody>
                  <a:tcPr marL="38100" marR="38100" marT="38100" marB="38100" anchor="ctr">
                    <a:lnL w="12700" cap="flat" cmpd="sng" algn="ctr">
                      <a:solidFill>
                        <a:srgbClr val="DEDEDE"/>
                      </a:solidFill>
                      <a:prstDash val="solid"/>
                      <a:round/>
                      <a:headEnd type="none" w="med" len="med"/>
                      <a:tailEnd type="none" w="med" len="med"/>
                    </a:lnL>
                    <a:lnR w="12700" cap="flat" cmpd="sng" algn="ctr">
                      <a:solidFill>
                        <a:srgbClr val="DEDEDE"/>
                      </a:solidFill>
                      <a:prstDash val="solid"/>
                      <a:round/>
                      <a:headEnd type="none" w="med" len="med"/>
                      <a:tailEnd type="none" w="med" len="med"/>
                    </a:lnR>
                    <a:lnT w="12700" cap="flat" cmpd="sng" algn="ctr">
                      <a:solidFill>
                        <a:srgbClr val="DEDEDE"/>
                      </a:solidFill>
                      <a:prstDash val="solid"/>
                      <a:round/>
                      <a:headEnd type="none" w="med" len="med"/>
                      <a:tailEnd type="none" w="med" len="med"/>
                    </a:lnT>
                    <a:lnB w="12700" cap="flat" cmpd="sng" algn="ctr">
                      <a:solidFill>
                        <a:srgbClr val="DEDEDE"/>
                      </a:solidFill>
                      <a:prstDash val="solid"/>
                      <a:round/>
                      <a:headEnd type="none" w="med" len="med"/>
                      <a:tailEnd type="none" w="med" len="med"/>
                    </a:lnB>
                    <a:solidFill>
                      <a:srgbClr val="F0F0F0"/>
                    </a:solidFill>
                  </a:tcPr>
                </a:tc>
                <a:tc>
                  <a:txBody>
                    <a:bodyPr/>
                    <a:lstStyle/>
                    <a:p>
                      <a:pPr marL="0" indent="0">
                        <a:buNone/>
                      </a:pPr>
                      <a:r>
                        <a:rPr lang="en-US" sz="1000" dirty="0">
                          <a:solidFill>
                            <a:srgbClr val="2C2C2C"/>
                          </a:solidFill>
                          <a:latin typeface="Calibri" pitchFamily="34" charset="0"/>
                          <a:ea typeface="Calibri" pitchFamily="34" charset="-122"/>
                          <a:cs typeface="Calibri" pitchFamily="34" charset="-120"/>
                        </a:rPr>
                        <a:t>High</a:t>
                      </a:r>
                      <a:endParaRPr lang="en-US" sz="1000" dirty="0">
                        <a:latin typeface="Calibri" charset="0"/>
                        <a:ea typeface="Calibri" charset="0"/>
                        <a:cs typeface="Calibri" charset="0"/>
                      </a:endParaRPr>
                    </a:p>
                  </a:txBody>
                  <a:tcPr marL="38100" marR="38100" marT="38100" marB="38100" anchor="ctr">
                    <a:lnL w="12700" cap="flat" cmpd="sng" algn="ctr">
                      <a:solidFill>
                        <a:srgbClr val="DEDEDE"/>
                      </a:solidFill>
                      <a:prstDash val="solid"/>
                      <a:round/>
                      <a:headEnd type="none" w="med" len="med"/>
                      <a:tailEnd type="none" w="med" len="med"/>
                    </a:lnL>
                    <a:lnR w="12700" cap="flat" cmpd="sng" algn="ctr">
                      <a:solidFill>
                        <a:srgbClr val="DEDEDE"/>
                      </a:solidFill>
                      <a:prstDash val="solid"/>
                      <a:round/>
                      <a:headEnd type="none" w="med" len="med"/>
                      <a:tailEnd type="none" w="med" len="med"/>
                    </a:lnR>
                    <a:lnT w="12700" cap="flat" cmpd="sng" algn="ctr">
                      <a:solidFill>
                        <a:srgbClr val="DEDEDE"/>
                      </a:solidFill>
                      <a:prstDash val="solid"/>
                      <a:round/>
                      <a:headEnd type="none" w="med" len="med"/>
                      <a:tailEnd type="none" w="med" len="med"/>
                    </a:lnT>
                    <a:lnB w="12700" cap="flat" cmpd="sng" algn="ctr">
                      <a:solidFill>
                        <a:srgbClr val="DEDEDE"/>
                      </a:solidFill>
                      <a:prstDash val="solid"/>
                      <a:round/>
                      <a:headEnd type="none" w="med" len="med"/>
                      <a:tailEnd type="none" w="med" len="med"/>
                    </a:lnB>
                    <a:solidFill>
                      <a:srgbClr val="F0F0F0"/>
                    </a:solidFill>
                  </a:tcPr>
                </a:tc>
                <a:tc>
                  <a:txBody>
                    <a:bodyPr/>
                    <a:lstStyle/>
                    <a:p>
                      <a:pPr marL="0" indent="0">
                        <a:buNone/>
                      </a:pPr>
                      <a:r>
                        <a:rPr lang="en-US" sz="1000" b="1" dirty="0">
                          <a:solidFill>
                            <a:srgbClr val="27AE60"/>
                          </a:solidFill>
                          <a:latin typeface="Arial" pitchFamily="34" charset="0"/>
                          <a:ea typeface="Arial" pitchFamily="34" charset="-122"/>
                          <a:cs typeface="Arial" pitchFamily="34" charset="-120"/>
                        </a:rPr>
                        <a:t>Pass</a:t>
                      </a:r>
                      <a:endParaRPr lang="en-US" sz="1000" dirty="0">
                        <a:latin typeface="Arial" charset="0"/>
                        <a:ea typeface="Arial" charset="0"/>
                        <a:cs typeface="Arial" charset="0"/>
                      </a:endParaRPr>
                    </a:p>
                  </a:txBody>
                  <a:tcPr marL="38100" marR="38100" marT="38100" marB="38100" anchor="ctr">
                    <a:lnL w="12700" cap="flat" cmpd="sng" algn="ctr">
                      <a:solidFill>
                        <a:srgbClr val="DEDEDE"/>
                      </a:solidFill>
                      <a:prstDash val="solid"/>
                      <a:round/>
                      <a:headEnd type="none" w="med" len="med"/>
                      <a:tailEnd type="none" w="med" len="med"/>
                    </a:lnL>
                    <a:lnR w="12700" cap="flat" cmpd="sng" algn="ctr">
                      <a:solidFill>
                        <a:srgbClr val="DEDEDE"/>
                      </a:solidFill>
                      <a:prstDash val="solid"/>
                      <a:round/>
                      <a:headEnd type="none" w="med" len="med"/>
                      <a:tailEnd type="none" w="med" len="med"/>
                    </a:lnR>
                    <a:lnT w="12700" cap="flat" cmpd="sng" algn="ctr">
                      <a:solidFill>
                        <a:srgbClr val="DEDEDE"/>
                      </a:solidFill>
                      <a:prstDash val="solid"/>
                      <a:round/>
                      <a:headEnd type="none" w="med" len="med"/>
                      <a:tailEnd type="none" w="med" len="med"/>
                    </a:lnT>
                    <a:lnB w="12700" cap="flat" cmpd="sng" algn="ctr">
                      <a:solidFill>
                        <a:srgbClr val="DEDEDE"/>
                      </a:solidFill>
                      <a:prstDash val="solid"/>
                      <a:round/>
                      <a:headEnd type="none" w="med" len="med"/>
                      <a:tailEnd type="none" w="med" len="med"/>
                    </a:lnB>
                    <a:solidFill>
                      <a:srgbClr val="F0F0F0"/>
                    </a:solidFill>
                  </a:tcPr>
                </a:tc>
                <a:extLst>
                  <a:ext uri="{0D108BD9-81ED-4DB2-BD59-A6C34878D82A}">
                    <a16:rowId xmlns:a16="http://schemas.microsoft.com/office/drawing/2014/main" val="10002"/>
                  </a:ext>
                </a:extLst>
              </a:tr>
              <a:tr h="438912">
                <a:tc>
                  <a:txBody>
                    <a:bodyPr/>
                    <a:lstStyle/>
                    <a:p>
                      <a:pPr marL="0" indent="0">
                        <a:buNone/>
                      </a:pPr>
                      <a:r>
                        <a:rPr lang="en-US" sz="1000" dirty="0">
                          <a:solidFill>
                            <a:srgbClr val="2C2C2C"/>
                          </a:solidFill>
                          <a:latin typeface="Calibri" pitchFamily="34" charset="0"/>
                          <a:ea typeface="Calibri" pitchFamily="34" charset="-122"/>
                          <a:cs typeface="Calibri" pitchFamily="34" charset="-120"/>
                        </a:rPr>
                        <a:t>REQ-001</a:t>
                      </a:r>
                      <a:endParaRPr lang="en-US" sz="1000" dirty="0">
                        <a:latin typeface="Calibri" charset="0"/>
                        <a:ea typeface="Calibri" charset="0"/>
                        <a:cs typeface="Calibri" charset="0"/>
                      </a:endParaRPr>
                    </a:p>
                  </a:txBody>
                  <a:tcPr marL="38100" marR="38100" marT="38100" marB="38100" anchor="ctr">
                    <a:lnL w="12700" cap="flat" cmpd="sng" algn="ctr">
                      <a:solidFill>
                        <a:srgbClr val="DEDEDE"/>
                      </a:solidFill>
                      <a:prstDash val="solid"/>
                      <a:round/>
                      <a:headEnd type="none" w="med" len="med"/>
                      <a:tailEnd type="none" w="med" len="med"/>
                    </a:lnL>
                    <a:lnR w="12700" cap="flat" cmpd="sng" algn="ctr">
                      <a:solidFill>
                        <a:srgbClr val="DEDEDE"/>
                      </a:solidFill>
                      <a:prstDash val="solid"/>
                      <a:round/>
                      <a:headEnd type="none" w="med" len="med"/>
                      <a:tailEnd type="none" w="med" len="med"/>
                    </a:lnR>
                    <a:lnT w="12700" cap="flat" cmpd="sng" algn="ctr">
                      <a:solidFill>
                        <a:srgbClr val="DEDEDE"/>
                      </a:solidFill>
                      <a:prstDash val="solid"/>
                      <a:round/>
                      <a:headEnd type="none" w="med" len="med"/>
                      <a:tailEnd type="none" w="med" len="med"/>
                    </a:lnT>
                    <a:lnB w="12700" cap="flat" cmpd="sng" algn="ctr">
                      <a:solidFill>
                        <a:srgbClr val="DEDEDE"/>
                      </a:solidFill>
                      <a:prstDash val="solid"/>
                      <a:round/>
                      <a:headEnd type="none" w="med" len="med"/>
                      <a:tailEnd type="none" w="med" len="med"/>
                    </a:lnB>
                    <a:solidFill>
                      <a:srgbClr val="FFFFFF"/>
                    </a:solidFill>
                  </a:tcPr>
                </a:tc>
                <a:tc>
                  <a:txBody>
                    <a:bodyPr/>
                    <a:lstStyle/>
                    <a:p>
                      <a:pPr marL="0" indent="0">
                        <a:buNone/>
                      </a:pPr>
                      <a:r>
                        <a:rPr lang="en-US" sz="1000" dirty="0">
                          <a:solidFill>
                            <a:srgbClr val="2C2C2C"/>
                          </a:solidFill>
                          <a:latin typeface="Calibri" pitchFamily="34" charset="0"/>
                          <a:ea typeface="Calibri" pitchFamily="34" charset="-122"/>
                          <a:cs typeface="Calibri" pitchFamily="34" charset="-120"/>
                        </a:rPr>
                        <a:t>User must log in with valid email and password</a:t>
                      </a:r>
                      <a:endParaRPr lang="en-US" sz="1000" dirty="0">
                        <a:latin typeface="Calibri" charset="0"/>
                        <a:ea typeface="Calibri" charset="0"/>
                        <a:cs typeface="Calibri" charset="0"/>
                      </a:endParaRPr>
                    </a:p>
                  </a:txBody>
                  <a:tcPr marL="38100" marR="38100" marT="38100" marB="38100" anchor="ctr">
                    <a:lnL w="12700" cap="flat" cmpd="sng" algn="ctr">
                      <a:solidFill>
                        <a:srgbClr val="DEDEDE"/>
                      </a:solidFill>
                      <a:prstDash val="solid"/>
                      <a:round/>
                      <a:headEnd type="none" w="med" len="med"/>
                      <a:tailEnd type="none" w="med" len="med"/>
                    </a:lnL>
                    <a:lnR w="12700" cap="flat" cmpd="sng" algn="ctr">
                      <a:solidFill>
                        <a:srgbClr val="DEDEDE"/>
                      </a:solidFill>
                      <a:prstDash val="solid"/>
                      <a:round/>
                      <a:headEnd type="none" w="med" len="med"/>
                      <a:tailEnd type="none" w="med" len="med"/>
                    </a:lnR>
                    <a:lnT w="12700" cap="flat" cmpd="sng" algn="ctr">
                      <a:solidFill>
                        <a:srgbClr val="DEDEDE"/>
                      </a:solidFill>
                      <a:prstDash val="solid"/>
                      <a:round/>
                      <a:headEnd type="none" w="med" len="med"/>
                      <a:tailEnd type="none" w="med" len="med"/>
                    </a:lnT>
                    <a:lnB w="12700" cap="flat" cmpd="sng" algn="ctr">
                      <a:solidFill>
                        <a:srgbClr val="DEDEDE"/>
                      </a:solidFill>
                      <a:prstDash val="solid"/>
                      <a:round/>
                      <a:headEnd type="none" w="med" len="med"/>
                      <a:tailEnd type="none" w="med" len="med"/>
                    </a:lnB>
                    <a:solidFill>
                      <a:srgbClr val="FFFFFF"/>
                    </a:solidFill>
                  </a:tcPr>
                </a:tc>
                <a:tc>
                  <a:txBody>
                    <a:bodyPr/>
                    <a:lstStyle/>
                    <a:p>
                      <a:pPr marL="0" indent="0">
                        <a:buNone/>
                      </a:pPr>
                      <a:r>
                        <a:rPr lang="en-US" sz="1000" dirty="0">
                          <a:solidFill>
                            <a:srgbClr val="2C2C2C"/>
                          </a:solidFill>
                          <a:latin typeface="Calibri" pitchFamily="34" charset="0"/>
                          <a:ea typeface="Calibri" pitchFamily="34" charset="-122"/>
                          <a:cs typeface="Calibri" pitchFamily="34" charset="-120"/>
                        </a:rPr>
                        <a:t>TC_LOGIN_003</a:t>
                      </a:r>
                      <a:endParaRPr lang="en-US" sz="1000" dirty="0">
                        <a:latin typeface="Calibri" charset="0"/>
                        <a:ea typeface="Calibri" charset="0"/>
                        <a:cs typeface="Calibri" charset="0"/>
                      </a:endParaRPr>
                    </a:p>
                  </a:txBody>
                  <a:tcPr marL="38100" marR="38100" marT="38100" marB="38100" anchor="ctr">
                    <a:lnL w="12700" cap="flat" cmpd="sng" algn="ctr">
                      <a:solidFill>
                        <a:srgbClr val="DEDEDE"/>
                      </a:solidFill>
                      <a:prstDash val="solid"/>
                      <a:round/>
                      <a:headEnd type="none" w="med" len="med"/>
                      <a:tailEnd type="none" w="med" len="med"/>
                    </a:lnL>
                    <a:lnR w="12700" cap="flat" cmpd="sng" algn="ctr">
                      <a:solidFill>
                        <a:srgbClr val="DEDEDE"/>
                      </a:solidFill>
                      <a:prstDash val="solid"/>
                      <a:round/>
                      <a:headEnd type="none" w="med" len="med"/>
                      <a:tailEnd type="none" w="med" len="med"/>
                    </a:lnR>
                    <a:lnT w="12700" cap="flat" cmpd="sng" algn="ctr">
                      <a:solidFill>
                        <a:srgbClr val="DEDEDE"/>
                      </a:solidFill>
                      <a:prstDash val="solid"/>
                      <a:round/>
                      <a:headEnd type="none" w="med" len="med"/>
                      <a:tailEnd type="none" w="med" len="med"/>
                    </a:lnT>
                    <a:lnB w="12700" cap="flat" cmpd="sng" algn="ctr">
                      <a:solidFill>
                        <a:srgbClr val="DEDEDE"/>
                      </a:solidFill>
                      <a:prstDash val="solid"/>
                      <a:round/>
                      <a:headEnd type="none" w="med" len="med"/>
                      <a:tailEnd type="none" w="med" len="med"/>
                    </a:lnB>
                    <a:solidFill>
                      <a:srgbClr val="FFFFFF"/>
                    </a:solidFill>
                  </a:tcPr>
                </a:tc>
                <a:tc>
                  <a:txBody>
                    <a:bodyPr/>
                    <a:lstStyle/>
                    <a:p>
                      <a:pPr marL="0" indent="0">
                        <a:buNone/>
                      </a:pPr>
                      <a:r>
                        <a:rPr lang="en-US" sz="1000" dirty="0">
                          <a:solidFill>
                            <a:srgbClr val="2C2C2C"/>
                          </a:solidFill>
                          <a:latin typeface="Calibri" pitchFamily="34" charset="0"/>
                          <a:ea typeface="Calibri" pitchFamily="34" charset="-122"/>
                          <a:cs typeface="Calibri" pitchFamily="34" charset="-120"/>
                        </a:rPr>
                        <a:t>Verify login with empty email field</a:t>
                      </a:r>
                      <a:endParaRPr lang="en-US" sz="1000" dirty="0">
                        <a:latin typeface="Calibri" charset="0"/>
                        <a:ea typeface="Calibri" charset="0"/>
                        <a:cs typeface="Calibri" charset="0"/>
                      </a:endParaRPr>
                    </a:p>
                  </a:txBody>
                  <a:tcPr marL="38100" marR="38100" marT="38100" marB="38100" anchor="ctr">
                    <a:lnL w="12700" cap="flat" cmpd="sng" algn="ctr">
                      <a:solidFill>
                        <a:srgbClr val="DEDEDE"/>
                      </a:solidFill>
                      <a:prstDash val="solid"/>
                      <a:round/>
                      <a:headEnd type="none" w="med" len="med"/>
                      <a:tailEnd type="none" w="med" len="med"/>
                    </a:lnL>
                    <a:lnR w="12700" cap="flat" cmpd="sng" algn="ctr">
                      <a:solidFill>
                        <a:srgbClr val="DEDEDE"/>
                      </a:solidFill>
                      <a:prstDash val="solid"/>
                      <a:round/>
                      <a:headEnd type="none" w="med" len="med"/>
                      <a:tailEnd type="none" w="med" len="med"/>
                    </a:lnR>
                    <a:lnT w="12700" cap="flat" cmpd="sng" algn="ctr">
                      <a:solidFill>
                        <a:srgbClr val="DEDEDE"/>
                      </a:solidFill>
                      <a:prstDash val="solid"/>
                      <a:round/>
                      <a:headEnd type="none" w="med" len="med"/>
                      <a:tailEnd type="none" w="med" len="med"/>
                    </a:lnT>
                    <a:lnB w="12700" cap="flat" cmpd="sng" algn="ctr">
                      <a:solidFill>
                        <a:srgbClr val="DEDEDE"/>
                      </a:solidFill>
                      <a:prstDash val="solid"/>
                      <a:round/>
                      <a:headEnd type="none" w="med" len="med"/>
                      <a:tailEnd type="none" w="med" len="med"/>
                    </a:lnB>
                    <a:solidFill>
                      <a:srgbClr val="FFFFFF"/>
                    </a:solidFill>
                  </a:tcPr>
                </a:tc>
                <a:tc>
                  <a:txBody>
                    <a:bodyPr/>
                    <a:lstStyle/>
                    <a:p>
                      <a:pPr marL="0" indent="0">
                        <a:buNone/>
                      </a:pPr>
                      <a:r>
                        <a:rPr lang="en-US" sz="1000" dirty="0">
                          <a:solidFill>
                            <a:srgbClr val="2C2C2C"/>
                          </a:solidFill>
                          <a:latin typeface="Calibri" pitchFamily="34" charset="0"/>
                          <a:ea typeface="Calibri" pitchFamily="34" charset="-122"/>
                          <a:cs typeface="Calibri" pitchFamily="34" charset="-120"/>
                        </a:rPr>
                        <a:t>Medium</a:t>
                      </a:r>
                      <a:endParaRPr lang="en-US" sz="1000" dirty="0">
                        <a:latin typeface="Calibri" charset="0"/>
                        <a:ea typeface="Calibri" charset="0"/>
                        <a:cs typeface="Calibri" charset="0"/>
                      </a:endParaRPr>
                    </a:p>
                  </a:txBody>
                  <a:tcPr marL="38100" marR="38100" marT="38100" marB="38100" anchor="ctr">
                    <a:lnL w="12700" cap="flat" cmpd="sng" algn="ctr">
                      <a:solidFill>
                        <a:srgbClr val="DEDEDE"/>
                      </a:solidFill>
                      <a:prstDash val="solid"/>
                      <a:round/>
                      <a:headEnd type="none" w="med" len="med"/>
                      <a:tailEnd type="none" w="med" len="med"/>
                    </a:lnL>
                    <a:lnR w="12700" cap="flat" cmpd="sng" algn="ctr">
                      <a:solidFill>
                        <a:srgbClr val="DEDEDE"/>
                      </a:solidFill>
                      <a:prstDash val="solid"/>
                      <a:round/>
                      <a:headEnd type="none" w="med" len="med"/>
                      <a:tailEnd type="none" w="med" len="med"/>
                    </a:lnR>
                    <a:lnT w="12700" cap="flat" cmpd="sng" algn="ctr">
                      <a:solidFill>
                        <a:srgbClr val="DEDEDE"/>
                      </a:solidFill>
                      <a:prstDash val="solid"/>
                      <a:round/>
                      <a:headEnd type="none" w="med" len="med"/>
                      <a:tailEnd type="none" w="med" len="med"/>
                    </a:lnT>
                    <a:lnB w="12700" cap="flat" cmpd="sng" algn="ctr">
                      <a:solidFill>
                        <a:srgbClr val="DEDEDE"/>
                      </a:solidFill>
                      <a:prstDash val="solid"/>
                      <a:round/>
                      <a:headEnd type="none" w="med" len="med"/>
                      <a:tailEnd type="none" w="med" len="med"/>
                    </a:lnB>
                    <a:solidFill>
                      <a:srgbClr val="FFFFFF"/>
                    </a:solidFill>
                  </a:tcPr>
                </a:tc>
                <a:tc>
                  <a:txBody>
                    <a:bodyPr/>
                    <a:lstStyle/>
                    <a:p>
                      <a:pPr marL="0" indent="0">
                        <a:buNone/>
                      </a:pPr>
                      <a:r>
                        <a:rPr lang="en-US" sz="1000" b="1" dirty="0">
                          <a:solidFill>
                            <a:srgbClr val="27AE60"/>
                          </a:solidFill>
                          <a:latin typeface="Arial" pitchFamily="34" charset="0"/>
                          <a:ea typeface="Arial" pitchFamily="34" charset="-122"/>
                          <a:cs typeface="Arial" pitchFamily="34" charset="-120"/>
                        </a:rPr>
                        <a:t>Pass</a:t>
                      </a:r>
                      <a:endParaRPr lang="en-US" sz="1000" dirty="0">
                        <a:latin typeface="Arial" charset="0"/>
                        <a:ea typeface="Arial" charset="0"/>
                        <a:cs typeface="Arial" charset="0"/>
                      </a:endParaRPr>
                    </a:p>
                  </a:txBody>
                  <a:tcPr marL="38100" marR="38100" marT="38100" marB="38100" anchor="ctr">
                    <a:lnL w="12700" cap="flat" cmpd="sng" algn="ctr">
                      <a:solidFill>
                        <a:srgbClr val="DEDEDE"/>
                      </a:solidFill>
                      <a:prstDash val="solid"/>
                      <a:round/>
                      <a:headEnd type="none" w="med" len="med"/>
                      <a:tailEnd type="none" w="med" len="med"/>
                    </a:lnL>
                    <a:lnR w="12700" cap="flat" cmpd="sng" algn="ctr">
                      <a:solidFill>
                        <a:srgbClr val="DEDEDE"/>
                      </a:solidFill>
                      <a:prstDash val="solid"/>
                      <a:round/>
                      <a:headEnd type="none" w="med" len="med"/>
                      <a:tailEnd type="none" w="med" len="med"/>
                    </a:lnR>
                    <a:lnT w="12700" cap="flat" cmpd="sng" algn="ctr">
                      <a:solidFill>
                        <a:srgbClr val="DEDEDE"/>
                      </a:solidFill>
                      <a:prstDash val="solid"/>
                      <a:round/>
                      <a:headEnd type="none" w="med" len="med"/>
                      <a:tailEnd type="none" w="med" len="med"/>
                    </a:lnT>
                    <a:lnB w="12700" cap="flat" cmpd="sng" algn="ctr">
                      <a:solidFill>
                        <a:srgbClr val="DEDEDE"/>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38912">
                <a:tc>
                  <a:txBody>
                    <a:bodyPr/>
                    <a:lstStyle/>
                    <a:p>
                      <a:pPr marL="0" indent="0">
                        <a:buNone/>
                      </a:pPr>
                      <a:r>
                        <a:rPr lang="en-US" sz="1000" dirty="0">
                          <a:solidFill>
                            <a:srgbClr val="2C2C2C"/>
                          </a:solidFill>
                          <a:latin typeface="Calibri" pitchFamily="34" charset="0"/>
                          <a:ea typeface="Calibri" pitchFamily="34" charset="-122"/>
                          <a:cs typeface="Calibri" pitchFamily="34" charset="-120"/>
                        </a:rPr>
                        <a:t>REQ-002</a:t>
                      </a:r>
                      <a:endParaRPr lang="en-US" sz="1000" dirty="0">
                        <a:latin typeface="Calibri" charset="0"/>
                        <a:ea typeface="Calibri" charset="0"/>
                        <a:cs typeface="Calibri" charset="0"/>
                      </a:endParaRPr>
                    </a:p>
                  </a:txBody>
                  <a:tcPr marL="38100" marR="38100" marT="38100" marB="38100" anchor="ctr">
                    <a:lnL w="12700" cap="flat" cmpd="sng" algn="ctr">
                      <a:solidFill>
                        <a:srgbClr val="DEDEDE"/>
                      </a:solidFill>
                      <a:prstDash val="solid"/>
                      <a:round/>
                      <a:headEnd type="none" w="med" len="med"/>
                      <a:tailEnd type="none" w="med" len="med"/>
                    </a:lnL>
                    <a:lnR w="12700" cap="flat" cmpd="sng" algn="ctr">
                      <a:solidFill>
                        <a:srgbClr val="DEDEDE"/>
                      </a:solidFill>
                      <a:prstDash val="solid"/>
                      <a:round/>
                      <a:headEnd type="none" w="med" len="med"/>
                      <a:tailEnd type="none" w="med" len="med"/>
                    </a:lnR>
                    <a:lnT w="12700" cap="flat" cmpd="sng" algn="ctr">
                      <a:solidFill>
                        <a:srgbClr val="DEDEDE"/>
                      </a:solidFill>
                      <a:prstDash val="solid"/>
                      <a:round/>
                      <a:headEnd type="none" w="med" len="med"/>
                      <a:tailEnd type="none" w="med" len="med"/>
                    </a:lnT>
                    <a:lnB w="12700" cap="flat" cmpd="sng" algn="ctr">
                      <a:solidFill>
                        <a:srgbClr val="DEDEDE"/>
                      </a:solidFill>
                      <a:prstDash val="solid"/>
                      <a:round/>
                      <a:headEnd type="none" w="med" len="med"/>
                      <a:tailEnd type="none" w="med" len="med"/>
                    </a:lnB>
                    <a:solidFill>
                      <a:srgbClr val="F0F0F0"/>
                    </a:solidFill>
                  </a:tcPr>
                </a:tc>
                <a:tc>
                  <a:txBody>
                    <a:bodyPr/>
                    <a:lstStyle/>
                    <a:p>
                      <a:pPr marL="0" indent="0">
                        <a:buNone/>
                      </a:pPr>
                      <a:r>
                        <a:rPr lang="en-US" sz="1000" dirty="0">
                          <a:solidFill>
                            <a:srgbClr val="2C2C2C"/>
                          </a:solidFill>
                          <a:latin typeface="Calibri" pitchFamily="34" charset="0"/>
                          <a:ea typeface="Calibri" pitchFamily="34" charset="-122"/>
                          <a:cs typeface="Calibri" pitchFamily="34" charset="-120"/>
                        </a:rPr>
                        <a:t>System locks account after 3 failed login attempts</a:t>
                      </a:r>
                      <a:endParaRPr lang="en-US" sz="1000" dirty="0">
                        <a:latin typeface="Calibri" charset="0"/>
                        <a:ea typeface="Calibri" charset="0"/>
                        <a:cs typeface="Calibri" charset="0"/>
                      </a:endParaRPr>
                    </a:p>
                  </a:txBody>
                  <a:tcPr marL="38100" marR="38100" marT="38100" marB="38100" anchor="ctr">
                    <a:lnL w="12700" cap="flat" cmpd="sng" algn="ctr">
                      <a:solidFill>
                        <a:srgbClr val="DEDEDE"/>
                      </a:solidFill>
                      <a:prstDash val="solid"/>
                      <a:round/>
                      <a:headEnd type="none" w="med" len="med"/>
                      <a:tailEnd type="none" w="med" len="med"/>
                    </a:lnL>
                    <a:lnR w="12700" cap="flat" cmpd="sng" algn="ctr">
                      <a:solidFill>
                        <a:srgbClr val="DEDEDE"/>
                      </a:solidFill>
                      <a:prstDash val="solid"/>
                      <a:round/>
                      <a:headEnd type="none" w="med" len="med"/>
                      <a:tailEnd type="none" w="med" len="med"/>
                    </a:lnR>
                    <a:lnT w="12700" cap="flat" cmpd="sng" algn="ctr">
                      <a:solidFill>
                        <a:srgbClr val="DEDEDE"/>
                      </a:solidFill>
                      <a:prstDash val="solid"/>
                      <a:round/>
                      <a:headEnd type="none" w="med" len="med"/>
                      <a:tailEnd type="none" w="med" len="med"/>
                    </a:lnT>
                    <a:lnB w="12700" cap="flat" cmpd="sng" algn="ctr">
                      <a:solidFill>
                        <a:srgbClr val="DEDEDE"/>
                      </a:solidFill>
                      <a:prstDash val="solid"/>
                      <a:round/>
                      <a:headEnd type="none" w="med" len="med"/>
                      <a:tailEnd type="none" w="med" len="med"/>
                    </a:lnB>
                    <a:solidFill>
                      <a:srgbClr val="F0F0F0"/>
                    </a:solidFill>
                  </a:tcPr>
                </a:tc>
                <a:tc>
                  <a:txBody>
                    <a:bodyPr/>
                    <a:lstStyle/>
                    <a:p>
                      <a:pPr marL="0" indent="0">
                        <a:buNone/>
                      </a:pPr>
                      <a:r>
                        <a:rPr lang="en-US" sz="1000" dirty="0">
                          <a:solidFill>
                            <a:srgbClr val="2C2C2C"/>
                          </a:solidFill>
                          <a:latin typeface="Calibri" pitchFamily="34" charset="0"/>
                          <a:ea typeface="Calibri" pitchFamily="34" charset="-122"/>
                          <a:cs typeface="Calibri" pitchFamily="34" charset="-120"/>
                        </a:rPr>
                        <a:t>TC_LOGIN_004</a:t>
                      </a:r>
                      <a:endParaRPr lang="en-US" sz="1000" dirty="0">
                        <a:latin typeface="Calibri" charset="0"/>
                        <a:ea typeface="Calibri" charset="0"/>
                        <a:cs typeface="Calibri" charset="0"/>
                      </a:endParaRPr>
                    </a:p>
                  </a:txBody>
                  <a:tcPr marL="38100" marR="38100" marT="38100" marB="38100" anchor="ctr">
                    <a:lnL w="12700" cap="flat" cmpd="sng" algn="ctr">
                      <a:solidFill>
                        <a:srgbClr val="DEDEDE"/>
                      </a:solidFill>
                      <a:prstDash val="solid"/>
                      <a:round/>
                      <a:headEnd type="none" w="med" len="med"/>
                      <a:tailEnd type="none" w="med" len="med"/>
                    </a:lnL>
                    <a:lnR w="12700" cap="flat" cmpd="sng" algn="ctr">
                      <a:solidFill>
                        <a:srgbClr val="DEDEDE"/>
                      </a:solidFill>
                      <a:prstDash val="solid"/>
                      <a:round/>
                      <a:headEnd type="none" w="med" len="med"/>
                      <a:tailEnd type="none" w="med" len="med"/>
                    </a:lnR>
                    <a:lnT w="12700" cap="flat" cmpd="sng" algn="ctr">
                      <a:solidFill>
                        <a:srgbClr val="DEDEDE"/>
                      </a:solidFill>
                      <a:prstDash val="solid"/>
                      <a:round/>
                      <a:headEnd type="none" w="med" len="med"/>
                      <a:tailEnd type="none" w="med" len="med"/>
                    </a:lnT>
                    <a:lnB w="12700" cap="flat" cmpd="sng" algn="ctr">
                      <a:solidFill>
                        <a:srgbClr val="DEDEDE"/>
                      </a:solidFill>
                      <a:prstDash val="solid"/>
                      <a:round/>
                      <a:headEnd type="none" w="med" len="med"/>
                      <a:tailEnd type="none" w="med" len="med"/>
                    </a:lnB>
                    <a:solidFill>
                      <a:srgbClr val="F0F0F0"/>
                    </a:solidFill>
                  </a:tcPr>
                </a:tc>
                <a:tc>
                  <a:txBody>
                    <a:bodyPr/>
                    <a:lstStyle/>
                    <a:p>
                      <a:pPr marL="0" indent="0">
                        <a:buNone/>
                      </a:pPr>
                      <a:r>
                        <a:rPr lang="en-US" sz="1000" dirty="0">
                          <a:solidFill>
                            <a:srgbClr val="2C2C2C"/>
                          </a:solidFill>
                          <a:latin typeface="Calibri" pitchFamily="34" charset="0"/>
                          <a:ea typeface="Calibri" pitchFamily="34" charset="-122"/>
                          <a:cs typeface="Calibri" pitchFamily="34" charset="-120"/>
                        </a:rPr>
                        <a:t>Verify account lockout after 3 failed attempts</a:t>
                      </a:r>
                      <a:endParaRPr lang="en-US" sz="1000" dirty="0">
                        <a:latin typeface="Calibri" charset="0"/>
                        <a:ea typeface="Calibri" charset="0"/>
                        <a:cs typeface="Calibri" charset="0"/>
                      </a:endParaRPr>
                    </a:p>
                  </a:txBody>
                  <a:tcPr marL="38100" marR="38100" marT="38100" marB="38100" anchor="ctr">
                    <a:lnL w="12700" cap="flat" cmpd="sng" algn="ctr">
                      <a:solidFill>
                        <a:srgbClr val="DEDEDE"/>
                      </a:solidFill>
                      <a:prstDash val="solid"/>
                      <a:round/>
                      <a:headEnd type="none" w="med" len="med"/>
                      <a:tailEnd type="none" w="med" len="med"/>
                    </a:lnL>
                    <a:lnR w="12700" cap="flat" cmpd="sng" algn="ctr">
                      <a:solidFill>
                        <a:srgbClr val="DEDEDE"/>
                      </a:solidFill>
                      <a:prstDash val="solid"/>
                      <a:round/>
                      <a:headEnd type="none" w="med" len="med"/>
                      <a:tailEnd type="none" w="med" len="med"/>
                    </a:lnR>
                    <a:lnT w="12700" cap="flat" cmpd="sng" algn="ctr">
                      <a:solidFill>
                        <a:srgbClr val="DEDEDE"/>
                      </a:solidFill>
                      <a:prstDash val="solid"/>
                      <a:round/>
                      <a:headEnd type="none" w="med" len="med"/>
                      <a:tailEnd type="none" w="med" len="med"/>
                    </a:lnT>
                    <a:lnB w="12700" cap="flat" cmpd="sng" algn="ctr">
                      <a:solidFill>
                        <a:srgbClr val="DEDEDE"/>
                      </a:solidFill>
                      <a:prstDash val="solid"/>
                      <a:round/>
                      <a:headEnd type="none" w="med" len="med"/>
                      <a:tailEnd type="none" w="med" len="med"/>
                    </a:lnB>
                    <a:solidFill>
                      <a:srgbClr val="F0F0F0"/>
                    </a:solidFill>
                  </a:tcPr>
                </a:tc>
                <a:tc>
                  <a:txBody>
                    <a:bodyPr/>
                    <a:lstStyle/>
                    <a:p>
                      <a:pPr marL="0" indent="0">
                        <a:buNone/>
                      </a:pPr>
                      <a:r>
                        <a:rPr lang="en-US" sz="1000" dirty="0">
                          <a:solidFill>
                            <a:srgbClr val="2C2C2C"/>
                          </a:solidFill>
                          <a:latin typeface="Calibri" pitchFamily="34" charset="0"/>
                          <a:ea typeface="Calibri" pitchFamily="34" charset="-122"/>
                          <a:cs typeface="Calibri" pitchFamily="34" charset="-120"/>
                        </a:rPr>
                        <a:t>High</a:t>
                      </a:r>
                      <a:endParaRPr lang="en-US" sz="1000" dirty="0">
                        <a:latin typeface="Calibri" charset="0"/>
                        <a:ea typeface="Calibri" charset="0"/>
                        <a:cs typeface="Calibri" charset="0"/>
                      </a:endParaRPr>
                    </a:p>
                  </a:txBody>
                  <a:tcPr marL="38100" marR="38100" marT="38100" marB="38100" anchor="ctr">
                    <a:lnL w="12700" cap="flat" cmpd="sng" algn="ctr">
                      <a:solidFill>
                        <a:srgbClr val="DEDEDE"/>
                      </a:solidFill>
                      <a:prstDash val="solid"/>
                      <a:round/>
                      <a:headEnd type="none" w="med" len="med"/>
                      <a:tailEnd type="none" w="med" len="med"/>
                    </a:lnL>
                    <a:lnR w="12700" cap="flat" cmpd="sng" algn="ctr">
                      <a:solidFill>
                        <a:srgbClr val="DEDEDE"/>
                      </a:solidFill>
                      <a:prstDash val="solid"/>
                      <a:round/>
                      <a:headEnd type="none" w="med" len="med"/>
                      <a:tailEnd type="none" w="med" len="med"/>
                    </a:lnR>
                    <a:lnT w="12700" cap="flat" cmpd="sng" algn="ctr">
                      <a:solidFill>
                        <a:srgbClr val="DEDEDE"/>
                      </a:solidFill>
                      <a:prstDash val="solid"/>
                      <a:round/>
                      <a:headEnd type="none" w="med" len="med"/>
                      <a:tailEnd type="none" w="med" len="med"/>
                    </a:lnT>
                    <a:lnB w="12700" cap="flat" cmpd="sng" algn="ctr">
                      <a:solidFill>
                        <a:srgbClr val="DEDEDE"/>
                      </a:solidFill>
                      <a:prstDash val="solid"/>
                      <a:round/>
                      <a:headEnd type="none" w="med" len="med"/>
                      <a:tailEnd type="none" w="med" len="med"/>
                    </a:lnB>
                    <a:solidFill>
                      <a:srgbClr val="F0F0F0"/>
                    </a:solidFill>
                  </a:tcPr>
                </a:tc>
                <a:tc>
                  <a:txBody>
                    <a:bodyPr/>
                    <a:lstStyle/>
                    <a:p>
                      <a:pPr marL="0" indent="0">
                        <a:buNone/>
                      </a:pPr>
                      <a:r>
                        <a:rPr lang="en-US" sz="1000" b="1" dirty="0">
                          <a:solidFill>
                            <a:srgbClr val="27AE60"/>
                          </a:solidFill>
                          <a:latin typeface="Arial" pitchFamily="34" charset="0"/>
                          <a:ea typeface="Arial" pitchFamily="34" charset="-122"/>
                          <a:cs typeface="Arial" pitchFamily="34" charset="-120"/>
                        </a:rPr>
                        <a:t>Pass</a:t>
                      </a:r>
                      <a:endParaRPr lang="en-US" sz="1000" dirty="0">
                        <a:latin typeface="Arial" charset="0"/>
                        <a:ea typeface="Arial" charset="0"/>
                        <a:cs typeface="Arial" charset="0"/>
                      </a:endParaRPr>
                    </a:p>
                  </a:txBody>
                  <a:tcPr marL="38100" marR="38100" marT="38100" marB="38100" anchor="ctr">
                    <a:lnL w="12700" cap="flat" cmpd="sng" algn="ctr">
                      <a:solidFill>
                        <a:srgbClr val="DEDEDE"/>
                      </a:solidFill>
                      <a:prstDash val="solid"/>
                      <a:round/>
                      <a:headEnd type="none" w="med" len="med"/>
                      <a:tailEnd type="none" w="med" len="med"/>
                    </a:lnL>
                    <a:lnR w="12700" cap="flat" cmpd="sng" algn="ctr">
                      <a:solidFill>
                        <a:srgbClr val="DEDEDE"/>
                      </a:solidFill>
                      <a:prstDash val="solid"/>
                      <a:round/>
                      <a:headEnd type="none" w="med" len="med"/>
                      <a:tailEnd type="none" w="med" len="med"/>
                    </a:lnR>
                    <a:lnT w="12700" cap="flat" cmpd="sng" algn="ctr">
                      <a:solidFill>
                        <a:srgbClr val="DEDEDE"/>
                      </a:solidFill>
                      <a:prstDash val="solid"/>
                      <a:round/>
                      <a:headEnd type="none" w="med" len="med"/>
                      <a:tailEnd type="none" w="med" len="med"/>
                    </a:lnT>
                    <a:lnB w="12700" cap="flat" cmpd="sng" algn="ctr">
                      <a:solidFill>
                        <a:srgbClr val="DEDEDE"/>
                      </a:solidFill>
                      <a:prstDash val="solid"/>
                      <a:round/>
                      <a:headEnd type="none" w="med" len="med"/>
                      <a:tailEnd type="none" w="med" len="med"/>
                    </a:lnB>
                    <a:solidFill>
                      <a:srgbClr val="F0F0F0"/>
                    </a:solidFill>
                  </a:tcPr>
                </a:tc>
                <a:extLst>
                  <a:ext uri="{0D108BD9-81ED-4DB2-BD59-A6C34878D82A}">
                    <a16:rowId xmlns:a16="http://schemas.microsoft.com/office/drawing/2014/main" val="10004"/>
                  </a:ext>
                </a:extLst>
              </a:tr>
              <a:tr h="438912">
                <a:tc>
                  <a:txBody>
                    <a:bodyPr/>
                    <a:lstStyle/>
                    <a:p>
                      <a:pPr marL="0" indent="0">
                        <a:buNone/>
                      </a:pPr>
                      <a:r>
                        <a:rPr lang="en-US" sz="1000" dirty="0">
                          <a:solidFill>
                            <a:srgbClr val="2C2C2C"/>
                          </a:solidFill>
                          <a:latin typeface="Calibri" pitchFamily="34" charset="0"/>
                          <a:ea typeface="Calibri" pitchFamily="34" charset="-122"/>
                          <a:cs typeface="Calibri" pitchFamily="34" charset="-120"/>
                        </a:rPr>
                        <a:t>REQ-002</a:t>
                      </a:r>
                      <a:endParaRPr lang="en-US" sz="1000" dirty="0">
                        <a:latin typeface="Calibri" charset="0"/>
                        <a:ea typeface="Calibri" charset="0"/>
                        <a:cs typeface="Calibri" charset="0"/>
                      </a:endParaRPr>
                    </a:p>
                  </a:txBody>
                  <a:tcPr marL="38100" marR="38100" marT="38100" marB="38100" anchor="ctr">
                    <a:lnL w="12700" cap="flat" cmpd="sng" algn="ctr">
                      <a:solidFill>
                        <a:srgbClr val="DEDEDE"/>
                      </a:solidFill>
                      <a:prstDash val="solid"/>
                      <a:round/>
                      <a:headEnd type="none" w="med" len="med"/>
                      <a:tailEnd type="none" w="med" len="med"/>
                    </a:lnL>
                    <a:lnR w="12700" cap="flat" cmpd="sng" algn="ctr">
                      <a:solidFill>
                        <a:srgbClr val="DEDEDE"/>
                      </a:solidFill>
                      <a:prstDash val="solid"/>
                      <a:round/>
                      <a:headEnd type="none" w="med" len="med"/>
                      <a:tailEnd type="none" w="med" len="med"/>
                    </a:lnR>
                    <a:lnT w="12700" cap="flat" cmpd="sng" algn="ctr">
                      <a:solidFill>
                        <a:srgbClr val="DEDEDE"/>
                      </a:solidFill>
                      <a:prstDash val="solid"/>
                      <a:round/>
                      <a:headEnd type="none" w="med" len="med"/>
                      <a:tailEnd type="none" w="med" len="med"/>
                    </a:lnT>
                    <a:lnB w="12700" cap="flat" cmpd="sng" algn="ctr">
                      <a:solidFill>
                        <a:srgbClr val="DEDEDE"/>
                      </a:solidFill>
                      <a:prstDash val="solid"/>
                      <a:round/>
                      <a:headEnd type="none" w="med" len="med"/>
                      <a:tailEnd type="none" w="med" len="med"/>
                    </a:lnB>
                    <a:solidFill>
                      <a:srgbClr val="FFFFFF"/>
                    </a:solidFill>
                  </a:tcPr>
                </a:tc>
                <a:tc>
                  <a:txBody>
                    <a:bodyPr/>
                    <a:lstStyle/>
                    <a:p>
                      <a:pPr marL="0" indent="0">
                        <a:buNone/>
                      </a:pPr>
                      <a:r>
                        <a:rPr lang="en-US" sz="1000" dirty="0">
                          <a:solidFill>
                            <a:srgbClr val="2C2C2C"/>
                          </a:solidFill>
                          <a:latin typeface="Calibri" pitchFamily="34" charset="0"/>
                          <a:ea typeface="Calibri" pitchFamily="34" charset="-122"/>
                          <a:cs typeface="Calibri" pitchFamily="34" charset="-120"/>
                        </a:rPr>
                        <a:t>System locks account after 3 failed login attempts</a:t>
                      </a:r>
                      <a:endParaRPr lang="en-US" sz="1000" dirty="0">
                        <a:latin typeface="Calibri" charset="0"/>
                        <a:ea typeface="Calibri" charset="0"/>
                        <a:cs typeface="Calibri" charset="0"/>
                      </a:endParaRPr>
                    </a:p>
                  </a:txBody>
                  <a:tcPr marL="38100" marR="38100" marT="38100" marB="38100" anchor="ctr">
                    <a:lnL w="12700" cap="flat" cmpd="sng" algn="ctr">
                      <a:solidFill>
                        <a:srgbClr val="DEDEDE"/>
                      </a:solidFill>
                      <a:prstDash val="solid"/>
                      <a:round/>
                      <a:headEnd type="none" w="med" len="med"/>
                      <a:tailEnd type="none" w="med" len="med"/>
                    </a:lnL>
                    <a:lnR w="12700" cap="flat" cmpd="sng" algn="ctr">
                      <a:solidFill>
                        <a:srgbClr val="DEDEDE"/>
                      </a:solidFill>
                      <a:prstDash val="solid"/>
                      <a:round/>
                      <a:headEnd type="none" w="med" len="med"/>
                      <a:tailEnd type="none" w="med" len="med"/>
                    </a:lnR>
                    <a:lnT w="12700" cap="flat" cmpd="sng" algn="ctr">
                      <a:solidFill>
                        <a:srgbClr val="DEDEDE"/>
                      </a:solidFill>
                      <a:prstDash val="solid"/>
                      <a:round/>
                      <a:headEnd type="none" w="med" len="med"/>
                      <a:tailEnd type="none" w="med" len="med"/>
                    </a:lnT>
                    <a:lnB w="12700" cap="flat" cmpd="sng" algn="ctr">
                      <a:solidFill>
                        <a:srgbClr val="DEDEDE"/>
                      </a:solidFill>
                      <a:prstDash val="solid"/>
                      <a:round/>
                      <a:headEnd type="none" w="med" len="med"/>
                      <a:tailEnd type="none" w="med" len="med"/>
                    </a:lnB>
                    <a:solidFill>
                      <a:srgbClr val="FFFFFF"/>
                    </a:solidFill>
                  </a:tcPr>
                </a:tc>
                <a:tc>
                  <a:txBody>
                    <a:bodyPr/>
                    <a:lstStyle/>
                    <a:p>
                      <a:pPr marL="0" indent="0">
                        <a:buNone/>
                      </a:pPr>
                      <a:r>
                        <a:rPr lang="en-US" sz="1000" dirty="0">
                          <a:solidFill>
                            <a:srgbClr val="2C2C2C"/>
                          </a:solidFill>
                          <a:latin typeface="Calibri" pitchFamily="34" charset="0"/>
                          <a:ea typeface="Calibri" pitchFamily="34" charset="-122"/>
                          <a:cs typeface="Calibri" pitchFamily="34" charset="-120"/>
                        </a:rPr>
                        <a:t>TC_LOGIN_005</a:t>
                      </a:r>
                      <a:endParaRPr lang="en-US" sz="1000" dirty="0">
                        <a:latin typeface="Calibri" charset="0"/>
                        <a:ea typeface="Calibri" charset="0"/>
                        <a:cs typeface="Calibri" charset="0"/>
                      </a:endParaRPr>
                    </a:p>
                  </a:txBody>
                  <a:tcPr marL="38100" marR="38100" marT="38100" marB="38100" anchor="ctr">
                    <a:lnL w="12700" cap="flat" cmpd="sng" algn="ctr">
                      <a:solidFill>
                        <a:srgbClr val="DEDEDE"/>
                      </a:solidFill>
                      <a:prstDash val="solid"/>
                      <a:round/>
                      <a:headEnd type="none" w="med" len="med"/>
                      <a:tailEnd type="none" w="med" len="med"/>
                    </a:lnL>
                    <a:lnR w="12700" cap="flat" cmpd="sng" algn="ctr">
                      <a:solidFill>
                        <a:srgbClr val="DEDEDE"/>
                      </a:solidFill>
                      <a:prstDash val="solid"/>
                      <a:round/>
                      <a:headEnd type="none" w="med" len="med"/>
                      <a:tailEnd type="none" w="med" len="med"/>
                    </a:lnR>
                    <a:lnT w="12700" cap="flat" cmpd="sng" algn="ctr">
                      <a:solidFill>
                        <a:srgbClr val="DEDEDE"/>
                      </a:solidFill>
                      <a:prstDash val="solid"/>
                      <a:round/>
                      <a:headEnd type="none" w="med" len="med"/>
                      <a:tailEnd type="none" w="med" len="med"/>
                    </a:lnT>
                    <a:lnB w="12700" cap="flat" cmpd="sng" algn="ctr">
                      <a:solidFill>
                        <a:srgbClr val="DEDEDE"/>
                      </a:solidFill>
                      <a:prstDash val="solid"/>
                      <a:round/>
                      <a:headEnd type="none" w="med" len="med"/>
                      <a:tailEnd type="none" w="med" len="med"/>
                    </a:lnB>
                    <a:solidFill>
                      <a:srgbClr val="FFFFFF"/>
                    </a:solidFill>
                  </a:tcPr>
                </a:tc>
                <a:tc>
                  <a:txBody>
                    <a:bodyPr/>
                    <a:lstStyle/>
                    <a:p>
                      <a:pPr marL="0" indent="0">
                        <a:buNone/>
                      </a:pPr>
                      <a:r>
                        <a:rPr lang="en-US" sz="1000" dirty="0">
                          <a:solidFill>
                            <a:srgbClr val="2C2C2C"/>
                          </a:solidFill>
                          <a:latin typeface="Calibri" pitchFamily="34" charset="0"/>
                          <a:ea typeface="Calibri" pitchFamily="34" charset="-122"/>
                          <a:cs typeface="Calibri" pitchFamily="34" charset="-120"/>
                        </a:rPr>
                        <a:t>Verify lockout message is displayed</a:t>
                      </a:r>
                      <a:endParaRPr lang="en-US" sz="1000" dirty="0">
                        <a:latin typeface="Calibri" charset="0"/>
                        <a:ea typeface="Calibri" charset="0"/>
                        <a:cs typeface="Calibri" charset="0"/>
                      </a:endParaRPr>
                    </a:p>
                  </a:txBody>
                  <a:tcPr marL="38100" marR="38100" marT="38100" marB="38100" anchor="ctr">
                    <a:lnL w="12700" cap="flat" cmpd="sng" algn="ctr">
                      <a:solidFill>
                        <a:srgbClr val="DEDEDE"/>
                      </a:solidFill>
                      <a:prstDash val="solid"/>
                      <a:round/>
                      <a:headEnd type="none" w="med" len="med"/>
                      <a:tailEnd type="none" w="med" len="med"/>
                    </a:lnL>
                    <a:lnR w="12700" cap="flat" cmpd="sng" algn="ctr">
                      <a:solidFill>
                        <a:srgbClr val="DEDEDE"/>
                      </a:solidFill>
                      <a:prstDash val="solid"/>
                      <a:round/>
                      <a:headEnd type="none" w="med" len="med"/>
                      <a:tailEnd type="none" w="med" len="med"/>
                    </a:lnR>
                    <a:lnT w="12700" cap="flat" cmpd="sng" algn="ctr">
                      <a:solidFill>
                        <a:srgbClr val="DEDEDE"/>
                      </a:solidFill>
                      <a:prstDash val="solid"/>
                      <a:round/>
                      <a:headEnd type="none" w="med" len="med"/>
                      <a:tailEnd type="none" w="med" len="med"/>
                    </a:lnT>
                    <a:lnB w="12700" cap="flat" cmpd="sng" algn="ctr">
                      <a:solidFill>
                        <a:srgbClr val="DEDEDE"/>
                      </a:solidFill>
                      <a:prstDash val="solid"/>
                      <a:round/>
                      <a:headEnd type="none" w="med" len="med"/>
                      <a:tailEnd type="none" w="med" len="med"/>
                    </a:lnB>
                    <a:solidFill>
                      <a:srgbClr val="FFFFFF"/>
                    </a:solidFill>
                  </a:tcPr>
                </a:tc>
                <a:tc>
                  <a:txBody>
                    <a:bodyPr/>
                    <a:lstStyle/>
                    <a:p>
                      <a:pPr marL="0" indent="0">
                        <a:buNone/>
                      </a:pPr>
                      <a:r>
                        <a:rPr lang="en-US" sz="1000" dirty="0">
                          <a:solidFill>
                            <a:srgbClr val="2C2C2C"/>
                          </a:solidFill>
                          <a:latin typeface="Calibri" pitchFamily="34" charset="0"/>
                          <a:ea typeface="Calibri" pitchFamily="34" charset="-122"/>
                          <a:cs typeface="Calibri" pitchFamily="34" charset="-120"/>
                        </a:rPr>
                        <a:t>Medium</a:t>
                      </a:r>
                      <a:endParaRPr lang="en-US" sz="1000" dirty="0">
                        <a:latin typeface="Calibri" charset="0"/>
                        <a:ea typeface="Calibri" charset="0"/>
                        <a:cs typeface="Calibri" charset="0"/>
                      </a:endParaRPr>
                    </a:p>
                  </a:txBody>
                  <a:tcPr marL="38100" marR="38100" marT="38100" marB="38100" anchor="ctr">
                    <a:lnL w="12700" cap="flat" cmpd="sng" algn="ctr">
                      <a:solidFill>
                        <a:srgbClr val="DEDEDE"/>
                      </a:solidFill>
                      <a:prstDash val="solid"/>
                      <a:round/>
                      <a:headEnd type="none" w="med" len="med"/>
                      <a:tailEnd type="none" w="med" len="med"/>
                    </a:lnL>
                    <a:lnR w="12700" cap="flat" cmpd="sng" algn="ctr">
                      <a:solidFill>
                        <a:srgbClr val="DEDEDE"/>
                      </a:solidFill>
                      <a:prstDash val="solid"/>
                      <a:round/>
                      <a:headEnd type="none" w="med" len="med"/>
                      <a:tailEnd type="none" w="med" len="med"/>
                    </a:lnR>
                    <a:lnT w="12700" cap="flat" cmpd="sng" algn="ctr">
                      <a:solidFill>
                        <a:srgbClr val="DEDEDE"/>
                      </a:solidFill>
                      <a:prstDash val="solid"/>
                      <a:round/>
                      <a:headEnd type="none" w="med" len="med"/>
                      <a:tailEnd type="none" w="med" len="med"/>
                    </a:lnT>
                    <a:lnB w="12700" cap="flat" cmpd="sng" algn="ctr">
                      <a:solidFill>
                        <a:srgbClr val="DEDEDE"/>
                      </a:solidFill>
                      <a:prstDash val="solid"/>
                      <a:round/>
                      <a:headEnd type="none" w="med" len="med"/>
                      <a:tailEnd type="none" w="med" len="med"/>
                    </a:lnB>
                    <a:solidFill>
                      <a:srgbClr val="FFFFFF"/>
                    </a:solidFill>
                  </a:tcPr>
                </a:tc>
                <a:tc>
                  <a:txBody>
                    <a:bodyPr/>
                    <a:lstStyle/>
                    <a:p>
                      <a:pPr marL="0" indent="0">
                        <a:buNone/>
                      </a:pPr>
                      <a:r>
                        <a:rPr lang="en-US" sz="1000" b="1" dirty="0">
                          <a:solidFill>
                            <a:srgbClr val="27AE60"/>
                          </a:solidFill>
                          <a:latin typeface="Arial" pitchFamily="34" charset="0"/>
                          <a:ea typeface="Arial" pitchFamily="34" charset="-122"/>
                          <a:cs typeface="Arial" pitchFamily="34" charset="-120"/>
                        </a:rPr>
                        <a:t>Pass</a:t>
                      </a:r>
                      <a:endParaRPr lang="en-US" sz="1000" dirty="0">
                        <a:latin typeface="Arial" charset="0"/>
                        <a:ea typeface="Arial" charset="0"/>
                        <a:cs typeface="Arial" charset="0"/>
                      </a:endParaRPr>
                    </a:p>
                  </a:txBody>
                  <a:tcPr marL="38100" marR="38100" marT="38100" marB="38100" anchor="ctr">
                    <a:lnL w="12700" cap="flat" cmpd="sng" algn="ctr">
                      <a:solidFill>
                        <a:srgbClr val="DEDEDE"/>
                      </a:solidFill>
                      <a:prstDash val="solid"/>
                      <a:round/>
                      <a:headEnd type="none" w="med" len="med"/>
                      <a:tailEnd type="none" w="med" len="med"/>
                    </a:lnL>
                    <a:lnR w="12700" cap="flat" cmpd="sng" algn="ctr">
                      <a:solidFill>
                        <a:srgbClr val="DEDEDE"/>
                      </a:solidFill>
                      <a:prstDash val="solid"/>
                      <a:round/>
                      <a:headEnd type="none" w="med" len="med"/>
                      <a:tailEnd type="none" w="med" len="med"/>
                    </a:lnR>
                    <a:lnT w="12700" cap="flat" cmpd="sng" algn="ctr">
                      <a:solidFill>
                        <a:srgbClr val="DEDEDE"/>
                      </a:solidFill>
                      <a:prstDash val="solid"/>
                      <a:round/>
                      <a:headEnd type="none" w="med" len="med"/>
                      <a:tailEnd type="none" w="med" len="med"/>
                    </a:lnT>
                    <a:lnB w="12700" cap="flat" cmpd="sng" algn="ctr">
                      <a:solidFill>
                        <a:srgbClr val="DEDEDE"/>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438912">
                <a:tc>
                  <a:txBody>
                    <a:bodyPr/>
                    <a:lstStyle/>
                    <a:p>
                      <a:pPr marL="0" indent="0">
                        <a:buNone/>
                      </a:pPr>
                      <a:r>
                        <a:rPr lang="en-US" sz="1000" dirty="0">
                          <a:solidFill>
                            <a:srgbClr val="2C2C2C"/>
                          </a:solidFill>
                          <a:latin typeface="Calibri" pitchFamily="34" charset="0"/>
                          <a:ea typeface="Calibri" pitchFamily="34" charset="-122"/>
                          <a:cs typeface="Calibri" pitchFamily="34" charset="-120"/>
                        </a:rPr>
                        <a:t>REQ-003</a:t>
                      </a:r>
                      <a:endParaRPr lang="en-US" sz="1000" dirty="0">
                        <a:latin typeface="Calibri" charset="0"/>
                        <a:ea typeface="Calibri" charset="0"/>
                        <a:cs typeface="Calibri" charset="0"/>
                      </a:endParaRPr>
                    </a:p>
                  </a:txBody>
                  <a:tcPr marL="38100" marR="38100" marT="38100" marB="38100" anchor="ctr">
                    <a:lnL w="12700" cap="flat" cmpd="sng" algn="ctr">
                      <a:solidFill>
                        <a:srgbClr val="DEDEDE"/>
                      </a:solidFill>
                      <a:prstDash val="solid"/>
                      <a:round/>
                      <a:headEnd type="none" w="med" len="med"/>
                      <a:tailEnd type="none" w="med" len="med"/>
                    </a:lnL>
                    <a:lnR w="12700" cap="flat" cmpd="sng" algn="ctr">
                      <a:solidFill>
                        <a:srgbClr val="DEDEDE"/>
                      </a:solidFill>
                      <a:prstDash val="solid"/>
                      <a:round/>
                      <a:headEnd type="none" w="med" len="med"/>
                      <a:tailEnd type="none" w="med" len="med"/>
                    </a:lnR>
                    <a:lnT w="12700" cap="flat" cmpd="sng" algn="ctr">
                      <a:solidFill>
                        <a:srgbClr val="DEDEDE"/>
                      </a:solidFill>
                      <a:prstDash val="solid"/>
                      <a:round/>
                      <a:headEnd type="none" w="med" len="med"/>
                      <a:tailEnd type="none" w="med" len="med"/>
                    </a:lnT>
                    <a:lnB w="12700" cap="flat" cmpd="sng" algn="ctr">
                      <a:solidFill>
                        <a:srgbClr val="DEDEDE"/>
                      </a:solidFill>
                      <a:prstDash val="solid"/>
                      <a:round/>
                      <a:headEnd type="none" w="med" len="med"/>
                      <a:tailEnd type="none" w="med" len="med"/>
                    </a:lnB>
                    <a:solidFill>
                      <a:srgbClr val="F0F0F0"/>
                    </a:solidFill>
                  </a:tcPr>
                </a:tc>
                <a:tc>
                  <a:txBody>
                    <a:bodyPr/>
                    <a:lstStyle/>
                    <a:p>
                      <a:pPr marL="0" indent="0">
                        <a:buNone/>
                      </a:pPr>
                      <a:r>
                        <a:rPr lang="en-US" sz="1000" dirty="0">
                          <a:solidFill>
                            <a:srgbClr val="2C2C2C"/>
                          </a:solidFill>
                          <a:latin typeface="Calibri" pitchFamily="34" charset="0"/>
                          <a:ea typeface="Calibri" pitchFamily="34" charset="-122"/>
                          <a:cs typeface="Calibri" pitchFamily="34" charset="-120"/>
                        </a:rPr>
                        <a:t>User must be able to reset password via email</a:t>
                      </a:r>
                      <a:endParaRPr lang="en-US" sz="1000" dirty="0">
                        <a:latin typeface="Calibri" charset="0"/>
                        <a:ea typeface="Calibri" charset="0"/>
                        <a:cs typeface="Calibri" charset="0"/>
                      </a:endParaRPr>
                    </a:p>
                  </a:txBody>
                  <a:tcPr marL="38100" marR="38100" marT="38100" marB="38100" anchor="ctr">
                    <a:lnL w="12700" cap="flat" cmpd="sng" algn="ctr">
                      <a:solidFill>
                        <a:srgbClr val="DEDEDE"/>
                      </a:solidFill>
                      <a:prstDash val="solid"/>
                      <a:round/>
                      <a:headEnd type="none" w="med" len="med"/>
                      <a:tailEnd type="none" w="med" len="med"/>
                    </a:lnL>
                    <a:lnR w="12700" cap="flat" cmpd="sng" algn="ctr">
                      <a:solidFill>
                        <a:srgbClr val="DEDEDE"/>
                      </a:solidFill>
                      <a:prstDash val="solid"/>
                      <a:round/>
                      <a:headEnd type="none" w="med" len="med"/>
                      <a:tailEnd type="none" w="med" len="med"/>
                    </a:lnR>
                    <a:lnT w="12700" cap="flat" cmpd="sng" algn="ctr">
                      <a:solidFill>
                        <a:srgbClr val="DEDEDE"/>
                      </a:solidFill>
                      <a:prstDash val="solid"/>
                      <a:round/>
                      <a:headEnd type="none" w="med" len="med"/>
                      <a:tailEnd type="none" w="med" len="med"/>
                    </a:lnT>
                    <a:lnB w="12700" cap="flat" cmpd="sng" algn="ctr">
                      <a:solidFill>
                        <a:srgbClr val="DEDEDE"/>
                      </a:solidFill>
                      <a:prstDash val="solid"/>
                      <a:round/>
                      <a:headEnd type="none" w="med" len="med"/>
                      <a:tailEnd type="none" w="med" len="med"/>
                    </a:lnB>
                    <a:solidFill>
                      <a:srgbClr val="F0F0F0"/>
                    </a:solidFill>
                  </a:tcPr>
                </a:tc>
                <a:tc>
                  <a:txBody>
                    <a:bodyPr/>
                    <a:lstStyle/>
                    <a:p>
                      <a:pPr marL="0" indent="0">
                        <a:buNone/>
                      </a:pPr>
                      <a:r>
                        <a:rPr lang="en-US" sz="1000" dirty="0">
                          <a:solidFill>
                            <a:srgbClr val="2C2C2C"/>
                          </a:solidFill>
                          <a:latin typeface="Calibri" pitchFamily="34" charset="0"/>
                          <a:ea typeface="Calibri" pitchFamily="34" charset="-122"/>
                          <a:cs typeface="Calibri" pitchFamily="34" charset="-120"/>
                        </a:rPr>
                        <a:t>TC_LOGIN_006</a:t>
                      </a:r>
                      <a:endParaRPr lang="en-US" sz="1000" dirty="0">
                        <a:latin typeface="Calibri" charset="0"/>
                        <a:ea typeface="Calibri" charset="0"/>
                        <a:cs typeface="Calibri" charset="0"/>
                      </a:endParaRPr>
                    </a:p>
                  </a:txBody>
                  <a:tcPr marL="38100" marR="38100" marT="38100" marB="38100" anchor="ctr">
                    <a:lnL w="12700" cap="flat" cmpd="sng" algn="ctr">
                      <a:solidFill>
                        <a:srgbClr val="DEDEDE"/>
                      </a:solidFill>
                      <a:prstDash val="solid"/>
                      <a:round/>
                      <a:headEnd type="none" w="med" len="med"/>
                      <a:tailEnd type="none" w="med" len="med"/>
                    </a:lnL>
                    <a:lnR w="12700" cap="flat" cmpd="sng" algn="ctr">
                      <a:solidFill>
                        <a:srgbClr val="DEDEDE"/>
                      </a:solidFill>
                      <a:prstDash val="solid"/>
                      <a:round/>
                      <a:headEnd type="none" w="med" len="med"/>
                      <a:tailEnd type="none" w="med" len="med"/>
                    </a:lnR>
                    <a:lnT w="12700" cap="flat" cmpd="sng" algn="ctr">
                      <a:solidFill>
                        <a:srgbClr val="DEDEDE"/>
                      </a:solidFill>
                      <a:prstDash val="solid"/>
                      <a:round/>
                      <a:headEnd type="none" w="med" len="med"/>
                      <a:tailEnd type="none" w="med" len="med"/>
                    </a:lnT>
                    <a:lnB w="12700" cap="flat" cmpd="sng" algn="ctr">
                      <a:solidFill>
                        <a:srgbClr val="DEDEDE"/>
                      </a:solidFill>
                      <a:prstDash val="solid"/>
                      <a:round/>
                      <a:headEnd type="none" w="med" len="med"/>
                      <a:tailEnd type="none" w="med" len="med"/>
                    </a:lnB>
                    <a:solidFill>
                      <a:srgbClr val="F0F0F0"/>
                    </a:solidFill>
                  </a:tcPr>
                </a:tc>
                <a:tc>
                  <a:txBody>
                    <a:bodyPr/>
                    <a:lstStyle/>
                    <a:p>
                      <a:pPr marL="0" indent="0">
                        <a:buNone/>
                      </a:pPr>
                      <a:r>
                        <a:rPr lang="en-US" sz="1000" dirty="0">
                          <a:solidFill>
                            <a:srgbClr val="2C2C2C"/>
                          </a:solidFill>
                          <a:latin typeface="Calibri" pitchFamily="34" charset="0"/>
                          <a:ea typeface="Calibri" pitchFamily="34" charset="-122"/>
                          <a:cs typeface="Calibri" pitchFamily="34" charset="-120"/>
                        </a:rPr>
                        <a:t>Verify password reset email is sent</a:t>
                      </a:r>
                      <a:endParaRPr lang="en-US" sz="1000" dirty="0">
                        <a:latin typeface="Calibri" charset="0"/>
                        <a:ea typeface="Calibri" charset="0"/>
                        <a:cs typeface="Calibri" charset="0"/>
                      </a:endParaRPr>
                    </a:p>
                  </a:txBody>
                  <a:tcPr marL="38100" marR="38100" marT="38100" marB="38100" anchor="ctr">
                    <a:lnL w="12700" cap="flat" cmpd="sng" algn="ctr">
                      <a:solidFill>
                        <a:srgbClr val="DEDEDE"/>
                      </a:solidFill>
                      <a:prstDash val="solid"/>
                      <a:round/>
                      <a:headEnd type="none" w="med" len="med"/>
                      <a:tailEnd type="none" w="med" len="med"/>
                    </a:lnL>
                    <a:lnR w="12700" cap="flat" cmpd="sng" algn="ctr">
                      <a:solidFill>
                        <a:srgbClr val="DEDEDE"/>
                      </a:solidFill>
                      <a:prstDash val="solid"/>
                      <a:round/>
                      <a:headEnd type="none" w="med" len="med"/>
                      <a:tailEnd type="none" w="med" len="med"/>
                    </a:lnR>
                    <a:lnT w="12700" cap="flat" cmpd="sng" algn="ctr">
                      <a:solidFill>
                        <a:srgbClr val="DEDEDE"/>
                      </a:solidFill>
                      <a:prstDash val="solid"/>
                      <a:round/>
                      <a:headEnd type="none" w="med" len="med"/>
                      <a:tailEnd type="none" w="med" len="med"/>
                    </a:lnT>
                    <a:lnB w="12700" cap="flat" cmpd="sng" algn="ctr">
                      <a:solidFill>
                        <a:srgbClr val="DEDEDE"/>
                      </a:solidFill>
                      <a:prstDash val="solid"/>
                      <a:round/>
                      <a:headEnd type="none" w="med" len="med"/>
                      <a:tailEnd type="none" w="med" len="med"/>
                    </a:lnB>
                    <a:solidFill>
                      <a:srgbClr val="F0F0F0"/>
                    </a:solidFill>
                  </a:tcPr>
                </a:tc>
                <a:tc>
                  <a:txBody>
                    <a:bodyPr/>
                    <a:lstStyle/>
                    <a:p>
                      <a:pPr marL="0" indent="0">
                        <a:buNone/>
                      </a:pPr>
                      <a:r>
                        <a:rPr lang="en-US" sz="1000" dirty="0">
                          <a:solidFill>
                            <a:srgbClr val="2C2C2C"/>
                          </a:solidFill>
                          <a:latin typeface="Calibri" pitchFamily="34" charset="0"/>
                          <a:ea typeface="Calibri" pitchFamily="34" charset="-122"/>
                          <a:cs typeface="Calibri" pitchFamily="34" charset="-120"/>
                        </a:rPr>
                        <a:t>High</a:t>
                      </a:r>
                      <a:endParaRPr lang="en-US" sz="1000" dirty="0">
                        <a:latin typeface="Calibri" charset="0"/>
                        <a:ea typeface="Calibri" charset="0"/>
                        <a:cs typeface="Calibri" charset="0"/>
                      </a:endParaRPr>
                    </a:p>
                  </a:txBody>
                  <a:tcPr marL="38100" marR="38100" marT="38100" marB="38100" anchor="ctr">
                    <a:lnL w="12700" cap="flat" cmpd="sng" algn="ctr">
                      <a:solidFill>
                        <a:srgbClr val="DEDEDE"/>
                      </a:solidFill>
                      <a:prstDash val="solid"/>
                      <a:round/>
                      <a:headEnd type="none" w="med" len="med"/>
                      <a:tailEnd type="none" w="med" len="med"/>
                    </a:lnL>
                    <a:lnR w="12700" cap="flat" cmpd="sng" algn="ctr">
                      <a:solidFill>
                        <a:srgbClr val="DEDEDE"/>
                      </a:solidFill>
                      <a:prstDash val="solid"/>
                      <a:round/>
                      <a:headEnd type="none" w="med" len="med"/>
                      <a:tailEnd type="none" w="med" len="med"/>
                    </a:lnR>
                    <a:lnT w="12700" cap="flat" cmpd="sng" algn="ctr">
                      <a:solidFill>
                        <a:srgbClr val="DEDEDE"/>
                      </a:solidFill>
                      <a:prstDash val="solid"/>
                      <a:round/>
                      <a:headEnd type="none" w="med" len="med"/>
                      <a:tailEnd type="none" w="med" len="med"/>
                    </a:lnT>
                    <a:lnB w="12700" cap="flat" cmpd="sng" algn="ctr">
                      <a:solidFill>
                        <a:srgbClr val="DEDEDE"/>
                      </a:solidFill>
                      <a:prstDash val="solid"/>
                      <a:round/>
                      <a:headEnd type="none" w="med" len="med"/>
                      <a:tailEnd type="none" w="med" len="med"/>
                    </a:lnB>
                    <a:solidFill>
                      <a:srgbClr val="F0F0F0"/>
                    </a:solidFill>
                  </a:tcPr>
                </a:tc>
                <a:tc>
                  <a:txBody>
                    <a:bodyPr/>
                    <a:lstStyle/>
                    <a:p>
                      <a:pPr marL="0" indent="0">
                        <a:buNone/>
                      </a:pPr>
                      <a:r>
                        <a:rPr lang="en-US" sz="1000" b="1" dirty="0">
                          <a:solidFill>
                            <a:srgbClr val="2980B9"/>
                          </a:solidFill>
                          <a:latin typeface="Arial" pitchFamily="34" charset="0"/>
                          <a:ea typeface="Arial" pitchFamily="34" charset="-122"/>
                          <a:cs typeface="Arial" pitchFamily="34" charset="-120"/>
                        </a:rPr>
                        <a:t>In Progress</a:t>
                      </a:r>
                      <a:endParaRPr lang="en-US" sz="1000" dirty="0">
                        <a:latin typeface="Arial" charset="0"/>
                        <a:ea typeface="Arial" charset="0"/>
                        <a:cs typeface="Arial" charset="0"/>
                      </a:endParaRPr>
                    </a:p>
                  </a:txBody>
                  <a:tcPr marL="38100" marR="38100" marT="38100" marB="38100" anchor="ctr">
                    <a:lnL w="12700" cap="flat" cmpd="sng" algn="ctr">
                      <a:solidFill>
                        <a:srgbClr val="DEDEDE"/>
                      </a:solidFill>
                      <a:prstDash val="solid"/>
                      <a:round/>
                      <a:headEnd type="none" w="med" len="med"/>
                      <a:tailEnd type="none" w="med" len="med"/>
                    </a:lnL>
                    <a:lnR w="12700" cap="flat" cmpd="sng" algn="ctr">
                      <a:solidFill>
                        <a:srgbClr val="DEDEDE"/>
                      </a:solidFill>
                      <a:prstDash val="solid"/>
                      <a:round/>
                      <a:headEnd type="none" w="med" len="med"/>
                      <a:tailEnd type="none" w="med" len="med"/>
                    </a:lnR>
                    <a:lnT w="12700" cap="flat" cmpd="sng" algn="ctr">
                      <a:solidFill>
                        <a:srgbClr val="DEDEDE"/>
                      </a:solidFill>
                      <a:prstDash val="solid"/>
                      <a:round/>
                      <a:headEnd type="none" w="med" len="med"/>
                      <a:tailEnd type="none" w="med" len="med"/>
                    </a:lnT>
                    <a:lnB w="12700" cap="flat" cmpd="sng" algn="ctr">
                      <a:solidFill>
                        <a:srgbClr val="DEDEDE"/>
                      </a:solidFill>
                      <a:prstDash val="solid"/>
                      <a:round/>
                      <a:headEnd type="none" w="med" len="med"/>
                      <a:tailEnd type="none" w="med" len="med"/>
                    </a:lnB>
                    <a:solidFill>
                      <a:srgbClr val="F0F0F0"/>
                    </a:solidFill>
                  </a:tcPr>
                </a:tc>
                <a:extLst>
                  <a:ext uri="{0D108BD9-81ED-4DB2-BD59-A6C34878D82A}">
                    <a16:rowId xmlns:a16="http://schemas.microsoft.com/office/drawing/2014/main" val="10006"/>
                  </a:ext>
                </a:extLst>
              </a:tr>
              <a:tr h="438912">
                <a:tc>
                  <a:txBody>
                    <a:bodyPr/>
                    <a:lstStyle/>
                    <a:p>
                      <a:pPr marL="0" indent="0">
                        <a:buNone/>
                      </a:pPr>
                      <a:r>
                        <a:rPr lang="en-US" sz="1000" dirty="0">
                          <a:solidFill>
                            <a:srgbClr val="2C2C2C"/>
                          </a:solidFill>
                          <a:latin typeface="Calibri" pitchFamily="34" charset="0"/>
                          <a:ea typeface="Calibri" pitchFamily="34" charset="-122"/>
                          <a:cs typeface="Calibri" pitchFamily="34" charset="-120"/>
                        </a:rPr>
                        <a:t>REQ-003</a:t>
                      </a:r>
                      <a:endParaRPr lang="en-US" sz="1000" dirty="0">
                        <a:latin typeface="Calibri" charset="0"/>
                        <a:ea typeface="Calibri" charset="0"/>
                        <a:cs typeface="Calibri" charset="0"/>
                      </a:endParaRPr>
                    </a:p>
                  </a:txBody>
                  <a:tcPr marL="38100" marR="38100" marT="38100" marB="38100" anchor="ctr">
                    <a:lnL w="12700" cap="flat" cmpd="sng" algn="ctr">
                      <a:solidFill>
                        <a:srgbClr val="DEDEDE"/>
                      </a:solidFill>
                      <a:prstDash val="solid"/>
                      <a:round/>
                      <a:headEnd type="none" w="med" len="med"/>
                      <a:tailEnd type="none" w="med" len="med"/>
                    </a:lnL>
                    <a:lnR w="12700" cap="flat" cmpd="sng" algn="ctr">
                      <a:solidFill>
                        <a:srgbClr val="DEDEDE"/>
                      </a:solidFill>
                      <a:prstDash val="solid"/>
                      <a:round/>
                      <a:headEnd type="none" w="med" len="med"/>
                      <a:tailEnd type="none" w="med" len="med"/>
                    </a:lnR>
                    <a:lnT w="12700" cap="flat" cmpd="sng" algn="ctr">
                      <a:solidFill>
                        <a:srgbClr val="DEDEDE"/>
                      </a:solidFill>
                      <a:prstDash val="solid"/>
                      <a:round/>
                      <a:headEnd type="none" w="med" len="med"/>
                      <a:tailEnd type="none" w="med" len="med"/>
                    </a:lnT>
                    <a:lnB w="12700" cap="flat" cmpd="sng" algn="ctr">
                      <a:solidFill>
                        <a:srgbClr val="DEDEDE"/>
                      </a:solidFill>
                      <a:prstDash val="solid"/>
                      <a:round/>
                      <a:headEnd type="none" w="med" len="med"/>
                      <a:tailEnd type="none" w="med" len="med"/>
                    </a:lnB>
                    <a:solidFill>
                      <a:srgbClr val="FFFFFF"/>
                    </a:solidFill>
                  </a:tcPr>
                </a:tc>
                <a:tc>
                  <a:txBody>
                    <a:bodyPr/>
                    <a:lstStyle/>
                    <a:p>
                      <a:pPr marL="0" indent="0">
                        <a:buNone/>
                      </a:pPr>
                      <a:r>
                        <a:rPr lang="en-US" sz="1000" dirty="0">
                          <a:solidFill>
                            <a:srgbClr val="2C2C2C"/>
                          </a:solidFill>
                          <a:latin typeface="Calibri" pitchFamily="34" charset="0"/>
                          <a:ea typeface="Calibri" pitchFamily="34" charset="-122"/>
                          <a:cs typeface="Calibri" pitchFamily="34" charset="-120"/>
                        </a:rPr>
                        <a:t>User must be able to reset password via email</a:t>
                      </a:r>
                      <a:endParaRPr lang="en-US" sz="1000" dirty="0">
                        <a:latin typeface="Calibri" charset="0"/>
                        <a:ea typeface="Calibri" charset="0"/>
                        <a:cs typeface="Calibri" charset="0"/>
                      </a:endParaRPr>
                    </a:p>
                  </a:txBody>
                  <a:tcPr marL="38100" marR="38100" marT="38100" marB="38100" anchor="ctr">
                    <a:lnL w="12700" cap="flat" cmpd="sng" algn="ctr">
                      <a:solidFill>
                        <a:srgbClr val="DEDEDE"/>
                      </a:solidFill>
                      <a:prstDash val="solid"/>
                      <a:round/>
                      <a:headEnd type="none" w="med" len="med"/>
                      <a:tailEnd type="none" w="med" len="med"/>
                    </a:lnL>
                    <a:lnR w="12700" cap="flat" cmpd="sng" algn="ctr">
                      <a:solidFill>
                        <a:srgbClr val="DEDEDE"/>
                      </a:solidFill>
                      <a:prstDash val="solid"/>
                      <a:round/>
                      <a:headEnd type="none" w="med" len="med"/>
                      <a:tailEnd type="none" w="med" len="med"/>
                    </a:lnR>
                    <a:lnT w="12700" cap="flat" cmpd="sng" algn="ctr">
                      <a:solidFill>
                        <a:srgbClr val="DEDEDE"/>
                      </a:solidFill>
                      <a:prstDash val="solid"/>
                      <a:round/>
                      <a:headEnd type="none" w="med" len="med"/>
                      <a:tailEnd type="none" w="med" len="med"/>
                    </a:lnT>
                    <a:lnB w="12700" cap="flat" cmpd="sng" algn="ctr">
                      <a:solidFill>
                        <a:srgbClr val="DEDEDE"/>
                      </a:solidFill>
                      <a:prstDash val="solid"/>
                      <a:round/>
                      <a:headEnd type="none" w="med" len="med"/>
                      <a:tailEnd type="none" w="med" len="med"/>
                    </a:lnB>
                    <a:solidFill>
                      <a:srgbClr val="FFFFFF"/>
                    </a:solidFill>
                  </a:tcPr>
                </a:tc>
                <a:tc>
                  <a:txBody>
                    <a:bodyPr/>
                    <a:lstStyle/>
                    <a:p>
                      <a:pPr marL="0" indent="0">
                        <a:buNone/>
                      </a:pPr>
                      <a:r>
                        <a:rPr lang="en-US" sz="1000" dirty="0">
                          <a:solidFill>
                            <a:srgbClr val="2C2C2C"/>
                          </a:solidFill>
                          <a:latin typeface="Calibri" pitchFamily="34" charset="0"/>
                          <a:ea typeface="Calibri" pitchFamily="34" charset="-122"/>
                          <a:cs typeface="Calibri" pitchFamily="34" charset="-120"/>
                        </a:rPr>
                        <a:t>TC_LOGIN_007</a:t>
                      </a:r>
                      <a:endParaRPr lang="en-US" sz="1000" dirty="0">
                        <a:latin typeface="Calibri" charset="0"/>
                        <a:ea typeface="Calibri" charset="0"/>
                        <a:cs typeface="Calibri" charset="0"/>
                      </a:endParaRPr>
                    </a:p>
                  </a:txBody>
                  <a:tcPr marL="38100" marR="38100" marT="38100" marB="38100" anchor="ctr">
                    <a:lnL w="12700" cap="flat" cmpd="sng" algn="ctr">
                      <a:solidFill>
                        <a:srgbClr val="DEDEDE"/>
                      </a:solidFill>
                      <a:prstDash val="solid"/>
                      <a:round/>
                      <a:headEnd type="none" w="med" len="med"/>
                      <a:tailEnd type="none" w="med" len="med"/>
                    </a:lnL>
                    <a:lnR w="12700" cap="flat" cmpd="sng" algn="ctr">
                      <a:solidFill>
                        <a:srgbClr val="DEDEDE"/>
                      </a:solidFill>
                      <a:prstDash val="solid"/>
                      <a:round/>
                      <a:headEnd type="none" w="med" len="med"/>
                      <a:tailEnd type="none" w="med" len="med"/>
                    </a:lnR>
                    <a:lnT w="12700" cap="flat" cmpd="sng" algn="ctr">
                      <a:solidFill>
                        <a:srgbClr val="DEDEDE"/>
                      </a:solidFill>
                      <a:prstDash val="solid"/>
                      <a:round/>
                      <a:headEnd type="none" w="med" len="med"/>
                      <a:tailEnd type="none" w="med" len="med"/>
                    </a:lnT>
                    <a:lnB w="12700" cap="flat" cmpd="sng" algn="ctr">
                      <a:solidFill>
                        <a:srgbClr val="DEDEDE"/>
                      </a:solidFill>
                      <a:prstDash val="solid"/>
                      <a:round/>
                      <a:headEnd type="none" w="med" len="med"/>
                      <a:tailEnd type="none" w="med" len="med"/>
                    </a:lnB>
                    <a:solidFill>
                      <a:srgbClr val="FFFFFF"/>
                    </a:solidFill>
                  </a:tcPr>
                </a:tc>
                <a:tc>
                  <a:txBody>
                    <a:bodyPr/>
                    <a:lstStyle/>
                    <a:p>
                      <a:pPr marL="0" indent="0">
                        <a:buNone/>
                      </a:pPr>
                      <a:r>
                        <a:rPr lang="en-US" sz="1000" dirty="0">
                          <a:solidFill>
                            <a:srgbClr val="2C2C2C"/>
                          </a:solidFill>
                          <a:latin typeface="Calibri" pitchFamily="34" charset="0"/>
                          <a:ea typeface="Calibri" pitchFamily="34" charset="-122"/>
                          <a:cs typeface="Calibri" pitchFamily="34" charset="-120"/>
                        </a:rPr>
                        <a:t>Verify reset link expires after 24 hours</a:t>
                      </a:r>
                      <a:endParaRPr lang="en-US" sz="1000" dirty="0">
                        <a:latin typeface="Calibri" charset="0"/>
                        <a:ea typeface="Calibri" charset="0"/>
                        <a:cs typeface="Calibri" charset="0"/>
                      </a:endParaRPr>
                    </a:p>
                  </a:txBody>
                  <a:tcPr marL="38100" marR="38100" marT="38100" marB="38100" anchor="ctr">
                    <a:lnL w="12700" cap="flat" cmpd="sng" algn="ctr">
                      <a:solidFill>
                        <a:srgbClr val="DEDEDE"/>
                      </a:solidFill>
                      <a:prstDash val="solid"/>
                      <a:round/>
                      <a:headEnd type="none" w="med" len="med"/>
                      <a:tailEnd type="none" w="med" len="med"/>
                    </a:lnL>
                    <a:lnR w="12700" cap="flat" cmpd="sng" algn="ctr">
                      <a:solidFill>
                        <a:srgbClr val="DEDEDE"/>
                      </a:solidFill>
                      <a:prstDash val="solid"/>
                      <a:round/>
                      <a:headEnd type="none" w="med" len="med"/>
                      <a:tailEnd type="none" w="med" len="med"/>
                    </a:lnR>
                    <a:lnT w="12700" cap="flat" cmpd="sng" algn="ctr">
                      <a:solidFill>
                        <a:srgbClr val="DEDEDE"/>
                      </a:solidFill>
                      <a:prstDash val="solid"/>
                      <a:round/>
                      <a:headEnd type="none" w="med" len="med"/>
                      <a:tailEnd type="none" w="med" len="med"/>
                    </a:lnT>
                    <a:lnB w="12700" cap="flat" cmpd="sng" algn="ctr">
                      <a:solidFill>
                        <a:srgbClr val="DEDEDE"/>
                      </a:solidFill>
                      <a:prstDash val="solid"/>
                      <a:round/>
                      <a:headEnd type="none" w="med" len="med"/>
                      <a:tailEnd type="none" w="med" len="med"/>
                    </a:lnB>
                    <a:solidFill>
                      <a:srgbClr val="FFFFFF"/>
                    </a:solidFill>
                  </a:tcPr>
                </a:tc>
                <a:tc>
                  <a:txBody>
                    <a:bodyPr/>
                    <a:lstStyle/>
                    <a:p>
                      <a:pPr marL="0" indent="0">
                        <a:buNone/>
                      </a:pPr>
                      <a:r>
                        <a:rPr lang="en-US" sz="1000" dirty="0">
                          <a:solidFill>
                            <a:srgbClr val="2C2C2C"/>
                          </a:solidFill>
                          <a:latin typeface="Calibri" pitchFamily="34" charset="0"/>
                          <a:ea typeface="Calibri" pitchFamily="34" charset="-122"/>
                          <a:cs typeface="Calibri" pitchFamily="34" charset="-120"/>
                        </a:rPr>
                        <a:t>Medium</a:t>
                      </a:r>
                      <a:endParaRPr lang="en-US" sz="1000" dirty="0">
                        <a:latin typeface="Calibri" charset="0"/>
                        <a:ea typeface="Calibri" charset="0"/>
                        <a:cs typeface="Calibri" charset="0"/>
                      </a:endParaRPr>
                    </a:p>
                  </a:txBody>
                  <a:tcPr marL="38100" marR="38100" marT="38100" marB="38100" anchor="ctr">
                    <a:lnL w="12700" cap="flat" cmpd="sng" algn="ctr">
                      <a:solidFill>
                        <a:srgbClr val="DEDEDE"/>
                      </a:solidFill>
                      <a:prstDash val="solid"/>
                      <a:round/>
                      <a:headEnd type="none" w="med" len="med"/>
                      <a:tailEnd type="none" w="med" len="med"/>
                    </a:lnL>
                    <a:lnR w="12700" cap="flat" cmpd="sng" algn="ctr">
                      <a:solidFill>
                        <a:srgbClr val="DEDEDE"/>
                      </a:solidFill>
                      <a:prstDash val="solid"/>
                      <a:round/>
                      <a:headEnd type="none" w="med" len="med"/>
                      <a:tailEnd type="none" w="med" len="med"/>
                    </a:lnR>
                    <a:lnT w="12700" cap="flat" cmpd="sng" algn="ctr">
                      <a:solidFill>
                        <a:srgbClr val="DEDEDE"/>
                      </a:solidFill>
                      <a:prstDash val="solid"/>
                      <a:round/>
                      <a:headEnd type="none" w="med" len="med"/>
                      <a:tailEnd type="none" w="med" len="med"/>
                    </a:lnT>
                    <a:lnB w="12700" cap="flat" cmpd="sng" algn="ctr">
                      <a:solidFill>
                        <a:srgbClr val="DEDEDE"/>
                      </a:solidFill>
                      <a:prstDash val="solid"/>
                      <a:round/>
                      <a:headEnd type="none" w="med" len="med"/>
                      <a:tailEnd type="none" w="med" len="med"/>
                    </a:lnB>
                    <a:solidFill>
                      <a:srgbClr val="FFFFFF"/>
                    </a:solidFill>
                  </a:tcPr>
                </a:tc>
                <a:tc>
                  <a:txBody>
                    <a:bodyPr/>
                    <a:lstStyle/>
                    <a:p>
                      <a:pPr marL="0" indent="0">
                        <a:buNone/>
                      </a:pPr>
                      <a:r>
                        <a:rPr lang="en-US" sz="1000" b="1" dirty="0">
                          <a:solidFill>
                            <a:srgbClr val="5A5A5A"/>
                          </a:solidFill>
                          <a:latin typeface="Arial" pitchFamily="34" charset="0"/>
                          <a:ea typeface="Arial" pitchFamily="34" charset="-122"/>
                          <a:cs typeface="Arial" pitchFamily="34" charset="-120"/>
                        </a:rPr>
                        <a:t>Not Run</a:t>
                      </a:r>
                      <a:endParaRPr lang="en-US" sz="1000" dirty="0">
                        <a:latin typeface="Arial" charset="0"/>
                        <a:ea typeface="Arial" charset="0"/>
                        <a:cs typeface="Arial" charset="0"/>
                      </a:endParaRPr>
                    </a:p>
                  </a:txBody>
                  <a:tcPr marL="38100" marR="38100" marT="38100" marB="38100" anchor="ctr">
                    <a:lnL w="12700" cap="flat" cmpd="sng" algn="ctr">
                      <a:solidFill>
                        <a:srgbClr val="DEDEDE"/>
                      </a:solidFill>
                      <a:prstDash val="solid"/>
                      <a:round/>
                      <a:headEnd type="none" w="med" len="med"/>
                      <a:tailEnd type="none" w="med" len="med"/>
                    </a:lnL>
                    <a:lnR w="12700" cap="flat" cmpd="sng" algn="ctr">
                      <a:solidFill>
                        <a:srgbClr val="DEDEDE"/>
                      </a:solidFill>
                      <a:prstDash val="solid"/>
                      <a:round/>
                      <a:headEnd type="none" w="med" len="med"/>
                      <a:tailEnd type="none" w="med" len="med"/>
                    </a:lnR>
                    <a:lnT w="12700" cap="flat" cmpd="sng" algn="ctr">
                      <a:solidFill>
                        <a:srgbClr val="DEDEDE"/>
                      </a:solidFill>
                      <a:prstDash val="solid"/>
                      <a:round/>
                      <a:headEnd type="none" w="med" len="med"/>
                      <a:tailEnd type="none" w="med" len="med"/>
                    </a:lnT>
                    <a:lnB w="12700" cap="flat" cmpd="sng" algn="ctr">
                      <a:solidFill>
                        <a:srgbClr val="DEDEDE"/>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r h="438912">
                <a:tc>
                  <a:txBody>
                    <a:bodyPr/>
                    <a:lstStyle/>
                    <a:p>
                      <a:pPr marL="0" indent="0">
                        <a:buNone/>
                      </a:pPr>
                      <a:r>
                        <a:rPr lang="en-US" sz="1000" dirty="0">
                          <a:solidFill>
                            <a:srgbClr val="2C2C2C"/>
                          </a:solidFill>
                          <a:latin typeface="Calibri" pitchFamily="34" charset="0"/>
                          <a:ea typeface="Calibri" pitchFamily="34" charset="-122"/>
                          <a:cs typeface="Calibri" pitchFamily="34" charset="-120"/>
                        </a:rPr>
                        <a:t>REQ-004</a:t>
                      </a:r>
                      <a:endParaRPr lang="en-US" sz="1000" dirty="0">
                        <a:latin typeface="Calibri" charset="0"/>
                        <a:ea typeface="Calibri" charset="0"/>
                        <a:cs typeface="Calibri" charset="0"/>
                      </a:endParaRPr>
                    </a:p>
                  </a:txBody>
                  <a:tcPr marL="38100" marR="38100" marT="38100" marB="38100" anchor="ctr">
                    <a:lnL w="12700" cap="flat" cmpd="sng" algn="ctr">
                      <a:solidFill>
                        <a:srgbClr val="DEDEDE"/>
                      </a:solidFill>
                      <a:prstDash val="solid"/>
                      <a:round/>
                      <a:headEnd type="none" w="med" len="med"/>
                      <a:tailEnd type="none" w="med" len="med"/>
                    </a:lnL>
                    <a:lnR w="12700" cap="flat" cmpd="sng" algn="ctr">
                      <a:solidFill>
                        <a:srgbClr val="DEDEDE"/>
                      </a:solidFill>
                      <a:prstDash val="solid"/>
                      <a:round/>
                      <a:headEnd type="none" w="med" len="med"/>
                      <a:tailEnd type="none" w="med" len="med"/>
                    </a:lnR>
                    <a:lnT w="12700" cap="flat" cmpd="sng" algn="ctr">
                      <a:solidFill>
                        <a:srgbClr val="DEDEDE"/>
                      </a:solidFill>
                      <a:prstDash val="solid"/>
                      <a:round/>
                      <a:headEnd type="none" w="med" len="med"/>
                      <a:tailEnd type="none" w="med" len="med"/>
                    </a:lnT>
                    <a:lnB w="12700" cap="flat" cmpd="sng" algn="ctr">
                      <a:solidFill>
                        <a:srgbClr val="DEDEDE"/>
                      </a:solidFill>
                      <a:prstDash val="solid"/>
                      <a:round/>
                      <a:headEnd type="none" w="med" len="med"/>
                      <a:tailEnd type="none" w="med" len="med"/>
                    </a:lnB>
                    <a:solidFill>
                      <a:srgbClr val="F0F0F0"/>
                    </a:solidFill>
                  </a:tcPr>
                </a:tc>
                <a:tc>
                  <a:txBody>
                    <a:bodyPr/>
                    <a:lstStyle/>
                    <a:p>
                      <a:pPr marL="0" indent="0">
                        <a:buNone/>
                      </a:pPr>
                      <a:r>
                        <a:rPr lang="en-US" sz="1000" dirty="0">
                          <a:solidFill>
                            <a:srgbClr val="2C2C2C"/>
                          </a:solidFill>
                          <a:latin typeface="Calibri" pitchFamily="34" charset="0"/>
                          <a:ea typeface="Calibri" pitchFamily="34" charset="-122"/>
                          <a:cs typeface="Calibri" pitchFamily="34" charset="-120"/>
                        </a:rPr>
                        <a:t>System must redirect to dashboard after successful login</a:t>
                      </a:r>
                      <a:endParaRPr lang="en-US" sz="1000" dirty="0">
                        <a:latin typeface="Calibri" charset="0"/>
                        <a:ea typeface="Calibri" charset="0"/>
                        <a:cs typeface="Calibri" charset="0"/>
                      </a:endParaRPr>
                    </a:p>
                  </a:txBody>
                  <a:tcPr marL="38100" marR="38100" marT="38100" marB="38100" anchor="ctr">
                    <a:lnL w="12700" cap="flat" cmpd="sng" algn="ctr">
                      <a:solidFill>
                        <a:srgbClr val="DEDEDE"/>
                      </a:solidFill>
                      <a:prstDash val="solid"/>
                      <a:round/>
                      <a:headEnd type="none" w="med" len="med"/>
                      <a:tailEnd type="none" w="med" len="med"/>
                    </a:lnL>
                    <a:lnR w="12700" cap="flat" cmpd="sng" algn="ctr">
                      <a:solidFill>
                        <a:srgbClr val="DEDEDE"/>
                      </a:solidFill>
                      <a:prstDash val="solid"/>
                      <a:round/>
                      <a:headEnd type="none" w="med" len="med"/>
                      <a:tailEnd type="none" w="med" len="med"/>
                    </a:lnR>
                    <a:lnT w="12700" cap="flat" cmpd="sng" algn="ctr">
                      <a:solidFill>
                        <a:srgbClr val="DEDEDE"/>
                      </a:solidFill>
                      <a:prstDash val="solid"/>
                      <a:round/>
                      <a:headEnd type="none" w="med" len="med"/>
                      <a:tailEnd type="none" w="med" len="med"/>
                    </a:lnT>
                    <a:lnB w="12700" cap="flat" cmpd="sng" algn="ctr">
                      <a:solidFill>
                        <a:srgbClr val="DEDEDE"/>
                      </a:solidFill>
                      <a:prstDash val="solid"/>
                      <a:round/>
                      <a:headEnd type="none" w="med" len="med"/>
                      <a:tailEnd type="none" w="med" len="med"/>
                    </a:lnB>
                    <a:solidFill>
                      <a:srgbClr val="F0F0F0"/>
                    </a:solidFill>
                  </a:tcPr>
                </a:tc>
                <a:tc>
                  <a:txBody>
                    <a:bodyPr/>
                    <a:lstStyle/>
                    <a:p>
                      <a:pPr marL="0" indent="0">
                        <a:buNone/>
                      </a:pPr>
                      <a:r>
                        <a:rPr lang="en-US" sz="1000" dirty="0">
                          <a:solidFill>
                            <a:srgbClr val="2C2C2C"/>
                          </a:solidFill>
                          <a:latin typeface="Calibri" pitchFamily="34" charset="0"/>
                          <a:ea typeface="Calibri" pitchFamily="34" charset="-122"/>
                          <a:cs typeface="Calibri" pitchFamily="34" charset="-120"/>
                        </a:rPr>
                        <a:t>TC_LOGIN_008</a:t>
                      </a:r>
                      <a:endParaRPr lang="en-US" sz="1000" dirty="0">
                        <a:latin typeface="Calibri" charset="0"/>
                        <a:ea typeface="Calibri" charset="0"/>
                        <a:cs typeface="Calibri" charset="0"/>
                      </a:endParaRPr>
                    </a:p>
                  </a:txBody>
                  <a:tcPr marL="38100" marR="38100" marT="38100" marB="38100" anchor="ctr">
                    <a:lnL w="12700" cap="flat" cmpd="sng" algn="ctr">
                      <a:solidFill>
                        <a:srgbClr val="DEDEDE"/>
                      </a:solidFill>
                      <a:prstDash val="solid"/>
                      <a:round/>
                      <a:headEnd type="none" w="med" len="med"/>
                      <a:tailEnd type="none" w="med" len="med"/>
                    </a:lnL>
                    <a:lnR w="12700" cap="flat" cmpd="sng" algn="ctr">
                      <a:solidFill>
                        <a:srgbClr val="DEDEDE"/>
                      </a:solidFill>
                      <a:prstDash val="solid"/>
                      <a:round/>
                      <a:headEnd type="none" w="med" len="med"/>
                      <a:tailEnd type="none" w="med" len="med"/>
                    </a:lnR>
                    <a:lnT w="12700" cap="flat" cmpd="sng" algn="ctr">
                      <a:solidFill>
                        <a:srgbClr val="DEDEDE"/>
                      </a:solidFill>
                      <a:prstDash val="solid"/>
                      <a:round/>
                      <a:headEnd type="none" w="med" len="med"/>
                      <a:tailEnd type="none" w="med" len="med"/>
                    </a:lnT>
                    <a:lnB w="12700" cap="flat" cmpd="sng" algn="ctr">
                      <a:solidFill>
                        <a:srgbClr val="DEDEDE"/>
                      </a:solidFill>
                      <a:prstDash val="solid"/>
                      <a:round/>
                      <a:headEnd type="none" w="med" len="med"/>
                      <a:tailEnd type="none" w="med" len="med"/>
                    </a:lnB>
                    <a:solidFill>
                      <a:srgbClr val="F0F0F0"/>
                    </a:solidFill>
                  </a:tcPr>
                </a:tc>
                <a:tc>
                  <a:txBody>
                    <a:bodyPr/>
                    <a:lstStyle/>
                    <a:p>
                      <a:pPr marL="0" indent="0">
                        <a:buNone/>
                      </a:pPr>
                      <a:r>
                        <a:rPr lang="en-US" sz="1000" dirty="0">
                          <a:solidFill>
                            <a:srgbClr val="2C2C2C"/>
                          </a:solidFill>
                          <a:latin typeface="Calibri" pitchFamily="34" charset="0"/>
                          <a:ea typeface="Calibri" pitchFamily="34" charset="-122"/>
                          <a:cs typeface="Calibri" pitchFamily="34" charset="-120"/>
                        </a:rPr>
                        <a:t>Verify dashboard redirect on login</a:t>
                      </a:r>
                      <a:endParaRPr lang="en-US" sz="1000" dirty="0">
                        <a:latin typeface="Calibri" charset="0"/>
                        <a:ea typeface="Calibri" charset="0"/>
                        <a:cs typeface="Calibri" charset="0"/>
                      </a:endParaRPr>
                    </a:p>
                  </a:txBody>
                  <a:tcPr marL="38100" marR="38100" marT="38100" marB="38100" anchor="ctr">
                    <a:lnL w="12700" cap="flat" cmpd="sng" algn="ctr">
                      <a:solidFill>
                        <a:srgbClr val="DEDEDE"/>
                      </a:solidFill>
                      <a:prstDash val="solid"/>
                      <a:round/>
                      <a:headEnd type="none" w="med" len="med"/>
                      <a:tailEnd type="none" w="med" len="med"/>
                    </a:lnL>
                    <a:lnR w="12700" cap="flat" cmpd="sng" algn="ctr">
                      <a:solidFill>
                        <a:srgbClr val="DEDEDE"/>
                      </a:solidFill>
                      <a:prstDash val="solid"/>
                      <a:round/>
                      <a:headEnd type="none" w="med" len="med"/>
                      <a:tailEnd type="none" w="med" len="med"/>
                    </a:lnR>
                    <a:lnT w="12700" cap="flat" cmpd="sng" algn="ctr">
                      <a:solidFill>
                        <a:srgbClr val="DEDEDE"/>
                      </a:solidFill>
                      <a:prstDash val="solid"/>
                      <a:round/>
                      <a:headEnd type="none" w="med" len="med"/>
                      <a:tailEnd type="none" w="med" len="med"/>
                    </a:lnT>
                    <a:lnB w="12700" cap="flat" cmpd="sng" algn="ctr">
                      <a:solidFill>
                        <a:srgbClr val="DEDEDE"/>
                      </a:solidFill>
                      <a:prstDash val="solid"/>
                      <a:round/>
                      <a:headEnd type="none" w="med" len="med"/>
                      <a:tailEnd type="none" w="med" len="med"/>
                    </a:lnB>
                    <a:solidFill>
                      <a:srgbClr val="F0F0F0"/>
                    </a:solidFill>
                  </a:tcPr>
                </a:tc>
                <a:tc>
                  <a:txBody>
                    <a:bodyPr/>
                    <a:lstStyle/>
                    <a:p>
                      <a:pPr marL="0" indent="0">
                        <a:buNone/>
                      </a:pPr>
                      <a:r>
                        <a:rPr lang="en-US" sz="1000" dirty="0">
                          <a:solidFill>
                            <a:srgbClr val="2C2C2C"/>
                          </a:solidFill>
                          <a:latin typeface="Calibri" pitchFamily="34" charset="0"/>
                          <a:ea typeface="Calibri" pitchFamily="34" charset="-122"/>
                          <a:cs typeface="Calibri" pitchFamily="34" charset="-120"/>
                        </a:rPr>
                        <a:t>High</a:t>
                      </a:r>
                      <a:endParaRPr lang="en-US" sz="1000" dirty="0">
                        <a:latin typeface="Calibri" charset="0"/>
                        <a:ea typeface="Calibri" charset="0"/>
                        <a:cs typeface="Calibri" charset="0"/>
                      </a:endParaRPr>
                    </a:p>
                  </a:txBody>
                  <a:tcPr marL="38100" marR="38100" marT="38100" marB="38100" anchor="ctr">
                    <a:lnL w="12700" cap="flat" cmpd="sng" algn="ctr">
                      <a:solidFill>
                        <a:srgbClr val="DEDEDE"/>
                      </a:solidFill>
                      <a:prstDash val="solid"/>
                      <a:round/>
                      <a:headEnd type="none" w="med" len="med"/>
                      <a:tailEnd type="none" w="med" len="med"/>
                    </a:lnL>
                    <a:lnR w="12700" cap="flat" cmpd="sng" algn="ctr">
                      <a:solidFill>
                        <a:srgbClr val="DEDEDE"/>
                      </a:solidFill>
                      <a:prstDash val="solid"/>
                      <a:round/>
                      <a:headEnd type="none" w="med" len="med"/>
                      <a:tailEnd type="none" w="med" len="med"/>
                    </a:lnR>
                    <a:lnT w="12700" cap="flat" cmpd="sng" algn="ctr">
                      <a:solidFill>
                        <a:srgbClr val="DEDEDE"/>
                      </a:solidFill>
                      <a:prstDash val="solid"/>
                      <a:round/>
                      <a:headEnd type="none" w="med" len="med"/>
                      <a:tailEnd type="none" w="med" len="med"/>
                    </a:lnT>
                    <a:lnB w="12700" cap="flat" cmpd="sng" algn="ctr">
                      <a:solidFill>
                        <a:srgbClr val="DEDEDE"/>
                      </a:solidFill>
                      <a:prstDash val="solid"/>
                      <a:round/>
                      <a:headEnd type="none" w="med" len="med"/>
                      <a:tailEnd type="none" w="med" len="med"/>
                    </a:lnB>
                    <a:solidFill>
                      <a:srgbClr val="F0F0F0"/>
                    </a:solidFill>
                  </a:tcPr>
                </a:tc>
                <a:tc>
                  <a:txBody>
                    <a:bodyPr/>
                    <a:lstStyle/>
                    <a:p>
                      <a:pPr marL="0" indent="0">
                        <a:buNone/>
                      </a:pPr>
                      <a:r>
                        <a:rPr lang="en-US" sz="1000" b="1" dirty="0">
                          <a:solidFill>
                            <a:srgbClr val="27AE60"/>
                          </a:solidFill>
                          <a:latin typeface="Arial" pitchFamily="34" charset="0"/>
                          <a:ea typeface="Arial" pitchFamily="34" charset="-122"/>
                          <a:cs typeface="Arial" pitchFamily="34" charset="-120"/>
                        </a:rPr>
                        <a:t>Pass</a:t>
                      </a:r>
                      <a:endParaRPr lang="en-US" sz="1000" dirty="0">
                        <a:latin typeface="Arial" charset="0"/>
                        <a:ea typeface="Arial" charset="0"/>
                        <a:cs typeface="Arial" charset="0"/>
                      </a:endParaRPr>
                    </a:p>
                  </a:txBody>
                  <a:tcPr marL="38100" marR="38100" marT="38100" marB="38100" anchor="ctr">
                    <a:lnL w="12700" cap="flat" cmpd="sng" algn="ctr">
                      <a:solidFill>
                        <a:srgbClr val="DEDEDE"/>
                      </a:solidFill>
                      <a:prstDash val="solid"/>
                      <a:round/>
                      <a:headEnd type="none" w="med" len="med"/>
                      <a:tailEnd type="none" w="med" len="med"/>
                    </a:lnL>
                    <a:lnR w="12700" cap="flat" cmpd="sng" algn="ctr">
                      <a:solidFill>
                        <a:srgbClr val="DEDEDE"/>
                      </a:solidFill>
                      <a:prstDash val="solid"/>
                      <a:round/>
                      <a:headEnd type="none" w="med" len="med"/>
                      <a:tailEnd type="none" w="med" len="med"/>
                    </a:lnR>
                    <a:lnT w="12700" cap="flat" cmpd="sng" algn="ctr">
                      <a:solidFill>
                        <a:srgbClr val="DEDEDE"/>
                      </a:solidFill>
                      <a:prstDash val="solid"/>
                      <a:round/>
                      <a:headEnd type="none" w="med" len="med"/>
                      <a:tailEnd type="none" w="med" len="med"/>
                    </a:lnT>
                    <a:lnB w="12700" cap="flat" cmpd="sng" algn="ctr">
                      <a:solidFill>
                        <a:srgbClr val="DEDEDE"/>
                      </a:solidFill>
                      <a:prstDash val="solid"/>
                      <a:round/>
                      <a:headEnd type="none" w="med" len="med"/>
                      <a:tailEnd type="none" w="med" len="med"/>
                    </a:lnB>
                    <a:solidFill>
                      <a:srgbClr val="F0F0F0"/>
                    </a:solidFill>
                  </a:tcPr>
                </a:tc>
                <a:extLst>
                  <a:ext uri="{0D108BD9-81ED-4DB2-BD59-A6C34878D82A}">
                    <a16:rowId xmlns:a16="http://schemas.microsoft.com/office/drawing/2014/main" val="10008"/>
                  </a:ext>
                </a:extLst>
              </a:tr>
            </a:tbl>
          </a:graphicData>
        </a:graphic>
      </p:graphicFrame>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1">
    <p:bg>
      <p:bgPr>
        <a:solidFill>
          <a:srgbClr val="F5F5F5"/>
        </a:solidFill>
        <a:effectLst/>
      </p:bgPr>
    </p:bg>
    <p:spTree>
      <p:nvGrpSpPr>
        <p:cNvPr id="1" name=""/>
        <p:cNvGrpSpPr/>
        <p:nvPr/>
      </p:nvGrpSpPr>
      <p:grpSpPr>
        <a:xfrm>
          <a:off x="0" y="0"/>
          <a:ext cx="0" cy="0"/>
          <a:chOff x="0" y="0"/>
          <a:chExt cx="0" cy="0"/>
        </a:xfrm>
      </p:grpSpPr>
      <p:sp>
        <p:nvSpPr>
          <p:cNvPr id="2" name="Shape 0"/>
          <p:cNvSpPr/>
          <p:nvPr/>
        </p:nvSpPr>
        <p:spPr>
          <a:xfrm>
            <a:off x="0" y="0"/>
            <a:ext cx="9144000" cy="621792"/>
          </a:xfrm>
          <a:prstGeom prst="rect">
            <a:avLst/>
          </a:prstGeom>
          <a:solidFill>
            <a:srgbClr val="0D0D0D"/>
          </a:solidFill>
          <a:ln w="12700">
            <a:solidFill>
              <a:srgbClr val="0D0D0D"/>
            </a:solidFill>
            <a:prstDash val="solid"/>
          </a:ln>
        </p:spPr>
      </p:sp>
      <p:sp>
        <p:nvSpPr>
          <p:cNvPr id="3" name="Shape 1"/>
          <p:cNvSpPr/>
          <p:nvPr/>
        </p:nvSpPr>
        <p:spPr>
          <a:xfrm>
            <a:off x="0" y="0"/>
            <a:ext cx="64008" cy="621792"/>
          </a:xfrm>
          <a:prstGeom prst="rect">
            <a:avLst/>
          </a:prstGeom>
          <a:solidFill>
            <a:srgbClr val="FF6500"/>
          </a:solidFill>
          <a:ln w="12700">
            <a:solidFill>
              <a:srgbClr val="FF6500"/>
            </a:solidFill>
            <a:prstDash val="solid"/>
          </a:ln>
        </p:spPr>
      </p:sp>
      <p:sp>
        <p:nvSpPr>
          <p:cNvPr id="4" name="Text 2"/>
          <p:cNvSpPr/>
          <p:nvPr/>
        </p:nvSpPr>
        <p:spPr>
          <a:xfrm>
            <a:off x="201168" y="64008"/>
            <a:ext cx="8503920" cy="493776"/>
          </a:xfrm>
          <a:prstGeom prst="rect">
            <a:avLst/>
          </a:prstGeom>
          <a:noFill/>
          <a:ln/>
        </p:spPr>
        <p:txBody>
          <a:bodyPr wrap="square" lIns="0" tIns="0" rIns="0" bIns="0" rtlCol="0" anchor="ctr"/>
          <a:lstStyle/>
          <a:p>
            <a:pPr marL="0" indent="0">
              <a:buNone/>
            </a:pPr>
            <a:r>
              <a:rPr lang="en-US" sz="1900" b="1" dirty="0">
                <a:solidFill>
                  <a:srgbClr val="FFFFFF"/>
                </a:solidFill>
                <a:latin typeface="Arial" pitchFamily="34" charset="0"/>
                <a:ea typeface="Arial" pitchFamily="34" charset="-122"/>
                <a:cs typeface="Arial" pitchFamily="34" charset="-120"/>
              </a:rPr>
              <a:t>Structure of a Test Case — Fields 1 to 6 (Detailed Explanation)</a:t>
            </a:r>
            <a:endParaRPr lang="en-US" sz="1900" dirty="0"/>
          </a:p>
        </p:txBody>
      </p:sp>
      <p:sp>
        <p:nvSpPr>
          <p:cNvPr id="5" name="Shape 3"/>
          <p:cNvSpPr/>
          <p:nvPr/>
        </p:nvSpPr>
        <p:spPr>
          <a:xfrm>
            <a:off x="0" y="4828032"/>
            <a:ext cx="9144000" cy="315468"/>
          </a:xfrm>
          <a:prstGeom prst="rect">
            <a:avLst/>
          </a:prstGeom>
          <a:solidFill>
            <a:srgbClr val="0D0D0D"/>
          </a:solidFill>
          <a:ln w="12700">
            <a:solidFill>
              <a:srgbClr val="0D0D0D"/>
            </a:solidFill>
            <a:prstDash val="solid"/>
          </a:ln>
        </p:spPr>
      </p:sp>
      <p:sp>
        <p:nvSpPr>
          <p:cNvPr id="6" name="Text 4"/>
          <p:cNvSpPr/>
          <p:nvPr/>
        </p:nvSpPr>
        <p:spPr>
          <a:xfrm>
            <a:off x="182880" y="4855464"/>
            <a:ext cx="7315200" cy="228600"/>
          </a:xfrm>
          <a:prstGeom prst="rect">
            <a:avLst/>
          </a:prstGeom>
          <a:noFill/>
          <a:ln/>
        </p:spPr>
        <p:txBody>
          <a:bodyPr wrap="square" lIns="0" tIns="0" rIns="0" bIns="0" rtlCol="0" anchor="ctr"/>
          <a:lstStyle/>
          <a:p>
            <a:pPr marL="0" indent="0">
              <a:buNone/>
            </a:pPr>
            <a:r>
              <a:rPr lang="en-US" sz="850" dirty="0">
                <a:solidFill>
                  <a:srgbClr val="999999"/>
                </a:solidFill>
                <a:latin typeface="Calibri" pitchFamily="34" charset="0"/>
                <a:ea typeface="Calibri" pitchFamily="34" charset="-122"/>
                <a:cs typeface="Calibri" pitchFamily="34" charset="-120"/>
              </a:rPr>
              <a:t>Quality Engineering | Test Case Development in STLC</a:t>
            </a:r>
            <a:endParaRPr lang="en-US" sz="850" dirty="0"/>
          </a:p>
        </p:txBody>
      </p:sp>
      <p:sp>
        <p:nvSpPr>
          <p:cNvPr id="7" name="Text 5"/>
          <p:cNvSpPr/>
          <p:nvPr/>
        </p:nvSpPr>
        <p:spPr>
          <a:xfrm>
            <a:off x="7406640" y="4855464"/>
            <a:ext cx="1554480" cy="228600"/>
          </a:xfrm>
          <a:prstGeom prst="rect">
            <a:avLst/>
          </a:prstGeom>
          <a:noFill/>
          <a:ln/>
        </p:spPr>
        <p:txBody>
          <a:bodyPr wrap="square" lIns="0" tIns="0" rIns="0" bIns="0" rtlCol="0" anchor="ctr"/>
          <a:lstStyle/>
          <a:p>
            <a:pPr marL="0" indent="0" algn="r">
              <a:buNone/>
            </a:pPr>
            <a:r>
              <a:rPr lang="en-US" sz="850" b="1" dirty="0">
                <a:solidFill>
                  <a:srgbClr val="FF6500"/>
                </a:solidFill>
                <a:latin typeface="Calibri" pitchFamily="34" charset="0"/>
                <a:ea typeface="Calibri" pitchFamily="34" charset="-122"/>
                <a:cs typeface="Calibri" pitchFamily="34" charset="-120"/>
              </a:rPr>
              <a:t>INTERNAL TRAINING</a:t>
            </a:r>
            <a:endParaRPr lang="en-US" sz="850" dirty="0"/>
          </a:p>
        </p:txBody>
      </p:sp>
      <p:sp>
        <p:nvSpPr>
          <p:cNvPr id="8" name="Shape 6"/>
          <p:cNvSpPr/>
          <p:nvPr/>
        </p:nvSpPr>
        <p:spPr>
          <a:xfrm>
            <a:off x="228600" y="777240"/>
            <a:ext cx="4160520" cy="1280160"/>
          </a:xfrm>
          <a:prstGeom prst="rect">
            <a:avLst/>
          </a:prstGeom>
          <a:solidFill>
            <a:srgbClr val="FFFFFF"/>
          </a:solidFill>
          <a:ln w="12700">
            <a:solidFill>
              <a:srgbClr val="DEDEDE"/>
            </a:solidFill>
            <a:prstDash val="solid"/>
          </a:ln>
          <a:effectLst>
            <a:outerShdw blurRad="76200" dist="25400" dir="8100000" algn="bl" rotWithShape="0">
              <a:srgbClr val="000000">
                <a:alpha val="13000"/>
              </a:srgbClr>
            </a:outerShdw>
          </a:effectLst>
        </p:spPr>
      </p:sp>
      <p:sp>
        <p:nvSpPr>
          <p:cNvPr id="9" name="Shape 7"/>
          <p:cNvSpPr/>
          <p:nvPr/>
        </p:nvSpPr>
        <p:spPr>
          <a:xfrm>
            <a:off x="228600" y="777240"/>
            <a:ext cx="502920" cy="1280160"/>
          </a:xfrm>
          <a:prstGeom prst="rect">
            <a:avLst/>
          </a:prstGeom>
          <a:solidFill>
            <a:srgbClr val="0D0D0D"/>
          </a:solidFill>
          <a:ln w="12700">
            <a:solidFill>
              <a:srgbClr val="0D0D0D"/>
            </a:solidFill>
            <a:prstDash val="solid"/>
          </a:ln>
        </p:spPr>
      </p:sp>
      <p:sp>
        <p:nvSpPr>
          <p:cNvPr id="10" name="Text 8"/>
          <p:cNvSpPr/>
          <p:nvPr/>
        </p:nvSpPr>
        <p:spPr>
          <a:xfrm>
            <a:off x="228600" y="777240"/>
            <a:ext cx="502920" cy="457200"/>
          </a:xfrm>
          <a:prstGeom prst="rect">
            <a:avLst/>
          </a:prstGeom>
          <a:noFill/>
          <a:ln/>
        </p:spPr>
        <p:txBody>
          <a:bodyPr wrap="square" lIns="0" tIns="0" rIns="0" bIns="0" rtlCol="0" anchor="ctr"/>
          <a:lstStyle/>
          <a:p>
            <a:pPr marL="0" indent="0" algn="ctr">
              <a:buNone/>
            </a:pPr>
            <a:r>
              <a:rPr lang="en-US" sz="1300" b="1" dirty="0">
                <a:solidFill>
                  <a:srgbClr val="FF6500"/>
                </a:solidFill>
                <a:latin typeface="Arial Black" pitchFamily="34" charset="0"/>
                <a:ea typeface="Arial Black" pitchFamily="34" charset="-122"/>
                <a:cs typeface="Arial Black" pitchFamily="34" charset="-120"/>
              </a:rPr>
              <a:t>01</a:t>
            </a:r>
            <a:endParaRPr lang="en-US" sz="1300" dirty="0"/>
          </a:p>
        </p:txBody>
      </p:sp>
      <p:sp>
        <p:nvSpPr>
          <p:cNvPr id="11" name="Text 9"/>
          <p:cNvSpPr/>
          <p:nvPr/>
        </p:nvSpPr>
        <p:spPr>
          <a:xfrm>
            <a:off x="795528" y="822960"/>
            <a:ext cx="3520440" cy="292608"/>
          </a:xfrm>
          <a:prstGeom prst="rect">
            <a:avLst/>
          </a:prstGeom>
          <a:noFill/>
          <a:ln/>
        </p:spPr>
        <p:txBody>
          <a:bodyPr wrap="square" lIns="0" tIns="0" rIns="0" bIns="0" rtlCol="0" anchor="ctr"/>
          <a:lstStyle/>
          <a:p>
            <a:pPr marL="0" indent="0">
              <a:buNone/>
            </a:pPr>
            <a:r>
              <a:rPr lang="en-US" sz="1250" b="1" dirty="0">
                <a:solidFill>
                  <a:srgbClr val="FF6500"/>
                </a:solidFill>
                <a:latin typeface="Arial" pitchFamily="34" charset="0"/>
                <a:ea typeface="Arial" pitchFamily="34" charset="-122"/>
                <a:cs typeface="Arial" pitchFamily="34" charset="-120"/>
              </a:rPr>
              <a:t>Test Case ID</a:t>
            </a:r>
            <a:endParaRPr lang="en-US" sz="1250" dirty="0"/>
          </a:p>
        </p:txBody>
      </p:sp>
      <p:sp>
        <p:nvSpPr>
          <p:cNvPr id="12" name="Text 10"/>
          <p:cNvSpPr/>
          <p:nvPr/>
        </p:nvSpPr>
        <p:spPr>
          <a:xfrm>
            <a:off x="795528" y="1124712"/>
            <a:ext cx="3520440" cy="292608"/>
          </a:xfrm>
          <a:prstGeom prst="rect">
            <a:avLst/>
          </a:prstGeom>
          <a:noFill/>
          <a:ln/>
        </p:spPr>
        <p:txBody>
          <a:bodyPr wrap="square" lIns="0" tIns="0" rIns="0" bIns="0" rtlCol="0" anchor="ctr"/>
          <a:lstStyle/>
          <a:p>
            <a:pPr marL="0" indent="0">
              <a:buNone/>
            </a:pPr>
            <a:r>
              <a:rPr lang="en-US" sz="950" dirty="0">
                <a:solidFill>
                  <a:srgbClr val="2C2C2C"/>
                </a:solidFill>
                <a:latin typeface="Calibri" pitchFamily="34" charset="0"/>
                <a:ea typeface="Calibri" pitchFamily="34" charset="-122"/>
                <a:cs typeface="Calibri" pitchFamily="34" charset="-120"/>
              </a:rPr>
              <a:t>DEF: A unique alphanumeric identifier assigned to each test case.</a:t>
            </a:r>
            <a:endParaRPr lang="en-US" sz="950" dirty="0"/>
          </a:p>
        </p:txBody>
      </p:sp>
      <p:sp>
        <p:nvSpPr>
          <p:cNvPr id="13" name="Text 11"/>
          <p:cNvSpPr/>
          <p:nvPr/>
        </p:nvSpPr>
        <p:spPr>
          <a:xfrm>
            <a:off x="795528" y="1426464"/>
            <a:ext cx="3520440" cy="329184"/>
          </a:xfrm>
          <a:prstGeom prst="rect">
            <a:avLst/>
          </a:prstGeom>
          <a:noFill/>
          <a:ln/>
        </p:spPr>
        <p:txBody>
          <a:bodyPr wrap="square" lIns="0" tIns="0" rIns="0" bIns="0" rtlCol="0" anchor="ctr"/>
          <a:lstStyle/>
          <a:p>
            <a:pPr marL="0" indent="0">
              <a:buNone/>
            </a:pPr>
            <a:r>
              <a:rPr lang="en-US" sz="900" i="1" dirty="0">
                <a:solidFill>
                  <a:srgbClr val="5A5A5A"/>
                </a:solidFill>
                <a:latin typeface="Calibri" pitchFamily="34" charset="0"/>
                <a:ea typeface="Calibri" pitchFamily="34" charset="-122"/>
                <a:cs typeface="Calibri" pitchFamily="34" charset="-120"/>
              </a:rPr>
              <a:t>EG: Format: [MODULE]_[TYPE]_[NUMBER] — e.g., TC_LOGIN_001, TC_PAYMENT_NEG_003</a:t>
            </a:r>
            <a:endParaRPr lang="en-US" sz="900" dirty="0"/>
          </a:p>
        </p:txBody>
      </p:sp>
      <p:sp>
        <p:nvSpPr>
          <p:cNvPr id="14" name="Text 12"/>
          <p:cNvSpPr/>
          <p:nvPr/>
        </p:nvSpPr>
        <p:spPr>
          <a:xfrm>
            <a:off x="795528" y="1755648"/>
            <a:ext cx="3520440" cy="246888"/>
          </a:xfrm>
          <a:prstGeom prst="rect">
            <a:avLst/>
          </a:prstGeom>
          <a:noFill/>
          <a:ln/>
        </p:spPr>
        <p:txBody>
          <a:bodyPr wrap="square" lIns="0" tIns="0" rIns="0" bIns="0" rtlCol="0" anchor="ctr"/>
          <a:lstStyle/>
          <a:p>
            <a:pPr marL="0" indent="0">
              <a:buNone/>
            </a:pPr>
            <a:r>
              <a:rPr lang="en-US" sz="900" dirty="0">
                <a:solidFill>
                  <a:srgbClr val="2980B9"/>
                </a:solidFill>
                <a:latin typeface="Calibri" pitchFamily="34" charset="0"/>
                <a:ea typeface="Calibri" pitchFamily="34" charset="-122"/>
                <a:cs typeface="Calibri" pitchFamily="34" charset="-120"/>
              </a:rPr>
              <a:t>WHY: Enables quick reference, traceability to RTM, and prevents duplicate test cases.</a:t>
            </a:r>
            <a:endParaRPr lang="en-US" sz="900" dirty="0"/>
          </a:p>
        </p:txBody>
      </p:sp>
      <p:sp>
        <p:nvSpPr>
          <p:cNvPr id="15" name="Shape 13"/>
          <p:cNvSpPr/>
          <p:nvPr/>
        </p:nvSpPr>
        <p:spPr>
          <a:xfrm>
            <a:off x="228600" y="2121408"/>
            <a:ext cx="4160520" cy="1280160"/>
          </a:xfrm>
          <a:prstGeom prst="rect">
            <a:avLst/>
          </a:prstGeom>
          <a:solidFill>
            <a:srgbClr val="FFFFFF"/>
          </a:solidFill>
          <a:ln w="12700">
            <a:solidFill>
              <a:srgbClr val="DEDEDE"/>
            </a:solidFill>
            <a:prstDash val="solid"/>
          </a:ln>
          <a:effectLst>
            <a:outerShdw blurRad="76200" dist="25400" dir="8100000" algn="bl" rotWithShape="0">
              <a:srgbClr val="000000">
                <a:alpha val="13000"/>
              </a:srgbClr>
            </a:outerShdw>
          </a:effectLst>
        </p:spPr>
      </p:sp>
      <p:sp>
        <p:nvSpPr>
          <p:cNvPr id="16" name="Shape 14"/>
          <p:cNvSpPr/>
          <p:nvPr/>
        </p:nvSpPr>
        <p:spPr>
          <a:xfrm>
            <a:off x="228600" y="2121408"/>
            <a:ext cx="502920" cy="1280160"/>
          </a:xfrm>
          <a:prstGeom prst="rect">
            <a:avLst/>
          </a:prstGeom>
          <a:solidFill>
            <a:srgbClr val="0D0D0D"/>
          </a:solidFill>
          <a:ln w="12700">
            <a:solidFill>
              <a:srgbClr val="0D0D0D"/>
            </a:solidFill>
            <a:prstDash val="solid"/>
          </a:ln>
        </p:spPr>
      </p:sp>
      <p:sp>
        <p:nvSpPr>
          <p:cNvPr id="17" name="Text 15"/>
          <p:cNvSpPr/>
          <p:nvPr/>
        </p:nvSpPr>
        <p:spPr>
          <a:xfrm>
            <a:off x="228600" y="2121408"/>
            <a:ext cx="502920" cy="457200"/>
          </a:xfrm>
          <a:prstGeom prst="rect">
            <a:avLst/>
          </a:prstGeom>
          <a:noFill/>
          <a:ln/>
        </p:spPr>
        <p:txBody>
          <a:bodyPr wrap="square" lIns="0" tIns="0" rIns="0" bIns="0" rtlCol="0" anchor="ctr"/>
          <a:lstStyle/>
          <a:p>
            <a:pPr marL="0" indent="0" algn="ctr">
              <a:buNone/>
            </a:pPr>
            <a:r>
              <a:rPr lang="en-US" sz="1300" b="1" dirty="0">
                <a:solidFill>
                  <a:srgbClr val="FF6500"/>
                </a:solidFill>
                <a:latin typeface="Arial Black" pitchFamily="34" charset="0"/>
                <a:ea typeface="Arial Black" pitchFamily="34" charset="-122"/>
                <a:cs typeface="Arial Black" pitchFamily="34" charset="-120"/>
              </a:rPr>
              <a:t>02</a:t>
            </a:r>
            <a:endParaRPr lang="en-US" sz="1300" dirty="0"/>
          </a:p>
        </p:txBody>
      </p:sp>
      <p:sp>
        <p:nvSpPr>
          <p:cNvPr id="18" name="Text 16"/>
          <p:cNvSpPr/>
          <p:nvPr/>
        </p:nvSpPr>
        <p:spPr>
          <a:xfrm>
            <a:off x="795528" y="2167128"/>
            <a:ext cx="3520440" cy="292608"/>
          </a:xfrm>
          <a:prstGeom prst="rect">
            <a:avLst/>
          </a:prstGeom>
          <a:noFill/>
          <a:ln/>
        </p:spPr>
        <p:txBody>
          <a:bodyPr wrap="square" lIns="0" tIns="0" rIns="0" bIns="0" rtlCol="0" anchor="ctr"/>
          <a:lstStyle/>
          <a:p>
            <a:pPr marL="0" indent="0">
              <a:buNone/>
            </a:pPr>
            <a:r>
              <a:rPr lang="en-US" sz="1250" b="1" dirty="0">
                <a:solidFill>
                  <a:srgbClr val="FF6500"/>
                </a:solidFill>
                <a:latin typeface="Arial" pitchFamily="34" charset="0"/>
                <a:ea typeface="Arial" pitchFamily="34" charset="-122"/>
                <a:cs typeface="Arial" pitchFamily="34" charset="-120"/>
              </a:rPr>
              <a:t>Test Scenario</a:t>
            </a:r>
            <a:endParaRPr lang="en-US" sz="1250" dirty="0"/>
          </a:p>
        </p:txBody>
      </p:sp>
      <p:sp>
        <p:nvSpPr>
          <p:cNvPr id="19" name="Text 17"/>
          <p:cNvSpPr/>
          <p:nvPr/>
        </p:nvSpPr>
        <p:spPr>
          <a:xfrm>
            <a:off x="795528" y="2468880"/>
            <a:ext cx="3520440" cy="292608"/>
          </a:xfrm>
          <a:prstGeom prst="rect">
            <a:avLst/>
          </a:prstGeom>
          <a:noFill/>
          <a:ln/>
        </p:spPr>
        <p:txBody>
          <a:bodyPr wrap="square" lIns="0" tIns="0" rIns="0" bIns="0" rtlCol="0" anchor="ctr"/>
          <a:lstStyle/>
          <a:p>
            <a:pPr marL="0" indent="0">
              <a:buNone/>
            </a:pPr>
            <a:r>
              <a:rPr lang="en-US" sz="950" dirty="0">
                <a:solidFill>
                  <a:srgbClr val="2C2C2C"/>
                </a:solidFill>
                <a:latin typeface="Calibri" pitchFamily="34" charset="0"/>
                <a:ea typeface="Calibri" pitchFamily="34" charset="-122"/>
                <a:cs typeface="Calibri" pitchFamily="34" charset="-120"/>
              </a:rPr>
              <a:t>DEF: A high-level description of the business function or feature being tested.</a:t>
            </a:r>
            <a:endParaRPr lang="en-US" sz="950" dirty="0"/>
          </a:p>
        </p:txBody>
      </p:sp>
      <p:sp>
        <p:nvSpPr>
          <p:cNvPr id="20" name="Text 18"/>
          <p:cNvSpPr/>
          <p:nvPr/>
        </p:nvSpPr>
        <p:spPr>
          <a:xfrm>
            <a:off x="795528" y="2770632"/>
            <a:ext cx="3520440" cy="329184"/>
          </a:xfrm>
          <a:prstGeom prst="rect">
            <a:avLst/>
          </a:prstGeom>
          <a:noFill/>
          <a:ln/>
        </p:spPr>
        <p:txBody>
          <a:bodyPr wrap="square" lIns="0" tIns="0" rIns="0" bIns="0" rtlCol="0" anchor="ctr"/>
          <a:lstStyle/>
          <a:p>
            <a:pPr marL="0" indent="0">
              <a:buNone/>
            </a:pPr>
            <a:r>
              <a:rPr lang="en-US" sz="900" i="1" dirty="0">
                <a:solidFill>
                  <a:srgbClr val="5A5A5A"/>
                </a:solidFill>
                <a:latin typeface="Calibri" pitchFamily="34" charset="0"/>
                <a:ea typeface="Calibri" pitchFamily="34" charset="-122"/>
                <a:cs typeface="Calibri" pitchFamily="34" charset="-120"/>
              </a:rPr>
              <a:t>EG: Example: 'Verify login functionality for registered users'</a:t>
            </a:r>
            <a:endParaRPr lang="en-US" sz="900" dirty="0"/>
          </a:p>
        </p:txBody>
      </p:sp>
      <p:sp>
        <p:nvSpPr>
          <p:cNvPr id="21" name="Text 19"/>
          <p:cNvSpPr/>
          <p:nvPr/>
        </p:nvSpPr>
        <p:spPr>
          <a:xfrm>
            <a:off x="795528" y="3099816"/>
            <a:ext cx="3520440" cy="246888"/>
          </a:xfrm>
          <a:prstGeom prst="rect">
            <a:avLst/>
          </a:prstGeom>
          <a:noFill/>
          <a:ln/>
        </p:spPr>
        <p:txBody>
          <a:bodyPr wrap="square" lIns="0" tIns="0" rIns="0" bIns="0" rtlCol="0" anchor="ctr"/>
          <a:lstStyle/>
          <a:p>
            <a:pPr marL="0" indent="0">
              <a:buNone/>
            </a:pPr>
            <a:r>
              <a:rPr lang="en-US" sz="900" dirty="0">
                <a:solidFill>
                  <a:srgbClr val="2980B9"/>
                </a:solidFill>
                <a:latin typeface="Calibri" pitchFamily="34" charset="0"/>
                <a:ea typeface="Calibri" pitchFamily="34" charset="-122"/>
                <a:cs typeface="Calibri" pitchFamily="34" charset="-120"/>
              </a:rPr>
              <a:t>WHY: Groups related test cases together; maps to requirements and user stories.</a:t>
            </a:r>
            <a:endParaRPr lang="en-US" sz="900" dirty="0"/>
          </a:p>
        </p:txBody>
      </p:sp>
      <p:sp>
        <p:nvSpPr>
          <p:cNvPr id="22" name="Shape 20"/>
          <p:cNvSpPr/>
          <p:nvPr/>
        </p:nvSpPr>
        <p:spPr>
          <a:xfrm>
            <a:off x="228600" y="3465576"/>
            <a:ext cx="4160520" cy="1280160"/>
          </a:xfrm>
          <a:prstGeom prst="rect">
            <a:avLst/>
          </a:prstGeom>
          <a:solidFill>
            <a:srgbClr val="FFFFFF"/>
          </a:solidFill>
          <a:ln w="12700">
            <a:solidFill>
              <a:srgbClr val="DEDEDE"/>
            </a:solidFill>
            <a:prstDash val="solid"/>
          </a:ln>
          <a:effectLst>
            <a:outerShdw blurRad="76200" dist="25400" dir="8100000" algn="bl" rotWithShape="0">
              <a:srgbClr val="000000">
                <a:alpha val="13000"/>
              </a:srgbClr>
            </a:outerShdw>
          </a:effectLst>
        </p:spPr>
      </p:sp>
      <p:sp>
        <p:nvSpPr>
          <p:cNvPr id="23" name="Shape 21"/>
          <p:cNvSpPr/>
          <p:nvPr/>
        </p:nvSpPr>
        <p:spPr>
          <a:xfrm>
            <a:off x="228600" y="3465576"/>
            <a:ext cx="502920" cy="1280160"/>
          </a:xfrm>
          <a:prstGeom prst="rect">
            <a:avLst/>
          </a:prstGeom>
          <a:solidFill>
            <a:srgbClr val="0D0D0D"/>
          </a:solidFill>
          <a:ln w="12700">
            <a:solidFill>
              <a:srgbClr val="0D0D0D"/>
            </a:solidFill>
            <a:prstDash val="solid"/>
          </a:ln>
        </p:spPr>
      </p:sp>
      <p:sp>
        <p:nvSpPr>
          <p:cNvPr id="24" name="Text 22"/>
          <p:cNvSpPr/>
          <p:nvPr/>
        </p:nvSpPr>
        <p:spPr>
          <a:xfrm>
            <a:off x="228600" y="3465576"/>
            <a:ext cx="502920" cy="457200"/>
          </a:xfrm>
          <a:prstGeom prst="rect">
            <a:avLst/>
          </a:prstGeom>
          <a:noFill/>
          <a:ln/>
        </p:spPr>
        <p:txBody>
          <a:bodyPr wrap="square" lIns="0" tIns="0" rIns="0" bIns="0" rtlCol="0" anchor="ctr"/>
          <a:lstStyle/>
          <a:p>
            <a:pPr marL="0" indent="0" algn="ctr">
              <a:buNone/>
            </a:pPr>
            <a:r>
              <a:rPr lang="en-US" sz="1300" b="1" dirty="0">
                <a:solidFill>
                  <a:srgbClr val="FF6500"/>
                </a:solidFill>
                <a:latin typeface="Arial Black" pitchFamily="34" charset="0"/>
                <a:ea typeface="Arial Black" pitchFamily="34" charset="-122"/>
                <a:cs typeface="Arial Black" pitchFamily="34" charset="-120"/>
              </a:rPr>
              <a:t>03</a:t>
            </a:r>
            <a:endParaRPr lang="en-US" sz="1300" dirty="0"/>
          </a:p>
        </p:txBody>
      </p:sp>
      <p:sp>
        <p:nvSpPr>
          <p:cNvPr id="25" name="Text 23"/>
          <p:cNvSpPr/>
          <p:nvPr/>
        </p:nvSpPr>
        <p:spPr>
          <a:xfrm>
            <a:off x="795528" y="3511296"/>
            <a:ext cx="3520440" cy="292608"/>
          </a:xfrm>
          <a:prstGeom prst="rect">
            <a:avLst/>
          </a:prstGeom>
          <a:noFill/>
          <a:ln/>
        </p:spPr>
        <p:txBody>
          <a:bodyPr wrap="square" lIns="0" tIns="0" rIns="0" bIns="0" rtlCol="0" anchor="ctr"/>
          <a:lstStyle/>
          <a:p>
            <a:pPr marL="0" indent="0">
              <a:buNone/>
            </a:pPr>
            <a:r>
              <a:rPr lang="en-US" sz="1250" b="1" dirty="0">
                <a:solidFill>
                  <a:srgbClr val="FF6500"/>
                </a:solidFill>
                <a:latin typeface="Arial" pitchFamily="34" charset="0"/>
                <a:ea typeface="Arial" pitchFamily="34" charset="-122"/>
                <a:cs typeface="Arial" pitchFamily="34" charset="-120"/>
              </a:rPr>
              <a:t>Test Description</a:t>
            </a:r>
            <a:endParaRPr lang="en-US" sz="1250" dirty="0"/>
          </a:p>
        </p:txBody>
      </p:sp>
      <p:sp>
        <p:nvSpPr>
          <p:cNvPr id="26" name="Text 24"/>
          <p:cNvSpPr/>
          <p:nvPr/>
        </p:nvSpPr>
        <p:spPr>
          <a:xfrm>
            <a:off x="795528" y="3813048"/>
            <a:ext cx="3520440" cy="292608"/>
          </a:xfrm>
          <a:prstGeom prst="rect">
            <a:avLst/>
          </a:prstGeom>
          <a:noFill/>
          <a:ln/>
        </p:spPr>
        <p:txBody>
          <a:bodyPr wrap="square" lIns="0" tIns="0" rIns="0" bIns="0" rtlCol="0" anchor="ctr"/>
          <a:lstStyle/>
          <a:p>
            <a:pPr marL="0" indent="0">
              <a:buNone/>
            </a:pPr>
            <a:r>
              <a:rPr lang="en-US" sz="950" dirty="0">
                <a:solidFill>
                  <a:srgbClr val="2C2C2C"/>
                </a:solidFill>
                <a:latin typeface="Calibri" pitchFamily="34" charset="0"/>
                <a:ea typeface="Calibri" pitchFamily="34" charset="-122"/>
                <a:cs typeface="Calibri" pitchFamily="34" charset="-120"/>
              </a:rPr>
              <a:t>DEF: A concise statement of exactly what this specific test case verifies.</a:t>
            </a:r>
            <a:endParaRPr lang="en-US" sz="950" dirty="0"/>
          </a:p>
        </p:txBody>
      </p:sp>
      <p:sp>
        <p:nvSpPr>
          <p:cNvPr id="27" name="Text 25"/>
          <p:cNvSpPr/>
          <p:nvPr/>
        </p:nvSpPr>
        <p:spPr>
          <a:xfrm>
            <a:off x="795528" y="4114800"/>
            <a:ext cx="3520440" cy="329184"/>
          </a:xfrm>
          <a:prstGeom prst="rect">
            <a:avLst/>
          </a:prstGeom>
          <a:noFill/>
          <a:ln/>
        </p:spPr>
        <p:txBody>
          <a:bodyPr wrap="square" lIns="0" tIns="0" rIns="0" bIns="0" rtlCol="0" anchor="ctr"/>
          <a:lstStyle/>
          <a:p>
            <a:pPr marL="0" indent="0">
              <a:buNone/>
            </a:pPr>
            <a:r>
              <a:rPr lang="en-US" sz="900" i="1" dirty="0">
                <a:solidFill>
                  <a:srgbClr val="5A5A5A"/>
                </a:solidFill>
                <a:latin typeface="Calibri" pitchFamily="34" charset="0"/>
                <a:ea typeface="Calibri" pitchFamily="34" charset="-122"/>
                <a:cs typeface="Calibri" pitchFamily="34" charset="-120"/>
              </a:rPr>
              <a:t>EG: Example: 'Verify that a user can log in successfully with a valid email and correct password'</a:t>
            </a:r>
            <a:endParaRPr lang="en-US" sz="900" dirty="0"/>
          </a:p>
        </p:txBody>
      </p:sp>
      <p:sp>
        <p:nvSpPr>
          <p:cNvPr id="28" name="Text 26"/>
          <p:cNvSpPr/>
          <p:nvPr/>
        </p:nvSpPr>
        <p:spPr>
          <a:xfrm>
            <a:off x="795528" y="4443984"/>
            <a:ext cx="3520440" cy="246888"/>
          </a:xfrm>
          <a:prstGeom prst="rect">
            <a:avLst/>
          </a:prstGeom>
          <a:noFill/>
          <a:ln/>
        </p:spPr>
        <p:txBody>
          <a:bodyPr wrap="square" lIns="0" tIns="0" rIns="0" bIns="0" rtlCol="0" anchor="ctr"/>
          <a:lstStyle/>
          <a:p>
            <a:pPr marL="0" indent="0">
              <a:buNone/>
            </a:pPr>
            <a:r>
              <a:rPr lang="en-US" sz="900" dirty="0">
                <a:solidFill>
                  <a:srgbClr val="2980B9"/>
                </a:solidFill>
                <a:latin typeface="Calibri" pitchFamily="34" charset="0"/>
                <a:ea typeface="Calibri" pitchFamily="34" charset="-122"/>
                <a:cs typeface="Calibri" pitchFamily="34" charset="-120"/>
              </a:rPr>
              <a:t>WHY: Distinguishes this test case from others in the same scenario; clarifies scope.</a:t>
            </a:r>
            <a:endParaRPr lang="en-US" sz="900" dirty="0"/>
          </a:p>
        </p:txBody>
      </p:sp>
      <p:sp>
        <p:nvSpPr>
          <p:cNvPr id="29" name="Shape 27"/>
          <p:cNvSpPr/>
          <p:nvPr/>
        </p:nvSpPr>
        <p:spPr>
          <a:xfrm>
            <a:off x="4599432" y="777240"/>
            <a:ext cx="4160520" cy="1280160"/>
          </a:xfrm>
          <a:prstGeom prst="rect">
            <a:avLst/>
          </a:prstGeom>
          <a:solidFill>
            <a:srgbClr val="FFFFFF"/>
          </a:solidFill>
          <a:ln w="12700">
            <a:solidFill>
              <a:srgbClr val="DEDEDE"/>
            </a:solidFill>
            <a:prstDash val="solid"/>
          </a:ln>
          <a:effectLst>
            <a:outerShdw blurRad="76200" dist="25400" dir="8100000" algn="bl" rotWithShape="0">
              <a:srgbClr val="000000">
                <a:alpha val="13000"/>
              </a:srgbClr>
            </a:outerShdw>
          </a:effectLst>
        </p:spPr>
      </p:sp>
      <p:sp>
        <p:nvSpPr>
          <p:cNvPr id="30" name="Shape 28"/>
          <p:cNvSpPr/>
          <p:nvPr/>
        </p:nvSpPr>
        <p:spPr>
          <a:xfrm>
            <a:off x="4599432" y="777240"/>
            <a:ext cx="502920" cy="1280160"/>
          </a:xfrm>
          <a:prstGeom prst="rect">
            <a:avLst/>
          </a:prstGeom>
          <a:solidFill>
            <a:srgbClr val="0D0D0D"/>
          </a:solidFill>
          <a:ln w="12700">
            <a:solidFill>
              <a:srgbClr val="0D0D0D"/>
            </a:solidFill>
            <a:prstDash val="solid"/>
          </a:ln>
        </p:spPr>
      </p:sp>
      <p:sp>
        <p:nvSpPr>
          <p:cNvPr id="31" name="Text 29"/>
          <p:cNvSpPr/>
          <p:nvPr/>
        </p:nvSpPr>
        <p:spPr>
          <a:xfrm>
            <a:off x="4599432" y="777240"/>
            <a:ext cx="502920" cy="457200"/>
          </a:xfrm>
          <a:prstGeom prst="rect">
            <a:avLst/>
          </a:prstGeom>
          <a:noFill/>
          <a:ln/>
        </p:spPr>
        <p:txBody>
          <a:bodyPr wrap="square" lIns="0" tIns="0" rIns="0" bIns="0" rtlCol="0" anchor="ctr"/>
          <a:lstStyle/>
          <a:p>
            <a:pPr marL="0" indent="0" algn="ctr">
              <a:buNone/>
            </a:pPr>
            <a:r>
              <a:rPr lang="en-US" sz="1300" b="1" dirty="0">
                <a:solidFill>
                  <a:srgbClr val="FF6500"/>
                </a:solidFill>
                <a:latin typeface="Arial Black" pitchFamily="34" charset="0"/>
                <a:ea typeface="Arial Black" pitchFamily="34" charset="-122"/>
                <a:cs typeface="Arial Black" pitchFamily="34" charset="-120"/>
              </a:rPr>
              <a:t>04</a:t>
            </a:r>
            <a:endParaRPr lang="en-US" sz="1300" dirty="0"/>
          </a:p>
        </p:txBody>
      </p:sp>
      <p:sp>
        <p:nvSpPr>
          <p:cNvPr id="32" name="Text 30"/>
          <p:cNvSpPr/>
          <p:nvPr/>
        </p:nvSpPr>
        <p:spPr>
          <a:xfrm>
            <a:off x="5166360" y="822960"/>
            <a:ext cx="3520440" cy="292608"/>
          </a:xfrm>
          <a:prstGeom prst="rect">
            <a:avLst/>
          </a:prstGeom>
          <a:noFill/>
          <a:ln/>
        </p:spPr>
        <p:txBody>
          <a:bodyPr wrap="square" lIns="0" tIns="0" rIns="0" bIns="0" rtlCol="0" anchor="ctr"/>
          <a:lstStyle/>
          <a:p>
            <a:pPr marL="0" indent="0">
              <a:buNone/>
            </a:pPr>
            <a:r>
              <a:rPr lang="en-US" sz="1250" b="1" dirty="0">
                <a:solidFill>
                  <a:srgbClr val="FF6500"/>
                </a:solidFill>
                <a:latin typeface="Arial" pitchFamily="34" charset="0"/>
                <a:ea typeface="Arial" pitchFamily="34" charset="-122"/>
                <a:cs typeface="Arial" pitchFamily="34" charset="-120"/>
              </a:rPr>
              <a:t>Preconditions</a:t>
            </a:r>
            <a:endParaRPr lang="en-US" sz="1250" dirty="0"/>
          </a:p>
        </p:txBody>
      </p:sp>
      <p:sp>
        <p:nvSpPr>
          <p:cNvPr id="33" name="Text 31"/>
          <p:cNvSpPr/>
          <p:nvPr/>
        </p:nvSpPr>
        <p:spPr>
          <a:xfrm>
            <a:off x="5166360" y="1124712"/>
            <a:ext cx="3520440" cy="292608"/>
          </a:xfrm>
          <a:prstGeom prst="rect">
            <a:avLst/>
          </a:prstGeom>
          <a:noFill/>
          <a:ln/>
        </p:spPr>
        <p:txBody>
          <a:bodyPr wrap="square" lIns="0" tIns="0" rIns="0" bIns="0" rtlCol="0" anchor="ctr"/>
          <a:lstStyle/>
          <a:p>
            <a:pPr marL="0" indent="0">
              <a:buNone/>
            </a:pPr>
            <a:r>
              <a:rPr lang="en-US" sz="950" dirty="0">
                <a:solidFill>
                  <a:srgbClr val="2C2C2C"/>
                </a:solidFill>
                <a:latin typeface="Calibri" pitchFamily="34" charset="0"/>
                <a:ea typeface="Calibri" pitchFamily="34" charset="-122"/>
                <a:cs typeface="Calibri" pitchFamily="34" charset="-120"/>
              </a:rPr>
              <a:t>DEF: All conditions that must be true BEFORE the test case can be executed.</a:t>
            </a:r>
            <a:endParaRPr lang="en-US" sz="950" dirty="0"/>
          </a:p>
        </p:txBody>
      </p:sp>
      <p:sp>
        <p:nvSpPr>
          <p:cNvPr id="34" name="Text 32"/>
          <p:cNvSpPr/>
          <p:nvPr/>
        </p:nvSpPr>
        <p:spPr>
          <a:xfrm>
            <a:off x="5166360" y="1426464"/>
            <a:ext cx="3520440" cy="329184"/>
          </a:xfrm>
          <a:prstGeom prst="rect">
            <a:avLst/>
          </a:prstGeom>
          <a:noFill/>
          <a:ln/>
        </p:spPr>
        <p:txBody>
          <a:bodyPr wrap="square" lIns="0" tIns="0" rIns="0" bIns="0" rtlCol="0" anchor="ctr"/>
          <a:lstStyle/>
          <a:p>
            <a:pPr marL="0" indent="0">
              <a:buNone/>
            </a:pPr>
            <a:r>
              <a:rPr lang="en-US" sz="900" i="1" dirty="0">
                <a:solidFill>
                  <a:srgbClr val="5A5A5A"/>
                </a:solidFill>
                <a:latin typeface="Calibri" pitchFamily="34" charset="0"/>
                <a:ea typeface="Calibri" pitchFamily="34" charset="-122"/>
                <a:cs typeface="Calibri" pitchFamily="34" charset="-120"/>
              </a:rPr>
              <a:t>EG: Examples: Application is running, User account 'john@example.com' exists, User is on the Login page</a:t>
            </a:r>
            <a:endParaRPr lang="en-US" sz="900" dirty="0"/>
          </a:p>
        </p:txBody>
      </p:sp>
      <p:sp>
        <p:nvSpPr>
          <p:cNvPr id="35" name="Text 33"/>
          <p:cNvSpPr/>
          <p:nvPr/>
        </p:nvSpPr>
        <p:spPr>
          <a:xfrm>
            <a:off x="5166360" y="1755648"/>
            <a:ext cx="3520440" cy="246888"/>
          </a:xfrm>
          <a:prstGeom prst="rect">
            <a:avLst/>
          </a:prstGeom>
          <a:noFill/>
          <a:ln/>
        </p:spPr>
        <p:txBody>
          <a:bodyPr wrap="square" lIns="0" tIns="0" rIns="0" bIns="0" rtlCol="0" anchor="ctr"/>
          <a:lstStyle/>
          <a:p>
            <a:pPr marL="0" indent="0">
              <a:buNone/>
            </a:pPr>
            <a:r>
              <a:rPr lang="en-US" sz="900" dirty="0">
                <a:solidFill>
                  <a:srgbClr val="2980B9"/>
                </a:solidFill>
                <a:latin typeface="Calibri" pitchFamily="34" charset="0"/>
                <a:ea typeface="Calibri" pitchFamily="34" charset="-122"/>
                <a:cs typeface="Calibri" pitchFamily="34" charset="-120"/>
              </a:rPr>
              <a:t>WHY: Ensures the environment is correctly set up; prevents false failures due to environment issues.</a:t>
            </a:r>
            <a:endParaRPr lang="en-US" sz="900" dirty="0"/>
          </a:p>
        </p:txBody>
      </p:sp>
      <p:sp>
        <p:nvSpPr>
          <p:cNvPr id="36" name="Shape 34"/>
          <p:cNvSpPr/>
          <p:nvPr/>
        </p:nvSpPr>
        <p:spPr>
          <a:xfrm>
            <a:off x="4599432" y="2121408"/>
            <a:ext cx="4160520" cy="1280160"/>
          </a:xfrm>
          <a:prstGeom prst="rect">
            <a:avLst/>
          </a:prstGeom>
          <a:solidFill>
            <a:srgbClr val="FFFFFF"/>
          </a:solidFill>
          <a:ln w="12700">
            <a:solidFill>
              <a:srgbClr val="DEDEDE"/>
            </a:solidFill>
            <a:prstDash val="solid"/>
          </a:ln>
          <a:effectLst>
            <a:outerShdw blurRad="76200" dist="25400" dir="8100000" algn="bl" rotWithShape="0">
              <a:srgbClr val="000000">
                <a:alpha val="13000"/>
              </a:srgbClr>
            </a:outerShdw>
          </a:effectLst>
        </p:spPr>
      </p:sp>
      <p:sp>
        <p:nvSpPr>
          <p:cNvPr id="37" name="Shape 35"/>
          <p:cNvSpPr/>
          <p:nvPr/>
        </p:nvSpPr>
        <p:spPr>
          <a:xfrm>
            <a:off x="4599432" y="2121408"/>
            <a:ext cx="502920" cy="1280160"/>
          </a:xfrm>
          <a:prstGeom prst="rect">
            <a:avLst/>
          </a:prstGeom>
          <a:solidFill>
            <a:srgbClr val="0D0D0D"/>
          </a:solidFill>
          <a:ln w="12700">
            <a:solidFill>
              <a:srgbClr val="0D0D0D"/>
            </a:solidFill>
            <a:prstDash val="solid"/>
          </a:ln>
        </p:spPr>
      </p:sp>
      <p:sp>
        <p:nvSpPr>
          <p:cNvPr id="38" name="Text 36"/>
          <p:cNvSpPr/>
          <p:nvPr/>
        </p:nvSpPr>
        <p:spPr>
          <a:xfrm>
            <a:off x="4599432" y="2121408"/>
            <a:ext cx="502920" cy="457200"/>
          </a:xfrm>
          <a:prstGeom prst="rect">
            <a:avLst/>
          </a:prstGeom>
          <a:noFill/>
          <a:ln/>
        </p:spPr>
        <p:txBody>
          <a:bodyPr wrap="square" lIns="0" tIns="0" rIns="0" bIns="0" rtlCol="0" anchor="ctr"/>
          <a:lstStyle/>
          <a:p>
            <a:pPr marL="0" indent="0" algn="ctr">
              <a:buNone/>
            </a:pPr>
            <a:r>
              <a:rPr lang="en-US" sz="1300" b="1" dirty="0">
                <a:solidFill>
                  <a:srgbClr val="FF6500"/>
                </a:solidFill>
                <a:latin typeface="Arial Black" pitchFamily="34" charset="0"/>
                <a:ea typeface="Arial Black" pitchFamily="34" charset="-122"/>
                <a:cs typeface="Arial Black" pitchFamily="34" charset="-120"/>
              </a:rPr>
              <a:t>05</a:t>
            </a:r>
            <a:endParaRPr lang="en-US" sz="1300" dirty="0"/>
          </a:p>
        </p:txBody>
      </p:sp>
      <p:sp>
        <p:nvSpPr>
          <p:cNvPr id="39" name="Text 37"/>
          <p:cNvSpPr/>
          <p:nvPr/>
        </p:nvSpPr>
        <p:spPr>
          <a:xfrm>
            <a:off x="5166360" y="2167128"/>
            <a:ext cx="3520440" cy="292608"/>
          </a:xfrm>
          <a:prstGeom prst="rect">
            <a:avLst/>
          </a:prstGeom>
          <a:noFill/>
          <a:ln/>
        </p:spPr>
        <p:txBody>
          <a:bodyPr wrap="square" lIns="0" tIns="0" rIns="0" bIns="0" rtlCol="0" anchor="ctr"/>
          <a:lstStyle/>
          <a:p>
            <a:pPr marL="0" indent="0">
              <a:buNone/>
            </a:pPr>
            <a:r>
              <a:rPr lang="en-US" sz="1250" b="1" dirty="0">
                <a:solidFill>
                  <a:srgbClr val="FF6500"/>
                </a:solidFill>
                <a:latin typeface="Arial" pitchFamily="34" charset="0"/>
                <a:ea typeface="Arial" pitchFamily="34" charset="-122"/>
                <a:cs typeface="Arial" pitchFamily="34" charset="-120"/>
              </a:rPr>
              <a:t>Test Steps</a:t>
            </a:r>
            <a:endParaRPr lang="en-US" sz="1250" dirty="0"/>
          </a:p>
        </p:txBody>
      </p:sp>
      <p:sp>
        <p:nvSpPr>
          <p:cNvPr id="40" name="Text 38"/>
          <p:cNvSpPr/>
          <p:nvPr/>
        </p:nvSpPr>
        <p:spPr>
          <a:xfrm>
            <a:off x="5166360" y="2468880"/>
            <a:ext cx="3520440" cy="292608"/>
          </a:xfrm>
          <a:prstGeom prst="rect">
            <a:avLst/>
          </a:prstGeom>
          <a:noFill/>
          <a:ln/>
        </p:spPr>
        <p:txBody>
          <a:bodyPr wrap="square" lIns="0" tIns="0" rIns="0" bIns="0" rtlCol="0" anchor="ctr"/>
          <a:lstStyle/>
          <a:p>
            <a:pPr marL="0" indent="0">
              <a:buNone/>
            </a:pPr>
            <a:r>
              <a:rPr lang="en-US" sz="950" dirty="0">
                <a:solidFill>
                  <a:srgbClr val="2C2C2C"/>
                </a:solidFill>
                <a:latin typeface="Calibri" pitchFamily="34" charset="0"/>
                <a:ea typeface="Calibri" pitchFamily="34" charset="-122"/>
                <a:cs typeface="Calibri" pitchFamily="34" charset="-120"/>
              </a:rPr>
              <a:t>DEF: Numbered, sequential, atomic actions the tester must perform to execute the test.</a:t>
            </a:r>
            <a:endParaRPr lang="en-US" sz="950" dirty="0"/>
          </a:p>
        </p:txBody>
      </p:sp>
      <p:sp>
        <p:nvSpPr>
          <p:cNvPr id="41" name="Text 39"/>
          <p:cNvSpPr/>
          <p:nvPr/>
        </p:nvSpPr>
        <p:spPr>
          <a:xfrm>
            <a:off x="5166360" y="2770632"/>
            <a:ext cx="3520440" cy="329184"/>
          </a:xfrm>
          <a:prstGeom prst="rect">
            <a:avLst/>
          </a:prstGeom>
          <a:noFill/>
          <a:ln/>
        </p:spPr>
        <p:txBody>
          <a:bodyPr wrap="square" lIns="0" tIns="0" rIns="0" bIns="0" rtlCol="0" anchor="ctr"/>
          <a:lstStyle/>
          <a:p>
            <a:pPr marL="0" indent="0">
              <a:buNone/>
            </a:pPr>
            <a:r>
              <a:rPr lang="en-US" sz="900" i="1" dirty="0">
                <a:solidFill>
                  <a:srgbClr val="5A5A5A"/>
                </a:solidFill>
                <a:latin typeface="Calibri" pitchFamily="34" charset="0"/>
                <a:ea typeface="Calibri" pitchFamily="34" charset="-122"/>
                <a:cs typeface="Calibri" pitchFamily="34" charset="-120"/>
              </a:rPr>
              <a:t>EG: 1. Navigate to /login  2. Enter 'john@example.com'  3. Enter 'SecurePass@123'  4. Click 'Login' button</a:t>
            </a:r>
            <a:endParaRPr lang="en-US" sz="900" dirty="0"/>
          </a:p>
        </p:txBody>
      </p:sp>
      <p:sp>
        <p:nvSpPr>
          <p:cNvPr id="42" name="Text 40"/>
          <p:cNvSpPr/>
          <p:nvPr/>
        </p:nvSpPr>
        <p:spPr>
          <a:xfrm>
            <a:off x="5166360" y="3099816"/>
            <a:ext cx="3520440" cy="246888"/>
          </a:xfrm>
          <a:prstGeom prst="rect">
            <a:avLst/>
          </a:prstGeom>
          <a:noFill/>
          <a:ln/>
        </p:spPr>
        <p:txBody>
          <a:bodyPr wrap="square" lIns="0" tIns="0" rIns="0" bIns="0" rtlCol="0" anchor="ctr"/>
          <a:lstStyle/>
          <a:p>
            <a:pPr marL="0" indent="0">
              <a:buNone/>
            </a:pPr>
            <a:r>
              <a:rPr lang="en-US" sz="900" dirty="0">
                <a:solidFill>
                  <a:srgbClr val="2980B9"/>
                </a:solidFill>
                <a:latin typeface="Calibri" pitchFamily="34" charset="0"/>
                <a:ea typeface="Calibri" pitchFamily="34" charset="-122"/>
                <a:cs typeface="Calibri" pitchFamily="34" charset="-120"/>
              </a:rPr>
              <a:t>WHY: Must be unambiguous — any tester (or automation tool) should produce identical results.</a:t>
            </a:r>
            <a:endParaRPr lang="en-US" sz="900" dirty="0"/>
          </a:p>
        </p:txBody>
      </p:sp>
      <p:sp>
        <p:nvSpPr>
          <p:cNvPr id="43" name="Shape 41"/>
          <p:cNvSpPr/>
          <p:nvPr/>
        </p:nvSpPr>
        <p:spPr>
          <a:xfrm>
            <a:off x="4599432" y="3465576"/>
            <a:ext cx="4160520" cy="1280160"/>
          </a:xfrm>
          <a:prstGeom prst="rect">
            <a:avLst/>
          </a:prstGeom>
          <a:solidFill>
            <a:srgbClr val="FFFFFF"/>
          </a:solidFill>
          <a:ln w="12700">
            <a:solidFill>
              <a:srgbClr val="DEDEDE"/>
            </a:solidFill>
            <a:prstDash val="solid"/>
          </a:ln>
          <a:effectLst>
            <a:outerShdw blurRad="76200" dist="25400" dir="8100000" algn="bl" rotWithShape="0">
              <a:srgbClr val="000000">
                <a:alpha val="13000"/>
              </a:srgbClr>
            </a:outerShdw>
          </a:effectLst>
        </p:spPr>
      </p:sp>
      <p:sp>
        <p:nvSpPr>
          <p:cNvPr id="44" name="Shape 42"/>
          <p:cNvSpPr/>
          <p:nvPr/>
        </p:nvSpPr>
        <p:spPr>
          <a:xfrm>
            <a:off x="4599432" y="3465576"/>
            <a:ext cx="502920" cy="1280160"/>
          </a:xfrm>
          <a:prstGeom prst="rect">
            <a:avLst/>
          </a:prstGeom>
          <a:solidFill>
            <a:srgbClr val="0D0D0D"/>
          </a:solidFill>
          <a:ln w="12700">
            <a:solidFill>
              <a:srgbClr val="0D0D0D"/>
            </a:solidFill>
            <a:prstDash val="solid"/>
          </a:ln>
        </p:spPr>
      </p:sp>
      <p:sp>
        <p:nvSpPr>
          <p:cNvPr id="45" name="Text 43"/>
          <p:cNvSpPr/>
          <p:nvPr/>
        </p:nvSpPr>
        <p:spPr>
          <a:xfrm>
            <a:off x="4599432" y="3465576"/>
            <a:ext cx="502920" cy="457200"/>
          </a:xfrm>
          <a:prstGeom prst="rect">
            <a:avLst/>
          </a:prstGeom>
          <a:noFill/>
          <a:ln/>
        </p:spPr>
        <p:txBody>
          <a:bodyPr wrap="square" lIns="0" tIns="0" rIns="0" bIns="0" rtlCol="0" anchor="ctr"/>
          <a:lstStyle/>
          <a:p>
            <a:pPr marL="0" indent="0" algn="ctr">
              <a:buNone/>
            </a:pPr>
            <a:r>
              <a:rPr lang="en-US" sz="1300" b="1" dirty="0">
                <a:solidFill>
                  <a:srgbClr val="FF6500"/>
                </a:solidFill>
                <a:latin typeface="Arial Black" pitchFamily="34" charset="0"/>
                <a:ea typeface="Arial Black" pitchFamily="34" charset="-122"/>
                <a:cs typeface="Arial Black" pitchFamily="34" charset="-120"/>
              </a:rPr>
              <a:t>06</a:t>
            </a:r>
            <a:endParaRPr lang="en-US" sz="1300" dirty="0"/>
          </a:p>
        </p:txBody>
      </p:sp>
      <p:sp>
        <p:nvSpPr>
          <p:cNvPr id="46" name="Text 44"/>
          <p:cNvSpPr/>
          <p:nvPr/>
        </p:nvSpPr>
        <p:spPr>
          <a:xfrm>
            <a:off x="5166360" y="3511296"/>
            <a:ext cx="3520440" cy="292608"/>
          </a:xfrm>
          <a:prstGeom prst="rect">
            <a:avLst/>
          </a:prstGeom>
          <a:noFill/>
          <a:ln/>
        </p:spPr>
        <p:txBody>
          <a:bodyPr wrap="square" lIns="0" tIns="0" rIns="0" bIns="0" rtlCol="0" anchor="ctr"/>
          <a:lstStyle/>
          <a:p>
            <a:pPr marL="0" indent="0">
              <a:buNone/>
            </a:pPr>
            <a:r>
              <a:rPr lang="en-US" sz="1250" b="1" dirty="0">
                <a:solidFill>
                  <a:srgbClr val="FF6500"/>
                </a:solidFill>
                <a:latin typeface="Arial" pitchFamily="34" charset="0"/>
                <a:ea typeface="Arial" pitchFamily="34" charset="-122"/>
                <a:cs typeface="Arial" pitchFamily="34" charset="-120"/>
              </a:rPr>
              <a:t>Test Data</a:t>
            </a:r>
            <a:endParaRPr lang="en-US" sz="1250" dirty="0"/>
          </a:p>
        </p:txBody>
      </p:sp>
      <p:sp>
        <p:nvSpPr>
          <p:cNvPr id="47" name="Text 45"/>
          <p:cNvSpPr/>
          <p:nvPr/>
        </p:nvSpPr>
        <p:spPr>
          <a:xfrm>
            <a:off x="5166360" y="3813048"/>
            <a:ext cx="3520440" cy="292608"/>
          </a:xfrm>
          <a:prstGeom prst="rect">
            <a:avLst/>
          </a:prstGeom>
          <a:noFill/>
          <a:ln/>
        </p:spPr>
        <p:txBody>
          <a:bodyPr wrap="square" lIns="0" tIns="0" rIns="0" bIns="0" rtlCol="0" anchor="ctr"/>
          <a:lstStyle/>
          <a:p>
            <a:pPr marL="0" indent="0">
              <a:buNone/>
            </a:pPr>
            <a:r>
              <a:rPr lang="en-US" sz="950" dirty="0">
                <a:solidFill>
                  <a:srgbClr val="2C2C2C"/>
                </a:solidFill>
                <a:latin typeface="Calibri" pitchFamily="34" charset="0"/>
                <a:ea typeface="Calibri" pitchFamily="34" charset="-122"/>
                <a:cs typeface="Calibri" pitchFamily="34" charset="-120"/>
              </a:rPr>
              <a:t>DEF: The specific input values used during test execution.</a:t>
            </a:r>
            <a:endParaRPr lang="en-US" sz="950" dirty="0"/>
          </a:p>
        </p:txBody>
      </p:sp>
      <p:sp>
        <p:nvSpPr>
          <p:cNvPr id="48" name="Text 46"/>
          <p:cNvSpPr/>
          <p:nvPr/>
        </p:nvSpPr>
        <p:spPr>
          <a:xfrm>
            <a:off x="5166360" y="4114800"/>
            <a:ext cx="3520440" cy="329184"/>
          </a:xfrm>
          <a:prstGeom prst="rect">
            <a:avLst/>
          </a:prstGeom>
          <a:noFill/>
          <a:ln/>
        </p:spPr>
        <p:txBody>
          <a:bodyPr wrap="square" lIns="0" tIns="0" rIns="0" bIns="0" rtlCol="0" anchor="ctr"/>
          <a:lstStyle/>
          <a:p>
            <a:pPr marL="0" indent="0">
              <a:buNone/>
            </a:pPr>
            <a:r>
              <a:rPr lang="en-US" sz="900" i="1" dirty="0">
                <a:solidFill>
                  <a:srgbClr val="5A5A5A"/>
                </a:solidFill>
                <a:latin typeface="Calibri" pitchFamily="34" charset="0"/>
                <a:ea typeface="Calibri" pitchFamily="34" charset="-122"/>
                <a:cs typeface="Calibri" pitchFamily="34" charset="-120"/>
              </a:rPr>
              <a:t>EG: Email: john@example.com | Password: SecurePass@123 | URL: https://app.example.com/login</a:t>
            </a:r>
            <a:endParaRPr lang="en-US" sz="900" dirty="0"/>
          </a:p>
        </p:txBody>
      </p:sp>
      <p:sp>
        <p:nvSpPr>
          <p:cNvPr id="49" name="Text 47"/>
          <p:cNvSpPr/>
          <p:nvPr/>
        </p:nvSpPr>
        <p:spPr>
          <a:xfrm>
            <a:off x="5166360" y="4443984"/>
            <a:ext cx="3520440" cy="246888"/>
          </a:xfrm>
          <a:prstGeom prst="rect">
            <a:avLst/>
          </a:prstGeom>
          <a:noFill/>
          <a:ln/>
        </p:spPr>
        <p:txBody>
          <a:bodyPr wrap="square" lIns="0" tIns="0" rIns="0" bIns="0" rtlCol="0" anchor="ctr"/>
          <a:lstStyle/>
          <a:p>
            <a:pPr marL="0" indent="0">
              <a:buNone/>
            </a:pPr>
            <a:r>
              <a:rPr lang="en-US" sz="900" dirty="0">
                <a:solidFill>
                  <a:srgbClr val="2980B9"/>
                </a:solidFill>
                <a:latin typeface="Calibri" pitchFamily="34" charset="0"/>
                <a:ea typeface="Calibri" pitchFamily="34" charset="-122"/>
                <a:cs typeface="Calibri" pitchFamily="34" charset="-120"/>
              </a:rPr>
              <a:t>WHY: Separating test data from steps enables easy data-driven testing and reuse of the same steps with multiple data sets.</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2">
    <p:bg>
      <p:bgPr>
        <a:solidFill>
          <a:srgbClr val="F5F5F5"/>
        </a:solidFill>
        <a:effectLst/>
      </p:bgPr>
    </p:bg>
    <p:spTree>
      <p:nvGrpSpPr>
        <p:cNvPr id="1" name=""/>
        <p:cNvGrpSpPr/>
        <p:nvPr/>
      </p:nvGrpSpPr>
      <p:grpSpPr>
        <a:xfrm>
          <a:off x="0" y="0"/>
          <a:ext cx="0" cy="0"/>
          <a:chOff x="0" y="0"/>
          <a:chExt cx="0" cy="0"/>
        </a:xfrm>
      </p:grpSpPr>
      <p:sp>
        <p:nvSpPr>
          <p:cNvPr id="2" name="Shape 0"/>
          <p:cNvSpPr/>
          <p:nvPr/>
        </p:nvSpPr>
        <p:spPr>
          <a:xfrm>
            <a:off x="0" y="0"/>
            <a:ext cx="9144000" cy="621792"/>
          </a:xfrm>
          <a:prstGeom prst="rect">
            <a:avLst/>
          </a:prstGeom>
          <a:solidFill>
            <a:srgbClr val="0D0D0D"/>
          </a:solidFill>
          <a:ln w="12700">
            <a:solidFill>
              <a:srgbClr val="0D0D0D"/>
            </a:solidFill>
            <a:prstDash val="solid"/>
          </a:ln>
        </p:spPr>
      </p:sp>
      <p:sp>
        <p:nvSpPr>
          <p:cNvPr id="3" name="Shape 1"/>
          <p:cNvSpPr/>
          <p:nvPr/>
        </p:nvSpPr>
        <p:spPr>
          <a:xfrm>
            <a:off x="0" y="0"/>
            <a:ext cx="64008" cy="621792"/>
          </a:xfrm>
          <a:prstGeom prst="rect">
            <a:avLst/>
          </a:prstGeom>
          <a:solidFill>
            <a:srgbClr val="FF6500"/>
          </a:solidFill>
          <a:ln w="12700">
            <a:solidFill>
              <a:srgbClr val="FF6500"/>
            </a:solidFill>
            <a:prstDash val="solid"/>
          </a:ln>
        </p:spPr>
      </p:sp>
      <p:sp>
        <p:nvSpPr>
          <p:cNvPr id="4" name="Text 2"/>
          <p:cNvSpPr/>
          <p:nvPr/>
        </p:nvSpPr>
        <p:spPr>
          <a:xfrm>
            <a:off x="201168" y="64008"/>
            <a:ext cx="8503920" cy="493776"/>
          </a:xfrm>
          <a:prstGeom prst="rect">
            <a:avLst/>
          </a:prstGeom>
          <a:noFill/>
          <a:ln/>
        </p:spPr>
        <p:txBody>
          <a:bodyPr wrap="square" lIns="0" tIns="0" rIns="0" bIns="0" rtlCol="0" anchor="ctr"/>
          <a:lstStyle/>
          <a:p>
            <a:pPr marL="0" indent="0">
              <a:buNone/>
            </a:pPr>
            <a:r>
              <a:rPr lang="en-US" sz="1900" b="1" dirty="0">
                <a:solidFill>
                  <a:srgbClr val="FFFFFF"/>
                </a:solidFill>
                <a:latin typeface="Arial" pitchFamily="34" charset="0"/>
                <a:ea typeface="Arial" pitchFamily="34" charset="-122"/>
                <a:cs typeface="Arial" pitchFamily="34" charset="-120"/>
              </a:rPr>
              <a:t>Structure of a Test Case — Fields 7 to 11 (Detailed Explanation)</a:t>
            </a:r>
            <a:endParaRPr lang="en-US" sz="1900" dirty="0"/>
          </a:p>
        </p:txBody>
      </p:sp>
      <p:sp>
        <p:nvSpPr>
          <p:cNvPr id="5" name="Shape 3"/>
          <p:cNvSpPr/>
          <p:nvPr/>
        </p:nvSpPr>
        <p:spPr>
          <a:xfrm>
            <a:off x="0" y="4828032"/>
            <a:ext cx="9144000" cy="315468"/>
          </a:xfrm>
          <a:prstGeom prst="rect">
            <a:avLst/>
          </a:prstGeom>
          <a:solidFill>
            <a:srgbClr val="0D0D0D"/>
          </a:solidFill>
          <a:ln w="12700">
            <a:solidFill>
              <a:srgbClr val="0D0D0D"/>
            </a:solidFill>
            <a:prstDash val="solid"/>
          </a:ln>
        </p:spPr>
      </p:sp>
      <p:sp>
        <p:nvSpPr>
          <p:cNvPr id="6" name="Text 4"/>
          <p:cNvSpPr/>
          <p:nvPr/>
        </p:nvSpPr>
        <p:spPr>
          <a:xfrm>
            <a:off x="182880" y="4855464"/>
            <a:ext cx="7315200" cy="228600"/>
          </a:xfrm>
          <a:prstGeom prst="rect">
            <a:avLst/>
          </a:prstGeom>
          <a:noFill/>
          <a:ln/>
        </p:spPr>
        <p:txBody>
          <a:bodyPr wrap="square" lIns="0" tIns="0" rIns="0" bIns="0" rtlCol="0" anchor="ctr"/>
          <a:lstStyle/>
          <a:p>
            <a:pPr marL="0" indent="0">
              <a:buNone/>
            </a:pPr>
            <a:r>
              <a:rPr lang="en-US" sz="850" dirty="0">
                <a:solidFill>
                  <a:srgbClr val="999999"/>
                </a:solidFill>
                <a:latin typeface="Calibri" pitchFamily="34" charset="0"/>
                <a:ea typeface="Calibri" pitchFamily="34" charset="-122"/>
                <a:cs typeface="Calibri" pitchFamily="34" charset="-120"/>
              </a:rPr>
              <a:t>Quality Engineering | Test Case Development in STLC</a:t>
            </a:r>
            <a:endParaRPr lang="en-US" sz="850" dirty="0"/>
          </a:p>
        </p:txBody>
      </p:sp>
      <p:sp>
        <p:nvSpPr>
          <p:cNvPr id="7" name="Text 5"/>
          <p:cNvSpPr/>
          <p:nvPr/>
        </p:nvSpPr>
        <p:spPr>
          <a:xfrm>
            <a:off x="7406640" y="4855464"/>
            <a:ext cx="1554480" cy="228600"/>
          </a:xfrm>
          <a:prstGeom prst="rect">
            <a:avLst/>
          </a:prstGeom>
          <a:noFill/>
          <a:ln/>
        </p:spPr>
        <p:txBody>
          <a:bodyPr wrap="square" lIns="0" tIns="0" rIns="0" bIns="0" rtlCol="0" anchor="ctr"/>
          <a:lstStyle/>
          <a:p>
            <a:pPr marL="0" indent="0" algn="r">
              <a:buNone/>
            </a:pPr>
            <a:r>
              <a:rPr lang="en-US" sz="850" b="1" dirty="0">
                <a:solidFill>
                  <a:srgbClr val="FF6500"/>
                </a:solidFill>
                <a:latin typeface="Calibri" pitchFamily="34" charset="0"/>
                <a:ea typeface="Calibri" pitchFamily="34" charset="-122"/>
                <a:cs typeface="Calibri" pitchFamily="34" charset="-120"/>
              </a:rPr>
              <a:t>INTERNAL TRAINING</a:t>
            </a:r>
            <a:endParaRPr lang="en-US" sz="850" dirty="0"/>
          </a:p>
        </p:txBody>
      </p:sp>
      <p:sp>
        <p:nvSpPr>
          <p:cNvPr id="8" name="Shape 6"/>
          <p:cNvSpPr/>
          <p:nvPr/>
        </p:nvSpPr>
        <p:spPr>
          <a:xfrm>
            <a:off x="228600" y="777240"/>
            <a:ext cx="4160520" cy="1280160"/>
          </a:xfrm>
          <a:prstGeom prst="rect">
            <a:avLst/>
          </a:prstGeom>
          <a:solidFill>
            <a:srgbClr val="FFFFFF"/>
          </a:solidFill>
          <a:ln w="12700">
            <a:solidFill>
              <a:srgbClr val="DEDEDE"/>
            </a:solidFill>
            <a:prstDash val="solid"/>
          </a:ln>
          <a:effectLst>
            <a:outerShdw blurRad="76200" dist="25400" dir="8100000" algn="bl" rotWithShape="0">
              <a:srgbClr val="000000">
                <a:alpha val="13000"/>
              </a:srgbClr>
            </a:outerShdw>
          </a:effectLst>
        </p:spPr>
      </p:sp>
      <p:sp>
        <p:nvSpPr>
          <p:cNvPr id="9" name="Shape 7"/>
          <p:cNvSpPr/>
          <p:nvPr/>
        </p:nvSpPr>
        <p:spPr>
          <a:xfrm>
            <a:off x="228600" y="777240"/>
            <a:ext cx="502920" cy="1280160"/>
          </a:xfrm>
          <a:prstGeom prst="rect">
            <a:avLst/>
          </a:prstGeom>
          <a:solidFill>
            <a:srgbClr val="0D0D0D"/>
          </a:solidFill>
          <a:ln w="12700">
            <a:solidFill>
              <a:srgbClr val="0D0D0D"/>
            </a:solidFill>
            <a:prstDash val="solid"/>
          </a:ln>
        </p:spPr>
      </p:sp>
      <p:sp>
        <p:nvSpPr>
          <p:cNvPr id="10" name="Text 8"/>
          <p:cNvSpPr/>
          <p:nvPr/>
        </p:nvSpPr>
        <p:spPr>
          <a:xfrm>
            <a:off x="228600" y="777240"/>
            <a:ext cx="502920" cy="457200"/>
          </a:xfrm>
          <a:prstGeom prst="rect">
            <a:avLst/>
          </a:prstGeom>
          <a:noFill/>
          <a:ln/>
        </p:spPr>
        <p:txBody>
          <a:bodyPr wrap="square" lIns="0" tIns="0" rIns="0" bIns="0" rtlCol="0" anchor="ctr"/>
          <a:lstStyle/>
          <a:p>
            <a:pPr marL="0" indent="0" algn="ctr">
              <a:buNone/>
            </a:pPr>
            <a:r>
              <a:rPr lang="en-US" sz="1300" b="1" dirty="0">
                <a:solidFill>
                  <a:srgbClr val="FF6500"/>
                </a:solidFill>
                <a:latin typeface="Arial Black" pitchFamily="34" charset="0"/>
                <a:ea typeface="Arial Black" pitchFamily="34" charset="-122"/>
                <a:cs typeface="Arial Black" pitchFamily="34" charset="-120"/>
              </a:rPr>
              <a:t>07</a:t>
            </a:r>
            <a:endParaRPr lang="en-US" sz="1300" dirty="0"/>
          </a:p>
        </p:txBody>
      </p:sp>
      <p:sp>
        <p:nvSpPr>
          <p:cNvPr id="11" name="Text 9"/>
          <p:cNvSpPr/>
          <p:nvPr/>
        </p:nvSpPr>
        <p:spPr>
          <a:xfrm>
            <a:off x="795528" y="822960"/>
            <a:ext cx="3520440" cy="292608"/>
          </a:xfrm>
          <a:prstGeom prst="rect">
            <a:avLst/>
          </a:prstGeom>
          <a:noFill/>
          <a:ln/>
        </p:spPr>
        <p:txBody>
          <a:bodyPr wrap="square" lIns="0" tIns="0" rIns="0" bIns="0" rtlCol="0" anchor="ctr"/>
          <a:lstStyle/>
          <a:p>
            <a:pPr marL="0" indent="0">
              <a:buNone/>
            </a:pPr>
            <a:r>
              <a:rPr lang="en-US" sz="1250" b="1" dirty="0">
                <a:solidFill>
                  <a:srgbClr val="FF6500"/>
                </a:solidFill>
                <a:latin typeface="Arial" pitchFamily="34" charset="0"/>
                <a:ea typeface="Arial" pitchFamily="34" charset="-122"/>
                <a:cs typeface="Arial" pitchFamily="34" charset="-120"/>
              </a:rPr>
              <a:t>Expected Result</a:t>
            </a:r>
            <a:endParaRPr lang="en-US" sz="1250" dirty="0"/>
          </a:p>
        </p:txBody>
      </p:sp>
      <p:sp>
        <p:nvSpPr>
          <p:cNvPr id="12" name="Text 10"/>
          <p:cNvSpPr/>
          <p:nvPr/>
        </p:nvSpPr>
        <p:spPr>
          <a:xfrm>
            <a:off x="795528" y="1124712"/>
            <a:ext cx="3520440" cy="292608"/>
          </a:xfrm>
          <a:prstGeom prst="rect">
            <a:avLst/>
          </a:prstGeom>
          <a:noFill/>
          <a:ln/>
        </p:spPr>
        <p:txBody>
          <a:bodyPr wrap="square" lIns="0" tIns="0" rIns="0" bIns="0" rtlCol="0" anchor="ctr"/>
          <a:lstStyle/>
          <a:p>
            <a:pPr marL="0" indent="0">
              <a:buNone/>
            </a:pPr>
            <a:r>
              <a:rPr lang="en-US" sz="950" dirty="0">
                <a:solidFill>
                  <a:srgbClr val="2C2C2C"/>
                </a:solidFill>
                <a:latin typeface="Calibri" pitchFamily="34" charset="0"/>
                <a:ea typeface="Calibri" pitchFamily="34" charset="-122"/>
                <a:cs typeface="Calibri" pitchFamily="34" charset="-120"/>
              </a:rPr>
              <a:t>DEF: The precise outcome that should occur if the software works correctly. Written BEFORE execution.</a:t>
            </a:r>
            <a:endParaRPr lang="en-US" sz="950" dirty="0"/>
          </a:p>
        </p:txBody>
      </p:sp>
      <p:sp>
        <p:nvSpPr>
          <p:cNvPr id="13" name="Text 11"/>
          <p:cNvSpPr/>
          <p:nvPr/>
        </p:nvSpPr>
        <p:spPr>
          <a:xfrm>
            <a:off x="795528" y="1426464"/>
            <a:ext cx="3520440" cy="329184"/>
          </a:xfrm>
          <a:prstGeom prst="rect">
            <a:avLst/>
          </a:prstGeom>
          <a:noFill/>
          <a:ln/>
        </p:spPr>
        <p:txBody>
          <a:bodyPr wrap="square" lIns="0" tIns="0" rIns="0" bIns="0" rtlCol="0" anchor="ctr"/>
          <a:lstStyle/>
          <a:p>
            <a:pPr marL="0" indent="0">
              <a:buNone/>
            </a:pPr>
            <a:r>
              <a:rPr lang="en-US" sz="900" i="1" dirty="0">
                <a:solidFill>
                  <a:srgbClr val="5A5A5A"/>
                </a:solidFill>
                <a:latin typeface="Calibri" pitchFamily="34" charset="0"/>
                <a:ea typeface="Calibri" pitchFamily="34" charset="-122"/>
                <a:cs typeface="Calibri" pitchFamily="34" charset="-120"/>
              </a:rPr>
              <a:t>EG: 'User is redirected to the Dashboard page. Welcome message displays: Welcome, John!'</a:t>
            </a:r>
            <a:endParaRPr lang="en-US" sz="900" dirty="0"/>
          </a:p>
        </p:txBody>
      </p:sp>
      <p:sp>
        <p:nvSpPr>
          <p:cNvPr id="14" name="Text 12"/>
          <p:cNvSpPr/>
          <p:nvPr/>
        </p:nvSpPr>
        <p:spPr>
          <a:xfrm>
            <a:off x="795528" y="1755648"/>
            <a:ext cx="3520440" cy="246888"/>
          </a:xfrm>
          <a:prstGeom prst="rect">
            <a:avLst/>
          </a:prstGeom>
          <a:noFill/>
          <a:ln/>
        </p:spPr>
        <p:txBody>
          <a:bodyPr wrap="square" lIns="0" tIns="0" rIns="0" bIns="0" rtlCol="0" anchor="ctr"/>
          <a:lstStyle/>
          <a:p>
            <a:pPr marL="0" indent="0">
              <a:buNone/>
            </a:pPr>
            <a:r>
              <a:rPr lang="en-US" sz="900" dirty="0">
                <a:solidFill>
                  <a:srgbClr val="2980B9"/>
                </a:solidFill>
                <a:latin typeface="Calibri" pitchFamily="34" charset="0"/>
                <a:ea typeface="Calibri" pitchFamily="34" charset="-122"/>
                <a:cs typeface="Calibri" pitchFamily="34" charset="-120"/>
              </a:rPr>
              <a:t>WHY: Defines the pass/fail benchmark — the tester compares actual vs expected to determine result.</a:t>
            </a:r>
            <a:endParaRPr lang="en-US" sz="900" dirty="0"/>
          </a:p>
        </p:txBody>
      </p:sp>
      <p:sp>
        <p:nvSpPr>
          <p:cNvPr id="15" name="Shape 13"/>
          <p:cNvSpPr/>
          <p:nvPr/>
        </p:nvSpPr>
        <p:spPr>
          <a:xfrm>
            <a:off x="228600" y="2176272"/>
            <a:ext cx="4160520" cy="1280160"/>
          </a:xfrm>
          <a:prstGeom prst="rect">
            <a:avLst/>
          </a:prstGeom>
          <a:solidFill>
            <a:srgbClr val="FFFFFF"/>
          </a:solidFill>
          <a:ln w="12700">
            <a:solidFill>
              <a:srgbClr val="DEDEDE"/>
            </a:solidFill>
            <a:prstDash val="solid"/>
          </a:ln>
          <a:effectLst>
            <a:outerShdw blurRad="76200" dist="25400" dir="8100000" algn="bl" rotWithShape="0">
              <a:srgbClr val="000000">
                <a:alpha val="13000"/>
              </a:srgbClr>
            </a:outerShdw>
          </a:effectLst>
        </p:spPr>
      </p:sp>
      <p:sp>
        <p:nvSpPr>
          <p:cNvPr id="16" name="Shape 14"/>
          <p:cNvSpPr/>
          <p:nvPr/>
        </p:nvSpPr>
        <p:spPr>
          <a:xfrm>
            <a:off x="228600" y="2176272"/>
            <a:ext cx="502920" cy="1280160"/>
          </a:xfrm>
          <a:prstGeom prst="rect">
            <a:avLst/>
          </a:prstGeom>
          <a:solidFill>
            <a:srgbClr val="0D0D0D"/>
          </a:solidFill>
          <a:ln w="12700">
            <a:solidFill>
              <a:srgbClr val="0D0D0D"/>
            </a:solidFill>
            <a:prstDash val="solid"/>
          </a:ln>
        </p:spPr>
      </p:sp>
      <p:sp>
        <p:nvSpPr>
          <p:cNvPr id="17" name="Text 15"/>
          <p:cNvSpPr/>
          <p:nvPr/>
        </p:nvSpPr>
        <p:spPr>
          <a:xfrm>
            <a:off x="228600" y="2176272"/>
            <a:ext cx="502920" cy="457200"/>
          </a:xfrm>
          <a:prstGeom prst="rect">
            <a:avLst/>
          </a:prstGeom>
          <a:noFill/>
          <a:ln/>
        </p:spPr>
        <p:txBody>
          <a:bodyPr wrap="square" lIns="0" tIns="0" rIns="0" bIns="0" rtlCol="0" anchor="ctr"/>
          <a:lstStyle/>
          <a:p>
            <a:pPr marL="0" indent="0" algn="ctr">
              <a:buNone/>
            </a:pPr>
            <a:r>
              <a:rPr lang="en-US" sz="1300" b="1" dirty="0">
                <a:solidFill>
                  <a:srgbClr val="FF6500"/>
                </a:solidFill>
                <a:latin typeface="Arial Black" pitchFamily="34" charset="0"/>
                <a:ea typeface="Arial Black" pitchFamily="34" charset="-122"/>
                <a:cs typeface="Arial Black" pitchFamily="34" charset="-120"/>
              </a:rPr>
              <a:t>08</a:t>
            </a:r>
            <a:endParaRPr lang="en-US" sz="1300" dirty="0"/>
          </a:p>
        </p:txBody>
      </p:sp>
      <p:sp>
        <p:nvSpPr>
          <p:cNvPr id="18" name="Text 16"/>
          <p:cNvSpPr/>
          <p:nvPr/>
        </p:nvSpPr>
        <p:spPr>
          <a:xfrm>
            <a:off x="795528" y="2221992"/>
            <a:ext cx="3520440" cy="292608"/>
          </a:xfrm>
          <a:prstGeom prst="rect">
            <a:avLst/>
          </a:prstGeom>
          <a:noFill/>
          <a:ln/>
        </p:spPr>
        <p:txBody>
          <a:bodyPr wrap="square" lIns="0" tIns="0" rIns="0" bIns="0" rtlCol="0" anchor="ctr"/>
          <a:lstStyle/>
          <a:p>
            <a:pPr marL="0" indent="0">
              <a:buNone/>
            </a:pPr>
            <a:r>
              <a:rPr lang="en-US" sz="1250" b="1" dirty="0">
                <a:solidFill>
                  <a:srgbClr val="FF6500"/>
                </a:solidFill>
                <a:latin typeface="Arial" pitchFamily="34" charset="0"/>
                <a:ea typeface="Arial" pitchFamily="34" charset="-122"/>
                <a:cs typeface="Arial" pitchFamily="34" charset="-120"/>
              </a:rPr>
              <a:t>Actual Result</a:t>
            </a:r>
            <a:endParaRPr lang="en-US" sz="1250" dirty="0"/>
          </a:p>
        </p:txBody>
      </p:sp>
      <p:sp>
        <p:nvSpPr>
          <p:cNvPr id="19" name="Text 17"/>
          <p:cNvSpPr/>
          <p:nvPr/>
        </p:nvSpPr>
        <p:spPr>
          <a:xfrm>
            <a:off x="795528" y="2523744"/>
            <a:ext cx="3520440" cy="292608"/>
          </a:xfrm>
          <a:prstGeom prst="rect">
            <a:avLst/>
          </a:prstGeom>
          <a:noFill/>
          <a:ln/>
        </p:spPr>
        <p:txBody>
          <a:bodyPr wrap="square" lIns="0" tIns="0" rIns="0" bIns="0" rtlCol="0" anchor="ctr"/>
          <a:lstStyle/>
          <a:p>
            <a:pPr marL="0" indent="0">
              <a:buNone/>
            </a:pPr>
            <a:r>
              <a:rPr lang="en-US" sz="950" dirty="0">
                <a:solidFill>
                  <a:srgbClr val="2C2C2C"/>
                </a:solidFill>
                <a:latin typeface="Calibri" pitchFamily="34" charset="0"/>
                <a:ea typeface="Calibri" pitchFamily="34" charset="-122"/>
                <a:cs typeface="Calibri" pitchFamily="34" charset="-120"/>
              </a:rPr>
              <a:t>DEF: What ACTUALLY happened when the test was executed. Filled in DURING or AFTER execution.</a:t>
            </a:r>
            <a:endParaRPr lang="en-US" sz="950" dirty="0"/>
          </a:p>
        </p:txBody>
      </p:sp>
      <p:sp>
        <p:nvSpPr>
          <p:cNvPr id="20" name="Text 18"/>
          <p:cNvSpPr/>
          <p:nvPr/>
        </p:nvSpPr>
        <p:spPr>
          <a:xfrm>
            <a:off x="795528" y="2825496"/>
            <a:ext cx="3520440" cy="329184"/>
          </a:xfrm>
          <a:prstGeom prst="rect">
            <a:avLst/>
          </a:prstGeom>
          <a:noFill/>
          <a:ln/>
        </p:spPr>
        <p:txBody>
          <a:bodyPr wrap="square" lIns="0" tIns="0" rIns="0" bIns="0" rtlCol="0" anchor="ctr"/>
          <a:lstStyle/>
          <a:p>
            <a:pPr marL="0" indent="0">
              <a:buNone/>
            </a:pPr>
            <a:r>
              <a:rPr lang="en-US" sz="900" i="1" dirty="0">
                <a:solidFill>
                  <a:srgbClr val="5A5A5A"/>
                </a:solidFill>
                <a:latin typeface="Calibri" pitchFamily="34" charset="0"/>
                <a:ea typeface="Calibri" pitchFamily="34" charset="-122"/>
                <a:cs typeface="Calibri" pitchFamily="34" charset="-120"/>
              </a:rPr>
              <a:t>EG: Pass: 'User redirected to Dashboard as expected'</a:t>
            </a:r>
            <a:endParaRPr lang="en-US" sz="900" dirty="0"/>
          </a:p>
          <a:p>
            <a:pPr marL="0" indent="0">
              <a:buNone/>
            </a:pPr>
            <a:r>
              <a:rPr lang="en-US" sz="900" i="1" dirty="0">
                <a:solidFill>
                  <a:srgbClr val="5A5A5A"/>
                </a:solidFill>
                <a:latin typeface="Calibri" pitchFamily="34" charset="0"/>
                <a:ea typeface="Calibri" pitchFamily="34" charset="-122"/>
                <a:cs typeface="Calibri" pitchFamily="34" charset="-120"/>
              </a:rPr>
              <a:t>Fail: 'Error 500 displayed — server error'</a:t>
            </a:r>
            <a:endParaRPr lang="en-US" sz="900" dirty="0"/>
          </a:p>
        </p:txBody>
      </p:sp>
      <p:sp>
        <p:nvSpPr>
          <p:cNvPr id="21" name="Text 19"/>
          <p:cNvSpPr/>
          <p:nvPr/>
        </p:nvSpPr>
        <p:spPr>
          <a:xfrm>
            <a:off x="795528" y="3154680"/>
            <a:ext cx="3520440" cy="246888"/>
          </a:xfrm>
          <a:prstGeom prst="rect">
            <a:avLst/>
          </a:prstGeom>
          <a:noFill/>
          <a:ln/>
        </p:spPr>
        <p:txBody>
          <a:bodyPr wrap="square" lIns="0" tIns="0" rIns="0" bIns="0" rtlCol="0" anchor="ctr"/>
          <a:lstStyle/>
          <a:p>
            <a:pPr marL="0" indent="0">
              <a:buNone/>
            </a:pPr>
            <a:r>
              <a:rPr lang="en-US" sz="900" dirty="0">
                <a:solidFill>
                  <a:srgbClr val="2980B9"/>
                </a:solidFill>
                <a:latin typeface="Calibri" pitchFamily="34" charset="0"/>
                <a:ea typeface="Calibri" pitchFamily="34" charset="-122"/>
                <a:cs typeface="Calibri" pitchFamily="34" charset="-120"/>
              </a:rPr>
              <a:t>WHY: Documents real system behaviour; drives defect reporting when it differs from expected result.</a:t>
            </a:r>
            <a:endParaRPr lang="en-US" sz="900" dirty="0"/>
          </a:p>
        </p:txBody>
      </p:sp>
      <p:sp>
        <p:nvSpPr>
          <p:cNvPr id="22" name="Shape 20"/>
          <p:cNvSpPr/>
          <p:nvPr/>
        </p:nvSpPr>
        <p:spPr>
          <a:xfrm>
            <a:off x="228600" y="3575304"/>
            <a:ext cx="4160520" cy="1280160"/>
          </a:xfrm>
          <a:prstGeom prst="rect">
            <a:avLst/>
          </a:prstGeom>
          <a:solidFill>
            <a:srgbClr val="FFFFFF"/>
          </a:solidFill>
          <a:ln w="12700">
            <a:solidFill>
              <a:srgbClr val="DEDEDE"/>
            </a:solidFill>
            <a:prstDash val="solid"/>
          </a:ln>
          <a:effectLst>
            <a:outerShdw blurRad="76200" dist="25400" dir="8100000" algn="bl" rotWithShape="0">
              <a:srgbClr val="000000">
                <a:alpha val="13000"/>
              </a:srgbClr>
            </a:outerShdw>
          </a:effectLst>
        </p:spPr>
      </p:sp>
      <p:sp>
        <p:nvSpPr>
          <p:cNvPr id="23" name="Shape 21"/>
          <p:cNvSpPr/>
          <p:nvPr/>
        </p:nvSpPr>
        <p:spPr>
          <a:xfrm>
            <a:off x="228600" y="3575304"/>
            <a:ext cx="502920" cy="1280160"/>
          </a:xfrm>
          <a:prstGeom prst="rect">
            <a:avLst/>
          </a:prstGeom>
          <a:solidFill>
            <a:srgbClr val="0D0D0D"/>
          </a:solidFill>
          <a:ln w="12700">
            <a:solidFill>
              <a:srgbClr val="0D0D0D"/>
            </a:solidFill>
            <a:prstDash val="solid"/>
          </a:ln>
        </p:spPr>
      </p:sp>
      <p:sp>
        <p:nvSpPr>
          <p:cNvPr id="24" name="Text 22"/>
          <p:cNvSpPr/>
          <p:nvPr/>
        </p:nvSpPr>
        <p:spPr>
          <a:xfrm>
            <a:off x="228600" y="3575304"/>
            <a:ext cx="502920" cy="457200"/>
          </a:xfrm>
          <a:prstGeom prst="rect">
            <a:avLst/>
          </a:prstGeom>
          <a:noFill/>
          <a:ln/>
        </p:spPr>
        <p:txBody>
          <a:bodyPr wrap="square" lIns="0" tIns="0" rIns="0" bIns="0" rtlCol="0" anchor="ctr"/>
          <a:lstStyle/>
          <a:p>
            <a:pPr marL="0" indent="0" algn="ctr">
              <a:buNone/>
            </a:pPr>
            <a:r>
              <a:rPr lang="en-US" sz="1300" b="1" dirty="0">
                <a:solidFill>
                  <a:srgbClr val="FF6500"/>
                </a:solidFill>
                <a:latin typeface="Arial Black" pitchFamily="34" charset="0"/>
                <a:ea typeface="Arial Black" pitchFamily="34" charset="-122"/>
                <a:cs typeface="Arial Black" pitchFamily="34" charset="-120"/>
              </a:rPr>
              <a:t>09</a:t>
            </a:r>
            <a:endParaRPr lang="en-US" sz="1300" dirty="0"/>
          </a:p>
        </p:txBody>
      </p:sp>
      <p:sp>
        <p:nvSpPr>
          <p:cNvPr id="25" name="Text 23"/>
          <p:cNvSpPr/>
          <p:nvPr/>
        </p:nvSpPr>
        <p:spPr>
          <a:xfrm>
            <a:off x="795528" y="3621024"/>
            <a:ext cx="3520440" cy="292608"/>
          </a:xfrm>
          <a:prstGeom prst="rect">
            <a:avLst/>
          </a:prstGeom>
          <a:noFill/>
          <a:ln/>
        </p:spPr>
        <p:txBody>
          <a:bodyPr wrap="square" lIns="0" tIns="0" rIns="0" bIns="0" rtlCol="0" anchor="ctr"/>
          <a:lstStyle/>
          <a:p>
            <a:pPr marL="0" indent="0">
              <a:buNone/>
            </a:pPr>
            <a:r>
              <a:rPr lang="en-US" sz="1250" b="1" dirty="0">
                <a:solidFill>
                  <a:srgbClr val="FF6500"/>
                </a:solidFill>
                <a:latin typeface="Arial" pitchFamily="34" charset="0"/>
                <a:ea typeface="Arial" pitchFamily="34" charset="-122"/>
                <a:cs typeface="Arial" pitchFamily="34" charset="-120"/>
              </a:rPr>
              <a:t>Status</a:t>
            </a:r>
            <a:endParaRPr lang="en-US" sz="1250" dirty="0"/>
          </a:p>
        </p:txBody>
      </p:sp>
      <p:sp>
        <p:nvSpPr>
          <p:cNvPr id="26" name="Text 24"/>
          <p:cNvSpPr/>
          <p:nvPr/>
        </p:nvSpPr>
        <p:spPr>
          <a:xfrm>
            <a:off x="795528" y="3922776"/>
            <a:ext cx="3520440" cy="292608"/>
          </a:xfrm>
          <a:prstGeom prst="rect">
            <a:avLst/>
          </a:prstGeom>
          <a:noFill/>
          <a:ln/>
        </p:spPr>
        <p:txBody>
          <a:bodyPr wrap="square" lIns="0" tIns="0" rIns="0" bIns="0" rtlCol="0" anchor="ctr"/>
          <a:lstStyle/>
          <a:p>
            <a:pPr marL="0" indent="0">
              <a:buNone/>
            </a:pPr>
            <a:r>
              <a:rPr lang="en-US" sz="950" dirty="0">
                <a:solidFill>
                  <a:srgbClr val="2C2C2C"/>
                </a:solidFill>
                <a:latin typeface="Calibri" pitchFamily="34" charset="0"/>
                <a:ea typeface="Calibri" pitchFamily="34" charset="-122"/>
                <a:cs typeface="Calibri" pitchFamily="34" charset="-120"/>
              </a:rPr>
              <a:t>DEF: The outcome classification after test execution.</a:t>
            </a:r>
            <a:endParaRPr lang="en-US" sz="950" dirty="0"/>
          </a:p>
        </p:txBody>
      </p:sp>
      <p:sp>
        <p:nvSpPr>
          <p:cNvPr id="27" name="Text 25"/>
          <p:cNvSpPr/>
          <p:nvPr/>
        </p:nvSpPr>
        <p:spPr>
          <a:xfrm>
            <a:off x="795528" y="4224528"/>
            <a:ext cx="3520440" cy="329184"/>
          </a:xfrm>
          <a:prstGeom prst="rect">
            <a:avLst/>
          </a:prstGeom>
          <a:noFill/>
          <a:ln/>
        </p:spPr>
        <p:txBody>
          <a:bodyPr wrap="square" lIns="0" tIns="0" rIns="0" bIns="0" rtlCol="0" anchor="ctr"/>
          <a:lstStyle/>
          <a:p>
            <a:pPr marL="0" indent="0">
              <a:buNone/>
            </a:pPr>
            <a:r>
              <a:rPr lang="en-US" sz="900" i="1" dirty="0">
                <a:solidFill>
                  <a:srgbClr val="5A5A5A"/>
                </a:solidFill>
                <a:latin typeface="Calibri" pitchFamily="34" charset="0"/>
                <a:ea typeface="Calibri" pitchFamily="34" charset="-122"/>
                <a:cs typeface="Calibri" pitchFamily="34" charset="-120"/>
              </a:rPr>
              <a:t>EG: Pass | Fail | Blocked | Not Executed | In Progress | Deferred</a:t>
            </a:r>
            <a:endParaRPr lang="en-US" sz="900" dirty="0"/>
          </a:p>
        </p:txBody>
      </p:sp>
      <p:sp>
        <p:nvSpPr>
          <p:cNvPr id="28" name="Text 26"/>
          <p:cNvSpPr/>
          <p:nvPr/>
        </p:nvSpPr>
        <p:spPr>
          <a:xfrm>
            <a:off x="795528" y="4553712"/>
            <a:ext cx="3520440" cy="246888"/>
          </a:xfrm>
          <a:prstGeom prst="rect">
            <a:avLst/>
          </a:prstGeom>
          <a:noFill/>
          <a:ln/>
        </p:spPr>
        <p:txBody>
          <a:bodyPr wrap="square" lIns="0" tIns="0" rIns="0" bIns="0" rtlCol="0" anchor="ctr"/>
          <a:lstStyle/>
          <a:p>
            <a:pPr marL="0" indent="0">
              <a:buNone/>
            </a:pPr>
            <a:r>
              <a:rPr lang="en-US" sz="900" dirty="0">
                <a:solidFill>
                  <a:srgbClr val="2980B9"/>
                </a:solidFill>
                <a:latin typeface="Calibri" pitchFamily="34" charset="0"/>
                <a:ea typeface="Calibri" pitchFamily="34" charset="-122"/>
                <a:cs typeface="Calibri" pitchFamily="34" charset="-120"/>
              </a:rPr>
              <a:t>WHY: Tracks overall testing progress; feeds into test summary reports and dashboards.</a:t>
            </a:r>
            <a:endParaRPr lang="en-US" sz="900" dirty="0"/>
          </a:p>
        </p:txBody>
      </p:sp>
      <p:sp>
        <p:nvSpPr>
          <p:cNvPr id="29" name="Shape 27"/>
          <p:cNvSpPr/>
          <p:nvPr/>
        </p:nvSpPr>
        <p:spPr>
          <a:xfrm>
            <a:off x="4599432" y="777240"/>
            <a:ext cx="4315968" cy="1280160"/>
          </a:xfrm>
          <a:prstGeom prst="rect">
            <a:avLst/>
          </a:prstGeom>
          <a:solidFill>
            <a:srgbClr val="FFFFFF"/>
          </a:solidFill>
          <a:ln w="12700">
            <a:solidFill>
              <a:srgbClr val="DEDEDE"/>
            </a:solidFill>
            <a:prstDash val="solid"/>
          </a:ln>
          <a:effectLst>
            <a:outerShdw blurRad="76200" dist="25400" dir="8100000" algn="bl" rotWithShape="0">
              <a:srgbClr val="000000">
                <a:alpha val="13000"/>
              </a:srgbClr>
            </a:outerShdw>
          </a:effectLst>
        </p:spPr>
      </p:sp>
      <p:sp>
        <p:nvSpPr>
          <p:cNvPr id="30" name="Shape 28"/>
          <p:cNvSpPr/>
          <p:nvPr/>
        </p:nvSpPr>
        <p:spPr>
          <a:xfrm>
            <a:off x="4599432" y="777240"/>
            <a:ext cx="502920" cy="1280160"/>
          </a:xfrm>
          <a:prstGeom prst="rect">
            <a:avLst/>
          </a:prstGeom>
          <a:solidFill>
            <a:srgbClr val="0D0D0D"/>
          </a:solidFill>
          <a:ln w="12700">
            <a:solidFill>
              <a:srgbClr val="0D0D0D"/>
            </a:solidFill>
            <a:prstDash val="solid"/>
          </a:ln>
        </p:spPr>
      </p:sp>
      <p:sp>
        <p:nvSpPr>
          <p:cNvPr id="31" name="Text 29"/>
          <p:cNvSpPr/>
          <p:nvPr/>
        </p:nvSpPr>
        <p:spPr>
          <a:xfrm>
            <a:off x="4599432" y="777240"/>
            <a:ext cx="502920" cy="457200"/>
          </a:xfrm>
          <a:prstGeom prst="rect">
            <a:avLst/>
          </a:prstGeom>
          <a:noFill/>
          <a:ln/>
        </p:spPr>
        <p:txBody>
          <a:bodyPr wrap="square" lIns="0" tIns="0" rIns="0" bIns="0" rtlCol="0" anchor="ctr"/>
          <a:lstStyle/>
          <a:p>
            <a:pPr marL="0" indent="0" algn="ctr">
              <a:buNone/>
            </a:pPr>
            <a:r>
              <a:rPr lang="en-US" sz="1300" b="1" dirty="0">
                <a:solidFill>
                  <a:srgbClr val="FF6500"/>
                </a:solidFill>
                <a:latin typeface="Arial Black" pitchFamily="34" charset="0"/>
                <a:ea typeface="Arial Black" pitchFamily="34" charset="-122"/>
                <a:cs typeface="Arial Black" pitchFamily="34" charset="-120"/>
              </a:rPr>
              <a:t>10</a:t>
            </a:r>
            <a:endParaRPr lang="en-US" sz="1300" dirty="0"/>
          </a:p>
        </p:txBody>
      </p:sp>
      <p:sp>
        <p:nvSpPr>
          <p:cNvPr id="32" name="Text 30"/>
          <p:cNvSpPr/>
          <p:nvPr/>
        </p:nvSpPr>
        <p:spPr>
          <a:xfrm>
            <a:off x="5166360" y="822960"/>
            <a:ext cx="3675888" cy="292608"/>
          </a:xfrm>
          <a:prstGeom prst="rect">
            <a:avLst/>
          </a:prstGeom>
          <a:noFill/>
          <a:ln/>
        </p:spPr>
        <p:txBody>
          <a:bodyPr wrap="square" lIns="0" tIns="0" rIns="0" bIns="0" rtlCol="0" anchor="ctr"/>
          <a:lstStyle/>
          <a:p>
            <a:pPr marL="0" indent="0">
              <a:buNone/>
            </a:pPr>
            <a:r>
              <a:rPr lang="en-US" sz="1250" b="1" dirty="0">
                <a:solidFill>
                  <a:srgbClr val="FF6500"/>
                </a:solidFill>
                <a:latin typeface="Arial" pitchFamily="34" charset="0"/>
                <a:ea typeface="Arial" pitchFamily="34" charset="-122"/>
                <a:cs typeface="Arial" pitchFamily="34" charset="-120"/>
              </a:rPr>
              <a:t>Priority</a:t>
            </a:r>
            <a:endParaRPr lang="en-US" sz="1250" dirty="0"/>
          </a:p>
        </p:txBody>
      </p:sp>
      <p:sp>
        <p:nvSpPr>
          <p:cNvPr id="33" name="Text 31"/>
          <p:cNvSpPr/>
          <p:nvPr/>
        </p:nvSpPr>
        <p:spPr>
          <a:xfrm>
            <a:off x="5166360" y="1124712"/>
            <a:ext cx="3675888" cy="292608"/>
          </a:xfrm>
          <a:prstGeom prst="rect">
            <a:avLst/>
          </a:prstGeom>
          <a:noFill/>
          <a:ln/>
        </p:spPr>
        <p:txBody>
          <a:bodyPr wrap="square" lIns="0" tIns="0" rIns="0" bIns="0" rtlCol="0" anchor="ctr"/>
          <a:lstStyle/>
          <a:p>
            <a:pPr marL="0" indent="0">
              <a:buNone/>
            </a:pPr>
            <a:r>
              <a:rPr lang="en-US" sz="950" dirty="0">
                <a:solidFill>
                  <a:srgbClr val="2C2C2C"/>
                </a:solidFill>
                <a:latin typeface="Calibri" pitchFamily="34" charset="0"/>
                <a:ea typeface="Calibri" pitchFamily="34" charset="-122"/>
                <a:cs typeface="Calibri" pitchFamily="34" charset="-120"/>
              </a:rPr>
              <a:t>DEF: Indicates the ORDER in which test cases should be executed, based on business impact.</a:t>
            </a:r>
            <a:endParaRPr lang="en-US" sz="950" dirty="0"/>
          </a:p>
        </p:txBody>
      </p:sp>
      <p:sp>
        <p:nvSpPr>
          <p:cNvPr id="34" name="Text 32"/>
          <p:cNvSpPr/>
          <p:nvPr/>
        </p:nvSpPr>
        <p:spPr>
          <a:xfrm>
            <a:off x="5166360" y="1426464"/>
            <a:ext cx="3675888" cy="329184"/>
          </a:xfrm>
          <a:prstGeom prst="rect">
            <a:avLst/>
          </a:prstGeom>
          <a:noFill/>
          <a:ln/>
        </p:spPr>
        <p:txBody>
          <a:bodyPr wrap="square" lIns="0" tIns="0" rIns="0" bIns="0" rtlCol="0" anchor="ctr"/>
          <a:lstStyle/>
          <a:p>
            <a:pPr marL="0" indent="0">
              <a:buNone/>
            </a:pPr>
            <a:r>
              <a:rPr lang="en-US" sz="900" i="1" dirty="0">
                <a:solidFill>
                  <a:srgbClr val="5A5A5A"/>
                </a:solidFill>
                <a:latin typeface="Calibri" pitchFamily="34" charset="0"/>
                <a:ea typeface="Calibri" pitchFamily="34" charset="-122"/>
                <a:cs typeface="Calibri" pitchFamily="34" charset="-120"/>
              </a:rPr>
              <a:t>EG: High: Core business flow | Medium: Important feature | Low: Minor / cosmetic</a:t>
            </a:r>
            <a:endParaRPr lang="en-US" sz="900" dirty="0"/>
          </a:p>
        </p:txBody>
      </p:sp>
      <p:sp>
        <p:nvSpPr>
          <p:cNvPr id="35" name="Text 33"/>
          <p:cNvSpPr/>
          <p:nvPr/>
        </p:nvSpPr>
        <p:spPr>
          <a:xfrm>
            <a:off x="5166360" y="1755648"/>
            <a:ext cx="3675888" cy="246888"/>
          </a:xfrm>
          <a:prstGeom prst="rect">
            <a:avLst/>
          </a:prstGeom>
          <a:noFill/>
          <a:ln/>
        </p:spPr>
        <p:txBody>
          <a:bodyPr wrap="square" lIns="0" tIns="0" rIns="0" bIns="0" rtlCol="0" anchor="ctr"/>
          <a:lstStyle/>
          <a:p>
            <a:pPr marL="0" indent="0">
              <a:buNone/>
            </a:pPr>
            <a:r>
              <a:rPr lang="en-US" sz="900" dirty="0">
                <a:solidFill>
                  <a:srgbClr val="2980B9"/>
                </a:solidFill>
                <a:latin typeface="Calibri" pitchFamily="34" charset="0"/>
                <a:ea typeface="Calibri" pitchFamily="34" charset="-122"/>
                <a:cs typeface="Calibri" pitchFamily="34" charset="-120"/>
              </a:rPr>
              <a:t>WHY: Ensures the most critical functionality is tested first — critical in time-constrained sprints.</a:t>
            </a:r>
            <a:endParaRPr lang="en-US" sz="900" dirty="0"/>
          </a:p>
        </p:txBody>
      </p:sp>
      <p:sp>
        <p:nvSpPr>
          <p:cNvPr id="36" name="Shape 34"/>
          <p:cNvSpPr/>
          <p:nvPr/>
        </p:nvSpPr>
        <p:spPr>
          <a:xfrm>
            <a:off x="4599432" y="2176272"/>
            <a:ext cx="4315968" cy="1280160"/>
          </a:xfrm>
          <a:prstGeom prst="rect">
            <a:avLst/>
          </a:prstGeom>
          <a:solidFill>
            <a:srgbClr val="FFFFFF"/>
          </a:solidFill>
          <a:ln w="12700">
            <a:solidFill>
              <a:srgbClr val="DEDEDE"/>
            </a:solidFill>
            <a:prstDash val="solid"/>
          </a:ln>
          <a:effectLst>
            <a:outerShdw blurRad="76200" dist="25400" dir="8100000" algn="bl" rotWithShape="0">
              <a:srgbClr val="000000">
                <a:alpha val="13000"/>
              </a:srgbClr>
            </a:outerShdw>
          </a:effectLst>
        </p:spPr>
      </p:sp>
      <p:sp>
        <p:nvSpPr>
          <p:cNvPr id="37" name="Shape 35"/>
          <p:cNvSpPr/>
          <p:nvPr/>
        </p:nvSpPr>
        <p:spPr>
          <a:xfrm>
            <a:off x="4599432" y="2176272"/>
            <a:ext cx="502920" cy="1280160"/>
          </a:xfrm>
          <a:prstGeom prst="rect">
            <a:avLst/>
          </a:prstGeom>
          <a:solidFill>
            <a:srgbClr val="0D0D0D"/>
          </a:solidFill>
          <a:ln w="12700">
            <a:solidFill>
              <a:srgbClr val="0D0D0D"/>
            </a:solidFill>
            <a:prstDash val="solid"/>
          </a:ln>
        </p:spPr>
      </p:sp>
      <p:sp>
        <p:nvSpPr>
          <p:cNvPr id="38" name="Text 36"/>
          <p:cNvSpPr/>
          <p:nvPr/>
        </p:nvSpPr>
        <p:spPr>
          <a:xfrm>
            <a:off x="4599432" y="2176272"/>
            <a:ext cx="502920" cy="457200"/>
          </a:xfrm>
          <a:prstGeom prst="rect">
            <a:avLst/>
          </a:prstGeom>
          <a:noFill/>
          <a:ln/>
        </p:spPr>
        <p:txBody>
          <a:bodyPr wrap="square" lIns="0" tIns="0" rIns="0" bIns="0" rtlCol="0" anchor="ctr"/>
          <a:lstStyle/>
          <a:p>
            <a:pPr marL="0" indent="0" algn="ctr">
              <a:buNone/>
            </a:pPr>
            <a:r>
              <a:rPr lang="en-US" sz="1300" b="1" dirty="0">
                <a:solidFill>
                  <a:srgbClr val="FF6500"/>
                </a:solidFill>
                <a:latin typeface="Arial Black" pitchFamily="34" charset="0"/>
                <a:ea typeface="Arial Black" pitchFamily="34" charset="-122"/>
                <a:cs typeface="Arial Black" pitchFamily="34" charset="-120"/>
              </a:rPr>
              <a:t>11</a:t>
            </a:r>
            <a:endParaRPr lang="en-US" sz="1300" dirty="0"/>
          </a:p>
        </p:txBody>
      </p:sp>
      <p:sp>
        <p:nvSpPr>
          <p:cNvPr id="39" name="Text 37"/>
          <p:cNvSpPr/>
          <p:nvPr/>
        </p:nvSpPr>
        <p:spPr>
          <a:xfrm>
            <a:off x="5166360" y="2221992"/>
            <a:ext cx="3675888" cy="292608"/>
          </a:xfrm>
          <a:prstGeom prst="rect">
            <a:avLst/>
          </a:prstGeom>
          <a:noFill/>
          <a:ln/>
        </p:spPr>
        <p:txBody>
          <a:bodyPr wrap="square" lIns="0" tIns="0" rIns="0" bIns="0" rtlCol="0" anchor="ctr"/>
          <a:lstStyle/>
          <a:p>
            <a:pPr marL="0" indent="0">
              <a:buNone/>
            </a:pPr>
            <a:r>
              <a:rPr lang="en-US" sz="1250" b="1" dirty="0">
                <a:solidFill>
                  <a:srgbClr val="FF6500"/>
                </a:solidFill>
                <a:latin typeface="Arial" pitchFamily="34" charset="0"/>
                <a:ea typeface="Arial" pitchFamily="34" charset="-122"/>
                <a:cs typeface="Arial" pitchFamily="34" charset="-120"/>
              </a:rPr>
              <a:t>Severity</a:t>
            </a:r>
            <a:endParaRPr lang="en-US" sz="1250" dirty="0"/>
          </a:p>
        </p:txBody>
      </p:sp>
      <p:sp>
        <p:nvSpPr>
          <p:cNvPr id="40" name="Text 38"/>
          <p:cNvSpPr/>
          <p:nvPr/>
        </p:nvSpPr>
        <p:spPr>
          <a:xfrm>
            <a:off x="5166360" y="2523744"/>
            <a:ext cx="3675888" cy="292608"/>
          </a:xfrm>
          <a:prstGeom prst="rect">
            <a:avLst/>
          </a:prstGeom>
          <a:noFill/>
          <a:ln/>
        </p:spPr>
        <p:txBody>
          <a:bodyPr wrap="square" lIns="0" tIns="0" rIns="0" bIns="0" rtlCol="0" anchor="ctr"/>
          <a:lstStyle/>
          <a:p>
            <a:pPr marL="0" indent="0">
              <a:buNone/>
            </a:pPr>
            <a:r>
              <a:rPr lang="en-US" sz="950" dirty="0">
                <a:solidFill>
                  <a:srgbClr val="2C2C2C"/>
                </a:solidFill>
                <a:latin typeface="Calibri" pitchFamily="34" charset="0"/>
                <a:ea typeface="Calibri" pitchFamily="34" charset="-122"/>
                <a:cs typeface="Calibri" pitchFamily="34" charset="-120"/>
              </a:rPr>
              <a:t>DEF: Indicates the IMPACT on the system if the tested feature fails.</a:t>
            </a:r>
            <a:endParaRPr lang="en-US" sz="950" dirty="0"/>
          </a:p>
        </p:txBody>
      </p:sp>
      <p:sp>
        <p:nvSpPr>
          <p:cNvPr id="41" name="Text 39"/>
          <p:cNvSpPr/>
          <p:nvPr/>
        </p:nvSpPr>
        <p:spPr>
          <a:xfrm>
            <a:off x="5166360" y="2825496"/>
            <a:ext cx="3675888" cy="329184"/>
          </a:xfrm>
          <a:prstGeom prst="rect">
            <a:avLst/>
          </a:prstGeom>
          <a:noFill/>
          <a:ln/>
        </p:spPr>
        <p:txBody>
          <a:bodyPr wrap="square" lIns="0" tIns="0" rIns="0" bIns="0" rtlCol="0" anchor="ctr"/>
          <a:lstStyle/>
          <a:p>
            <a:pPr marL="0" indent="0">
              <a:buNone/>
            </a:pPr>
            <a:r>
              <a:rPr lang="en-US" sz="900" i="1" dirty="0">
                <a:solidFill>
                  <a:srgbClr val="5A5A5A"/>
                </a:solidFill>
                <a:latin typeface="Calibri" pitchFamily="34" charset="0"/>
                <a:ea typeface="Calibri" pitchFamily="34" charset="-122"/>
                <a:cs typeface="Calibri" pitchFamily="34" charset="-120"/>
              </a:rPr>
              <a:t>EG: Critical: System crash/data loss | Major: Core function broken | Minor: Degraded UX | Trivial: Cosmetic</a:t>
            </a:r>
            <a:endParaRPr lang="en-US" sz="900" dirty="0"/>
          </a:p>
        </p:txBody>
      </p:sp>
      <p:sp>
        <p:nvSpPr>
          <p:cNvPr id="42" name="Text 40"/>
          <p:cNvSpPr/>
          <p:nvPr/>
        </p:nvSpPr>
        <p:spPr>
          <a:xfrm>
            <a:off x="5166360" y="3154680"/>
            <a:ext cx="3675888" cy="246888"/>
          </a:xfrm>
          <a:prstGeom prst="rect">
            <a:avLst/>
          </a:prstGeom>
          <a:noFill/>
          <a:ln/>
        </p:spPr>
        <p:txBody>
          <a:bodyPr wrap="square" lIns="0" tIns="0" rIns="0" bIns="0" rtlCol="0" anchor="ctr"/>
          <a:lstStyle/>
          <a:p>
            <a:pPr marL="0" indent="0">
              <a:buNone/>
            </a:pPr>
            <a:r>
              <a:rPr lang="en-US" sz="900" dirty="0">
                <a:solidFill>
                  <a:srgbClr val="2980B9"/>
                </a:solidFill>
                <a:latin typeface="Calibri" pitchFamily="34" charset="0"/>
                <a:ea typeface="Calibri" pitchFamily="34" charset="-122"/>
                <a:cs typeface="Calibri" pitchFamily="34" charset="-120"/>
              </a:rPr>
              <a:t>WHY: Guides the development team on defect fix priority; informs release go/no-go decisions.</a:t>
            </a:r>
            <a:endParaRPr lang="en-US" sz="900" dirty="0"/>
          </a:p>
        </p:txBody>
      </p:sp>
      <p:sp>
        <p:nvSpPr>
          <p:cNvPr id="43" name="Shape 41"/>
          <p:cNvSpPr/>
          <p:nvPr/>
        </p:nvSpPr>
        <p:spPr>
          <a:xfrm>
            <a:off x="4599432" y="3575304"/>
            <a:ext cx="4315968" cy="1280160"/>
          </a:xfrm>
          <a:prstGeom prst="rect">
            <a:avLst/>
          </a:prstGeom>
          <a:solidFill>
            <a:srgbClr val="0D0D0D"/>
          </a:solidFill>
          <a:ln w="12700">
            <a:solidFill>
              <a:srgbClr val="222222"/>
            </a:solidFill>
            <a:prstDash val="solid"/>
          </a:ln>
          <a:effectLst>
            <a:outerShdw blurRad="76200" dist="25400" dir="8100000" algn="bl" rotWithShape="0">
              <a:srgbClr val="000000">
                <a:alpha val="13000"/>
              </a:srgbClr>
            </a:outerShdw>
          </a:effectLst>
        </p:spPr>
      </p:sp>
      <p:sp>
        <p:nvSpPr>
          <p:cNvPr id="44" name="Text 42"/>
          <p:cNvSpPr/>
          <p:nvPr/>
        </p:nvSpPr>
        <p:spPr>
          <a:xfrm>
            <a:off x="4690872" y="3621024"/>
            <a:ext cx="4114800" cy="274320"/>
          </a:xfrm>
          <a:prstGeom prst="rect">
            <a:avLst/>
          </a:prstGeom>
          <a:noFill/>
          <a:ln/>
        </p:spPr>
        <p:txBody>
          <a:bodyPr wrap="square" lIns="0" tIns="0" rIns="0" bIns="0" rtlCol="0" anchor="ctr"/>
          <a:lstStyle/>
          <a:p>
            <a:pPr marL="0" indent="0">
              <a:buNone/>
            </a:pPr>
            <a:r>
              <a:rPr lang="en-US" sz="1100" b="1" dirty="0">
                <a:solidFill>
                  <a:srgbClr val="FF6500"/>
                </a:solidFill>
                <a:latin typeface="Arial" pitchFamily="34" charset="0"/>
                <a:ea typeface="Arial" pitchFamily="34" charset="-122"/>
                <a:cs typeface="Arial" pitchFamily="34" charset="-120"/>
              </a:rPr>
              <a:t>Priority vs Severity — Key Distinction</a:t>
            </a:r>
            <a:endParaRPr lang="en-US" sz="1100" dirty="0"/>
          </a:p>
        </p:txBody>
      </p:sp>
      <p:sp>
        <p:nvSpPr>
          <p:cNvPr id="45" name="Text 43"/>
          <p:cNvSpPr/>
          <p:nvPr/>
        </p:nvSpPr>
        <p:spPr>
          <a:xfrm>
            <a:off x="4690872" y="3922776"/>
            <a:ext cx="4114800" cy="868680"/>
          </a:xfrm>
          <a:prstGeom prst="rect">
            <a:avLst/>
          </a:prstGeom>
          <a:noFill/>
          <a:ln/>
        </p:spPr>
        <p:txBody>
          <a:bodyPr wrap="square" lIns="0" tIns="0" rIns="0" bIns="0" rtlCol="0" anchor="t"/>
          <a:lstStyle/>
          <a:p>
            <a:pPr marL="0" indent="0">
              <a:buNone/>
            </a:pPr>
            <a:r>
              <a:rPr lang="en-US" sz="950" dirty="0">
                <a:solidFill>
                  <a:srgbClr val="CCCCCC"/>
                </a:solidFill>
                <a:latin typeface="Calibri" pitchFamily="34" charset="0"/>
                <a:ea typeface="Calibri" pitchFamily="34" charset="-122"/>
                <a:cs typeface="Calibri" pitchFamily="34" charset="-120"/>
              </a:rPr>
              <a:t>A defect can be HIGH severity but LOW priority.</a:t>
            </a:r>
            <a:endParaRPr lang="en-US" sz="950" dirty="0"/>
          </a:p>
          <a:p>
            <a:pPr marL="0" indent="0">
              <a:buNone/>
            </a:pPr>
            <a:r>
              <a:rPr lang="en-US" sz="950" dirty="0">
                <a:solidFill>
                  <a:srgbClr val="CCCCCC"/>
                </a:solidFill>
                <a:latin typeface="Calibri" pitchFamily="34" charset="0"/>
                <a:ea typeface="Calibri" pitchFamily="34" charset="-122"/>
                <a:cs typeface="Calibri" pitchFamily="34" charset="-120"/>
              </a:rPr>
              <a:t>Example: A spelling error on the CEO page has HIGH priority (visibility) but LOW severity (no functionality broken).</a:t>
            </a:r>
            <a:endParaRPr lang="en-US" sz="950" dirty="0"/>
          </a:p>
          <a:p>
            <a:pPr marL="0" indent="0">
              <a:buNone/>
            </a:pPr>
            <a:endParaRPr lang="en-US" sz="950" dirty="0"/>
          </a:p>
          <a:p>
            <a:pPr marL="0" indent="0">
              <a:buNone/>
            </a:pPr>
            <a:r>
              <a:rPr lang="en-US" sz="950" dirty="0">
                <a:solidFill>
                  <a:srgbClr val="CCCCCC"/>
                </a:solidFill>
                <a:latin typeface="Calibri" pitchFamily="34" charset="0"/>
                <a:ea typeface="Calibri" pitchFamily="34" charset="-122"/>
                <a:cs typeface="Calibri" pitchFamily="34" charset="-120"/>
              </a:rPr>
              <a:t>Always consider both when filing a defect report.</a:t>
            </a:r>
            <a:endParaRPr lang="en-US" sz="9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3">
    <p:bg>
      <p:bgPr>
        <a:solidFill>
          <a:srgbClr val="F5F5F5"/>
        </a:solidFill>
        <a:effectLst/>
      </p:bgPr>
    </p:bg>
    <p:spTree>
      <p:nvGrpSpPr>
        <p:cNvPr id="1" name=""/>
        <p:cNvGrpSpPr/>
        <p:nvPr/>
      </p:nvGrpSpPr>
      <p:grpSpPr>
        <a:xfrm>
          <a:off x="0" y="0"/>
          <a:ext cx="0" cy="0"/>
          <a:chOff x="0" y="0"/>
          <a:chExt cx="0" cy="0"/>
        </a:xfrm>
      </p:grpSpPr>
      <p:sp>
        <p:nvSpPr>
          <p:cNvPr id="2" name="Shape 0"/>
          <p:cNvSpPr/>
          <p:nvPr/>
        </p:nvSpPr>
        <p:spPr>
          <a:xfrm>
            <a:off x="0" y="0"/>
            <a:ext cx="9144000" cy="621792"/>
          </a:xfrm>
          <a:prstGeom prst="rect">
            <a:avLst/>
          </a:prstGeom>
          <a:solidFill>
            <a:srgbClr val="0D0D0D"/>
          </a:solidFill>
          <a:ln w="12700">
            <a:solidFill>
              <a:srgbClr val="0D0D0D"/>
            </a:solidFill>
            <a:prstDash val="solid"/>
          </a:ln>
        </p:spPr>
      </p:sp>
      <p:sp>
        <p:nvSpPr>
          <p:cNvPr id="3" name="Shape 1"/>
          <p:cNvSpPr/>
          <p:nvPr/>
        </p:nvSpPr>
        <p:spPr>
          <a:xfrm>
            <a:off x="0" y="0"/>
            <a:ext cx="64008" cy="621792"/>
          </a:xfrm>
          <a:prstGeom prst="rect">
            <a:avLst/>
          </a:prstGeom>
          <a:solidFill>
            <a:srgbClr val="FF6500"/>
          </a:solidFill>
          <a:ln w="12700">
            <a:solidFill>
              <a:srgbClr val="FF6500"/>
            </a:solidFill>
            <a:prstDash val="solid"/>
          </a:ln>
        </p:spPr>
      </p:sp>
      <p:sp>
        <p:nvSpPr>
          <p:cNvPr id="4" name="Text 2"/>
          <p:cNvSpPr/>
          <p:nvPr/>
        </p:nvSpPr>
        <p:spPr>
          <a:xfrm>
            <a:off x="201168" y="64008"/>
            <a:ext cx="8503920" cy="493776"/>
          </a:xfrm>
          <a:prstGeom prst="rect">
            <a:avLst/>
          </a:prstGeom>
          <a:noFill/>
          <a:ln/>
        </p:spPr>
        <p:txBody>
          <a:bodyPr wrap="square" lIns="0" tIns="0" rIns="0" bIns="0" rtlCol="0" anchor="ctr"/>
          <a:lstStyle/>
          <a:p>
            <a:pPr marL="0" indent="0">
              <a:buNone/>
            </a:pPr>
            <a:r>
              <a:rPr lang="en-US" sz="1900" b="1" dirty="0">
                <a:solidFill>
                  <a:srgbClr val="FFFFFF"/>
                </a:solidFill>
                <a:latin typeface="Arial" pitchFamily="34" charset="0"/>
                <a:ea typeface="Arial" pitchFamily="34" charset="-122"/>
                <a:cs typeface="Arial" pitchFamily="34" charset="-120"/>
              </a:rPr>
              <a:t>Test Case — Complete Structured Example (Login Module)</a:t>
            </a:r>
            <a:endParaRPr lang="en-US" sz="1900" dirty="0"/>
          </a:p>
        </p:txBody>
      </p:sp>
      <p:sp>
        <p:nvSpPr>
          <p:cNvPr id="5" name="Shape 3"/>
          <p:cNvSpPr/>
          <p:nvPr/>
        </p:nvSpPr>
        <p:spPr>
          <a:xfrm>
            <a:off x="0" y="4828032"/>
            <a:ext cx="9144000" cy="315468"/>
          </a:xfrm>
          <a:prstGeom prst="rect">
            <a:avLst/>
          </a:prstGeom>
          <a:solidFill>
            <a:srgbClr val="0D0D0D"/>
          </a:solidFill>
          <a:ln w="12700">
            <a:solidFill>
              <a:srgbClr val="0D0D0D"/>
            </a:solidFill>
            <a:prstDash val="solid"/>
          </a:ln>
        </p:spPr>
      </p:sp>
      <p:sp>
        <p:nvSpPr>
          <p:cNvPr id="6" name="Text 4"/>
          <p:cNvSpPr/>
          <p:nvPr/>
        </p:nvSpPr>
        <p:spPr>
          <a:xfrm>
            <a:off x="182880" y="4855464"/>
            <a:ext cx="7315200" cy="228600"/>
          </a:xfrm>
          <a:prstGeom prst="rect">
            <a:avLst/>
          </a:prstGeom>
          <a:noFill/>
          <a:ln/>
        </p:spPr>
        <p:txBody>
          <a:bodyPr wrap="square" lIns="0" tIns="0" rIns="0" bIns="0" rtlCol="0" anchor="ctr"/>
          <a:lstStyle/>
          <a:p>
            <a:pPr marL="0" indent="0">
              <a:buNone/>
            </a:pPr>
            <a:r>
              <a:rPr lang="en-US" sz="850" dirty="0">
                <a:solidFill>
                  <a:srgbClr val="999999"/>
                </a:solidFill>
                <a:latin typeface="Calibri" pitchFamily="34" charset="0"/>
                <a:ea typeface="Calibri" pitchFamily="34" charset="-122"/>
                <a:cs typeface="Calibri" pitchFamily="34" charset="-120"/>
              </a:rPr>
              <a:t>Quality Engineering | Test Case Development in STLC</a:t>
            </a:r>
            <a:endParaRPr lang="en-US" sz="850" dirty="0"/>
          </a:p>
        </p:txBody>
      </p:sp>
      <p:sp>
        <p:nvSpPr>
          <p:cNvPr id="7" name="Text 5"/>
          <p:cNvSpPr/>
          <p:nvPr/>
        </p:nvSpPr>
        <p:spPr>
          <a:xfrm>
            <a:off x="7406640" y="4855464"/>
            <a:ext cx="1554480" cy="228600"/>
          </a:xfrm>
          <a:prstGeom prst="rect">
            <a:avLst/>
          </a:prstGeom>
          <a:noFill/>
          <a:ln/>
        </p:spPr>
        <p:txBody>
          <a:bodyPr wrap="square" lIns="0" tIns="0" rIns="0" bIns="0" rtlCol="0" anchor="ctr"/>
          <a:lstStyle/>
          <a:p>
            <a:pPr marL="0" indent="0" algn="r">
              <a:buNone/>
            </a:pPr>
            <a:r>
              <a:rPr lang="en-US" sz="850" b="1" dirty="0">
                <a:solidFill>
                  <a:srgbClr val="FF6500"/>
                </a:solidFill>
                <a:latin typeface="Calibri" pitchFamily="34" charset="0"/>
                <a:ea typeface="Calibri" pitchFamily="34" charset="-122"/>
                <a:cs typeface="Calibri" pitchFamily="34" charset="-120"/>
              </a:rPr>
              <a:t>INTERNAL TRAINING</a:t>
            </a:r>
            <a:endParaRPr lang="en-US" sz="85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228600" y="758952"/>
          <a:ext cx="8732520" cy="4351020"/>
        </p:xfrm>
        <a:graphic>
          <a:graphicData uri="http://schemas.openxmlformats.org/drawingml/2006/table">
            <a:tbl>
              <a:tblPr/>
              <a:tblGrid>
                <a:gridCol w="1371600">
                  <a:extLst>
                    <a:ext uri="{9D8B030D-6E8A-4147-A177-3AD203B41FA5}">
                      <a16:colId xmlns:a16="http://schemas.microsoft.com/office/drawing/2014/main" val="20000"/>
                    </a:ext>
                  </a:extLst>
                </a:gridCol>
                <a:gridCol w="2450592">
                  <a:extLst>
                    <a:ext uri="{9D8B030D-6E8A-4147-A177-3AD203B41FA5}">
                      <a16:colId xmlns:a16="http://schemas.microsoft.com/office/drawing/2014/main" val="20001"/>
                    </a:ext>
                  </a:extLst>
                </a:gridCol>
                <a:gridCol w="2450592">
                  <a:extLst>
                    <a:ext uri="{9D8B030D-6E8A-4147-A177-3AD203B41FA5}">
                      <a16:colId xmlns:a16="http://schemas.microsoft.com/office/drawing/2014/main" val="20002"/>
                    </a:ext>
                  </a:extLst>
                </a:gridCol>
                <a:gridCol w="2459736">
                  <a:extLst>
                    <a:ext uri="{9D8B030D-6E8A-4147-A177-3AD203B41FA5}">
                      <a16:colId xmlns:a16="http://schemas.microsoft.com/office/drawing/2014/main" val="20003"/>
                    </a:ext>
                  </a:extLst>
                </a:gridCol>
              </a:tblGrid>
              <a:tr h="384048">
                <a:tc>
                  <a:txBody>
                    <a:bodyPr/>
                    <a:lstStyle/>
                    <a:p>
                      <a:pPr marL="0" indent="0">
                        <a:buNone/>
                      </a:pPr>
                      <a:r>
                        <a:rPr lang="en-US" sz="950" b="1" dirty="0">
                          <a:solidFill>
                            <a:srgbClr val="FF6500"/>
                          </a:solidFill>
                          <a:latin typeface="Arial" pitchFamily="34" charset="0"/>
                          <a:ea typeface="Arial" pitchFamily="34" charset="-122"/>
                          <a:cs typeface="Arial" pitchFamily="34" charset="-120"/>
                        </a:rPr>
                        <a:t>Field</a:t>
                      </a:r>
                      <a:endParaRPr lang="en-US" sz="950" dirty="0">
                        <a:latin typeface="Arial" charset="0"/>
                        <a:ea typeface="Arial" charset="0"/>
                        <a:cs typeface="Arial" charset="0"/>
                      </a:endParaRPr>
                    </a:p>
                  </a:txBody>
                  <a:tcPr marL="38100" marR="38100" marT="38100" marB="38100">
                    <a:lnL w="12700" cap="flat" cmpd="sng" algn="ctr">
                      <a:solidFill>
                        <a:srgbClr val="DEDEDE"/>
                      </a:solidFill>
                      <a:prstDash val="solid"/>
                      <a:round/>
                      <a:headEnd type="none" w="med" len="med"/>
                      <a:tailEnd type="none" w="med" len="med"/>
                    </a:lnL>
                    <a:lnR w="12700" cap="flat" cmpd="sng" algn="ctr">
                      <a:solidFill>
                        <a:srgbClr val="DEDEDE"/>
                      </a:solidFill>
                      <a:prstDash val="solid"/>
                      <a:round/>
                      <a:headEnd type="none" w="med" len="med"/>
                      <a:tailEnd type="none" w="med" len="med"/>
                    </a:lnR>
                    <a:lnT w="12700" cap="flat" cmpd="sng" algn="ctr">
                      <a:solidFill>
                        <a:srgbClr val="DEDEDE"/>
                      </a:solidFill>
                      <a:prstDash val="solid"/>
                      <a:round/>
                      <a:headEnd type="none" w="med" len="med"/>
                      <a:tailEnd type="none" w="med" len="med"/>
                    </a:lnT>
                    <a:lnB w="12700" cap="flat" cmpd="sng" algn="ctr">
                      <a:solidFill>
                        <a:srgbClr val="DEDEDE"/>
                      </a:solidFill>
                      <a:prstDash val="solid"/>
                      <a:round/>
                      <a:headEnd type="none" w="med" len="med"/>
                      <a:tailEnd type="none" w="med" len="med"/>
                    </a:lnB>
                    <a:solidFill>
                      <a:srgbClr val="0D0D0D"/>
                    </a:solidFill>
                  </a:tcPr>
                </a:tc>
                <a:tc>
                  <a:txBody>
                    <a:bodyPr/>
                    <a:lstStyle/>
                    <a:p>
                      <a:pPr marL="0" indent="0">
                        <a:buNone/>
                      </a:pPr>
                      <a:r>
                        <a:rPr lang="en-US" sz="950" b="1" dirty="0">
                          <a:solidFill>
                            <a:srgbClr val="FF6500"/>
                          </a:solidFill>
                          <a:latin typeface="Arial" pitchFamily="34" charset="0"/>
                          <a:ea typeface="Arial" pitchFamily="34" charset="-122"/>
                          <a:cs typeface="Arial" pitchFamily="34" charset="-120"/>
                        </a:rPr>
                        <a:t>TC_LOGIN_001</a:t>
                      </a:r>
                      <a:endParaRPr lang="en-US" sz="950" dirty="0">
                        <a:latin typeface="Arial" charset="0"/>
                        <a:ea typeface="Arial" charset="0"/>
                        <a:cs typeface="Arial" charset="0"/>
                      </a:endParaRPr>
                    </a:p>
                  </a:txBody>
                  <a:tcPr marL="38100" marR="38100" marT="38100" marB="38100">
                    <a:lnL w="12700" cap="flat" cmpd="sng" algn="ctr">
                      <a:solidFill>
                        <a:srgbClr val="DEDEDE"/>
                      </a:solidFill>
                      <a:prstDash val="solid"/>
                      <a:round/>
                      <a:headEnd type="none" w="med" len="med"/>
                      <a:tailEnd type="none" w="med" len="med"/>
                    </a:lnL>
                    <a:lnR w="12700" cap="flat" cmpd="sng" algn="ctr">
                      <a:solidFill>
                        <a:srgbClr val="DEDEDE"/>
                      </a:solidFill>
                      <a:prstDash val="solid"/>
                      <a:round/>
                      <a:headEnd type="none" w="med" len="med"/>
                      <a:tailEnd type="none" w="med" len="med"/>
                    </a:lnR>
                    <a:lnT w="12700" cap="flat" cmpd="sng" algn="ctr">
                      <a:solidFill>
                        <a:srgbClr val="DEDEDE"/>
                      </a:solidFill>
                      <a:prstDash val="solid"/>
                      <a:round/>
                      <a:headEnd type="none" w="med" len="med"/>
                      <a:tailEnd type="none" w="med" len="med"/>
                    </a:lnT>
                    <a:lnB w="12700" cap="flat" cmpd="sng" algn="ctr">
                      <a:solidFill>
                        <a:srgbClr val="DEDEDE"/>
                      </a:solidFill>
                      <a:prstDash val="solid"/>
                      <a:round/>
                      <a:headEnd type="none" w="med" len="med"/>
                      <a:tailEnd type="none" w="med" len="med"/>
                    </a:lnB>
                    <a:solidFill>
                      <a:srgbClr val="0D0D0D"/>
                    </a:solidFill>
                  </a:tcPr>
                </a:tc>
                <a:tc>
                  <a:txBody>
                    <a:bodyPr/>
                    <a:lstStyle/>
                    <a:p>
                      <a:pPr marL="0" indent="0">
                        <a:buNone/>
                      </a:pPr>
                      <a:r>
                        <a:rPr lang="en-US" sz="950" b="1" dirty="0">
                          <a:solidFill>
                            <a:srgbClr val="FF6500"/>
                          </a:solidFill>
                          <a:latin typeface="Arial" pitchFamily="34" charset="0"/>
                          <a:ea typeface="Arial" pitchFamily="34" charset="-122"/>
                          <a:cs typeface="Arial" pitchFamily="34" charset="-120"/>
                        </a:rPr>
                        <a:t>TC_LOGIN_002</a:t>
                      </a:r>
                      <a:endParaRPr lang="en-US" sz="950" dirty="0">
                        <a:latin typeface="Arial" charset="0"/>
                        <a:ea typeface="Arial" charset="0"/>
                        <a:cs typeface="Arial" charset="0"/>
                      </a:endParaRPr>
                    </a:p>
                  </a:txBody>
                  <a:tcPr marL="38100" marR="38100" marT="38100" marB="38100">
                    <a:lnL w="12700" cap="flat" cmpd="sng" algn="ctr">
                      <a:solidFill>
                        <a:srgbClr val="DEDEDE"/>
                      </a:solidFill>
                      <a:prstDash val="solid"/>
                      <a:round/>
                      <a:headEnd type="none" w="med" len="med"/>
                      <a:tailEnd type="none" w="med" len="med"/>
                    </a:lnL>
                    <a:lnR w="12700" cap="flat" cmpd="sng" algn="ctr">
                      <a:solidFill>
                        <a:srgbClr val="DEDEDE"/>
                      </a:solidFill>
                      <a:prstDash val="solid"/>
                      <a:round/>
                      <a:headEnd type="none" w="med" len="med"/>
                      <a:tailEnd type="none" w="med" len="med"/>
                    </a:lnR>
                    <a:lnT w="12700" cap="flat" cmpd="sng" algn="ctr">
                      <a:solidFill>
                        <a:srgbClr val="DEDEDE"/>
                      </a:solidFill>
                      <a:prstDash val="solid"/>
                      <a:round/>
                      <a:headEnd type="none" w="med" len="med"/>
                      <a:tailEnd type="none" w="med" len="med"/>
                    </a:lnT>
                    <a:lnB w="12700" cap="flat" cmpd="sng" algn="ctr">
                      <a:solidFill>
                        <a:srgbClr val="DEDEDE"/>
                      </a:solidFill>
                      <a:prstDash val="solid"/>
                      <a:round/>
                      <a:headEnd type="none" w="med" len="med"/>
                      <a:tailEnd type="none" w="med" len="med"/>
                    </a:lnB>
                    <a:solidFill>
                      <a:srgbClr val="0D0D0D"/>
                    </a:solidFill>
                  </a:tcPr>
                </a:tc>
                <a:tc>
                  <a:txBody>
                    <a:bodyPr/>
                    <a:lstStyle/>
                    <a:p>
                      <a:pPr marL="0" indent="0">
                        <a:buNone/>
                      </a:pPr>
                      <a:r>
                        <a:rPr lang="en-US" sz="950" b="1" dirty="0">
                          <a:solidFill>
                            <a:srgbClr val="FF6500"/>
                          </a:solidFill>
                          <a:latin typeface="Arial" pitchFamily="34" charset="0"/>
                          <a:ea typeface="Arial" pitchFamily="34" charset="-122"/>
                          <a:cs typeface="Arial" pitchFamily="34" charset="-120"/>
                        </a:rPr>
                        <a:t>TC_LOGIN_003</a:t>
                      </a:r>
                      <a:endParaRPr lang="en-US" sz="950" dirty="0">
                        <a:latin typeface="Arial" charset="0"/>
                        <a:ea typeface="Arial" charset="0"/>
                        <a:cs typeface="Arial" charset="0"/>
                      </a:endParaRPr>
                    </a:p>
                  </a:txBody>
                  <a:tcPr marL="38100" marR="38100" marT="38100" marB="38100">
                    <a:lnL w="12700" cap="flat" cmpd="sng" algn="ctr">
                      <a:solidFill>
                        <a:srgbClr val="DEDEDE"/>
                      </a:solidFill>
                      <a:prstDash val="solid"/>
                      <a:round/>
                      <a:headEnd type="none" w="med" len="med"/>
                      <a:tailEnd type="none" w="med" len="med"/>
                    </a:lnL>
                    <a:lnR w="12700" cap="flat" cmpd="sng" algn="ctr">
                      <a:solidFill>
                        <a:srgbClr val="DEDEDE"/>
                      </a:solidFill>
                      <a:prstDash val="solid"/>
                      <a:round/>
                      <a:headEnd type="none" w="med" len="med"/>
                      <a:tailEnd type="none" w="med" len="med"/>
                    </a:lnR>
                    <a:lnT w="12700" cap="flat" cmpd="sng" algn="ctr">
                      <a:solidFill>
                        <a:srgbClr val="DEDEDE"/>
                      </a:solidFill>
                      <a:prstDash val="solid"/>
                      <a:round/>
                      <a:headEnd type="none" w="med" len="med"/>
                      <a:tailEnd type="none" w="med" len="med"/>
                    </a:lnT>
                    <a:lnB w="12700" cap="flat" cmpd="sng" algn="ctr">
                      <a:solidFill>
                        <a:srgbClr val="DEDEDE"/>
                      </a:solidFill>
                      <a:prstDash val="solid"/>
                      <a:round/>
                      <a:headEnd type="none" w="med" len="med"/>
                      <a:tailEnd type="none" w="med" len="med"/>
                    </a:lnB>
                    <a:solidFill>
                      <a:srgbClr val="0D0D0D"/>
                    </a:solidFill>
                  </a:tcPr>
                </a:tc>
                <a:extLst>
                  <a:ext uri="{0D108BD9-81ED-4DB2-BD59-A6C34878D82A}">
                    <a16:rowId xmlns:a16="http://schemas.microsoft.com/office/drawing/2014/main" val="10000"/>
                  </a:ext>
                </a:extLst>
              </a:tr>
              <a:tr h="384048">
                <a:tc>
                  <a:txBody>
                    <a:bodyPr/>
                    <a:lstStyle/>
                    <a:p>
                      <a:pPr marL="0" indent="0">
                        <a:buNone/>
                      </a:pPr>
                      <a:r>
                        <a:rPr lang="en-US" sz="950" dirty="0">
                          <a:solidFill>
                            <a:srgbClr val="2C2C2C"/>
                          </a:solidFill>
                          <a:latin typeface="Calibri" pitchFamily="34" charset="0"/>
                          <a:ea typeface="Calibri" pitchFamily="34" charset="-122"/>
                          <a:cs typeface="Calibri" pitchFamily="34" charset="-120"/>
                        </a:rPr>
                        <a:t>Test Scenario</a:t>
                      </a:r>
                      <a:endParaRPr lang="en-US" sz="950" dirty="0">
                        <a:latin typeface="Calibri" charset="0"/>
                        <a:ea typeface="Calibri" charset="0"/>
                        <a:cs typeface="Calibri" charset="0"/>
                      </a:endParaRPr>
                    </a:p>
                  </a:txBody>
                  <a:tcPr marL="38100" marR="38100" marT="38100" marB="38100">
                    <a:lnL w="12700" cap="flat" cmpd="sng" algn="ctr">
                      <a:solidFill>
                        <a:srgbClr val="DEDEDE"/>
                      </a:solidFill>
                      <a:prstDash val="solid"/>
                      <a:round/>
                      <a:headEnd type="none" w="med" len="med"/>
                      <a:tailEnd type="none" w="med" len="med"/>
                    </a:lnL>
                    <a:lnR w="12700" cap="flat" cmpd="sng" algn="ctr">
                      <a:solidFill>
                        <a:srgbClr val="DEDEDE"/>
                      </a:solidFill>
                      <a:prstDash val="solid"/>
                      <a:round/>
                      <a:headEnd type="none" w="med" len="med"/>
                      <a:tailEnd type="none" w="med" len="med"/>
                    </a:lnR>
                    <a:lnT w="12700" cap="flat" cmpd="sng" algn="ctr">
                      <a:solidFill>
                        <a:srgbClr val="DEDEDE"/>
                      </a:solidFill>
                      <a:prstDash val="solid"/>
                      <a:round/>
                      <a:headEnd type="none" w="med" len="med"/>
                      <a:tailEnd type="none" w="med" len="med"/>
                    </a:lnT>
                    <a:lnB w="12700" cap="flat" cmpd="sng" algn="ctr">
                      <a:solidFill>
                        <a:srgbClr val="DEDEDE"/>
                      </a:solidFill>
                      <a:prstDash val="solid"/>
                      <a:round/>
                      <a:headEnd type="none" w="med" len="med"/>
                      <a:tailEnd type="none" w="med" len="med"/>
                    </a:lnB>
                    <a:solidFill>
                      <a:srgbClr val="FFFFFF"/>
                    </a:solidFill>
                  </a:tcPr>
                </a:tc>
                <a:tc>
                  <a:txBody>
                    <a:bodyPr/>
                    <a:lstStyle/>
                    <a:p>
                      <a:pPr marL="0" indent="0">
                        <a:buNone/>
                      </a:pPr>
                      <a:r>
                        <a:rPr lang="en-US" sz="950" dirty="0">
                          <a:solidFill>
                            <a:srgbClr val="2C2C2C"/>
                          </a:solidFill>
                          <a:latin typeface="Calibri" pitchFamily="34" charset="0"/>
                          <a:ea typeface="Calibri" pitchFamily="34" charset="-122"/>
                          <a:cs typeface="Calibri" pitchFamily="34" charset="-120"/>
                        </a:rPr>
                        <a:t>Login Functionality</a:t>
                      </a:r>
                      <a:endParaRPr lang="en-US" sz="950" dirty="0">
                        <a:latin typeface="Calibri" charset="0"/>
                        <a:ea typeface="Calibri" charset="0"/>
                        <a:cs typeface="Calibri" charset="0"/>
                      </a:endParaRPr>
                    </a:p>
                  </a:txBody>
                  <a:tcPr marL="38100" marR="38100" marT="38100" marB="38100">
                    <a:lnL w="12700" cap="flat" cmpd="sng" algn="ctr">
                      <a:solidFill>
                        <a:srgbClr val="DEDEDE"/>
                      </a:solidFill>
                      <a:prstDash val="solid"/>
                      <a:round/>
                      <a:headEnd type="none" w="med" len="med"/>
                      <a:tailEnd type="none" w="med" len="med"/>
                    </a:lnL>
                    <a:lnR w="12700" cap="flat" cmpd="sng" algn="ctr">
                      <a:solidFill>
                        <a:srgbClr val="DEDEDE"/>
                      </a:solidFill>
                      <a:prstDash val="solid"/>
                      <a:round/>
                      <a:headEnd type="none" w="med" len="med"/>
                      <a:tailEnd type="none" w="med" len="med"/>
                    </a:lnR>
                    <a:lnT w="12700" cap="flat" cmpd="sng" algn="ctr">
                      <a:solidFill>
                        <a:srgbClr val="DEDEDE"/>
                      </a:solidFill>
                      <a:prstDash val="solid"/>
                      <a:round/>
                      <a:headEnd type="none" w="med" len="med"/>
                      <a:tailEnd type="none" w="med" len="med"/>
                    </a:lnT>
                    <a:lnB w="12700" cap="flat" cmpd="sng" algn="ctr">
                      <a:solidFill>
                        <a:srgbClr val="DEDEDE"/>
                      </a:solidFill>
                      <a:prstDash val="solid"/>
                      <a:round/>
                      <a:headEnd type="none" w="med" len="med"/>
                      <a:tailEnd type="none" w="med" len="med"/>
                    </a:lnB>
                    <a:solidFill>
                      <a:srgbClr val="FFFFFF"/>
                    </a:solidFill>
                  </a:tcPr>
                </a:tc>
                <a:tc>
                  <a:txBody>
                    <a:bodyPr/>
                    <a:lstStyle/>
                    <a:p>
                      <a:pPr marL="0" indent="0">
                        <a:buNone/>
                      </a:pPr>
                      <a:r>
                        <a:rPr lang="en-US" sz="950" dirty="0">
                          <a:solidFill>
                            <a:srgbClr val="2C2C2C"/>
                          </a:solidFill>
                          <a:latin typeface="Calibri" pitchFamily="34" charset="0"/>
                          <a:ea typeface="Calibri" pitchFamily="34" charset="-122"/>
                          <a:cs typeface="Calibri" pitchFamily="34" charset="-120"/>
                        </a:rPr>
                        <a:t>Login Functionality</a:t>
                      </a:r>
                      <a:endParaRPr lang="en-US" sz="950" dirty="0">
                        <a:latin typeface="Calibri" charset="0"/>
                        <a:ea typeface="Calibri" charset="0"/>
                        <a:cs typeface="Calibri" charset="0"/>
                      </a:endParaRPr>
                    </a:p>
                  </a:txBody>
                  <a:tcPr marL="38100" marR="38100" marT="38100" marB="38100">
                    <a:lnL w="12700" cap="flat" cmpd="sng" algn="ctr">
                      <a:solidFill>
                        <a:srgbClr val="DEDEDE"/>
                      </a:solidFill>
                      <a:prstDash val="solid"/>
                      <a:round/>
                      <a:headEnd type="none" w="med" len="med"/>
                      <a:tailEnd type="none" w="med" len="med"/>
                    </a:lnL>
                    <a:lnR w="12700" cap="flat" cmpd="sng" algn="ctr">
                      <a:solidFill>
                        <a:srgbClr val="DEDEDE"/>
                      </a:solidFill>
                      <a:prstDash val="solid"/>
                      <a:round/>
                      <a:headEnd type="none" w="med" len="med"/>
                      <a:tailEnd type="none" w="med" len="med"/>
                    </a:lnR>
                    <a:lnT w="12700" cap="flat" cmpd="sng" algn="ctr">
                      <a:solidFill>
                        <a:srgbClr val="DEDEDE"/>
                      </a:solidFill>
                      <a:prstDash val="solid"/>
                      <a:round/>
                      <a:headEnd type="none" w="med" len="med"/>
                      <a:tailEnd type="none" w="med" len="med"/>
                    </a:lnT>
                    <a:lnB w="12700" cap="flat" cmpd="sng" algn="ctr">
                      <a:solidFill>
                        <a:srgbClr val="DEDEDE"/>
                      </a:solidFill>
                      <a:prstDash val="solid"/>
                      <a:round/>
                      <a:headEnd type="none" w="med" len="med"/>
                      <a:tailEnd type="none" w="med" len="med"/>
                    </a:lnB>
                    <a:solidFill>
                      <a:srgbClr val="FFFFFF"/>
                    </a:solidFill>
                  </a:tcPr>
                </a:tc>
                <a:tc>
                  <a:txBody>
                    <a:bodyPr/>
                    <a:lstStyle/>
                    <a:p>
                      <a:pPr marL="0" indent="0">
                        <a:buNone/>
                      </a:pPr>
                      <a:r>
                        <a:rPr lang="en-US" sz="950" dirty="0">
                          <a:solidFill>
                            <a:srgbClr val="2C2C2C"/>
                          </a:solidFill>
                          <a:latin typeface="Calibri" pitchFamily="34" charset="0"/>
                          <a:ea typeface="Calibri" pitchFamily="34" charset="-122"/>
                          <a:cs typeface="Calibri" pitchFamily="34" charset="-120"/>
                        </a:rPr>
                        <a:t>Login Functionality</a:t>
                      </a:r>
                      <a:endParaRPr lang="en-US" sz="950" dirty="0">
                        <a:latin typeface="Calibri" charset="0"/>
                        <a:ea typeface="Calibri" charset="0"/>
                        <a:cs typeface="Calibri" charset="0"/>
                      </a:endParaRPr>
                    </a:p>
                  </a:txBody>
                  <a:tcPr marL="38100" marR="38100" marT="38100" marB="38100">
                    <a:lnL w="12700" cap="flat" cmpd="sng" algn="ctr">
                      <a:solidFill>
                        <a:srgbClr val="DEDEDE"/>
                      </a:solidFill>
                      <a:prstDash val="solid"/>
                      <a:round/>
                      <a:headEnd type="none" w="med" len="med"/>
                      <a:tailEnd type="none" w="med" len="med"/>
                    </a:lnL>
                    <a:lnR w="12700" cap="flat" cmpd="sng" algn="ctr">
                      <a:solidFill>
                        <a:srgbClr val="DEDEDE"/>
                      </a:solidFill>
                      <a:prstDash val="solid"/>
                      <a:round/>
                      <a:headEnd type="none" w="med" len="med"/>
                      <a:tailEnd type="none" w="med" len="med"/>
                    </a:lnR>
                    <a:lnT w="12700" cap="flat" cmpd="sng" algn="ctr">
                      <a:solidFill>
                        <a:srgbClr val="DEDEDE"/>
                      </a:solidFill>
                      <a:prstDash val="solid"/>
                      <a:round/>
                      <a:headEnd type="none" w="med" len="med"/>
                      <a:tailEnd type="none" w="med" len="med"/>
                    </a:lnT>
                    <a:lnB w="12700" cap="flat" cmpd="sng" algn="ctr">
                      <a:solidFill>
                        <a:srgbClr val="DEDEDE"/>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84048">
                <a:tc>
                  <a:txBody>
                    <a:bodyPr/>
                    <a:lstStyle/>
                    <a:p>
                      <a:pPr marL="0" indent="0">
                        <a:buNone/>
                      </a:pPr>
                      <a:r>
                        <a:rPr lang="en-US" sz="950" dirty="0">
                          <a:solidFill>
                            <a:srgbClr val="2C2C2C"/>
                          </a:solidFill>
                          <a:latin typeface="Calibri" pitchFamily="34" charset="0"/>
                          <a:ea typeface="Calibri" pitchFamily="34" charset="-122"/>
                          <a:cs typeface="Calibri" pitchFamily="34" charset="-120"/>
                        </a:rPr>
                        <a:t>Description</a:t>
                      </a:r>
                      <a:endParaRPr lang="en-US" sz="950" dirty="0">
                        <a:latin typeface="Calibri" charset="0"/>
                        <a:ea typeface="Calibri" charset="0"/>
                        <a:cs typeface="Calibri" charset="0"/>
                      </a:endParaRPr>
                    </a:p>
                  </a:txBody>
                  <a:tcPr marL="38100" marR="38100" marT="38100" marB="38100">
                    <a:lnL w="12700" cap="flat" cmpd="sng" algn="ctr">
                      <a:solidFill>
                        <a:srgbClr val="DEDEDE"/>
                      </a:solidFill>
                      <a:prstDash val="solid"/>
                      <a:round/>
                      <a:headEnd type="none" w="med" len="med"/>
                      <a:tailEnd type="none" w="med" len="med"/>
                    </a:lnL>
                    <a:lnR w="12700" cap="flat" cmpd="sng" algn="ctr">
                      <a:solidFill>
                        <a:srgbClr val="DEDEDE"/>
                      </a:solidFill>
                      <a:prstDash val="solid"/>
                      <a:round/>
                      <a:headEnd type="none" w="med" len="med"/>
                      <a:tailEnd type="none" w="med" len="med"/>
                    </a:lnR>
                    <a:lnT w="12700" cap="flat" cmpd="sng" algn="ctr">
                      <a:solidFill>
                        <a:srgbClr val="DEDEDE"/>
                      </a:solidFill>
                      <a:prstDash val="solid"/>
                      <a:round/>
                      <a:headEnd type="none" w="med" len="med"/>
                      <a:tailEnd type="none" w="med" len="med"/>
                    </a:lnT>
                    <a:lnB w="12700" cap="flat" cmpd="sng" algn="ctr">
                      <a:solidFill>
                        <a:srgbClr val="DEDEDE"/>
                      </a:solidFill>
                      <a:prstDash val="solid"/>
                      <a:round/>
                      <a:headEnd type="none" w="med" len="med"/>
                      <a:tailEnd type="none" w="med" len="med"/>
                    </a:lnB>
                    <a:solidFill>
                      <a:srgbClr val="F0F0F0"/>
                    </a:solidFill>
                  </a:tcPr>
                </a:tc>
                <a:tc>
                  <a:txBody>
                    <a:bodyPr/>
                    <a:lstStyle/>
                    <a:p>
                      <a:pPr marL="0" indent="0">
                        <a:buNone/>
                      </a:pPr>
                      <a:r>
                        <a:rPr lang="en-US" sz="950" dirty="0">
                          <a:solidFill>
                            <a:srgbClr val="2C2C2C"/>
                          </a:solidFill>
                          <a:latin typeface="Calibri" pitchFamily="34" charset="0"/>
                          <a:ea typeface="Calibri" pitchFamily="34" charset="-122"/>
                          <a:cs typeface="Calibri" pitchFamily="34" charset="-120"/>
                        </a:rPr>
                        <a:t>Login with valid credentials</a:t>
                      </a:r>
                      <a:endParaRPr lang="en-US" sz="950" dirty="0">
                        <a:latin typeface="Calibri" charset="0"/>
                        <a:ea typeface="Calibri" charset="0"/>
                        <a:cs typeface="Calibri" charset="0"/>
                      </a:endParaRPr>
                    </a:p>
                  </a:txBody>
                  <a:tcPr marL="38100" marR="38100" marT="38100" marB="38100">
                    <a:lnL w="12700" cap="flat" cmpd="sng" algn="ctr">
                      <a:solidFill>
                        <a:srgbClr val="DEDEDE"/>
                      </a:solidFill>
                      <a:prstDash val="solid"/>
                      <a:round/>
                      <a:headEnd type="none" w="med" len="med"/>
                      <a:tailEnd type="none" w="med" len="med"/>
                    </a:lnL>
                    <a:lnR w="12700" cap="flat" cmpd="sng" algn="ctr">
                      <a:solidFill>
                        <a:srgbClr val="DEDEDE"/>
                      </a:solidFill>
                      <a:prstDash val="solid"/>
                      <a:round/>
                      <a:headEnd type="none" w="med" len="med"/>
                      <a:tailEnd type="none" w="med" len="med"/>
                    </a:lnR>
                    <a:lnT w="12700" cap="flat" cmpd="sng" algn="ctr">
                      <a:solidFill>
                        <a:srgbClr val="DEDEDE"/>
                      </a:solidFill>
                      <a:prstDash val="solid"/>
                      <a:round/>
                      <a:headEnd type="none" w="med" len="med"/>
                      <a:tailEnd type="none" w="med" len="med"/>
                    </a:lnT>
                    <a:lnB w="12700" cap="flat" cmpd="sng" algn="ctr">
                      <a:solidFill>
                        <a:srgbClr val="DEDEDE"/>
                      </a:solidFill>
                      <a:prstDash val="solid"/>
                      <a:round/>
                      <a:headEnd type="none" w="med" len="med"/>
                      <a:tailEnd type="none" w="med" len="med"/>
                    </a:lnB>
                    <a:solidFill>
                      <a:srgbClr val="F0F0F0"/>
                    </a:solidFill>
                  </a:tcPr>
                </a:tc>
                <a:tc>
                  <a:txBody>
                    <a:bodyPr/>
                    <a:lstStyle/>
                    <a:p>
                      <a:pPr marL="0" indent="0">
                        <a:buNone/>
                      </a:pPr>
                      <a:r>
                        <a:rPr lang="en-US" sz="950" dirty="0">
                          <a:solidFill>
                            <a:srgbClr val="2C2C2C"/>
                          </a:solidFill>
                          <a:latin typeface="Calibri" pitchFamily="34" charset="0"/>
                          <a:ea typeface="Calibri" pitchFamily="34" charset="-122"/>
                          <a:cs typeface="Calibri" pitchFamily="34" charset="-120"/>
                        </a:rPr>
                        <a:t>Login with invalid password</a:t>
                      </a:r>
                      <a:endParaRPr lang="en-US" sz="950" dirty="0">
                        <a:latin typeface="Calibri" charset="0"/>
                        <a:ea typeface="Calibri" charset="0"/>
                        <a:cs typeface="Calibri" charset="0"/>
                      </a:endParaRPr>
                    </a:p>
                  </a:txBody>
                  <a:tcPr marL="38100" marR="38100" marT="38100" marB="38100">
                    <a:lnL w="12700" cap="flat" cmpd="sng" algn="ctr">
                      <a:solidFill>
                        <a:srgbClr val="DEDEDE"/>
                      </a:solidFill>
                      <a:prstDash val="solid"/>
                      <a:round/>
                      <a:headEnd type="none" w="med" len="med"/>
                      <a:tailEnd type="none" w="med" len="med"/>
                    </a:lnL>
                    <a:lnR w="12700" cap="flat" cmpd="sng" algn="ctr">
                      <a:solidFill>
                        <a:srgbClr val="DEDEDE"/>
                      </a:solidFill>
                      <a:prstDash val="solid"/>
                      <a:round/>
                      <a:headEnd type="none" w="med" len="med"/>
                      <a:tailEnd type="none" w="med" len="med"/>
                    </a:lnR>
                    <a:lnT w="12700" cap="flat" cmpd="sng" algn="ctr">
                      <a:solidFill>
                        <a:srgbClr val="DEDEDE"/>
                      </a:solidFill>
                      <a:prstDash val="solid"/>
                      <a:round/>
                      <a:headEnd type="none" w="med" len="med"/>
                      <a:tailEnd type="none" w="med" len="med"/>
                    </a:lnT>
                    <a:lnB w="12700" cap="flat" cmpd="sng" algn="ctr">
                      <a:solidFill>
                        <a:srgbClr val="DEDEDE"/>
                      </a:solidFill>
                      <a:prstDash val="solid"/>
                      <a:round/>
                      <a:headEnd type="none" w="med" len="med"/>
                      <a:tailEnd type="none" w="med" len="med"/>
                    </a:lnB>
                    <a:solidFill>
                      <a:srgbClr val="F0F0F0"/>
                    </a:solidFill>
                  </a:tcPr>
                </a:tc>
                <a:tc>
                  <a:txBody>
                    <a:bodyPr/>
                    <a:lstStyle/>
                    <a:p>
                      <a:pPr marL="0" indent="0">
                        <a:buNone/>
                      </a:pPr>
                      <a:r>
                        <a:rPr lang="en-US" sz="950" dirty="0">
                          <a:solidFill>
                            <a:srgbClr val="2C2C2C"/>
                          </a:solidFill>
                          <a:latin typeface="Calibri" pitchFamily="34" charset="0"/>
                          <a:ea typeface="Calibri" pitchFamily="34" charset="-122"/>
                          <a:cs typeface="Calibri" pitchFamily="34" charset="-120"/>
                        </a:rPr>
                        <a:t>Login with empty email field</a:t>
                      </a:r>
                      <a:endParaRPr lang="en-US" sz="950" dirty="0">
                        <a:latin typeface="Calibri" charset="0"/>
                        <a:ea typeface="Calibri" charset="0"/>
                        <a:cs typeface="Calibri" charset="0"/>
                      </a:endParaRPr>
                    </a:p>
                  </a:txBody>
                  <a:tcPr marL="38100" marR="38100" marT="38100" marB="38100">
                    <a:lnL w="12700" cap="flat" cmpd="sng" algn="ctr">
                      <a:solidFill>
                        <a:srgbClr val="DEDEDE"/>
                      </a:solidFill>
                      <a:prstDash val="solid"/>
                      <a:round/>
                      <a:headEnd type="none" w="med" len="med"/>
                      <a:tailEnd type="none" w="med" len="med"/>
                    </a:lnL>
                    <a:lnR w="12700" cap="flat" cmpd="sng" algn="ctr">
                      <a:solidFill>
                        <a:srgbClr val="DEDEDE"/>
                      </a:solidFill>
                      <a:prstDash val="solid"/>
                      <a:round/>
                      <a:headEnd type="none" w="med" len="med"/>
                      <a:tailEnd type="none" w="med" len="med"/>
                    </a:lnR>
                    <a:lnT w="12700" cap="flat" cmpd="sng" algn="ctr">
                      <a:solidFill>
                        <a:srgbClr val="DEDEDE"/>
                      </a:solidFill>
                      <a:prstDash val="solid"/>
                      <a:round/>
                      <a:headEnd type="none" w="med" len="med"/>
                      <a:tailEnd type="none" w="med" len="med"/>
                    </a:lnT>
                    <a:lnB w="12700" cap="flat" cmpd="sng" algn="ctr">
                      <a:solidFill>
                        <a:srgbClr val="DEDEDE"/>
                      </a:solidFill>
                      <a:prstDash val="solid"/>
                      <a:round/>
                      <a:headEnd type="none" w="med" len="med"/>
                      <a:tailEnd type="none" w="med" len="med"/>
                    </a:lnB>
                    <a:solidFill>
                      <a:srgbClr val="F0F0F0"/>
                    </a:solidFill>
                  </a:tcPr>
                </a:tc>
                <a:extLst>
                  <a:ext uri="{0D108BD9-81ED-4DB2-BD59-A6C34878D82A}">
                    <a16:rowId xmlns:a16="http://schemas.microsoft.com/office/drawing/2014/main" val="10002"/>
                  </a:ext>
                </a:extLst>
              </a:tr>
              <a:tr h="384048">
                <a:tc>
                  <a:txBody>
                    <a:bodyPr/>
                    <a:lstStyle/>
                    <a:p>
                      <a:pPr marL="0" indent="0">
                        <a:buNone/>
                      </a:pPr>
                      <a:r>
                        <a:rPr lang="en-US" sz="950" dirty="0">
                          <a:solidFill>
                            <a:srgbClr val="2C2C2C"/>
                          </a:solidFill>
                          <a:latin typeface="Calibri" pitchFamily="34" charset="0"/>
                          <a:ea typeface="Calibri" pitchFamily="34" charset="-122"/>
                          <a:cs typeface="Calibri" pitchFamily="34" charset="-120"/>
                        </a:rPr>
                        <a:t>Preconditions</a:t>
                      </a:r>
                      <a:endParaRPr lang="en-US" sz="950" dirty="0">
                        <a:latin typeface="Calibri" charset="0"/>
                        <a:ea typeface="Calibri" charset="0"/>
                        <a:cs typeface="Calibri" charset="0"/>
                      </a:endParaRPr>
                    </a:p>
                  </a:txBody>
                  <a:tcPr marL="38100" marR="38100" marT="38100" marB="38100">
                    <a:lnL w="12700" cap="flat" cmpd="sng" algn="ctr">
                      <a:solidFill>
                        <a:srgbClr val="DEDEDE"/>
                      </a:solidFill>
                      <a:prstDash val="solid"/>
                      <a:round/>
                      <a:headEnd type="none" w="med" len="med"/>
                      <a:tailEnd type="none" w="med" len="med"/>
                    </a:lnL>
                    <a:lnR w="12700" cap="flat" cmpd="sng" algn="ctr">
                      <a:solidFill>
                        <a:srgbClr val="DEDEDE"/>
                      </a:solidFill>
                      <a:prstDash val="solid"/>
                      <a:round/>
                      <a:headEnd type="none" w="med" len="med"/>
                      <a:tailEnd type="none" w="med" len="med"/>
                    </a:lnR>
                    <a:lnT w="12700" cap="flat" cmpd="sng" algn="ctr">
                      <a:solidFill>
                        <a:srgbClr val="DEDEDE"/>
                      </a:solidFill>
                      <a:prstDash val="solid"/>
                      <a:round/>
                      <a:headEnd type="none" w="med" len="med"/>
                      <a:tailEnd type="none" w="med" len="med"/>
                    </a:lnT>
                    <a:lnB w="12700" cap="flat" cmpd="sng" algn="ctr">
                      <a:solidFill>
                        <a:srgbClr val="DEDEDE"/>
                      </a:solidFill>
                      <a:prstDash val="solid"/>
                      <a:round/>
                      <a:headEnd type="none" w="med" len="med"/>
                      <a:tailEnd type="none" w="med" len="med"/>
                    </a:lnB>
                    <a:solidFill>
                      <a:srgbClr val="FFFFFF"/>
                    </a:solidFill>
                  </a:tcPr>
                </a:tc>
                <a:tc>
                  <a:txBody>
                    <a:bodyPr/>
                    <a:lstStyle/>
                    <a:p>
                      <a:pPr marL="0" indent="0">
                        <a:buNone/>
                      </a:pPr>
                      <a:r>
                        <a:rPr lang="en-US" sz="950" dirty="0">
                          <a:solidFill>
                            <a:srgbClr val="2C2C2C"/>
                          </a:solidFill>
                          <a:latin typeface="Calibri" pitchFamily="34" charset="0"/>
                          <a:ea typeface="Calibri" pitchFamily="34" charset="-122"/>
                          <a:cs typeface="Calibri" pitchFamily="34" charset="-120"/>
                        </a:rPr>
                        <a:t>App running; account john@example.com / SecurePass@123 exists; user on login page</a:t>
                      </a:r>
                      <a:endParaRPr lang="en-US" sz="950" dirty="0">
                        <a:latin typeface="Calibri" charset="0"/>
                        <a:ea typeface="Calibri" charset="0"/>
                        <a:cs typeface="Calibri" charset="0"/>
                      </a:endParaRPr>
                    </a:p>
                  </a:txBody>
                  <a:tcPr marL="38100" marR="38100" marT="38100" marB="38100">
                    <a:lnL w="12700" cap="flat" cmpd="sng" algn="ctr">
                      <a:solidFill>
                        <a:srgbClr val="DEDEDE"/>
                      </a:solidFill>
                      <a:prstDash val="solid"/>
                      <a:round/>
                      <a:headEnd type="none" w="med" len="med"/>
                      <a:tailEnd type="none" w="med" len="med"/>
                    </a:lnL>
                    <a:lnR w="12700" cap="flat" cmpd="sng" algn="ctr">
                      <a:solidFill>
                        <a:srgbClr val="DEDEDE"/>
                      </a:solidFill>
                      <a:prstDash val="solid"/>
                      <a:round/>
                      <a:headEnd type="none" w="med" len="med"/>
                      <a:tailEnd type="none" w="med" len="med"/>
                    </a:lnR>
                    <a:lnT w="12700" cap="flat" cmpd="sng" algn="ctr">
                      <a:solidFill>
                        <a:srgbClr val="DEDEDE"/>
                      </a:solidFill>
                      <a:prstDash val="solid"/>
                      <a:round/>
                      <a:headEnd type="none" w="med" len="med"/>
                      <a:tailEnd type="none" w="med" len="med"/>
                    </a:lnT>
                    <a:lnB w="12700" cap="flat" cmpd="sng" algn="ctr">
                      <a:solidFill>
                        <a:srgbClr val="DEDEDE"/>
                      </a:solidFill>
                      <a:prstDash val="solid"/>
                      <a:round/>
                      <a:headEnd type="none" w="med" len="med"/>
                      <a:tailEnd type="none" w="med" len="med"/>
                    </a:lnB>
                    <a:solidFill>
                      <a:srgbClr val="FFFFFF"/>
                    </a:solidFill>
                  </a:tcPr>
                </a:tc>
                <a:tc>
                  <a:txBody>
                    <a:bodyPr/>
                    <a:lstStyle/>
                    <a:p>
                      <a:pPr marL="0" indent="0">
                        <a:buNone/>
                      </a:pPr>
                      <a:r>
                        <a:rPr lang="en-US" sz="950" dirty="0">
                          <a:solidFill>
                            <a:srgbClr val="2C2C2C"/>
                          </a:solidFill>
                          <a:latin typeface="Calibri" pitchFamily="34" charset="0"/>
                          <a:ea typeface="Calibri" pitchFamily="34" charset="-122"/>
                          <a:cs typeface="Calibri" pitchFamily="34" charset="-120"/>
                        </a:rPr>
                        <a:t>App running; account exists; user on login page</a:t>
                      </a:r>
                      <a:endParaRPr lang="en-US" sz="950" dirty="0">
                        <a:latin typeface="Calibri" charset="0"/>
                        <a:ea typeface="Calibri" charset="0"/>
                        <a:cs typeface="Calibri" charset="0"/>
                      </a:endParaRPr>
                    </a:p>
                  </a:txBody>
                  <a:tcPr marL="38100" marR="38100" marT="38100" marB="38100">
                    <a:lnL w="12700" cap="flat" cmpd="sng" algn="ctr">
                      <a:solidFill>
                        <a:srgbClr val="DEDEDE"/>
                      </a:solidFill>
                      <a:prstDash val="solid"/>
                      <a:round/>
                      <a:headEnd type="none" w="med" len="med"/>
                      <a:tailEnd type="none" w="med" len="med"/>
                    </a:lnL>
                    <a:lnR w="12700" cap="flat" cmpd="sng" algn="ctr">
                      <a:solidFill>
                        <a:srgbClr val="DEDEDE"/>
                      </a:solidFill>
                      <a:prstDash val="solid"/>
                      <a:round/>
                      <a:headEnd type="none" w="med" len="med"/>
                      <a:tailEnd type="none" w="med" len="med"/>
                    </a:lnR>
                    <a:lnT w="12700" cap="flat" cmpd="sng" algn="ctr">
                      <a:solidFill>
                        <a:srgbClr val="DEDEDE"/>
                      </a:solidFill>
                      <a:prstDash val="solid"/>
                      <a:round/>
                      <a:headEnd type="none" w="med" len="med"/>
                      <a:tailEnd type="none" w="med" len="med"/>
                    </a:lnT>
                    <a:lnB w="12700" cap="flat" cmpd="sng" algn="ctr">
                      <a:solidFill>
                        <a:srgbClr val="DEDEDE"/>
                      </a:solidFill>
                      <a:prstDash val="solid"/>
                      <a:round/>
                      <a:headEnd type="none" w="med" len="med"/>
                      <a:tailEnd type="none" w="med" len="med"/>
                    </a:lnB>
                    <a:solidFill>
                      <a:srgbClr val="FFFFFF"/>
                    </a:solidFill>
                  </a:tcPr>
                </a:tc>
                <a:tc>
                  <a:txBody>
                    <a:bodyPr/>
                    <a:lstStyle/>
                    <a:p>
                      <a:pPr marL="0" indent="0">
                        <a:buNone/>
                      </a:pPr>
                      <a:r>
                        <a:rPr lang="en-US" sz="950" dirty="0">
                          <a:solidFill>
                            <a:srgbClr val="2C2C2C"/>
                          </a:solidFill>
                          <a:latin typeface="Calibri" pitchFamily="34" charset="0"/>
                          <a:ea typeface="Calibri" pitchFamily="34" charset="-122"/>
                          <a:cs typeface="Calibri" pitchFamily="34" charset="-120"/>
                        </a:rPr>
                        <a:t>App running; user on login page</a:t>
                      </a:r>
                      <a:endParaRPr lang="en-US" sz="950" dirty="0">
                        <a:latin typeface="Calibri" charset="0"/>
                        <a:ea typeface="Calibri" charset="0"/>
                        <a:cs typeface="Calibri" charset="0"/>
                      </a:endParaRPr>
                    </a:p>
                  </a:txBody>
                  <a:tcPr marL="38100" marR="38100" marT="38100" marB="38100">
                    <a:lnL w="12700" cap="flat" cmpd="sng" algn="ctr">
                      <a:solidFill>
                        <a:srgbClr val="DEDEDE"/>
                      </a:solidFill>
                      <a:prstDash val="solid"/>
                      <a:round/>
                      <a:headEnd type="none" w="med" len="med"/>
                      <a:tailEnd type="none" w="med" len="med"/>
                    </a:lnL>
                    <a:lnR w="12700" cap="flat" cmpd="sng" algn="ctr">
                      <a:solidFill>
                        <a:srgbClr val="DEDEDE"/>
                      </a:solidFill>
                      <a:prstDash val="solid"/>
                      <a:round/>
                      <a:headEnd type="none" w="med" len="med"/>
                      <a:tailEnd type="none" w="med" len="med"/>
                    </a:lnR>
                    <a:lnT w="12700" cap="flat" cmpd="sng" algn="ctr">
                      <a:solidFill>
                        <a:srgbClr val="DEDEDE"/>
                      </a:solidFill>
                      <a:prstDash val="solid"/>
                      <a:round/>
                      <a:headEnd type="none" w="med" len="med"/>
                      <a:tailEnd type="none" w="med" len="med"/>
                    </a:lnT>
                    <a:lnB w="12700" cap="flat" cmpd="sng" algn="ctr">
                      <a:solidFill>
                        <a:srgbClr val="DEDEDE"/>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84048">
                <a:tc>
                  <a:txBody>
                    <a:bodyPr/>
                    <a:lstStyle/>
                    <a:p>
                      <a:pPr marL="0" indent="0">
                        <a:buNone/>
                      </a:pPr>
                      <a:r>
                        <a:rPr lang="en-US" sz="950" dirty="0">
                          <a:solidFill>
                            <a:srgbClr val="2C2C2C"/>
                          </a:solidFill>
                          <a:latin typeface="Calibri" pitchFamily="34" charset="0"/>
                          <a:ea typeface="Calibri" pitchFamily="34" charset="-122"/>
                          <a:cs typeface="Calibri" pitchFamily="34" charset="-120"/>
                        </a:rPr>
                        <a:t>Test Steps</a:t>
                      </a:r>
                      <a:endParaRPr lang="en-US" sz="950" dirty="0">
                        <a:latin typeface="Calibri" charset="0"/>
                        <a:ea typeface="Calibri" charset="0"/>
                        <a:cs typeface="Calibri" charset="0"/>
                      </a:endParaRPr>
                    </a:p>
                  </a:txBody>
                  <a:tcPr marL="38100" marR="38100" marT="38100" marB="38100">
                    <a:lnL w="12700" cap="flat" cmpd="sng" algn="ctr">
                      <a:solidFill>
                        <a:srgbClr val="DEDEDE"/>
                      </a:solidFill>
                      <a:prstDash val="solid"/>
                      <a:round/>
                      <a:headEnd type="none" w="med" len="med"/>
                      <a:tailEnd type="none" w="med" len="med"/>
                    </a:lnL>
                    <a:lnR w="12700" cap="flat" cmpd="sng" algn="ctr">
                      <a:solidFill>
                        <a:srgbClr val="DEDEDE"/>
                      </a:solidFill>
                      <a:prstDash val="solid"/>
                      <a:round/>
                      <a:headEnd type="none" w="med" len="med"/>
                      <a:tailEnd type="none" w="med" len="med"/>
                    </a:lnR>
                    <a:lnT w="12700" cap="flat" cmpd="sng" algn="ctr">
                      <a:solidFill>
                        <a:srgbClr val="DEDEDE"/>
                      </a:solidFill>
                      <a:prstDash val="solid"/>
                      <a:round/>
                      <a:headEnd type="none" w="med" len="med"/>
                      <a:tailEnd type="none" w="med" len="med"/>
                    </a:lnT>
                    <a:lnB w="12700" cap="flat" cmpd="sng" algn="ctr">
                      <a:solidFill>
                        <a:srgbClr val="DEDEDE"/>
                      </a:solidFill>
                      <a:prstDash val="solid"/>
                      <a:round/>
                      <a:headEnd type="none" w="med" len="med"/>
                      <a:tailEnd type="none" w="med" len="med"/>
                    </a:lnB>
                    <a:solidFill>
                      <a:srgbClr val="F0F0F0"/>
                    </a:solidFill>
                  </a:tcPr>
                </a:tc>
                <a:tc>
                  <a:txBody>
                    <a:bodyPr/>
                    <a:lstStyle/>
                    <a:p>
                      <a:pPr marL="0" indent="0">
                        <a:buNone/>
                      </a:pPr>
                      <a:r>
                        <a:rPr lang="en-US" sz="950" dirty="0">
                          <a:solidFill>
                            <a:srgbClr val="2C2C2C"/>
                          </a:solidFill>
                          <a:latin typeface="Calibri" pitchFamily="34" charset="0"/>
                          <a:ea typeface="Calibri" pitchFamily="34" charset="-122"/>
                          <a:cs typeface="Calibri" pitchFamily="34" charset="-120"/>
                        </a:rPr>
                        <a:t>1. Enter john@example.com</a:t>
                      </a:r>
                      <a:endParaRPr lang="en-US" sz="950" dirty="0">
                        <a:latin typeface="Calibri" charset="0"/>
                        <a:ea typeface="Calibri" charset="0"/>
                        <a:cs typeface="Calibri" charset="0"/>
                      </a:endParaRPr>
                    </a:p>
                    <a:p>
                      <a:pPr marL="0" indent="0">
                        <a:buNone/>
                      </a:pPr>
                      <a:r>
                        <a:rPr lang="en-US" sz="950" dirty="0">
                          <a:solidFill>
                            <a:srgbClr val="2C2C2C"/>
                          </a:solidFill>
                          <a:latin typeface="Calibri" pitchFamily="34" charset="0"/>
                          <a:ea typeface="Calibri" pitchFamily="34" charset="-122"/>
                          <a:cs typeface="Calibri" pitchFamily="34" charset="-120"/>
                        </a:rPr>
                        <a:t>2. Enter SecurePass@123</a:t>
                      </a:r>
                      <a:endParaRPr lang="en-US" sz="950" dirty="0">
                        <a:latin typeface="Calibri" charset="0"/>
                        <a:ea typeface="Calibri" charset="0"/>
                        <a:cs typeface="Calibri" charset="0"/>
                      </a:endParaRPr>
                    </a:p>
                    <a:p>
                      <a:pPr marL="0" indent="0">
                        <a:buNone/>
                      </a:pPr>
                      <a:r>
                        <a:rPr lang="en-US" sz="950" dirty="0">
                          <a:solidFill>
                            <a:srgbClr val="2C2C2C"/>
                          </a:solidFill>
                          <a:latin typeface="Calibri" pitchFamily="34" charset="0"/>
                          <a:ea typeface="Calibri" pitchFamily="34" charset="-122"/>
                          <a:cs typeface="Calibri" pitchFamily="34" charset="-120"/>
                        </a:rPr>
                        <a:t>3. Click Login</a:t>
                      </a:r>
                      <a:endParaRPr lang="en-US" sz="950" dirty="0">
                        <a:latin typeface="Calibri" charset="0"/>
                        <a:ea typeface="Calibri" charset="0"/>
                        <a:cs typeface="Calibri" charset="0"/>
                      </a:endParaRPr>
                    </a:p>
                  </a:txBody>
                  <a:tcPr marL="38100" marR="38100" marT="38100" marB="38100">
                    <a:lnL w="12700" cap="flat" cmpd="sng" algn="ctr">
                      <a:solidFill>
                        <a:srgbClr val="DEDEDE"/>
                      </a:solidFill>
                      <a:prstDash val="solid"/>
                      <a:round/>
                      <a:headEnd type="none" w="med" len="med"/>
                      <a:tailEnd type="none" w="med" len="med"/>
                    </a:lnL>
                    <a:lnR w="12700" cap="flat" cmpd="sng" algn="ctr">
                      <a:solidFill>
                        <a:srgbClr val="DEDEDE"/>
                      </a:solidFill>
                      <a:prstDash val="solid"/>
                      <a:round/>
                      <a:headEnd type="none" w="med" len="med"/>
                      <a:tailEnd type="none" w="med" len="med"/>
                    </a:lnR>
                    <a:lnT w="12700" cap="flat" cmpd="sng" algn="ctr">
                      <a:solidFill>
                        <a:srgbClr val="DEDEDE"/>
                      </a:solidFill>
                      <a:prstDash val="solid"/>
                      <a:round/>
                      <a:headEnd type="none" w="med" len="med"/>
                      <a:tailEnd type="none" w="med" len="med"/>
                    </a:lnT>
                    <a:lnB w="12700" cap="flat" cmpd="sng" algn="ctr">
                      <a:solidFill>
                        <a:srgbClr val="DEDEDE"/>
                      </a:solidFill>
                      <a:prstDash val="solid"/>
                      <a:round/>
                      <a:headEnd type="none" w="med" len="med"/>
                      <a:tailEnd type="none" w="med" len="med"/>
                    </a:lnB>
                    <a:solidFill>
                      <a:srgbClr val="F0F0F0"/>
                    </a:solidFill>
                  </a:tcPr>
                </a:tc>
                <a:tc>
                  <a:txBody>
                    <a:bodyPr/>
                    <a:lstStyle/>
                    <a:p>
                      <a:pPr marL="0" indent="0">
                        <a:buNone/>
                      </a:pPr>
                      <a:r>
                        <a:rPr lang="en-US" sz="950" dirty="0">
                          <a:solidFill>
                            <a:srgbClr val="2C2C2C"/>
                          </a:solidFill>
                          <a:latin typeface="Calibri" pitchFamily="34" charset="0"/>
                          <a:ea typeface="Calibri" pitchFamily="34" charset="-122"/>
                          <a:cs typeface="Calibri" pitchFamily="34" charset="-120"/>
                        </a:rPr>
                        <a:t>1. Enter john@example.com</a:t>
                      </a:r>
                      <a:endParaRPr lang="en-US" sz="950" dirty="0">
                        <a:latin typeface="Calibri" charset="0"/>
                        <a:ea typeface="Calibri" charset="0"/>
                        <a:cs typeface="Calibri" charset="0"/>
                      </a:endParaRPr>
                    </a:p>
                    <a:p>
                      <a:pPr marL="0" indent="0">
                        <a:buNone/>
                      </a:pPr>
                      <a:r>
                        <a:rPr lang="en-US" sz="950" dirty="0">
                          <a:solidFill>
                            <a:srgbClr val="2C2C2C"/>
                          </a:solidFill>
                          <a:latin typeface="Calibri" pitchFamily="34" charset="0"/>
                          <a:ea typeface="Calibri" pitchFamily="34" charset="-122"/>
                          <a:cs typeface="Calibri" pitchFamily="34" charset="-120"/>
                        </a:rPr>
                        <a:t>2. Enter WrongPass999</a:t>
                      </a:r>
                      <a:endParaRPr lang="en-US" sz="950" dirty="0">
                        <a:latin typeface="Calibri" charset="0"/>
                        <a:ea typeface="Calibri" charset="0"/>
                        <a:cs typeface="Calibri" charset="0"/>
                      </a:endParaRPr>
                    </a:p>
                    <a:p>
                      <a:pPr marL="0" indent="0">
                        <a:buNone/>
                      </a:pPr>
                      <a:r>
                        <a:rPr lang="en-US" sz="950" dirty="0">
                          <a:solidFill>
                            <a:srgbClr val="2C2C2C"/>
                          </a:solidFill>
                          <a:latin typeface="Calibri" pitchFamily="34" charset="0"/>
                          <a:ea typeface="Calibri" pitchFamily="34" charset="-122"/>
                          <a:cs typeface="Calibri" pitchFamily="34" charset="-120"/>
                        </a:rPr>
                        <a:t>3. Click Login</a:t>
                      </a:r>
                      <a:endParaRPr lang="en-US" sz="950" dirty="0">
                        <a:latin typeface="Calibri" charset="0"/>
                        <a:ea typeface="Calibri" charset="0"/>
                        <a:cs typeface="Calibri" charset="0"/>
                      </a:endParaRPr>
                    </a:p>
                  </a:txBody>
                  <a:tcPr marL="38100" marR="38100" marT="38100" marB="38100">
                    <a:lnL w="12700" cap="flat" cmpd="sng" algn="ctr">
                      <a:solidFill>
                        <a:srgbClr val="DEDEDE"/>
                      </a:solidFill>
                      <a:prstDash val="solid"/>
                      <a:round/>
                      <a:headEnd type="none" w="med" len="med"/>
                      <a:tailEnd type="none" w="med" len="med"/>
                    </a:lnL>
                    <a:lnR w="12700" cap="flat" cmpd="sng" algn="ctr">
                      <a:solidFill>
                        <a:srgbClr val="DEDEDE"/>
                      </a:solidFill>
                      <a:prstDash val="solid"/>
                      <a:round/>
                      <a:headEnd type="none" w="med" len="med"/>
                      <a:tailEnd type="none" w="med" len="med"/>
                    </a:lnR>
                    <a:lnT w="12700" cap="flat" cmpd="sng" algn="ctr">
                      <a:solidFill>
                        <a:srgbClr val="DEDEDE"/>
                      </a:solidFill>
                      <a:prstDash val="solid"/>
                      <a:round/>
                      <a:headEnd type="none" w="med" len="med"/>
                      <a:tailEnd type="none" w="med" len="med"/>
                    </a:lnT>
                    <a:lnB w="12700" cap="flat" cmpd="sng" algn="ctr">
                      <a:solidFill>
                        <a:srgbClr val="DEDEDE"/>
                      </a:solidFill>
                      <a:prstDash val="solid"/>
                      <a:round/>
                      <a:headEnd type="none" w="med" len="med"/>
                      <a:tailEnd type="none" w="med" len="med"/>
                    </a:lnB>
                    <a:solidFill>
                      <a:srgbClr val="F0F0F0"/>
                    </a:solidFill>
                  </a:tcPr>
                </a:tc>
                <a:tc>
                  <a:txBody>
                    <a:bodyPr/>
                    <a:lstStyle/>
                    <a:p>
                      <a:pPr marL="0" indent="0">
                        <a:buNone/>
                      </a:pPr>
                      <a:r>
                        <a:rPr lang="en-US" sz="950" dirty="0">
                          <a:solidFill>
                            <a:srgbClr val="2C2C2C"/>
                          </a:solidFill>
                          <a:latin typeface="Calibri" pitchFamily="34" charset="0"/>
                          <a:ea typeface="Calibri" pitchFamily="34" charset="-122"/>
                          <a:cs typeface="Calibri" pitchFamily="34" charset="-120"/>
                        </a:rPr>
                        <a:t>1. Leave Email field blank</a:t>
                      </a:r>
                      <a:endParaRPr lang="en-US" sz="950" dirty="0">
                        <a:latin typeface="Calibri" charset="0"/>
                        <a:ea typeface="Calibri" charset="0"/>
                        <a:cs typeface="Calibri" charset="0"/>
                      </a:endParaRPr>
                    </a:p>
                    <a:p>
                      <a:pPr marL="0" indent="0">
                        <a:buNone/>
                      </a:pPr>
                      <a:r>
                        <a:rPr lang="en-US" sz="950" dirty="0">
                          <a:solidFill>
                            <a:srgbClr val="2C2C2C"/>
                          </a:solidFill>
                          <a:latin typeface="Calibri" pitchFamily="34" charset="0"/>
                          <a:ea typeface="Calibri" pitchFamily="34" charset="-122"/>
                          <a:cs typeface="Calibri" pitchFamily="34" charset="-120"/>
                        </a:rPr>
                        <a:t>2. Enter SecurePass@123</a:t>
                      </a:r>
                      <a:endParaRPr lang="en-US" sz="950" dirty="0">
                        <a:latin typeface="Calibri" charset="0"/>
                        <a:ea typeface="Calibri" charset="0"/>
                        <a:cs typeface="Calibri" charset="0"/>
                      </a:endParaRPr>
                    </a:p>
                    <a:p>
                      <a:pPr marL="0" indent="0">
                        <a:buNone/>
                      </a:pPr>
                      <a:r>
                        <a:rPr lang="en-US" sz="950" dirty="0">
                          <a:solidFill>
                            <a:srgbClr val="2C2C2C"/>
                          </a:solidFill>
                          <a:latin typeface="Calibri" pitchFamily="34" charset="0"/>
                          <a:ea typeface="Calibri" pitchFamily="34" charset="-122"/>
                          <a:cs typeface="Calibri" pitchFamily="34" charset="-120"/>
                        </a:rPr>
                        <a:t>3. Click Login</a:t>
                      </a:r>
                      <a:endParaRPr lang="en-US" sz="950" dirty="0">
                        <a:latin typeface="Calibri" charset="0"/>
                        <a:ea typeface="Calibri" charset="0"/>
                        <a:cs typeface="Calibri" charset="0"/>
                      </a:endParaRPr>
                    </a:p>
                  </a:txBody>
                  <a:tcPr marL="38100" marR="38100" marT="38100" marB="38100">
                    <a:lnL w="12700" cap="flat" cmpd="sng" algn="ctr">
                      <a:solidFill>
                        <a:srgbClr val="DEDEDE"/>
                      </a:solidFill>
                      <a:prstDash val="solid"/>
                      <a:round/>
                      <a:headEnd type="none" w="med" len="med"/>
                      <a:tailEnd type="none" w="med" len="med"/>
                    </a:lnL>
                    <a:lnR w="12700" cap="flat" cmpd="sng" algn="ctr">
                      <a:solidFill>
                        <a:srgbClr val="DEDEDE"/>
                      </a:solidFill>
                      <a:prstDash val="solid"/>
                      <a:round/>
                      <a:headEnd type="none" w="med" len="med"/>
                      <a:tailEnd type="none" w="med" len="med"/>
                    </a:lnR>
                    <a:lnT w="12700" cap="flat" cmpd="sng" algn="ctr">
                      <a:solidFill>
                        <a:srgbClr val="DEDEDE"/>
                      </a:solidFill>
                      <a:prstDash val="solid"/>
                      <a:round/>
                      <a:headEnd type="none" w="med" len="med"/>
                      <a:tailEnd type="none" w="med" len="med"/>
                    </a:lnT>
                    <a:lnB w="12700" cap="flat" cmpd="sng" algn="ctr">
                      <a:solidFill>
                        <a:srgbClr val="DEDEDE"/>
                      </a:solidFill>
                      <a:prstDash val="solid"/>
                      <a:round/>
                      <a:headEnd type="none" w="med" len="med"/>
                      <a:tailEnd type="none" w="med" len="med"/>
                    </a:lnB>
                    <a:solidFill>
                      <a:srgbClr val="F0F0F0"/>
                    </a:solidFill>
                  </a:tcPr>
                </a:tc>
                <a:extLst>
                  <a:ext uri="{0D108BD9-81ED-4DB2-BD59-A6C34878D82A}">
                    <a16:rowId xmlns:a16="http://schemas.microsoft.com/office/drawing/2014/main" val="10004"/>
                  </a:ext>
                </a:extLst>
              </a:tr>
              <a:tr h="384048">
                <a:tc>
                  <a:txBody>
                    <a:bodyPr/>
                    <a:lstStyle/>
                    <a:p>
                      <a:pPr marL="0" indent="0">
                        <a:buNone/>
                      </a:pPr>
                      <a:r>
                        <a:rPr lang="en-US" sz="950" dirty="0">
                          <a:solidFill>
                            <a:srgbClr val="2C2C2C"/>
                          </a:solidFill>
                          <a:latin typeface="Calibri" pitchFamily="34" charset="0"/>
                          <a:ea typeface="Calibri" pitchFamily="34" charset="-122"/>
                          <a:cs typeface="Calibri" pitchFamily="34" charset="-120"/>
                        </a:rPr>
                        <a:t>Test Data</a:t>
                      </a:r>
                      <a:endParaRPr lang="en-US" sz="950" dirty="0">
                        <a:latin typeface="Calibri" charset="0"/>
                        <a:ea typeface="Calibri" charset="0"/>
                        <a:cs typeface="Calibri" charset="0"/>
                      </a:endParaRPr>
                    </a:p>
                  </a:txBody>
                  <a:tcPr marL="38100" marR="38100" marT="38100" marB="38100">
                    <a:lnL w="12700" cap="flat" cmpd="sng" algn="ctr">
                      <a:solidFill>
                        <a:srgbClr val="DEDEDE"/>
                      </a:solidFill>
                      <a:prstDash val="solid"/>
                      <a:round/>
                      <a:headEnd type="none" w="med" len="med"/>
                      <a:tailEnd type="none" w="med" len="med"/>
                    </a:lnL>
                    <a:lnR w="12700" cap="flat" cmpd="sng" algn="ctr">
                      <a:solidFill>
                        <a:srgbClr val="DEDEDE"/>
                      </a:solidFill>
                      <a:prstDash val="solid"/>
                      <a:round/>
                      <a:headEnd type="none" w="med" len="med"/>
                      <a:tailEnd type="none" w="med" len="med"/>
                    </a:lnR>
                    <a:lnT w="12700" cap="flat" cmpd="sng" algn="ctr">
                      <a:solidFill>
                        <a:srgbClr val="DEDEDE"/>
                      </a:solidFill>
                      <a:prstDash val="solid"/>
                      <a:round/>
                      <a:headEnd type="none" w="med" len="med"/>
                      <a:tailEnd type="none" w="med" len="med"/>
                    </a:lnT>
                    <a:lnB w="12700" cap="flat" cmpd="sng" algn="ctr">
                      <a:solidFill>
                        <a:srgbClr val="DEDEDE"/>
                      </a:solidFill>
                      <a:prstDash val="solid"/>
                      <a:round/>
                      <a:headEnd type="none" w="med" len="med"/>
                      <a:tailEnd type="none" w="med" len="med"/>
                    </a:lnB>
                    <a:solidFill>
                      <a:srgbClr val="FFFFFF"/>
                    </a:solidFill>
                  </a:tcPr>
                </a:tc>
                <a:tc>
                  <a:txBody>
                    <a:bodyPr/>
                    <a:lstStyle/>
                    <a:p>
                      <a:pPr marL="0" indent="0">
                        <a:buNone/>
                      </a:pPr>
                      <a:r>
                        <a:rPr lang="en-US" sz="950" dirty="0">
                          <a:solidFill>
                            <a:srgbClr val="2C2C2C"/>
                          </a:solidFill>
                          <a:latin typeface="Calibri" pitchFamily="34" charset="0"/>
                          <a:ea typeface="Calibri" pitchFamily="34" charset="-122"/>
                          <a:cs typeface="Calibri" pitchFamily="34" charset="-120"/>
                        </a:rPr>
                        <a:t>Email: john@example.com</a:t>
                      </a:r>
                      <a:endParaRPr lang="en-US" sz="950" dirty="0">
                        <a:latin typeface="Calibri" charset="0"/>
                        <a:ea typeface="Calibri" charset="0"/>
                        <a:cs typeface="Calibri" charset="0"/>
                      </a:endParaRPr>
                    </a:p>
                    <a:p>
                      <a:pPr marL="0" indent="0">
                        <a:buNone/>
                      </a:pPr>
                      <a:r>
                        <a:rPr lang="en-US" sz="950" dirty="0">
                          <a:solidFill>
                            <a:srgbClr val="2C2C2C"/>
                          </a:solidFill>
                          <a:latin typeface="Calibri" pitchFamily="34" charset="0"/>
                          <a:ea typeface="Calibri" pitchFamily="34" charset="-122"/>
                          <a:cs typeface="Calibri" pitchFamily="34" charset="-120"/>
                        </a:rPr>
                        <a:t>Pass: SecurePass@123</a:t>
                      </a:r>
                      <a:endParaRPr lang="en-US" sz="950" dirty="0">
                        <a:latin typeface="Calibri" charset="0"/>
                        <a:ea typeface="Calibri" charset="0"/>
                        <a:cs typeface="Calibri" charset="0"/>
                      </a:endParaRPr>
                    </a:p>
                  </a:txBody>
                  <a:tcPr marL="38100" marR="38100" marT="38100" marB="38100">
                    <a:lnL w="12700" cap="flat" cmpd="sng" algn="ctr">
                      <a:solidFill>
                        <a:srgbClr val="DEDEDE"/>
                      </a:solidFill>
                      <a:prstDash val="solid"/>
                      <a:round/>
                      <a:headEnd type="none" w="med" len="med"/>
                      <a:tailEnd type="none" w="med" len="med"/>
                    </a:lnL>
                    <a:lnR w="12700" cap="flat" cmpd="sng" algn="ctr">
                      <a:solidFill>
                        <a:srgbClr val="DEDEDE"/>
                      </a:solidFill>
                      <a:prstDash val="solid"/>
                      <a:round/>
                      <a:headEnd type="none" w="med" len="med"/>
                      <a:tailEnd type="none" w="med" len="med"/>
                    </a:lnR>
                    <a:lnT w="12700" cap="flat" cmpd="sng" algn="ctr">
                      <a:solidFill>
                        <a:srgbClr val="DEDEDE"/>
                      </a:solidFill>
                      <a:prstDash val="solid"/>
                      <a:round/>
                      <a:headEnd type="none" w="med" len="med"/>
                      <a:tailEnd type="none" w="med" len="med"/>
                    </a:lnT>
                    <a:lnB w="12700" cap="flat" cmpd="sng" algn="ctr">
                      <a:solidFill>
                        <a:srgbClr val="DEDEDE"/>
                      </a:solidFill>
                      <a:prstDash val="solid"/>
                      <a:round/>
                      <a:headEnd type="none" w="med" len="med"/>
                      <a:tailEnd type="none" w="med" len="med"/>
                    </a:lnB>
                    <a:solidFill>
                      <a:srgbClr val="FFFFFF"/>
                    </a:solidFill>
                  </a:tcPr>
                </a:tc>
                <a:tc>
                  <a:txBody>
                    <a:bodyPr/>
                    <a:lstStyle/>
                    <a:p>
                      <a:pPr marL="0" indent="0">
                        <a:buNone/>
                      </a:pPr>
                      <a:r>
                        <a:rPr lang="en-US" sz="950" dirty="0">
                          <a:solidFill>
                            <a:srgbClr val="2C2C2C"/>
                          </a:solidFill>
                          <a:latin typeface="Calibri" pitchFamily="34" charset="0"/>
                          <a:ea typeface="Calibri" pitchFamily="34" charset="-122"/>
                          <a:cs typeface="Calibri" pitchFamily="34" charset="-120"/>
                        </a:rPr>
                        <a:t>Email: john@example.com</a:t>
                      </a:r>
                      <a:endParaRPr lang="en-US" sz="950" dirty="0">
                        <a:latin typeface="Calibri" charset="0"/>
                        <a:ea typeface="Calibri" charset="0"/>
                        <a:cs typeface="Calibri" charset="0"/>
                      </a:endParaRPr>
                    </a:p>
                    <a:p>
                      <a:pPr marL="0" indent="0">
                        <a:buNone/>
                      </a:pPr>
                      <a:r>
                        <a:rPr lang="en-US" sz="950" dirty="0">
                          <a:solidFill>
                            <a:srgbClr val="2C2C2C"/>
                          </a:solidFill>
                          <a:latin typeface="Calibri" pitchFamily="34" charset="0"/>
                          <a:ea typeface="Calibri" pitchFamily="34" charset="-122"/>
                          <a:cs typeface="Calibri" pitchFamily="34" charset="-120"/>
                        </a:rPr>
                        <a:t>Pass: WrongPass999</a:t>
                      </a:r>
                      <a:endParaRPr lang="en-US" sz="950" dirty="0">
                        <a:latin typeface="Calibri" charset="0"/>
                        <a:ea typeface="Calibri" charset="0"/>
                        <a:cs typeface="Calibri" charset="0"/>
                      </a:endParaRPr>
                    </a:p>
                  </a:txBody>
                  <a:tcPr marL="38100" marR="38100" marT="38100" marB="38100">
                    <a:lnL w="12700" cap="flat" cmpd="sng" algn="ctr">
                      <a:solidFill>
                        <a:srgbClr val="DEDEDE"/>
                      </a:solidFill>
                      <a:prstDash val="solid"/>
                      <a:round/>
                      <a:headEnd type="none" w="med" len="med"/>
                      <a:tailEnd type="none" w="med" len="med"/>
                    </a:lnL>
                    <a:lnR w="12700" cap="flat" cmpd="sng" algn="ctr">
                      <a:solidFill>
                        <a:srgbClr val="DEDEDE"/>
                      </a:solidFill>
                      <a:prstDash val="solid"/>
                      <a:round/>
                      <a:headEnd type="none" w="med" len="med"/>
                      <a:tailEnd type="none" w="med" len="med"/>
                    </a:lnR>
                    <a:lnT w="12700" cap="flat" cmpd="sng" algn="ctr">
                      <a:solidFill>
                        <a:srgbClr val="DEDEDE"/>
                      </a:solidFill>
                      <a:prstDash val="solid"/>
                      <a:round/>
                      <a:headEnd type="none" w="med" len="med"/>
                      <a:tailEnd type="none" w="med" len="med"/>
                    </a:lnT>
                    <a:lnB w="12700" cap="flat" cmpd="sng" algn="ctr">
                      <a:solidFill>
                        <a:srgbClr val="DEDEDE"/>
                      </a:solidFill>
                      <a:prstDash val="solid"/>
                      <a:round/>
                      <a:headEnd type="none" w="med" len="med"/>
                      <a:tailEnd type="none" w="med" len="med"/>
                    </a:lnB>
                    <a:solidFill>
                      <a:srgbClr val="FFFFFF"/>
                    </a:solidFill>
                  </a:tcPr>
                </a:tc>
                <a:tc>
                  <a:txBody>
                    <a:bodyPr/>
                    <a:lstStyle/>
                    <a:p>
                      <a:pPr marL="0" indent="0">
                        <a:buNone/>
                      </a:pPr>
                      <a:r>
                        <a:rPr lang="en-US" sz="950" dirty="0">
                          <a:solidFill>
                            <a:srgbClr val="2C2C2C"/>
                          </a:solidFill>
                          <a:latin typeface="Calibri" pitchFamily="34" charset="0"/>
                          <a:ea typeface="Calibri" pitchFamily="34" charset="-122"/>
                          <a:cs typeface="Calibri" pitchFamily="34" charset="-120"/>
                        </a:rPr>
                        <a:t>Email: (empty)</a:t>
                      </a:r>
                      <a:endParaRPr lang="en-US" sz="950" dirty="0">
                        <a:latin typeface="Calibri" charset="0"/>
                        <a:ea typeface="Calibri" charset="0"/>
                        <a:cs typeface="Calibri" charset="0"/>
                      </a:endParaRPr>
                    </a:p>
                    <a:p>
                      <a:pPr marL="0" indent="0">
                        <a:buNone/>
                      </a:pPr>
                      <a:r>
                        <a:rPr lang="en-US" sz="950" dirty="0">
                          <a:solidFill>
                            <a:srgbClr val="2C2C2C"/>
                          </a:solidFill>
                          <a:latin typeface="Calibri" pitchFamily="34" charset="0"/>
                          <a:ea typeface="Calibri" pitchFamily="34" charset="-122"/>
                          <a:cs typeface="Calibri" pitchFamily="34" charset="-120"/>
                        </a:rPr>
                        <a:t>Pass: SecurePass@123</a:t>
                      </a:r>
                      <a:endParaRPr lang="en-US" sz="950" dirty="0">
                        <a:latin typeface="Calibri" charset="0"/>
                        <a:ea typeface="Calibri" charset="0"/>
                        <a:cs typeface="Calibri" charset="0"/>
                      </a:endParaRPr>
                    </a:p>
                  </a:txBody>
                  <a:tcPr marL="38100" marR="38100" marT="38100" marB="38100">
                    <a:lnL w="12700" cap="flat" cmpd="sng" algn="ctr">
                      <a:solidFill>
                        <a:srgbClr val="DEDEDE"/>
                      </a:solidFill>
                      <a:prstDash val="solid"/>
                      <a:round/>
                      <a:headEnd type="none" w="med" len="med"/>
                      <a:tailEnd type="none" w="med" len="med"/>
                    </a:lnL>
                    <a:lnR w="12700" cap="flat" cmpd="sng" algn="ctr">
                      <a:solidFill>
                        <a:srgbClr val="DEDEDE"/>
                      </a:solidFill>
                      <a:prstDash val="solid"/>
                      <a:round/>
                      <a:headEnd type="none" w="med" len="med"/>
                      <a:tailEnd type="none" w="med" len="med"/>
                    </a:lnR>
                    <a:lnT w="12700" cap="flat" cmpd="sng" algn="ctr">
                      <a:solidFill>
                        <a:srgbClr val="DEDEDE"/>
                      </a:solidFill>
                      <a:prstDash val="solid"/>
                      <a:round/>
                      <a:headEnd type="none" w="med" len="med"/>
                      <a:tailEnd type="none" w="med" len="med"/>
                    </a:lnT>
                    <a:lnB w="12700" cap="flat" cmpd="sng" algn="ctr">
                      <a:solidFill>
                        <a:srgbClr val="DEDEDE"/>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384048">
                <a:tc>
                  <a:txBody>
                    <a:bodyPr/>
                    <a:lstStyle/>
                    <a:p>
                      <a:pPr marL="0" indent="0">
                        <a:buNone/>
                      </a:pPr>
                      <a:r>
                        <a:rPr lang="en-US" sz="950" dirty="0">
                          <a:solidFill>
                            <a:srgbClr val="2C2C2C"/>
                          </a:solidFill>
                          <a:latin typeface="Calibri" pitchFamily="34" charset="0"/>
                          <a:ea typeface="Calibri" pitchFamily="34" charset="-122"/>
                          <a:cs typeface="Calibri" pitchFamily="34" charset="-120"/>
                        </a:rPr>
                        <a:t>Expected Result</a:t>
                      </a:r>
                      <a:endParaRPr lang="en-US" sz="950" dirty="0">
                        <a:latin typeface="Calibri" charset="0"/>
                        <a:ea typeface="Calibri" charset="0"/>
                        <a:cs typeface="Calibri" charset="0"/>
                      </a:endParaRPr>
                    </a:p>
                  </a:txBody>
                  <a:tcPr marL="38100" marR="38100" marT="38100" marB="38100">
                    <a:lnL w="12700" cap="flat" cmpd="sng" algn="ctr">
                      <a:solidFill>
                        <a:srgbClr val="DEDEDE"/>
                      </a:solidFill>
                      <a:prstDash val="solid"/>
                      <a:round/>
                      <a:headEnd type="none" w="med" len="med"/>
                      <a:tailEnd type="none" w="med" len="med"/>
                    </a:lnL>
                    <a:lnR w="12700" cap="flat" cmpd="sng" algn="ctr">
                      <a:solidFill>
                        <a:srgbClr val="DEDEDE"/>
                      </a:solidFill>
                      <a:prstDash val="solid"/>
                      <a:round/>
                      <a:headEnd type="none" w="med" len="med"/>
                      <a:tailEnd type="none" w="med" len="med"/>
                    </a:lnR>
                    <a:lnT w="12700" cap="flat" cmpd="sng" algn="ctr">
                      <a:solidFill>
                        <a:srgbClr val="DEDEDE"/>
                      </a:solidFill>
                      <a:prstDash val="solid"/>
                      <a:round/>
                      <a:headEnd type="none" w="med" len="med"/>
                      <a:tailEnd type="none" w="med" len="med"/>
                    </a:lnT>
                    <a:lnB w="12700" cap="flat" cmpd="sng" algn="ctr">
                      <a:solidFill>
                        <a:srgbClr val="DEDEDE"/>
                      </a:solidFill>
                      <a:prstDash val="solid"/>
                      <a:round/>
                      <a:headEnd type="none" w="med" len="med"/>
                      <a:tailEnd type="none" w="med" len="med"/>
                    </a:lnB>
                    <a:solidFill>
                      <a:srgbClr val="F0F0F0"/>
                    </a:solidFill>
                  </a:tcPr>
                </a:tc>
                <a:tc>
                  <a:txBody>
                    <a:bodyPr/>
                    <a:lstStyle/>
                    <a:p>
                      <a:pPr marL="0" indent="0">
                        <a:buNone/>
                      </a:pPr>
                      <a:r>
                        <a:rPr lang="en-US" sz="950" dirty="0">
                          <a:solidFill>
                            <a:srgbClr val="2C2C2C"/>
                          </a:solidFill>
                          <a:latin typeface="Calibri" pitchFamily="34" charset="0"/>
                          <a:ea typeface="Calibri" pitchFamily="34" charset="-122"/>
                          <a:cs typeface="Calibri" pitchFamily="34" charset="-120"/>
                        </a:rPr>
                        <a:t>User redirected to Dashboard. Welcome, John! message shown.</a:t>
                      </a:r>
                      <a:endParaRPr lang="en-US" sz="950" dirty="0">
                        <a:latin typeface="Calibri" charset="0"/>
                        <a:ea typeface="Calibri" charset="0"/>
                        <a:cs typeface="Calibri" charset="0"/>
                      </a:endParaRPr>
                    </a:p>
                  </a:txBody>
                  <a:tcPr marL="38100" marR="38100" marT="38100" marB="38100">
                    <a:lnL w="12700" cap="flat" cmpd="sng" algn="ctr">
                      <a:solidFill>
                        <a:srgbClr val="DEDEDE"/>
                      </a:solidFill>
                      <a:prstDash val="solid"/>
                      <a:round/>
                      <a:headEnd type="none" w="med" len="med"/>
                      <a:tailEnd type="none" w="med" len="med"/>
                    </a:lnL>
                    <a:lnR w="12700" cap="flat" cmpd="sng" algn="ctr">
                      <a:solidFill>
                        <a:srgbClr val="DEDEDE"/>
                      </a:solidFill>
                      <a:prstDash val="solid"/>
                      <a:round/>
                      <a:headEnd type="none" w="med" len="med"/>
                      <a:tailEnd type="none" w="med" len="med"/>
                    </a:lnR>
                    <a:lnT w="12700" cap="flat" cmpd="sng" algn="ctr">
                      <a:solidFill>
                        <a:srgbClr val="DEDEDE"/>
                      </a:solidFill>
                      <a:prstDash val="solid"/>
                      <a:round/>
                      <a:headEnd type="none" w="med" len="med"/>
                      <a:tailEnd type="none" w="med" len="med"/>
                    </a:lnT>
                    <a:lnB w="12700" cap="flat" cmpd="sng" algn="ctr">
                      <a:solidFill>
                        <a:srgbClr val="DEDEDE"/>
                      </a:solidFill>
                      <a:prstDash val="solid"/>
                      <a:round/>
                      <a:headEnd type="none" w="med" len="med"/>
                      <a:tailEnd type="none" w="med" len="med"/>
                    </a:lnB>
                    <a:solidFill>
                      <a:srgbClr val="F0F0F0"/>
                    </a:solidFill>
                  </a:tcPr>
                </a:tc>
                <a:tc>
                  <a:txBody>
                    <a:bodyPr/>
                    <a:lstStyle/>
                    <a:p>
                      <a:pPr marL="0" indent="0">
                        <a:buNone/>
                      </a:pPr>
                      <a:r>
                        <a:rPr lang="en-US" sz="950" dirty="0">
                          <a:solidFill>
                            <a:srgbClr val="2C2C2C"/>
                          </a:solidFill>
                          <a:latin typeface="Calibri" pitchFamily="34" charset="0"/>
                          <a:ea typeface="Calibri" pitchFamily="34" charset="-122"/>
                          <a:cs typeface="Calibri" pitchFamily="34" charset="-120"/>
                        </a:rPr>
                        <a:t>Error displayed: 'Invalid email or password'. User stays on login page.</a:t>
                      </a:r>
                      <a:endParaRPr lang="en-US" sz="950" dirty="0">
                        <a:latin typeface="Calibri" charset="0"/>
                        <a:ea typeface="Calibri" charset="0"/>
                        <a:cs typeface="Calibri" charset="0"/>
                      </a:endParaRPr>
                    </a:p>
                  </a:txBody>
                  <a:tcPr marL="38100" marR="38100" marT="38100" marB="38100">
                    <a:lnL w="12700" cap="flat" cmpd="sng" algn="ctr">
                      <a:solidFill>
                        <a:srgbClr val="DEDEDE"/>
                      </a:solidFill>
                      <a:prstDash val="solid"/>
                      <a:round/>
                      <a:headEnd type="none" w="med" len="med"/>
                      <a:tailEnd type="none" w="med" len="med"/>
                    </a:lnL>
                    <a:lnR w="12700" cap="flat" cmpd="sng" algn="ctr">
                      <a:solidFill>
                        <a:srgbClr val="DEDEDE"/>
                      </a:solidFill>
                      <a:prstDash val="solid"/>
                      <a:round/>
                      <a:headEnd type="none" w="med" len="med"/>
                      <a:tailEnd type="none" w="med" len="med"/>
                    </a:lnR>
                    <a:lnT w="12700" cap="flat" cmpd="sng" algn="ctr">
                      <a:solidFill>
                        <a:srgbClr val="DEDEDE"/>
                      </a:solidFill>
                      <a:prstDash val="solid"/>
                      <a:round/>
                      <a:headEnd type="none" w="med" len="med"/>
                      <a:tailEnd type="none" w="med" len="med"/>
                    </a:lnT>
                    <a:lnB w="12700" cap="flat" cmpd="sng" algn="ctr">
                      <a:solidFill>
                        <a:srgbClr val="DEDEDE"/>
                      </a:solidFill>
                      <a:prstDash val="solid"/>
                      <a:round/>
                      <a:headEnd type="none" w="med" len="med"/>
                      <a:tailEnd type="none" w="med" len="med"/>
                    </a:lnB>
                    <a:solidFill>
                      <a:srgbClr val="F0F0F0"/>
                    </a:solidFill>
                  </a:tcPr>
                </a:tc>
                <a:tc>
                  <a:txBody>
                    <a:bodyPr/>
                    <a:lstStyle/>
                    <a:p>
                      <a:pPr marL="0" indent="0">
                        <a:buNone/>
                      </a:pPr>
                      <a:r>
                        <a:rPr lang="en-US" sz="950" dirty="0">
                          <a:solidFill>
                            <a:srgbClr val="2C2C2C"/>
                          </a:solidFill>
                          <a:latin typeface="Calibri" pitchFamily="34" charset="0"/>
                          <a:ea typeface="Calibri" pitchFamily="34" charset="-122"/>
                          <a:cs typeface="Calibri" pitchFamily="34" charset="-120"/>
                        </a:rPr>
                        <a:t>Validation error: 'Email is required'. Login button remains inactive.</a:t>
                      </a:r>
                      <a:endParaRPr lang="en-US" sz="950" dirty="0">
                        <a:latin typeface="Calibri" charset="0"/>
                        <a:ea typeface="Calibri" charset="0"/>
                        <a:cs typeface="Calibri" charset="0"/>
                      </a:endParaRPr>
                    </a:p>
                  </a:txBody>
                  <a:tcPr marL="38100" marR="38100" marT="38100" marB="38100">
                    <a:lnL w="12700" cap="flat" cmpd="sng" algn="ctr">
                      <a:solidFill>
                        <a:srgbClr val="DEDEDE"/>
                      </a:solidFill>
                      <a:prstDash val="solid"/>
                      <a:round/>
                      <a:headEnd type="none" w="med" len="med"/>
                      <a:tailEnd type="none" w="med" len="med"/>
                    </a:lnL>
                    <a:lnR w="12700" cap="flat" cmpd="sng" algn="ctr">
                      <a:solidFill>
                        <a:srgbClr val="DEDEDE"/>
                      </a:solidFill>
                      <a:prstDash val="solid"/>
                      <a:round/>
                      <a:headEnd type="none" w="med" len="med"/>
                      <a:tailEnd type="none" w="med" len="med"/>
                    </a:lnR>
                    <a:lnT w="12700" cap="flat" cmpd="sng" algn="ctr">
                      <a:solidFill>
                        <a:srgbClr val="DEDEDE"/>
                      </a:solidFill>
                      <a:prstDash val="solid"/>
                      <a:round/>
                      <a:headEnd type="none" w="med" len="med"/>
                      <a:tailEnd type="none" w="med" len="med"/>
                    </a:lnT>
                    <a:lnB w="12700" cap="flat" cmpd="sng" algn="ctr">
                      <a:solidFill>
                        <a:srgbClr val="DEDEDE"/>
                      </a:solidFill>
                      <a:prstDash val="solid"/>
                      <a:round/>
                      <a:headEnd type="none" w="med" len="med"/>
                      <a:tailEnd type="none" w="med" len="med"/>
                    </a:lnB>
                    <a:solidFill>
                      <a:srgbClr val="F0F0F0"/>
                    </a:solidFill>
                  </a:tcPr>
                </a:tc>
                <a:extLst>
                  <a:ext uri="{0D108BD9-81ED-4DB2-BD59-A6C34878D82A}">
                    <a16:rowId xmlns:a16="http://schemas.microsoft.com/office/drawing/2014/main" val="10006"/>
                  </a:ext>
                </a:extLst>
              </a:tr>
              <a:tr h="384048">
                <a:tc>
                  <a:txBody>
                    <a:bodyPr/>
                    <a:lstStyle/>
                    <a:p>
                      <a:pPr marL="0" indent="0">
                        <a:buNone/>
                      </a:pPr>
                      <a:r>
                        <a:rPr lang="en-US" sz="950" dirty="0">
                          <a:solidFill>
                            <a:srgbClr val="2C2C2C"/>
                          </a:solidFill>
                          <a:latin typeface="Calibri" pitchFamily="34" charset="0"/>
                          <a:ea typeface="Calibri" pitchFamily="34" charset="-122"/>
                          <a:cs typeface="Calibri" pitchFamily="34" charset="-120"/>
                        </a:rPr>
                        <a:t>Actual Result</a:t>
                      </a:r>
                      <a:endParaRPr lang="en-US" sz="950" dirty="0">
                        <a:latin typeface="Calibri" charset="0"/>
                        <a:ea typeface="Calibri" charset="0"/>
                        <a:cs typeface="Calibri" charset="0"/>
                      </a:endParaRPr>
                    </a:p>
                  </a:txBody>
                  <a:tcPr marL="38100" marR="38100" marT="38100" marB="38100">
                    <a:lnL w="12700" cap="flat" cmpd="sng" algn="ctr">
                      <a:solidFill>
                        <a:srgbClr val="DEDEDE"/>
                      </a:solidFill>
                      <a:prstDash val="solid"/>
                      <a:round/>
                      <a:headEnd type="none" w="med" len="med"/>
                      <a:tailEnd type="none" w="med" len="med"/>
                    </a:lnL>
                    <a:lnR w="12700" cap="flat" cmpd="sng" algn="ctr">
                      <a:solidFill>
                        <a:srgbClr val="DEDEDE"/>
                      </a:solidFill>
                      <a:prstDash val="solid"/>
                      <a:round/>
                      <a:headEnd type="none" w="med" len="med"/>
                      <a:tailEnd type="none" w="med" len="med"/>
                    </a:lnR>
                    <a:lnT w="12700" cap="flat" cmpd="sng" algn="ctr">
                      <a:solidFill>
                        <a:srgbClr val="DEDEDE"/>
                      </a:solidFill>
                      <a:prstDash val="solid"/>
                      <a:round/>
                      <a:headEnd type="none" w="med" len="med"/>
                      <a:tailEnd type="none" w="med" len="med"/>
                    </a:lnT>
                    <a:lnB w="12700" cap="flat" cmpd="sng" algn="ctr">
                      <a:solidFill>
                        <a:srgbClr val="DEDEDE"/>
                      </a:solidFill>
                      <a:prstDash val="solid"/>
                      <a:round/>
                      <a:headEnd type="none" w="med" len="med"/>
                      <a:tailEnd type="none" w="med" len="med"/>
                    </a:lnB>
                    <a:solidFill>
                      <a:srgbClr val="FFFFFF"/>
                    </a:solidFill>
                  </a:tcPr>
                </a:tc>
                <a:tc>
                  <a:txBody>
                    <a:bodyPr/>
                    <a:lstStyle/>
                    <a:p>
                      <a:pPr marL="0" indent="0">
                        <a:buNone/>
                      </a:pPr>
                      <a:r>
                        <a:rPr lang="en-US" sz="950" dirty="0">
                          <a:solidFill>
                            <a:srgbClr val="2C2C2C"/>
                          </a:solidFill>
                          <a:latin typeface="Calibri" pitchFamily="34" charset="0"/>
                          <a:ea typeface="Calibri" pitchFamily="34" charset="-122"/>
                          <a:cs typeface="Calibri" pitchFamily="34" charset="-120"/>
                        </a:rPr>
                        <a:t>User redirected to Dashboard as expected</a:t>
                      </a:r>
                      <a:endParaRPr lang="en-US" sz="950" dirty="0">
                        <a:latin typeface="Calibri" charset="0"/>
                        <a:ea typeface="Calibri" charset="0"/>
                        <a:cs typeface="Calibri" charset="0"/>
                      </a:endParaRPr>
                    </a:p>
                  </a:txBody>
                  <a:tcPr marL="38100" marR="38100" marT="38100" marB="38100">
                    <a:lnL w="12700" cap="flat" cmpd="sng" algn="ctr">
                      <a:solidFill>
                        <a:srgbClr val="DEDEDE"/>
                      </a:solidFill>
                      <a:prstDash val="solid"/>
                      <a:round/>
                      <a:headEnd type="none" w="med" len="med"/>
                      <a:tailEnd type="none" w="med" len="med"/>
                    </a:lnL>
                    <a:lnR w="12700" cap="flat" cmpd="sng" algn="ctr">
                      <a:solidFill>
                        <a:srgbClr val="DEDEDE"/>
                      </a:solidFill>
                      <a:prstDash val="solid"/>
                      <a:round/>
                      <a:headEnd type="none" w="med" len="med"/>
                      <a:tailEnd type="none" w="med" len="med"/>
                    </a:lnR>
                    <a:lnT w="12700" cap="flat" cmpd="sng" algn="ctr">
                      <a:solidFill>
                        <a:srgbClr val="DEDEDE"/>
                      </a:solidFill>
                      <a:prstDash val="solid"/>
                      <a:round/>
                      <a:headEnd type="none" w="med" len="med"/>
                      <a:tailEnd type="none" w="med" len="med"/>
                    </a:lnT>
                    <a:lnB w="12700" cap="flat" cmpd="sng" algn="ctr">
                      <a:solidFill>
                        <a:srgbClr val="DEDEDE"/>
                      </a:solidFill>
                      <a:prstDash val="solid"/>
                      <a:round/>
                      <a:headEnd type="none" w="med" len="med"/>
                      <a:tailEnd type="none" w="med" len="med"/>
                    </a:lnB>
                    <a:solidFill>
                      <a:srgbClr val="FFFFFF"/>
                    </a:solidFill>
                  </a:tcPr>
                </a:tc>
                <a:tc>
                  <a:txBody>
                    <a:bodyPr/>
                    <a:lstStyle/>
                    <a:p>
                      <a:pPr marL="0" indent="0">
                        <a:buNone/>
                      </a:pPr>
                      <a:r>
                        <a:rPr lang="en-US" sz="950" dirty="0">
                          <a:solidFill>
                            <a:srgbClr val="2C2C2C"/>
                          </a:solidFill>
                          <a:latin typeface="Calibri" pitchFamily="34" charset="0"/>
                          <a:ea typeface="Calibri" pitchFamily="34" charset="-122"/>
                          <a:cs typeface="Calibri" pitchFamily="34" charset="-120"/>
                        </a:rPr>
                        <a:t>Error message displayed as expected</a:t>
                      </a:r>
                      <a:endParaRPr lang="en-US" sz="950" dirty="0">
                        <a:latin typeface="Calibri" charset="0"/>
                        <a:ea typeface="Calibri" charset="0"/>
                        <a:cs typeface="Calibri" charset="0"/>
                      </a:endParaRPr>
                    </a:p>
                  </a:txBody>
                  <a:tcPr marL="38100" marR="38100" marT="38100" marB="38100">
                    <a:lnL w="12700" cap="flat" cmpd="sng" algn="ctr">
                      <a:solidFill>
                        <a:srgbClr val="DEDEDE"/>
                      </a:solidFill>
                      <a:prstDash val="solid"/>
                      <a:round/>
                      <a:headEnd type="none" w="med" len="med"/>
                      <a:tailEnd type="none" w="med" len="med"/>
                    </a:lnL>
                    <a:lnR w="12700" cap="flat" cmpd="sng" algn="ctr">
                      <a:solidFill>
                        <a:srgbClr val="DEDEDE"/>
                      </a:solidFill>
                      <a:prstDash val="solid"/>
                      <a:round/>
                      <a:headEnd type="none" w="med" len="med"/>
                      <a:tailEnd type="none" w="med" len="med"/>
                    </a:lnR>
                    <a:lnT w="12700" cap="flat" cmpd="sng" algn="ctr">
                      <a:solidFill>
                        <a:srgbClr val="DEDEDE"/>
                      </a:solidFill>
                      <a:prstDash val="solid"/>
                      <a:round/>
                      <a:headEnd type="none" w="med" len="med"/>
                      <a:tailEnd type="none" w="med" len="med"/>
                    </a:lnT>
                    <a:lnB w="12700" cap="flat" cmpd="sng" algn="ctr">
                      <a:solidFill>
                        <a:srgbClr val="DEDEDE"/>
                      </a:solidFill>
                      <a:prstDash val="solid"/>
                      <a:round/>
                      <a:headEnd type="none" w="med" len="med"/>
                      <a:tailEnd type="none" w="med" len="med"/>
                    </a:lnB>
                    <a:solidFill>
                      <a:srgbClr val="FFFFFF"/>
                    </a:solidFill>
                  </a:tcPr>
                </a:tc>
                <a:tc>
                  <a:txBody>
                    <a:bodyPr/>
                    <a:lstStyle/>
                    <a:p>
                      <a:pPr marL="0" indent="0">
                        <a:buNone/>
                      </a:pPr>
                      <a:r>
                        <a:rPr lang="en-US" sz="950" dirty="0">
                          <a:solidFill>
                            <a:srgbClr val="2C2C2C"/>
                          </a:solidFill>
                          <a:latin typeface="Calibri" pitchFamily="34" charset="0"/>
                          <a:ea typeface="Calibri" pitchFamily="34" charset="-122"/>
                          <a:cs typeface="Calibri" pitchFamily="34" charset="-120"/>
                        </a:rPr>
                        <a:t>Validation error shown as expected</a:t>
                      </a:r>
                      <a:endParaRPr lang="en-US" sz="950" dirty="0">
                        <a:latin typeface="Calibri" charset="0"/>
                        <a:ea typeface="Calibri" charset="0"/>
                        <a:cs typeface="Calibri" charset="0"/>
                      </a:endParaRPr>
                    </a:p>
                  </a:txBody>
                  <a:tcPr marL="38100" marR="38100" marT="38100" marB="38100">
                    <a:lnL w="12700" cap="flat" cmpd="sng" algn="ctr">
                      <a:solidFill>
                        <a:srgbClr val="DEDEDE"/>
                      </a:solidFill>
                      <a:prstDash val="solid"/>
                      <a:round/>
                      <a:headEnd type="none" w="med" len="med"/>
                      <a:tailEnd type="none" w="med" len="med"/>
                    </a:lnL>
                    <a:lnR w="12700" cap="flat" cmpd="sng" algn="ctr">
                      <a:solidFill>
                        <a:srgbClr val="DEDEDE"/>
                      </a:solidFill>
                      <a:prstDash val="solid"/>
                      <a:round/>
                      <a:headEnd type="none" w="med" len="med"/>
                      <a:tailEnd type="none" w="med" len="med"/>
                    </a:lnR>
                    <a:lnT w="12700" cap="flat" cmpd="sng" algn="ctr">
                      <a:solidFill>
                        <a:srgbClr val="DEDEDE"/>
                      </a:solidFill>
                      <a:prstDash val="solid"/>
                      <a:round/>
                      <a:headEnd type="none" w="med" len="med"/>
                      <a:tailEnd type="none" w="med" len="med"/>
                    </a:lnT>
                    <a:lnB w="12700" cap="flat" cmpd="sng" algn="ctr">
                      <a:solidFill>
                        <a:srgbClr val="DEDEDE"/>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r h="384048">
                <a:tc>
                  <a:txBody>
                    <a:bodyPr/>
                    <a:lstStyle/>
                    <a:p>
                      <a:pPr marL="0" indent="0">
                        <a:buNone/>
                      </a:pPr>
                      <a:r>
                        <a:rPr lang="en-US" sz="950" b="1" dirty="0">
                          <a:solidFill>
                            <a:srgbClr val="2980B9"/>
                          </a:solidFill>
                          <a:latin typeface="Calibri" pitchFamily="34" charset="0"/>
                          <a:ea typeface="Calibri" pitchFamily="34" charset="-122"/>
                          <a:cs typeface="Calibri" pitchFamily="34" charset="-120"/>
                        </a:rPr>
                        <a:t>Status</a:t>
                      </a:r>
                      <a:endParaRPr lang="en-US" sz="950" dirty="0">
                        <a:latin typeface="Calibri" charset="0"/>
                        <a:ea typeface="Calibri" charset="0"/>
                        <a:cs typeface="Calibri" charset="0"/>
                      </a:endParaRPr>
                    </a:p>
                  </a:txBody>
                  <a:tcPr marL="38100" marR="38100" marT="38100" marB="38100">
                    <a:lnL w="12700" cap="flat" cmpd="sng" algn="ctr">
                      <a:solidFill>
                        <a:srgbClr val="DEDEDE"/>
                      </a:solidFill>
                      <a:prstDash val="solid"/>
                      <a:round/>
                      <a:headEnd type="none" w="med" len="med"/>
                      <a:tailEnd type="none" w="med" len="med"/>
                    </a:lnL>
                    <a:lnR w="12700" cap="flat" cmpd="sng" algn="ctr">
                      <a:solidFill>
                        <a:srgbClr val="DEDEDE"/>
                      </a:solidFill>
                      <a:prstDash val="solid"/>
                      <a:round/>
                      <a:headEnd type="none" w="med" len="med"/>
                      <a:tailEnd type="none" w="med" len="med"/>
                    </a:lnR>
                    <a:lnT w="12700" cap="flat" cmpd="sng" algn="ctr">
                      <a:solidFill>
                        <a:srgbClr val="DEDEDE"/>
                      </a:solidFill>
                      <a:prstDash val="solid"/>
                      <a:round/>
                      <a:headEnd type="none" w="med" len="med"/>
                      <a:tailEnd type="none" w="med" len="med"/>
                    </a:lnT>
                    <a:lnB w="12700" cap="flat" cmpd="sng" algn="ctr">
                      <a:solidFill>
                        <a:srgbClr val="DEDEDE"/>
                      </a:solidFill>
                      <a:prstDash val="solid"/>
                      <a:round/>
                      <a:headEnd type="none" w="med" len="med"/>
                      <a:tailEnd type="none" w="med" len="med"/>
                    </a:lnB>
                    <a:solidFill>
                      <a:srgbClr val="F0F0F0"/>
                    </a:solidFill>
                  </a:tcPr>
                </a:tc>
                <a:tc>
                  <a:txBody>
                    <a:bodyPr/>
                    <a:lstStyle/>
                    <a:p>
                      <a:pPr marL="0" indent="0">
                        <a:buNone/>
                      </a:pPr>
                      <a:r>
                        <a:rPr lang="en-US" sz="950" b="1" dirty="0">
                          <a:solidFill>
                            <a:srgbClr val="27AE60"/>
                          </a:solidFill>
                          <a:latin typeface="Calibri" pitchFamily="34" charset="0"/>
                          <a:ea typeface="Calibri" pitchFamily="34" charset="-122"/>
                          <a:cs typeface="Calibri" pitchFamily="34" charset="-120"/>
                        </a:rPr>
                        <a:t>Pass</a:t>
                      </a:r>
                      <a:endParaRPr lang="en-US" sz="950" dirty="0">
                        <a:latin typeface="Calibri" charset="0"/>
                        <a:ea typeface="Calibri" charset="0"/>
                        <a:cs typeface="Calibri" charset="0"/>
                      </a:endParaRPr>
                    </a:p>
                  </a:txBody>
                  <a:tcPr marL="38100" marR="38100" marT="38100" marB="38100">
                    <a:lnL w="12700" cap="flat" cmpd="sng" algn="ctr">
                      <a:solidFill>
                        <a:srgbClr val="DEDEDE"/>
                      </a:solidFill>
                      <a:prstDash val="solid"/>
                      <a:round/>
                      <a:headEnd type="none" w="med" len="med"/>
                      <a:tailEnd type="none" w="med" len="med"/>
                    </a:lnL>
                    <a:lnR w="12700" cap="flat" cmpd="sng" algn="ctr">
                      <a:solidFill>
                        <a:srgbClr val="DEDEDE"/>
                      </a:solidFill>
                      <a:prstDash val="solid"/>
                      <a:round/>
                      <a:headEnd type="none" w="med" len="med"/>
                      <a:tailEnd type="none" w="med" len="med"/>
                    </a:lnR>
                    <a:lnT w="12700" cap="flat" cmpd="sng" algn="ctr">
                      <a:solidFill>
                        <a:srgbClr val="DEDEDE"/>
                      </a:solidFill>
                      <a:prstDash val="solid"/>
                      <a:round/>
                      <a:headEnd type="none" w="med" len="med"/>
                      <a:tailEnd type="none" w="med" len="med"/>
                    </a:lnT>
                    <a:lnB w="12700" cap="flat" cmpd="sng" algn="ctr">
                      <a:solidFill>
                        <a:srgbClr val="DEDEDE"/>
                      </a:solidFill>
                      <a:prstDash val="solid"/>
                      <a:round/>
                      <a:headEnd type="none" w="med" len="med"/>
                      <a:tailEnd type="none" w="med" len="med"/>
                    </a:lnB>
                    <a:solidFill>
                      <a:srgbClr val="F0F0F0"/>
                    </a:solidFill>
                  </a:tcPr>
                </a:tc>
                <a:tc>
                  <a:txBody>
                    <a:bodyPr/>
                    <a:lstStyle/>
                    <a:p>
                      <a:pPr marL="0" indent="0">
                        <a:buNone/>
                      </a:pPr>
                      <a:r>
                        <a:rPr lang="en-US" sz="950" b="1" dirty="0">
                          <a:solidFill>
                            <a:srgbClr val="27AE60"/>
                          </a:solidFill>
                          <a:latin typeface="Calibri" pitchFamily="34" charset="0"/>
                          <a:ea typeface="Calibri" pitchFamily="34" charset="-122"/>
                          <a:cs typeface="Calibri" pitchFamily="34" charset="-120"/>
                        </a:rPr>
                        <a:t>Pass</a:t>
                      </a:r>
                      <a:endParaRPr lang="en-US" sz="950" dirty="0">
                        <a:latin typeface="Calibri" charset="0"/>
                        <a:ea typeface="Calibri" charset="0"/>
                        <a:cs typeface="Calibri" charset="0"/>
                      </a:endParaRPr>
                    </a:p>
                  </a:txBody>
                  <a:tcPr marL="38100" marR="38100" marT="38100" marB="38100">
                    <a:lnL w="12700" cap="flat" cmpd="sng" algn="ctr">
                      <a:solidFill>
                        <a:srgbClr val="DEDEDE"/>
                      </a:solidFill>
                      <a:prstDash val="solid"/>
                      <a:round/>
                      <a:headEnd type="none" w="med" len="med"/>
                      <a:tailEnd type="none" w="med" len="med"/>
                    </a:lnL>
                    <a:lnR w="12700" cap="flat" cmpd="sng" algn="ctr">
                      <a:solidFill>
                        <a:srgbClr val="DEDEDE"/>
                      </a:solidFill>
                      <a:prstDash val="solid"/>
                      <a:round/>
                      <a:headEnd type="none" w="med" len="med"/>
                      <a:tailEnd type="none" w="med" len="med"/>
                    </a:lnR>
                    <a:lnT w="12700" cap="flat" cmpd="sng" algn="ctr">
                      <a:solidFill>
                        <a:srgbClr val="DEDEDE"/>
                      </a:solidFill>
                      <a:prstDash val="solid"/>
                      <a:round/>
                      <a:headEnd type="none" w="med" len="med"/>
                      <a:tailEnd type="none" w="med" len="med"/>
                    </a:lnT>
                    <a:lnB w="12700" cap="flat" cmpd="sng" algn="ctr">
                      <a:solidFill>
                        <a:srgbClr val="DEDEDE"/>
                      </a:solidFill>
                      <a:prstDash val="solid"/>
                      <a:round/>
                      <a:headEnd type="none" w="med" len="med"/>
                      <a:tailEnd type="none" w="med" len="med"/>
                    </a:lnB>
                    <a:solidFill>
                      <a:srgbClr val="F0F0F0"/>
                    </a:solidFill>
                  </a:tcPr>
                </a:tc>
                <a:tc>
                  <a:txBody>
                    <a:bodyPr/>
                    <a:lstStyle/>
                    <a:p>
                      <a:pPr marL="0" indent="0">
                        <a:buNone/>
                      </a:pPr>
                      <a:r>
                        <a:rPr lang="en-US" sz="950" b="1" dirty="0">
                          <a:solidFill>
                            <a:srgbClr val="27AE60"/>
                          </a:solidFill>
                          <a:latin typeface="Calibri" pitchFamily="34" charset="0"/>
                          <a:ea typeface="Calibri" pitchFamily="34" charset="-122"/>
                          <a:cs typeface="Calibri" pitchFamily="34" charset="-120"/>
                        </a:rPr>
                        <a:t>Pass</a:t>
                      </a:r>
                      <a:endParaRPr lang="en-US" sz="950" dirty="0">
                        <a:latin typeface="Calibri" charset="0"/>
                        <a:ea typeface="Calibri" charset="0"/>
                        <a:cs typeface="Calibri" charset="0"/>
                      </a:endParaRPr>
                    </a:p>
                  </a:txBody>
                  <a:tcPr marL="38100" marR="38100" marT="38100" marB="38100">
                    <a:lnL w="12700" cap="flat" cmpd="sng" algn="ctr">
                      <a:solidFill>
                        <a:srgbClr val="DEDEDE"/>
                      </a:solidFill>
                      <a:prstDash val="solid"/>
                      <a:round/>
                      <a:headEnd type="none" w="med" len="med"/>
                      <a:tailEnd type="none" w="med" len="med"/>
                    </a:lnL>
                    <a:lnR w="12700" cap="flat" cmpd="sng" algn="ctr">
                      <a:solidFill>
                        <a:srgbClr val="DEDEDE"/>
                      </a:solidFill>
                      <a:prstDash val="solid"/>
                      <a:round/>
                      <a:headEnd type="none" w="med" len="med"/>
                      <a:tailEnd type="none" w="med" len="med"/>
                    </a:lnR>
                    <a:lnT w="12700" cap="flat" cmpd="sng" algn="ctr">
                      <a:solidFill>
                        <a:srgbClr val="DEDEDE"/>
                      </a:solidFill>
                      <a:prstDash val="solid"/>
                      <a:round/>
                      <a:headEnd type="none" w="med" len="med"/>
                      <a:tailEnd type="none" w="med" len="med"/>
                    </a:lnT>
                    <a:lnB w="12700" cap="flat" cmpd="sng" algn="ctr">
                      <a:solidFill>
                        <a:srgbClr val="DEDEDE"/>
                      </a:solidFill>
                      <a:prstDash val="solid"/>
                      <a:round/>
                      <a:headEnd type="none" w="med" len="med"/>
                      <a:tailEnd type="none" w="med" len="med"/>
                    </a:lnB>
                    <a:solidFill>
                      <a:srgbClr val="F0F0F0"/>
                    </a:solidFill>
                  </a:tcPr>
                </a:tc>
                <a:extLst>
                  <a:ext uri="{0D108BD9-81ED-4DB2-BD59-A6C34878D82A}">
                    <a16:rowId xmlns:a16="http://schemas.microsoft.com/office/drawing/2014/main" val="10008"/>
                  </a:ext>
                </a:extLst>
              </a:tr>
              <a:tr h="384048">
                <a:tc>
                  <a:txBody>
                    <a:bodyPr/>
                    <a:lstStyle/>
                    <a:p>
                      <a:pPr marL="0" indent="0">
                        <a:buNone/>
                      </a:pPr>
                      <a:r>
                        <a:rPr lang="en-US" sz="950" dirty="0">
                          <a:solidFill>
                            <a:srgbClr val="2C2C2C"/>
                          </a:solidFill>
                          <a:latin typeface="Calibri" pitchFamily="34" charset="0"/>
                          <a:ea typeface="Calibri" pitchFamily="34" charset="-122"/>
                          <a:cs typeface="Calibri" pitchFamily="34" charset="-120"/>
                        </a:rPr>
                        <a:t>Priority</a:t>
                      </a:r>
                      <a:endParaRPr lang="en-US" sz="950" dirty="0">
                        <a:latin typeface="Calibri" charset="0"/>
                        <a:ea typeface="Calibri" charset="0"/>
                        <a:cs typeface="Calibri" charset="0"/>
                      </a:endParaRPr>
                    </a:p>
                  </a:txBody>
                  <a:tcPr marL="38100" marR="38100" marT="38100" marB="38100">
                    <a:lnL w="12700" cap="flat" cmpd="sng" algn="ctr">
                      <a:solidFill>
                        <a:srgbClr val="DEDEDE"/>
                      </a:solidFill>
                      <a:prstDash val="solid"/>
                      <a:round/>
                      <a:headEnd type="none" w="med" len="med"/>
                      <a:tailEnd type="none" w="med" len="med"/>
                    </a:lnL>
                    <a:lnR w="12700" cap="flat" cmpd="sng" algn="ctr">
                      <a:solidFill>
                        <a:srgbClr val="DEDEDE"/>
                      </a:solidFill>
                      <a:prstDash val="solid"/>
                      <a:round/>
                      <a:headEnd type="none" w="med" len="med"/>
                      <a:tailEnd type="none" w="med" len="med"/>
                    </a:lnR>
                    <a:lnT w="12700" cap="flat" cmpd="sng" algn="ctr">
                      <a:solidFill>
                        <a:srgbClr val="DEDEDE"/>
                      </a:solidFill>
                      <a:prstDash val="solid"/>
                      <a:round/>
                      <a:headEnd type="none" w="med" len="med"/>
                      <a:tailEnd type="none" w="med" len="med"/>
                    </a:lnT>
                    <a:lnB w="12700" cap="flat" cmpd="sng" algn="ctr">
                      <a:solidFill>
                        <a:srgbClr val="DEDEDE"/>
                      </a:solidFill>
                      <a:prstDash val="solid"/>
                      <a:round/>
                      <a:headEnd type="none" w="med" len="med"/>
                      <a:tailEnd type="none" w="med" len="med"/>
                    </a:lnB>
                    <a:solidFill>
                      <a:srgbClr val="FFFFFF"/>
                    </a:solidFill>
                  </a:tcPr>
                </a:tc>
                <a:tc>
                  <a:txBody>
                    <a:bodyPr/>
                    <a:lstStyle/>
                    <a:p>
                      <a:pPr marL="0" indent="0">
                        <a:buNone/>
                      </a:pPr>
                      <a:r>
                        <a:rPr lang="en-US" sz="950" dirty="0">
                          <a:solidFill>
                            <a:srgbClr val="2C2C2C"/>
                          </a:solidFill>
                          <a:latin typeface="Calibri" pitchFamily="34" charset="0"/>
                          <a:ea typeface="Calibri" pitchFamily="34" charset="-122"/>
                          <a:cs typeface="Calibri" pitchFamily="34" charset="-120"/>
                        </a:rPr>
                        <a:t>High</a:t>
                      </a:r>
                      <a:endParaRPr lang="en-US" sz="950" dirty="0">
                        <a:latin typeface="Calibri" charset="0"/>
                        <a:ea typeface="Calibri" charset="0"/>
                        <a:cs typeface="Calibri" charset="0"/>
                      </a:endParaRPr>
                    </a:p>
                  </a:txBody>
                  <a:tcPr marL="38100" marR="38100" marT="38100" marB="38100">
                    <a:lnL w="12700" cap="flat" cmpd="sng" algn="ctr">
                      <a:solidFill>
                        <a:srgbClr val="DEDEDE"/>
                      </a:solidFill>
                      <a:prstDash val="solid"/>
                      <a:round/>
                      <a:headEnd type="none" w="med" len="med"/>
                      <a:tailEnd type="none" w="med" len="med"/>
                    </a:lnL>
                    <a:lnR w="12700" cap="flat" cmpd="sng" algn="ctr">
                      <a:solidFill>
                        <a:srgbClr val="DEDEDE"/>
                      </a:solidFill>
                      <a:prstDash val="solid"/>
                      <a:round/>
                      <a:headEnd type="none" w="med" len="med"/>
                      <a:tailEnd type="none" w="med" len="med"/>
                    </a:lnR>
                    <a:lnT w="12700" cap="flat" cmpd="sng" algn="ctr">
                      <a:solidFill>
                        <a:srgbClr val="DEDEDE"/>
                      </a:solidFill>
                      <a:prstDash val="solid"/>
                      <a:round/>
                      <a:headEnd type="none" w="med" len="med"/>
                      <a:tailEnd type="none" w="med" len="med"/>
                    </a:lnT>
                    <a:lnB w="12700" cap="flat" cmpd="sng" algn="ctr">
                      <a:solidFill>
                        <a:srgbClr val="DEDEDE"/>
                      </a:solidFill>
                      <a:prstDash val="solid"/>
                      <a:round/>
                      <a:headEnd type="none" w="med" len="med"/>
                      <a:tailEnd type="none" w="med" len="med"/>
                    </a:lnB>
                    <a:solidFill>
                      <a:srgbClr val="FFFFFF"/>
                    </a:solidFill>
                  </a:tcPr>
                </a:tc>
                <a:tc>
                  <a:txBody>
                    <a:bodyPr/>
                    <a:lstStyle/>
                    <a:p>
                      <a:pPr marL="0" indent="0">
                        <a:buNone/>
                      </a:pPr>
                      <a:r>
                        <a:rPr lang="en-US" sz="950" dirty="0">
                          <a:solidFill>
                            <a:srgbClr val="2C2C2C"/>
                          </a:solidFill>
                          <a:latin typeface="Calibri" pitchFamily="34" charset="0"/>
                          <a:ea typeface="Calibri" pitchFamily="34" charset="-122"/>
                          <a:cs typeface="Calibri" pitchFamily="34" charset="-120"/>
                        </a:rPr>
                        <a:t>High</a:t>
                      </a:r>
                      <a:endParaRPr lang="en-US" sz="950" dirty="0">
                        <a:latin typeface="Calibri" charset="0"/>
                        <a:ea typeface="Calibri" charset="0"/>
                        <a:cs typeface="Calibri" charset="0"/>
                      </a:endParaRPr>
                    </a:p>
                  </a:txBody>
                  <a:tcPr marL="38100" marR="38100" marT="38100" marB="38100">
                    <a:lnL w="12700" cap="flat" cmpd="sng" algn="ctr">
                      <a:solidFill>
                        <a:srgbClr val="DEDEDE"/>
                      </a:solidFill>
                      <a:prstDash val="solid"/>
                      <a:round/>
                      <a:headEnd type="none" w="med" len="med"/>
                      <a:tailEnd type="none" w="med" len="med"/>
                    </a:lnL>
                    <a:lnR w="12700" cap="flat" cmpd="sng" algn="ctr">
                      <a:solidFill>
                        <a:srgbClr val="DEDEDE"/>
                      </a:solidFill>
                      <a:prstDash val="solid"/>
                      <a:round/>
                      <a:headEnd type="none" w="med" len="med"/>
                      <a:tailEnd type="none" w="med" len="med"/>
                    </a:lnR>
                    <a:lnT w="12700" cap="flat" cmpd="sng" algn="ctr">
                      <a:solidFill>
                        <a:srgbClr val="DEDEDE"/>
                      </a:solidFill>
                      <a:prstDash val="solid"/>
                      <a:round/>
                      <a:headEnd type="none" w="med" len="med"/>
                      <a:tailEnd type="none" w="med" len="med"/>
                    </a:lnT>
                    <a:lnB w="12700" cap="flat" cmpd="sng" algn="ctr">
                      <a:solidFill>
                        <a:srgbClr val="DEDEDE"/>
                      </a:solidFill>
                      <a:prstDash val="solid"/>
                      <a:round/>
                      <a:headEnd type="none" w="med" len="med"/>
                      <a:tailEnd type="none" w="med" len="med"/>
                    </a:lnB>
                    <a:solidFill>
                      <a:srgbClr val="FFFFFF"/>
                    </a:solidFill>
                  </a:tcPr>
                </a:tc>
                <a:tc>
                  <a:txBody>
                    <a:bodyPr/>
                    <a:lstStyle/>
                    <a:p>
                      <a:pPr marL="0" indent="0">
                        <a:buNone/>
                      </a:pPr>
                      <a:r>
                        <a:rPr lang="en-US" sz="950" dirty="0">
                          <a:solidFill>
                            <a:srgbClr val="2C2C2C"/>
                          </a:solidFill>
                          <a:latin typeface="Calibri" pitchFamily="34" charset="0"/>
                          <a:ea typeface="Calibri" pitchFamily="34" charset="-122"/>
                          <a:cs typeface="Calibri" pitchFamily="34" charset="-120"/>
                        </a:rPr>
                        <a:t>Medium</a:t>
                      </a:r>
                      <a:endParaRPr lang="en-US" sz="950" dirty="0">
                        <a:latin typeface="Calibri" charset="0"/>
                        <a:ea typeface="Calibri" charset="0"/>
                        <a:cs typeface="Calibri" charset="0"/>
                      </a:endParaRPr>
                    </a:p>
                  </a:txBody>
                  <a:tcPr marL="38100" marR="38100" marT="38100" marB="38100">
                    <a:lnL w="12700" cap="flat" cmpd="sng" algn="ctr">
                      <a:solidFill>
                        <a:srgbClr val="DEDEDE"/>
                      </a:solidFill>
                      <a:prstDash val="solid"/>
                      <a:round/>
                      <a:headEnd type="none" w="med" len="med"/>
                      <a:tailEnd type="none" w="med" len="med"/>
                    </a:lnL>
                    <a:lnR w="12700" cap="flat" cmpd="sng" algn="ctr">
                      <a:solidFill>
                        <a:srgbClr val="DEDEDE"/>
                      </a:solidFill>
                      <a:prstDash val="solid"/>
                      <a:round/>
                      <a:headEnd type="none" w="med" len="med"/>
                      <a:tailEnd type="none" w="med" len="med"/>
                    </a:lnR>
                    <a:lnT w="12700" cap="flat" cmpd="sng" algn="ctr">
                      <a:solidFill>
                        <a:srgbClr val="DEDEDE"/>
                      </a:solidFill>
                      <a:prstDash val="solid"/>
                      <a:round/>
                      <a:headEnd type="none" w="med" len="med"/>
                      <a:tailEnd type="none" w="med" len="med"/>
                    </a:lnT>
                    <a:lnB w="12700" cap="flat" cmpd="sng" algn="ctr">
                      <a:solidFill>
                        <a:srgbClr val="DEDEDE"/>
                      </a:solidFill>
                      <a:prstDash val="solid"/>
                      <a:round/>
                      <a:headEnd type="none" w="med" len="med"/>
                      <a:tailEnd type="none" w="med" len="med"/>
                    </a:lnB>
                    <a:solidFill>
                      <a:srgbClr val="FFFFFF"/>
                    </a:solidFill>
                  </a:tcPr>
                </a:tc>
                <a:extLst>
                  <a:ext uri="{0D108BD9-81ED-4DB2-BD59-A6C34878D82A}">
                    <a16:rowId xmlns:a16="http://schemas.microsoft.com/office/drawing/2014/main" val="10009"/>
                  </a:ext>
                </a:extLst>
              </a:tr>
              <a:tr h="384048">
                <a:tc>
                  <a:txBody>
                    <a:bodyPr/>
                    <a:lstStyle/>
                    <a:p>
                      <a:pPr marL="0" indent="0">
                        <a:buNone/>
                      </a:pPr>
                      <a:r>
                        <a:rPr lang="en-US" sz="950" dirty="0">
                          <a:solidFill>
                            <a:srgbClr val="2C2C2C"/>
                          </a:solidFill>
                          <a:latin typeface="Calibri" pitchFamily="34" charset="0"/>
                          <a:ea typeface="Calibri" pitchFamily="34" charset="-122"/>
                          <a:cs typeface="Calibri" pitchFamily="34" charset="-120"/>
                        </a:rPr>
                        <a:t>Severity</a:t>
                      </a:r>
                      <a:endParaRPr lang="en-US" sz="950" dirty="0">
                        <a:latin typeface="Calibri" charset="0"/>
                        <a:ea typeface="Calibri" charset="0"/>
                        <a:cs typeface="Calibri" charset="0"/>
                      </a:endParaRPr>
                    </a:p>
                  </a:txBody>
                  <a:tcPr marL="38100" marR="38100" marT="38100" marB="38100">
                    <a:lnL w="12700" cap="flat" cmpd="sng" algn="ctr">
                      <a:solidFill>
                        <a:srgbClr val="DEDEDE"/>
                      </a:solidFill>
                      <a:prstDash val="solid"/>
                      <a:round/>
                      <a:headEnd type="none" w="med" len="med"/>
                      <a:tailEnd type="none" w="med" len="med"/>
                    </a:lnL>
                    <a:lnR w="12700" cap="flat" cmpd="sng" algn="ctr">
                      <a:solidFill>
                        <a:srgbClr val="DEDEDE"/>
                      </a:solidFill>
                      <a:prstDash val="solid"/>
                      <a:round/>
                      <a:headEnd type="none" w="med" len="med"/>
                      <a:tailEnd type="none" w="med" len="med"/>
                    </a:lnR>
                    <a:lnT w="12700" cap="flat" cmpd="sng" algn="ctr">
                      <a:solidFill>
                        <a:srgbClr val="DEDEDE"/>
                      </a:solidFill>
                      <a:prstDash val="solid"/>
                      <a:round/>
                      <a:headEnd type="none" w="med" len="med"/>
                      <a:tailEnd type="none" w="med" len="med"/>
                    </a:lnT>
                    <a:lnB w="12700" cap="flat" cmpd="sng" algn="ctr">
                      <a:solidFill>
                        <a:srgbClr val="DEDEDE"/>
                      </a:solidFill>
                      <a:prstDash val="solid"/>
                      <a:round/>
                      <a:headEnd type="none" w="med" len="med"/>
                      <a:tailEnd type="none" w="med" len="med"/>
                    </a:lnB>
                    <a:solidFill>
                      <a:srgbClr val="F0F0F0"/>
                    </a:solidFill>
                  </a:tcPr>
                </a:tc>
                <a:tc>
                  <a:txBody>
                    <a:bodyPr/>
                    <a:lstStyle/>
                    <a:p>
                      <a:pPr marL="0" indent="0">
                        <a:buNone/>
                      </a:pPr>
                      <a:r>
                        <a:rPr lang="en-US" sz="950" dirty="0">
                          <a:solidFill>
                            <a:srgbClr val="2C2C2C"/>
                          </a:solidFill>
                          <a:latin typeface="Calibri" pitchFamily="34" charset="0"/>
                          <a:ea typeface="Calibri" pitchFamily="34" charset="-122"/>
                          <a:cs typeface="Calibri" pitchFamily="34" charset="-120"/>
                        </a:rPr>
                        <a:t>Critical</a:t>
                      </a:r>
                      <a:endParaRPr lang="en-US" sz="950" dirty="0">
                        <a:latin typeface="Calibri" charset="0"/>
                        <a:ea typeface="Calibri" charset="0"/>
                        <a:cs typeface="Calibri" charset="0"/>
                      </a:endParaRPr>
                    </a:p>
                  </a:txBody>
                  <a:tcPr marL="38100" marR="38100" marT="38100" marB="38100">
                    <a:lnL w="12700" cap="flat" cmpd="sng" algn="ctr">
                      <a:solidFill>
                        <a:srgbClr val="DEDEDE"/>
                      </a:solidFill>
                      <a:prstDash val="solid"/>
                      <a:round/>
                      <a:headEnd type="none" w="med" len="med"/>
                      <a:tailEnd type="none" w="med" len="med"/>
                    </a:lnL>
                    <a:lnR w="12700" cap="flat" cmpd="sng" algn="ctr">
                      <a:solidFill>
                        <a:srgbClr val="DEDEDE"/>
                      </a:solidFill>
                      <a:prstDash val="solid"/>
                      <a:round/>
                      <a:headEnd type="none" w="med" len="med"/>
                      <a:tailEnd type="none" w="med" len="med"/>
                    </a:lnR>
                    <a:lnT w="12700" cap="flat" cmpd="sng" algn="ctr">
                      <a:solidFill>
                        <a:srgbClr val="DEDEDE"/>
                      </a:solidFill>
                      <a:prstDash val="solid"/>
                      <a:round/>
                      <a:headEnd type="none" w="med" len="med"/>
                      <a:tailEnd type="none" w="med" len="med"/>
                    </a:lnT>
                    <a:lnB w="12700" cap="flat" cmpd="sng" algn="ctr">
                      <a:solidFill>
                        <a:srgbClr val="DEDEDE"/>
                      </a:solidFill>
                      <a:prstDash val="solid"/>
                      <a:round/>
                      <a:headEnd type="none" w="med" len="med"/>
                      <a:tailEnd type="none" w="med" len="med"/>
                    </a:lnB>
                    <a:solidFill>
                      <a:srgbClr val="F0F0F0"/>
                    </a:solidFill>
                  </a:tcPr>
                </a:tc>
                <a:tc>
                  <a:txBody>
                    <a:bodyPr/>
                    <a:lstStyle/>
                    <a:p>
                      <a:pPr marL="0" indent="0">
                        <a:buNone/>
                      </a:pPr>
                      <a:r>
                        <a:rPr lang="en-US" sz="950" dirty="0">
                          <a:solidFill>
                            <a:srgbClr val="2C2C2C"/>
                          </a:solidFill>
                          <a:latin typeface="Calibri" pitchFamily="34" charset="0"/>
                          <a:ea typeface="Calibri" pitchFamily="34" charset="-122"/>
                          <a:cs typeface="Calibri" pitchFamily="34" charset="-120"/>
                        </a:rPr>
                        <a:t>Major</a:t>
                      </a:r>
                      <a:endParaRPr lang="en-US" sz="950" dirty="0">
                        <a:latin typeface="Calibri" charset="0"/>
                        <a:ea typeface="Calibri" charset="0"/>
                        <a:cs typeface="Calibri" charset="0"/>
                      </a:endParaRPr>
                    </a:p>
                  </a:txBody>
                  <a:tcPr marL="38100" marR="38100" marT="38100" marB="38100">
                    <a:lnL w="12700" cap="flat" cmpd="sng" algn="ctr">
                      <a:solidFill>
                        <a:srgbClr val="DEDEDE"/>
                      </a:solidFill>
                      <a:prstDash val="solid"/>
                      <a:round/>
                      <a:headEnd type="none" w="med" len="med"/>
                      <a:tailEnd type="none" w="med" len="med"/>
                    </a:lnL>
                    <a:lnR w="12700" cap="flat" cmpd="sng" algn="ctr">
                      <a:solidFill>
                        <a:srgbClr val="DEDEDE"/>
                      </a:solidFill>
                      <a:prstDash val="solid"/>
                      <a:round/>
                      <a:headEnd type="none" w="med" len="med"/>
                      <a:tailEnd type="none" w="med" len="med"/>
                    </a:lnR>
                    <a:lnT w="12700" cap="flat" cmpd="sng" algn="ctr">
                      <a:solidFill>
                        <a:srgbClr val="DEDEDE"/>
                      </a:solidFill>
                      <a:prstDash val="solid"/>
                      <a:round/>
                      <a:headEnd type="none" w="med" len="med"/>
                      <a:tailEnd type="none" w="med" len="med"/>
                    </a:lnT>
                    <a:lnB w="12700" cap="flat" cmpd="sng" algn="ctr">
                      <a:solidFill>
                        <a:srgbClr val="DEDEDE"/>
                      </a:solidFill>
                      <a:prstDash val="solid"/>
                      <a:round/>
                      <a:headEnd type="none" w="med" len="med"/>
                      <a:tailEnd type="none" w="med" len="med"/>
                    </a:lnB>
                    <a:solidFill>
                      <a:srgbClr val="F0F0F0"/>
                    </a:solidFill>
                  </a:tcPr>
                </a:tc>
                <a:tc>
                  <a:txBody>
                    <a:bodyPr/>
                    <a:lstStyle/>
                    <a:p>
                      <a:pPr marL="0" indent="0">
                        <a:buNone/>
                      </a:pPr>
                      <a:r>
                        <a:rPr lang="en-US" sz="950" dirty="0">
                          <a:solidFill>
                            <a:srgbClr val="2C2C2C"/>
                          </a:solidFill>
                          <a:latin typeface="Calibri" pitchFamily="34" charset="0"/>
                          <a:ea typeface="Calibri" pitchFamily="34" charset="-122"/>
                          <a:cs typeface="Calibri" pitchFamily="34" charset="-120"/>
                        </a:rPr>
                        <a:t>Minor</a:t>
                      </a:r>
                      <a:endParaRPr lang="en-US" sz="950" dirty="0">
                        <a:latin typeface="Calibri" charset="0"/>
                        <a:ea typeface="Calibri" charset="0"/>
                        <a:cs typeface="Calibri" charset="0"/>
                      </a:endParaRPr>
                    </a:p>
                  </a:txBody>
                  <a:tcPr marL="38100" marR="38100" marT="38100" marB="38100">
                    <a:lnL w="12700" cap="flat" cmpd="sng" algn="ctr">
                      <a:solidFill>
                        <a:srgbClr val="DEDEDE"/>
                      </a:solidFill>
                      <a:prstDash val="solid"/>
                      <a:round/>
                      <a:headEnd type="none" w="med" len="med"/>
                      <a:tailEnd type="none" w="med" len="med"/>
                    </a:lnL>
                    <a:lnR w="12700" cap="flat" cmpd="sng" algn="ctr">
                      <a:solidFill>
                        <a:srgbClr val="DEDEDE"/>
                      </a:solidFill>
                      <a:prstDash val="solid"/>
                      <a:round/>
                      <a:headEnd type="none" w="med" len="med"/>
                      <a:tailEnd type="none" w="med" len="med"/>
                    </a:lnR>
                    <a:lnT w="12700" cap="flat" cmpd="sng" algn="ctr">
                      <a:solidFill>
                        <a:srgbClr val="DEDEDE"/>
                      </a:solidFill>
                      <a:prstDash val="solid"/>
                      <a:round/>
                      <a:headEnd type="none" w="med" len="med"/>
                      <a:tailEnd type="none" w="med" len="med"/>
                    </a:lnT>
                    <a:lnB w="12700" cap="flat" cmpd="sng" algn="ctr">
                      <a:solidFill>
                        <a:srgbClr val="DEDEDE"/>
                      </a:solidFill>
                      <a:prstDash val="solid"/>
                      <a:round/>
                      <a:headEnd type="none" w="med" len="med"/>
                      <a:tailEnd type="none" w="med" len="med"/>
                    </a:lnB>
                    <a:solidFill>
                      <a:srgbClr val="F0F0F0"/>
                    </a:solidFill>
                  </a:tcPr>
                </a:tc>
                <a:extLst>
                  <a:ext uri="{0D108BD9-81ED-4DB2-BD59-A6C34878D82A}">
                    <a16:rowId xmlns:a16="http://schemas.microsoft.com/office/drawing/2014/main" val="10010"/>
                  </a:ext>
                </a:extLst>
              </a:tr>
            </a:tbl>
          </a:graphicData>
        </a:graphic>
      </p:graphicFrame>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4">
    <p:bg>
      <p:bgPr>
        <a:solidFill>
          <a:srgbClr val="0D0D0D"/>
        </a:solidFill>
        <a:effectLst/>
      </p:bgPr>
    </p:bg>
    <p:spTree>
      <p:nvGrpSpPr>
        <p:cNvPr id="1" name=""/>
        <p:cNvGrpSpPr/>
        <p:nvPr/>
      </p:nvGrpSpPr>
      <p:grpSpPr>
        <a:xfrm>
          <a:off x="0" y="0"/>
          <a:ext cx="0" cy="0"/>
          <a:chOff x="0" y="0"/>
          <a:chExt cx="0" cy="0"/>
        </a:xfrm>
      </p:grpSpPr>
      <p:sp>
        <p:nvSpPr>
          <p:cNvPr id="2" name="Shape 0"/>
          <p:cNvSpPr/>
          <p:nvPr/>
        </p:nvSpPr>
        <p:spPr>
          <a:xfrm>
            <a:off x="0" y="0"/>
            <a:ext cx="64008" cy="5143500"/>
          </a:xfrm>
          <a:prstGeom prst="rect">
            <a:avLst/>
          </a:prstGeom>
          <a:solidFill>
            <a:srgbClr val="FF6500"/>
          </a:solidFill>
          <a:ln w="12700">
            <a:solidFill>
              <a:srgbClr val="FF6500"/>
            </a:solidFill>
            <a:prstDash val="solid"/>
          </a:ln>
        </p:spPr>
      </p:sp>
      <p:sp>
        <p:nvSpPr>
          <p:cNvPr id="3" name="Shape 1"/>
          <p:cNvSpPr/>
          <p:nvPr/>
        </p:nvSpPr>
        <p:spPr>
          <a:xfrm>
            <a:off x="0" y="4828032"/>
            <a:ext cx="9144000" cy="315468"/>
          </a:xfrm>
          <a:prstGeom prst="rect">
            <a:avLst/>
          </a:prstGeom>
          <a:solidFill>
            <a:srgbClr val="FF6500"/>
          </a:solidFill>
          <a:ln w="12700">
            <a:solidFill>
              <a:srgbClr val="FF6500"/>
            </a:solidFill>
            <a:prstDash val="solid"/>
          </a:ln>
        </p:spPr>
      </p:sp>
      <p:sp>
        <p:nvSpPr>
          <p:cNvPr id="4" name="Shape 2"/>
          <p:cNvSpPr/>
          <p:nvPr/>
        </p:nvSpPr>
        <p:spPr>
          <a:xfrm>
            <a:off x="228600" y="365760"/>
            <a:ext cx="640080" cy="640080"/>
          </a:xfrm>
          <a:prstGeom prst="rect">
            <a:avLst/>
          </a:prstGeom>
          <a:solidFill>
            <a:srgbClr val="FF6500"/>
          </a:solidFill>
          <a:ln w="12700">
            <a:solidFill>
              <a:srgbClr val="FF6500"/>
            </a:solidFill>
            <a:prstDash val="solid"/>
          </a:ln>
        </p:spPr>
      </p:sp>
      <p:sp>
        <p:nvSpPr>
          <p:cNvPr id="5" name="Text 3"/>
          <p:cNvSpPr/>
          <p:nvPr/>
        </p:nvSpPr>
        <p:spPr>
          <a:xfrm>
            <a:off x="228600" y="365760"/>
            <a:ext cx="640080" cy="640080"/>
          </a:xfrm>
          <a:prstGeom prst="rect">
            <a:avLst/>
          </a:prstGeom>
          <a:noFill/>
          <a:ln/>
        </p:spPr>
        <p:txBody>
          <a:bodyPr wrap="square" lIns="0" tIns="0" rIns="0" bIns="0" rtlCol="0" anchor="ctr"/>
          <a:lstStyle/>
          <a:p>
            <a:pPr marL="0" indent="0" algn="ctr">
              <a:buNone/>
            </a:pPr>
            <a:r>
              <a:rPr lang="en-US" sz="2600" b="1" dirty="0">
                <a:solidFill>
                  <a:srgbClr val="FFFFFF"/>
                </a:solidFill>
                <a:latin typeface="Arial Black" pitchFamily="34" charset="0"/>
                <a:ea typeface="Arial Black" pitchFamily="34" charset="-122"/>
                <a:cs typeface="Arial Black" pitchFamily="34" charset="-120"/>
              </a:rPr>
              <a:t>05</a:t>
            </a:r>
            <a:endParaRPr lang="en-US" sz="2600" dirty="0"/>
          </a:p>
        </p:txBody>
      </p:sp>
      <p:sp>
        <p:nvSpPr>
          <p:cNvPr id="6" name="Text 4"/>
          <p:cNvSpPr/>
          <p:nvPr/>
        </p:nvSpPr>
        <p:spPr>
          <a:xfrm>
            <a:off x="1005840" y="475488"/>
            <a:ext cx="4572000" cy="420624"/>
          </a:xfrm>
          <a:prstGeom prst="rect">
            <a:avLst/>
          </a:prstGeom>
          <a:noFill/>
          <a:ln/>
        </p:spPr>
        <p:txBody>
          <a:bodyPr wrap="square" lIns="0" tIns="0" rIns="0" bIns="0" rtlCol="0" anchor="ctr"/>
          <a:lstStyle/>
          <a:p>
            <a:pPr marL="0" indent="0">
              <a:buNone/>
            </a:pPr>
            <a:r>
              <a:rPr lang="en-US" sz="1200" dirty="0">
                <a:solidFill>
                  <a:srgbClr val="AAAAAA"/>
                </a:solidFill>
                <a:latin typeface="Calibri" pitchFamily="34" charset="0"/>
                <a:ea typeface="Calibri" pitchFamily="34" charset="-122"/>
                <a:cs typeface="Calibri" pitchFamily="34" charset="-120"/>
              </a:rPr>
              <a:t>SECTION FIVE</a:t>
            </a:r>
            <a:endParaRPr lang="en-US" sz="1200" dirty="0"/>
          </a:p>
        </p:txBody>
      </p:sp>
      <p:sp>
        <p:nvSpPr>
          <p:cNvPr id="7" name="Text 5"/>
          <p:cNvSpPr/>
          <p:nvPr/>
        </p:nvSpPr>
        <p:spPr>
          <a:xfrm>
            <a:off x="228600" y="1097280"/>
            <a:ext cx="8503920" cy="731520"/>
          </a:xfrm>
          <a:prstGeom prst="rect">
            <a:avLst/>
          </a:prstGeom>
          <a:noFill/>
          <a:ln/>
        </p:spPr>
        <p:txBody>
          <a:bodyPr wrap="square" lIns="0" tIns="0" rIns="0" bIns="0" rtlCol="0" anchor="ctr"/>
          <a:lstStyle/>
          <a:p>
            <a:pPr marL="0" indent="0">
              <a:buNone/>
            </a:pPr>
            <a:r>
              <a:rPr lang="en-US" sz="4000" b="1" dirty="0">
                <a:solidFill>
                  <a:srgbClr val="FFFFFF"/>
                </a:solidFill>
                <a:latin typeface="Arial Black" pitchFamily="34" charset="0"/>
                <a:ea typeface="Arial Black" pitchFamily="34" charset="-122"/>
                <a:cs typeface="Arial Black" pitchFamily="34" charset="-120"/>
              </a:rPr>
              <a:t>Types of Test Cases</a:t>
            </a:r>
            <a:endParaRPr lang="en-US" sz="4000" dirty="0"/>
          </a:p>
        </p:txBody>
      </p:sp>
      <p:sp>
        <p:nvSpPr>
          <p:cNvPr id="8" name="Text 6"/>
          <p:cNvSpPr/>
          <p:nvPr/>
        </p:nvSpPr>
        <p:spPr>
          <a:xfrm>
            <a:off x="228600" y="1901952"/>
            <a:ext cx="8229600" cy="457200"/>
          </a:xfrm>
          <a:prstGeom prst="rect">
            <a:avLst/>
          </a:prstGeom>
          <a:noFill/>
          <a:ln/>
        </p:spPr>
        <p:txBody>
          <a:bodyPr wrap="square" lIns="0" tIns="0" rIns="0" bIns="0" rtlCol="0" anchor="ctr"/>
          <a:lstStyle/>
          <a:p>
            <a:pPr marL="0" indent="0">
              <a:buNone/>
            </a:pPr>
            <a:r>
              <a:rPr lang="en-US" sz="1400" i="1" dirty="0">
                <a:solidFill>
                  <a:srgbClr val="AAAAAA"/>
                </a:solidFill>
                <a:latin typeface="Calibri" pitchFamily="34" charset="0"/>
                <a:ea typeface="Calibri" pitchFamily="34" charset="-122"/>
                <a:cs typeface="Calibri" pitchFamily="34" charset="-120"/>
              </a:rPr>
              <a:t>Every testing scenario requires a different type of test case. Understanding them ensures complete coverage.</a:t>
            </a:r>
            <a:endParaRPr lang="en-US" sz="1400" dirty="0"/>
          </a:p>
        </p:txBody>
      </p:sp>
      <p:sp>
        <p:nvSpPr>
          <p:cNvPr id="9" name="Shape 7"/>
          <p:cNvSpPr/>
          <p:nvPr/>
        </p:nvSpPr>
        <p:spPr>
          <a:xfrm>
            <a:off x="228600" y="2560320"/>
            <a:ext cx="2788920" cy="960120"/>
          </a:xfrm>
          <a:prstGeom prst="rect">
            <a:avLst/>
          </a:prstGeom>
          <a:solidFill>
            <a:srgbClr val="181818"/>
          </a:solidFill>
          <a:ln w="12700">
            <a:solidFill>
              <a:srgbClr val="303030"/>
            </a:solidFill>
            <a:prstDash val="solid"/>
          </a:ln>
        </p:spPr>
      </p:sp>
      <p:sp>
        <p:nvSpPr>
          <p:cNvPr id="10" name="Shape 8"/>
          <p:cNvSpPr/>
          <p:nvPr/>
        </p:nvSpPr>
        <p:spPr>
          <a:xfrm>
            <a:off x="228600" y="2560320"/>
            <a:ext cx="457200" cy="960120"/>
          </a:xfrm>
          <a:prstGeom prst="rect">
            <a:avLst/>
          </a:prstGeom>
          <a:solidFill>
            <a:srgbClr val="FF6500"/>
          </a:solidFill>
          <a:ln w="12700">
            <a:solidFill>
              <a:srgbClr val="FF6500"/>
            </a:solidFill>
            <a:prstDash val="solid"/>
          </a:ln>
        </p:spPr>
      </p:sp>
      <p:sp>
        <p:nvSpPr>
          <p:cNvPr id="11" name="Text 9"/>
          <p:cNvSpPr/>
          <p:nvPr/>
        </p:nvSpPr>
        <p:spPr>
          <a:xfrm>
            <a:off x="228600" y="2560320"/>
            <a:ext cx="457200" cy="960120"/>
          </a:xfrm>
          <a:prstGeom prst="rect">
            <a:avLst/>
          </a:prstGeom>
          <a:noFill/>
          <a:ln/>
        </p:spPr>
        <p:txBody>
          <a:bodyPr wrap="square" lIns="0" tIns="0" rIns="0" bIns="0" rtlCol="0" anchor="ctr"/>
          <a:lstStyle/>
          <a:p>
            <a:pPr marL="0" indent="0" algn="ctr">
              <a:buNone/>
            </a:pPr>
            <a:r>
              <a:rPr lang="en-US" sz="1400" b="1" dirty="0">
                <a:solidFill>
                  <a:srgbClr val="FFFFFF"/>
                </a:solidFill>
                <a:latin typeface="Arial Black" pitchFamily="34" charset="0"/>
                <a:ea typeface="Arial Black" pitchFamily="34" charset="-122"/>
                <a:cs typeface="Arial Black" pitchFamily="34" charset="-120"/>
              </a:rPr>
              <a:t>01</a:t>
            </a:r>
            <a:endParaRPr lang="en-US" sz="1400" dirty="0"/>
          </a:p>
        </p:txBody>
      </p:sp>
      <p:sp>
        <p:nvSpPr>
          <p:cNvPr id="12" name="Text 10"/>
          <p:cNvSpPr/>
          <p:nvPr/>
        </p:nvSpPr>
        <p:spPr>
          <a:xfrm>
            <a:off x="749808" y="2615184"/>
            <a:ext cx="2194560" cy="274320"/>
          </a:xfrm>
          <a:prstGeom prst="rect">
            <a:avLst/>
          </a:prstGeom>
          <a:noFill/>
          <a:ln/>
        </p:spPr>
        <p:txBody>
          <a:bodyPr wrap="square" lIns="0" tIns="0" rIns="0" bIns="0" rtlCol="0" anchor="ctr"/>
          <a:lstStyle/>
          <a:p>
            <a:pPr marL="0" indent="0">
              <a:buNone/>
            </a:pPr>
            <a:r>
              <a:rPr lang="en-US" sz="1300" b="1" dirty="0">
                <a:solidFill>
                  <a:srgbClr val="FFFFFF"/>
                </a:solidFill>
                <a:latin typeface="Arial" pitchFamily="34" charset="0"/>
                <a:ea typeface="Arial" pitchFamily="34" charset="-122"/>
                <a:cs typeface="Arial" pitchFamily="34" charset="-120"/>
              </a:rPr>
              <a:t>Positive</a:t>
            </a:r>
            <a:endParaRPr lang="en-US" sz="1300" dirty="0"/>
          </a:p>
        </p:txBody>
      </p:sp>
      <p:sp>
        <p:nvSpPr>
          <p:cNvPr id="13" name="Text 11"/>
          <p:cNvSpPr/>
          <p:nvPr/>
        </p:nvSpPr>
        <p:spPr>
          <a:xfrm>
            <a:off x="749808" y="2907792"/>
            <a:ext cx="2194560" cy="548640"/>
          </a:xfrm>
          <a:prstGeom prst="rect">
            <a:avLst/>
          </a:prstGeom>
          <a:noFill/>
          <a:ln/>
        </p:spPr>
        <p:txBody>
          <a:bodyPr wrap="square" lIns="0" tIns="0" rIns="0" bIns="0" rtlCol="0" anchor="t"/>
          <a:lstStyle/>
          <a:p>
            <a:pPr marL="0" indent="0">
              <a:buNone/>
            </a:pPr>
            <a:r>
              <a:rPr lang="en-US" sz="950" dirty="0">
                <a:solidFill>
                  <a:srgbClr val="AAAAAA"/>
                </a:solidFill>
                <a:latin typeface="Calibri" pitchFamily="34" charset="0"/>
                <a:ea typeface="Calibri" pitchFamily="34" charset="-122"/>
                <a:cs typeface="Calibri" pitchFamily="34" charset="-120"/>
              </a:rPr>
              <a:t>Valid inputs, happy path — verifies system works correctly under normal conditions</a:t>
            </a:r>
            <a:endParaRPr lang="en-US" sz="950" dirty="0"/>
          </a:p>
        </p:txBody>
      </p:sp>
      <p:sp>
        <p:nvSpPr>
          <p:cNvPr id="14" name="Shape 12"/>
          <p:cNvSpPr/>
          <p:nvPr/>
        </p:nvSpPr>
        <p:spPr>
          <a:xfrm>
            <a:off x="3172968" y="2560320"/>
            <a:ext cx="2788920" cy="960120"/>
          </a:xfrm>
          <a:prstGeom prst="rect">
            <a:avLst/>
          </a:prstGeom>
          <a:solidFill>
            <a:srgbClr val="181818"/>
          </a:solidFill>
          <a:ln w="12700">
            <a:solidFill>
              <a:srgbClr val="303030"/>
            </a:solidFill>
            <a:prstDash val="solid"/>
          </a:ln>
        </p:spPr>
      </p:sp>
      <p:sp>
        <p:nvSpPr>
          <p:cNvPr id="15" name="Shape 13"/>
          <p:cNvSpPr/>
          <p:nvPr/>
        </p:nvSpPr>
        <p:spPr>
          <a:xfrm>
            <a:off x="3172968" y="2560320"/>
            <a:ext cx="457200" cy="960120"/>
          </a:xfrm>
          <a:prstGeom prst="rect">
            <a:avLst/>
          </a:prstGeom>
          <a:solidFill>
            <a:srgbClr val="FF6500"/>
          </a:solidFill>
          <a:ln w="12700">
            <a:solidFill>
              <a:srgbClr val="FF6500"/>
            </a:solidFill>
            <a:prstDash val="solid"/>
          </a:ln>
        </p:spPr>
      </p:sp>
      <p:sp>
        <p:nvSpPr>
          <p:cNvPr id="16" name="Text 14"/>
          <p:cNvSpPr/>
          <p:nvPr/>
        </p:nvSpPr>
        <p:spPr>
          <a:xfrm>
            <a:off x="3172968" y="2560320"/>
            <a:ext cx="457200" cy="960120"/>
          </a:xfrm>
          <a:prstGeom prst="rect">
            <a:avLst/>
          </a:prstGeom>
          <a:noFill/>
          <a:ln/>
        </p:spPr>
        <p:txBody>
          <a:bodyPr wrap="square" lIns="0" tIns="0" rIns="0" bIns="0" rtlCol="0" anchor="ctr"/>
          <a:lstStyle/>
          <a:p>
            <a:pPr marL="0" indent="0" algn="ctr">
              <a:buNone/>
            </a:pPr>
            <a:r>
              <a:rPr lang="en-US" sz="1400" b="1" dirty="0">
                <a:solidFill>
                  <a:srgbClr val="FFFFFF"/>
                </a:solidFill>
                <a:latin typeface="Arial Black" pitchFamily="34" charset="0"/>
                <a:ea typeface="Arial Black" pitchFamily="34" charset="-122"/>
                <a:cs typeface="Arial Black" pitchFamily="34" charset="-120"/>
              </a:rPr>
              <a:t>02</a:t>
            </a:r>
            <a:endParaRPr lang="en-US" sz="1400" dirty="0"/>
          </a:p>
        </p:txBody>
      </p:sp>
      <p:sp>
        <p:nvSpPr>
          <p:cNvPr id="17" name="Text 15"/>
          <p:cNvSpPr/>
          <p:nvPr/>
        </p:nvSpPr>
        <p:spPr>
          <a:xfrm>
            <a:off x="3694176" y="2615184"/>
            <a:ext cx="2194560" cy="274320"/>
          </a:xfrm>
          <a:prstGeom prst="rect">
            <a:avLst/>
          </a:prstGeom>
          <a:noFill/>
          <a:ln/>
        </p:spPr>
        <p:txBody>
          <a:bodyPr wrap="square" lIns="0" tIns="0" rIns="0" bIns="0" rtlCol="0" anchor="ctr"/>
          <a:lstStyle/>
          <a:p>
            <a:pPr marL="0" indent="0">
              <a:buNone/>
            </a:pPr>
            <a:r>
              <a:rPr lang="en-US" sz="1300" b="1" dirty="0">
                <a:solidFill>
                  <a:srgbClr val="FFFFFF"/>
                </a:solidFill>
                <a:latin typeface="Arial" pitchFamily="34" charset="0"/>
                <a:ea typeface="Arial" pitchFamily="34" charset="-122"/>
                <a:cs typeface="Arial" pitchFamily="34" charset="-120"/>
              </a:rPr>
              <a:t>Negative</a:t>
            </a:r>
            <a:endParaRPr lang="en-US" sz="1300" dirty="0"/>
          </a:p>
        </p:txBody>
      </p:sp>
      <p:sp>
        <p:nvSpPr>
          <p:cNvPr id="18" name="Text 16"/>
          <p:cNvSpPr/>
          <p:nvPr/>
        </p:nvSpPr>
        <p:spPr>
          <a:xfrm>
            <a:off x="3694176" y="2907792"/>
            <a:ext cx="2194560" cy="548640"/>
          </a:xfrm>
          <a:prstGeom prst="rect">
            <a:avLst/>
          </a:prstGeom>
          <a:noFill/>
          <a:ln/>
        </p:spPr>
        <p:txBody>
          <a:bodyPr wrap="square" lIns="0" tIns="0" rIns="0" bIns="0" rtlCol="0" anchor="t"/>
          <a:lstStyle/>
          <a:p>
            <a:pPr marL="0" indent="0">
              <a:buNone/>
            </a:pPr>
            <a:r>
              <a:rPr lang="en-US" sz="950" dirty="0">
                <a:solidFill>
                  <a:srgbClr val="AAAAAA"/>
                </a:solidFill>
                <a:latin typeface="Calibri" pitchFamily="34" charset="0"/>
                <a:ea typeface="Calibri" pitchFamily="34" charset="-122"/>
                <a:cs typeface="Calibri" pitchFamily="34" charset="-120"/>
              </a:rPr>
              <a:t>Invalid inputs, error paths — verifies system handles incorrect data gracefully</a:t>
            </a:r>
            <a:endParaRPr lang="en-US" sz="950" dirty="0"/>
          </a:p>
        </p:txBody>
      </p:sp>
      <p:sp>
        <p:nvSpPr>
          <p:cNvPr id="19" name="Shape 17"/>
          <p:cNvSpPr/>
          <p:nvPr/>
        </p:nvSpPr>
        <p:spPr>
          <a:xfrm>
            <a:off x="6117336" y="2560320"/>
            <a:ext cx="2788920" cy="960120"/>
          </a:xfrm>
          <a:prstGeom prst="rect">
            <a:avLst/>
          </a:prstGeom>
          <a:solidFill>
            <a:srgbClr val="181818"/>
          </a:solidFill>
          <a:ln w="12700">
            <a:solidFill>
              <a:srgbClr val="303030"/>
            </a:solidFill>
            <a:prstDash val="solid"/>
          </a:ln>
        </p:spPr>
      </p:sp>
      <p:sp>
        <p:nvSpPr>
          <p:cNvPr id="20" name="Shape 18"/>
          <p:cNvSpPr/>
          <p:nvPr/>
        </p:nvSpPr>
        <p:spPr>
          <a:xfrm>
            <a:off x="6117336" y="2560320"/>
            <a:ext cx="457200" cy="960120"/>
          </a:xfrm>
          <a:prstGeom prst="rect">
            <a:avLst/>
          </a:prstGeom>
          <a:solidFill>
            <a:srgbClr val="FF6500"/>
          </a:solidFill>
          <a:ln w="12700">
            <a:solidFill>
              <a:srgbClr val="FF6500"/>
            </a:solidFill>
            <a:prstDash val="solid"/>
          </a:ln>
        </p:spPr>
      </p:sp>
      <p:sp>
        <p:nvSpPr>
          <p:cNvPr id="21" name="Text 19"/>
          <p:cNvSpPr/>
          <p:nvPr/>
        </p:nvSpPr>
        <p:spPr>
          <a:xfrm>
            <a:off x="6117336" y="2560320"/>
            <a:ext cx="457200" cy="960120"/>
          </a:xfrm>
          <a:prstGeom prst="rect">
            <a:avLst/>
          </a:prstGeom>
          <a:noFill/>
          <a:ln/>
        </p:spPr>
        <p:txBody>
          <a:bodyPr wrap="square" lIns="0" tIns="0" rIns="0" bIns="0" rtlCol="0" anchor="ctr"/>
          <a:lstStyle/>
          <a:p>
            <a:pPr marL="0" indent="0" algn="ctr">
              <a:buNone/>
            </a:pPr>
            <a:r>
              <a:rPr lang="en-US" sz="1400" b="1" dirty="0">
                <a:solidFill>
                  <a:srgbClr val="FFFFFF"/>
                </a:solidFill>
                <a:latin typeface="Arial Black" pitchFamily="34" charset="0"/>
                <a:ea typeface="Arial Black" pitchFamily="34" charset="-122"/>
                <a:cs typeface="Arial Black" pitchFamily="34" charset="-120"/>
              </a:rPr>
              <a:t>03</a:t>
            </a:r>
            <a:endParaRPr lang="en-US" sz="1400" dirty="0"/>
          </a:p>
        </p:txBody>
      </p:sp>
      <p:sp>
        <p:nvSpPr>
          <p:cNvPr id="22" name="Text 20"/>
          <p:cNvSpPr/>
          <p:nvPr/>
        </p:nvSpPr>
        <p:spPr>
          <a:xfrm>
            <a:off x="6638544" y="2615184"/>
            <a:ext cx="2194560" cy="274320"/>
          </a:xfrm>
          <a:prstGeom prst="rect">
            <a:avLst/>
          </a:prstGeom>
          <a:noFill/>
          <a:ln/>
        </p:spPr>
        <p:txBody>
          <a:bodyPr wrap="square" lIns="0" tIns="0" rIns="0" bIns="0" rtlCol="0" anchor="ctr"/>
          <a:lstStyle/>
          <a:p>
            <a:pPr marL="0" indent="0">
              <a:buNone/>
            </a:pPr>
            <a:r>
              <a:rPr lang="en-US" sz="1300" b="1" dirty="0">
                <a:solidFill>
                  <a:srgbClr val="FFFFFF"/>
                </a:solidFill>
                <a:latin typeface="Arial" pitchFamily="34" charset="0"/>
                <a:ea typeface="Arial" pitchFamily="34" charset="-122"/>
                <a:cs typeface="Arial" pitchFamily="34" charset="-120"/>
              </a:rPr>
              <a:t>Edge Case</a:t>
            </a:r>
            <a:endParaRPr lang="en-US" sz="1300" dirty="0"/>
          </a:p>
        </p:txBody>
      </p:sp>
      <p:sp>
        <p:nvSpPr>
          <p:cNvPr id="23" name="Text 21"/>
          <p:cNvSpPr/>
          <p:nvPr/>
        </p:nvSpPr>
        <p:spPr>
          <a:xfrm>
            <a:off x="6638544" y="2907792"/>
            <a:ext cx="2194560" cy="548640"/>
          </a:xfrm>
          <a:prstGeom prst="rect">
            <a:avLst/>
          </a:prstGeom>
          <a:noFill/>
          <a:ln/>
        </p:spPr>
        <p:txBody>
          <a:bodyPr wrap="square" lIns="0" tIns="0" rIns="0" bIns="0" rtlCol="0" anchor="t"/>
          <a:lstStyle/>
          <a:p>
            <a:pPr marL="0" indent="0">
              <a:buNone/>
            </a:pPr>
            <a:r>
              <a:rPr lang="en-US" sz="950" dirty="0">
                <a:solidFill>
                  <a:srgbClr val="AAAAAA"/>
                </a:solidFill>
                <a:latin typeface="Calibri" pitchFamily="34" charset="0"/>
                <a:ea typeface="Calibri" pitchFamily="34" charset="-122"/>
                <a:cs typeface="Calibri" pitchFamily="34" charset="-120"/>
              </a:rPr>
              <a:t>Extreme valid inputs at the outer limits of acceptable ranges</a:t>
            </a:r>
            <a:endParaRPr lang="en-US" sz="950" dirty="0"/>
          </a:p>
        </p:txBody>
      </p:sp>
      <p:sp>
        <p:nvSpPr>
          <p:cNvPr id="24" name="Shape 22"/>
          <p:cNvSpPr/>
          <p:nvPr/>
        </p:nvSpPr>
        <p:spPr>
          <a:xfrm>
            <a:off x="228600" y="3639312"/>
            <a:ext cx="2788920" cy="960120"/>
          </a:xfrm>
          <a:prstGeom prst="rect">
            <a:avLst/>
          </a:prstGeom>
          <a:solidFill>
            <a:srgbClr val="181818"/>
          </a:solidFill>
          <a:ln w="12700">
            <a:solidFill>
              <a:srgbClr val="303030"/>
            </a:solidFill>
            <a:prstDash val="solid"/>
          </a:ln>
        </p:spPr>
      </p:sp>
      <p:sp>
        <p:nvSpPr>
          <p:cNvPr id="25" name="Shape 23"/>
          <p:cNvSpPr/>
          <p:nvPr/>
        </p:nvSpPr>
        <p:spPr>
          <a:xfrm>
            <a:off x="228600" y="3639312"/>
            <a:ext cx="457200" cy="960120"/>
          </a:xfrm>
          <a:prstGeom prst="rect">
            <a:avLst/>
          </a:prstGeom>
          <a:solidFill>
            <a:srgbClr val="FF6500"/>
          </a:solidFill>
          <a:ln w="12700">
            <a:solidFill>
              <a:srgbClr val="FF6500"/>
            </a:solidFill>
            <a:prstDash val="solid"/>
          </a:ln>
        </p:spPr>
      </p:sp>
      <p:sp>
        <p:nvSpPr>
          <p:cNvPr id="26" name="Text 24"/>
          <p:cNvSpPr/>
          <p:nvPr/>
        </p:nvSpPr>
        <p:spPr>
          <a:xfrm>
            <a:off x="228600" y="3639312"/>
            <a:ext cx="457200" cy="960120"/>
          </a:xfrm>
          <a:prstGeom prst="rect">
            <a:avLst/>
          </a:prstGeom>
          <a:noFill/>
          <a:ln/>
        </p:spPr>
        <p:txBody>
          <a:bodyPr wrap="square" lIns="0" tIns="0" rIns="0" bIns="0" rtlCol="0" anchor="ctr"/>
          <a:lstStyle/>
          <a:p>
            <a:pPr marL="0" indent="0" algn="ctr">
              <a:buNone/>
            </a:pPr>
            <a:r>
              <a:rPr lang="en-US" sz="1400" b="1" dirty="0">
                <a:solidFill>
                  <a:srgbClr val="FFFFFF"/>
                </a:solidFill>
                <a:latin typeface="Arial Black" pitchFamily="34" charset="0"/>
                <a:ea typeface="Arial Black" pitchFamily="34" charset="-122"/>
                <a:cs typeface="Arial Black" pitchFamily="34" charset="-120"/>
              </a:rPr>
              <a:t>04</a:t>
            </a:r>
            <a:endParaRPr lang="en-US" sz="1400" dirty="0"/>
          </a:p>
        </p:txBody>
      </p:sp>
      <p:sp>
        <p:nvSpPr>
          <p:cNvPr id="27" name="Text 25"/>
          <p:cNvSpPr/>
          <p:nvPr/>
        </p:nvSpPr>
        <p:spPr>
          <a:xfrm>
            <a:off x="749808" y="3694176"/>
            <a:ext cx="2194560" cy="274320"/>
          </a:xfrm>
          <a:prstGeom prst="rect">
            <a:avLst/>
          </a:prstGeom>
          <a:noFill/>
          <a:ln/>
        </p:spPr>
        <p:txBody>
          <a:bodyPr wrap="square" lIns="0" tIns="0" rIns="0" bIns="0" rtlCol="0" anchor="ctr"/>
          <a:lstStyle/>
          <a:p>
            <a:pPr marL="0" indent="0">
              <a:buNone/>
            </a:pPr>
            <a:r>
              <a:rPr lang="en-US" sz="1300" b="1" dirty="0">
                <a:solidFill>
                  <a:srgbClr val="FFFFFF"/>
                </a:solidFill>
                <a:latin typeface="Arial" pitchFamily="34" charset="0"/>
                <a:ea typeface="Arial" pitchFamily="34" charset="-122"/>
                <a:cs typeface="Arial" pitchFamily="34" charset="-120"/>
              </a:rPr>
              <a:t>Boundary Value</a:t>
            </a:r>
            <a:endParaRPr lang="en-US" sz="1300" dirty="0"/>
          </a:p>
        </p:txBody>
      </p:sp>
      <p:sp>
        <p:nvSpPr>
          <p:cNvPr id="28" name="Text 26"/>
          <p:cNvSpPr/>
          <p:nvPr/>
        </p:nvSpPr>
        <p:spPr>
          <a:xfrm>
            <a:off x="749808" y="3986784"/>
            <a:ext cx="2194560" cy="548640"/>
          </a:xfrm>
          <a:prstGeom prst="rect">
            <a:avLst/>
          </a:prstGeom>
          <a:noFill/>
          <a:ln/>
        </p:spPr>
        <p:txBody>
          <a:bodyPr wrap="square" lIns="0" tIns="0" rIns="0" bIns="0" rtlCol="0" anchor="t"/>
          <a:lstStyle/>
          <a:p>
            <a:pPr marL="0" indent="0">
              <a:buNone/>
            </a:pPr>
            <a:r>
              <a:rPr lang="en-US" sz="950" dirty="0">
                <a:solidFill>
                  <a:srgbClr val="AAAAAA"/>
                </a:solidFill>
                <a:latin typeface="Calibri" pitchFamily="34" charset="0"/>
                <a:ea typeface="Calibri" pitchFamily="34" charset="-122"/>
                <a:cs typeface="Calibri" pitchFamily="34" charset="-120"/>
              </a:rPr>
              <a:t>Values at, just below, and just above defined boundaries</a:t>
            </a:r>
            <a:endParaRPr lang="en-US" sz="950" dirty="0"/>
          </a:p>
        </p:txBody>
      </p:sp>
      <p:sp>
        <p:nvSpPr>
          <p:cNvPr id="29" name="Shape 27"/>
          <p:cNvSpPr/>
          <p:nvPr/>
        </p:nvSpPr>
        <p:spPr>
          <a:xfrm>
            <a:off x="3172968" y="3639312"/>
            <a:ext cx="2788920" cy="960120"/>
          </a:xfrm>
          <a:prstGeom prst="rect">
            <a:avLst/>
          </a:prstGeom>
          <a:solidFill>
            <a:srgbClr val="181818"/>
          </a:solidFill>
          <a:ln w="12700">
            <a:solidFill>
              <a:srgbClr val="303030"/>
            </a:solidFill>
            <a:prstDash val="solid"/>
          </a:ln>
        </p:spPr>
      </p:sp>
      <p:sp>
        <p:nvSpPr>
          <p:cNvPr id="30" name="Shape 28"/>
          <p:cNvSpPr/>
          <p:nvPr/>
        </p:nvSpPr>
        <p:spPr>
          <a:xfrm>
            <a:off x="3172968" y="3639312"/>
            <a:ext cx="457200" cy="960120"/>
          </a:xfrm>
          <a:prstGeom prst="rect">
            <a:avLst/>
          </a:prstGeom>
          <a:solidFill>
            <a:srgbClr val="FF6500"/>
          </a:solidFill>
          <a:ln w="12700">
            <a:solidFill>
              <a:srgbClr val="FF6500"/>
            </a:solidFill>
            <a:prstDash val="solid"/>
          </a:ln>
        </p:spPr>
      </p:sp>
      <p:sp>
        <p:nvSpPr>
          <p:cNvPr id="31" name="Text 29"/>
          <p:cNvSpPr/>
          <p:nvPr/>
        </p:nvSpPr>
        <p:spPr>
          <a:xfrm>
            <a:off x="3172968" y="3639312"/>
            <a:ext cx="457200" cy="960120"/>
          </a:xfrm>
          <a:prstGeom prst="rect">
            <a:avLst/>
          </a:prstGeom>
          <a:noFill/>
          <a:ln/>
        </p:spPr>
        <p:txBody>
          <a:bodyPr wrap="square" lIns="0" tIns="0" rIns="0" bIns="0" rtlCol="0" anchor="ctr"/>
          <a:lstStyle/>
          <a:p>
            <a:pPr marL="0" indent="0" algn="ctr">
              <a:buNone/>
            </a:pPr>
            <a:r>
              <a:rPr lang="en-US" sz="1400" b="1" dirty="0">
                <a:solidFill>
                  <a:srgbClr val="FFFFFF"/>
                </a:solidFill>
                <a:latin typeface="Arial Black" pitchFamily="34" charset="0"/>
                <a:ea typeface="Arial Black" pitchFamily="34" charset="-122"/>
                <a:cs typeface="Arial Black" pitchFamily="34" charset="-120"/>
              </a:rPr>
              <a:t>05</a:t>
            </a:r>
            <a:endParaRPr lang="en-US" sz="1400" dirty="0"/>
          </a:p>
        </p:txBody>
      </p:sp>
      <p:sp>
        <p:nvSpPr>
          <p:cNvPr id="32" name="Text 30"/>
          <p:cNvSpPr/>
          <p:nvPr/>
        </p:nvSpPr>
        <p:spPr>
          <a:xfrm>
            <a:off x="3694176" y="3694176"/>
            <a:ext cx="2194560" cy="274320"/>
          </a:xfrm>
          <a:prstGeom prst="rect">
            <a:avLst/>
          </a:prstGeom>
          <a:noFill/>
          <a:ln/>
        </p:spPr>
        <p:txBody>
          <a:bodyPr wrap="square" lIns="0" tIns="0" rIns="0" bIns="0" rtlCol="0" anchor="ctr"/>
          <a:lstStyle/>
          <a:p>
            <a:pPr marL="0" indent="0">
              <a:buNone/>
            </a:pPr>
            <a:r>
              <a:rPr lang="en-US" sz="1300" b="1" dirty="0">
                <a:solidFill>
                  <a:srgbClr val="FFFFFF"/>
                </a:solidFill>
                <a:latin typeface="Arial" pitchFamily="34" charset="0"/>
                <a:ea typeface="Arial" pitchFamily="34" charset="-122"/>
                <a:cs typeface="Arial" pitchFamily="34" charset="-120"/>
              </a:rPr>
              <a:t>Functional</a:t>
            </a:r>
            <a:endParaRPr lang="en-US" sz="1300" dirty="0"/>
          </a:p>
        </p:txBody>
      </p:sp>
      <p:sp>
        <p:nvSpPr>
          <p:cNvPr id="33" name="Text 31"/>
          <p:cNvSpPr/>
          <p:nvPr/>
        </p:nvSpPr>
        <p:spPr>
          <a:xfrm>
            <a:off x="3694176" y="3986784"/>
            <a:ext cx="2194560" cy="548640"/>
          </a:xfrm>
          <a:prstGeom prst="rect">
            <a:avLst/>
          </a:prstGeom>
          <a:noFill/>
          <a:ln/>
        </p:spPr>
        <p:txBody>
          <a:bodyPr wrap="square" lIns="0" tIns="0" rIns="0" bIns="0" rtlCol="0" anchor="t"/>
          <a:lstStyle/>
          <a:p>
            <a:pPr marL="0" indent="0">
              <a:buNone/>
            </a:pPr>
            <a:r>
              <a:rPr lang="en-US" sz="950" dirty="0">
                <a:solidFill>
                  <a:srgbClr val="AAAAAA"/>
                </a:solidFill>
                <a:latin typeface="Calibri" pitchFamily="34" charset="0"/>
                <a:ea typeface="Calibri" pitchFamily="34" charset="-122"/>
                <a:cs typeface="Calibri" pitchFamily="34" charset="-120"/>
              </a:rPr>
              <a:t>Verifies specific business logic and features against requirements</a:t>
            </a:r>
            <a:endParaRPr lang="en-US" sz="950" dirty="0"/>
          </a:p>
        </p:txBody>
      </p:sp>
      <p:sp>
        <p:nvSpPr>
          <p:cNvPr id="34" name="Shape 32"/>
          <p:cNvSpPr/>
          <p:nvPr/>
        </p:nvSpPr>
        <p:spPr>
          <a:xfrm>
            <a:off x="6117336" y="3639312"/>
            <a:ext cx="2788920" cy="960120"/>
          </a:xfrm>
          <a:prstGeom prst="rect">
            <a:avLst/>
          </a:prstGeom>
          <a:solidFill>
            <a:srgbClr val="181818"/>
          </a:solidFill>
          <a:ln w="12700">
            <a:solidFill>
              <a:srgbClr val="303030"/>
            </a:solidFill>
            <a:prstDash val="solid"/>
          </a:ln>
        </p:spPr>
      </p:sp>
      <p:sp>
        <p:nvSpPr>
          <p:cNvPr id="35" name="Shape 33"/>
          <p:cNvSpPr/>
          <p:nvPr/>
        </p:nvSpPr>
        <p:spPr>
          <a:xfrm>
            <a:off x="6117336" y="3639312"/>
            <a:ext cx="457200" cy="960120"/>
          </a:xfrm>
          <a:prstGeom prst="rect">
            <a:avLst/>
          </a:prstGeom>
          <a:solidFill>
            <a:srgbClr val="FF6500"/>
          </a:solidFill>
          <a:ln w="12700">
            <a:solidFill>
              <a:srgbClr val="FF6500"/>
            </a:solidFill>
            <a:prstDash val="solid"/>
          </a:ln>
        </p:spPr>
      </p:sp>
      <p:sp>
        <p:nvSpPr>
          <p:cNvPr id="36" name="Text 34"/>
          <p:cNvSpPr/>
          <p:nvPr/>
        </p:nvSpPr>
        <p:spPr>
          <a:xfrm>
            <a:off x="6117336" y="3639312"/>
            <a:ext cx="457200" cy="960120"/>
          </a:xfrm>
          <a:prstGeom prst="rect">
            <a:avLst/>
          </a:prstGeom>
          <a:noFill/>
          <a:ln/>
        </p:spPr>
        <p:txBody>
          <a:bodyPr wrap="square" lIns="0" tIns="0" rIns="0" bIns="0" rtlCol="0" anchor="ctr"/>
          <a:lstStyle/>
          <a:p>
            <a:pPr marL="0" indent="0" algn="ctr">
              <a:buNone/>
            </a:pPr>
            <a:r>
              <a:rPr lang="en-US" sz="1400" b="1" dirty="0">
                <a:solidFill>
                  <a:srgbClr val="FFFFFF"/>
                </a:solidFill>
                <a:latin typeface="Arial Black" pitchFamily="34" charset="0"/>
                <a:ea typeface="Arial Black" pitchFamily="34" charset="-122"/>
                <a:cs typeface="Arial Black" pitchFamily="34" charset="-120"/>
              </a:rPr>
              <a:t>06</a:t>
            </a:r>
            <a:endParaRPr lang="en-US" sz="1400" dirty="0"/>
          </a:p>
        </p:txBody>
      </p:sp>
      <p:sp>
        <p:nvSpPr>
          <p:cNvPr id="37" name="Text 35"/>
          <p:cNvSpPr/>
          <p:nvPr/>
        </p:nvSpPr>
        <p:spPr>
          <a:xfrm>
            <a:off x="6638544" y="3694176"/>
            <a:ext cx="2194560" cy="274320"/>
          </a:xfrm>
          <a:prstGeom prst="rect">
            <a:avLst/>
          </a:prstGeom>
          <a:noFill/>
          <a:ln/>
        </p:spPr>
        <p:txBody>
          <a:bodyPr wrap="square" lIns="0" tIns="0" rIns="0" bIns="0" rtlCol="0" anchor="ctr"/>
          <a:lstStyle/>
          <a:p>
            <a:pPr marL="0" indent="0">
              <a:buNone/>
            </a:pPr>
            <a:r>
              <a:rPr lang="en-US" sz="1300" b="1" dirty="0">
                <a:solidFill>
                  <a:srgbClr val="FFFFFF"/>
                </a:solidFill>
                <a:latin typeface="Arial" pitchFamily="34" charset="0"/>
                <a:ea typeface="Arial" pitchFamily="34" charset="-122"/>
                <a:cs typeface="Arial" pitchFamily="34" charset="-120"/>
              </a:rPr>
              <a:t>Non-Functional</a:t>
            </a:r>
            <a:endParaRPr lang="en-US" sz="1300" dirty="0"/>
          </a:p>
        </p:txBody>
      </p:sp>
      <p:sp>
        <p:nvSpPr>
          <p:cNvPr id="38" name="Text 36"/>
          <p:cNvSpPr/>
          <p:nvPr/>
        </p:nvSpPr>
        <p:spPr>
          <a:xfrm>
            <a:off x="6638544" y="3986784"/>
            <a:ext cx="2194560" cy="548640"/>
          </a:xfrm>
          <a:prstGeom prst="rect">
            <a:avLst/>
          </a:prstGeom>
          <a:noFill/>
          <a:ln/>
        </p:spPr>
        <p:txBody>
          <a:bodyPr wrap="square" lIns="0" tIns="0" rIns="0" bIns="0" rtlCol="0" anchor="t"/>
          <a:lstStyle/>
          <a:p>
            <a:pPr marL="0" indent="0">
              <a:buNone/>
            </a:pPr>
            <a:r>
              <a:rPr lang="en-US" sz="950" dirty="0">
                <a:solidFill>
                  <a:srgbClr val="AAAAAA"/>
                </a:solidFill>
                <a:latin typeface="Calibri" pitchFamily="34" charset="0"/>
                <a:ea typeface="Calibri" pitchFamily="34" charset="-122"/>
                <a:cs typeface="Calibri" pitchFamily="34" charset="-120"/>
              </a:rPr>
              <a:t>Verifies performance, security, load capacity, and usability</a:t>
            </a:r>
            <a:endParaRPr lang="en-US" sz="9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5">
    <p:bg>
      <p:bgPr>
        <a:solidFill>
          <a:srgbClr val="F5F5F5"/>
        </a:solidFill>
        <a:effectLst/>
      </p:bgPr>
    </p:bg>
    <p:spTree>
      <p:nvGrpSpPr>
        <p:cNvPr id="1" name=""/>
        <p:cNvGrpSpPr/>
        <p:nvPr/>
      </p:nvGrpSpPr>
      <p:grpSpPr>
        <a:xfrm>
          <a:off x="0" y="0"/>
          <a:ext cx="0" cy="0"/>
          <a:chOff x="0" y="0"/>
          <a:chExt cx="0" cy="0"/>
        </a:xfrm>
      </p:grpSpPr>
      <p:sp>
        <p:nvSpPr>
          <p:cNvPr id="2" name="Shape 0"/>
          <p:cNvSpPr/>
          <p:nvPr/>
        </p:nvSpPr>
        <p:spPr>
          <a:xfrm>
            <a:off x="0" y="0"/>
            <a:ext cx="9144000" cy="621792"/>
          </a:xfrm>
          <a:prstGeom prst="rect">
            <a:avLst/>
          </a:prstGeom>
          <a:solidFill>
            <a:srgbClr val="0D0D0D"/>
          </a:solidFill>
          <a:ln w="12700">
            <a:solidFill>
              <a:srgbClr val="0D0D0D"/>
            </a:solidFill>
            <a:prstDash val="solid"/>
          </a:ln>
        </p:spPr>
      </p:sp>
      <p:sp>
        <p:nvSpPr>
          <p:cNvPr id="3" name="Shape 1"/>
          <p:cNvSpPr/>
          <p:nvPr/>
        </p:nvSpPr>
        <p:spPr>
          <a:xfrm>
            <a:off x="0" y="0"/>
            <a:ext cx="64008" cy="621792"/>
          </a:xfrm>
          <a:prstGeom prst="rect">
            <a:avLst/>
          </a:prstGeom>
          <a:solidFill>
            <a:srgbClr val="FF6500"/>
          </a:solidFill>
          <a:ln w="12700">
            <a:solidFill>
              <a:srgbClr val="FF6500"/>
            </a:solidFill>
            <a:prstDash val="solid"/>
          </a:ln>
        </p:spPr>
      </p:sp>
      <p:sp>
        <p:nvSpPr>
          <p:cNvPr id="4" name="Text 2"/>
          <p:cNvSpPr/>
          <p:nvPr/>
        </p:nvSpPr>
        <p:spPr>
          <a:xfrm>
            <a:off x="201168" y="64008"/>
            <a:ext cx="8503920" cy="493776"/>
          </a:xfrm>
          <a:prstGeom prst="rect">
            <a:avLst/>
          </a:prstGeom>
          <a:noFill/>
          <a:ln/>
        </p:spPr>
        <p:txBody>
          <a:bodyPr wrap="square" lIns="0" tIns="0" rIns="0" bIns="0" rtlCol="0" anchor="ctr"/>
          <a:lstStyle/>
          <a:p>
            <a:pPr marL="0" indent="0">
              <a:buNone/>
            </a:pPr>
            <a:r>
              <a:rPr lang="en-US" sz="1900" b="1" dirty="0">
                <a:solidFill>
                  <a:srgbClr val="FFFFFF"/>
                </a:solidFill>
                <a:latin typeface="Arial" pitchFamily="34" charset="0"/>
                <a:ea typeface="Arial" pitchFamily="34" charset="-122"/>
                <a:cs typeface="Arial" pitchFamily="34" charset="-120"/>
              </a:rPr>
              <a:t>Types of Test Cases — Detailed Examples (Password Field: 8–20 characters)</a:t>
            </a:r>
            <a:endParaRPr lang="en-US" sz="1900" dirty="0"/>
          </a:p>
        </p:txBody>
      </p:sp>
      <p:sp>
        <p:nvSpPr>
          <p:cNvPr id="5" name="Shape 3"/>
          <p:cNvSpPr/>
          <p:nvPr/>
        </p:nvSpPr>
        <p:spPr>
          <a:xfrm>
            <a:off x="0" y="4828032"/>
            <a:ext cx="9144000" cy="315468"/>
          </a:xfrm>
          <a:prstGeom prst="rect">
            <a:avLst/>
          </a:prstGeom>
          <a:solidFill>
            <a:srgbClr val="0D0D0D"/>
          </a:solidFill>
          <a:ln w="12700">
            <a:solidFill>
              <a:srgbClr val="0D0D0D"/>
            </a:solidFill>
            <a:prstDash val="solid"/>
          </a:ln>
        </p:spPr>
      </p:sp>
      <p:sp>
        <p:nvSpPr>
          <p:cNvPr id="6" name="Text 4"/>
          <p:cNvSpPr/>
          <p:nvPr/>
        </p:nvSpPr>
        <p:spPr>
          <a:xfrm>
            <a:off x="182880" y="4855464"/>
            <a:ext cx="7315200" cy="228600"/>
          </a:xfrm>
          <a:prstGeom prst="rect">
            <a:avLst/>
          </a:prstGeom>
          <a:noFill/>
          <a:ln/>
        </p:spPr>
        <p:txBody>
          <a:bodyPr wrap="square" lIns="0" tIns="0" rIns="0" bIns="0" rtlCol="0" anchor="ctr"/>
          <a:lstStyle/>
          <a:p>
            <a:pPr marL="0" indent="0">
              <a:buNone/>
            </a:pPr>
            <a:r>
              <a:rPr lang="en-US" sz="850" dirty="0">
                <a:solidFill>
                  <a:srgbClr val="999999"/>
                </a:solidFill>
                <a:latin typeface="Calibri" pitchFamily="34" charset="0"/>
                <a:ea typeface="Calibri" pitchFamily="34" charset="-122"/>
                <a:cs typeface="Calibri" pitchFamily="34" charset="-120"/>
              </a:rPr>
              <a:t>Quality Engineering | Test Case Development in STLC</a:t>
            </a:r>
            <a:endParaRPr lang="en-US" sz="850" dirty="0"/>
          </a:p>
        </p:txBody>
      </p:sp>
      <p:sp>
        <p:nvSpPr>
          <p:cNvPr id="7" name="Text 5"/>
          <p:cNvSpPr/>
          <p:nvPr/>
        </p:nvSpPr>
        <p:spPr>
          <a:xfrm>
            <a:off x="7406640" y="4855464"/>
            <a:ext cx="1554480" cy="228600"/>
          </a:xfrm>
          <a:prstGeom prst="rect">
            <a:avLst/>
          </a:prstGeom>
          <a:noFill/>
          <a:ln/>
        </p:spPr>
        <p:txBody>
          <a:bodyPr wrap="square" lIns="0" tIns="0" rIns="0" bIns="0" rtlCol="0" anchor="ctr"/>
          <a:lstStyle/>
          <a:p>
            <a:pPr marL="0" indent="0" algn="r">
              <a:buNone/>
            </a:pPr>
            <a:r>
              <a:rPr lang="en-US" sz="850" b="1" dirty="0">
                <a:solidFill>
                  <a:srgbClr val="FF6500"/>
                </a:solidFill>
                <a:latin typeface="Calibri" pitchFamily="34" charset="0"/>
                <a:ea typeface="Calibri" pitchFamily="34" charset="-122"/>
                <a:cs typeface="Calibri" pitchFamily="34" charset="-120"/>
              </a:rPr>
              <a:t>INTERNAL TRAINING</a:t>
            </a:r>
            <a:endParaRPr lang="en-US" sz="850" dirty="0"/>
          </a:p>
        </p:txBody>
      </p:sp>
      <p:sp>
        <p:nvSpPr>
          <p:cNvPr id="8" name="Shape 6"/>
          <p:cNvSpPr/>
          <p:nvPr/>
        </p:nvSpPr>
        <p:spPr>
          <a:xfrm>
            <a:off x="228600" y="777240"/>
            <a:ext cx="2761488" cy="1892808"/>
          </a:xfrm>
          <a:prstGeom prst="rect">
            <a:avLst/>
          </a:prstGeom>
          <a:solidFill>
            <a:srgbClr val="FFFFFF"/>
          </a:solidFill>
          <a:ln w="12700">
            <a:solidFill>
              <a:srgbClr val="DEDEDE"/>
            </a:solidFill>
            <a:prstDash val="solid"/>
          </a:ln>
          <a:effectLst>
            <a:outerShdw blurRad="76200" dist="25400" dir="8100000" algn="bl" rotWithShape="0">
              <a:srgbClr val="000000">
                <a:alpha val="13000"/>
              </a:srgbClr>
            </a:outerShdw>
          </a:effectLst>
        </p:spPr>
      </p:sp>
      <p:sp>
        <p:nvSpPr>
          <p:cNvPr id="9" name="Shape 7"/>
          <p:cNvSpPr/>
          <p:nvPr/>
        </p:nvSpPr>
        <p:spPr>
          <a:xfrm>
            <a:off x="228600" y="777240"/>
            <a:ext cx="2761488" cy="384048"/>
          </a:xfrm>
          <a:prstGeom prst="rect">
            <a:avLst/>
          </a:prstGeom>
          <a:solidFill>
            <a:srgbClr val="27AE60"/>
          </a:solidFill>
          <a:ln w="12700">
            <a:solidFill>
              <a:srgbClr val="27AE60"/>
            </a:solidFill>
            <a:prstDash val="solid"/>
          </a:ln>
        </p:spPr>
      </p:sp>
      <p:sp>
        <p:nvSpPr>
          <p:cNvPr id="10" name="Text 8"/>
          <p:cNvSpPr/>
          <p:nvPr/>
        </p:nvSpPr>
        <p:spPr>
          <a:xfrm>
            <a:off x="301752" y="777240"/>
            <a:ext cx="2615184" cy="384048"/>
          </a:xfrm>
          <a:prstGeom prst="rect">
            <a:avLst/>
          </a:prstGeom>
          <a:noFill/>
          <a:ln/>
        </p:spPr>
        <p:txBody>
          <a:bodyPr wrap="square" lIns="0" tIns="0" rIns="0" bIns="0" rtlCol="0" anchor="ctr"/>
          <a:lstStyle/>
          <a:p>
            <a:pPr marL="0" indent="0">
              <a:buNone/>
            </a:pPr>
            <a:r>
              <a:rPr lang="en-US" sz="1150" b="1" kern="0" spc="100" dirty="0">
                <a:solidFill>
                  <a:srgbClr val="FFFFFF"/>
                </a:solidFill>
                <a:latin typeface="Arial" pitchFamily="34" charset="0"/>
                <a:ea typeface="Arial" pitchFamily="34" charset="-122"/>
                <a:cs typeface="Arial" pitchFamily="34" charset="-120"/>
              </a:rPr>
              <a:t>POSITIVE</a:t>
            </a:r>
            <a:endParaRPr lang="en-US" sz="1150" dirty="0"/>
          </a:p>
        </p:txBody>
      </p:sp>
      <p:sp>
        <p:nvSpPr>
          <p:cNvPr id="11" name="Text 9"/>
          <p:cNvSpPr/>
          <p:nvPr/>
        </p:nvSpPr>
        <p:spPr>
          <a:xfrm>
            <a:off x="301752" y="1207008"/>
            <a:ext cx="2615184" cy="1417320"/>
          </a:xfrm>
          <a:prstGeom prst="rect">
            <a:avLst/>
          </a:prstGeom>
          <a:noFill/>
          <a:ln/>
        </p:spPr>
        <p:txBody>
          <a:bodyPr wrap="square" lIns="0" tIns="0" rIns="0" bIns="0" rtlCol="0" anchor="t"/>
          <a:lstStyle/>
          <a:p>
            <a:pPr marL="0" indent="0">
              <a:buNone/>
            </a:pPr>
            <a:r>
              <a:rPr lang="en-US" sz="1000" dirty="0">
                <a:solidFill>
                  <a:srgbClr val="2C2C2C"/>
                </a:solidFill>
                <a:latin typeface="Calibri" pitchFamily="34" charset="0"/>
                <a:ea typeface="Calibri" pitchFamily="34" charset="-122"/>
                <a:cs typeface="Calibri" pitchFamily="34" charset="-120"/>
              </a:rPr>
              <a:t>Input: 'MyPass@123' (10 chars)</a:t>
            </a:r>
            <a:endParaRPr lang="en-US" sz="1000" dirty="0"/>
          </a:p>
          <a:p>
            <a:pPr marL="0" indent="0">
              <a:buNone/>
            </a:pPr>
            <a:r>
              <a:rPr lang="en-US" sz="1000" dirty="0">
                <a:solidFill>
                  <a:srgbClr val="2C2C2C"/>
                </a:solidFill>
                <a:latin typeface="Calibri" pitchFamily="34" charset="0"/>
                <a:ea typeface="Calibri" pitchFamily="34" charset="-122"/>
                <a:cs typeface="Calibri" pitchFamily="34" charset="-120"/>
              </a:rPr>
              <a:t>Step: Enter in password field and submit</a:t>
            </a:r>
            <a:endParaRPr lang="en-US" sz="1000" dirty="0"/>
          </a:p>
          <a:p>
            <a:pPr marL="0" indent="0">
              <a:buNone/>
            </a:pPr>
            <a:r>
              <a:rPr lang="en-US" sz="1000" dirty="0">
                <a:solidFill>
                  <a:srgbClr val="2C2C2C"/>
                </a:solidFill>
                <a:latin typeface="Calibri" pitchFamily="34" charset="0"/>
                <a:ea typeface="Calibri" pitchFamily="34" charset="-122"/>
                <a:cs typeface="Calibri" pitchFamily="34" charset="-120"/>
              </a:rPr>
              <a:t>Expected: Accepted — no validation error shown</a:t>
            </a:r>
            <a:endParaRPr lang="en-US" sz="1000" dirty="0"/>
          </a:p>
        </p:txBody>
      </p:sp>
      <p:sp>
        <p:nvSpPr>
          <p:cNvPr id="12" name="Shape 10"/>
          <p:cNvSpPr/>
          <p:nvPr/>
        </p:nvSpPr>
        <p:spPr>
          <a:xfrm>
            <a:off x="3136392" y="777240"/>
            <a:ext cx="2761488" cy="1892808"/>
          </a:xfrm>
          <a:prstGeom prst="rect">
            <a:avLst/>
          </a:prstGeom>
          <a:solidFill>
            <a:srgbClr val="FFFFFF"/>
          </a:solidFill>
          <a:ln w="12700">
            <a:solidFill>
              <a:srgbClr val="DEDEDE"/>
            </a:solidFill>
            <a:prstDash val="solid"/>
          </a:ln>
          <a:effectLst>
            <a:outerShdw blurRad="76200" dist="25400" dir="8100000" algn="bl" rotWithShape="0">
              <a:srgbClr val="000000">
                <a:alpha val="13000"/>
              </a:srgbClr>
            </a:outerShdw>
          </a:effectLst>
        </p:spPr>
      </p:sp>
      <p:sp>
        <p:nvSpPr>
          <p:cNvPr id="13" name="Shape 11"/>
          <p:cNvSpPr/>
          <p:nvPr/>
        </p:nvSpPr>
        <p:spPr>
          <a:xfrm>
            <a:off x="3136392" y="777240"/>
            <a:ext cx="2761488" cy="384048"/>
          </a:xfrm>
          <a:prstGeom prst="rect">
            <a:avLst/>
          </a:prstGeom>
          <a:solidFill>
            <a:srgbClr val="C0392B"/>
          </a:solidFill>
          <a:ln w="12700">
            <a:solidFill>
              <a:srgbClr val="C0392B"/>
            </a:solidFill>
            <a:prstDash val="solid"/>
          </a:ln>
        </p:spPr>
      </p:sp>
      <p:sp>
        <p:nvSpPr>
          <p:cNvPr id="14" name="Text 12"/>
          <p:cNvSpPr/>
          <p:nvPr/>
        </p:nvSpPr>
        <p:spPr>
          <a:xfrm>
            <a:off x="3209544" y="777240"/>
            <a:ext cx="2615184" cy="384048"/>
          </a:xfrm>
          <a:prstGeom prst="rect">
            <a:avLst/>
          </a:prstGeom>
          <a:noFill/>
          <a:ln/>
        </p:spPr>
        <p:txBody>
          <a:bodyPr wrap="square" lIns="0" tIns="0" rIns="0" bIns="0" rtlCol="0" anchor="ctr"/>
          <a:lstStyle/>
          <a:p>
            <a:pPr marL="0" indent="0">
              <a:buNone/>
            </a:pPr>
            <a:r>
              <a:rPr lang="en-US" sz="1150" b="1" kern="0" spc="100" dirty="0">
                <a:solidFill>
                  <a:srgbClr val="FFFFFF"/>
                </a:solidFill>
                <a:latin typeface="Arial" pitchFamily="34" charset="0"/>
                <a:ea typeface="Arial" pitchFamily="34" charset="-122"/>
                <a:cs typeface="Arial" pitchFamily="34" charset="-120"/>
              </a:rPr>
              <a:t>NEGATIVE</a:t>
            </a:r>
            <a:endParaRPr lang="en-US" sz="1150" dirty="0"/>
          </a:p>
        </p:txBody>
      </p:sp>
      <p:sp>
        <p:nvSpPr>
          <p:cNvPr id="15" name="Text 13"/>
          <p:cNvSpPr/>
          <p:nvPr/>
        </p:nvSpPr>
        <p:spPr>
          <a:xfrm>
            <a:off x="3209544" y="1207008"/>
            <a:ext cx="2615184" cy="1417320"/>
          </a:xfrm>
          <a:prstGeom prst="rect">
            <a:avLst/>
          </a:prstGeom>
          <a:noFill/>
          <a:ln/>
        </p:spPr>
        <p:txBody>
          <a:bodyPr wrap="square" lIns="0" tIns="0" rIns="0" bIns="0" rtlCol="0" anchor="t"/>
          <a:lstStyle/>
          <a:p>
            <a:pPr marL="0" indent="0">
              <a:buNone/>
            </a:pPr>
            <a:r>
              <a:rPr lang="en-US" sz="1000" dirty="0">
                <a:solidFill>
                  <a:srgbClr val="2C2C2C"/>
                </a:solidFill>
                <a:latin typeface="Calibri" pitchFamily="34" charset="0"/>
                <a:ea typeface="Calibri" pitchFamily="34" charset="-122"/>
                <a:cs typeface="Calibri" pitchFamily="34" charset="-120"/>
              </a:rPr>
              <a:t>Input: 'ab' (2 chars)</a:t>
            </a:r>
            <a:endParaRPr lang="en-US" sz="1000" dirty="0"/>
          </a:p>
          <a:p>
            <a:pPr marL="0" indent="0">
              <a:buNone/>
            </a:pPr>
            <a:r>
              <a:rPr lang="en-US" sz="1000" dirty="0">
                <a:solidFill>
                  <a:srgbClr val="2C2C2C"/>
                </a:solidFill>
                <a:latin typeface="Calibri" pitchFamily="34" charset="0"/>
                <a:ea typeface="Calibri" pitchFamily="34" charset="-122"/>
                <a:cs typeface="Calibri" pitchFamily="34" charset="-120"/>
              </a:rPr>
              <a:t>Step: Enter in password field and submit</a:t>
            </a:r>
            <a:endParaRPr lang="en-US" sz="1000" dirty="0"/>
          </a:p>
          <a:p>
            <a:pPr marL="0" indent="0">
              <a:buNone/>
            </a:pPr>
            <a:r>
              <a:rPr lang="en-US" sz="1000" dirty="0">
                <a:solidFill>
                  <a:srgbClr val="2C2C2C"/>
                </a:solidFill>
                <a:latin typeface="Calibri" pitchFamily="34" charset="0"/>
                <a:ea typeface="Calibri" pitchFamily="34" charset="-122"/>
                <a:cs typeface="Calibri" pitchFamily="34" charset="-120"/>
              </a:rPr>
              <a:t>Expected: Error — 'Password must be at least 8 characters'</a:t>
            </a:r>
            <a:endParaRPr lang="en-US" sz="1000" dirty="0"/>
          </a:p>
        </p:txBody>
      </p:sp>
      <p:sp>
        <p:nvSpPr>
          <p:cNvPr id="16" name="Shape 14"/>
          <p:cNvSpPr/>
          <p:nvPr/>
        </p:nvSpPr>
        <p:spPr>
          <a:xfrm>
            <a:off x="6044184" y="777240"/>
            <a:ext cx="2761488" cy="1892808"/>
          </a:xfrm>
          <a:prstGeom prst="rect">
            <a:avLst/>
          </a:prstGeom>
          <a:solidFill>
            <a:srgbClr val="FFFFFF"/>
          </a:solidFill>
          <a:ln w="12700">
            <a:solidFill>
              <a:srgbClr val="DEDEDE"/>
            </a:solidFill>
            <a:prstDash val="solid"/>
          </a:ln>
          <a:effectLst>
            <a:outerShdw blurRad="76200" dist="25400" dir="8100000" algn="bl" rotWithShape="0">
              <a:srgbClr val="000000">
                <a:alpha val="13000"/>
              </a:srgbClr>
            </a:outerShdw>
          </a:effectLst>
        </p:spPr>
      </p:sp>
      <p:sp>
        <p:nvSpPr>
          <p:cNvPr id="17" name="Shape 15"/>
          <p:cNvSpPr/>
          <p:nvPr/>
        </p:nvSpPr>
        <p:spPr>
          <a:xfrm>
            <a:off x="6044184" y="777240"/>
            <a:ext cx="2761488" cy="384048"/>
          </a:xfrm>
          <a:prstGeom prst="rect">
            <a:avLst/>
          </a:prstGeom>
          <a:solidFill>
            <a:srgbClr val="2980B9"/>
          </a:solidFill>
          <a:ln w="12700">
            <a:solidFill>
              <a:srgbClr val="2980B9"/>
            </a:solidFill>
            <a:prstDash val="solid"/>
          </a:ln>
        </p:spPr>
      </p:sp>
      <p:sp>
        <p:nvSpPr>
          <p:cNvPr id="18" name="Text 16"/>
          <p:cNvSpPr/>
          <p:nvPr/>
        </p:nvSpPr>
        <p:spPr>
          <a:xfrm>
            <a:off x="6117336" y="777240"/>
            <a:ext cx="2615184" cy="384048"/>
          </a:xfrm>
          <a:prstGeom prst="rect">
            <a:avLst/>
          </a:prstGeom>
          <a:noFill/>
          <a:ln/>
        </p:spPr>
        <p:txBody>
          <a:bodyPr wrap="square" lIns="0" tIns="0" rIns="0" bIns="0" rtlCol="0" anchor="ctr"/>
          <a:lstStyle/>
          <a:p>
            <a:pPr marL="0" indent="0">
              <a:buNone/>
            </a:pPr>
            <a:r>
              <a:rPr lang="en-US" sz="1150" b="1" kern="0" spc="100" dirty="0">
                <a:solidFill>
                  <a:srgbClr val="FFFFFF"/>
                </a:solidFill>
                <a:latin typeface="Arial" pitchFamily="34" charset="0"/>
                <a:ea typeface="Arial" pitchFamily="34" charset="-122"/>
                <a:cs typeface="Arial" pitchFamily="34" charset="-120"/>
              </a:rPr>
              <a:t>EDGE CASE</a:t>
            </a:r>
            <a:endParaRPr lang="en-US" sz="1150" dirty="0"/>
          </a:p>
        </p:txBody>
      </p:sp>
      <p:sp>
        <p:nvSpPr>
          <p:cNvPr id="19" name="Text 17"/>
          <p:cNvSpPr/>
          <p:nvPr/>
        </p:nvSpPr>
        <p:spPr>
          <a:xfrm>
            <a:off x="6117336" y="1207008"/>
            <a:ext cx="2615184" cy="1417320"/>
          </a:xfrm>
          <a:prstGeom prst="rect">
            <a:avLst/>
          </a:prstGeom>
          <a:noFill/>
          <a:ln/>
        </p:spPr>
        <p:txBody>
          <a:bodyPr wrap="square" lIns="0" tIns="0" rIns="0" bIns="0" rtlCol="0" anchor="t"/>
          <a:lstStyle/>
          <a:p>
            <a:pPr marL="0" indent="0">
              <a:buNone/>
            </a:pPr>
            <a:r>
              <a:rPr lang="en-US" sz="1000" dirty="0">
                <a:solidFill>
                  <a:srgbClr val="2C2C2C"/>
                </a:solidFill>
                <a:latin typeface="Calibri" pitchFamily="34" charset="0"/>
                <a:ea typeface="Calibri" pitchFamily="34" charset="-122"/>
                <a:cs typeface="Calibri" pitchFamily="34" charset="-120"/>
              </a:rPr>
              <a:t>Input: 'Aa1!Aa1!' (exactly 8 chars — minimum valid)</a:t>
            </a:r>
            <a:endParaRPr lang="en-US" sz="1000" dirty="0"/>
          </a:p>
          <a:p>
            <a:pPr marL="0" indent="0">
              <a:buNone/>
            </a:pPr>
            <a:r>
              <a:rPr lang="en-US" sz="1000" dirty="0">
                <a:solidFill>
                  <a:srgbClr val="2C2C2C"/>
                </a:solidFill>
                <a:latin typeface="Calibri" pitchFamily="34" charset="0"/>
                <a:ea typeface="Calibri" pitchFamily="34" charset="-122"/>
                <a:cs typeface="Calibri" pitchFamily="34" charset="-120"/>
              </a:rPr>
              <a:t>Step: Enter and submit</a:t>
            </a:r>
            <a:endParaRPr lang="en-US" sz="1000" dirty="0"/>
          </a:p>
          <a:p>
            <a:pPr marL="0" indent="0">
              <a:buNone/>
            </a:pPr>
            <a:r>
              <a:rPr lang="en-US" sz="1000" dirty="0">
                <a:solidFill>
                  <a:srgbClr val="2C2C2C"/>
                </a:solidFill>
                <a:latin typeface="Calibri" pitchFamily="34" charset="0"/>
                <a:ea typeface="Calibri" pitchFamily="34" charset="-122"/>
                <a:cs typeface="Calibri" pitchFamily="34" charset="-120"/>
              </a:rPr>
              <a:t>Expected: Accepted — just meets the minimum threshold</a:t>
            </a:r>
            <a:endParaRPr lang="en-US" sz="1000" dirty="0"/>
          </a:p>
        </p:txBody>
      </p:sp>
      <p:sp>
        <p:nvSpPr>
          <p:cNvPr id="20" name="Shape 18"/>
          <p:cNvSpPr/>
          <p:nvPr/>
        </p:nvSpPr>
        <p:spPr>
          <a:xfrm>
            <a:off x="228600" y="2788920"/>
            <a:ext cx="2761488" cy="1892808"/>
          </a:xfrm>
          <a:prstGeom prst="rect">
            <a:avLst/>
          </a:prstGeom>
          <a:solidFill>
            <a:srgbClr val="FFFFFF"/>
          </a:solidFill>
          <a:ln w="12700">
            <a:solidFill>
              <a:srgbClr val="DEDEDE"/>
            </a:solidFill>
            <a:prstDash val="solid"/>
          </a:ln>
          <a:effectLst>
            <a:outerShdw blurRad="76200" dist="25400" dir="8100000" algn="bl" rotWithShape="0">
              <a:srgbClr val="000000">
                <a:alpha val="13000"/>
              </a:srgbClr>
            </a:outerShdw>
          </a:effectLst>
        </p:spPr>
      </p:sp>
      <p:sp>
        <p:nvSpPr>
          <p:cNvPr id="21" name="Shape 19"/>
          <p:cNvSpPr/>
          <p:nvPr/>
        </p:nvSpPr>
        <p:spPr>
          <a:xfrm>
            <a:off x="228600" y="2788920"/>
            <a:ext cx="2761488" cy="384048"/>
          </a:xfrm>
          <a:prstGeom prst="rect">
            <a:avLst/>
          </a:prstGeom>
          <a:solidFill>
            <a:srgbClr val="8E44AD"/>
          </a:solidFill>
          <a:ln w="12700">
            <a:solidFill>
              <a:srgbClr val="8E44AD"/>
            </a:solidFill>
            <a:prstDash val="solid"/>
          </a:ln>
        </p:spPr>
      </p:sp>
      <p:sp>
        <p:nvSpPr>
          <p:cNvPr id="22" name="Text 20"/>
          <p:cNvSpPr/>
          <p:nvPr/>
        </p:nvSpPr>
        <p:spPr>
          <a:xfrm>
            <a:off x="301752" y="2788920"/>
            <a:ext cx="2615184" cy="384048"/>
          </a:xfrm>
          <a:prstGeom prst="rect">
            <a:avLst/>
          </a:prstGeom>
          <a:noFill/>
          <a:ln/>
        </p:spPr>
        <p:txBody>
          <a:bodyPr wrap="square" lIns="0" tIns="0" rIns="0" bIns="0" rtlCol="0" anchor="ctr"/>
          <a:lstStyle/>
          <a:p>
            <a:pPr marL="0" indent="0">
              <a:buNone/>
            </a:pPr>
            <a:r>
              <a:rPr lang="en-US" sz="1150" b="1" kern="0" spc="100" dirty="0">
                <a:solidFill>
                  <a:srgbClr val="FFFFFF"/>
                </a:solidFill>
                <a:latin typeface="Arial" pitchFamily="34" charset="0"/>
                <a:ea typeface="Arial" pitchFamily="34" charset="-122"/>
                <a:cs typeface="Arial" pitchFamily="34" charset="-120"/>
              </a:rPr>
              <a:t>BOUNDARY VALUE</a:t>
            </a:r>
            <a:endParaRPr lang="en-US" sz="1150" dirty="0"/>
          </a:p>
        </p:txBody>
      </p:sp>
      <p:sp>
        <p:nvSpPr>
          <p:cNvPr id="23" name="Text 21"/>
          <p:cNvSpPr/>
          <p:nvPr/>
        </p:nvSpPr>
        <p:spPr>
          <a:xfrm>
            <a:off x="301752" y="3218688"/>
            <a:ext cx="2615184" cy="1417320"/>
          </a:xfrm>
          <a:prstGeom prst="rect">
            <a:avLst/>
          </a:prstGeom>
          <a:noFill/>
          <a:ln/>
        </p:spPr>
        <p:txBody>
          <a:bodyPr wrap="square" lIns="0" tIns="0" rIns="0" bIns="0" rtlCol="0" anchor="t"/>
          <a:lstStyle/>
          <a:p>
            <a:pPr marL="0" indent="0">
              <a:buNone/>
            </a:pPr>
            <a:r>
              <a:rPr lang="en-US" sz="1000" dirty="0">
                <a:solidFill>
                  <a:srgbClr val="2C2C2C"/>
                </a:solidFill>
                <a:latin typeface="Calibri" pitchFamily="34" charset="0"/>
                <a:ea typeface="Calibri" pitchFamily="34" charset="-122"/>
                <a:cs typeface="Calibri" pitchFamily="34" charset="-120"/>
              </a:rPr>
              <a:t>Test: 7 chars → Reject | 8 chars → Accept | 9 chars → Accept | 20 chars → Accept | 21 chars → Reject</a:t>
            </a:r>
            <a:endParaRPr lang="en-US" sz="1000" dirty="0"/>
          </a:p>
          <a:p>
            <a:pPr marL="0" indent="0">
              <a:buNone/>
            </a:pPr>
            <a:r>
              <a:rPr lang="en-US" sz="1000" dirty="0">
                <a:solidFill>
                  <a:srgbClr val="2C2C2C"/>
                </a:solidFill>
                <a:latin typeface="Calibri" pitchFamily="34" charset="0"/>
                <a:ea typeface="Calibri" pitchFamily="34" charset="-122"/>
                <a:cs typeface="Calibri" pitchFamily="34" charset="-120"/>
              </a:rPr>
              <a:t>Verify each boundary point individually</a:t>
            </a:r>
            <a:endParaRPr lang="en-US" sz="1000" dirty="0"/>
          </a:p>
        </p:txBody>
      </p:sp>
      <p:sp>
        <p:nvSpPr>
          <p:cNvPr id="24" name="Shape 22"/>
          <p:cNvSpPr/>
          <p:nvPr/>
        </p:nvSpPr>
        <p:spPr>
          <a:xfrm>
            <a:off x="3136392" y="2788920"/>
            <a:ext cx="2761488" cy="1892808"/>
          </a:xfrm>
          <a:prstGeom prst="rect">
            <a:avLst/>
          </a:prstGeom>
          <a:solidFill>
            <a:srgbClr val="FFFFFF"/>
          </a:solidFill>
          <a:ln w="12700">
            <a:solidFill>
              <a:srgbClr val="DEDEDE"/>
            </a:solidFill>
            <a:prstDash val="solid"/>
          </a:ln>
          <a:effectLst>
            <a:outerShdw blurRad="76200" dist="25400" dir="8100000" algn="bl" rotWithShape="0">
              <a:srgbClr val="000000">
                <a:alpha val="13000"/>
              </a:srgbClr>
            </a:outerShdw>
          </a:effectLst>
        </p:spPr>
      </p:sp>
      <p:sp>
        <p:nvSpPr>
          <p:cNvPr id="25" name="Shape 23"/>
          <p:cNvSpPr/>
          <p:nvPr/>
        </p:nvSpPr>
        <p:spPr>
          <a:xfrm>
            <a:off x="3136392" y="2788920"/>
            <a:ext cx="2761488" cy="384048"/>
          </a:xfrm>
          <a:prstGeom prst="rect">
            <a:avLst/>
          </a:prstGeom>
          <a:solidFill>
            <a:srgbClr val="FF6500"/>
          </a:solidFill>
          <a:ln w="12700">
            <a:solidFill>
              <a:srgbClr val="FF6500"/>
            </a:solidFill>
            <a:prstDash val="solid"/>
          </a:ln>
        </p:spPr>
      </p:sp>
      <p:sp>
        <p:nvSpPr>
          <p:cNvPr id="26" name="Text 24"/>
          <p:cNvSpPr/>
          <p:nvPr/>
        </p:nvSpPr>
        <p:spPr>
          <a:xfrm>
            <a:off x="3209544" y="2788920"/>
            <a:ext cx="2615184" cy="384048"/>
          </a:xfrm>
          <a:prstGeom prst="rect">
            <a:avLst/>
          </a:prstGeom>
          <a:noFill/>
          <a:ln/>
        </p:spPr>
        <p:txBody>
          <a:bodyPr wrap="square" lIns="0" tIns="0" rIns="0" bIns="0" rtlCol="0" anchor="ctr"/>
          <a:lstStyle/>
          <a:p>
            <a:pPr marL="0" indent="0">
              <a:buNone/>
            </a:pPr>
            <a:r>
              <a:rPr lang="en-US" sz="1150" b="1" kern="0" spc="100" dirty="0">
                <a:solidFill>
                  <a:srgbClr val="FFFFFF"/>
                </a:solidFill>
                <a:latin typeface="Arial" pitchFamily="34" charset="0"/>
                <a:ea typeface="Arial" pitchFamily="34" charset="-122"/>
                <a:cs typeface="Arial" pitchFamily="34" charset="-120"/>
              </a:rPr>
              <a:t>FUNCTIONAL</a:t>
            </a:r>
            <a:endParaRPr lang="en-US" sz="1150" dirty="0"/>
          </a:p>
        </p:txBody>
      </p:sp>
      <p:sp>
        <p:nvSpPr>
          <p:cNvPr id="27" name="Text 25"/>
          <p:cNvSpPr/>
          <p:nvPr/>
        </p:nvSpPr>
        <p:spPr>
          <a:xfrm>
            <a:off x="3209544" y="3218688"/>
            <a:ext cx="2615184" cy="1417320"/>
          </a:xfrm>
          <a:prstGeom prst="rect">
            <a:avLst/>
          </a:prstGeom>
          <a:noFill/>
          <a:ln/>
        </p:spPr>
        <p:txBody>
          <a:bodyPr wrap="square" lIns="0" tIns="0" rIns="0" bIns="0" rtlCol="0" anchor="t"/>
          <a:lstStyle/>
          <a:p>
            <a:pPr marL="0" indent="0">
              <a:buNone/>
            </a:pPr>
            <a:r>
              <a:rPr lang="en-US" sz="1000" dirty="0">
                <a:solidFill>
                  <a:srgbClr val="2C2C2C"/>
                </a:solidFill>
                <a:latin typeface="Calibri" pitchFamily="34" charset="0"/>
                <a:ea typeface="Calibri" pitchFamily="34" charset="-122"/>
                <a:cs typeface="Calibri" pitchFamily="34" charset="-120"/>
              </a:rPr>
              <a:t>Input: valid 12-char password</a:t>
            </a:r>
            <a:endParaRPr lang="en-US" sz="1000" dirty="0"/>
          </a:p>
          <a:p>
            <a:pPr marL="0" indent="0">
              <a:buNone/>
            </a:pPr>
            <a:r>
              <a:rPr lang="en-US" sz="1000" dirty="0">
                <a:solidFill>
                  <a:srgbClr val="2C2C2C"/>
                </a:solidFill>
                <a:latin typeface="Calibri" pitchFamily="34" charset="0"/>
                <a:ea typeface="Calibri" pitchFamily="34" charset="-122"/>
                <a:cs typeface="Calibri" pitchFamily="34" charset="-120"/>
              </a:rPr>
              <a:t>Step: Complete registration flow</a:t>
            </a:r>
            <a:endParaRPr lang="en-US" sz="1000" dirty="0"/>
          </a:p>
          <a:p>
            <a:pPr marL="0" indent="0">
              <a:buNone/>
            </a:pPr>
            <a:r>
              <a:rPr lang="en-US" sz="1000" dirty="0">
                <a:solidFill>
                  <a:srgbClr val="2C2C2C"/>
                </a:solidFill>
                <a:latin typeface="Calibri" pitchFamily="34" charset="0"/>
                <a:ea typeface="Calibri" pitchFamily="34" charset="-122"/>
                <a:cs typeface="Calibri" pitchFamily="34" charset="-120"/>
              </a:rPr>
              <a:t>Expected: Password stored hashed, user account created, confirmation email sent</a:t>
            </a:r>
            <a:endParaRPr lang="en-US" sz="1000" dirty="0"/>
          </a:p>
        </p:txBody>
      </p:sp>
      <p:sp>
        <p:nvSpPr>
          <p:cNvPr id="28" name="Shape 26"/>
          <p:cNvSpPr/>
          <p:nvPr/>
        </p:nvSpPr>
        <p:spPr>
          <a:xfrm>
            <a:off x="6044184" y="2788920"/>
            <a:ext cx="2761488" cy="1892808"/>
          </a:xfrm>
          <a:prstGeom prst="rect">
            <a:avLst/>
          </a:prstGeom>
          <a:solidFill>
            <a:srgbClr val="FFFFFF"/>
          </a:solidFill>
          <a:ln w="12700">
            <a:solidFill>
              <a:srgbClr val="DEDEDE"/>
            </a:solidFill>
            <a:prstDash val="solid"/>
          </a:ln>
          <a:effectLst>
            <a:outerShdw blurRad="76200" dist="25400" dir="8100000" algn="bl" rotWithShape="0">
              <a:srgbClr val="000000">
                <a:alpha val="13000"/>
              </a:srgbClr>
            </a:outerShdw>
          </a:effectLst>
        </p:spPr>
      </p:sp>
      <p:sp>
        <p:nvSpPr>
          <p:cNvPr id="29" name="Shape 27"/>
          <p:cNvSpPr/>
          <p:nvPr/>
        </p:nvSpPr>
        <p:spPr>
          <a:xfrm>
            <a:off x="6044184" y="2788920"/>
            <a:ext cx="2761488" cy="384048"/>
          </a:xfrm>
          <a:prstGeom prst="rect">
            <a:avLst/>
          </a:prstGeom>
          <a:solidFill>
            <a:srgbClr val="17A589"/>
          </a:solidFill>
          <a:ln w="12700">
            <a:solidFill>
              <a:srgbClr val="17A589"/>
            </a:solidFill>
            <a:prstDash val="solid"/>
          </a:ln>
        </p:spPr>
      </p:sp>
      <p:sp>
        <p:nvSpPr>
          <p:cNvPr id="30" name="Text 28"/>
          <p:cNvSpPr/>
          <p:nvPr/>
        </p:nvSpPr>
        <p:spPr>
          <a:xfrm>
            <a:off x="6117336" y="2788920"/>
            <a:ext cx="2615184" cy="384048"/>
          </a:xfrm>
          <a:prstGeom prst="rect">
            <a:avLst/>
          </a:prstGeom>
          <a:noFill/>
          <a:ln/>
        </p:spPr>
        <p:txBody>
          <a:bodyPr wrap="square" lIns="0" tIns="0" rIns="0" bIns="0" rtlCol="0" anchor="ctr"/>
          <a:lstStyle/>
          <a:p>
            <a:pPr marL="0" indent="0">
              <a:buNone/>
            </a:pPr>
            <a:r>
              <a:rPr lang="en-US" sz="1150" b="1" kern="0" spc="100" dirty="0">
                <a:solidFill>
                  <a:srgbClr val="FFFFFF"/>
                </a:solidFill>
                <a:latin typeface="Arial" pitchFamily="34" charset="0"/>
                <a:ea typeface="Arial" pitchFamily="34" charset="-122"/>
                <a:cs typeface="Arial" pitchFamily="34" charset="-120"/>
              </a:rPr>
              <a:t>NON-FUNCTIONAL</a:t>
            </a:r>
            <a:endParaRPr lang="en-US" sz="1150" dirty="0"/>
          </a:p>
        </p:txBody>
      </p:sp>
      <p:sp>
        <p:nvSpPr>
          <p:cNvPr id="31" name="Text 29"/>
          <p:cNvSpPr/>
          <p:nvPr/>
        </p:nvSpPr>
        <p:spPr>
          <a:xfrm>
            <a:off x="6117336" y="3218688"/>
            <a:ext cx="2615184" cy="1417320"/>
          </a:xfrm>
          <a:prstGeom prst="rect">
            <a:avLst/>
          </a:prstGeom>
          <a:noFill/>
          <a:ln/>
        </p:spPr>
        <p:txBody>
          <a:bodyPr wrap="square" lIns="0" tIns="0" rIns="0" bIns="0" rtlCol="0" anchor="t"/>
          <a:lstStyle/>
          <a:p>
            <a:pPr marL="0" indent="0">
              <a:buNone/>
            </a:pPr>
            <a:r>
              <a:rPr lang="en-US" sz="1000" dirty="0">
                <a:solidFill>
                  <a:srgbClr val="2C2C2C"/>
                </a:solidFill>
                <a:latin typeface="Calibri" pitchFamily="34" charset="0"/>
                <a:ea typeface="Calibri" pitchFamily="34" charset="-122"/>
                <a:cs typeface="Calibri" pitchFamily="34" charset="-120"/>
              </a:rPr>
              <a:t>Type: Performance</a:t>
            </a:r>
            <a:endParaRPr lang="en-US" sz="1000" dirty="0"/>
          </a:p>
          <a:p>
            <a:pPr marL="0" indent="0">
              <a:buNone/>
            </a:pPr>
            <a:r>
              <a:rPr lang="en-US" sz="1000" dirty="0">
                <a:solidFill>
                  <a:srgbClr val="2C2C2C"/>
                </a:solidFill>
                <a:latin typeface="Calibri" pitchFamily="34" charset="0"/>
                <a:ea typeface="Calibri" pitchFamily="34" charset="-122"/>
                <a:cs typeface="Calibri" pitchFamily="34" charset="-120"/>
              </a:rPr>
              <a:t>Action: 1,000 concurrent users submit login forms simultaneously</a:t>
            </a:r>
            <a:endParaRPr lang="en-US" sz="1000" dirty="0"/>
          </a:p>
          <a:p>
            <a:pPr marL="0" indent="0">
              <a:buNone/>
            </a:pPr>
            <a:r>
              <a:rPr lang="en-US" sz="1000" dirty="0">
                <a:solidFill>
                  <a:srgbClr val="2C2C2C"/>
                </a:solidFill>
                <a:latin typeface="Calibri" pitchFamily="34" charset="0"/>
                <a:ea typeface="Calibri" pitchFamily="34" charset="-122"/>
                <a:cs typeface="Calibri" pitchFamily="34" charset="-120"/>
              </a:rPr>
              <a:t>Expected: All responses return in &lt; 3 seconds under load</a:t>
            </a:r>
            <a:endParaRPr lang="en-US" sz="1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6">
    <p:bg>
      <p:bgPr>
        <a:solidFill>
          <a:srgbClr val="0D0D0D"/>
        </a:solidFill>
        <a:effectLst/>
      </p:bgPr>
    </p:bg>
    <p:spTree>
      <p:nvGrpSpPr>
        <p:cNvPr id="1" name=""/>
        <p:cNvGrpSpPr/>
        <p:nvPr/>
      </p:nvGrpSpPr>
      <p:grpSpPr>
        <a:xfrm>
          <a:off x="0" y="0"/>
          <a:ext cx="0" cy="0"/>
          <a:chOff x="0" y="0"/>
          <a:chExt cx="0" cy="0"/>
        </a:xfrm>
      </p:grpSpPr>
      <p:sp>
        <p:nvSpPr>
          <p:cNvPr id="2" name="Shape 0"/>
          <p:cNvSpPr/>
          <p:nvPr/>
        </p:nvSpPr>
        <p:spPr>
          <a:xfrm>
            <a:off x="0" y="0"/>
            <a:ext cx="64008" cy="5143500"/>
          </a:xfrm>
          <a:prstGeom prst="rect">
            <a:avLst/>
          </a:prstGeom>
          <a:solidFill>
            <a:srgbClr val="FF6500"/>
          </a:solidFill>
          <a:ln w="12700">
            <a:solidFill>
              <a:srgbClr val="FF6500"/>
            </a:solidFill>
            <a:prstDash val="solid"/>
          </a:ln>
        </p:spPr>
      </p:sp>
      <p:sp>
        <p:nvSpPr>
          <p:cNvPr id="3" name="Shape 1"/>
          <p:cNvSpPr/>
          <p:nvPr/>
        </p:nvSpPr>
        <p:spPr>
          <a:xfrm>
            <a:off x="0" y="4828032"/>
            <a:ext cx="9144000" cy="315468"/>
          </a:xfrm>
          <a:prstGeom prst="rect">
            <a:avLst/>
          </a:prstGeom>
          <a:solidFill>
            <a:srgbClr val="FF6500"/>
          </a:solidFill>
          <a:ln w="12700">
            <a:solidFill>
              <a:srgbClr val="FF6500"/>
            </a:solidFill>
            <a:prstDash val="solid"/>
          </a:ln>
        </p:spPr>
      </p:sp>
      <p:sp>
        <p:nvSpPr>
          <p:cNvPr id="4" name="Shape 2"/>
          <p:cNvSpPr/>
          <p:nvPr/>
        </p:nvSpPr>
        <p:spPr>
          <a:xfrm>
            <a:off x="228600" y="365760"/>
            <a:ext cx="640080" cy="640080"/>
          </a:xfrm>
          <a:prstGeom prst="rect">
            <a:avLst/>
          </a:prstGeom>
          <a:solidFill>
            <a:srgbClr val="FF6500"/>
          </a:solidFill>
          <a:ln w="12700">
            <a:solidFill>
              <a:srgbClr val="FF6500"/>
            </a:solidFill>
            <a:prstDash val="solid"/>
          </a:ln>
        </p:spPr>
      </p:sp>
      <p:sp>
        <p:nvSpPr>
          <p:cNvPr id="5" name="Text 3"/>
          <p:cNvSpPr/>
          <p:nvPr/>
        </p:nvSpPr>
        <p:spPr>
          <a:xfrm>
            <a:off x="228600" y="365760"/>
            <a:ext cx="640080" cy="640080"/>
          </a:xfrm>
          <a:prstGeom prst="rect">
            <a:avLst/>
          </a:prstGeom>
          <a:noFill/>
          <a:ln/>
        </p:spPr>
        <p:txBody>
          <a:bodyPr wrap="square" lIns="0" tIns="0" rIns="0" bIns="0" rtlCol="0" anchor="ctr"/>
          <a:lstStyle/>
          <a:p>
            <a:pPr marL="0" indent="0" algn="ctr">
              <a:buNone/>
            </a:pPr>
            <a:r>
              <a:rPr lang="en-US" sz="2600" b="1" dirty="0">
                <a:solidFill>
                  <a:srgbClr val="FFFFFF"/>
                </a:solidFill>
                <a:latin typeface="Arial Black" pitchFamily="34" charset="0"/>
                <a:ea typeface="Arial Black" pitchFamily="34" charset="-122"/>
                <a:cs typeface="Arial Black" pitchFamily="34" charset="-120"/>
              </a:rPr>
              <a:t>06</a:t>
            </a:r>
            <a:endParaRPr lang="en-US" sz="2600" dirty="0"/>
          </a:p>
        </p:txBody>
      </p:sp>
      <p:sp>
        <p:nvSpPr>
          <p:cNvPr id="6" name="Text 4"/>
          <p:cNvSpPr/>
          <p:nvPr/>
        </p:nvSpPr>
        <p:spPr>
          <a:xfrm>
            <a:off x="1005840" y="475488"/>
            <a:ext cx="4572000" cy="420624"/>
          </a:xfrm>
          <a:prstGeom prst="rect">
            <a:avLst/>
          </a:prstGeom>
          <a:noFill/>
          <a:ln/>
        </p:spPr>
        <p:txBody>
          <a:bodyPr wrap="square" lIns="0" tIns="0" rIns="0" bIns="0" rtlCol="0" anchor="ctr"/>
          <a:lstStyle/>
          <a:p>
            <a:pPr marL="0" indent="0">
              <a:buNone/>
            </a:pPr>
            <a:r>
              <a:rPr lang="en-US" sz="1200" dirty="0">
                <a:solidFill>
                  <a:srgbClr val="AAAAAA"/>
                </a:solidFill>
                <a:latin typeface="Calibri" pitchFamily="34" charset="0"/>
                <a:ea typeface="Calibri" pitchFamily="34" charset="-122"/>
                <a:cs typeface="Calibri" pitchFamily="34" charset="-120"/>
              </a:rPr>
              <a:t>SECTION SIX</a:t>
            </a:r>
            <a:endParaRPr lang="en-US" sz="1200" dirty="0"/>
          </a:p>
        </p:txBody>
      </p:sp>
      <p:sp>
        <p:nvSpPr>
          <p:cNvPr id="7" name="Text 5"/>
          <p:cNvSpPr/>
          <p:nvPr/>
        </p:nvSpPr>
        <p:spPr>
          <a:xfrm>
            <a:off x="228600" y="1005840"/>
            <a:ext cx="8503920" cy="1645920"/>
          </a:xfrm>
          <a:prstGeom prst="rect">
            <a:avLst/>
          </a:prstGeom>
          <a:noFill/>
          <a:ln/>
        </p:spPr>
        <p:txBody>
          <a:bodyPr wrap="square" lIns="0" tIns="0" rIns="0" bIns="0" rtlCol="0" anchor="ctr"/>
          <a:lstStyle/>
          <a:p>
            <a:pPr marL="0" indent="0">
              <a:buNone/>
            </a:pPr>
            <a:r>
              <a:rPr lang="en-US" sz="4400" b="1" dirty="0">
                <a:solidFill>
                  <a:srgbClr val="FFFFFF"/>
                </a:solidFill>
                <a:latin typeface="Arial Black" pitchFamily="34" charset="0"/>
                <a:ea typeface="Arial Black" pitchFamily="34" charset="-122"/>
                <a:cs typeface="Arial Black" pitchFamily="34" charset="-120"/>
              </a:rPr>
              <a:t>Test Case Design</a:t>
            </a:r>
            <a:endParaRPr lang="en-US" sz="4400" dirty="0"/>
          </a:p>
          <a:p>
            <a:pPr marL="0" indent="0">
              <a:buNone/>
            </a:pPr>
            <a:r>
              <a:rPr lang="en-US" sz="4400" b="1" dirty="0">
                <a:solidFill>
                  <a:srgbClr val="FFFFFF"/>
                </a:solidFill>
                <a:latin typeface="Arial Black" pitchFamily="34" charset="0"/>
                <a:ea typeface="Arial Black" pitchFamily="34" charset="-122"/>
                <a:cs typeface="Arial Black" pitchFamily="34" charset="-120"/>
              </a:rPr>
              <a:t>Techniques</a:t>
            </a:r>
            <a:endParaRPr lang="en-US" sz="4400" dirty="0"/>
          </a:p>
        </p:txBody>
      </p:sp>
      <p:sp>
        <p:nvSpPr>
          <p:cNvPr id="8" name="Text 6"/>
          <p:cNvSpPr/>
          <p:nvPr/>
        </p:nvSpPr>
        <p:spPr>
          <a:xfrm>
            <a:off x="228600" y="2724912"/>
            <a:ext cx="8229600" cy="457200"/>
          </a:xfrm>
          <a:prstGeom prst="rect">
            <a:avLst/>
          </a:prstGeom>
          <a:noFill/>
          <a:ln/>
        </p:spPr>
        <p:txBody>
          <a:bodyPr wrap="square" lIns="0" tIns="0" rIns="0" bIns="0" rtlCol="0" anchor="ctr"/>
          <a:lstStyle/>
          <a:p>
            <a:pPr marL="0" indent="0">
              <a:buNone/>
            </a:pPr>
            <a:r>
              <a:rPr lang="en-US" sz="1500" i="1" dirty="0">
                <a:solidFill>
                  <a:srgbClr val="AAAAAA"/>
                </a:solidFill>
                <a:latin typeface="Calibri" pitchFamily="34" charset="0"/>
                <a:ea typeface="Calibri" pitchFamily="34" charset="-122"/>
                <a:cs typeface="Calibri" pitchFamily="34" charset="-120"/>
              </a:rPr>
              <a:t>Systematic methods for deriving comprehensive test cases from requirements</a:t>
            </a:r>
            <a:endParaRPr lang="en-US" sz="1500" dirty="0"/>
          </a:p>
        </p:txBody>
      </p:sp>
      <p:sp>
        <p:nvSpPr>
          <p:cNvPr id="9" name="Shape 7"/>
          <p:cNvSpPr/>
          <p:nvPr/>
        </p:nvSpPr>
        <p:spPr>
          <a:xfrm>
            <a:off x="228600" y="3337560"/>
            <a:ext cx="1600200" cy="1325880"/>
          </a:xfrm>
          <a:prstGeom prst="rect">
            <a:avLst/>
          </a:prstGeom>
          <a:solidFill>
            <a:srgbClr val="181818"/>
          </a:solidFill>
          <a:ln w="12700">
            <a:solidFill>
              <a:srgbClr val="333333"/>
            </a:solidFill>
            <a:prstDash val="solid"/>
          </a:ln>
        </p:spPr>
      </p:sp>
      <p:sp>
        <p:nvSpPr>
          <p:cNvPr id="10" name="Shape 8"/>
          <p:cNvSpPr/>
          <p:nvPr/>
        </p:nvSpPr>
        <p:spPr>
          <a:xfrm>
            <a:off x="228600" y="3337560"/>
            <a:ext cx="1600200" cy="292608"/>
          </a:xfrm>
          <a:prstGeom prst="rect">
            <a:avLst/>
          </a:prstGeom>
          <a:solidFill>
            <a:srgbClr val="FF6500"/>
          </a:solidFill>
          <a:ln w="12700">
            <a:solidFill>
              <a:srgbClr val="FF6500"/>
            </a:solidFill>
            <a:prstDash val="solid"/>
          </a:ln>
        </p:spPr>
      </p:sp>
      <p:sp>
        <p:nvSpPr>
          <p:cNvPr id="11" name="Text 9"/>
          <p:cNvSpPr/>
          <p:nvPr/>
        </p:nvSpPr>
        <p:spPr>
          <a:xfrm>
            <a:off x="228600" y="3337560"/>
            <a:ext cx="1600200" cy="292608"/>
          </a:xfrm>
          <a:prstGeom prst="rect">
            <a:avLst/>
          </a:prstGeom>
          <a:noFill/>
          <a:ln/>
        </p:spPr>
        <p:txBody>
          <a:bodyPr wrap="square" lIns="0" tIns="0" rIns="0" bIns="0" rtlCol="0" anchor="ctr"/>
          <a:lstStyle/>
          <a:p>
            <a:pPr marL="0" indent="0" algn="ctr">
              <a:buNone/>
            </a:pPr>
            <a:r>
              <a:rPr lang="en-US" sz="1100" b="1" dirty="0">
                <a:solidFill>
                  <a:srgbClr val="FFFFFF"/>
                </a:solidFill>
                <a:latin typeface="Arial" pitchFamily="34" charset="0"/>
                <a:ea typeface="Arial" pitchFamily="34" charset="-122"/>
                <a:cs typeface="Arial" pitchFamily="34" charset="-120"/>
              </a:rPr>
              <a:t>01</a:t>
            </a:r>
            <a:endParaRPr lang="en-US" sz="1100" dirty="0"/>
          </a:p>
        </p:txBody>
      </p:sp>
      <p:sp>
        <p:nvSpPr>
          <p:cNvPr id="12" name="Text 10"/>
          <p:cNvSpPr/>
          <p:nvPr/>
        </p:nvSpPr>
        <p:spPr>
          <a:xfrm>
            <a:off x="292608" y="3657600"/>
            <a:ext cx="1472184" cy="365760"/>
          </a:xfrm>
          <a:prstGeom prst="rect">
            <a:avLst/>
          </a:prstGeom>
          <a:noFill/>
          <a:ln/>
        </p:spPr>
        <p:txBody>
          <a:bodyPr wrap="square" lIns="0" tIns="0" rIns="0" bIns="0" rtlCol="0" anchor="t"/>
          <a:lstStyle/>
          <a:p>
            <a:pPr marL="0" indent="0">
              <a:buNone/>
            </a:pPr>
            <a:r>
              <a:rPr lang="en-US" sz="950" b="1" dirty="0">
                <a:solidFill>
                  <a:srgbClr val="FFFFFF"/>
                </a:solidFill>
                <a:latin typeface="Arial" pitchFamily="34" charset="0"/>
                <a:ea typeface="Arial" pitchFamily="34" charset="-122"/>
                <a:cs typeface="Arial" pitchFamily="34" charset="-120"/>
              </a:rPr>
              <a:t>Equivalence Partitioning</a:t>
            </a:r>
            <a:endParaRPr lang="en-US" sz="950" dirty="0"/>
          </a:p>
        </p:txBody>
      </p:sp>
      <p:sp>
        <p:nvSpPr>
          <p:cNvPr id="13" name="Text 11"/>
          <p:cNvSpPr/>
          <p:nvPr/>
        </p:nvSpPr>
        <p:spPr>
          <a:xfrm>
            <a:off x="292608" y="4041648"/>
            <a:ext cx="1472184" cy="566928"/>
          </a:xfrm>
          <a:prstGeom prst="rect">
            <a:avLst/>
          </a:prstGeom>
          <a:noFill/>
          <a:ln/>
        </p:spPr>
        <p:txBody>
          <a:bodyPr wrap="square" lIns="0" tIns="0" rIns="0" bIns="0" rtlCol="0" anchor="t"/>
          <a:lstStyle/>
          <a:p>
            <a:pPr marL="0" indent="0">
              <a:buNone/>
            </a:pPr>
            <a:r>
              <a:rPr lang="en-US" sz="850" dirty="0">
                <a:solidFill>
                  <a:srgbClr val="999999"/>
                </a:solidFill>
                <a:latin typeface="Calibri" pitchFamily="34" charset="0"/>
                <a:ea typeface="Calibri" pitchFamily="34" charset="-122"/>
                <a:cs typeface="Calibri" pitchFamily="34" charset="-120"/>
              </a:rPr>
              <a:t>Divide input domain into equivalent classes; test one value from each class</a:t>
            </a:r>
            <a:endParaRPr lang="en-US" sz="850" dirty="0"/>
          </a:p>
        </p:txBody>
      </p:sp>
      <p:sp>
        <p:nvSpPr>
          <p:cNvPr id="14" name="Shape 12"/>
          <p:cNvSpPr/>
          <p:nvPr/>
        </p:nvSpPr>
        <p:spPr>
          <a:xfrm>
            <a:off x="1965960" y="3337560"/>
            <a:ext cx="1600200" cy="1325880"/>
          </a:xfrm>
          <a:prstGeom prst="rect">
            <a:avLst/>
          </a:prstGeom>
          <a:solidFill>
            <a:srgbClr val="181818"/>
          </a:solidFill>
          <a:ln w="12700">
            <a:solidFill>
              <a:srgbClr val="333333"/>
            </a:solidFill>
            <a:prstDash val="solid"/>
          </a:ln>
        </p:spPr>
      </p:sp>
      <p:sp>
        <p:nvSpPr>
          <p:cNvPr id="15" name="Shape 13"/>
          <p:cNvSpPr/>
          <p:nvPr/>
        </p:nvSpPr>
        <p:spPr>
          <a:xfrm>
            <a:off x="1965960" y="3337560"/>
            <a:ext cx="1600200" cy="292608"/>
          </a:xfrm>
          <a:prstGeom prst="rect">
            <a:avLst/>
          </a:prstGeom>
          <a:solidFill>
            <a:srgbClr val="FF6500"/>
          </a:solidFill>
          <a:ln w="12700">
            <a:solidFill>
              <a:srgbClr val="FF6500"/>
            </a:solidFill>
            <a:prstDash val="solid"/>
          </a:ln>
        </p:spPr>
      </p:sp>
      <p:sp>
        <p:nvSpPr>
          <p:cNvPr id="16" name="Text 14"/>
          <p:cNvSpPr/>
          <p:nvPr/>
        </p:nvSpPr>
        <p:spPr>
          <a:xfrm>
            <a:off x="1965960" y="3337560"/>
            <a:ext cx="1600200" cy="292608"/>
          </a:xfrm>
          <a:prstGeom prst="rect">
            <a:avLst/>
          </a:prstGeom>
          <a:noFill/>
          <a:ln/>
        </p:spPr>
        <p:txBody>
          <a:bodyPr wrap="square" lIns="0" tIns="0" rIns="0" bIns="0" rtlCol="0" anchor="ctr"/>
          <a:lstStyle/>
          <a:p>
            <a:pPr marL="0" indent="0" algn="ctr">
              <a:buNone/>
            </a:pPr>
            <a:r>
              <a:rPr lang="en-US" sz="1100" b="1" dirty="0">
                <a:solidFill>
                  <a:srgbClr val="FFFFFF"/>
                </a:solidFill>
                <a:latin typeface="Arial" pitchFamily="34" charset="0"/>
                <a:ea typeface="Arial" pitchFamily="34" charset="-122"/>
                <a:cs typeface="Arial" pitchFamily="34" charset="-120"/>
              </a:rPr>
              <a:t>02</a:t>
            </a:r>
            <a:endParaRPr lang="en-US" sz="1100" dirty="0"/>
          </a:p>
        </p:txBody>
      </p:sp>
      <p:sp>
        <p:nvSpPr>
          <p:cNvPr id="17" name="Text 15"/>
          <p:cNvSpPr/>
          <p:nvPr/>
        </p:nvSpPr>
        <p:spPr>
          <a:xfrm>
            <a:off x="2029968" y="3657600"/>
            <a:ext cx="1472184" cy="365760"/>
          </a:xfrm>
          <a:prstGeom prst="rect">
            <a:avLst/>
          </a:prstGeom>
          <a:noFill/>
          <a:ln/>
        </p:spPr>
        <p:txBody>
          <a:bodyPr wrap="square" lIns="0" tIns="0" rIns="0" bIns="0" rtlCol="0" anchor="t"/>
          <a:lstStyle/>
          <a:p>
            <a:pPr marL="0" indent="0">
              <a:buNone/>
            </a:pPr>
            <a:r>
              <a:rPr lang="en-US" sz="950" b="1" dirty="0">
                <a:solidFill>
                  <a:srgbClr val="FFFFFF"/>
                </a:solidFill>
                <a:latin typeface="Arial" pitchFamily="34" charset="0"/>
                <a:ea typeface="Arial" pitchFamily="34" charset="-122"/>
                <a:cs typeface="Arial" pitchFamily="34" charset="-120"/>
              </a:rPr>
              <a:t>Boundary Value Analysis</a:t>
            </a:r>
            <a:endParaRPr lang="en-US" sz="950" dirty="0"/>
          </a:p>
        </p:txBody>
      </p:sp>
      <p:sp>
        <p:nvSpPr>
          <p:cNvPr id="18" name="Text 16"/>
          <p:cNvSpPr/>
          <p:nvPr/>
        </p:nvSpPr>
        <p:spPr>
          <a:xfrm>
            <a:off x="2029968" y="4041648"/>
            <a:ext cx="1472184" cy="566928"/>
          </a:xfrm>
          <a:prstGeom prst="rect">
            <a:avLst/>
          </a:prstGeom>
          <a:noFill/>
          <a:ln/>
        </p:spPr>
        <p:txBody>
          <a:bodyPr wrap="square" lIns="0" tIns="0" rIns="0" bIns="0" rtlCol="0" anchor="t"/>
          <a:lstStyle/>
          <a:p>
            <a:pPr marL="0" indent="0">
              <a:buNone/>
            </a:pPr>
            <a:r>
              <a:rPr lang="en-US" sz="850" dirty="0">
                <a:solidFill>
                  <a:srgbClr val="999999"/>
                </a:solidFill>
                <a:latin typeface="Calibri" pitchFamily="34" charset="0"/>
                <a:ea typeface="Calibri" pitchFamily="34" charset="-122"/>
                <a:cs typeface="Calibri" pitchFamily="34" charset="-120"/>
              </a:rPr>
              <a:t>Test values at, just below, and just above boundary limits</a:t>
            </a:r>
            <a:endParaRPr lang="en-US" sz="850" dirty="0"/>
          </a:p>
        </p:txBody>
      </p:sp>
      <p:sp>
        <p:nvSpPr>
          <p:cNvPr id="19" name="Shape 17"/>
          <p:cNvSpPr/>
          <p:nvPr/>
        </p:nvSpPr>
        <p:spPr>
          <a:xfrm>
            <a:off x="3703320" y="3337560"/>
            <a:ext cx="1600200" cy="1325880"/>
          </a:xfrm>
          <a:prstGeom prst="rect">
            <a:avLst/>
          </a:prstGeom>
          <a:solidFill>
            <a:srgbClr val="181818"/>
          </a:solidFill>
          <a:ln w="12700">
            <a:solidFill>
              <a:srgbClr val="333333"/>
            </a:solidFill>
            <a:prstDash val="solid"/>
          </a:ln>
        </p:spPr>
      </p:sp>
      <p:sp>
        <p:nvSpPr>
          <p:cNvPr id="20" name="Shape 18"/>
          <p:cNvSpPr/>
          <p:nvPr/>
        </p:nvSpPr>
        <p:spPr>
          <a:xfrm>
            <a:off x="3703320" y="3337560"/>
            <a:ext cx="1600200" cy="292608"/>
          </a:xfrm>
          <a:prstGeom prst="rect">
            <a:avLst/>
          </a:prstGeom>
          <a:solidFill>
            <a:srgbClr val="FF6500"/>
          </a:solidFill>
          <a:ln w="12700">
            <a:solidFill>
              <a:srgbClr val="FF6500"/>
            </a:solidFill>
            <a:prstDash val="solid"/>
          </a:ln>
        </p:spPr>
      </p:sp>
      <p:sp>
        <p:nvSpPr>
          <p:cNvPr id="21" name="Text 19"/>
          <p:cNvSpPr/>
          <p:nvPr/>
        </p:nvSpPr>
        <p:spPr>
          <a:xfrm>
            <a:off x="3703320" y="3337560"/>
            <a:ext cx="1600200" cy="292608"/>
          </a:xfrm>
          <a:prstGeom prst="rect">
            <a:avLst/>
          </a:prstGeom>
          <a:noFill/>
          <a:ln/>
        </p:spPr>
        <p:txBody>
          <a:bodyPr wrap="square" lIns="0" tIns="0" rIns="0" bIns="0" rtlCol="0" anchor="ctr"/>
          <a:lstStyle/>
          <a:p>
            <a:pPr marL="0" indent="0" algn="ctr">
              <a:buNone/>
            </a:pPr>
            <a:r>
              <a:rPr lang="en-US" sz="1100" b="1" dirty="0">
                <a:solidFill>
                  <a:srgbClr val="FFFFFF"/>
                </a:solidFill>
                <a:latin typeface="Arial" pitchFamily="34" charset="0"/>
                <a:ea typeface="Arial" pitchFamily="34" charset="-122"/>
                <a:cs typeface="Arial" pitchFamily="34" charset="-120"/>
              </a:rPr>
              <a:t>03</a:t>
            </a:r>
            <a:endParaRPr lang="en-US" sz="1100" dirty="0"/>
          </a:p>
        </p:txBody>
      </p:sp>
      <p:sp>
        <p:nvSpPr>
          <p:cNvPr id="22" name="Text 20"/>
          <p:cNvSpPr/>
          <p:nvPr/>
        </p:nvSpPr>
        <p:spPr>
          <a:xfrm>
            <a:off x="3767328" y="3657600"/>
            <a:ext cx="1472184" cy="365760"/>
          </a:xfrm>
          <a:prstGeom prst="rect">
            <a:avLst/>
          </a:prstGeom>
          <a:noFill/>
          <a:ln/>
        </p:spPr>
        <p:txBody>
          <a:bodyPr wrap="square" lIns="0" tIns="0" rIns="0" bIns="0" rtlCol="0" anchor="t"/>
          <a:lstStyle/>
          <a:p>
            <a:pPr marL="0" indent="0">
              <a:buNone/>
            </a:pPr>
            <a:r>
              <a:rPr lang="en-US" sz="950" b="1" dirty="0">
                <a:solidFill>
                  <a:srgbClr val="FFFFFF"/>
                </a:solidFill>
                <a:latin typeface="Arial" pitchFamily="34" charset="0"/>
                <a:ea typeface="Arial" pitchFamily="34" charset="-122"/>
                <a:cs typeface="Arial" pitchFamily="34" charset="-120"/>
              </a:rPr>
              <a:t>Decision Table Testing</a:t>
            </a:r>
            <a:endParaRPr lang="en-US" sz="950" dirty="0"/>
          </a:p>
        </p:txBody>
      </p:sp>
      <p:sp>
        <p:nvSpPr>
          <p:cNvPr id="23" name="Text 21"/>
          <p:cNvSpPr/>
          <p:nvPr/>
        </p:nvSpPr>
        <p:spPr>
          <a:xfrm>
            <a:off x="3767328" y="4041648"/>
            <a:ext cx="1472184" cy="566928"/>
          </a:xfrm>
          <a:prstGeom prst="rect">
            <a:avLst/>
          </a:prstGeom>
          <a:noFill/>
          <a:ln/>
        </p:spPr>
        <p:txBody>
          <a:bodyPr wrap="square" lIns="0" tIns="0" rIns="0" bIns="0" rtlCol="0" anchor="t"/>
          <a:lstStyle/>
          <a:p>
            <a:pPr marL="0" indent="0">
              <a:buNone/>
            </a:pPr>
            <a:r>
              <a:rPr lang="en-US" sz="850" dirty="0">
                <a:solidFill>
                  <a:srgbClr val="999999"/>
                </a:solidFill>
                <a:latin typeface="Calibri" pitchFamily="34" charset="0"/>
                <a:ea typeface="Calibri" pitchFamily="34" charset="-122"/>
                <a:cs typeface="Calibri" pitchFamily="34" charset="-120"/>
              </a:rPr>
              <a:t>Map combinations of conditions and their resulting actions</a:t>
            </a:r>
            <a:endParaRPr lang="en-US" sz="850" dirty="0"/>
          </a:p>
        </p:txBody>
      </p:sp>
      <p:sp>
        <p:nvSpPr>
          <p:cNvPr id="24" name="Shape 22"/>
          <p:cNvSpPr/>
          <p:nvPr/>
        </p:nvSpPr>
        <p:spPr>
          <a:xfrm>
            <a:off x="5440680" y="3337560"/>
            <a:ext cx="1600200" cy="1325880"/>
          </a:xfrm>
          <a:prstGeom prst="rect">
            <a:avLst/>
          </a:prstGeom>
          <a:solidFill>
            <a:srgbClr val="181818"/>
          </a:solidFill>
          <a:ln w="12700">
            <a:solidFill>
              <a:srgbClr val="333333"/>
            </a:solidFill>
            <a:prstDash val="solid"/>
          </a:ln>
        </p:spPr>
      </p:sp>
      <p:sp>
        <p:nvSpPr>
          <p:cNvPr id="25" name="Shape 23"/>
          <p:cNvSpPr/>
          <p:nvPr/>
        </p:nvSpPr>
        <p:spPr>
          <a:xfrm>
            <a:off x="5440680" y="3337560"/>
            <a:ext cx="1600200" cy="292608"/>
          </a:xfrm>
          <a:prstGeom prst="rect">
            <a:avLst/>
          </a:prstGeom>
          <a:solidFill>
            <a:srgbClr val="FF6500"/>
          </a:solidFill>
          <a:ln w="12700">
            <a:solidFill>
              <a:srgbClr val="FF6500"/>
            </a:solidFill>
            <a:prstDash val="solid"/>
          </a:ln>
        </p:spPr>
      </p:sp>
      <p:sp>
        <p:nvSpPr>
          <p:cNvPr id="26" name="Text 24"/>
          <p:cNvSpPr/>
          <p:nvPr/>
        </p:nvSpPr>
        <p:spPr>
          <a:xfrm>
            <a:off x="5440680" y="3337560"/>
            <a:ext cx="1600200" cy="292608"/>
          </a:xfrm>
          <a:prstGeom prst="rect">
            <a:avLst/>
          </a:prstGeom>
          <a:noFill/>
          <a:ln/>
        </p:spPr>
        <p:txBody>
          <a:bodyPr wrap="square" lIns="0" tIns="0" rIns="0" bIns="0" rtlCol="0" anchor="ctr"/>
          <a:lstStyle/>
          <a:p>
            <a:pPr marL="0" indent="0" algn="ctr">
              <a:buNone/>
            </a:pPr>
            <a:r>
              <a:rPr lang="en-US" sz="1100" b="1" dirty="0">
                <a:solidFill>
                  <a:srgbClr val="FFFFFF"/>
                </a:solidFill>
                <a:latin typeface="Arial" pitchFamily="34" charset="0"/>
                <a:ea typeface="Arial" pitchFamily="34" charset="-122"/>
                <a:cs typeface="Arial" pitchFamily="34" charset="-120"/>
              </a:rPr>
              <a:t>04</a:t>
            </a:r>
            <a:endParaRPr lang="en-US" sz="1100" dirty="0"/>
          </a:p>
        </p:txBody>
      </p:sp>
      <p:sp>
        <p:nvSpPr>
          <p:cNvPr id="27" name="Text 25"/>
          <p:cNvSpPr/>
          <p:nvPr/>
        </p:nvSpPr>
        <p:spPr>
          <a:xfrm>
            <a:off x="5504688" y="3657600"/>
            <a:ext cx="1472184" cy="365760"/>
          </a:xfrm>
          <a:prstGeom prst="rect">
            <a:avLst/>
          </a:prstGeom>
          <a:noFill/>
          <a:ln/>
        </p:spPr>
        <p:txBody>
          <a:bodyPr wrap="square" lIns="0" tIns="0" rIns="0" bIns="0" rtlCol="0" anchor="t"/>
          <a:lstStyle/>
          <a:p>
            <a:pPr marL="0" indent="0">
              <a:buNone/>
            </a:pPr>
            <a:r>
              <a:rPr lang="en-US" sz="950" b="1" dirty="0">
                <a:solidFill>
                  <a:srgbClr val="FFFFFF"/>
                </a:solidFill>
                <a:latin typeface="Arial" pitchFamily="34" charset="0"/>
                <a:ea typeface="Arial" pitchFamily="34" charset="-122"/>
                <a:cs typeface="Arial" pitchFamily="34" charset="-120"/>
              </a:rPr>
              <a:t>State Transition Testing</a:t>
            </a:r>
            <a:endParaRPr lang="en-US" sz="950" dirty="0"/>
          </a:p>
        </p:txBody>
      </p:sp>
      <p:sp>
        <p:nvSpPr>
          <p:cNvPr id="28" name="Text 26"/>
          <p:cNvSpPr/>
          <p:nvPr/>
        </p:nvSpPr>
        <p:spPr>
          <a:xfrm>
            <a:off x="5504688" y="4041648"/>
            <a:ext cx="1472184" cy="566928"/>
          </a:xfrm>
          <a:prstGeom prst="rect">
            <a:avLst/>
          </a:prstGeom>
          <a:noFill/>
          <a:ln/>
        </p:spPr>
        <p:txBody>
          <a:bodyPr wrap="square" lIns="0" tIns="0" rIns="0" bIns="0" rtlCol="0" anchor="t"/>
          <a:lstStyle/>
          <a:p>
            <a:pPr marL="0" indent="0">
              <a:buNone/>
            </a:pPr>
            <a:r>
              <a:rPr lang="en-US" sz="850" dirty="0">
                <a:solidFill>
                  <a:srgbClr val="999999"/>
                </a:solidFill>
                <a:latin typeface="Calibri" pitchFamily="34" charset="0"/>
                <a:ea typeface="Calibri" pitchFamily="34" charset="-122"/>
                <a:cs typeface="Calibri" pitchFamily="34" charset="-120"/>
              </a:rPr>
              <a:t>Model software states and the events that trigger transitions</a:t>
            </a:r>
            <a:endParaRPr lang="en-US" sz="850" dirty="0"/>
          </a:p>
        </p:txBody>
      </p:sp>
      <p:sp>
        <p:nvSpPr>
          <p:cNvPr id="29" name="Shape 27"/>
          <p:cNvSpPr/>
          <p:nvPr/>
        </p:nvSpPr>
        <p:spPr>
          <a:xfrm>
            <a:off x="7178040" y="3337560"/>
            <a:ext cx="1600200" cy="1325880"/>
          </a:xfrm>
          <a:prstGeom prst="rect">
            <a:avLst/>
          </a:prstGeom>
          <a:solidFill>
            <a:srgbClr val="181818"/>
          </a:solidFill>
          <a:ln w="12700">
            <a:solidFill>
              <a:srgbClr val="333333"/>
            </a:solidFill>
            <a:prstDash val="solid"/>
          </a:ln>
        </p:spPr>
      </p:sp>
      <p:sp>
        <p:nvSpPr>
          <p:cNvPr id="30" name="Shape 28"/>
          <p:cNvSpPr/>
          <p:nvPr/>
        </p:nvSpPr>
        <p:spPr>
          <a:xfrm>
            <a:off x="7178040" y="3337560"/>
            <a:ext cx="1600200" cy="292608"/>
          </a:xfrm>
          <a:prstGeom prst="rect">
            <a:avLst/>
          </a:prstGeom>
          <a:solidFill>
            <a:srgbClr val="FF6500"/>
          </a:solidFill>
          <a:ln w="12700">
            <a:solidFill>
              <a:srgbClr val="FF6500"/>
            </a:solidFill>
            <a:prstDash val="solid"/>
          </a:ln>
        </p:spPr>
      </p:sp>
      <p:sp>
        <p:nvSpPr>
          <p:cNvPr id="31" name="Text 29"/>
          <p:cNvSpPr/>
          <p:nvPr/>
        </p:nvSpPr>
        <p:spPr>
          <a:xfrm>
            <a:off x="7178040" y="3337560"/>
            <a:ext cx="1600200" cy="292608"/>
          </a:xfrm>
          <a:prstGeom prst="rect">
            <a:avLst/>
          </a:prstGeom>
          <a:noFill/>
          <a:ln/>
        </p:spPr>
        <p:txBody>
          <a:bodyPr wrap="square" lIns="0" tIns="0" rIns="0" bIns="0" rtlCol="0" anchor="ctr"/>
          <a:lstStyle/>
          <a:p>
            <a:pPr marL="0" indent="0" algn="ctr">
              <a:buNone/>
            </a:pPr>
            <a:r>
              <a:rPr lang="en-US" sz="1100" b="1" dirty="0">
                <a:solidFill>
                  <a:srgbClr val="FFFFFF"/>
                </a:solidFill>
                <a:latin typeface="Arial" pitchFamily="34" charset="0"/>
                <a:ea typeface="Arial" pitchFamily="34" charset="-122"/>
                <a:cs typeface="Arial" pitchFamily="34" charset="-120"/>
              </a:rPr>
              <a:t>05</a:t>
            </a:r>
            <a:endParaRPr lang="en-US" sz="1100" dirty="0"/>
          </a:p>
        </p:txBody>
      </p:sp>
      <p:sp>
        <p:nvSpPr>
          <p:cNvPr id="32" name="Text 30"/>
          <p:cNvSpPr/>
          <p:nvPr/>
        </p:nvSpPr>
        <p:spPr>
          <a:xfrm>
            <a:off x="7242048" y="3657600"/>
            <a:ext cx="1472184" cy="365760"/>
          </a:xfrm>
          <a:prstGeom prst="rect">
            <a:avLst/>
          </a:prstGeom>
          <a:noFill/>
          <a:ln/>
        </p:spPr>
        <p:txBody>
          <a:bodyPr wrap="square" lIns="0" tIns="0" rIns="0" bIns="0" rtlCol="0" anchor="t"/>
          <a:lstStyle/>
          <a:p>
            <a:pPr marL="0" indent="0">
              <a:buNone/>
            </a:pPr>
            <a:r>
              <a:rPr lang="en-US" sz="950" b="1" dirty="0">
                <a:solidFill>
                  <a:srgbClr val="FFFFFF"/>
                </a:solidFill>
                <a:latin typeface="Arial" pitchFamily="34" charset="0"/>
                <a:ea typeface="Arial" pitchFamily="34" charset="-122"/>
                <a:cs typeface="Arial" pitchFamily="34" charset="-120"/>
              </a:rPr>
              <a:t>Use Case Testing</a:t>
            </a:r>
            <a:endParaRPr lang="en-US" sz="950" dirty="0"/>
          </a:p>
        </p:txBody>
      </p:sp>
      <p:sp>
        <p:nvSpPr>
          <p:cNvPr id="33" name="Text 31"/>
          <p:cNvSpPr/>
          <p:nvPr/>
        </p:nvSpPr>
        <p:spPr>
          <a:xfrm>
            <a:off x="7242048" y="4041648"/>
            <a:ext cx="1472184" cy="566928"/>
          </a:xfrm>
          <a:prstGeom prst="rect">
            <a:avLst/>
          </a:prstGeom>
          <a:noFill/>
          <a:ln/>
        </p:spPr>
        <p:txBody>
          <a:bodyPr wrap="square" lIns="0" tIns="0" rIns="0" bIns="0" rtlCol="0" anchor="t"/>
          <a:lstStyle/>
          <a:p>
            <a:pPr marL="0" indent="0">
              <a:buNone/>
            </a:pPr>
            <a:r>
              <a:rPr lang="en-US" sz="850" dirty="0">
                <a:solidFill>
                  <a:srgbClr val="999999"/>
                </a:solidFill>
                <a:latin typeface="Calibri" pitchFamily="34" charset="0"/>
                <a:ea typeface="Calibri" pitchFamily="34" charset="-122"/>
                <a:cs typeface="Calibri" pitchFamily="34" charset="-120"/>
              </a:rPr>
              <a:t>Test based on user-system interactions defined in use cases</a:t>
            </a:r>
            <a:endParaRPr lang="en-US" sz="8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7">
    <p:bg>
      <p:bgPr>
        <a:solidFill>
          <a:srgbClr val="F5F5F5"/>
        </a:solidFill>
        <a:effectLst/>
      </p:bgPr>
    </p:bg>
    <p:spTree>
      <p:nvGrpSpPr>
        <p:cNvPr id="1" name=""/>
        <p:cNvGrpSpPr/>
        <p:nvPr/>
      </p:nvGrpSpPr>
      <p:grpSpPr>
        <a:xfrm>
          <a:off x="0" y="0"/>
          <a:ext cx="0" cy="0"/>
          <a:chOff x="0" y="0"/>
          <a:chExt cx="0" cy="0"/>
        </a:xfrm>
      </p:grpSpPr>
      <p:sp>
        <p:nvSpPr>
          <p:cNvPr id="2" name="Shape 0"/>
          <p:cNvSpPr/>
          <p:nvPr/>
        </p:nvSpPr>
        <p:spPr>
          <a:xfrm>
            <a:off x="0" y="0"/>
            <a:ext cx="9144000" cy="621792"/>
          </a:xfrm>
          <a:prstGeom prst="rect">
            <a:avLst/>
          </a:prstGeom>
          <a:solidFill>
            <a:srgbClr val="0D0D0D"/>
          </a:solidFill>
          <a:ln w="12700">
            <a:solidFill>
              <a:srgbClr val="0D0D0D"/>
            </a:solidFill>
            <a:prstDash val="solid"/>
          </a:ln>
        </p:spPr>
      </p:sp>
      <p:sp>
        <p:nvSpPr>
          <p:cNvPr id="3" name="Shape 1"/>
          <p:cNvSpPr/>
          <p:nvPr/>
        </p:nvSpPr>
        <p:spPr>
          <a:xfrm>
            <a:off x="0" y="0"/>
            <a:ext cx="64008" cy="621792"/>
          </a:xfrm>
          <a:prstGeom prst="rect">
            <a:avLst/>
          </a:prstGeom>
          <a:solidFill>
            <a:srgbClr val="FF6500"/>
          </a:solidFill>
          <a:ln w="12700">
            <a:solidFill>
              <a:srgbClr val="FF6500"/>
            </a:solidFill>
            <a:prstDash val="solid"/>
          </a:ln>
        </p:spPr>
      </p:sp>
      <p:sp>
        <p:nvSpPr>
          <p:cNvPr id="4" name="Text 2"/>
          <p:cNvSpPr/>
          <p:nvPr/>
        </p:nvSpPr>
        <p:spPr>
          <a:xfrm>
            <a:off x="201168" y="64008"/>
            <a:ext cx="8503920" cy="493776"/>
          </a:xfrm>
          <a:prstGeom prst="rect">
            <a:avLst/>
          </a:prstGeom>
          <a:noFill/>
          <a:ln/>
        </p:spPr>
        <p:txBody>
          <a:bodyPr wrap="square" lIns="0" tIns="0" rIns="0" bIns="0" rtlCol="0" anchor="ctr"/>
          <a:lstStyle/>
          <a:p>
            <a:pPr marL="0" indent="0">
              <a:buNone/>
            </a:pPr>
            <a:r>
              <a:rPr lang="en-US" sz="1900" b="1" dirty="0">
                <a:solidFill>
                  <a:srgbClr val="FFFFFF"/>
                </a:solidFill>
                <a:latin typeface="Arial" pitchFamily="34" charset="0"/>
                <a:ea typeface="Arial" pitchFamily="34" charset="-122"/>
                <a:cs typeface="Arial" pitchFamily="34" charset="-120"/>
              </a:rPr>
              <a:t>Design Technique 1 — Equivalence Partitioning (EP)</a:t>
            </a:r>
            <a:endParaRPr lang="en-US" sz="1900" dirty="0"/>
          </a:p>
        </p:txBody>
      </p:sp>
      <p:sp>
        <p:nvSpPr>
          <p:cNvPr id="5" name="Shape 3"/>
          <p:cNvSpPr/>
          <p:nvPr/>
        </p:nvSpPr>
        <p:spPr>
          <a:xfrm>
            <a:off x="0" y="4828032"/>
            <a:ext cx="9144000" cy="315468"/>
          </a:xfrm>
          <a:prstGeom prst="rect">
            <a:avLst/>
          </a:prstGeom>
          <a:solidFill>
            <a:srgbClr val="0D0D0D"/>
          </a:solidFill>
          <a:ln w="12700">
            <a:solidFill>
              <a:srgbClr val="0D0D0D"/>
            </a:solidFill>
            <a:prstDash val="solid"/>
          </a:ln>
        </p:spPr>
      </p:sp>
      <p:sp>
        <p:nvSpPr>
          <p:cNvPr id="6" name="Text 4"/>
          <p:cNvSpPr/>
          <p:nvPr/>
        </p:nvSpPr>
        <p:spPr>
          <a:xfrm>
            <a:off x="182880" y="4855464"/>
            <a:ext cx="7315200" cy="228600"/>
          </a:xfrm>
          <a:prstGeom prst="rect">
            <a:avLst/>
          </a:prstGeom>
          <a:noFill/>
          <a:ln/>
        </p:spPr>
        <p:txBody>
          <a:bodyPr wrap="square" lIns="0" tIns="0" rIns="0" bIns="0" rtlCol="0" anchor="ctr"/>
          <a:lstStyle/>
          <a:p>
            <a:pPr marL="0" indent="0">
              <a:buNone/>
            </a:pPr>
            <a:r>
              <a:rPr lang="en-US" sz="850" dirty="0">
                <a:solidFill>
                  <a:srgbClr val="999999"/>
                </a:solidFill>
                <a:latin typeface="Calibri" pitchFamily="34" charset="0"/>
                <a:ea typeface="Calibri" pitchFamily="34" charset="-122"/>
                <a:cs typeface="Calibri" pitchFamily="34" charset="-120"/>
              </a:rPr>
              <a:t>Quality Engineering | Test Case Development in STLC</a:t>
            </a:r>
            <a:endParaRPr lang="en-US" sz="850" dirty="0"/>
          </a:p>
        </p:txBody>
      </p:sp>
      <p:sp>
        <p:nvSpPr>
          <p:cNvPr id="7" name="Text 5"/>
          <p:cNvSpPr/>
          <p:nvPr/>
        </p:nvSpPr>
        <p:spPr>
          <a:xfrm>
            <a:off x="7406640" y="4855464"/>
            <a:ext cx="1554480" cy="228600"/>
          </a:xfrm>
          <a:prstGeom prst="rect">
            <a:avLst/>
          </a:prstGeom>
          <a:noFill/>
          <a:ln/>
        </p:spPr>
        <p:txBody>
          <a:bodyPr wrap="square" lIns="0" tIns="0" rIns="0" bIns="0" rtlCol="0" anchor="ctr"/>
          <a:lstStyle/>
          <a:p>
            <a:pPr marL="0" indent="0" algn="r">
              <a:buNone/>
            </a:pPr>
            <a:r>
              <a:rPr lang="en-US" sz="850" b="1" dirty="0">
                <a:solidFill>
                  <a:srgbClr val="FF6500"/>
                </a:solidFill>
                <a:latin typeface="Calibri" pitchFamily="34" charset="0"/>
                <a:ea typeface="Calibri" pitchFamily="34" charset="-122"/>
                <a:cs typeface="Calibri" pitchFamily="34" charset="-120"/>
              </a:rPr>
              <a:t>INTERNAL TRAINING</a:t>
            </a:r>
            <a:endParaRPr lang="en-US" sz="850" dirty="0"/>
          </a:p>
        </p:txBody>
      </p:sp>
      <p:sp>
        <p:nvSpPr>
          <p:cNvPr id="8" name="Text 6"/>
          <p:cNvSpPr/>
          <p:nvPr/>
        </p:nvSpPr>
        <p:spPr>
          <a:xfrm>
            <a:off x="228600" y="758952"/>
            <a:ext cx="8732520" cy="777240"/>
          </a:xfrm>
          <a:prstGeom prst="rect">
            <a:avLst/>
          </a:prstGeom>
          <a:noFill/>
          <a:ln/>
        </p:spPr>
        <p:txBody>
          <a:bodyPr wrap="square" lIns="0" tIns="0" rIns="0" bIns="0" rtlCol="0" anchor="ctr"/>
          <a:lstStyle/>
          <a:p>
            <a:pPr marL="0" indent="0">
              <a:buNone/>
            </a:pPr>
            <a:r>
              <a:rPr lang="en-US" sz="1150" dirty="0">
                <a:solidFill>
                  <a:srgbClr val="2C2C2C"/>
                </a:solidFill>
                <a:latin typeface="Calibri" pitchFamily="34" charset="0"/>
                <a:ea typeface="Calibri" pitchFamily="34" charset="-122"/>
                <a:cs typeface="Calibri" pitchFamily="34" charset="-120"/>
              </a:rPr>
              <a:t>EP divides all possible inputs into groups (partitions/equivalence classes) where every value in the group is expected to behave identically. Instead of testing every single value, you test one representative value from each partition — dramatically reducing the number of test cases without reducing coverage.</a:t>
            </a:r>
            <a:endParaRPr lang="en-US" sz="1150" dirty="0"/>
          </a:p>
        </p:txBody>
      </p:sp>
      <p:sp>
        <p:nvSpPr>
          <p:cNvPr id="9" name="Text 7"/>
          <p:cNvSpPr/>
          <p:nvPr/>
        </p:nvSpPr>
        <p:spPr>
          <a:xfrm>
            <a:off x="228600" y="1600200"/>
            <a:ext cx="8732520" cy="274320"/>
          </a:xfrm>
          <a:prstGeom prst="rect">
            <a:avLst/>
          </a:prstGeom>
          <a:noFill/>
          <a:ln/>
        </p:spPr>
        <p:txBody>
          <a:bodyPr wrap="square" lIns="0" tIns="0" rIns="0" bIns="0" rtlCol="0" anchor="ctr"/>
          <a:lstStyle/>
          <a:p>
            <a:pPr marL="0" indent="0">
              <a:buNone/>
            </a:pPr>
            <a:r>
              <a:rPr lang="en-US" sz="1200" b="1" dirty="0">
                <a:solidFill>
                  <a:srgbClr val="FF6500"/>
                </a:solidFill>
                <a:latin typeface="Arial" pitchFamily="34" charset="0"/>
                <a:ea typeface="Arial" pitchFamily="34" charset="-122"/>
                <a:cs typeface="Arial" pitchFamily="34" charset="-120"/>
              </a:rPr>
              <a:t>Example: Age Field (Valid range: 18–65 years)</a:t>
            </a:r>
            <a:endParaRPr lang="en-US" sz="1200" dirty="0"/>
          </a:p>
        </p:txBody>
      </p:sp>
      <p:sp>
        <p:nvSpPr>
          <p:cNvPr id="10" name="Shape 8"/>
          <p:cNvSpPr/>
          <p:nvPr/>
        </p:nvSpPr>
        <p:spPr>
          <a:xfrm>
            <a:off x="228600" y="1965960"/>
            <a:ext cx="1627632" cy="2697480"/>
          </a:xfrm>
          <a:prstGeom prst="rect">
            <a:avLst/>
          </a:prstGeom>
          <a:solidFill>
            <a:srgbClr val="FFFFFF"/>
          </a:solidFill>
          <a:ln w="12700">
            <a:solidFill>
              <a:srgbClr val="C0392B"/>
            </a:solidFill>
            <a:prstDash val="solid"/>
          </a:ln>
          <a:effectLst>
            <a:outerShdw blurRad="76200" dist="25400" dir="8100000" algn="bl" rotWithShape="0">
              <a:srgbClr val="000000">
                <a:alpha val="13000"/>
              </a:srgbClr>
            </a:outerShdw>
          </a:effectLst>
        </p:spPr>
      </p:sp>
      <p:sp>
        <p:nvSpPr>
          <p:cNvPr id="11" name="Shape 9"/>
          <p:cNvSpPr/>
          <p:nvPr/>
        </p:nvSpPr>
        <p:spPr>
          <a:xfrm>
            <a:off x="228600" y="1965960"/>
            <a:ext cx="1627632" cy="347472"/>
          </a:xfrm>
          <a:prstGeom prst="rect">
            <a:avLst/>
          </a:prstGeom>
          <a:solidFill>
            <a:srgbClr val="C0392B"/>
          </a:solidFill>
          <a:ln w="12700">
            <a:solidFill>
              <a:srgbClr val="C0392B"/>
            </a:solidFill>
            <a:prstDash val="solid"/>
          </a:ln>
        </p:spPr>
      </p:sp>
      <p:sp>
        <p:nvSpPr>
          <p:cNvPr id="12" name="Text 10"/>
          <p:cNvSpPr/>
          <p:nvPr/>
        </p:nvSpPr>
        <p:spPr>
          <a:xfrm>
            <a:off x="265176" y="1965960"/>
            <a:ext cx="1554480" cy="347472"/>
          </a:xfrm>
          <a:prstGeom prst="rect">
            <a:avLst/>
          </a:prstGeom>
          <a:noFill/>
          <a:ln/>
        </p:spPr>
        <p:txBody>
          <a:bodyPr wrap="square" lIns="0" tIns="0" rIns="0" bIns="0" rtlCol="0" anchor="ctr"/>
          <a:lstStyle/>
          <a:p>
            <a:pPr marL="0" indent="0" algn="ctr">
              <a:buNone/>
            </a:pPr>
            <a:r>
              <a:rPr lang="en-US" sz="850" b="1" dirty="0">
                <a:solidFill>
                  <a:srgbClr val="FFFFFF"/>
                </a:solidFill>
                <a:latin typeface="Arial" pitchFamily="34" charset="0"/>
                <a:ea typeface="Arial" pitchFamily="34" charset="-122"/>
                <a:cs typeface="Arial" pitchFamily="34" charset="-120"/>
              </a:rPr>
              <a:t>Partition 1</a:t>
            </a:r>
            <a:endParaRPr lang="en-US" sz="850" dirty="0"/>
          </a:p>
          <a:p>
            <a:pPr marL="0" indent="0" algn="ctr">
              <a:buNone/>
            </a:pPr>
            <a:r>
              <a:rPr lang="en-US" sz="850" b="1" dirty="0">
                <a:solidFill>
                  <a:srgbClr val="FFFFFF"/>
                </a:solidFill>
                <a:latin typeface="Arial" pitchFamily="34" charset="0"/>
                <a:ea typeface="Arial" pitchFamily="34" charset="-122"/>
                <a:cs typeface="Arial" pitchFamily="34" charset="-120"/>
              </a:rPr>
              <a:t>(Invalid — Too Low)</a:t>
            </a:r>
            <a:endParaRPr lang="en-US" sz="850" dirty="0"/>
          </a:p>
        </p:txBody>
      </p:sp>
      <p:sp>
        <p:nvSpPr>
          <p:cNvPr id="13" name="Text 11"/>
          <p:cNvSpPr/>
          <p:nvPr/>
        </p:nvSpPr>
        <p:spPr>
          <a:xfrm>
            <a:off x="292608" y="2377440"/>
            <a:ext cx="1463040" cy="228600"/>
          </a:xfrm>
          <a:prstGeom prst="rect">
            <a:avLst/>
          </a:prstGeom>
          <a:noFill/>
          <a:ln/>
        </p:spPr>
        <p:txBody>
          <a:bodyPr wrap="square" lIns="0" tIns="0" rIns="0" bIns="0" rtlCol="0" anchor="ctr"/>
          <a:lstStyle/>
          <a:p>
            <a:pPr marL="0" indent="0">
              <a:buNone/>
            </a:pPr>
            <a:r>
              <a:rPr lang="en-US" sz="950" b="1" dirty="0">
                <a:solidFill>
                  <a:srgbClr val="5A5A5A"/>
                </a:solidFill>
                <a:latin typeface="Arial" pitchFamily="34" charset="0"/>
                <a:ea typeface="Arial" pitchFamily="34" charset="-122"/>
                <a:cs typeface="Arial" pitchFamily="34" charset="-120"/>
              </a:rPr>
              <a:t>Range:</a:t>
            </a:r>
            <a:endParaRPr lang="en-US" sz="950" dirty="0"/>
          </a:p>
        </p:txBody>
      </p:sp>
      <p:sp>
        <p:nvSpPr>
          <p:cNvPr id="14" name="Text 12"/>
          <p:cNvSpPr/>
          <p:nvPr/>
        </p:nvSpPr>
        <p:spPr>
          <a:xfrm>
            <a:off x="292608" y="2606040"/>
            <a:ext cx="1463040" cy="274320"/>
          </a:xfrm>
          <a:prstGeom prst="rect">
            <a:avLst/>
          </a:prstGeom>
          <a:noFill/>
          <a:ln/>
        </p:spPr>
        <p:txBody>
          <a:bodyPr wrap="square" lIns="0" tIns="0" rIns="0" bIns="0" rtlCol="0" anchor="ctr"/>
          <a:lstStyle/>
          <a:p>
            <a:pPr marL="0" indent="0">
              <a:buNone/>
            </a:pPr>
            <a:r>
              <a:rPr lang="en-US" sz="1100" b="1" dirty="0">
                <a:solidFill>
                  <a:srgbClr val="2C2C2C"/>
                </a:solidFill>
                <a:latin typeface="Calibri" pitchFamily="34" charset="0"/>
                <a:ea typeface="Calibri" pitchFamily="34" charset="-122"/>
                <a:cs typeface="Calibri" pitchFamily="34" charset="-120"/>
              </a:rPr>
              <a:t>&lt; 0</a:t>
            </a:r>
            <a:endParaRPr lang="en-US" sz="1100" dirty="0"/>
          </a:p>
        </p:txBody>
      </p:sp>
      <p:sp>
        <p:nvSpPr>
          <p:cNvPr id="15" name="Text 13"/>
          <p:cNvSpPr/>
          <p:nvPr/>
        </p:nvSpPr>
        <p:spPr>
          <a:xfrm>
            <a:off x="292608" y="2926080"/>
            <a:ext cx="1463040" cy="228600"/>
          </a:xfrm>
          <a:prstGeom prst="rect">
            <a:avLst/>
          </a:prstGeom>
          <a:noFill/>
          <a:ln/>
        </p:spPr>
        <p:txBody>
          <a:bodyPr wrap="square" lIns="0" tIns="0" rIns="0" bIns="0" rtlCol="0" anchor="ctr"/>
          <a:lstStyle/>
          <a:p>
            <a:pPr marL="0" indent="0">
              <a:buNone/>
            </a:pPr>
            <a:r>
              <a:rPr lang="en-US" sz="950" b="1" dirty="0">
                <a:solidFill>
                  <a:srgbClr val="5A5A5A"/>
                </a:solidFill>
                <a:latin typeface="Arial" pitchFamily="34" charset="0"/>
                <a:ea typeface="Arial" pitchFamily="34" charset="-122"/>
                <a:cs typeface="Arial" pitchFamily="34" charset="-120"/>
              </a:rPr>
              <a:t>Test values:</a:t>
            </a:r>
            <a:endParaRPr lang="en-US" sz="950" dirty="0"/>
          </a:p>
        </p:txBody>
      </p:sp>
      <p:sp>
        <p:nvSpPr>
          <p:cNvPr id="16" name="Text 14"/>
          <p:cNvSpPr/>
          <p:nvPr/>
        </p:nvSpPr>
        <p:spPr>
          <a:xfrm>
            <a:off x="292608" y="3154680"/>
            <a:ext cx="1463040" cy="274320"/>
          </a:xfrm>
          <a:prstGeom prst="rect">
            <a:avLst/>
          </a:prstGeom>
          <a:noFill/>
          <a:ln/>
        </p:spPr>
        <p:txBody>
          <a:bodyPr wrap="square" lIns="0" tIns="0" rIns="0" bIns="0" rtlCol="0" anchor="ctr"/>
          <a:lstStyle/>
          <a:p>
            <a:pPr marL="0" indent="0">
              <a:buNone/>
            </a:pPr>
            <a:r>
              <a:rPr lang="en-US" sz="1050" dirty="0">
                <a:solidFill>
                  <a:srgbClr val="2C2C2C"/>
                </a:solidFill>
                <a:latin typeface="Calibri" pitchFamily="34" charset="0"/>
                <a:ea typeface="Calibri" pitchFamily="34" charset="-122"/>
                <a:cs typeface="Calibri" pitchFamily="34" charset="-120"/>
              </a:rPr>
              <a:t>−5, −1</a:t>
            </a:r>
            <a:endParaRPr lang="en-US" sz="1050" dirty="0"/>
          </a:p>
        </p:txBody>
      </p:sp>
      <p:sp>
        <p:nvSpPr>
          <p:cNvPr id="17" name="Shape 15"/>
          <p:cNvSpPr/>
          <p:nvPr/>
        </p:nvSpPr>
        <p:spPr>
          <a:xfrm>
            <a:off x="292608" y="4206240"/>
            <a:ext cx="1481328" cy="320040"/>
          </a:xfrm>
          <a:prstGeom prst="rect">
            <a:avLst/>
          </a:prstGeom>
          <a:solidFill>
            <a:srgbClr val="C0392B"/>
          </a:solidFill>
          <a:ln w="12700">
            <a:solidFill>
              <a:srgbClr val="C0392B"/>
            </a:solidFill>
            <a:prstDash val="solid"/>
          </a:ln>
        </p:spPr>
      </p:sp>
      <p:sp>
        <p:nvSpPr>
          <p:cNvPr id="18" name="Text 16"/>
          <p:cNvSpPr/>
          <p:nvPr/>
        </p:nvSpPr>
        <p:spPr>
          <a:xfrm>
            <a:off x="292608" y="4206240"/>
            <a:ext cx="1481328" cy="320040"/>
          </a:xfrm>
          <a:prstGeom prst="rect">
            <a:avLst/>
          </a:prstGeom>
          <a:noFill/>
          <a:ln/>
        </p:spPr>
        <p:txBody>
          <a:bodyPr wrap="square" lIns="0" tIns="0" rIns="0" bIns="0" rtlCol="0" anchor="ctr"/>
          <a:lstStyle/>
          <a:p>
            <a:pPr marL="0" indent="0" algn="ctr">
              <a:buNone/>
            </a:pPr>
            <a:r>
              <a:rPr lang="en-US" sz="1100" b="1" dirty="0">
                <a:solidFill>
                  <a:srgbClr val="FFFFFF"/>
                </a:solidFill>
                <a:latin typeface="Arial" pitchFamily="34" charset="0"/>
                <a:ea typeface="Arial" pitchFamily="34" charset="-122"/>
                <a:cs typeface="Arial" pitchFamily="34" charset="-120"/>
              </a:rPr>
              <a:t>Reject</a:t>
            </a:r>
            <a:endParaRPr lang="en-US" sz="1100" dirty="0"/>
          </a:p>
        </p:txBody>
      </p:sp>
      <p:sp>
        <p:nvSpPr>
          <p:cNvPr id="19" name="Shape 17"/>
          <p:cNvSpPr/>
          <p:nvPr/>
        </p:nvSpPr>
        <p:spPr>
          <a:xfrm>
            <a:off x="1965960" y="1965960"/>
            <a:ext cx="1627632" cy="2697480"/>
          </a:xfrm>
          <a:prstGeom prst="rect">
            <a:avLst/>
          </a:prstGeom>
          <a:solidFill>
            <a:srgbClr val="FFFFFF"/>
          </a:solidFill>
          <a:ln w="12700">
            <a:solidFill>
              <a:srgbClr val="E67E22"/>
            </a:solidFill>
            <a:prstDash val="solid"/>
          </a:ln>
          <a:effectLst>
            <a:outerShdw blurRad="76200" dist="25400" dir="8100000" algn="bl" rotWithShape="0">
              <a:srgbClr val="000000">
                <a:alpha val="13000"/>
              </a:srgbClr>
            </a:outerShdw>
          </a:effectLst>
        </p:spPr>
      </p:sp>
      <p:sp>
        <p:nvSpPr>
          <p:cNvPr id="20" name="Shape 18"/>
          <p:cNvSpPr/>
          <p:nvPr/>
        </p:nvSpPr>
        <p:spPr>
          <a:xfrm>
            <a:off x="1965960" y="1965960"/>
            <a:ext cx="1627632" cy="347472"/>
          </a:xfrm>
          <a:prstGeom prst="rect">
            <a:avLst/>
          </a:prstGeom>
          <a:solidFill>
            <a:srgbClr val="E67E22"/>
          </a:solidFill>
          <a:ln w="12700">
            <a:solidFill>
              <a:srgbClr val="E67E22"/>
            </a:solidFill>
            <a:prstDash val="solid"/>
          </a:ln>
        </p:spPr>
      </p:sp>
      <p:sp>
        <p:nvSpPr>
          <p:cNvPr id="21" name="Text 19"/>
          <p:cNvSpPr/>
          <p:nvPr/>
        </p:nvSpPr>
        <p:spPr>
          <a:xfrm>
            <a:off x="2002536" y="1965960"/>
            <a:ext cx="1554480" cy="347472"/>
          </a:xfrm>
          <a:prstGeom prst="rect">
            <a:avLst/>
          </a:prstGeom>
          <a:noFill/>
          <a:ln/>
        </p:spPr>
        <p:txBody>
          <a:bodyPr wrap="square" lIns="0" tIns="0" rIns="0" bIns="0" rtlCol="0" anchor="ctr"/>
          <a:lstStyle/>
          <a:p>
            <a:pPr marL="0" indent="0" algn="ctr">
              <a:buNone/>
            </a:pPr>
            <a:r>
              <a:rPr lang="en-US" sz="850" b="1" dirty="0">
                <a:solidFill>
                  <a:srgbClr val="FFFFFF"/>
                </a:solidFill>
                <a:latin typeface="Arial" pitchFamily="34" charset="0"/>
                <a:ea typeface="Arial" pitchFamily="34" charset="-122"/>
                <a:cs typeface="Arial" pitchFamily="34" charset="-120"/>
              </a:rPr>
              <a:t>Partition 2</a:t>
            </a:r>
            <a:endParaRPr lang="en-US" sz="850" dirty="0"/>
          </a:p>
          <a:p>
            <a:pPr marL="0" indent="0" algn="ctr">
              <a:buNone/>
            </a:pPr>
            <a:r>
              <a:rPr lang="en-US" sz="850" b="1" dirty="0">
                <a:solidFill>
                  <a:srgbClr val="FFFFFF"/>
                </a:solidFill>
                <a:latin typeface="Arial" pitchFamily="34" charset="0"/>
                <a:ea typeface="Arial" pitchFamily="34" charset="-122"/>
                <a:cs typeface="Arial" pitchFamily="34" charset="-120"/>
              </a:rPr>
              <a:t>(Invalid — Underage)</a:t>
            </a:r>
            <a:endParaRPr lang="en-US" sz="850" dirty="0"/>
          </a:p>
        </p:txBody>
      </p:sp>
      <p:sp>
        <p:nvSpPr>
          <p:cNvPr id="22" name="Text 20"/>
          <p:cNvSpPr/>
          <p:nvPr/>
        </p:nvSpPr>
        <p:spPr>
          <a:xfrm>
            <a:off x="2029968" y="2377440"/>
            <a:ext cx="1463040" cy="228600"/>
          </a:xfrm>
          <a:prstGeom prst="rect">
            <a:avLst/>
          </a:prstGeom>
          <a:noFill/>
          <a:ln/>
        </p:spPr>
        <p:txBody>
          <a:bodyPr wrap="square" lIns="0" tIns="0" rIns="0" bIns="0" rtlCol="0" anchor="ctr"/>
          <a:lstStyle/>
          <a:p>
            <a:pPr marL="0" indent="0">
              <a:buNone/>
            </a:pPr>
            <a:r>
              <a:rPr lang="en-US" sz="950" b="1" dirty="0">
                <a:solidFill>
                  <a:srgbClr val="5A5A5A"/>
                </a:solidFill>
                <a:latin typeface="Arial" pitchFamily="34" charset="0"/>
                <a:ea typeface="Arial" pitchFamily="34" charset="-122"/>
                <a:cs typeface="Arial" pitchFamily="34" charset="-120"/>
              </a:rPr>
              <a:t>Range:</a:t>
            </a:r>
            <a:endParaRPr lang="en-US" sz="950" dirty="0"/>
          </a:p>
        </p:txBody>
      </p:sp>
      <p:sp>
        <p:nvSpPr>
          <p:cNvPr id="23" name="Text 21"/>
          <p:cNvSpPr/>
          <p:nvPr/>
        </p:nvSpPr>
        <p:spPr>
          <a:xfrm>
            <a:off x="2029968" y="2606040"/>
            <a:ext cx="1463040" cy="274320"/>
          </a:xfrm>
          <a:prstGeom prst="rect">
            <a:avLst/>
          </a:prstGeom>
          <a:noFill/>
          <a:ln/>
        </p:spPr>
        <p:txBody>
          <a:bodyPr wrap="square" lIns="0" tIns="0" rIns="0" bIns="0" rtlCol="0" anchor="ctr"/>
          <a:lstStyle/>
          <a:p>
            <a:pPr marL="0" indent="0">
              <a:buNone/>
            </a:pPr>
            <a:r>
              <a:rPr lang="en-US" sz="1100" b="1" dirty="0">
                <a:solidFill>
                  <a:srgbClr val="2C2C2C"/>
                </a:solidFill>
                <a:latin typeface="Calibri" pitchFamily="34" charset="0"/>
                <a:ea typeface="Calibri" pitchFamily="34" charset="-122"/>
                <a:cs typeface="Calibri" pitchFamily="34" charset="-120"/>
              </a:rPr>
              <a:t>0 to 17</a:t>
            </a:r>
            <a:endParaRPr lang="en-US" sz="1100" dirty="0"/>
          </a:p>
        </p:txBody>
      </p:sp>
      <p:sp>
        <p:nvSpPr>
          <p:cNvPr id="24" name="Text 22"/>
          <p:cNvSpPr/>
          <p:nvPr/>
        </p:nvSpPr>
        <p:spPr>
          <a:xfrm>
            <a:off x="2029968" y="2926080"/>
            <a:ext cx="1463040" cy="228600"/>
          </a:xfrm>
          <a:prstGeom prst="rect">
            <a:avLst/>
          </a:prstGeom>
          <a:noFill/>
          <a:ln/>
        </p:spPr>
        <p:txBody>
          <a:bodyPr wrap="square" lIns="0" tIns="0" rIns="0" bIns="0" rtlCol="0" anchor="ctr"/>
          <a:lstStyle/>
          <a:p>
            <a:pPr marL="0" indent="0">
              <a:buNone/>
            </a:pPr>
            <a:r>
              <a:rPr lang="en-US" sz="950" b="1" dirty="0">
                <a:solidFill>
                  <a:srgbClr val="5A5A5A"/>
                </a:solidFill>
                <a:latin typeface="Arial" pitchFamily="34" charset="0"/>
                <a:ea typeface="Arial" pitchFamily="34" charset="-122"/>
                <a:cs typeface="Arial" pitchFamily="34" charset="-120"/>
              </a:rPr>
              <a:t>Test values:</a:t>
            </a:r>
            <a:endParaRPr lang="en-US" sz="950" dirty="0"/>
          </a:p>
        </p:txBody>
      </p:sp>
      <p:sp>
        <p:nvSpPr>
          <p:cNvPr id="25" name="Text 23"/>
          <p:cNvSpPr/>
          <p:nvPr/>
        </p:nvSpPr>
        <p:spPr>
          <a:xfrm>
            <a:off x="2029968" y="3154680"/>
            <a:ext cx="1463040" cy="274320"/>
          </a:xfrm>
          <a:prstGeom prst="rect">
            <a:avLst/>
          </a:prstGeom>
          <a:noFill/>
          <a:ln/>
        </p:spPr>
        <p:txBody>
          <a:bodyPr wrap="square" lIns="0" tIns="0" rIns="0" bIns="0" rtlCol="0" anchor="ctr"/>
          <a:lstStyle/>
          <a:p>
            <a:pPr marL="0" indent="0">
              <a:buNone/>
            </a:pPr>
            <a:r>
              <a:rPr lang="en-US" sz="1050" dirty="0">
                <a:solidFill>
                  <a:srgbClr val="2C2C2C"/>
                </a:solidFill>
                <a:latin typeface="Calibri" pitchFamily="34" charset="0"/>
                <a:ea typeface="Calibri" pitchFamily="34" charset="-122"/>
                <a:cs typeface="Calibri" pitchFamily="34" charset="-120"/>
              </a:rPr>
              <a:t>0, 10, 17</a:t>
            </a:r>
            <a:endParaRPr lang="en-US" sz="1050" dirty="0"/>
          </a:p>
        </p:txBody>
      </p:sp>
      <p:sp>
        <p:nvSpPr>
          <p:cNvPr id="26" name="Shape 24"/>
          <p:cNvSpPr/>
          <p:nvPr/>
        </p:nvSpPr>
        <p:spPr>
          <a:xfrm>
            <a:off x="2029968" y="4206240"/>
            <a:ext cx="1481328" cy="320040"/>
          </a:xfrm>
          <a:prstGeom prst="rect">
            <a:avLst/>
          </a:prstGeom>
          <a:solidFill>
            <a:srgbClr val="E67E22"/>
          </a:solidFill>
          <a:ln w="12700">
            <a:solidFill>
              <a:srgbClr val="E67E22"/>
            </a:solidFill>
            <a:prstDash val="solid"/>
          </a:ln>
        </p:spPr>
      </p:sp>
      <p:sp>
        <p:nvSpPr>
          <p:cNvPr id="27" name="Text 25"/>
          <p:cNvSpPr/>
          <p:nvPr/>
        </p:nvSpPr>
        <p:spPr>
          <a:xfrm>
            <a:off x="2029968" y="4206240"/>
            <a:ext cx="1481328" cy="320040"/>
          </a:xfrm>
          <a:prstGeom prst="rect">
            <a:avLst/>
          </a:prstGeom>
          <a:noFill/>
          <a:ln/>
        </p:spPr>
        <p:txBody>
          <a:bodyPr wrap="square" lIns="0" tIns="0" rIns="0" bIns="0" rtlCol="0" anchor="ctr"/>
          <a:lstStyle/>
          <a:p>
            <a:pPr marL="0" indent="0" algn="ctr">
              <a:buNone/>
            </a:pPr>
            <a:r>
              <a:rPr lang="en-US" sz="1100" b="1" dirty="0">
                <a:solidFill>
                  <a:srgbClr val="FFFFFF"/>
                </a:solidFill>
                <a:latin typeface="Arial" pitchFamily="34" charset="0"/>
                <a:ea typeface="Arial" pitchFamily="34" charset="-122"/>
                <a:cs typeface="Arial" pitchFamily="34" charset="-120"/>
              </a:rPr>
              <a:t>Reject</a:t>
            </a:r>
            <a:endParaRPr lang="en-US" sz="1100" dirty="0"/>
          </a:p>
        </p:txBody>
      </p:sp>
      <p:sp>
        <p:nvSpPr>
          <p:cNvPr id="28" name="Shape 26"/>
          <p:cNvSpPr/>
          <p:nvPr/>
        </p:nvSpPr>
        <p:spPr>
          <a:xfrm>
            <a:off x="3703320" y="1965960"/>
            <a:ext cx="1627632" cy="2697480"/>
          </a:xfrm>
          <a:prstGeom prst="rect">
            <a:avLst/>
          </a:prstGeom>
          <a:solidFill>
            <a:srgbClr val="FFFFFF"/>
          </a:solidFill>
          <a:ln w="12700">
            <a:solidFill>
              <a:srgbClr val="27AE60"/>
            </a:solidFill>
            <a:prstDash val="solid"/>
          </a:ln>
          <a:effectLst>
            <a:outerShdw blurRad="76200" dist="25400" dir="8100000" algn="bl" rotWithShape="0">
              <a:srgbClr val="000000">
                <a:alpha val="13000"/>
              </a:srgbClr>
            </a:outerShdw>
          </a:effectLst>
        </p:spPr>
      </p:sp>
      <p:sp>
        <p:nvSpPr>
          <p:cNvPr id="29" name="Shape 27"/>
          <p:cNvSpPr/>
          <p:nvPr/>
        </p:nvSpPr>
        <p:spPr>
          <a:xfrm>
            <a:off x="3703320" y="1965960"/>
            <a:ext cx="1627632" cy="347472"/>
          </a:xfrm>
          <a:prstGeom prst="rect">
            <a:avLst/>
          </a:prstGeom>
          <a:solidFill>
            <a:srgbClr val="27AE60"/>
          </a:solidFill>
          <a:ln w="12700">
            <a:solidFill>
              <a:srgbClr val="27AE60"/>
            </a:solidFill>
            <a:prstDash val="solid"/>
          </a:ln>
        </p:spPr>
      </p:sp>
      <p:sp>
        <p:nvSpPr>
          <p:cNvPr id="30" name="Text 28"/>
          <p:cNvSpPr/>
          <p:nvPr/>
        </p:nvSpPr>
        <p:spPr>
          <a:xfrm>
            <a:off x="3739896" y="1965960"/>
            <a:ext cx="1554480" cy="347472"/>
          </a:xfrm>
          <a:prstGeom prst="rect">
            <a:avLst/>
          </a:prstGeom>
          <a:noFill/>
          <a:ln/>
        </p:spPr>
        <p:txBody>
          <a:bodyPr wrap="square" lIns="0" tIns="0" rIns="0" bIns="0" rtlCol="0" anchor="ctr"/>
          <a:lstStyle/>
          <a:p>
            <a:pPr marL="0" indent="0" algn="ctr">
              <a:buNone/>
            </a:pPr>
            <a:r>
              <a:rPr lang="en-US" sz="850" b="1" dirty="0">
                <a:solidFill>
                  <a:srgbClr val="FFFFFF"/>
                </a:solidFill>
                <a:latin typeface="Arial" pitchFamily="34" charset="0"/>
                <a:ea typeface="Arial" pitchFamily="34" charset="-122"/>
                <a:cs typeface="Arial" pitchFamily="34" charset="-120"/>
              </a:rPr>
              <a:t>Partition 3</a:t>
            </a:r>
            <a:endParaRPr lang="en-US" sz="850" dirty="0"/>
          </a:p>
          <a:p>
            <a:pPr marL="0" indent="0" algn="ctr">
              <a:buNone/>
            </a:pPr>
            <a:r>
              <a:rPr lang="en-US" sz="850" b="1" dirty="0">
                <a:solidFill>
                  <a:srgbClr val="FFFFFF"/>
                </a:solidFill>
                <a:latin typeface="Arial" pitchFamily="34" charset="0"/>
                <a:ea typeface="Arial" pitchFamily="34" charset="-122"/>
                <a:cs typeface="Arial" pitchFamily="34" charset="-120"/>
              </a:rPr>
              <a:t>(VALID)</a:t>
            </a:r>
            <a:endParaRPr lang="en-US" sz="850" dirty="0"/>
          </a:p>
        </p:txBody>
      </p:sp>
      <p:sp>
        <p:nvSpPr>
          <p:cNvPr id="31" name="Text 29"/>
          <p:cNvSpPr/>
          <p:nvPr/>
        </p:nvSpPr>
        <p:spPr>
          <a:xfrm>
            <a:off x="3767328" y="2377440"/>
            <a:ext cx="1463040" cy="228600"/>
          </a:xfrm>
          <a:prstGeom prst="rect">
            <a:avLst/>
          </a:prstGeom>
          <a:noFill/>
          <a:ln/>
        </p:spPr>
        <p:txBody>
          <a:bodyPr wrap="square" lIns="0" tIns="0" rIns="0" bIns="0" rtlCol="0" anchor="ctr"/>
          <a:lstStyle/>
          <a:p>
            <a:pPr marL="0" indent="0">
              <a:buNone/>
            </a:pPr>
            <a:r>
              <a:rPr lang="en-US" sz="950" b="1" dirty="0">
                <a:solidFill>
                  <a:srgbClr val="5A5A5A"/>
                </a:solidFill>
                <a:latin typeface="Arial" pitchFamily="34" charset="0"/>
                <a:ea typeface="Arial" pitchFamily="34" charset="-122"/>
                <a:cs typeface="Arial" pitchFamily="34" charset="-120"/>
              </a:rPr>
              <a:t>Range:</a:t>
            </a:r>
            <a:endParaRPr lang="en-US" sz="950" dirty="0"/>
          </a:p>
        </p:txBody>
      </p:sp>
      <p:sp>
        <p:nvSpPr>
          <p:cNvPr id="32" name="Text 30"/>
          <p:cNvSpPr/>
          <p:nvPr/>
        </p:nvSpPr>
        <p:spPr>
          <a:xfrm>
            <a:off x="3767328" y="2606040"/>
            <a:ext cx="1463040" cy="274320"/>
          </a:xfrm>
          <a:prstGeom prst="rect">
            <a:avLst/>
          </a:prstGeom>
          <a:noFill/>
          <a:ln/>
        </p:spPr>
        <p:txBody>
          <a:bodyPr wrap="square" lIns="0" tIns="0" rIns="0" bIns="0" rtlCol="0" anchor="ctr"/>
          <a:lstStyle/>
          <a:p>
            <a:pPr marL="0" indent="0">
              <a:buNone/>
            </a:pPr>
            <a:r>
              <a:rPr lang="en-US" sz="1100" b="1" dirty="0">
                <a:solidFill>
                  <a:srgbClr val="2C2C2C"/>
                </a:solidFill>
                <a:latin typeface="Calibri" pitchFamily="34" charset="0"/>
                <a:ea typeface="Calibri" pitchFamily="34" charset="-122"/>
                <a:cs typeface="Calibri" pitchFamily="34" charset="-120"/>
              </a:rPr>
              <a:t>18 to 65</a:t>
            </a:r>
            <a:endParaRPr lang="en-US" sz="1100" dirty="0"/>
          </a:p>
        </p:txBody>
      </p:sp>
      <p:sp>
        <p:nvSpPr>
          <p:cNvPr id="33" name="Text 31"/>
          <p:cNvSpPr/>
          <p:nvPr/>
        </p:nvSpPr>
        <p:spPr>
          <a:xfrm>
            <a:off x="3767328" y="2926080"/>
            <a:ext cx="1463040" cy="228600"/>
          </a:xfrm>
          <a:prstGeom prst="rect">
            <a:avLst/>
          </a:prstGeom>
          <a:noFill/>
          <a:ln/>
        </p:spPr>
        <p:txBody>
          <a:bodyPr wrap="square" lIns="0" tIns="0" rIns="0" bIns="0" rtlCol="0" anchor="ctr"/>
          <a:lstStyle/>
          <a:p>
            <a:pPr marL="0" indent="0">
              <a:buNone/>
            </a:pPr>
            <a:r>
              <a:rPr lang="en-US" sz="950" b="1" dirty="0">
                <a:solidFill>
                  <a:srgbClr val="5A5A5A"/>
                </a:solidFill>
                <a:latin typeface="Arial" pitchFamily="34" charset="0"/>
                <a:ea typeface="Arial" pitchFamily="34" charset="-122"/>
                <a:cs typeface="Arial" pitchFamily="34" charset="-120"/>
              </a:rPr>
              <a:t>Test values:</a:t>
            </a:r>
            <a:endParaRPr lang="en-US" sz="950" dirty="0"/>
          </a:p>
        </p:txBody>
      </p:sp>
      <p:sp>
        <p:nvSpPr>
          <p:cNvPr id="34" name="Text 32"/>
          <p:cNvSpPr/>
          <p:nvPr/>
        </p:nvSpPr>
        <p:spPr>
          <a:xfrm>
            <a:off x="3767328" y="3154680"/>
            <a:ext cx="1463040" cy="274320"/>
          </a:xfrm>
          <a:prstGeom prst="rect">
            <a:avLst/>
          </a:prstGeom>
          <a:noFill/>
          <a:ln/>
        </p:spPr>
        <p:txBody>
          <a:bodyPr wrap="square" lIns="0" tIns="0" rIns="0" bIns="0" rtlCol="0" anchor="ctr"/>
          <a:lstStyle/>
          <a:p>
            <a:pPr marL="0" indent="0">
              <a:buNone/>
            </a:pPr>
            <a:r>
              <a:rPr lang="en-US" sz="1050" dirty="0">
                <a:solidFill>
                  <a:srgbClr val="2C2C2C"/>
                </a:solidFill>
                <a:latin typeface="Calibri" pitchFamily="34" charset="0"/>
                <a:ea typeface="Calibri" pitchFamily="34" charset="-122"/>
                <a:cs typeface="Calibri" pitchFamily="34" charset="-120"/>
              </a:rPr>
              <a:t>18, 40, 65</a:t>
            </a:r>
            <a:endParaRPr lang="en-US" sz="1050" dirty="0"/>
          </a:p>
        </p:txBody>
      </p:sp>
      <p:sp>
        <p:nvSpPr>
          <p:cNvPr id="35" name="Shape 33"/>
          <p:cNvSpPr/>
          <p:nvPr/>
        </p:nvSpPr>
        <p:spPr>
          <a:xfrm>
            <a:off x="3767328" y="4206240"/>
            <a:ext cx="1481328" cy="320040"/>
          </a:xfrm>
          <a:prstGeom prst="rect">
            <a:avLst/>
          </a:prstGeom>
          <a:solidFill>
            <a:srgbClr val="27AE60"/>
          </a:solidFill>
          <a:ln w="12700">
            <a:solidFill>
              <a:srgbClr val="27AE60"/>
            </a:solidFill>
            <a:prstDash val="solid"/>
          </a:ln>
        </p:spPr>
      </p:sp>
      <p:sp>
        <p:nvSpPr>
          <p:cNvPr id="36" name="Text 34"/>
          <p:cNvSpPr/>
          <p:nvPr/>
        </p:nvSpPr>
        <p:spPr>
          <a:xfrm>
            <a:off x="3767328" y="4206240"/>
            <a:ext cx="1481328" cy="320040"/>
          </a:xfrm>
          <a:prstGeom prst="rect">
            <a:avLst/>
          </a:prstGeom>
          <a:noFill/>
          <a:ln/>
        </p:spPr>
        <p:txBody>
          <a:bodyPr wrap="square" lIns="0" tIns="0" rIns="0" bIns="0" rtlCol="0" anchor="ctr"/>
          <a:lstStyle/>
          <a:p>
            <a:pPr marL="0" indent="0" algn="ctr">
              <a:buNone/>
            </a:pPr>
            <a:r>
              <a:rPr lang="en-US" sz="1100" b="1" dirty="0">
                <a:solidFill>
                  <a:srgbClr val="FFFFFF"/>
                </a:solidFill>
                <a:latin typeface="Arial" pitchFamily="34" charset="0"/>
                <a:ea typeface="Arial" pitchFamily="34" charset="-122"/>
                <a:cs typeface="Arial" pitchFamily="34" charset="-120"/>
              </a:rPr>
              <a:t>Accept ✓</a:t>
            </a:r>
            <a:endParaRPr lang="en-US" sz="1100" dirty="0"/>
          </a:p>
        </p:txBody>
      </p:sp>
      <p:sp>
        <p:nvSpPr>
          <p:cNvPr id="37" name="Shape 35"/>
          <p:cNvSpPr/>
          <p:nvPr/>
        </p:nvSpPr>
        <p:spPr>
          <a:xfrm>
            <a:off x="5440680" y="1965960"/>
            <a:ext cx="1627632" cy="2697480"/>
          </a:xfrm>
          <a:prstGeom prst="rect">
            <a:avLst/>
          </a:prstGeom>
          <a:solidFill>
            <a:srgbClr val="FFFFFF"/>
          </a:solidFill>
          <a:ln w="12700">
            <a:solidFill>
              <a:srgbClr val="E67E22"/>
            </a:solidFill>
            <a:prstDash val="solid"/>
          </a:ln>
          <a:effectLst>
            <a:outerShdw blurRad="76200" dist="25400" dir="8100000" algn="bl" rotWithShape="0">
              <a:srgbClr val="000000">
                <a:alpha val="13000"/>
              </a:srgbClr>
            </a:outerShdw>
          </a:effectLst>
        </p:spPr>
      </p:sp>
      <p:sp>
        <p:nvSpPr>
          <p:cNvPr id="38" name="Shape 36"/>
          <p:cNvSpPr/>
          <p:nvPr/>
        </p:nvSpPr>
        <p:spPr>
          <a:xfrm>
            <a:off x="5440680" y="1965960"/>
            <a:ext cx="1627632" cy="347472"/>
          </a:xfrm>
          <a:prstGeom prst="rect">
            <a:avLst/>
          </a:prstGeom>
          <a:solidFill>
            <a:srgbClr val="E67E22"/>
          </a:solidFill>
          <a:ln w="12700">
            <a:solidFill>
              <a:srgbClr val="E67E22"/>
            </a:solidFill>
            <a:prstDash val="solid"/>
          </a:ln>
        </p:spPr>
      </p:sp>
      <p:sp>
        <p:nvSpPr>
          <p:cNvPr id="39" name="Text 37"/>
          <p:cNvSpPr/>
          <p:nvPr/>
        </p:nvSpPr>
        <p:spPr>
          <a:xfrm>
            <a:off x="5477256" y="1965960"/>
            <a:ext cx="1554480" cy="347472"/>
          </a:xfrm>
          <a:prstGeom prst="rect">
            <a:avLst/>
          </a:prstGeom>
          <a:noFill/>
          <a:ln/>
        </p:spPr>
        <p:txBody>
          <a:bodyPr wrap="square" lIns="0" tIns="0" rIns="0" bIns="0" rtlCol="0" anchor="ctr"/>
          <a:lstStyle/>
          <a:p>
            <a:pPr marL="0" indent="0" algn="ctr">
              <a:buNone/>
            </a:pPr>
            <a:r>
              <a:rPr lang="en-US" sz="850" b="1" dirty="0">
                <a:solidFill>
                  <a:srgbClr val="FFFFFF"/>
                </a:solidFill>
                <a:latin typeface="Arial" pitchFamily="34" charset="0"/>
                <a:ea typeface="Arial" pitchFamily="34" charset="-122"/>
                <a:cs typeface="Arial" pitchFamily="34" charset="-120"/>
              </a:rPr>
              <a:t>Partition 4</a:t>
            </a:r>
            <a:endParaRPr lang="en-US" sz="850" dirty="0"/>
          </a:p>
          <a:p>
            <a:pPr marL="0" indent="0" algn="ctr">
              <a:buNone/>
            </a:pPr>
            <a:r>
              <a:rPr lang="en-US" sz="850" b="1" dirty="0">
                <a:solidFill>
                  <a:srgbClr val="FFFFFF"/>
                </a:solidFill>
                <a:latin typeface="Arial" pitchFamily="34" charset="0"/>
                <a:ea typeface="Arial" pitchFamily="34" charset="-122"/>
                <a:cs typeface="Arial" pitchFamily="34" charset="-120"/>
              </a:rPr>
              <a:t>(Invalid — Too Old)</a:t>
            </a:r>
            <a:endParaRPr lang="en-US" sz="850" dirty="0"/>
          </a:p>
        </p:txBody>
      </p:sp>
      <p:sp>
        <p:nvSpPr>
          <p:cNvPr id="40" name="Text 38"/>
          <p:cNvSpPr/>
          <p:nvPr/>
        </p:nvSpPr>
        <p:spPr>
          <a:xfrm>
            <a:off x="5504688" y="2377440"/>
            <a:ext cx="1463040" cy="228600"/>
          </a:xfrm>
          <a:prstGeom prst="rect">
            <a:avLst/>
          </a:prstGeom>
          <a:noFill/>
          <a:ln/>
        </p:spPr>
        <p:txBody>
          <a:bodyPr wrap="square" lIns="0" tIns="0" rIns="0" bIns="0" rtlCol="0" anchor="ctr"/>
          <a:lstStyle/>
          <a:p>
            <a:pPr marL="0" indent="0">
              <a:buNone/>
            </a:pPr>
            <a:r>
              <a:rPr lang="en-US" sz="950" b="1" dirty="0">
                <a:solidFill>
                  <a:srgbClr val="5A5A5A"/>
                </a:solidFill>
                <a:latin typeface="Arial" pitchFamily="34" charset="0"/>
                <a:ea typeface="Arial" pitchFamily="34" charset="-122"/>
                <a:cs typeface="Arial" pitchFamily="34" charset="-120"/>
              </a:rPr>
              <a:t>Range:</a:t>
            </a:r>
            <a:endParaRPr lang="en-US" sz="950" dirty="0"/>
          </a:p>
        </p:txBody>
      </p:sp>
      <p:sp>
        <p:nvSpPr>
          <p:cNvPr id="41" name="Text 39"/>
          <p:cNvSpPr/>
          <p:nvPr/>
        </p:nvSpPr>
        <p:spPr>
          <a:xfrm>
            <a:off x="5504688" y="2606040"/>
            <a:ext cx="1463040" cy="274320"/>
          </a:xfrm>
          <a:prstGeom prst="rect">
            <a:avLst/>
          </a:prstGeom>
          <a:noFill/>
          <a:ln/>
        </p:spPr>
        <p:txBody>
          <a:bodyPr wrap="square" lIns="0" tIns="0" rIns="0" bIns="0" rtlCol="0" anchor="ctr"/>
          <a:lstStyle/>
          <a:p>
            <a:pPr marL="0" indent="0">
              <a:buNone/>
            </a:pPr>
            <a:r>
              <a:rPr lang="en-US" sz="1100" b="1" dirty="0">
                <a:solidFill>
                  <a:srgbClr val="2C2C2C"/>
                </a:solidFill>
                <a:latin typeface="Calibri" pitchFamily="34" charset="0"/>
                <a:ea typeface="Calibri" pitchFamily="34" charset="-122"/>
                <a:cs typeface="Calibri" pitchFamily="34" charset="-120"/>
              </a:rPr>
              <a:t>66 to 120</a:t>
            </a:r>
            <a:endParaRPr lang="en-US" sz="1100" dirty="0"/>
          </a:p>
        </p:txBody>
      </p:sp>
      <p:sp>
        <p:nvSpPr>
          <p:cNvPr id="42" name="Text 40"/>
          <p:cNvSpPr/>
          <p:nvPr/>
        </p:nvSpPr>
        <p:spPr>
          <a:xfrm>
            <a:off x="5504688" y="2926080"/>
            <a:ext cx="1463040" cy="228600"/>
          </a:xfrm>
          <a:prstGeom prst="rect">
            <a:avLst/>
          </a:prstGeom>
          <a:noFill/>
          <a:ln/>
        </p:spPr>
        <p:txBody>
          <a:bodyPr wrap="square" lIns="0" tIns="0" rIns="0" bIns="0" rtlCol="0" anchor="ctr"/>
          <a:lstStyle/>
          <a:p>
            <a:pPr marL="0" indent="0">
              <a:buNone/>
            </a:pPr>
            <a:r>
              <a:rPr lang="en-US" sz="950" b="1" dirty="0">
                <a:solidFill>
                  <a:srgbClr val="5A5A5A"/>
                </a:solidFill>
                <a:latin typeface="Arial" pitchFamily="34" charset="0"/>
                <a:ea typeface="Arial" pitchFamily="34" charset="-122"/>
                <a:cs typeface="Arial" pitchFamily="34" charset="-120"/>
              </a:rPr>
              <a:t>Test values:</a:t>
            </a:r>
            <a:endParaRPr lang="en-US" sz="950" dirty="0"/>
          </a:p>
        </p:txBody>
      </p:sp>
      <p:sp>
        <p:nvSpPr>
          <p:cNvPr id="43" name="Text 41"/>
          <p:cNvSpPr/>
          <p:nvPr/>
        </p:nvSpPr>
        <p:spPr>
          <a:xfrm>
            <a:off x="5504688" y="3154680"/>
            <a:ext cx="1463040" cy="274320"/>
          </a:xfrm>
          <a:prstGeom prst="rect">
            <a:avLst/>
          </a:prstGeom>
          <a:noFill/>
          <a:ln/>
        </p:spPr>
        <p:txBody>
          <a:bodyPr wrap="square" lIns="0" tIns="0" rIns="0" bIns="0" rtlCol="0" anchor="ctr"/>
          <a:lstStyle/>
          <a:p>
            <a:pPr marL="0" indent="0">
              <a:buNone/>
            </a:pPr>
            <a:r>
              <a:rPr lang="en-US" sz="1050" dirty="0">
                <a:solidFill>
                  <a:srgbClr val="2C2C2C"/>
                </a:solidFill>
                <a:latin typeface="Calibri" pitchFamily="34" charset="0"/>
                <a:ea typeface="Calibri" pitchFamily="34" charset="-122"/>
                <a:cs typeface="Calibri" pitchFamily="34" charset="-120"/>
              </a:rPr>
              <a:t>66, 90, 120</a:t>
            </a:r>
            <a:endParaRPr lang="en-US" sz="1050" dirty="0"/>
          </a:p>
        </p:txBody>
      </p:sp>
      <p:sp>
        <p:nvSpPr>
          <p:cNvPr id="44" name="Shape 42"/>
          <p:cNvSpPr/>
          <p:nvPr/>
        </p:nvSpPr>
        <p:spPr>
          <a:xfrm>
            <a:off x="5504688" y="4206240"/>
            <a:ext cx="1481328" cy="320040"/>
          </a:xfrm>
          <a:prstGeom prst="rect">
            <a:avLst/>
          </a:prstGeom>
          <a:solidFill>
            <a:srgbClr val="E67E22"/>
          </a:solidFill>
          <a:ln w="12700">
            <a:solidFill>
              <a:srgbClr val="E67E22"/>
            </a:solidFill>
            <a:prstDash val="solid"/>
          </a:ln>
        </p:spPr>
      </p:sp>
      <p:sp>
        <p:nvSpPr>
          <p:cNvPr id="45" name="Text 43"/>
          <p:cNvSpPr/>
          <p:nvPr/>
        </p:nvSpPr>
        <p:spPr>
          <a:xfrm>
            <a:off x="5504688" y="4206240"/>
            <a:ext cx="1481328" cy="320040"/>
          </a:xfrm>
          <a:prstGeom prst="rect">
            <a:avLst/>
          </a:prstGeom>
          <a:noFill/>
          <a:ln/>
        </p:spPr>
        <p:txBody>
          <a:bodyPr wrap="square" lIns="0" tIns="0" rIns="0" bIns="0" rtlCol="0" anchor="ctr"/>
          <a:lstStyle/>
          <a:p>
            <a:pPr marL="0" indent="0" algn="ctr">
              <a:buNone/>
            </a:pPr>
            <a:r>
              <a:rPr lang="en-US" sz="1100" b="1" dirty="0">
                <a:solidFill>
                  <a:srgbClr val="FFFFFF"/>
                </a:solidFill>
                <a:latin typeface="Arial" pitchFamily="34" charset="0"/>
                <a:ea typeface="Arial" pitchFamily="34" charset="-122"/>
                <a:cs typeface="Arial" pitchFamily="34" charset="-120"/>
              </a:rPr>
              <a:t>Reject</a:t>
            </a:r>
            <a:endParaRPr lang="en-US" sz="1100" dirty="0"/>
          </a:p>
        </p:txBody>
      </p:sp>
      <p:sp>
        <p:nvSpPr>
          <p:cNvPr id="46" name="Shape 44"/>
          <p:cNvSpPr/>
          <p:nvPr/>
        </p:nvSpPr>
        <p:spPr>
          <a:xfrm>
            <a:off x="7178040" y="1965960"/>
            <a:ext cx="1627632" cy="2697480"/>
          </a:xfrm>
          <a:prstGeom prst="rect">
            <a:avLst/>
          </a:prstGeom>
          <a:solidFill>
            <a:srgbClr val="FFFFFF"/>
          </a:solidFill>
          <a:ln w="12700">
            <a:solidFill>
              <a:srgbClr val="C0392B"/>
            </a:solidFill>
            <a:prstDash val="solid"/>
          </a:ln>
          <a:effectLst>
            <a:outerShdw blurRad="76200" dist="25400" dir="8100000" algn="bl" rotWithShape="0">
              <a:srgbClr val="000000">
                <a:alpha val="13000"/>
              </a:srgbClr>
            </a:outerShdw>
          </a:effectLst>
        </p:spPr>
      </p:sp>
      <p:sp>
        <p:nvSpPr>
          <p:cNvPr id="47" name="Shape 45"/>
          <p:cNvSpPr/>
          <p:nvPr/>
        </p:nvSpPr>
        <p:spPr>
          <a:xfrm>
            <a:off x="7178040" y="1965960"/>
            <a:ext cx="1627632" cy="347472"/>
          </a:xfrm>
          <a:prstGeom prst="rect">
            <a:avLst/>
          </a:prstGeom>
          <a:solidFill>
            <a:srgbClr val="C0392B"/>
          </a:solidFill>
          <a:ln w="12700">
            <a:solidFill>
              <a:srgbClr val="C0392B"/>
            </a:solidFill>
            <a:prstDash val="solid"/>
          </a:ln>
        </p:spPr>
      </p:sp>
      <p:sp>
        <p:nvSpPr>
          <p:cNvPr id="48" name="Text 46"/>
          <p:cNvSpPr/>
          <p:nvPr/>
        </p:nvSpPr>
        <p:spPr>
          <a:xfrm>
            <a:off x="7214616" y="1965960"/>
            <a:ext cx="1554480" cy="347472"/>
          </a:xfrm>
          <a:prstGeom prst="rect">
            <a:avLst/>
          </a:prstGeom>
          <a:noFill/>
          <a:ln/>
        </p:spPr>
        <p:txBody>
          <a:bodyPr wrap="square" lIns="0" tIns="0" rIns="0" bIns="0" rtlCol="0" anchor="ctr"/>
          <a:lstStyle/>
          <a:p>
            <a:pPr marL="0" indent="0" algn="ctr">
              <a:buNone/>
            </a:pPr>
            <a:r>
              <a:rPr lang="en-US" sz="850" b="1" dirty="0">
                <a:solidFill>
                  <a:srgbClr val="FFFFFF"/>
                </a:solidFill>
                <a:latin typeface="Arial" pitchFamily="34" charset="0"/>
                <a:ea typeface="Arial" pitchFamily="34" charset="-122"/>
                <a:cs typeface="Arial" pitchFamily="34" charset="-120"/>
              </a:rPr>
              <a:t>Partition 5</a:t>
            </a:r>
            <a:endParaRPr lang="en-US" sz="850" dirty="0"/>
          </a:p>
          <a:p>
            <a:pPr marL="0" indent="0" algn="ctr">
              <a:buNone/>
            </a:pPr>
            <a:r>
              <a:rPr lang="en-US" sz="850" b="1" dirty="0">
                <a:solidFill>
                  <a:srgbClr val="FFFFFF"/>
                </a:solidFill>
                <a:latin typeface="Arial" pitchFamily="34" charset="0"/>
                <a:ea typeface="Arial" pitchFamily="34" charset="-122"/>
                <a:cs typeface="Arial" pitchFamily="34" charset="-120"/>
              </a:rPr>
              <a:t>(Invalid — Out of Range)</a:t>
            </a:r>
            <a:endParaRPr lang="en-US" sz="850" dirty="0"/>
          </a:p>
        </p:txBody>
      </p:sp>
      <p:sp>
        <p:nvSpPr>
          <p:cNvPr id="49" name="Text 47"/>
          <p:cNvSpPr/>
          <p:nvPr/>
        </p:nvSpPr>
        <p:spPr>
          <a:xfrm>
            <a:off x="7242048" y="2377440"/>
            <a:ext cx="1463040" cy="228600"/>
          </a:xfrm>
          <a:prstGeom prst="rect">
            <a:avLst/>
          </a:prstGeom>
          <a:noFill/>
          <a:ln/>
        </p:spPr>
        <p:txBody>
          <a:bodyPr wrap="square" lIns="0" tIns="0" rIns="0" bIns="0" rtlCol="0" anchor="ctr"/>
          <a:lstStyle/>
          <a:p>
            <a:pPr marL="0" indent="0">
              <a:buNone/>
            </a:pPr>
            <a:r>
              <a:rPr lang="en-US" sz="950" b="1" dirty="0">
                <a:solidFill>
                  <a:srgbClr val="5A5A5A"/>
                </a:solidFill>
                <a:latin typeface="Arial" pitchFamily="34" charset="0"/>
                <a:ea typeface="Arial" pitchFamily="34" charset="-122"/>
                <a:cs typeface="Arial" pitchFamily="34" charset="-120"/>
              </a:rPr>
              <a:t>Range:</a:t>
            </a:r>
            <a:endParaRPr lang="en-US" sz="950" dirty="0"/>
          </a:p>
        </p:txBody>
      </p:sp>
      <p:sp>
        <p:nvSpPr>
          <p:cNvPr id="50" name="Text 48"/>
          <p:cNvSpPr/>
          <p:nvPr/>
        </p:nvSpPr>
        <p:spPr>
          <a:xfrm>
            <a:off x="7242048" y="2606040"/>
            <a:ext cx="1463040" cy="274320"/>
          </a:xfrm>
          <a:prstGeom prst="rect">
            <a:avLst/>
          </a:prstGeom>
          <a:noFill/>
          <a:ln/>
        </p:spPr>
        <p:txBody>
          <a:bodyPr wrap="square" lIns="0" tIns="0" rIns="0" bIns="0" rtlCol="0" anchor="ctr"/>
          <a:lstStyle/>
          <a:p>
            <a:pPr marL="0" indent="0">
              <a:buNone/>
            </a:pPr>
            <a:r>
              <a:rPr lang="en-US" sz="1100" b="1" dirty="0">
                <a:solidFill>
                  <a:srgbClr val="2C2C2C"/>
                </a:solidFill>
                <a:latin typeface="Calibri" pitchFamily="34" charset="0"/>
                <a:ea typeface="Calibri" pitchFamily="34" charset="-122"/>
                <a:cs typeface="Calibri" pitchFamily="34" charset="-120"/>
              </a:rPr>
              <a:t>&gt; 120</a:t>
            </a:r>
            <a:endParaRPr lang="en-US" sz="1100" dirty="0"/>
          </a:p>
        </p:txBody>
      </p:sp>
      <p:sp>
        <p:nvSpPr>
          <p:cNvPr id="51" name="Text 49"/>
          <p:cNvSpPr/>
          <p:nvPr/>
        </p:nvSpPr>
        <p:spPr>
          <a:xfrm>
            <a:off x="7242048" y="2926080"/>
            <a:ext cx="1463040" cy="228600"/>
          </a:xfrm>
          <a:prstGeom prst="rect">
            <a:avLst/>
          </a:prstGeom>
          <a:noFill/>
          <a:ln/>
        </p:spPr>
        <p:txBody>
          <a:bodyPr wrap="square" lIns="0" tIns="0" rIns="0" bIns="0" rtlCol="0" anchor="ctr"/>
          <a:lstStyle/>
          <a:p>
            <a:pPr marL="0" indent="0">
              <a:buNone/>
            </a:pPr>
            <a:r>
              <a:rPr lang="en-US" sz="950" b="1" dirty="0">
                <a:solidFill>
                  <a:srgbClr val="5A5A5A"/>
                </a:solidFill>
                <a:latin typeface="Arial" pitchFamily="34" charset="0"/>
                <a:ea typeface="Arial" pitchFamily="34" charset="-122"/>
                <a:cs typeface="Arial" pitchFamily="34" charset="-120"/>
              </a:rPr>
              <a:t>Test values:</a:t>
            </a:r>
            <a:endParaRPr lang="en-US" sz="950" dirty="0"/>
          </a:p>
        </p:txBody>
      </p:sp>
      <p:sp>
        <p:nvSpPr>
          <p:cNvPr id="52" name="Text 50"/>
          <p:cNvSpPr/>
          <p:nvPr/>
        </p:nvSpPr>
        <p:spPr>
          <a:xfrm>
            <a:off x="7242048" y="3154680"/>
            <a:ext cx="1463040" cy="274320"/>
          </a:xfrm>
          <a:prstGeom prst="rect">
            <a:avLst/>
          </a:prstGeom>
          <a:noFill/>
          <a:ln/>
        </p:spPr>
        <p:txBody>
          <a:bodyPr wrap="square" lIns="0" tIns="0" rIns="0" bIns="0" rtlCol="0" anchor="ctr"/>
          <a:lstStyle/>
          <a:p>
            <a:pPr marL="0" indent="0">
              <a:buNone/>
            </a:pPr>
            <a:r>
              <a:rPr lang="en-US" sz="1050" dirty="0">
                <a:solidFill>
                  <a:srgbClr val="2C2C2C"/>
                </a:solidFill>
                <a:latin typeface="Calibri" pitchFamily="34" charset="0"/>
                <a:ea typeface="Calibri" pitchFamily="34" charset="-122"/>
                <a:cs typeface="Calibri" pitchFamily="34" charset="-120"/>
              </a:rPr>
              <a:t>121, 999</a:t>
            </a:r>
            <a:endParaRPr lang="en-US" sz="1050" dirty="0"/>
          </a:p>
        </p:txBody>
      </p:sp>
      <p:sp>
        <p:nvSpPr>
          <p:cNvPr id="53" name="Shape 51"/>
          <p:cNvSpPr/>
          <p:nvPr/>
        </p:nvSpPr>
        <p:spPr>
          <a:xfrm>
            <a:off x="7242048" y="4206240"/>
            <a:ext cx="1481328" cy="320040"/>
          </a:xfrm>
          <a:prstGeom prst="rect">
            <a:avLst/>
          </a:prstGeom>
          <a:solidFill>
            <a:srgbClr val="C0392B"/>
          </a:solidFill>
          <a:ln w="12700">
            <a:solidFill>
              <a:srgbClr val="C0392B"/>
            </a:solidFill>
            <a:prstDash val="solid"/>
          </a:ln>
        </p:spPr>
      </p:sp>
      <p:sp>
        <p:nvSpPr>
          <p:cNvPr id="54" name="Text 52"/>
          <p:cNvSpPr/>
          <p:nvPr/>
        </p:nvSpPr>
        <p:spPr>
          <a:xfrm>
            <a:off x="7242048" y="4206240"/>
            <a:ext cx="1481328" cy="320040"/>
          </a:xfrm>
          <a:prstGeom prst="rect">
            <a:avLst/>
          </a:prstGeom>
          <a:noFill/>
          <a:ln/>
        </p:spPr>
        <p:txBody>
          <a:bodyPr wrap="square" lIns="0" tIns="0" rIns="0" bIns="0" rtlCol="0" anchor="ctr"/>
          <a:lstStyle/>
          <a:p>
            <a:pPr marL="0" indent="0" algn="ctr">
              <a:buNone/>
            </a:pPr>
            <a:r>
              <a:rPr lang="en-US" sz="1100" b="1" dirty="0">
                <a:solidFill>
                  <a:srgbClr val="FFFFFF"/>
                </a:solidFill>
                <a:latin typeface="Arial" pitchFamily="34" charset="0"/>
                <a:ea typeface="Arial" pitchFamily="34" charset="-122"/>
                <a:cs typeface="Arial" pitchFamily="34" charset="-120"/>
              </a:rPr>
              <a:t>Reject</a:t>
            </a:r>
            <a:endParaRPr lang="en-US" sz="1100" dirty="0"/>
          </a:p>
        </p:txBody>
      </p:sp>
      <p:sp>
        <p:nvSpPr>
          <p:cNvPr id="55" name="Text 53"/>
          <p:cNvSpPr/>
          <p:nvPr/>
        </p:nvSpPr>
        <p:spPr>
          <a:xfrm>
            <a:off x="228600" y="4773168"/>
            <a:ext cx="8732520" cy="182880"/>
          </a:xfrm>
          <a:prstGeom prst="rect">
            <a:avLst/>
          </a:prstGeom>
          <a:noFill/>
          <a:ln/>
        </p:spPr>
        <p:txBody>
          <a:bodyPr wrap="square" lIns="0" tIns="0" rIns="0" bIns="0" rtlCol="0" anchor="ctr"/>
          <a:lstStyle/>
          <a:p>
            <a:pPr marL="0" indent="0">
              <a:buNone/>
            </a:pPr>
            <a:r>
              <a:rPr lang="en-US" sz="900" i="1" dirty="0">
                <a:solidFill>
                  <a:srgbClr val="5A5A5A"/>
                </a:solidFill>
                <a:latin typeface="Calibri" pitchFamily="34" charset="0"/>
                <a:ea typeface="Calibri" pitchFamily="34" charset="-122"/>
                <a:cs typeface="Calibri" pitchFamily="34" charset="-120"/>
              </a:rPr>
              <a:t>KEY INSIGHT: Testing one value per partition is equivalent to testing all values in that partition. 5 partitions = 5 test cases (not hundreds).</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8">
    <p:bg>
      <p:bgPr>
        <a:solidFill>
          <a:srgbClr val="F5F5F5"/>
        </a:solidFill>
        <a:effectLst/>
      </p:bgPr>
    </p:bg>
    <p:spTree>
      <p:nvGrpSpPr>
        <p:cNvPr id="1" name=""/>
        <p:cNvGrpSpPr/>
        <p:nvPr/>
      </p:nvGrpSpPr>
      <p:grpSpPr>
        <a:xfrm>
          <a:off x="0" y="0"/>
          <a:ext cx="0" cy="0"/>
          <a:chOff x="0" y="0"/>
          <a:chExt cx="0" cy="0"/>
        </a:xfrm>
      </p:grpSpPr>
      <p:sp>
        <p:nvSpPr>
          <p:cNvPr id="2" name="Shape 0"/>
          <p:cNvSpPr/>
          <p:nvPr/>
        </p:nvSpPr>
        <p:spPr>
          <a:xfrm>
            <a:off x="0" y="0"/>
            <a:ext cx="9144000" cy="621792"/>
          </a:xfrm>
          <a:prstGeom prst="rect">
            <a:avLst/>
          </a:prstGeom>
          <a:solidFill>
            <a:srgbClr val="0D0D0D"/>
          </a:solidFill>
          <a:ln w="12700">
            <a:solidFill>
              <a:srgbClr val="0D0D0D"/>
            </a:solidFill>
            <a:prstDash val="solid"/>
          </a:ln>
        </p:spPr>
      </p:sp>
      <p:sp>
        <p:nvSpPr>
          <p:cNvPr id="3" name="Shape 1"/>
          <p:cNvSpPr/>
          <p:nvPr/>
        </p:nvSpPr>
        <p:spPr>
          <a:xfrm>
            <a:off x="0" y="0"/>
            <a:ext cx="64008" cy="621792"/>
          </a:xfrm>
          <a:prstGeom prst="rect">
            <a:avLst/>
          </a:prstGeom>
          <a:solidFill>
            <a:srgbClr val="FF6500"/>
          </a:solidFill>
          <a:ln w="12700">
            <a:solidFill>
              <a:srgbClr val="FF6500"/>
            </a:solidFill>
            <a:prstDash val="solid"/>
          </a:ln>
        </p:spPr>
      </p:sp>
      <p:sp>
        <p:nvSpPr>
          <p:cNvPr id="4" name="Text 2"/>
          <p:cNvSpPr/>
          <p:nvPr/>
        </p:nvSpPr>
        <p:spPr>
          <a:xfrm>
            <a:off x="201168" y="64008"/>
            <a:ext cx="8503920" cy="493776"/>
          </a:xfrm>
          <a:prstGeom prst="rect">
            <a:avLst/>
          </a:prstGeom>
          <a:noFill/>
          <a:ln/>
        </p:spPr>
        <p:txBody>
          <a:bodyPr wrap="square" lIns="0" tIns="0" rIns="0" bIns="0" rtlCol="0" anchor="ctr"/>
          <a:lstStyle/>
          <a:p>
            <a:pPr marL="0" indent="0">
              <a:buNone/>
            </a:pPr>
            <a:r>
              <a:rPr lang="en-US" sz="1900" b="1" dirty="0">
                <a:solidFill>
                  <a:srgbClr val="FFFFFF"/>
                </a:solidFill>
                <a:latin typeface="Arial" pitchFamily="34" charset="0"/>
                <a:ea typeface="Arial" pitchFamily="34" charset="-122"/>
                <a:cs typeface="Arial" pitchFamily="34" charset="-120"/>
              </a:rPr>
              <a:t>Design Technique 2 — Boundary Value Analysis (BVA)</a:t>
            </a:r>
            <a:endParaRPr lang="en-US" sz="1900" dirty="0"/>
          </a:p>
        </p:txBody>
      </p:sp>
      <p:sp>
        <p:nvSpPr>
          <p:cNvPr id="5" name="Shape 3"/>
          <p:cNvSpPr/>
          <p:nvPr/>
        </p:nvSpPr>
        <p:spPr>
          <a:xfrm>
            <a:off x="0" y="4828032"/>
            <a:ext cx="9144000" cy="315468"/>
          </a:xfrm>
          <a:prstGeom prst="rect">
            <a:avLst/>
          </a:prstGeom>
          <a:solidFill>
            <a:srgbClr val="0D0D0D"/>
          </a:solidFill>
          <a:ln w="12700">
            <a:solidFill>
              <a:srgbClr val="0D0D0D"/>
            </a:solidFill>
            <a:prstDash val="solid"/>
          </a:ln>
        </p:spPr>
      </p:sp>
      <p:sp>
        <p:nvSpPr>
          <p:cNvPr id="6" name="Text 4"/>
          <p:cNvSpPr/>
          <p:nvPr/>
        </p:nvSpPr>
        <p:spPr>
          <a:xfrm>
            <a:off x="182880" y="4855464"/>
            <a:ext cx="7315200" cy="228600"/>
          </a:xfrm>
          <a:prstGeom prst="rect">
            <a:avLst/>
          </a:prstGeom>
          <a:noFill/>
          <a:ln/>
        </p:spPr>
        <p:txBody>
          <a:bodyPr wrap="square" lIns="0" tIns="0" rIns="0" bIns="0" rtlCol="0" anchor="ctr"/>
          <a:lstStyle/>
          <a:p>
            <a:pPr marL="0" indent="0">
              <a:buNone/>
            </a:pPr>
            <a:r>
              <a:rPr lang="en-US" sz="850" dirty="0">
                <a:solidFill>
                  <a:srgbClr val="999999"/>
                </a:solidFill>
                <a:latin typeface="Calibri" pitchFamily="34" charset="0"/>
                <a:ea typeface="Calibri" pitchFamily="34" charset="-122"/>
                <a:cs typeface="Calibri" pitchFamily="34" charset="-120"/>
              </a:rPr>
              <a:t>Quality Engineering | Test Case Development in STLC</a:t>
            </a:r>
            <a:endParaRPr lang="en-US" sz="850" dirty="0"/>
          </a:p>
        </p:txBody>
      </p:sp>
      <p:sp>
        <p:nvSpPr>
          <p:cNvPr id="7" name="Text 5"/>
          <p:cNvSpPr/>
          <p:nvPr/>
        </p:nvSpPr>
        <p:spPr>
          <a:xfrm>
            <a:off x="7406640" y="4855464"/>
            <a:ext cx="1554480" cy="228600"/>
          </a:xfrm>
          <a:prstGeom prst="rect">
            <a:avLst/>
          </a:prstGeom>
          <a:noFill/>
          <a:ln/>
        </p:spPr>
        <p:txBody>
          <a:bodyPr wrap="square" lIns="0" tIns="0" rIns="0" bIns="0" rtlCol="0" anchor="ctr"/>
          <a:lstStyle/>
          <a:p>
            <a:pPr marL="0" indent="0" algn="r">
              <a:buNone/>
            </a:pPr>
            <a:r>
              <a:rPr lang="en-US" sz="850" b="1" dirty="0">
                <a:solidFill>
                  <a:srgbClr val="FF6500"/>
                </a:solidFill>
                <a:latin typeface="Calibri" pitchFamily="34" charset="0"/>
                <a:ea typeface="Calibri" pitchFamily="34" charset="-122"/>
                <a:cs typeface="Calibri" pitchFamily="34" charset="-120"/>
              </a:rPr>
              <a:t>INTERNAL TRAINING</a:t>
            </a:r>
            <a:endParaRPr lang="en-US" sz="850" dirty="0"/>
          </a:p>
        </p:txBody>
      </p:sp>
      <p:sp>
        <p:nvSpPr>
          <p:cNvPr id="8" name="Text 6"/>
          <p:cNvSpPr/>
          <p:nvPr/>
        </p:nvSpPr>
        <p:spPr>
          <a:xfrm>
            <a:off x="228600" y="758952"/>
            <a:ext cx="8732520" cy="640080"/>
          </a:xfrm>
          <a:prstGeom prst="rect">
            <a:avLst/>
          </a:prstGeom>
          <a:noFill/>
          <a:ln/>
        </p:spPr>
        <p:txBody>
          <a:bodyPr wrap="square" lIns="0" tIns="0" rIns="0" bIns="0" rtlCol="0" anchor="ctr"/>
          <a:lstStyle/>
          <a:p>
            <a:pPr marL="0" indent="0">
              <a:buNone/>
            </a:pPr>
            <a:r>
              <a:rPr lang="en-US" sz="1150" dirty="0">
                <a:solidFill>
                  <a:srgbClr val="2C2C2C"/>
                </a:solidFill>
                <a:latin typeface="Calibri" pitchFamily="34" charset="0"/>
                <a:ea typeface="Calibri" pitchFamily="34" charset="-122"/>
                <a:cs typeface="Calibri" pitchFamily="34" charset="-120"/>
              </a:rPr>
              <a:t>BVA focuses on the edges (boundaries) of input ranges because defects are most commonly found AT boundaries, not in the middle of valid ranges. For every boundary, test the value just below, at, and just above the boundary point.</a:t>
            </a:r>
            <a:endParaRPr lang="en-US" sz="1150" dirty="0"/>
          </a:p>
        </p:txBody>
      </p:sp>
      <p:sp>
        <p:nvSpPr>
          <p:cNvPr id="9" name="Text 7"/>
          <p:cNvSpPr/>
          <p:nvPr/>
        </p:nvSpPr>
        <p:spPr>
          <a:xfrm>
            <a:off x="228600" y="1463040"/>
            <a:ext cx="8732520" cy="274320"/>
          </a:xfrm>
          <a:prstGeom prst="rect">
            <a:avLst/>
          </a:prstGeom>
          <a:noFill/>
          <a:ln/>
        </p:spPr>
        <p:txBody>
          <a:bodyPr wrap="square" lIns="0" tIns="0" rIns="0" bIns="0" rtlCol="0" anchor="ctr"/>
          <a:lstStyle/>
          <a:p>
            <a:pPr marL="0" indent="0">
              <a:buNone/>
            </a:pPr>
            <a:r>
              <a:rPr lang="en-US" sz="1200" b="1" dirty="0">
                <a:solidFill>
                  <a:srgbClr val="FF6500"/>
                </a:solidFill>
                <a:latin typeface="Arial" pitchFamily="34" charset="0"/>
                <a:ea typeface="Arial" pitchFamily="34" charset="-122"/>
                <a:cs typeface="Arial" pitchFamily="34" charset="-120"/>
              </a:rPr>
              <a:t>Example: Password field — minimum 8 characters, maximum 20 characters</a:t>
            </a:r>
            <a:endParaRPr lang="en-US" sz="1200" dirty="0"/>
          </a:p>
        </p:txBody>
      </p:sp>
      <p:graphicFrame>
        <p:nvGraphicFramePr>
          <p:cNvPr id="19" name="Table 0"/>
          <p:cNvGraphicFramePr>
            <a:graphicFrameLocks noGrp="1"/>
          </p:cNvGraphicFramePr>
          <p:nvPr>
            <p:extLst>
              <p:ext uri="{D42A27DB-BD31-4B8C-83A1-F6EECF244321}">
                <p14:modId xmlns:p14="http://schemas.microsoft.com/office/powerpoint/2010/main" val="1579011935"/>
              </p:ext>
            </p:extLst>
          </p:nvPr>
        </p:nvGraphicFramePr>
        <p:xfrm>
          <a:off x="228600" y="1828800"/>
          <a:ext cx="8732520" cy="3008376"/>
        </p:xfrm>
        <a:graphic>
          <a:graphicData uri="http://schemas.openxmlformats.org/drawingml/2006/table">
            <a:tbl>
              <a:tblPr/>
              <a:tblGrid>
                <a:gridCol w="777240">
                  <a:extLst>
                    <a:ext uri="{9D8B030D-6E8A-4147-A177-3AD203B41FA5}">
                      <a16:colId xmlns:a16="http://schemas.microsoft.com/office/drawing/2014/main" val="20000"/>
                    </a:ext>
                  </a:extLst>
                </a:gridCol>
                <a:gridCol w="1874520">
                  <a:extLst>
                    <a:ext uri="{9D8B030D-6E8A-4147-A177-3AD203B41FA5}">
                      <a16:colId xmlns:a16="http://schemas.microsoft.com/office/drawing/2014/main" val="20001"/>
                    </a:ext>
                  </a:extLst>
                </a:gridCol>
                <a:gridCol w="1828800">
                  <a:extLst>
                    <a:ext uri="{9D8B030D-6E8A-4147-A177-3AD203B41FA5}">
                      <a16:colId xmlns:a16="http://schemas.microsoft.com/office/drawing/2014/main" val="20002"/>
                    </a:ext>
                  </a:extLst>
                </a:gridCol>
                <a:gridCol w="914400">
                  <a:extLst>
                    <a:ext uri="{9D8B030D-6E8A-4147-A177-3AD203B41FA5}">
                      <a16:colId xmlns:a16="http://schemas.microsoft.com/office/drawing/2014/main" val="20003"/>
                    </a:ext>
                  </a:extLst>
                </a:gridCol>
                <a:gridCol w="3337560">
                  <a:extLst>
                    <a:ext uri="{9D8B030D-6E8A-4147-A177-3AD203B41FA5}">
                      <a16:colId xmlns:a16="http://schemas.microsoft.com/office/drawing/2014/main" val="20004"/>
                    </a:ext>
                  </a:extLst>
                </a:gridCol>
              </a:tblGrid>
              <a:tr h="429768">
                <a:tc>
                  <a:txBody>
                    <a:bodyPr/>
                    <a:lstStyle/>
                    <a:p>
                      <a:pPr marL="0" indent="0">
                        <a:buNone/>
                      </a:pPr>
                      <a:r>
                        <a:rPr lang="en-US" sz="1000" b="1" dirty="0">
                          <a:solidFill>
                            <a:srgbClr val="FF6500"/>
                          </a:solidFill>
                          <a:latin typeface="Arial" pitchFamily="34" charset="0"/>
                          <a:ea typeface="Arial" pitchFamily="34" charset="-122"/>
                          <a:cs typeface="Arial" pitchFamily="34" charset="-120"/>
                        </a:rPr>
                        <a:t>Length</a:t>
                      </a:r>
                      <a:endParaRPr lang="en-US" sz="1000" dirty="0">
                        <a:latin typeface="Arial" charset="0"/>
                        <a:ea typeface="Arial" charset="0"/>
                        <a:cs typeface="Arial" charset="0"/>
                      </a:endParaRPr>
                    </a:p>
                  </a:txBody>
                  <a:tcPr marL="50800" marR="50800" marT="50800" marB="50800">
                    <a:lnL w="12700" cap="flat" cmpd="sng" algn="ctr">
                      <a:solidFill>
                        <a:srgbClr val="DEDEDE"/>
                      </a:solidFill>
                      <a:prstDash val="solid"/>
                      <a:round/>
                      <a:headEnd type="none" w="med" len="med"/>
                      <a:tailEnd type="none" w="med" len="med"/>
                    </a:lnL>
                    <a:lnR w="12700" cap="flat" cmpd="sng" algn="ctr">
                      <a:solidFill>
                        <a:srgbClr val="DEDEDE"/>
                      </a:solidFill>
                      <a:prstDash val="solid"/>
                      <a:round/>
                      <a:headEnd type="none" w="med" len="med"/>
                      <a:tailEnd type="none" w="med" len="med"/>
                    </a:lnR>
                    <a:lnT w="12700" cap="flat" cmpd="sng" algn="ctr">
                      <a:solidFill>
                        <a:srgbClr val="DEDEDE"/>
                      </a:solidFill>
                      <a:prstDash val="solid"/>
                      <a:round/>
                      <a:headEnd type="none" w="med" len="med"/>
                      <a:tailEnd type="none" w="med" len="med"/>
                    </a:lnT>
                    <a:lnB w="12700" cap="flat" cmpd="sng" algn="ctr">
                      <a:solidFill>
                        <a:srgbClr val="DEDEDE"/>
                      </a:solidFill>
                      <a:prstDash val="solid"/>
                      <a:round/>
                      <a:headEnd type="none" w="med" len="med"/>
                      <a:tailEnd type="none" w="med" len="med"/>
                    </a:lnB>
                    <a:solidFill>
                      <a:srgbClr val="0D0D0D"/>
                    </a:solidFill>
                  </a:tcPr>
                </a:tc>
                <a:tc>
                  <a:txBody>
                    <a:bodyPr/>
                    <a:lstStyle/>
                    <a:p>
                      <a:pPr marL="0" indent="0">
                        <a:buNone/>
                      </a:pPr>
                      <a:r>
                        <a:rPr lang="en-US" sz="1000" b="1" dirty="0">
                          <a:solidFill>
                            <a:srgbClr val="FF6500"/>
                          </a:solidFill>
                          <a:latin typeface="Arial" pitchFamily="34" charset="0"/>
                          <a:ea typeface="Arial" pitchFamily="34" charset="-122"/>
                          <a:cs typeface="Arial" pitchFamily="34" charset="-120"/>
                        </a:rPr>
                        <a:t>Test Value</a:t>
                      </a:r>
                      <a:endParaRPr lang="en-US" sz="1000" dirty="0">
                        <a:latin typeface="Arial" charset="0"/>
                        <a:ea typeface="Arial" charset="0"/>
                        <a:cs typeface="Arial" charset="0"/>
                      </a:endParaRPr>
                    </a:p>
                  </a:txBody>
                  <a:tcPr marL="50800" marR="50800" marT="50800" marB="50800">
                    <a:lnL w="12700" cap="flat" cmpd="sng" algn="ctr">
                      <a:solidFill>
                        <a:srgbClr val="DEDEDE"/>
                      </a:solidFill>
                      <a:prstDash val="solid"/>
                      <a:round/>
                      <a:headEnd type="none" w="med" len="med"/>
                      <a:tailEnd type="none" w="med" len="med"/>
                    </a:lnL>
                    <a:lnR w="12700" cap="flat" cmpd="sng" algn="ctr">
                      <a:solidFill>
                        <a:srgbClr val="DEDEDE"/>
                      </a:solidFill>
                      <a:prstDash val="solid"/>
                      <a:round/>
                      <a:headEnd type="none" w="med" len="med"/>
                      <a:tailEnd type="none" w="med" len="med"/>
                    </a:lnR>
                    <a:lnT w="12700" cap="flat" cmpd="sng" algn="ctr">
                      <a:solidFill>
                        <a:srgbClr val="DEDEDE"/>
                      </a:solidFill>
                      <a:prstDash val="solid"/>
                      <a:round/>
                      <a:headEnd type="none" w="med" len="med"/>
                      <a:tailEnd type="none" w="med" len="med"/>
                    </a:lnT>
                    <a:lnB w="12700" cap="flat" cmpd="sng" algn="ctr">
                      <a:solidFill>
                        <a:srgbClr val="DEDEDE"/>
                      </a:solidFill>
                      <a:prstDash val="solid"/>
                      <a:round/>
                      <a:headEnd type="none" w="med" len="med"/>
                      <a:tailEnd type="none" w="med" len="med"/>
                    </a:lnB>
                    <a:solidFill>
                      <a:srgbClr val="0D0D0D"/>
                    </a:solidFill>
                  </a:tcPr>
                </a:tc>
                <a:tc>
                  <a:txBody>
                    <a:bodyPr/>
                    <a:lstStyle/>
                    <a:p>
                      <a:pPr marL="0" indent="0">
                        <a:buNone/>
                      </a:pPr>
                      <a:r>
                        <a:rPr lang="en-US" sz="1000" b="1" dirty="0">
                          <a:solidFill>
                            <a:srgbClr val="FF6500"/>
                          </a:solidFill>
                          <a:latin typeface="Arial" pitchFamily="34" charset="0"/>
                          <a:ea typeface="Arial" pitchFamily="34" charset="-122"/>
                          <a:cs typeface="Arial" pitchFamily="34" charset="-120"/>
                        </a:rPr>
                        <a:t>Boundary Point</a:t>
                      </a:r>
                      <a:endParaRPr lang="en-US" sz="1000" dirty="0">
                        <a:latin typeface="Arial" charset="0"/>
                        <a:ea typeface="Arial" charset="0"/>
                        <a:cs typeface="Arial" charset="0"/>
                      </a:endParaRPr>
                    </a:p>
                  </a:txBody>
                  <a:tcPr marL="50800" marR="50800" marT="50800" marB="50800">
                    <a:lnL w="12700" cap="flat" cmpd="sng" algn="ctr">
                      <a:solidFill>
                        <a:srgbClr val="DEDEDE"/>
                      </a:solidFill>
                      <a:prstDash val="solid"/>
                      <a:round/>
                      <a:headEnd type="none" w="med" len="med"/>
                      <a:tailEnd type="none" w="med" len="med"/>
                    </a:lnL>
                    <a:lnR w="12700" cap="flat" cmpd="sng" algn="ctr">
                      <a:solidFill>
                        <a:srgbClr val="DEDEDE"/>
                      </a:solidFill>
                      <a:prstDash val="solid"/>
                      <a:round/>
                      <a:headEnd type="none" w="med" len="med"/>
                      <a:tailEnd type="none" w="med" len="med"/>
                    </a:lnR>
                    <a:lnT w="12700" cap="flat" cmpd="sng" algn="ctr">
                      <a:solidFill>
                        <a:srgbClr val="DEDEDE"/>
                      </a:solidFill>
                      <a:prstDash val="solid"/>
                      <a:round/>
                      <a:headEnd type="none" w="med" len="med"/>
                      <a:tailEnd type="none" w="med" len="med"/>
                    </a:lnT>
                    <a:lnB w="12700" cap="flat" cmpd="sng" algn="ctr">
                      <a:solidFill>
                        <a:srgbClr val="DEDEDE"/>
                      </a:solidFill>
                      <a:prstDash val="solid"/>
                      <a:round/>
                      <a:headEnd type="none" w="med" len="med"/>
                      <a:tailEnd type="none" w="med" len="med"/>
                    </a:lnB>
                    <a:solidFill>
                      <a:srgbClr val="0D0D0D"/>
                    </a:solidFill>
                  </a:tcPr>
                </a:tc>
                <a:tc>
                  <a:txBody>
                    <a:bodyPr/>
                    <a:lstStyle/>
                    <a:p>
                      <a:pPr marL="0" indent="0">
                        <a:buNone/>
                      </a:pPr>
                      <a:r>
                        <a:rPr lang="en-US" sz="1000" b="1" dirty="0">
                          <a:solidFill>
                            <a:srgbClr val="FF6500"/>
                          </a:solidFill>
                          <a:latin typeface="Arial" pitchFamily="34" charset="0"/>
                          <a:ea typeface="Arial" pitchFamily="34" charset="-122"/>
                          <a:cs typeface="Arial" pitchFamily="34" charset="-120"/>
                        </a:rPr>
                        <a:t>Result</a:t>
                      </a:r>
                      <a:endParaRPr lang="en-US" sz="1000" dirty="0">
                        <a:latin typeface="Arial" charset="0"/>
                        <a:ea typeface="Arial" charset="0"/>
                        <a:cs typeface="Arial" charset="0"/>
                      </a:endParaRPr>
                    </a:p>
                  </a:txBody>
                  <a:tcPr marL="50800" marR="50800" marT="50800" marB="50800">
                    <a:lnL w="12700" cap="flat" cmpd="sng" algn="ctr">
                      <a:solidFill>
                        <a:srgbClr val="DEDEDE"/>
                      </a:solidFill>
                      <a:prstDash val="solid"/>
                      <a:round/>
                      <a:headEnd type="none" w="med" len="med"/>
                      <a:tailEnd type="none" w="med" len="med"/>
                    </a:lnL>
                    <a:lnR w="12700" cap="flat" cmpd="sng" algn="ctr">
                      <a:solidFill>
                        <a:srgbClr val="DEDEDE"/>
                      </a:solidFill>
                      <a:prstDash val="solid"/>
                      <a:round/>
                      <a:headEnd type="none" w="med" len="med"/>
                      <a:tailEnd type="none" w="med" len="med"/>
                    </a:lnR>
                    <a:lnT w="12700" cap="flat" cmpd="sng" algn="ctr">
                      <a:solidFill>
                        <a:srgbClr val="DEDEDE"/>
                      </a:solidFill>
                      <a:prstDash val="solid"/>
                      <a:round/>
                      <a:headEnd type="none" w="med" len="med"/>
                      <a:tailEnd type="none" w="med" len="med"/>
                    </a:lnT>
                    <a:lnB w="12700" cap="flat" cmpd="sng" algn="ctr">
                      <a:solidFill>
                        <a:srgbClr val="DEDEDE"/>
                      </a:solidFill>
                      <a:prstDash val="solid"/>
                      <a:round/>
                      <a:headEnd type="none" w="med" len="med"/>
                      <a:tailEnd type="none" w="med" len="med"/>
                    </a:lnB>
                    <a:solidFill>
                      <a:srgbClr val="0D0D0D"/>
                    </a:solidFill>
                  </a:tcPr>
                </a:tc>
                <a:tc>
                  <a:txBody>
                    <a:bodyPr/>
                    <a:lstStyle/>
                    <a:p>
                      <a:pPr marL="0" indent="0">
                        <a:buNone/>
                      </a:pPr>
                      <a:r>
                        <a:rPr lang="en-US" sz="1000" b="1" dirty="0">
                          <a:solidFill>
                            <a:srgbClr val="FF6500"/>
                          </a:solidFill>
                          <a:latin typeface="Arial" pitchFamily="34" charset="0"/>
                          <a:ea typeface="Arial" pitchFamily="34" charset="-122"/>
                          <a:cs typeface="Arial" pitchFamily="34" charset="-120"/>
                        </a:rPr>
                        <a:t>Explanation</a:t>
                      </a:r>
                      <a:endParaRPr lang="en-US" sz="1000" dirty="0">
                        <a:latin typeface="Arial" charset="0"/>
                        <a:ea typeface="Arial" charset="0"/>
                        <a:cs typeface="Arial" charset="0"/>
                      </a:endParaRPr>
                    </a:p>
                  </a:txBody>
                  <a:tcPr marL="50800" marR="50800" marT="50800" marB="50800">
                    <a:lnL w="12700" cap="flat" cmpd="sng" algn="ctr">
                      <a:solidFill>
                        <a:srgbClr val="DEDEDE"/>
                      </a:solidFill>
                      <a:prstDash val="solid"/>
                      <a:round/>
                      <a:headEnd type="none" w="med" len="med"/>
                      <a:tailEnd type="none" w="med" len="med"/>
                    </a:lnL>
                    <a:lnR w="12700" cap="flat" cmpd="sng" algn="ctr">
                      <a:solidFill>
                        <a:srgbClr val="DEDEDE"/>
                      </a:solidFill>
                      <a:prstDash val="solid"/>
                      <a:round/>
                      <a:headEnd type="none" w="med" len="med"/>
                      <a:tailEnd type="none" w="med" len="med"/>
                    </a:lnR>
                    <a:lnT w="12700" cap="flat" cmpd="sng" algn="ctr">
                      <a:solidFill>
                        <a:srgbClr val="DEDEDE"/>
                      </a:solidFill>
                      <a:prstDash val="solid"/>
                      <a:round/>
                      <a:headEnd type="none" w="med" len="med"/>
                      <a:tailEnd type="none" w="med" len="med"/>
                    </a:lnT>
                    <a:lnB w="12700" cap="flat" cmpd="sng" algn="ctr">
                      <a:solidFill>
                        <a:srgbClr val="DEDEDE"/>
                      </a:solidFill>
                      <a:prstDash val="solid"/>
                      <a:round/>
                      <a:headEnd type="none" w="med" len="med"/>
                      <a:tailEnd type="none" w="med" len="med"/>
                    </a:lnB>
                    <a:solidFill>
                      <a:srgbClr val="0D0D0D"/>
                    </a:solidFill>
                  </a:tcPr>
                </a:tc>
                <a:extLst>
                  <a:ext uri="{0D108BD9-81ED-4DB2-BD59-A6C34878D82A}">
                    <a16:rowId xmlns:a16="http://schemas.microsoft.com/office/drawing/2014/main" val="10000"/>
                  </a:ext>
                </a:extLst>
              </a:tr>
              <a:tr h="429768">
                <a:tc>
                  <a:txBody>
                    <a:bodyPr/>
                    <a:lstStyle/>
                    <a:p>
                      <a:pPr marL="0" indent="0">
                        <a:buNone/>
                      </a:pPr>
                      <a:r>
                        <a:rPr lang="en-US" sz="1000" dirty="0">
                          <a:solidFill>
                            <a:srgbClr val="2C2C2C"/>
                          </a:solidFill>
                          <a:latin typeface="Calibri" pitchFamily="34" charset="0"/>
                          <a:ea typeface="Calibri" pitchFamily="34" charset="-122"/>
                          <a:cs typeface="Calibri" pitchFamily="34" charset="-120"/>
                        </a:rPr>
                        <a:t>7 chars</a:t>
                      </a:r>
                      <a:endParaRPr lang="en-US" sz="1000" dirty="0">
                        <a:latin typeface="Calibri" charset="0"/>
                        <a:ea typeface="Calibri" charset="0"/>
                        <a:cs typeface="Calibri" charset="0"/>
                      </a:endParaRPr>
                    </a:p>
                  </a:txBody>
                  <a:tcPr marL="50800" marR="50800" marT="50800" marB="50800" anchor="ctr">
                    <a:lnL w="12700" cap="flat" cmpd="sng" algn="ctr">
                      <a:solidFill>
                        <a:srgbClr val="DEDEDE"/>
                      </a:solidFill>
                      <a:prstDash val="solid"/>
                      <a:round/>
                      <a:headEnd type="none" w="med" len="med"/>
                      <a:tailEnd type="none" w="med" len="med"/>
                    </a:lnL>
                    <a:lnR w="12700" cap="flat" cmpd="sng" algn="ctr">
                      <a:solidFill>
                        <a:srgbClr val="DEDEDE"/>
                      </a:solidFill>
                      <a:prstDash val="solid"/>
                      <a:round/>
                      <a:headEnd type="none" w="med" len="med"/>
                      <a:tailEnd type="none" w="med" len="med"/>
                    </a:lnR>
                    <a:lnT w="12700" cap="flat" cmpd="sng" algn="ctr">
                      <a:solidFill>
                        <a:srgbClr val="DEDEDE"/>
                      </a:solidFill>
                      <a:prstDash val="solid"/>
                      <a:round/>
                      <a:headEnd type="none" w="med" len="med"/>
                      <a:tailEnd type="none" w="med" len="med"/>
                    </a:lnT>
                    <a:lnB w="12700" cap="flat" cmpd="sng" algn="ctr">
                      <a:solidFill>
                        <a:srgbClr val="DEDEDE"/>
                      </a:solidFill>
                      <a:prstDash val="solid"/>
                      <a:round/>
                      <a:headEnd type="none" w="med" len="med"/>
                      <a:tailEnd type="none" w="med" len="med"/>
                    </a:lnB>
                    <a:solidFill>
                      <a:srgbClr val="F0F0F0"/>
                    </a:solidFill>
                  </a:tcPr>
                </a:tc>
                <a:tc>
                  <a:txBody>
                    <a:bodyPr/>
                    <a:lstStyle/>
                    <a:p>
                      <a:pPr marL="0" indent="0">
                        <a:buNone/>
                      </a:pPr>
                      <a:r>
                        <a:rPr lang="en-US" sz="950" dirty="0">
                          <a:solidFill>
                            <a:srgbClr val="2C2C2C"/>
                          </a:solidFill>
                          <a:latin typeface="Calibri" pitchFamily="34" charset="0"/>
                          <a:ea typeface="Calibri" pitchFamily="34" charset="-122"/>
                          <a:cs typeface="Calibri" pitchFamily="34" charset="-120"/>
                        </a:rPr>
                        <a:t>'Aa1!Aa1'</a:t>
                      </a:r>
                      <a:endParaRPr lang="en-US" sz="950" dirty="0">
                        <a:latin typeface="Calibri" charset="0"/>
                        <a:ea typeface="Calibri" charset="0"/>
                        <a:cs typeface="Calibri" charset="0"/>
                      </a:endParaRPr>
                    </a:p>
                  </a:txBody>
                  <a:tcPr marL="50800" marR="50800" marT="50800" marB="50800" anchor="ctr">
                    <a:lnL w="12700" cap="flat" cmpd="sng" algn="ctr">
                      <a:solidFill>
                        <a:srgbClr val="DEDEDE"/>
                      </a:solidFill>
                      <a:prstDash val="solid"/>
                      <a:round/>
                      <a:headEnd type="none" w="med" len="med"/>
                      <a:tailEnd type="none" w="med" len="med"/>
                    </a:lnL>
                    <a:lnR w="12700" cap="flat" cmpd="sng" algn="ctr">
                      <a:solidFill>
                        <a:srgbClr val="DEDEDE"/>
                      </a:solidFill>
                      <a:prstDash val="solid"/>
                      <a:round/>
                      <a:headEnd type="none" w="med" len="med"/>
                      <a:tailEnd type="none" w="med" len="med"/>
                    </a:lnR>
                    <a:lnT w="12700" cap="flat" cmpd="sng" algn="ctr">
                      <a:solidFill>
                        <a:srgbClr val="DEDEDE"/>
                      </a:solidFill>
                      <a:prstDash val="solid"/>
                      <a:round/>
                      <a:headEnd type="none" w="med" len="med"/>
                      <a:tailEnd type="none" w="med" len="med"/>
                    </a:lnT>
                    <a:lnB w="12700" cap="flat" cmpd="sng" algn="ctr">
                      <a:solidFill>
                        <a:srgbClr val="DEDEDE"/>
                      </a:solidFill>
                      <a:prstDash val="solid"/>
                      <a:round/>
                      <a:headEnd type="none" w="med" len="med"/>
                      <a:tailEnd type="none" w="med" len="med"/>
                    </a:lnB>
                    <a:solidFill>
                      <a:srgbClr val="F0F0F0"/>
                    </a:solidFill>
                  </a:tcPr>
                </a:tc>
                <a:tc>
                  <a:txBody>
                    <a:bodyPr/>
                    <a:lstStyle/>
                    <a:p>
                      <a:pPr marL="0" indent="0">
                        <a:buNone/>
                      </a:pPr>
                      <a:r>
                        <a:rPr lang="en-US" sz="1000" i="1" dirty="0">
                          <a:solidFill>
                            <a:srgbClr val="5A5A5A"/>
                          </a:solidFill>
                          <a:latin typeface="Calibri" pitchFamily="34" charset="0"/>
                          <a:ea typeface="Calibri" pitchFamily="34" charset="-122"/>
                          <a:cs typeface="Calibri" pitchFamily="34" charset="-120"/>
                        </a:rPr>
                        <a:t>Just BELOW minimum</a:t>
                      </a:r>
                      <a:endParaRPr lang="en-US" sz="1000" dirty="0">
                        <a:latin typeface="Calibri" charset="0"/>
                        <a:ea typeface="Calibri" charset="0"/>
                        <a:cs typeface="Calibri" charset="0"/>
                      </a:endParaRPr>
                    </a:p>
                  </a:txBody>
                  <a:tcPr marL="50800" marR="50800" marT="50800" marB="50800" anchor="ctr">
                    <a:lnL w="12700" cap="flat" cmpd="sng" algn="ctr">
                      <a:solidFill>
                        <a:srgbClr val="DEDEDE"/>
                      </a:solidFill>
                      <a:prstDash val="solid"/>
                      <a:round/>
                      <a:headEnd type="none" w="med" len="med"/>
                      <a:tailEnd type="none" w="med" len="med"/>
                    </a:lnL>
                    <a:lnR w="12700" cap="flat" cmpd="sng" algn="ctr">
                      <a:solidFill>
                        <a:srgbClr val="DEDEDE"/>
                      </a:solidFill>
                      <a:prstDash val="solid"/>
                      <a:round/>
                      <a:headEnd type="none" w="med" len="med"/>
                      <a:tailEnd type="none" w="med" len="med"/>
                    </a:lnR>
                    <a:lnT w="12700" cap="flat" cmpd="sng" algn="ctr">
                      <a:solidFill>
                        <a:srgbClr val="DEDEDE"/>
                      </a:solidFill>
                      <a:prstDash val="solid"/>
                      <a:round/>
                      <a:headEnd type="none" w="med" len="med"/>
                      <a:tailEnd type="none" w="med" len="med"/>
                    </a:lnT>
                    <a:lnB w="12700" cap="flat" cmpd="sng" algn="ctr">
                      <a:solidFill>
                        <a:srgbClr val="DEDEDE"/>
                      </a:solidFill>
                      <a:prstDash val="solid"/>
                      <a:round/>
                      <a:headEnd type="none" w="med" len="med"/>
                      <a:tailEnd type="none" w="med" len="med"/>
                    </a:lnB>
                    <a:solidFill>
                      <a:srgbClr val="F0F0F0"/>
                    </a:solidFill>
                  </a:tcPr>
                </a:tc>
                <a:tc>
                  <a:txBody>
                    <a:bodyPr/>
                    <a:lstStyle/>
                    <a:p>
                      <a:pPr marL="0" indent="0" algn="ctr">
                        <a:buNone/>
                      </a:pPr>
                      <a:r>
                        <a:rPr lang="en-US" sz="1000" b="1" dirty="0">
                          <a:solidFill>
                            <a:srgbClr val="C0392B"/>
                          </a:solidFill>
                          <a:latin typeface="Arial" pitchFamily="34" charset="0"/>
                          <a:ea typeface="Arial" pitchFamily="34" charset="-122"/>
                          <a:cs typeface="Arial" pitchFamily="34" charset="-120"/>
                        </a:rPr>
                        <a:t>REJECT ✗</a:t>
                      </a:r>
                      <a:endParaRPr lang="en-US" sz="1000" dirty="0">
                        <a:latin typeface="Arial" charset="0"/>
                        <a:ea typeface="Arial" charset="0"/>
                        <a:cs typeface="Arial" charset="0"/>
                      </a:endParaRPr>
                    </a:p>
                  </a:txBody>
                  <a:tcPr marL="50800" marR="50800" marT="50800" marB="50800" anchor="ctr">
                    <a:lnL w="12700" cap="flat" cmpd="sng" algn="ctr">
                      <a:solidFill>
                        <a:srgbClr val="DEDEDE"/>
                      </a:solidFill>
                      <a:prstDash val="solid"/>
                      <a:round/>
                      <a:headEnd type="none" w="med" len="med"/>
                      <a:tailEnd type="none" w="med" len="med"/>
                    </a:lnL>
                    <a:lnR w="12700" cap="flat" cmpd="sng" algn="ctr">
                      <a:solidFill>
                        <a:srgbClr val="DEDEDE"/>
                      </a:solidFill>
                      <a:prstDash val="solid"/>
                      <a:round/>
                      <a:headEnd type="none" w="med" len="med"/>
                      <a:tailEnd type="none" w="med" len="med"/>
                    </a:lnR>
                    <a:lnT w="12700" cap="flat" cmpd="sng" algn="ctr">
                      <a:solidFill>
                        <a:srgbClr val="DEDEDE"/>
                      </a:solidFill>
                      <a:prstDash val="solid"/>
                      <a:round/>
                      <a:headEnd type="none" w="med" len="med"/>
                      <a:tailEnd type="none" w="med" len="med"/>
                    </a:lnT>
                    <a:lnB w="12700" cap="flat" cmpd="sng" algn="ctr">
                      <a:solidFill>
                        <a:srgbClr val="DEDEDE"/>
                      </a:solidFill>
                      <a:prstDash val="solid"/>
                      <a:round/>
                      <a:headEnd type="none" w="med" len="med"/>
                      <a:tailEnd type="none" w="med" len="med"/>
                    </a:lnB>
                    <a:solidFill>
                      <a:srgbClr val="F0F0F0"/>
                    </a:solidFill>
                  </a:tcPr>
                </a:tc>
                <a:tc>
                  <a:txBody>
                    <a:bodyPr/>
                    <a:lstStyle/>
                    <a:p>
                      <a:pPr marL="0" indent="0">
                        <a:buNone/>
                      </a:pPr>
                      <a:r>
                        <a:rPr lang="en-US" sz="1000" dirty="0">
                          <a:solidFill>
                            <a:srgbClr val="2C2C2C"/>
                          </a:solidFill>
                          <a:latin typeface="Calibri" pitchFamily="34" charset="0"/>
                          <a:ea typeface="Calibri" pitchFamily="34" charset="-122"/>
                          <a:cs typeface="Calibri" pitchFamily="34" charset="-120"/>
                        </a:rPr>
                        <a:t>One character short of the minimum — must be rejected</a:t>
                      </a:r>
                      <a:endParaRPr lang="en-US" sz="1000" dirty="0">
                        <a:latin typeface="Calibri" charset="0"/>
                        <a:ea typeface="Calibri" charset="0"/>
                        <a:cs typeface="Calibri" charset="0"/>
                      </a:endParaRPr>
                    </a:p>
                  </a:txBody>
                  <a:tcPr marL="50800" marR="50800" marT="50800" marB="50800" anchor="ctr">
                    <a:lnL w="12700" cap="flat" cmpd="sng" algn="ctr">
                      <a:solidFill>
                        <a:srgbClr val="DEDEDE"/>
                      </a:solidFill>
                      <a:prstDash val="solid"/>
                      <a:round/>
                      <a:headEnd type="none" w="med" len="med"/>
                      <a:tailEnd type="none" w="med" len="med"/>
                    </a:lnL>
                    <a:lnR w="12700" cap="flat" cmpd="sng" algn="ctr">
                      <a:solidFill>
                        <a:srgbClr val="DEDEDE"/>
                      </a:solidFill>
                      <a:prstDash val="solid"/>
                      <a:round/>
                      <a:headEnd type="none" w="med" len="med"/>
                      <a:tailEnd type="none" w="med" len="med"/>
                    </a:lnR>
                    <a:lnT w="12700" cap="flat" cmpd="sng" algn="ctr">
                      <a:solidFill>
                        <a:srgbClr val="DEDEDE"/>
                      </a:solidFill>
                      <a:prstDash val="solid"/>
                      <a:round/>
                      <a:headEnd type="none" w="med" len="med"/>
                      <a:tailEnd type="none" w="med" len="med"/>
                    </a:lnT>
                    <a:lnB w="12700" cap="flat" cmpd="sng" algn="ctr">
                      <a:solidFill>
                        <a:srgbClr val="DEDEDE"/>
                      </a:solidFill>
                      <a:prstDash val="solid"/>
                      <a:round/>
                      <a:headEnd type="none" w="med" len="med"/>
                      <a:tailEnd type="none" w="med" len="med"/>
                    </a:lnB>
                    <a:solidFill>
                      <a:srgbClr val="F0F0F0"/>
                    </a:solidFill>
                  </a:tcPr>
                </a:tc>
                <a:extLst>
                  <a:ext uri="{0D108BD9-81ED-4DB2-BD59-A6C34878D82A}">
                    <a16:rowId xmlns:a16="http://schemas.microsoft.com/office/drawing/2014/main" val="10001"/>
                  </a:ext>
                </a:extLst>
              </a:tr>
              <a:tr h="429768">
                <a:tc>
                  <a:txBody>
                    <a:bodyPr/>
                    <a:lstStyle/>
                    <a:p>
                      <a:pPr marL="0" indent="0">
                        <a:buNone/>
                      </a:pPr>
                      <a:r>
                        <a:rPr lang="en-US" sz="1000" dirty="0">
                          <a:solidFill>
                            <a:srgbClr val="2C2C2C"/>
                          </a:solidFill>
                          <a:latin typeface="Calibri" pitchFamily="34" charset="0"/>
                          <a:ea typeface="Calibri" pitchFamily="34" charset="-122"/>
                          <a:cs typeface="Calibri" pitchFamily="34" charset="-120"/>
                        </a:rPr>
                        <a:t>8 chars</a:t>
                      </a:r>
                      <a:endParaRPr lang="en-US" sz="1000" dirty="0">
                        <a:latin typeface="Calibri" charset="0"/>
                        <a:ea typeface="Calibri" charset="0"/>
                        <a:cs typeface="Calibri" charset="0"/>
                      </a:endParaRPr>
                    </a:p>
                  </a:txBody>
                  <a:tcPr marL="50800" marR="50800" marT="50800" marB="50800" anchor="ctr">
                    <a:lnL w="12700" cap="flat" cmpd="sng" algn="ctr">
                      <a:solidFill>
                        <a:srgbClr val="DEDEDE"/>
                      </a:solidFill>
                      <a:prstDash val="solid"/>
                      <a:round/>
                      <a:headEnd type="none" w="med" len="med"/>
                      <a:tailEnd type="none" w="med" len="med"/>
                    </a:lnL>
                    <a:lnR w="12700" cap="flat" cmpd="sng" algn="ctr">
                      <a:solidFill>
                        <a:srgbClr val="DEDEDE"/>
                      </a:solidFill>
                      <a:prstDash val="solid"/>
                      <a:round/>
                      <a:headEnd type="none" w="med" len="med"/>
                      <a:tailEnd type="none" w="med" len="med"/>
                    </a:lnR>
                    <a:lnT w="12700" cap="flat" cmpd="sng" algn="ctr">
                      <a:solidFill>
                        <a:srgbClr val="DEDEDE"/>
                      </a:solidFill>
                      <a:prstDash val="solid"/>
                      <a:round/>
                      <a:headEnd type="none" w="med" len="med"/>
                      <a:tailEnd type="none" w="med" len="med"/>
                    </a:lnT>
                    <a:lnB w="12700" cap="flat" cmpd="sng" algn="ctr">
                      <a:solidFill>
                        <a:srgbClr val="DEDEDE"/>
                      </a:solidFill>
                      <a:prstDash val="solid"/>
                      <a:round/>
                      <a:headEnd type="none" w="med" len="med"/>
                      <a:tailEnd type="none" w="med" len="med"/>
                    </a:lnB>
                    <a:solidFill>
                      <a:srgbClr val="FFFFFF"/>
                    </a:solidFill>
                  </a:tcPr>
                </a:tc>
                <a:tc>
                  <a:txBody>
                    <a:bodyPr/>
                    <a:lstStyle/>
                    <a:p>
                      <a:pPr marL="0" indent="0">
                        <a:buNone/>
                      </a:pPr>
                      <a:r>
                        <a:rPr lang="en-US" sz="950" dirty="0">
                          <a:solidFill>
                            <a:srgbClr val="2C2C2C"/>
                          </a:solidFill>
                          <a:latin typeface="Calibri" pitchFamily="34" charset="0"/>
                          <a:ea typeface="Calibri" pitchFamily="34" charset="-122"/>
                          <a:cs typeface="Calibri" pitchFamily="34" charset="-120"/>
                        </a:rPr>
                        <a:t>'Aa1!Aa1!'</a:t>
                      </a:r>
                      <a:endParaRPr lang="en-US" sz="950" dirty="0">
                        <a:latin typeface="Calibri" charset="0"/>
                        <a:ea typeface="Calibri" charset="0"/>
                        <a:cs typeface="Calibri" charset="0"/>
                      </a:endParaRPr>
                    </a:p>
                  </a:txBody>
                  <a:tcPr marL="50800" marR="50800" marT="50800" marB="50800" anchor="ctr">
                    <a:lnL w="12700" cap="flat" cmpd="sng" algn="ctr">
                      <a:solidFill>
                        <a:srgbClr val="DEDEDE"/>
                      </a:solidFill>
                      <a:prstDash val="solid"/>
                      <a:round/>
                      <a:headEnd type="none" w="med" len="med"/>
                      <a:tailEnd type="none" w="med" len="med"/>
                    </a:lnL>
                    <a:lnR w="12700" cap="flat" cmpd="sng" algn="ctr">
                      <a:solidFill>
                        <a:srgbClr val="DEDEDE"/>
                      </a:solidFill>
                      <a:prstDash val="solid"/>
                      <a:round/>
                      <a:headEnd type="none" w="med" len="med"/>
                      <a:tailEnd type="none" w="med" len="med"/>
                    </a:lnR>
                    <a:lnT w="12700" cap="flat" cmpd="sng" algn="ctr">
                      <a:solidFill>
                        <a:srgbClr val="DEDEDE"/>
                      </a:solidFill>
                      <a:prstDash val="solid"/>
                      <a:round/>
                      <a:headEnd type="none" w="med" len="med"/>
                      <a:tailEnd type="none" w="med" len="med"/>
                    </a:lnT>
                    <a:lnB w="12700" cap="flat" cmpd="sng" algn="ctr">
                      <a:solidFill>
                        <a:srgbClr val="DEDEDE"/>
                      </a:solidFill>
                      <a:prstDash val="solid"/>
                      <a:round/>
                      <a:headEnd type="none" w="med" len="med"/>
                      <a:tailEnd type="none" w="med" len="med"/>
                    </a:lnB>
                    <a:solidFill>
                      <a:srgbClr val="FFFFFF"/>
                    </a:solidFill>
                  </a:tcPr>
                </a:tc>
                <a:tc>
                  <a:txBody>
                    <a:bodyPr/>
                    <a:lstStyle/>
                    <a:p>
                      <a:pPr marL="0" indent="0">
                        <a:buNone/>
                      </a:pPr>
                      <a:r>
                        <a:rPr lang="en-US" sz="1000" i="1" dirty="0">
                          <a:solidFill>
                            <a:srgbClr val="5A5A5A"/>
                          </a:solidFill>
                          <a:latin typeface="Calibri" pitchFamily="34" charset="0"/>
                          <a:ea typeface="Calibri" pitchFamily="34" charset="-122"/>
                          <a:cs typeface="Calibri" pitchFamily="34" charset="-120"/>
                        </a:rPr>
                        <a:t>AT minimum boundary</a:t>
                      </a:r>
                      <a:endParaRPr lang="en-US" sz="1000" dirty="0">
                        <a:latin typeface="Calibri" charset="0"/>
                        <a:ea typeface="Calibri" charset="0"/>
                        <a:cs typeface="Calibri" charset="0"/>
                      </a:endParaRPr>
                    </a:p>
                  </a:txBody>
                  <a:tcPr marL="50800" marR="50800" marT="50800" marB="50800" anchor="ctr">
                    <a:lnL w="12700" cap="flat" cmpd="sng" algn="ctr">
                      <a:solidFill>
                        <a:srgbClr val="DEDEDE"/>
                      </a:solidFill>
                      <a:prstDash val="solid"/>
                      <a:round/>
                      <a:headEnd type="none" w="med" len="med"/>
                      <a:tailEnd type="none" w="med" len="med"/>
                    </a:lnL>
                    <a:lnR w="12700" cap="flat" cmpd="sng" algn="ctr">
                      <a:solidFill>
                        <a:srgbClr val="DEDEDE"/>
                      </a:solidFill>
                      <a:prstDash val="solid"/>
                      <a:round/>
                      <a:headEnd type="none" w="med" len="med"/>
                      <a:tailEnd type="none" w="med" len="med"/>
                    </a:lnR>
                    <a:lnT w="12700" cap="flat" cmpd="sng" algn="ctr">
                      <a:solidFill>
                        <a:srgbClr val="DEDEDE"/>
                      </a:solidFill>
                      <a:prstDash val="solid"/>
                      <a:round/>
                      <a:headEnd type="none" w="med" len="med"/>
                      <a:tailEnd type="none" w="med" len="med"/>
                    </a:lnT>
                    <a:lnB w="12700" cap="flat" cmpd="sng" algn="ctr">
                      <a:solidFill>
                        <a:srgbClr val="DEDEDE"/>
                      </a:solidFill>
                      <a:prstDash val="solid"/>
                      <a:round/>
                      <a:headEnd type="none" w="med" len="med"/>
                      <a:tailEnd type="none" w="med" len="med"/>
                    </a:lnB>
                    <a:solidFill>
                      <a:srgbClr val="FFFFFF"/>
                    </a:solidFill>
                  </a:tcPr>
                </a:tc>
                <a:tc>
                  <a:txBody>
                    <a:bodyPr/>
                    <a:lstStyle/>
                    <a:p>
                      <a:pPr marL="0" indent="0" algn="ctr">
                        <a:buNone/>
                      </a:pPr>
                      <a:r>
                        <a:rPr lang="en-US" sz="1000" b="1" dirty="0">
                          <a:solidFill>
                            <a:srgbClr val="27AE60"/>
                          </a:solidFill>
                          <a:latin typeface="Arial" pitchFamily="34" charset="0"/>
                          <a:ea typeface="Arial" pitchFamily="34" charset="-122"/>
                          <a:cs typeface="Arial" pitchFamily="34" charset="-120"/>
                        </a:rPr>
                        <a:t>ACCEPT ✓</a:t>
                      </a:r>
                      <a:endParaRPr lang="en-US" sz="1000" dirty="0">
                        <a:latin typeface="Arial" charset="0"/>
                        <a:ea typeface="Arial" charset="0"/>
                        <a:cs typeface="Arial" charset="0"/>
                      </a:endParaRPr>
                    </a:p>
                  </a:txBody>
                  <a:tcPr marL="50800" marR="50800" marT="50800" marB="50800" anchor="ctr">
                    <a:lnL w="12700" cap="flat" cmpd="sng" algn="ctr">
                      <a:solidFill>
                        <a:srgbClr val="DEDEDE"/>
                      </a:solidFill>
                      <a:prstDash val="solid"/>
                      <a:round/>
                      <a:headEnd type="none" w="med" len="med"/>
                      <a:tailEnd type="none" w="med" len="med"/>
                    </a:lnL>
                    <a:lnR w="12700" cap="flat" cmpd="sng" algn="ctr">
                      <a:solidFill>
                        <a:srgbClr val="DEDEDE"/>
                      </a:solidFill>
                      <a:prstDash val="solid"/>
                      <a:round/>
                      <a:headEnd type="none" w="med" len="med"/>
                      <a:tailEnd type="none" w="med" len="med"/>
                    </a:lnR>
                    <a:lnT w="12700" cap="flat" cmpd="sng" algn="ctr">
                      <a:solidFill>
                        <a:srgbClr val="DEDEDE"/>
                      </a:solidFill>
                      <a:prstDash val="solid"/>
                      <a:round/>
                      <a:headEnd type="none" w="med" len="med"/>
                      <a:tailEnd type="none" w="med" len="med"/>
                    </a:lnT>
                    <a:lnB w="12700" cap="flat" cmpd="sng" algn="ctr">
                      <a:solidFill>
                        <a:srgbClr val="DEDEDE"/>
                      </a:solidFill>
                      <a:prstDash val="solid"/>
                      <a:round/>
                      <a:headEnd type="none" w="med" len="med"/>
                      <a:tailEnd type="none" w="med" len="med"/>
                    </a:lnB>
                    <a:solidFill>
                      <a:srgbClr val="FFFFFF"/>
                    </a:solidFill>
                  </a:tcPr>
                </a:tc>
                <a:tc>
                  <a:txBody>
                    <a:bodyPr/>
                    <a:lstStyle/>
                    <a:p>
                      <a:pPr marL="0" indent="0">
                        <a:buNone/>
                      </a:pPr>
                      <a:r>
                        <a:rPr lang="en-US" sz="1000" dirty="0">
                          <a:solidFill>
                            <a:srgbClr val="2C2C2C"/>
                          </a:solidFill>
                          <a:latin typeface="Calibri" pitchFamily="34" charset="0"/>
                          <a:ea typeface="Calibri" pitchFamily="34" charset="-122"/>
                          <a:cs typeface="Calibri" pitchFamily="34" charset="-120"/>
                        </a:rPr>
                        <a:t>Exactly the minimum — must be accepted</a:t>
                      </a:r>
                      <a:endParaRPr lang="en-US" sz="1000" dirty="0">
                        <a:latin typeface="Calibri" charset="0"/>
                        <a:ea typeface="Calibri" charset="0"/>
                        <a:cs typeface="Calibri" charset="0"/>
                      </a:endParaRPr>
                    </a:p>
                  </a:txBody>
                  <a:tcPr marL="50800" marR="50800" marT="50800" marB="50800" anchor="ctr">
                    <a:lnL w="12700" cap="flat" cmpd="sng" algn="ctr">
                      <a:solidFill>
                        <a:srgbClr val="DEDEDE"/>
                      </a:solidFill>
                      <a:prstDash val="solid"/>
                      <a:round/>
                      <a:headEnd type="none" w="med" len="med"/>
                      <a:tailEnd type="none" w="med" len="med"/>
                    </a:lnL>
                    <a:lnR w="12700" cap="flat" cmpd="sng" algn="ctr">
                      <a:solidFill>
                        <a:srgbClr val="DEDEDE"/>
                      </a:solidFill>
                      <a:prstDash val="solid"/>
                      <a:round/>
                      <a:headEnd type="none" w="med" len="med"/>
                      <a:tailEnd type="none" w="med" len="med"/>
                    </a:lnR>
                    <a:lnT w="12700" cap="flat" cmpd="sng" algn="ctr">
                      <a:solidFill>
                        <a:srgbClr val="DEDEDE"/>
                      </a:solidFill>
                      <a:prstDash val="solid"/>
                      <a:round/>
                      <a:headEnd type="none" w="med" len="med"/>
                      <a:tailEnd type="none" w="med" len="med"/>
                    </a:lnT>
                    <a:lnB w="12700" cap="flat" cmpd="sng" algn="ctr">
                      <a:solidFill>
                        <a:srgbClr val="DEDEDE"/>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429768">
                <a:tc>
                  <a:txBody>
                    <a:bodyPr/>
                    <a:lstStyle/>
                    <a:p>
                      <a:pPr marL="0" indent="0">
                        <a:buNone/>
                      </a:pPr>
                      <a:r>
                        <a:rPr lang="en-US" sz="1000" dirty="0">
                          <a:solidFill>
                            <a:srgbClr val="2C2C2C"/>
                          </a:solidFill>
                          <a:latin typeface="Calibri" pitchFamily="34" charset="0"/>
                          <a:ea typeface="Calibri" pitchFamily="34" charset="-122"/>
                          <a:cs typeface="Calibri" pitchFamily="34" charset="-120"/>
                        </a:rPr>
                        <a:t>9 chars</a:t>
                      </a:r>
                      <a:endParaRPr lang="en-US" sz="1000" dirty="0">
                        <a:latin typeface="Calibri" charset="0"/>
                        <a:ea typeface="Calibri" charset="0"/>
                        <a:cs typeface="Calibri" charset="0"/>
                      </a:endParaRPr>
                    </a:p>
                  </a:txBody>
                  <a:tcPr marL="50800" marR="50800" marT="50800" marB="50800" anchor="ctr">
                    <a:lnL w="12700" cap="flat" cmpd="sng" algn="ctr">
                      <a:solidFill>
                        <a:srgbClr val="DEDEDE"/>
                      </a:solidFill>
                      <a:prstDash val="solid"/>
                      <a:round/>
                      <a:headEnd type="none" w="med" len="med"/>
                      <a:tailEnd type="none" w="med" len="med"/>
                    </a:lnL>
                    <a:lnR w="12700" cap="flat" cmpd="sng" algn="ctr">
                      <a:solidFill>
                        <a:srgbClr val="DEDEDE"/>
                      </a:solidFill>
                      <a:prstDash val="solid"/>
                      <a:round/>
                      <a:headEnd type="none" w="med" len="med"/>
                      <a:tailEnd type="none" w="med" len="med"/>
                    </a:lnR>
                    <a:lnT w="12700" cap="flat" cmpd="sng" algn="ctr">
                      <a:solidFill>
                        <a:srgbClr val="DEDEDE"/>
                      </a:solidFill>
                      <a:prstDash val="solid"/>
                      <a:round/>
                      <a:headEnd type="none" w="med" len="med"/>
                      <a:tailEnd type="none" w="med" len="med"/>
                    </a:lnT>
                    <a:lnB w="12700" cap="flat" cmpd="sng" algn="ctr">
                      <a:solidFill>
                        <a:srgbClr val="DEDEDE"/>
                      </a:solidFill>
                      <a:prstDash val="solid"/>
                      <a:round/>
                      <a:headEnd type="none" w="med" len="med"/>
                      <a:tailEnd type="none" w="med" len="med"/>
                    </a:lnB>
                    <a:solidFill>
                      <a:srgbClr val="F0F0F0"/>
                    </a:solidFill>
                  </a:tcPr>
                </a:tc>
                <a:tc>
                  <a:txBody>
                    <a:bodyPr/>
                    <a:lstStyle/>
                    <a:p>
                      <a:pPr marL="0" indent="0">
                        <a:buNone/>
                      </a:pPr>
                      <a:r>
                        <a:rPr lang="en-US" sz="950" dirty="0">
                          <a:solidFill>
                            <a:srgbClr val="2C2C2C"/>
                          </a:solidFill>
                          <a:latin typeface="Calibri" pitchFamily="34" charset="0"/>
                          <a:ea typeface="Calibri" pitchFamily="34" charset="-122"/>
                          <a:cs typeface="Calibri" pitchFamily="34" charset="-120"/>
                        </a:rPr>
                        <a:t>'Aa1!Aa1!B'</a:t>
                      </a:r>
                      <a:endParaRPr lang="en-US" sz="950" dirty="0">
                        <a:latin typeface="Calibri" charset="0"/>
                        <a:ea typeface="Calibri" charset="0"/>
                        <a:cs typeface="Calibri" charset="0"/>
                      </a:endParaRPr>
                    </a:p>
                  </a:txBody>
                  <a:tcPr marL="50800" marR="50800" marT="50800" marB="50800" anchor="ctr">
                    <a:lnL w="12700" cap="flat" cmpd="sng" algn="ctr">
                      <a:solidFill>
                        <a:srgbClr val="DEDEDE"/>
                      </a:solidFill>
                      <a:prstDash val="solid"/>
                      <a:round/>
                      <a:headEnd type="none" w="med" len="med"/>
                      <a:tailEnd type="none" w="med" len="med"/>
                    </a:lnL>
                    <a:lnR w="12700" cap="flat" cmpd="sng" algn="ctr">
                      <a:solidFill>
                        <a:srgbClr val="DEDEDE"/>
                      </a:solidFill>
                      <a:prstDash val="solid"/>
                      <a:round/>
                      <a:headEnd type="none" w="med" len="med"/>
                      <a:tailEnd type="none" w="med" len="med"/>
                    </a:lnR>
                    <a:lnT w="12700" cap="flat" cmpd="sng" algn="ctr">
                      <a:solidFill>
                        <a:srgbClr val="DEDEDE"/>
                      </a:solidFill>
                      <a:prstDash val="solid"/>
                      <a:round/>
                      <a:headEnd type="none" w="med" len="med"/>
                      <a:tailEnd type="none" w="med" len="med"/>
                    </a:lnT>
                    <a:lnB w="12700" cap="flat" cmpd="sng" algn="ctr">
                      <a:solidFill>
                        <a:srgbClr val="DEDEDE"/>
                      </a:solidFill>
                      <a:prstDash val="solid"/>
                      <a:round/>
                      <a:headEnd type="none" w="med" len="med"/>
                      <a:tailEnd type="none" w="med" len="med"/>
                    </a:lnB>
                    <a:solidFill>
                      <a:srgbClr val="F0F0F0"/>
                    </a:solidFill>
                  </a:tcPr>
                </a:tc>
                <a:tc>
                  <a:txBody>
                    <a:bodyPr/>
                    <a:lstStyle/>
                    <a:p>
                      <a:pPr marL="0" indent="0">
                        <a:buNone/>
                      </a:pPr>
                      <a:r>
                        <a:rPr lang="en-US" sz="1000" i="1" dirty="0">
                          <a:solidFill>
                            <a:srgbClr val="5A5A5A"/>
                          </a:solidFill>
                          <a:latin typeface="Calibri" pitchFamily="34" charset="0"/>
                          <a:ea typeface="Calibri" pitchFamily="34" charset="-122"/>
                          <a:cs typeface="Calibri" pitchFamily="34" charset="-120"/>
                        </a:rPr>
                        <a:t>Just ABOVE minimum</a:t>
                      </a:r>
                      <a:endParaRPr lang="en-US" sz="1000" dirty="0">
                        <a:latin typeface="Calibri" charset="0"/>
                        <a:ea typeface="Calibri" charset="0"/>
                        <a:cs typeface="Calibri" charset="0"/>
                      </a:endParaRPr>
                    </a:p>
                  </a:txBody>
                  <a:tcPr marL="50800" marR="50800" marT="50800" marB="50800" anchor="ctr">
                    <a:lnL w="12700" cap="flat" cmpd="sng" algn="ctr">
                      <a:solidFill>
                        <a:srgbClr val="DEDEDE"/>
                      </a:solidFill>
                      <a:prstDash val="solid"/>
                      <a:round/>
                      <a:headEnd type="none" w="med" len="med"/>
                      <a:tailEnd type="none" w="med" len="med"/>
                    </a:lnL>
                    <a:lnR w="12700" cap="flat" cmpd="sng" algn="ctr">
                      <a:solidFill>
                        <a:srgbClr val="DEDEDE"/>
                      </a:solidFill>
                      <a:prstDash val="solid"/>
                      <a:round/>
                      <a:headEnd type="none" w="med" len="med"/>
                      <a:tailEnd type="none" w="med" len="med"/>
                    </a:lnR>
                    <a:lnT w="12700" cap="flat" cmpd="sng" algn="ctr">
                      <a:solidFill>
                        <a:srgbClr val="DEDEDE"/>
                      </a:solidFill>
                      <a:prstDash val="solid"/>
                      <a:round/>
                      <a:headEnd type="none" w="med" len="med"/>
                      <a:tailEnd type="none" w="med" len="med"/>
                    </a:lnT>
                    <a:lnB w="12700" cap="flat" cmpd="sng" algn="ctr">
                      <a:solidFill>
                        <a:srgbClr val="DEDEDE"/>
                      </a:solidFill>
                      <a:prstDash val="solid"/>
                      <a:round/>
                      <a:headEnd type="none" w="med" len="med"/>
                      <a:tailEnd type="none" w="med" len="med"/>
                    </a:lnB>
                    <a:solidFill>
                      <a:srgbClr val="F0F0F0"/>
                    </a:solidFill>
                  </a:tcPr>
                </a:tc>
                <a:tc>
                  <a:txBody>
                    <a:bodyPr/>
                    <a:lstStyle/>
                    <a:p>
                      <a:pPr marL="0" indent="0" algn="ctr">
                        <a:buNone/>
                      </a:pPr>
                      <a:r>
                        <a:rPr lang="en-US" sz="1000" b="1" dirty="0">
                          <a:solidFill>
                            <a:srgbClr val="27AE60"/>
                          </a:solidFill>
                          <a:latin typeface="Arial" pitchFamily="34" charset="0"/>
                          <a:ea typeface="Arial" pitchFamily="34" charset="-122"/>
                          <a:cs typeface="Arial" pitchFamily="34" charset="-120"/>
                        </a:rPr>
                        <a:t>ACCEPT ✓</a:t>
                      </a:r>
                      <a:endParaRPr lang="en-US" sz="1000" dirty="0">
                        <a:latin typeface="Arial" charset="0"/>
                        <a:ea typeface="Arial" charset="0"/>
                        <a:cs typeface="Arial" charset="0"/>
                      </a:endParaRPr>
                    </a:p>
                  </a:txBody>
                  <a:tcPr marL="50800" marR="50800" marT="50800" marB="50800" anchor="ctr">
                    <a:lnL w="12700" cap="flat" cmpd="sng" algn="ctr">
                      <a:solidFill>
                        <a:srgbClr val="DEDEDE"/>
                      </a:solidFill>
                      <a:prstDash val="solid"/>
                      <a:round/>
                      <a:headEnd type="none" w="med" len="med"/>
                      <a:tailEnd type="none" w="med" len="med"/>
                    </a:lnL>
                    <a:lnR w="12700" cap="flat" cmpd="sng" algn="ctr">
                      <a:solidFill>
                        <a:srgbClr val="DEDEDE"/>
                      </a:solidFill>
                      <a:prstDash val="solid"/>
                      <a:round/>
                      <a:headEnd type="none" w="med" len="med"/>
                      <a:tailEnd type="none" w="med" len="med"/>
                    </a:lnR>
                    <a:lnT w="12700" cap="flat" cmpd="sng" algn="ctr">
                      <a:solidFill>
                        <a:srgbClr val="DEDEDE"/>
                      </a:solidFill>
                      <a:prstDash val="solid"/>
                      <a:round/>
                      <a:headEnd type="none" w="med" len="med"/>
                      <a:tailEnd type="none" w="med" len="med"/>
                    </a:lnT>
                    <a:lnB w="12700" cap="flat" cmpd="sng" algn="ctr">
                      <a:solidFill>
                        <a:srgbClr val="DEDEDE"/>
                      </a:solidFill>
                      <a:prstDash val="solid"/>
                      <a:round/>
                      <a:headEnd type="none" w="med" len="med"/>
                      <a:tailEnd type="none" w="med" len="med"/>
                    </a:lnB>
                    <a:solidFill>
                      <a:srgbClr val="F0F0F0"/>
                    </a:solidFill>
                  </a:tcPr>
                </a:tc>
                <a:tc>
                  <a:txBody>
                    <a:bodyPr/>
                    <a:lstStyle/>
                    <a:p>
                      <a:pPr marL="0" indent="0">
                        <a:buNone/>
                      </a:pPr>
                      <a:r>
                        <a:rPr lang="en-US" sz="1000" dirty="0">
                          <a:solidFill>
                            <a:srgbClr val="2C2C2C"/>
                          </a:solidFill>
                          <a:latin typeface="Calibri" pitchFamily="34" charset="0"/>
                          <a:ea typeface="Calibri" pitchFamily="34" charset="-122"/>
                          <a:cs typeface="Calibri" pitchFamily="34" charset="-120"/>
                        </a:rPr>
                        <a:t>One above minimum — safely within range</a:t>
                      </a:r>
                      <a:endParaRPr lang="en-US" sz="1000" dirty="0">
                        <a:latin typeface="Calibri" charset="0"/>
                        <a:ea typeface="Calibri" charset="0"/>
                        <a:cs typeface="Calibri" charset="0"/>
                      </a:endParaRPr>
                    </a:p>
                  </a:txBody>
                  <a:tcPr marL="50800" marR="50800" marT="50800" marB="50800" anchor="ctr">
                    <a:lnL w="12700" cap="flat" cmpd="sng" algn="ctr">
                      <a:solidFill>
                        <a:srgbClr val="DEDEDE"/>
                      </a:solidFill>
                      <a:prstDash val="solid"/>
                      <a:round/>
                      <a:headEnd type="none" w="med" len="med"/>
                      <a:tailEnd type="none" w="med" len="med"/>
                    </a:lnL>
                    <a:lnR w="12700" cap="flat" cmpd="sng" algn="ctr">
                      <a:solidFill>
                        <a:srgbClr val="DEDEDE"/>
                      </a:solidFill>
                      <a:prstDash val="solid"/>
                      <a:round/>
                      <a:headEnd type="none" w="med" len="med"/>
                      <a:tailEnd type="none" w="med" len="med"/>
                    </a:lnR>
                    <a:lnT w="12700" cap="flat" cmpd="sng" algn="ctr">
                      <a:solidFill>
                        <a:srgbClr val="DEDEDE"/>
                      </a:solidFill>
                      <a:prstDash val="solid"/>
                      <a:round/>
                      <a:headEnd type="none" w="med" len="med"/>
                      <a:tailEnd type="none" w="med" len="med"/>
                    </a:lnT>
                    <a:lnB w="12700" cap="flat" cmpd="sng" algn="ctr">
                      <a:solidFill>
                        <a:srgbClr val="DEDEDE"/>
                      </a:solidFill>
                      <a:prstDash val="solid"/>
                      <a:round/>
                      <a:headEnd type="none" w="med" len="med"/>
                      <a:tailEnd type="none" w="med" len="med"/>
                    </a:lnB>
                    <a:solidFill>
                      <a:srgbClr val="F0F0F0"/>
                    </a:solidFill>
                  </a:tcPr>
                </a:tc>
                <a:extLst>
                  <a:ext uri="{0D108BD9-81ED-4DB2-BD59-A6C34878D82A}">
                    <a16:rowId xmlns:a16="http://schemas.microsoft.com/office/drawing/2014/main" val="10003"/>
                  </a:ext>
                </a:extLst>
              </a:tr>
              <a:tr h="429768">
                <a:tc>
                  <a:txBody>
                    <a:bodyPr/>
                    <a:lstStyle/>
                    <a:p>
                      <a:pPr marL="0" indent="0">
                        <a:buNone/>
                      </a:pPr>
                      <a:r>
                        <a:rPr lang="en-US" sz="1000" dirty="0">
                          <a:solidFill>
                            <a:srgbClr val="2C2C2C"/>
                          </a:solidFill>
                          <a:latin typeface="Calibri" pitchFamily="34" charset="0"/>
                          <a:ea typeface="Calibri" pitchFamily="34" charset="-122"/>
                          <a:cs typeface="Calibri" pitchFamily="34" charset="-120"/>
                        </a:rPr>
                        <a:t>19 chars</a:t>
                      </a:r>
                      <a:endParaRPr lang="en-US" sz="1000" dirty="0">
                        <a:latin typeface="Calibri" charset="0"/>
                        <a:ea typeface="Calibri" charset="0"/>
                        <a:cs typeface="Calibri" charset="0"/>
                      </a:endParaRPr>
                    </a:p>
                  </a:txBody>
                  <a:tcPr marL="50800" marR="50800" marT="50800" marB="50800" anchor="ctr">
                    <a:lnL w="12700" cap="flat" cmpd="sng" algn="ctr">
                      <a:solidFill>
                        <a:srgbClr val="DEDEDE"/>
                      </a:solidFill>
                      <a:prstDash val="solid"/>
                      <a:round/>
                      <a:headEnd type="none" w="med" len="med"/>
                      <a:tailEnd type="none" w="med" len="med"/>
                    </a:lnL>
                    <a:lnR w="12700" cap="flat" cmpd="sng" algn="ctr">
                      <a:solidFill>
                        <a:srgbClr val="DEDEDE"/>
                      </a:solidFill>
                      <a:prstDash val="solid"/>
                      <a:round/>
                      <a:headEnd type="none" w="med" len="med"/>
                      <a:tailEnd type="none" w="med" len="med"/>
                    </a:lnR>
                    <a:lnT w="12700" cap="flat" cmpd="sng" algn="ctr">
                      <a:solidFill>
                        <a:srgbClr val="DEDEDE"/>
                      </a:solidFill>
                      <a:prstDash val="solid"/>
                      <a:round/>
                      <a:headEnd type="none" w="med" len="med"/>
                      <a:tailEnd type="none" w="med" len="med"/>
                    </a:lnT>
                    <a:lnB w="12700" cap="flat" cmpd="sng" algn="ctr">
                      <a:solidFill>
                        <a:srgbClr val="DEDEDE"/>
                      </a:solidFill>
                      <a:prstDash val="solid"/>
                      <a:round/>
                      <a:headEnd type="none" w="med" len="med"/>
                      <a:tailEnd type="none" w="med" len="med"/>
                    </a:lnB>
                    <a:solidFill>
                      <a:srgbClr val="FFFFFF"/>
                    </a:solidFill>
                  </a:tcPr>
                </a:tc>
                <a:tc>
                  <a:txBody>
                    <a:bodyPr/>
                    <a:lstStyle/>
                    <a:p>
                      <a:pPr marL="0" indent="0">
                        <a:buNone/>
                      </a:pPr>
                      <a:r>
                        <a:rPr lang="en-US" sz="950" dirty="0">
                          <a:solidFill>
                            <a:srgbClr val="2C2C2C"/>
                          </a:solidFill>
                          <a:latin typeface="Calibri" pitchFamily="34" charset="0"/>
                          <a:ea typeface="Calibri" pitchFamily="34" charset="-122"/>
                          <a:cs typeface="Calibri" pitchFamily="34" charset="-120"/>
                        </a:rPr>
                        <a:t>'Aa1!Aa1!BcDeFgHiJ'</a:t>
                      </a:r>
                      <a:endParaRPr lang="en-US" sz="950" dirty="0">
                        <a:latin typeface="Calibri" charset="0"/>
                        <a:ea typeface="Calibri" charset="0"/>
                        <a:cs typeface="Calibri" charset="0"/>
                      </a:endParaRPr>
                    </a:p>
                  </a:txBody>
                  <a:tcPr marL="50800" marR="50800" marT="50800" marB="50800" anchor="ctr">
                    <a:lnL w="12700" cap="flat" cmpd="sng" algn="ctr">
                      <a:solidFill>
                        <a:srgbClr val="DEDEDE"/>
                      </a:solidFill>
                      <a:prstDash val="solid"/>
                      <a:round/>
                      <a:headEnd type="none" w="med" len="med"/>
                      <a:tailEnd type="none" w="med" len="med"/>
                    </a:lnL>
                    <a:lnR w="12700" cap="flat" cmpd="sng" algn="ctr">
                      <a:solidFill>
                        <a:srgbClr val="DEDEDE"/>
                      </a:solidFill>
                      <a:prstDash val="solid"/>
                      <a:round/>
                      <a:headEnd type="none" w="med" len="med"/>
                      <a:tailEnd type="none" w="med" len="med"/>
                    </a:lnR>
                    <a:lnT w="12700" cap="flat" cmpd="sng" algn="ctr">
                      <a:solidFill>
                        <a:srgbClr val="DEDEDE"/>
                      </a:solidFill>
                      <a:prstDash val="solid"/>
                      <a:round/>
                      <a:headEnd type="none" w="med" len="med"/>
                      <a:tailEnd type="none" w="med" len="med"/>
                    </a:lnT>
                    <a:lnB w="12700" cap="flat" cmpd="sng" algn="ctr">
                      <a:solidFill>
                        <a:srgbClr val="DEDEDE"/>
                      </a:solidFill>
                      <a:prstDash val="solid"/>
                      <a:round/>
                      <a:headEnd type="none" w="med" len="med"/>
                      <a:tailEnd type="none" w="med" len="med"/>
                    </a:lnB>
                    <a:solidFill>
                      <a:srgbClr val="FFFFFF"/>
                    </a:solidFill>
                  </a:tcPr>
                </a:tc>
                <a:tc>
                  <a:txBody>
                    <a:bodyPr/>
                    <a:lstStyle/>
                    <a:p>
                      <a:pPr marL="0" indent="0">
                        <a:buNone/>
                      </a:pPr>
                      <a:r>
                        <a:rPr lang="en-US" sz="1000" i="1" dirty="0">
                          <a:solidFill>
                            <a:srgbClr val="5A5A5A"/>
                          </a:solidFill>
                          <a:latin typeface="Calibri" pitchFamily="34" charset="0"/>
                          <a:ea typeface="Calibri" pitchFamily="34" charset="-122"/>
                          <a:cs typeface="Calibri" pitchFamily="34" charset="-120"/>
                        </a:rPr>
                        <a:t>Just BELOW maximum</a:t>
                      </a:r>
                      <a:endParaRPr lang="en-US" sz="1000" dirty="0">
                        <a:latin typeface="Calibri" charset="0"/>
                        <a:ea typeface="Calibri" charset="0"/>
                        <a:cs typeface="Calibri" charset="0"/>
                      </a:endParaRPr>
                    </a:p>
                  </a:txBody>
                  <a:tcPr marL="50800" marR="50800" marT="50800" marB="50800" anchor="ctr">
                    <a:lnL w="12700" cap="flat" cmpd="sng" algn="ctr">
                      <a:solidFill>
                        <a:srgbClr val="DEDEDE"/>
                      </a:solidFill>
                      <a:prstDash val="solid"/>
                      <a:round/>
                      <a:headEnd type="none" w="med" len="med"/>
                      <a:tailEnd type="none" w="med" len="med"/>
                    </a:lnL>
                    <a:lnR w="12700" cap="flat" cmpd="sng" algn="ctr">
                      <a:solidFill>
                        <a:srgbClr val="DEDEDE"/>
                      </a:solidFill>
                      <a:prstDash val="solid"/>
                      <a:round/>
                      <a:headEnd type="none" w="med" len="med"/>
                      <a:tailEnd type="none" w="med" len="med"/>
                    </a:lnR>
                    <a:lnT w="12700" cap="flat" cmpd="sng" algn="ctr">
                      <a:solidFill>
                        <a:srgbClr val="DEDEDE"/>
                      </a:solidFill>
                      <a:prstDash val="solid"/>
                      <a:round/>
                      <a:headEnd type="none" w="med" len="med"/>
                      <a:tailEnd type="none" w="med" len="med"/>
                    </a:lnT>
                    <a:lnB w="12700" cap="flat" cmpd="sng" algn="ctr">
                      <a:solidFill>
                        <a:srgbClr val="DEDEDE"/>
                      </a:solidFill>
                      <a:prstDash val="solid"/>
                      <a:round/>
                      <a:headEnd type="none" w="med" len="med"/>
                      <a:tailEnd type="none" w="med" len="med"/>
                    </a:lnB>
                    <a:solidFill>
                      <a:srgbClr val="FFFFFF"/>
                    </a:solidFill>
                  </a:tcPr>
                </a:tc>
                <a:tc>
                  <a:txBody>
                    <a:bodyPr/>
                    <a:lstStyle/>
                    <a:p>
                      <a:pPr marL="0" indent="0" algn="ctr">
                        <a:buNone/>
                      </a:pPr>
                      <a:r>
                        <a:rPr lang="en-US" sz="1000" b="1" dirty="0">
                          <a:solidFill>
                            <a:srgbClr val="27AE60"/>
                          </a:solidFill>
                          <a:latin typeface="Arial" pitchFamily="34" charset="0"/>
                          <a:ea typeface="Arial" pitchFamily="34" charset="-122"/>
                          <a:cs typeface="Arial" pitchFamily="34" charset="-120"/>
                        </a:rPr>
                        <a:t>ACCEPT ✓</a:t>
                      </a:r>
                      <a:endParaRPr lang="en-US" sz="1000" dirty="0">
                        <a:latin typeface="Arial" charset="0"/>
                        <a:ea typeface="Arial" charset="0"/>
                        <a:cs typeface="Arial" charset="0"/>
                      </a:endParaRPr>
                    </a:p>
                  </a:txBody>
                  <a:tcPr marL="50800" marR="50800" marT="50800" marB="50800" anchor="ctr">
                    <a:lnL w="12700" cap="flat" cmpd="sng" algn="ctr">
                      <a:solidFill>
                        <a:srgbClr val="DEDEDE"/>
                      </a:solidFill>
                      <a:prstDash val="solid"/>
                      <a:round/>
                      <a:headEnd type="none" w="med" len="med"/>
                      <a:tailEnd type="none" w="med" len="med"/>
                    </a:lnL>
                    <a:lnR w="12700" cap="flat" cmpd="sng" algn="ctr">
                      <a:solidFill>
                        <a:srgbClr val="DEDEDE"/>
                      </a:solidFill>
                      <a:prstDash val="solid"/>
                      <a:round/>
                      <a:headEnd type="none" w="med" len="med"/>
                      <a:tailEnd type="none" w="med" len="med"/>
                    </a:lnR>
                    <a:lnT w="12700" cap="flat" cmpd="sng" algn="ctr">
                      <a:solidFill>
                        <a:srgbClr val="DEDEDE"/>
                      </a:solidFill>
                      <a:prstDash val="solid"/>
                      <a:round/>
                      <a:headEnd type="none" w="med" len="med"/>
                      <a:tailEnd type="none" w="med" len="med"/>
                    </a:lnT>
                    <a:lnB w="12700" cap="flat" cmpd="sng" algn="ctr">
                      <a:solidFill>
                        <a:srgbClr val="DEDEDE"/>
                      </a:solidFill>
                      <a:prstDash val="solid"/>
                      <a:round/>
                      <a:headEnd type="none" w="med" len="med"/>
                      <a:tailEnd type="none" w="med" len="med"/>
                    </a:lnB>
                    <a:solidFill>
                      <a:srgbClr val="FFFFFF"/>
                    </a:solidFill>
                  </a:tcPr>
                </a:tc>
                <a:tc>
                  <a:txBody>
                    <a:bodyPr/>
                    <a:lstStyle/>
                    <a:p>
                      <a:pPr marL="0" indent="0">
                        <a:buNone/>
                      </a:pPr>
                      <a:r>
                        <a:rPr lang="en-US" sz="1000" dirty="0">
                          <a:solidFill>
                            <a:srgbClr val="2C2C2C"/>
                          </a:solidFill>
                          <a:latin typeface="Calibri" pitchFamily="34" charset="0"/>
                          <a:ea typeface="Calibri" pitchFamily="34" charset="-122"/>
                          <a:cs typeface="Calibri" pitchFamily="34" charset="-120"/>
                        </a:rPr>
                        <a:t>One below maximum — safely within range</a:t>
                      </a:r>
                      <a:endParaRPr lang="en-US" sz="1000" dirty="0">
                        <a:latin typeface="Calibri" charset="0"/>
                        <a:ea typeface="Calibri" charset="0"/>
                        <a:cs typeface="Calibri" charset="0"/>
                      </a:endParaRPr>
                    </a:p>
                  </a:txBody>
                  <a:tcPr marL="50800" marR="50800" marT="50800" marB="50800" anchor="ctr">
                    <a:lnL w="12700" cap="flat" cmpd="sng" algn="ctr">
                      <a:solidFill>
                        <a:srgbClr val="DEDEDE"/>
                      </a:solidFill>
                      <a:prstDash val="solid"/>
                      <a:round/>
                      <a:headEnd type="none" w="med" len="med"/>
                      <a:tailEnd type="none" w="med" len="med"/>
                    </a:lnL>
                    <a:lnR w="12700" cap="flat" cmpd="sng" algn="ctr">
                      <a:solidFill>
                        <a:srgbClr val="DEDEDE"/>
                      </a:solidFill>
                      <a:prstDash val="solid"/>
                      <a:round/>
                      <a:headEnd type="none" w="med" len="med"/>
                      <a:tailEnd type="none" w="med" len="med"/>
                    </a:lnR>
                    <a:lnT w="12700" cap="flat" cmpd="sng" algn="ctr">
                      <a:solidFill>
                        <a:srgbClr val="DEDEDE"/>
                      </a:solidFill>
                      <a:prstDash val="solid"/>
                      <a:round/>
                      <a:headEnd type="none" w="med" len="med"/>
                      <a:tailEnd type="none" w="med" len="med"/>
                    </a:lnT>
                    <a:lnB w="12700" cap="flat" cmpd="sng" algn="ctr">
                      <a:solidFill>
                        <a:srgbClr val="DEDEDE"/>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429768">
                <a:tc>
                  <a:txBody>
                    <a:bodyPr/>
                    <a:lstStyle/>
                    <a:p>
                      <a:pPr marL="0" indent="0">
                        <a:buNone/>
                      </a:pPr>
                      <a:r>
                        <a:rPr lang="en-US" sz="1000" dirty="0">
                          <a:solidFill>
                            <a:srgbClr val="2C2C2C"/>
                          </a:solidFill>
                          <a:latin typeface="Calibri" pitchFamily="34" charset="0"/>
                          <a:ea typeface="Calibri" pitchFamily="34" charset="-122"/>
                          <a:cs typeface="Calibri" pitchFamily="34" charset="-120"/>
                        </a:rPr>
                        <a:t>20 chars</a:t>
                      </a:r>
                      <a:endParaRPr lang="en-US" sz="1000" dirty="0">
                        <a:latin typeface="Calibri" charset="0"/>
                        <a:ea typeface="Calibri" charset="0"/>
                        <a:cs typeface="Calibri" charset="0"/>
                      </a:endParaRPr>
                    </a:p>
                  </a:txBody>
                  <a:tcPr marL="50800" marR="50800" marT="50800" marB="50800" anchor="ctr">
                    <a:lnL w="12700" cap="flat" cmpd="sng" algn="ctr">
                      <a:solidFill>
                        <a:srgbClr val="DEDEDE"/>
                      </a:solidFill>
                      <a:prstDash val="solid"/>
                      <a:round/>
                      <a:headEnd type="none" w="med" len="med"/>
                      <a:tailEnd type="none" w="med" len="med"/>
                    </a:lnL>
                    <a:lnR w="12700" cap="flat" cmpd="sng" algn="ctr">
                      <a:solidFill>
                        <a:srgbClr val="DEDEDE"/>
                      </a:solidFill>
                      <a:prstDash val="solid"/>
                      <a:round/>
                      <a:headEnd type="none" w="med" len="med"/>
                      <a:tailEnd type="none" w="med" len="med"/>
                    </a:lnR>
                    <a:lnT w="12700" cap="flat" cmpd="sng" algn="ctr">
                      <a:solidFill>
                        <a:srgbClr val="DEDEDE"/>
                      </a:solidFill>
                      <a:prstDash val="solid"/>
                      <a:round/>
                      <a:headEnd type="none" w="med" len="med"/>
                      <a:tailEnd type="none" w="med" len="med"/>
                    </a:lnT>
                    <a:lnB w="12700" cap="flat" cmpd="sng" algn="ctr">
                      <a:solidFill>
                        <a:srgbClr val="DEDEDE"/>
                      </a:solidFill>
                      <a:prstDash val="solid"/>
                      <a:round/>
                      <a:headEnd type="none" w="med" len="med"/>
                      <a:tailEnd type="none" w="med" len="med"/>
                    </a:lnB>
                    <a:solidFill>
                      <a:srgbClr val="F0F0F0"/>
                    </a:solidFill>
                  </a:tcPr>
                </a:tc>
                <a:tc>
                  <a:txBody>
                    <a:bodyPr/>
                    <a:lstStyle/>
                    <a:p>
                      <a:pPr marL="0" indent="0">
                        <a:buNone/>
                      </a:pPr>
                      <a:r>
                        <a:rPr lang="en-US" sz="950" dirty="0">
                          <a:solidFill>
                            <a:srgbClr val="2C2C2C"/>
                          </a:solidFill>
                          <a:latin typeface="Calibri" pitchFamily="34" charset="0"/>
                          <a:ea typeface="Calibri" pitchFamily="34" charset="-122"/>
                          <a:cs typeface="Calibri" pitchFamily="34" charset="-120"/>
                        </a:rPr>
                        <a:t>'Aa1!Aa1!BcDeFgHiJk'</a:t>
                      </a:r>
                      <a:endParaRPr lang="en-US" sz="950" dirty="0">
                        <a:latin typeface="Calibri" charset="0"/>
                        <a:ea typeface="Calibri" charset="0"/>
                        <a:cs typeface="Calibri" charset="0"/>
                      </a:endParaRPr>
                    </a:p>
                  </a:txBody>
                  <a:tcPr marL="50800" marR="50800" marT="50800" marB="50800" anchor="ctr">
                    <a:lnL w="12700" cap="flat" cmpd="sng" algn="ctr">
                      <a:solidFill>
                        <a:srgbClr val="DEDEDE"/>
                      </a:solidFill>
                      <a:prstDash val="solid"/>
                      <a:round/>
                      <a:headEnd type="none" w="med" len="med"/>
                      <a:tailEnd type="none" w="med" len="med"/>
                    </a:lnL>
                    <a:lnR w="12700" cap="flat" cmpd="sng" algn="ctr">
                      <a:solidFill>
                        <a:srgbClr val="DEDEDE"/>
                      </a:solidFill>
                      <a:prstDash val="solid"/>
                      <a:round/>
                      <a:headEnd type="none" w="med" len="med"/>
                      <a:tailEnd type="none" w="med" len="med"/>
                    </a:lnR>
                    <a:lnT w="12700" cap="flat" cmpd="sng" algn="ctr">
                      <a:solidFill>
                        <a:srgbClr val="DEDEDE"/>
                      </a:solidFill>
                      <a:prstDash val="solid"/>
                      <a:round/>
                      <a:headEnd type="none" w="med" len="med"/>
                      <a:tailEnd type="none" w="med" len="med"/>
                    </a:lnT>
                    <a:lnB w="12700" cap="flat" cmpd="sng" algn="ctr">
                      <a:solidFill>
                        <a:srgbClr val="DEDEDE"/>
                      </a:solidFill>
                      <a:prstDash val="solid"/>
                      <a:round/>
                      <a:headEnd type="none" w="med" len="med"/>
                      <a:tailEnd type="none" w="med" len="med"/>
                    </a:lnB>
                    <a:solidFill>
                      <a:srgbClr val="F0F0F0"/>
                    </a:solidFill>
                  </a:tcPr>
                </a:tc>
                <a:tc>
                  <a:txBody>
                    <a:bodyPr/>
                    <a:lstStyle/>
                    <a:p>
                      <a:pPr marL="0" indent="0">
                        <a:buNone/>
                      </a:pPr>
                      <a:r>
                        <a:rPr lang="en-US" sz="1000" i="1" dirty="0">
                          <a:solidFill>
                            <a:srgbClr val="5A5A5A"/>
                          </a:solidFill>
                          <a:latin typeface="Calibri" pitchFamily="34" charset="0"/>
                          <a:ea typeface="Calibri" pitchFamily="34" charset="-122"/>
                          <a:cs typeface="Calibri" pitchFamily="34" charset="-120"/>
                        </a:rPr>
                        <a:t>AT maximum boundary</a:t>
                      </a:r>
                      <a:endParaRPr lang="en-US" sz="1000" dirty="0">
                        <a:latin typeface="Calibri" charset="0"/>
                        <a:ea typeface="Calibri" charset="0"/>
                        <a:cs typeface="Calibri" charset="0"/>
                      </a:endParaRPr>
                    </a:p>
                  </a:txBody>
                  <a:tcPr marL="50800" marR="50800" marT="50800" marB="50800" anchor="ctr">
                    <a:lnL w="12700" cap="flat" cmpd="sng" algn="ctr">
                      <a:solidFill>
                        <a:srgbClr val="DEDEDE"/>
                      </a:solidFill>
                      <a:prstDash val="solid"/>
                      <a:round/>
                      <a:headEnd type="none" w="med" len="med"/>
                      <a:tailEnd type="none" w="med" len="med"/>
                    </a:lnL>
                    <a:lnR w="12700" cap="flat" cmpd="sng" algn="ctr">
                      <a:solidFill>
                        <a:srgbClr val="DEDEDE"/>
                      </a:solidFill>
                      <a:prstDash val="solid"/>
                      <a:round/>
                      <a:headEnd type="none" w="med" len="med"/>
                      <a:tailEnd type="none" w="med" len="med"/>
                    </a:lnR>
                    <a:lnT w="12700" cap="flat" cmpd="sng" algn="ctr">
                      <a:solidFill>
                        <a:srgbClr val="DEDEDE"/>
                      </a:solidFill>
                      <a:prstDash val="solid"/>
                      <a:round/>
                      <a:headEnd type="none" w="med" len="med"/>
                      <a:tailEnd type="none" w="med" len="med"/>
                    </a:lnT>
                    <a:lnB w="12700" cap="flat" cmpd="sng" algn="ctr">
                      <a:solidFill>
                        <a:srgbClr val="DEDEDE"/>
                      </a:solidFill>
                      <a:prstDash val="solid"/>
                      <a:round/>
                      <a:headEnd type="none" w="med" len="med"/>
                      <a:tailEnd type="none" w="med" len="med"/>
                    </a:lnB>
                    <a:solidFill>
                      <a:srgbClr val="F0F0F0"/>
                    </a:solidFill>
                  </a:tcPr>
                </a:tc>
                <a:tc>
                  <a:txBody>
                    <a:bodyPr/>
                    <a:lstStyle/>
                    <a:p>
                      <a:pPr marL="0" indent="0" algn="ctr">
                        <a:buNone/>
                      </a:pPr>
                      <a:r>
                        <a:rPr lang="en-US" sz="1000" b="1" dirty="0">
                          <a:solidFill>
                            <a:srgbClr val="27AE60"/>
                          </a:solidFill>
                          <a:latin typeface="Arial" pitchFamily="34" charset="0"/>
                          <a:ea typeface="Arial" pitchFamily="34" charset="-122"/>
                          <a:cs typeface="Arial" pitchFamily="34" charset="-120"/>
                        </a:rPr>
                        <a:t>ACCEPT ✓</a:t>
                      </a:r>
                      <a:endParaRPr lang="en-US" sz="1000" dirty="0">
                        <a:latin typeface="Arial" charset="0"/>
                        <a:ea typeface="Arial" charset="0"/>
                        <a:cs typeface="Arial" charset="0"/>
                      </a:endParaRPr>
                    </a:p>
                  </a:txBody>
                  <a:tcPr marL="50800" marR="50800" marT="50800" marB="50800" anchor="ctr">
                    <a:lnL w="12700" cap="flat" cmpd="sng" algn="ctr">
                      <a:solidFill>
                        <a:srgbClr val="DEDEDE"/>
                      </a:solidFill>
                      <a:prstDash val="solid"/>
                      <a:round/>
                      <a:headEnd type="none" w="med" len="med"/>
                      <a:tailEnd type="none" w="med" len="med"/>
                    </a:lnL>
                    <a:lnR w="12700" cap="flat" cmpd="sng" algn="ctr">
                      <a:solidFill>
                        <a:srgbClr val="DEDEDE"/>
                      </a:solidFill>
                      <a:prstDash val="solid"/>
                      <a:round/>
                      <a:headEnd type="none" w="med" len="med"/>
                      <a:tailEnd type="none" w="med" len="med"/>
                    </a:lnR>
                    <a:lnT w="12700" cap="flat" cmpd="sng" algn="ctr">
                      <a:solidFill>
                        <a:srgbClr val="DEDEDE"/>
                      </a:solidFill>
                      <a:prstDash val="solid"/>
                      <a:round/>
                      <a:headEnd type="none" w="med" len="med"/>
                      <a:tailEnd type="none" w="med" len="med"/>
                    </a:lnT>
                    <a:lnB w="12700" cap="flat" cmpd="sng" algn="ctr">
                      <a:solidFill>
                        <a:srgbClr val="DEDEDE"/>
                      </a:solidFill>
                      <a:prstDash val="solid"/>
                      <a:round/>
                      <a:headEnd type="none" w="med" len="med"/>
                      <a:tailEnd type="none" w="med" len="med"/>
                    </a:lnB>
                    <a:solidFill>
                      <a:srgbClr val="F0F0F0"/>
                    </a:solidFill>
                  </a:tcPr>
                </a:tc>
                <a:tc>
                  <a:txBody>
                    <a:bodyPr/>
                    <a:lstStyle/>
                    <a:p>
                      <a:pPr marL="0" indent="0">
                        <a:buNone/>
                      </a:pPr>
                      <a:r>
                        <a:rPr lang="en-US" sz="1000" dirty="0">
                          <a:solidFill>
                            <a:srgbClr val="2C2C2C"/>
                          </a:solidFill>
                          <a:latin typeface="Calibri" pitchFamily="34" charset="0"/>
                          <a:ea typeface="Calibri" pitchFamily="34" charset="-122"/>
                          <a:cs typeface="Calibri" pitchFamily="34" charset="-120"/>
                        </a:rPr>
                        <a:t>Exactly the maximum — must be accepted</a:t>
                      </a:r>
                      <a:endParaRPr lang="en-US" sz="1000" dirty="0">
                        <a:latin typeface="Calibri" charset="0"/>
                        <a:ea typeface="Calibri" charset="0"/>
                        <a:cs typeface="Calibri" charset="0"/>
                      </a:endParaRPr>
                    </a:p>
                  </a:txBody>
                  <a:tcPr marL="50800" marR="50800" marT="50800" marB="50800" anchor="ctr">
                    <a:lnL w="12700" cap="flat" cmpd="sng" algn="ctr">
                      <a:solidFill>
                        <a:srgbClr val="DEDEDE"/>
                      </a:solidFill>
                      <a:prstDash val="solid"/>
                      <a:round/>
                      <a:headEnd type="none" w="med" len="med"/>
                      <a:tailEnd type="none" w="med" len="med"/>
                    </a:lnL>
                    <a:lnR w="12700" cap="flat" cmpd="sng" algn="ctr">
                      <a:solidFill>
                        <a:srgbClr val="DEDEDE"/>
                      </a:solidFill>
                      <a:prstDash val="solid"/>
                      <a:round/>
                      <a:headEnd type="none" w="med" len="med"/>
                      <a:tailEnd type="none" w="med" len="med"/>
                    </a:lnR>
                    <a:lnT w="12700" cap="flat" cmpd="sng" algn="ctr">
                      <a:solidFill>
                        <a:srgbClr val="DEDEDE"/>
                      </a:solidFill>
                      <a:prstDash val="solid"/>
                      <a:round/>
                      <a:headEnd type="none" w="med" len="med"/>
                      <a:tailEnd type="none" w="med" len="med"/>
                    </a:lnT>
                    <a:lnB w="12700" cap="flat" cmpd="sng" algn="ctr">
                      <a:solidFill>
                        <a:srgbClr val="DEDEDE"/>
                      </a:solidFill>
                      <a:prstDash val="solid"/>
                      <a:round/>
                      <a:headEnd type="none" w="med" len="med"/>
                      <a:tailEnd type="none" w="med" len="med"/>
                    </a:lnB>
                    <a:solidFill>
                      <a:srgbClr val="F0F0F0"/>
                    </a:solidFill>
                  </a:tcPr>
                </a:tc>
                <a:extLst>
                  <a:ext uri="{0D108BD9-81ED-4DB2-BD59-A6C34878D82A}">
                    <a16:rowId xmlns:a16="http://schemas.microsoft.com/office/drawing/2014/main" val="10005"/>
                  </a:ext>
                </a:extLst>
              </a:tr>
              <a:tr h="429768">
                <a:tc>
                  <a:txBody>
                    <a:bodyPr/>
                    <a:lstStyle/>
                    <a:p>
                      <a:pPr marL="0" indent="0">
                        <a:buNone/>
                      </a:pPr>
                      <a:r>
                        <a:rPr lang="en-US" sz="1000" dirty="0">
                          <a:solidFill>
                            <a:srgbClr val="2C2C2C"/>
                          </a:solidFill>
                          <a:latin typeface="Calibri" pitchFamily="34" charset="0"/>
                          <a:ea typeface="Calibri" pitchFamily="34" charset="-122"/>
                          <a:cs typeface="Calibri" pitchFamily="34" charset="-120"/>
                        </a:rPr>
                        <a:t>21 chars</a:t>
                      </a:r>
                      <a:endParaRPr lang="en-US" sz="1000" dirty="0">
                        <a:latin typeface="Calibri" charset="0"/>
                        <a:ea typeface="Calibri" charset="0"/>
                        <a:cs typeface="Calibri" charset="0"/>
                      </a:endParaRPr>
                    </a:p>
                  </a:txBody>
                  <a:tcPr marL="50800" marR="50800" marT="50800" marB="50800" anchor="ctr">
                    <a:lnL w="12700" cap="flat" cmpd="sng" algn="ctr">
                      <a:solidFill>
                        <a:srgbClr val="DEDEDE"/>
                      </a:solidFill>
                      <a:prstDash val="solid"/>
                      <a:round/>
                      <a:headEnd type="none" w="med" len="med"/>
                      <a:tailEnd type="none" w="med" len="med"/>
                    </a:lnL>
                    <a:lnR w="12700" cap="flat" cmpd="sng" algn="ctr">
                      <a:solidFill>
                        <a:srgbClr val="DEDEDE"/>
                      </a:solidFill>
                      <a:prstDash val="solid"/>
                      <a:round/>
                      <a:headEnd type="none" w="med" len="med"/>
                      <a:tailEnd type="none" w="med" len="med"/>
                    </a:lnR>
                    <a:lnT w="12700" cap="flat" cmpd="sng" algn="ctr">
                      <a:solidFill>
                        <a:srgbClr val="DEDEDE"/>
                      </a:solidFill>
                      <a:prstDash val="solid"/>
                      <a:round/>
                      <a:headEnd type="none" w="med" len="med"/>
                      <a:tailEnd type="none" w="med" len="med"/>
                    </a:lnT>
                    <a:lnB w="12700" cap="flat" cmpd="sng" algn="ctr">
                      <a:solidFill>
                        <a:srgbClr val="DEDEDE"/>
                      </a:solidFill>
                      <a:prstDash val="solid"/>
                      <a:round/>
                      <a:headEnd type="none" w="med" len="med"/>
                      <a:tailEnd type="none" w="med" len="med"/>
                    </a:lnB>
                    <a:solidFill>
                      <a:srgbClr val="FFFFFF"/>
                    </a:solidFill>
                  </a:tcPr>
                </a:tc>
                <a:tc>
                  <a:txBody>
                    <a:bodyPr/>
                    <a:lstStyle/>
                    <a:p>
                      <a:pPr marL="0" indent="0">
                        <a:buNone/>
                      </a:pPr>
                      <a:r>
                        <a:rPr lang="en-US" sz="950" dirty="0">
                          <a:solidFill>
                            <a:srgbClr val="2C2C2C"/>
                          </a:solidFill>
                          <a:latin typeface="Calibri" pitchFamily="34" charset="0"/>
                          <a:ea typeface="Calibri" pitchFamily="34" charset="-122"/>
                          <a:cs typeface="Calibri" pitchFamily="34" charset="-120"/>
                        </a:rPr>
                        <a:t>'Aa1!Aa1!BcDeFgHiJkL'</a:t>
                      </a:r>
                      <a:endParaRPr lang="en-US" sz="950" dirty="0">
                        <a:latin typeface="Calibri" charset="0"/>
                        <a:ea typeface="Calibri" charset="0"/>
                        <a:cs typeface="Calibri" charset="0"/>
                      </a:endParaRPr>
                    </a:p>
                  </a:txBody>
                  <a:tcPr marL="50800" marR="50800" marT="50800" marB="50800" anchor="ctr">
                    <a:lnL w="12700" cap="flat" cmpd="sng" algn="ctr">
                      <a:solidFill>
                        <a:srgbClr val="DEDEDE"/>
                      </a:solidFill>
                      <a:prstDash val="solid"/>
                      <a:round/>
                      <a:headEnd type="none" w="med" len="med"/>
                      <a:tailEnd type="none" w="med" len="med"/>
                    </a:lnL>
                    <a:lnR w="12700" cap="flat" cmpd="sng" algn="ctr">
                      <a:solidFill>
                        <a:srgbClr val="DEDEDE"/>
                      </a:solidFill>
                      <a:prstDash val="solid"/>
                      <a:round/>
                      <a:headEnd type="none" w="med" len="med"/>
                      <a:tailEnd type="none" w="med" len="med"/>
                    </a:lnR>
                    <a:lnT w="12700" cap="flat" cmpd="sng" algn="ctr">
                      <a:solidFill>
                        <a:srgbClr val="DEDEDE"/>
                      </a:solidFill>
                      <a:prstDash val="solid"/>
                      <a:round/>
                      <a:headEnd type="none" w="med" len="med"/>
                      <a:tailEnd type="none" w="med" len="med"/>
                    </a:lnT>
                    <a:lnB w="12700" cap="flat" cmpd="sng" algn="ctr">
                      <a:solidFill>
                        <a:srgbClr val="DEDEDE"/>
                      </a:solidFill>
                      <a:prstDash val="solid"/>
                      <a:round/>
                      <a:headEnd type="none" w="med" len="med"/>
                      <a:tailEnd type="none" w="med" len="med"/>
                    </a:lnB>
                    <a:solidFill>
                      <a:srgbClr val="FFFFFF"/>
                    </a:solidFill>
                  </a:tcPr>
                </a:tc>
                <a:tc>
                  <a:txBody>
                    <a:bodyPr/>
                    <a:lstStyle/>
                    <a:p>
                      <a:pPr marL="0" indent="0">
                        <a:buNone/>
                      </a:pPr>
                      <a:r>
                        <a:rPr lang="en-US" sz="1000" i="1" dirty="0">
                          <a:solidFill>
                            <a:srgbClr val="5A5A5A"/>
                          </a:solidFill>
                          <a:latin typeface="Calibri" pitchFamily="34" charset="0"/>
                          <a:ea typeface="Calibri" pitchFamily="34" charset="-122"/>
                          <a:cs typeface="Calibri" pitchFamily="34" charset="-120"/>
                        </a:rPr>
                        <a:t>Just ABOVE maximum</a:t>
                      </a:r>
                      <a:endParaRPr lang="en-US" sz="1000" dirty="0">
                        <a:latin typeface="Calibri" charset="0"/>
                        <a:ea typeface="Calibri" charset="0"/>
                        <a:cs typeface="Calibri" charset="0"/>
                      </a:endParaRPr>
                    </a:p>
                  </a:txBody>
                  <a:tcPr marL="50800" marR="50800" marT="50800" marB="50800" anchor="ctr">
                    <a:lnL w="12700" cap="flat" cmpd="sng" algn="ctr">
                      <a:solidFill>
                        <a:srgbClr val="DEDEDE"/>
                      </a:solidFill>
                      <a:prstDash val="solid"/>
                      <a:round/>
                      <a:headEnd type="none" w="med" len="med"/>
                      <a:tailEnd type="none" w="med" len="med"/>
                    </a:lnL>
                    <a:lnR w="12700" cap="flat" cmpd="sng" algn="ctr">
                      <a:solidFill>
                        <a:srgbClr val="DEDEDE"/>
                      </a:solidFill>
                      <a:prstDash val="solid"/>
                      <a:round/>
                      <a:headEnd type="none" w="med" len="med"/>
                      <a:tailEnd type="none" w="med" len="med"/>
                    </a:lnR>
                    <a:lnT w="12700" cap="flat" cmpd="sng" algn="ctr">
                      <a:solidFill>
                        <a:srgbClr val="DEDEDE"/>
                      </a:solidFill>
                      <a:prstDash val="solid"/>
                      <a:round/>
                      <a:headEnd type="none" w="med" len="med"/>
                      <a:tailEnd type="none" w="med" len="med"/>
                    </a:lnT>
                    <a:lnB w="12700" cap="flat" cmpd="sng" algn="ctr">
                      <a:solidFill>
                        <a:srgbClr val="DEDEDE"/>
                      </a:solidFill>
                      <a:prstDash val="solid"/>
                      <a:round/>
                      <a:headEnd type="none" w="med" len="med"/>
                      <a:tailEnd type="none" w="med" len="med"/>
                    </a:lnB>
                    <a:solidFill>
                      <a:srgbClr val="FFFFFF"/>
                    </a:solidFill>
                  </a:tcPr>
                </a:tc>
                <a:tc>
                  <a:txBody>
                    <a:bodyPr/>
                    <a:lstStyle/>
                    <a:p>
                      <a:pPr marL="0" indent="0" algn="ctr">
                        <a:buNone/>
                      </a:pPr>
                      <a:r>
                        <a:rPr lang="en-US" sz="1000" b="1" dirty="0">
                          <a:solidFill>
                            <a:srgbClr val="C0392B"/>
                          </a:solidFill>
                          <a:latin typeface="Arial" pitchFamily="34" charset="0"/>
                          <a:ea typeface="Arial" pitchFamily="34" charset="-122"/>
                          <a:cs typeface="Arial" pitchFamily="34" charset="-120"/>
                        </a:rPr>
                        <a:t>REJECT ✗</a:t>
                      </a:r>
                      <a:endParaRPr lang="en-US" sz="1000" dirty="0">
                        <a:latin typeface="Arial" charset="0"/>
                        <a:ea typeface="Arial" charset="0"/>
                        <a:cs typeface="Arial" charset="0"/>
                      </a:endParaRPr>
                    </a:p>
                  </a:txBody>
                  <a:tcPr marL="50800" marR="50800" marT="50800" marB="50800" anchor="ctr">
                    <a:lnL w="12700" cap="flat" cmpd="sng" algn="ctr">
                      <a:solidFill>
                        <a:srgbClr val="DEDEDE"/>
                      </a:solidFill>
                      <a:prstDash val="solid"/>
                      <a:round/>
                      <a:headEnd type="none" w="med" len="med"/>
                      <a:tailEnd type="none" w="med" len="med"/>
                    </a:lnL>
                    <a:lnR w="12700" cap="flat" cmpd="sng" algn="ctr">
                      <a:solidFill>
                        <a:srgbClr val="DEDEDE"/>
                      </a:solidFill>
                      <a:prstDash val="solid"/>
                      <a:round/>
                      <a:headEnd type="none" w="med" len="med"/>
                      <a:tailEnd type="none" w="med" len="med"/>
                    </a:lnR>
                    <a:lnT w="12700" cap="flat" cmpd="sng" algn="ctr">
                      <a:solidFill>
                        <a:srgbClr val="DEDEDE"/>
                      </a:solidFill>
                      <a:prstDash val="solid"/>
                      <a:round/>
                      <a:headEnd type="none" w="med" len="med"/>
                      <a:tailEnd type="none" w="med" len="med"/>
                    </a:lnT>
                    <a:lnB w="12700" cap="flat" cmpd="sng" algn="ctr">
                      <a:solidFill>
                        <a:srgbClr val="DEDEDE"/>
                      </a:solidFill>
                      <a:prstDash val="solid"/>
                      <a:round/>
                      <a:headEnd type="none" w="med" len="med"/>
                      <a:tailEnd type="none" w="med" len="med"/>
                    </a:lnB>
                    <a:solidFill>
                      <a:srgbClr val="FFFFFF"/>
                    </a:solidFill>
                  </a:tcPr>
                </a:tc>
                <a:tc>
                  <a:txBody>
                    <a:bodyPr/>
                    <a:lstStyle/>
                    <a:p>
                      <a:pPr marL="0" indent="0">
                        <a:buNone/>
                      </a:pPr>
                      <a:r>
                        <a:rPr lang="en-US" sz="1000" dirty="0">
                          <a:solidFill>
                            <a:srgbClr val="2C2C2C"/>
                          </a:solidFill>
                          <a:latin typeface="Calibri" pitchFamily="34" charset="0"/>
                          <a:ea typeface="Calibri" pitchFamily="34" charset="-122"/>
                          <a:cs typeface="Calibri" pitchFamily="34" charset="-120"/>
                        </a:rPr>
                        <a:t>One character over maximum — must be rejected</a:t>
                      </a:r>
                      <a:endParaRPr lang="en-US" sz="1000" dirty="0">
                        <a:latin typeface="Calibri" charset="0"/>
                        <a:ea typeface="Calibri" charset="0"/>
                        <a:cs typeface="Calibri" charset="0"/>
                      </a:endParaRPr>
                    </a:p>
                  </a:txBody>
                  <a:tcPr marL="50800" marR="50800" marT="50800" marB="50800" anchor="ctr">
                    <a:lnL w="12700" cap="flat" cmpd="sng" algn="ctr">
                      <a:solidFill>
                        <a:srgbClr val="DEDEDE"/>
                      </a:solidFill>
                      <a:prstDash val="solid"/>
                      <a:round/>
                      <a:headEnd type="none" w="med" len="med"/>
                      <a:tailEnd type="none" w="med" len="med"/>
                    </a:lnL>
                    <a:lnR w="12700" cap="flat" cmpd="sng" algn="ctr">
                      <a:solidFill>
                        <a:srgbClr val="DEDEDE"/>
                      </a:solidFill>
                      <a:prstDash val="solid"/>
                      <a:round/>
                      <a:headEnd type="none" w="med" len="med"/>
                      <a:tailEnd type="none" w="med" len="med"/>
                    </a:lnR>
                    <a:lnT w="12700" cap="flat" cmpd="sng" algn="ctr">
                      <a:solidFill>
                        <a:srgbClr val="DEDEDE"/>
                      </a:solidFill>
                      <a:prstDash val="solid"/>
                      <a:round/>
                      <a:headEnd type="none" w="med" len="med"/>
                      <a:tailEnd type="none" w="med" len="med"/>
                    </a:lnT>
                    <a:lnB w="12700" cap="flat" cmpd="sng" algn="ctr">
                      <a:solidFill>
                        <a:srgbClr val="DEDEDE"/>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bl>
          </a:graphicData>
        </a:graphic>
      </p:graphicFrame>
      <p:sp>
        <p:nvSpPr>
          <p:cNvPr id="11" name="Text 8"/>
          <p:cNvSpPr/>
          <p:nvPr/>
        </p:nvSpPr>
        <p:spPr>
          <a:xfrm>
            <a:off x="228600" y="4773168"/>
            <a:ext cx="8732520" cy="182880"/>
          </a:xfrm>
          <a:prstGeom prst="rect">
            <a:avLst/>
          </a:prstGeom>
          <a:noFill/>
          <a:ln/>
        </p:spPr>
        <p:txBody>
          <a:bodyPr wrap="square" lIns="0" tIns="0" rIns="0" bIns="0" rtlCol="0" anchor="ctr"/>
          <a:lstStyle/>
          <a:p>
            <a:pPr marL="0" indent="0">
              <a:buNone/>
            </a:pPr>
            <a:r>
              <a:rPr lang="en-US" sz="900" i="1" dirty="0">
                <a:solidFill>
                  <a:srgbClr val="5A5A5A"/>
                </a:solidFill>
                <a:latin typeface="Calibri" pitchFamily="34" charset="0"/>
                <a:ea typeface="Calibri" pitchFamily="34" charset="-122"/>
                <a:cs typeface="Calibri" pitchFamily="34" charset="-120"/>
              </a:rPr>
              <a:t>RULE: BVA always produces 6 test cases per boundary pair (2 boundaries × 3 values each: min−1, min, min+1, max−1, max, max+1).</a:t>
            </a:r>
            <a:endParaRPr lang="en-US" sz="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9">
    <p:bg>
      <p:bgPr>
        <a:solidFill>
          <a:srgbClr val="F5F5F5"/>
        </a:solidFill>
        <a:effectLst/>
      </p:bgPr>
    </p:bg>
    <p:spTree>
      <p:nvGrpSpPr>
        <p:cNvPr id="1" name=""/>
        <p:cNvGrpSpPr/>
        <p:nvPr/>
      </p:nvGrpSpPr>
      <p:grpSpPr>
        <a:xfrm>
          <a:off x="0" y="0"/>
          <a:ext cx="0" cy="0"/>
          <a:chOff x="0" y="0"/>
          <a:chExt cx="0" cy="0"/>
        </a:xfrm>
      </p:grpSpPr>
      <p:sp>
        <p:nvSpPr>
          <p:cNvPr id="2" name="Shape 0"/>
          <p:cNvSpPr/>
          <p:nvPr/>
        </p:nvSpPr>
        <p:spPr>
          <a:xfrm>
            <a:off x="0" y="0"/>
            <a:ext cx="9144000" cy="621792"/>
          </a:xfrm>
          <a:prstGeom prst="rect">
            <a:avLst/>
          </a:prstGeom>
          <a:solidFill>
            <a:srgbClr val="0D0D0D"/>
          </a:solidFill>
          <a:ln w="12700">
            <a:solidFill>
              <a:srgbClr val="0D0D0D"/>
            </a:solidFill>
            <a:prstDash val="solid"/>
          </a:ln>
        </p:spPr>
      </p:sp>
      <p:sp>
        <p:nvSpPr>
          <p:cNvPr id="3" name="Shape 1"/>
          <p:cNvSpPr/>
          <p:nvPr/>
        </p:nvSpPr>
        <p:spPr>
          <a:xfrm>
            <a:off x="0" y="0"/>
            <a:ext cx="64008" cy="621792"/>
          </a:xfrm>
          <a:prstGeom prst="rect">
            <a:avLst/>
          </a:prstGeom>
          <a:solidFill>
            <a:srgbClr val="FF6500"/>
          </a:solidFill>
          <a:ln w="12700">
            <a:solidFill>
              <a:srgbClr val="FF6500"/>
            </a:solidFill>
            <a:prstDash val="solid"/>
          </a:ln>
        </p:spPr>
      </p:sp>
      <p:sp>
        <p:nvSpPr>
          <p:cNvPr id="4" name="Text 2"/>
          <p:cNvSpPr/>
          <p:nvPr/>
        </p:nvSpPr>
        <p:spPr>
          <a:xfrm>
            <a:off x="201168" y="64008"/>
            <a:ext cx="8503920" cy="493776"/>
          </a:xfrm>
          <a:prstGeom prst="rect">
            <a:avLst/>
          </a:prstGeom>
          <a:noFill/>
          <a:ln/>
        </p:spPr>
        <p:txBody>
          <a:bodyPr wrap="square" lIns="0" tIns="0" rIns="0" bIns="0" rtlCol="0" anchor="ctr"/>
          <a:lstStyle/>
          <a:p>
            <a:pPr marL="0" indent="0">
              <a:buNone/>
            </a:pPr>
            <a:r>
              <a:rPr lang="en-US" sz="1900" b="1" dirty="0">
                <a:solidFill>
                  <a:srgbClr val="FFFFFF"/>
                </a:solidFill>
                <a:latin typeface="Arial" pitchFamily="34" charset="0"/>
                <a:ea typeface="Arial" pitchFamily="34" charset="-122"/>
                <a:cs typeface="Arial" pitchFamily="34" charset="-120"/>
              </a:rPr>
              <a:t>Design Technique 3 — Decision Table Testing</a:t>
            </a:r>
            <a:endParaRPr lang="en-US" sz="1900" dirty="0"/>
          </a:p>
        </p:txBody>
      </p:sp>
      <p:sp>
        <p:nvSpPr>
          <p:cNvPr id="5" name="Shape 3"/>
          <p:cNvSpPr/>
          <p:nvPr/>
        </p:nvSpPr>
        <p:spPr>
          <a:xfrm>
            <a:off x="0" y="4828032"/>
            <a:ext cx="9144000" cy="315468"/>
          </a:xfrm>
          <a:prstGeom prst="rect">
            <a:avLst/>
          </a:prstGeom>
          <a:solidFill>
            <a:srgbClr val="0D0D0D"/>
          </a:solidFill>
          <a:ln w="12700">
            <a:solidFill>
              <a:srgbClr val="0D0D0D"/>
            </a:solidFill>
            <a:prstDash val="solid"/>
          </a:ln>
        </p:spPr>
      </p:sp>
      <p:sp>
        <p:nvSpPr>
          <p:cNvPr id="6" name="Text 4"/>
          <p:cNvSpPr/>
          <p:nvPr/>
        </p:nvSpPr>
        <p:spPr>
          <a:xfrm>
            <a:off x="182880" y="4855464"/>
            <a:ext cx="7315200" cy="228600"/>
          </a:xfrm>
          <a:prstGeom prst="rect">
            <a:avLst/>
          </a:prstGeom>
          <a:noFill/>
          <a:ln/>
        </p:spPr>
        <p:txBody>
          <a:bodyPr wrap="square" lIns="0" tIns="0" rIns="0" bIns="0" rtlCol="0" anchor="ctr"/>
          <a:lstStyle/>
          <a:p>
            <a:pPr marL="0" indent="0">
              <a:buNone/>
            </a:pPr>
            <a:r>
              <a:rPr lang="en-US" sz="850" dirty="0">
                <a:solidFill>
                  <a:srgbClr val="999999"/>
                </a:solidFill>
                <a:latin typeface="Calibri" pitchFamily="34" charset="0"/>
                <a:ea typeface="Calibri" pitchFamily="34" charset="-122"/>
                <a:cs typeface="Calibri" pitchFamily="34" charset="-120"/>
              </a:rPr>
              <a:t>Quality Engineering | Test Case Development in STLC</a:t>
            </a:r>
            <a:endParaRPr lang="en-US" sz="850" dirty="0"/>
          </a:p>
        </p:txBody>
      </p:sp>
      <p:sp>
        <p:nvSpPr>
          <p:cNvPr id="7" name="Text 5"/>
          <p:cNvSpPr/>
          <p:nvPr/>
        </p:nvSpPr>
        <p:spPr>
          <a:xfrm>
            <a:off x="7406640" y="4855464"/>
            <a:ext cx="1554480" cy="228600"/>
          </a:xfrm>
          <a:prstGeom prst="rect">
            <a:avLst/>
          </a:prstGeom>
          <a:noFill/>
          <a:ln/>
        </p:spPr>
        <p:txBody>
          <a:bodyPr wrap="square" lIns="0" tIns="0" rIns="0" bIns="0" rtlCol="0" anchor="ctr"/>
          <a:lstStyle/>
          <a:p>
            <a:pPr marL="0" indent="0" algn="r">
              <a:buNone/>
            </a:pPr>
            <a:r>
              <a:rPr lang="en-US" sz="850" b="1" dirty="0">
                <a:solidFill>
                  <a:srgbClr val="FF6500"/>
                </a:solidFill>
                <a:latin typeface="Calibri" pitchFamily="34" charset="0"/>
                <a:ea typeface="Calibri" pitchFamily="34" charset="-122"/>
                <a:cs typeface="Calibri" pitchFamily="34" charset="-120"/>
              </a:rPr>
              <a:t>INTERNAL TRAINING</a:t>
            </a:r>
            <a:endParaRPr lang="en-US" sz="850" dirty="0"/>
          </a:p>
        </p:txBody>
      </p:sp>
      <p:sp>
        <p:nvSpPr>
          <p:cNvPr id="8" name="Text 6"/>
          <p:cNvSpPr/>
          <p:nvPr/>
        </p:nvSpPr>
        <p:spPr>
          <a:xfrm>
            <a:off x="228600" y="758952"/>
            <a:ext cx="8732520" cy="594360"/>
          </a:xfrm>
          <a:prstGeom prst="rect">
            <a:avLst/>
          </a:prstGeom>
          <a:noFill/>
          <a:ln/>
        </p:spPr>
        <p:txBody>
          <a:bodyPr wrap="square" lIns="0" tIns="0" rIns="0" bIns="0" rtlCol="0" anchor="ctr"/>
          <a:lstStyle/>
          <a:p>
            <a:pPr marL="0" indent="0">
              <a:buNone/>
            </a:pPr>
            <a:r>
              <a:rPr lang="en-US" sz="1150" dirty="0">
                <a:solidFill>
                  <a:srgbClr val="2C2C2C"/>
                </a:solidFill>
                <a:latin typeface="Calibri" pitchFamily="34" charset="0"/>
                <a:ea typeface="Calibri" pitchFamily="34" charset="-122"/>
                <a:cs typeface="Calibri" pitchFamily="34" charset="-120"/>
              </a:rPr>
              <a:t>Decision Table Testing is used when the system behaviour depends on multiple conditions simultaneously. Each column in the table represents a unique combination of condition values (Y/N), and the resulting action for that combination.</a:t>
            </a:r>
            <a:endParaRPr lang="en-US" sz="1150" dirty="0"/>
          </a:p>
        </p:txBody>
      </p:sp>
      <p:sp>
        <p:nvSpPr>
          <p:cNvPr id="9" name="Text 7"/>
          <p:cNvSpPr/>
          <p:nvPr/>
        </p:nvSpPr>
        <p:spPr>
          <a:xfrm>
            <a:off x="228600" y="1417320"/>
            <a:ext cx="8732520" cy="256032"/>
          </a:xfrm>
          <a:prstGeom prst="rect">
            <a:avLst/>
          </a:prstGeom>
          <a:noFill/>
          <a:ln/>
        </p:spPr>
        <p:txBody>
          <a:bodyPr wrap="square" lIns="0" tIns="0" rIns="0" bIns="0" rtlCol="0" anchor="ctr"/>
          <a:lstStyle/>
          <a:p>
            <a:pPr marL="0" indent="0">
              <a:buNone/>
            </a:pPr>
            <a:r>
              <a:rPr lang="en-US" sz="1150" b="1" dirty="0">
                <a:solidFill>
                  <a:srgbClr val="FF6500"/>
                </a:solidFill>
                <a:latin typeface="Arial" pitchFamily="34" charset="0"/>
                <a:ea typeface="Arial" pitchFamily="34" charset="-122"/>
                <a:cs typeface="Arial" pitchFamily="34" charset="-120"/>
              </a:rPr>
              <a:t>Example: E-Commerce Checkout — Discount eligibility (Member + Promo Code + Cart Total &gt; R500)</a:t>
            </a:r>
            <a:endParaRPr lang="en-US" sz="1150" dirty="0"/>
          </a:p>
        </p:txBody>
      </p:sp>
      <p:graphicFrame>
        <p:nvGraphicFramePr>
          <p:cNvPr id="20" name="Table 0"/>
          <p:cNvGraphicFramePr>
            <a:graphicFrameLocks noGrp="1"/>
          </p:cNvGraphicFramePr>
          <p:nvPr>
            <p:extLst>
              <p:ext uri="{D42A27DB-BD31-4B8C-83A1-F6EECF244321}">
                <p14:modId xmlns:p14="http://schemas.microsoft.com/office/powerpoint/2010/main" val="1579011935"/>
              </p:ext>
            </p:extLst>
          </p:nvPr>
        </p:nvGraphicFramePr>
        <p:xfrm>
          <a:off x="228600" y="1737360"/>
          <a:ext cx="8906256" cy="2743200"/>
        </p:xfrm>
        <a:graphic>
          <a:graphicData uri="http://schemas.openxmlformats.org/drawingml/2006/table">
            <a:tbl>
              <a:tblPr/>
              <a:tblGrid>
                <a:gridCol w="2377440">
                  <a:extLst>
                    <a:ext uri="{9D8B030D-6E8A-4147-A177-3AD203B41FA5}">
                      <a16:colId xmlns:a16="http://schemas.microsoft.com/office/drawing/2014/main" val="20000"/>
                    </a:ext>
                  </a:extLst>
                </a:gridCol>
                <a:gridCol w="932688">
                  <a:extLst>
                    <a:ext uri="{9D8B030D-6E8A-4147-A177-3AD203B41FA5}">
                      <a16:colId xmlns:a16="http://schemas.microsoft.com/office/drawing/2014/main" val="20001"/>
                    </a:ext>
                  </a:extLst>
                </a:gridCol>
                <a:gridCol w="932688">
                  <a:extLst>
                    <a:ext uri="{9D8B030D-6E8A-4147-A177-3AD203B41FA5}">
                      <a16:colId xmlns:a16="http://schemas.microsoft.com/office/drawing/2014/main" val="20002"/>
                    </a:ext>
                  </a:extLst>
                </a:gridCol>
                <a:gridCol w="932688">
                  <a:extLst>
                    <a:ext uri="{9D8B030D-6E8A-4147-A177-3AD203B41FA5}">
                      <a16:colId xmlns:a16="http://schemas.microsoft.com/office/drawing/2014/main" val="20003"/>
                    </a:ext>
                  </a:extLst>
                </a:gridCol>
                <a:gridCol w="932688">
                  <a:extLst>
                    <a:ext uri="{9D8B030D-6E8A-4147-A177-3AD203B41FA5}">
                      <a16:colId xmlns:a16="http://schemas.microsoft.com/office/drawing/2014/main" val="20004"/>
                    </a:ext>
                  </a:extLst>
                </a:gridCol>
                <a:gridCol w="932688">
                  <a:extLst>
                    <a:ext uri="{9D8B030D-6E8A-4147-A177-3AD203B41FA5}">
                      <a16:colId xmlns:a16="http://schemas.microsoft.com/office/drawing/2014/main" val="20005"/>
                    </a:ext>
                  </a:extLst>
                </a:gridCol>
                <a:gridCol w="932688">
                  <a:extLst>
                    <a:ext uri="{9D8B030D-6E8A-4147-A177-3AD203B41FA5}">
                      <a16:colId xmlns:a16="http://schemas.microsoft.com/office/drawing/2014/main" val="20006"/>
                    </a:ext>
                  </a:extLst>
                </a:gridCol>
                <a:gridCol w="932688">
                  <a:extLst>
                    <a:ext uri="{9D8B030D-6E8A-4147-A177-3AD203B41FA5}">
                      <a16:colId xmlns:a16="http://schemas.microsoft.com/office/drawing/2014/main" val="20007"/>
                    </a:ext>
                  </a:extLst>
                </a:gridCol>
              </a:tblGrid>
              <a:tr h="548640">
                <a:tc>
                  <a:txBody>
                    <a:bodyPr/>
                    <a:lstStyle/>
                    <a:p>
                      <a:pPr marL="0" indent="0" algn="ctr">
                        <a:buNone/>
                      </a:pPr>
                      <a:r>
                        <a:rPr lang="en-US" sz="1000" b="1" dirty="0">
                          <a:solidFill>
                            <a:srgbClr val="FF6500"/>
                          </a:solidFill>
                          <a:latin typeface="Arial" pitchFamily="34" charset="0"/>
                          <a:ea typeface="Arial" pitchFamily="34" charset="-122"/>
                          <a:cs typeface="Arial" pitchFamily="34" charset="-120"/>
                        </a:rPr>
                        <a:t>Condition / Rule</a:t>
                      </a:r>
                      <a:endParaRPr lang="en-US" sz="1000" dirty="0">
                        <a:latin typeface="Arial" charset="0"/>
                        <a:ea typeface="Arial" charset="0"/>
                        <a:cs typeface="Arial" charset="0"/>
                      </a:endParaRPr>
                    </a:p>
                  </a:txBody>
                  <a:tcPr marL="50800" marR="50800" marT="50800" marB="50800">
                    <a:lnL w="12700" cap="flat" cmpd="sng" algn="ctr">
                      <a:solidFill>
                        <a:srgbClr val="DEDEDE"/>
                      </a:solidFill>
                      <a:prstDash val="solid"/>
                      <a:round/>
                      <a:headEnd type="none" w="med" len="med"/>
                      <a:tailEnd type="none" w="med" len="med"/>
                    </a:lnL>
                    <a:lnR w="12700" cap="flat" cmpd="sng" algn="ctr">
                      <a:solidFill>
                        <a:srgbClr val="DEDEDE"/>
                      </a:solidFill>
                      <a:prstDash val="solid"/>
                      <a:round/>
                      <a:headEnd type="none" w="med" len="med"/>
                      <a:tailEnd type="none" w="med" len="med"/>
                    </a:lnR>
                    <a:lnT w="12700" cap="flat" cmpd="sng" algn="ctr">
                      <a:solidFill>
                        <a:srgbClr val="DEDEDE"/>
                      </a:solidFill>
                      <a:prstDash val="solid"/>
                      <a:round/>
                      <a:headEnd type="none" w="med" len="med"/>
                      <a:tailEnd type="none" w="med" len="med"/>
                    </a:lnT>
                    <a:lnB w="12700" cap="flat" cmpd="sng" algn="ctr">
                      <a:solidFill>
                        <a:srgbClr val="DEDEDE"/>
                      </a:solidFill>
                      <a:prstDash val="solid"/>
                      <a:round/>
                      <a:headEnd type="none" w="med" len="med"/>
                      <a:tailEnd type="none" w="med" len="med"/>
                    </a:lnB>
                    <a:solidFill>
                      <a:srgbClr val="0D0D0D"/>
                    </a:solidFill>
                  </a:tcPr>
                </a:tc>
                <a:tc>
                  <a:txBody>
                    <a:bodyPr/>
                    <a:lstStyle/>
                    <a:p>
                      <a:pPr marL="0" indent="0" algn="ctr">
                        <a:buNone/>
                      </a:pPr>
                      <a:r>
                        <a:rPr lang="en-US" sz="1000" b="1" dirty="0">
                          <a:solidFill>
                            <a:srgbClr val="FF6500"/>
                          </a:solidFill>
                          <a:latin typeface="Arial" pitchFamily="34" charset="0"/>
                          <a:ea typeface="Arial" pitchFamily="34" charset="-122"/>
                          <a:cs typeface="Arial" pitchFamily="34" charset="-120"/>
                        </a:rPr>
                        <a:t>R1</a:t>
                      </a:r>
                      <a:endParaRPr lang="en-US" sz="1000" dirty="0">
                        <a:latin typeface="Arial" charset="0"/>
                        <a:ea typeface="Arial" charset="0"/>
                        <a:cs typeface="Arial" charset="0"/>
                      </a:endParaRPr>
                    </a:p>
                  </a:txBody>
                  <a:tcPr marL="50800" marR="50800" marT="50800" marB="50800">
                    <a:lnL w="12700" cap="flat" cmpd="sng" algn="ctr">
                      <a:solidFill>
                        <a:srgbClr val="DEDEDE"/>
                      </a:solidFill>
                      <a:prstDash val="solid"/>
                      <a:round/>
                      <a:headEnd type="none" w="med" len="med"/>
                      <a:tailEnd type="none" w="med" len="med"/>
                    </a:lnL>
                    <a:lnR w="12700" cap="flat" cmpd="sng" algn="ctr">
                      <a:solidFill>
                        <a:srgbClr val="DEDEDE"/>
                      </a:solidFill>
                      <a:prstDash val="solid"/>
                      <a:round/>
                      <a:headEnd type="none" w="med" len="med"/>
                      <a:tailEnd type="none" w="med" len="med"/>
                    </a:lnR>
                    <a:lnT w="12700" cap="flat" cmpd="sng" algn="ctr">
                      <a:solidFill>
                        <a:srgbClr val="DEDEDE"/>
                      </a:solidFill>
                      <a:prstDash val="solid"/>
                      <a:round/>
                      <a:headEnd type="none" w="med" len="med"/>
                      <a:tailEnd type="none" w="med" len="med"/>
                    </a:lnT>
                    <a:lnB w="12700" cap="flat" cmpd="sng" algn="ctr">
                      <a:solidFill>
                        <a:srgbClr val="DEDEDE"/>
                      </a:solidFill>
                      <a:prstDash val="solid"/>
                      <a:round/>
                      <a:headEnd type="none" w="med" len="med"/>
                      <a:tailEnd type="none" w="med" len="med"/>
                    </a:lnB>
                    <a:solidFill>
                      <a:srgbClr val="0D0D0D"/>
                    </a:solidFill>
                  </a:tcPr>
                </a:tc>
                <a:tc>
                  <a:txBody>
                    <a:bodyPr/>
                    <a:lstStyle/>
                    <a:p>
                      <a:pPr marL="0" indent="0" algn="ctr">
                        <a:buNone/>
                      </a:pPr>
                      <a:r>
                        <a:rPr lang="en-US" sz="1000" b="1" dirty="0">
                          <a:solidFill>
                            <a:srgbClr val="FF6500"/>
                          </a:solidFill>
                          <a:latin typeface="Arial" pitchFamily="34" charset="0"/>
                          <a:ea typeface="Arial" pitchFamily="34" charset="-122"/>
                          <a:cs typeface="Arial" pitchFamily="34" charset="-120"/>
                        </a:rPr>
                        <a:t>R2</a:t>
                      </a:r>
                      <a:endParaRPr lang="en-US" sz="1000" dirty="0">
                        <a:latin typeface="Arial" charset="0"/>
                        <a:ea typeface="Arial" charset="0"/>
                        <a:cs typeface="Arial" charset="0"/>
                      </a:endParaRPr>
                    </a:p>
                  </a:txBody>
                  <a:tcPr marL="50800" marR="50800" marT="50800" marB="50800">
                    <a:lnL w="12700" cap="flat" cmpd="sng" algn="ctr">
                      <a:solidFill>
                        <a:srgbClr val="DEDEDE"/>
                      </a:solidFill>
                      <a:prstDash val="solid"/>
                      <a:round/>
                      <a:headEnd type="none" w="med" len="med"/>
                      <a:tailEnd type="none" w="med" len="med"/>
                    </a:lnL>
                    <a:lnR w="12700" cap="flat" cmpd="sng" algn="ctr">
                      <a:solidFill>
                        <a:srgbClr val="DEDEDE"/>
                      </a:solidFill>
                      <a:prstDash val="solid"/>
                      <a:round/>
                      <a:headEnd type="none" w="med" len="med"/>
                      <a:tailEnd type="none" w="med" len="med"/>
                    </a:lnR>
                    <a:lnT w="12700" cap="flat" cmpd="sng" algn="ctr">
                      <a:solidFill>
                        <a:srgbClr val="DEDEDE"/>
                      </a:solidFill>
                      <a:prstDash val="solid"/>
                      <a:round/>
                      <a:headEnd type="none" w="med" len="med"/>
                      <a:tailEnd type="none" w="med" len="med"/>
                    </a:lnT>
                    <a:lnB w="12700" cap="flat" cmpd="sng" algn="ctr">
                      <a:solidFill>
                        <a:srgbClr val="DEDEDE"/>
                      </a:solidFill>
                      <a:prstDash val="solid"/>
                      <a:round/>
                      <a:headEnd type="none" w="med" len="med"/>
                      <a:tailEnd type="none" w="med" len="med"/>
                    </a:lnB>
                    <a:solidFill>
                      <a:srgbClr val="0D0D0D"/>
                    </a:solidFill>
                  </a:tcPr>
                </a:tc>
                <a:tc>
                  <a:txBody>
                    <a:bodyPr/>
                    <a:lstStyle/>
                    <a:p>
                      <a:pPr marL="0" indent="0" algn="ctr">
                        <a:buNone/>
                      </a:pPr>
                      <a:r>
                        <a:rPr lang="en-US" sz="1000" b="1" dirty="0">
                          <a:solidFill>
                            <a:srgbClr val="FF6500"/>
                          </a:solidFill>
                          <a:latin typeface="Arial" pitchFamily="34" charset="0"/>
                          <a:ea typeface="Arial" pitchFamily="34" charset="-122"/>
                          <a:cs typeface="Arial" pitchFamily="34" charset="-120"/>
                        </a:rPr>
                        <a:t>R3</a:t>
                      </a:r>
                      <a:endParaRPr lang="en-US" sz="1000" dirty="0">
                        <a:latin typeface="Arial" charset="0"/>
                        <a:ea typeface="Arial" charset="0"/>
                        <a:cs typeface="Arial" charset="0"/>
                      </a:endParaRPr>
                    </a:p>
                  </a:txBody>
                  <a:tcPr marL="50800" marR="50800" marT="50800" marB="50800">
                    <a:lnL w="12700" cap="flat" cmpd="sng" algn="ctr">
                      <a:solidFill>
                        <a:srgbClr val="DEDEDE"/>
                      </a:solidFill>
                      <a:prstDash val="solid"/>
                      <a:round/>
                      <a:headEnd type="none" w="med" len="med"/>
                      <a:tailEnd type="none" w="med" len="med"/>
                    </a:lnL>
                    <a:lnR w="12700" cap="flat" cmpd="sng" algn="ctr">
                      <a:solidFill>
                        <a:srgbClr val="DEDEDE"/>
                      </a:solidFill>
                      <a:prstDash val="solid"/>
                      <a:round/>
                      <a:headEnd type="none" w="med" len="med"/>
                      <a:tailEnd type="none" w="med" len="med"/>
                    </a:lnR>
                    <a:lnT w="12700" cap="flat" cmpd="sng" algn="ctr">
                      <a:solidFill>
                        <a:srgbClr val="DEDEDE"/>
                      </a:solidFill>
                      <a:prstDash val="solid"/>
                      <a:round/>
                      <a:headEnd type="none" w="med" len="med"/>
                      <a:tailEnd type="none" w="med" len="med"/>
                    </a:lnT>
                    <a:lnB w="12700" cap="flat" cmpd="sng" algn="ctr">
                      <a:solidFill>
                        <a:srgbClr val="DEDEDE"/>
                      </a:solidFill>
                      <a:prstDash val="solid"/>
                      <a:round/>
                      <a:headEnd type="none" w="med" len="med"/>
                      <a:tailEnd type="none" w="med" len="med"/>
                    </a:lnB>
                    <a:solidFill>
                      <a:srgbClr val="0D0D0D"/>
                    </a:solidFill>
                  </a:tcPr>
                </a:tc>
                <a:tc>
                  <a:txBody>
                    <a:bodyPr/>
                    <a:lstStyle/>
                    <a:p>
                      <a:pPr marL="0" indent="0" algn="ctr">
                        <a:buNone/>
                      </a:pPr>
                      <a:r>
                        <a:rPr lang="en-US" sz="1000" b="1" dirty="0">
                          <a:solidFill>
                            <a:srgbClr val="FF6500"/>
                          </a:solidFill>
                          <a:latin typeface="Arial" pitchFamily="34" charset="0"/>
                          <a:ea typeface="Arial" pitchFamily="34" charset="-122"/>
                          <a:cs typeface="Arial" pitchFamily="34" charset="-120"/>
                        </a:rPr>
                        <a:t>R4</a:t>
                      </a:r>
                      <a:endParaRPr lang="en-US" sz="1000" dirty="0">
                        <a:latin typeface="Arial" charset="0"/>
                        <a:ea typeface="Arial" charset="0"/>
                        <a:cs typeface="Arial" charset="0"/>
                      </a:endParaRPr>
                    </a:p>
                  </a:txBody>
                  <a:tcPr marL="50800" marR="50800" marT="50800" marB="50800">
                    <a:lnL w="12700" cap="flat" cmpd="sng" algn="ctr">
                      <a:solidFill>
                        <a:srgbClr val="DEDEDE"/>
                      </a:solidFill>
                      <a:prstDash val="solid"/>
                      <a:round/>
                      <a:headEnd type="none" w="med" len="med"/>
                      <a:tailEnd type="none" w="med" len="med"/>
                    </a:lnL>
                    <a:lnR w="12700" cap="flat" cmpd="sng" algn="ctr">
                      <a:solidFill>
                        <a:srgbClr val="DEDEDE"/>
                      </a:solidFill>
                      <a:prstDash val="solid"/>
                      <a:round/>
                      <a:headEnd type="none" w="med" len="med"/>
                      <a:tailEnd type="none" w="med" len="med"/>
                    </a:lnR>
                    <a:lnT w="12700" cap="flat" cmpd="sng" algn="ctr">
                      <a:solidFill>
                        <a:srgbClr val="DEDEDE"/>
                      </a:solidFill>
                      <a:prstDash val="solid"/>
                      <a:round/>
                      <a:headEnd type="none" w="med" len="med"/>
                      <a:tailEnd type="none" w="med" len="med"/>
                    </a:lnT>
                    <a:lnB w="12700" cap="flat" cmpd="sng" algn="ctr">
                      <a:solidFill>
                        <a:srgbClr val="DEDEDE"/>
                      </a:solidFill>
                      <a:prstDash val="solid"/>
                      <a:round/>
                      <a:headEnd type="none" w="med" len="med"/>
                      <a:tailEnd type="none" w="med" len="med"/>
                    </a:lnB>
                    <a:solidFill>
                      <a:srgbClr val="0D0D0D"/>
                    </a:solidFill>
                  </a:tcPr>
                </a:tc>
                <a:tc>
                  <a:txBody>
                    <a:bodyPr/>
                    <a:lstStyle/>
                    <a:p>
                      <a:pPr marL="0" indent="0" algn="ctr">
                        <a:buNone/>
                      </a:pPr>
                      <a:r>
                        <a:rPr lang="en-US" sz="1000" b="1" dirty="0">
                          <a:solidFill>
                            <a:srgbClr val="FF6500"/>
                          </a:solidFill>
                          <a:latin typeface="Arial" pitchFamily="34" charset="0"/>
                          <a:ea typeface="Arial" pitchFamily="34" charset="-122"/>
                          <a:cs typeface="Arial" pitchFamily="34" charset="-120"/>
                        </a:rPr>
                        <a:t>R5</a:t>
                      </a:r>
                      <a:endParaRPr lang="en-US" sz="1000" dirty="0">
                        <a:latin typeface="Arial" charset="0"/>
                        <a:ea typeface="Arial" charset="0"/>
                        <a:cs typeface="Arial" charset="0"/>
                      </a:endParaRPr>
                    </a:p>
                  </a:txBody>
                  <a:tcPr marL="50800" marR="50800" marT="50800" marB="50800">
                    <a:lnL w="12700" cap="flat" cmpd="sng" algn="ctr">
                      <a:solidFill>
                        <a:srgbClr val="DEDEDE"/>
                      </a:solidFill>
                      <a:prstDash val="solid"/>
                      <a:round/>
                      <a:headEnd type="none" w="med" len="med"/>
                      <a:tailEnd type="none" w="med" len="med"/>
                    </a:lnL>
                    <a:lnR w="12700" cap="flat" cmpd="sng" algn="ctr">
                      <a:solidFill>
                        <a:srgbClr val="DEDEDE"/>
                      </a:solidFill>
                      <a:prstDash val="solid"/>
                      <a:round/>
                      <a:headEnd type="none" w="med" len="med"/>
                      <a:tailEnd type="none" w="med" len="med"/>
                    </a:lnR>
                    <a:lnT w="12700" cap="flat" cmpd="sng" algn="ctr">
                      <a:solidFill>
                        <a:srgbClr val="DEDEDE"/>
                      </a:solidFill>
                      <a:prstDash val="solid"/>
                      <a:round/>
                      <a:headEnd type="none" w="med" len="med"/>
                      <a:tailEnd type="none" w="med" len="med"/>
                    </a:lnT>
                    <a:lnB w="12700" cap="flat" cmpd="sng" algn="ctr">
                      <a:solidFill>
                        <a:srgbClr val="DEDEDE"/>
                      </a:solidFill>
                      <a:prstDash val="solid"/>
                      <a:round/>
                      <a:headEnd type="none" w="med" len="med"/>
                      <a:tailEnd type="none" w="med" len="med"/>
                    </a:lnB>
                    <a:solidFill>
                      <a:srgbClr val="0D0D0D"/>
                    </a:solidFill>
                  </a:tcPr>
                </a:tc>
                <a:tc>
                  <a:txBody>
                    <a:bodyPr/>
                    <a:lstStyle/>
                    <a:p>
                      <a:pPr marL="0" indent="0" algn="ctr">
                        <a:buNone/>
                      </a:pPr>
                      <a:r>
                        <a:rPr lang="en-US" sz="1000" b="1" dirty="0">
                          <a:solidFill>
                            <a:srgbClr val="FF6500"/>
                          </a:solidFill>
                          <a:latin typeface="Arial" pitchFamily="34" charset="0"/>
                          <a:ea typeface="Arial" pitchFamily="34" charset="-122"/>
                          <a:cs typeface="Arial" pitchFamily="34" charset="-120"/>
                        </a:rPr>
                        <a:t>R6</a:t>
                      </a:r>
                      <a:endParaRPr lang="en-US" sz="1000" dirty="0">
                        <a:latin typeface="Arial" charset="0"/>
                        <a:ea typeface="Arial" charset="0"/>
                        <a:cs typeface="Arial" charset="0"/>
                      </a:endParaRPr>
                    </a:p>
                  </a:txBody>
                  <a:tcPr marL="50800" marR="50800" marT="50800" marB="50800">
                    <a:lnL w="12700" cap="flat" cmpd="sng" algn="ctr">
                      <a:solidFill>
                        <a:srgbClr val="DEDEDE"/>
                      </a:solidFill>
                      <a:prstDash val="solid"/>
                      <a:round/>
                      <a:headEnd type="none" w="med" len="med"/>
                      <a:tailEnd type="none" w="med" len="med"/>
                    </a:lnL>
                    <a:lnR w="12700" cap="flat" cmpd="sng" algn="ctr">
                      <a:solidFill>
                        <a:srgbClr val="DEDEDE"/>
                      </a:solidFill>
                      <a:prstDash val="solid"/>
                      <a:round/>
                      <a:headEnd type="none" w="med" len="med"/>
                      <a:tailEnd type="none" w="med" len="med"/>
                    </a:lnR>
                    <a:lnT w="12700" cap="flat" cmpd="sng" algn="ctr">
                      <a:solidFill>
                        <a:srgbClr val="DEDEDE"/>
                      </a:solidFill>
                      <a:prstDash val="solid"/>
                      <a:round/>
                      <a:headEnd type="none" w="med" len="med"/>
                      <a:tailEnd type="none" w="med" len="med"/>
                    </a:lnT>
                    <a:lnB w="12700" cap="flat" cmpd="sng" algn="ctr">
                      <a:solidFill>
                        <a:srgbClr val="DEDEDE"/>
                      </a:solidFill>
                      <a:prstDash val="solid"/>
                      <a:round/>
                      <a:headEnd type="none" w="med" len="med"/>
                      <a:tailEnd type="none" w="med" len="med"/>
                    </a:lnB>
                    <a:solidFill>
                      <a:srgbClr val="0D0D0D"/>
                    </a:solidFill>
                  </a:tcPr>
                </a:tc>
                <a:tc>
                  <a:txBody>
                    <a:bodyPr/>
                    <a:lstStyle/>
                    <a:p>
                      <a:pPr marL="0" indent="0" algn="ctr">
                        <a:buNone/>
                      </a:pPr>
                      <a:r>
                        <a:rPr lang="en-US" sz="1000" b="1" dirty="0">
                          <a:solidFill>
                            <a:srgbClr val="FF6500"/>
                          </a:solidFill>
                          <a:latin typeface="Arial" pitchFamily="34" charset="0"/>
                          <a:ea typeface="Arial" pitchFamily="34" charset="-122"/>
                          <a:cs typeface="Arial" pitchFamily="34" charset="-120"/>
                        </a:rPr>
                        <a:t>R7</a:t>
                      </a:r>
                      <a:endParaRPr lang="en-US" sz="1000" dirty="0">
                        <a:latin typeface="Arial" charset="0"/>
                        <a:ea typeface="Arial" charset="0"/>
                        <a:cs typeface="Arial" charset="0"/>
                      </a:endParaRPr>
                    </a:p>
                  </a:txBody>
                  <a:tcPr marL="50800" marR="50800" marT="50800" marB="50800">
                    <a:lnL w="12700" cap="flat" cmpd="sng" algn="ctr">
                      <a:solidFill>
                        <a:srgbClr val="DEDEDE"/>
                      </a:solidFill>
                      <a:prstDash val="solid"/>
                      <a:round/>
                      <a:headEnd type="none" w="med" len="med"/>
                      <a:tailEnd type="none" w="med" len="med"/>
                    </a:lnL>
                    <a:lnR w="12700" cap="flat" cmpd="sng" algn="ctr">
                      <a:solidFill>
                        <a:srgbClr val="DEDEDE"/>
                      </a:solidFill>
                      <a:prstDash val="solid"/>
                      <a:round/>
                      <a:headEnd type="none" w="med" len="med"/>
                      <a:tailEnd type="none" w="med" len="med"/>
                    </a:lnR>
                    <a:lnT w="12700" cap="flat" cmpd="sng" algn="ctr">
                      <a:solidFill>
                        <a:srgbClr val="DEDEDE"/>
                      </a:solidFill>
                      <a:prstDash val="solid"/>
                      <a:round/>
                      <a:headEnd type="none" w="med" len="med"/>
                      <a:tailEnd type="none" w="med" len="med"/>
                    </a:lnT>
                    <a:lnB w="12700" cap="flat" cmpd="sng" algn="ctr">
                      <a:solidFill>
                        <a:srgbClr val="DEDEDE"/>
                      </a:solidFill>
                      <a:prstDash val="solid"/>
                      <a:round/>
                      <a:headEnd type="none" w="med" len="med"/>
                      <a:tailEnd type="none" w="med" len="med"/>
                    </a:lnB>
                    <a:solidFill>
                      <a:srgbClr val="0D0D0D"/>
                    </a:solidFill>
                  </a:tcPr>
                </a:tc>
                <a:extLst>
                  <a:ext uri="{0D108BD9-81ED-4DB2-BD59-A6C34878D82A}">
                    <a16:rowId xmlns:a16="http://schemas.microsoft.com/office/drawing/2014/main" val="10000"/>
                  </a:ext>
                </a:extLst>
              </a:tr>
              <a:tr h="548640">
                <a:tc>
                  <a:txBody>
                    <a:bodyPr/>
                    <a:lstStyle/>
                    <a:p>
                      <a:pPr marL="0" indent="0" algn="ctr">
                        <a:buNone/>
                      </a:pPr>
                      <a:r>
                        <a:rPr lang="en-US" sz="1100" dirty="0">
                          <a:solidFill>
                            <a:srgbClr val="2C2C2C"/>
                          </a:solidFill>
                          <a:latin typeface="Calibri" pitchFamily="34" charset="0"/>
                          <a:ea typeface="Calibri" pitchFamily="34" charset="-122"/>
                          <a:cs typeface="Calibri" pitchFamily="34" charset="-120"/>
                        </a:rPr>
                        <a:t>Is Member?</a:t>
                      </a:r>
                      <a:endParaRPr lang="en-US" sz="1100" dirty="0">
                        <a:latin typeface="Calibri" charset="0"/>
                        <a:ea typeface="Calibri" charset="0"/>
                        <a:cs typeface="Calibri" charset="0"/>
                      </a:endParaRPr>
                    </a:p>
                  </a:txBody>
                  <a:tcPr marL="50800" marR="50800" marT="50800" marB="50800">
                    <a:lnL w="12700" cap="flat" cmpd="sng" algn="ctr">
                      <a:solidFill>
                        <a:srgbClr val="DEDEDE"/>
                      </a:solidFill>
                      <a:prstDash val="solid"/>
                      <a:round/>
                      <a:headEnd type="none" w="med" len="med"/>
                      <a:tailEnd type="none" w="med" len="med"/>
                    </a:lnL>
                    <a:lnR w="12700" cap="flat" cmpd="sng" algn="ctr">
                      <a:solidFill>
                        <a:srgbClr val="DEDEDE"/>
                      </a:solidFill>
                      <a:prstDash val="solid"/>
                      <a:round/>
                      <a:headEnd type="none" w="med" len="med"/>
                      <a:tailEnd type="none" w="med" len="med"/>
                    </a:lnR>
                    <a:lnT w="12700" cap="flat" cmpd="sng" algn="ctr">
                      <a:solidFill>
                        <a:srgbClr val="DEDEDE"/>
                      </a:solidFill>
                      <a:prstDash val="solid"/>
                      <a:round/>
                      <a:headEnd type="none" w="med" len="med"/>
                      <a:tailEnd type="none" w="med" len="med"/>
                    </a:lnT>
                    <a:lnB w="12700" cap="flat" cmpd="sng" algn="ctr">
                      <a:solidFill>
                        <a:srgbClr val="DEDEDE"/>
                      </a:solidFill>
                      <a:prstDash val="solid"/>
                      <a:round/>
                      <a:headEnd type="none" w="med" len="med"/>
                      <a:tailEnd type="none" w="med" len="med"/>
                    </a:lnB>
                    <a:solidFill>
                      <a:srgbClr val="FFFFFF"/>
                    </a:solidFill>
                  </a:tcPr>
                </a:tc>
                <a:tc>
                  <a:txBody>
                    <a:bodyPr/>
                    <a:lstStyle/>
                    <a:p>
                      <a:pPr marL="0" indent="0" algn="ctr">
                        <a:buNone/>
                      </a:pPr>
                      <a:r>
                        <a:rPr lang="en-US" sz="1100" b="1" dirty="0">
                          <a:solidFill>
                            <a:srgbClr val="27AE60"/>
                          </a:solidFill>
                          <a:latin typeface="Calibri" pitchFamily="34" charset="0"/>
                          <a:ea typeface="Calibri" pitchFamily="34" charset="-122"/>
                          <a:cs typeface="Calibri" pitchFamily="34" charset="-120"/>
                        </a:rPr>
                        <a:t>Y</a:t>
                      </a:r>
                      <a:endParaRPr lang="en-US" sz="1100" dirty="0">
                        <a:latin typeface="Calibri" charset="0"/>
                        <a:ea typeface="Calibri" charset="0"/>
                        <a:cs typeface="Calibri" charset="0"/>
                      </a:endParaRPr>
                    </a:p>
                  </a:txBody>
                  <a:tcPr marL="50800" marR="50800" marT="50800" marB="50800">
                    <a:lnL w="12700" cap="flat" cmpd="sng" algn="ctr">
                      <a:solidFill>
                        <a:srgbClr val="DEDEDE"/>
                      </a:solidFill>
                      <a:prstDash val="solid"/>
                      <a:round/>
                      <a:headEnd type="none" w="med" len="med"/>
                      <a:tailEnd type="none" w="med" len="med"/>
                    </a:lnL>
                    <a:lnR w="12700" cap="flat" cmpd="sng" algn="ctr">
                      <a:solidFill>
                        <a:srgbClr val="DEDEDE"/>
                      </a:solidFill>
                      <a:prstDash val="solid"/>
                      <a:round/>
                      <a:headEnd type="none" w="med" len="med"/>
                      <a:tailEnd type="none" w="med" len="med"/>
                    </a:lnR>
                    <a:lnT w="12700" cap="flat" cmpd="sng" algn="ctr">
                      <a:solidFill>
                        <a:srgbClr val="DEDEDE"/>
                      </a:solidFill>
                      <a:prstDash val="solid"/>
                      <a:round/>
                      <a:headEnd type="none" w="med" len="med"/>
                      <a:tailEnd type="none" w="med" len="med"/>
                    </a:lnT>
                    <a:lnB w="12700" cap="flat" cmpd="sng" algn="ctr">
                      <a:solidFill>
                        <a:srgbClr val="DEDEDE"/>
                      </a:solidFill>
                      <a:prstDash val="solid"/>
                      <a:round/>
                      <a:headEnd type="none" w="med" len="med"/>
                      <a:tailEnd type="none" w="med" len="med"/>
                    </a:lnB>
                    <a:solidFill>
                      <a:srgbClr val="FFFFFF"/>
                    </a:solidFill>
                  </a:tcPr>
                </a:tc>
                <a:tc>
                  <a:txBody>
                    <a:bodyPr/>
                    <a:lstStyle/>
                    <a:p>
                      <a:pPr marL="0" indent="0" algn="ctr">
                        <a:buNone/>
                      </a:pPr>
                      <a:r>
                        <a:rPr lang="en-US" sz="1100" b="1" dirty="0">
                          <a:solidFill>
                            <a:srgbClr val="27AE60"/>
                          </a:solidFill>
                          <a:latin typeface="Calibri" pitchFamily="34" charset="0"/>
                          <a:ea typeface="Calibri" pitchFamily="34" charset="-122"/>
                          <a:cs typeface="Calibri" pitchFamily="34" charset="-120"/>
                        </a:rPr>
                        <a:t>Y</a:t>
                      </a:r>
                      <a:endParaRPr lang="en-US" sz="1100" dirty="0">
                        <a:latin typeface="Calibri" charset="0"/>
                        <a:ea typeface="Calibri" charset="0"/>
                        <a:cs typeface="Calibri" charset="0"/>
                      </a:endParaRPr>
                    </a:p>
                  </a:txBody>
                  <a:tcPr marL="50800" marR="50800" marT="50800" marB="50800">
                    <a:lnL w="12700" cap="flat" cmpd="sng" algn="ctr">
                      <a:solidFill>
                        <a:srgbClr val="DEDEDE"/>
                      </a:solidFill>
                      <a:prstDash val="solid"/>
                      <a:round/>
                      <a:headEnd type="none" w="med" len="med"/>
                      <a:tailEnd type="none" w="med" len="med"/>
                    </a:lnL>
                    <a:lnR w="12700" cap="flat" cmpd="sng" algn="ctr">
                      <a:solidFill>
                        <a:srgbClr val="DEDEDE"/>
                      </a:solidFill>
                      <a:prstDash val="solid"/>
                      <a:round/>
                      <a:headEnd type="none" w="med" len="med"/>
                      <a:tailEnd type="none" w="med" len="med"/>
                    </a:lnR>
                    <a:lnT w="12700" cap="flat" cmpd="sng" algn="ctr">
                      <a:solidFill>
                        <a:srgbClr val="DEDEDE"/>
                      </a:solidFill>
                      <a:prstDash val="solid"/>
                      <a:round/>
                      <a:headEnd type="none" w="med" len="med"/>
                      <a:tailEnd type="none" w="med" len="med"/>
                    </a:lnT>
                    <a:lnB w="12700" cap="flat" cmpd="sng" algn="ctr">
                      <a:solidFill>
                        <a:srgbClr val="DEDEDE"/>
                      </a:solidFill>
                      <a:prstDash val="solid"/>
                      <a:round/>
                      <a:headEnd type="none" w="med" len="med"/>
                      <a:tailEnd type="none" w="med" len="med"/>
                    </a:lnB>
                    <a:solidFill>
                      <a:srgbClr val="F0F0F0"/>
                    </a:solidFill>
                  </a:tcPr>
                </a:tc>
                <a:tc>
                  <a:txBody>
                    <a:bodyPr/>
                    <a:lstStyle/>
                    <a:p>
                      <a:pPr marL="0" indent="0" algn="ctr">
                        <a:buNone/>
                      </a:pPr>
                      <a:r>
                        <a:rPr lang="en-US" sz="1100" b="1" dirty="0">
                          <a:solidFill>
                            <a:srgbClr val="27AE60"/>
                          </a:solidFill>
                          <a:latin typeface="Calibri" pitchFamily="34" charset="0"/>
                          <a:ea typeface="Calibri" pitchFamily="34" charset="-122"/>
                          <a:cs typeface="Calibri" pitchFamily="34" charset="-120"/>
                        </a:rPr>
                        <a:t>Y</a:t>
                      </a:r>
                      <a:endParaRPr lang="en-US" sz="1100" dirty="0">
                        <a:latin typeface="Calibri" charset="0"/>
                        <a:ea typeface="Calibri" charset="0"/>
                        <a:cs typeface="Calibri" charset="0"/>
                      </a:endParaRPr>
                    </a:p>
                  </a:txBody>
                  <a:tcPr marL="50800" marR="50800" marT="50800" marB="50800">
                    <a:lnL w="12700" cap="flat" cmpd="sng" algn="ctr">
                      <a:solidFill>
                        <a:srgbClr val="DEDEDE"/>
                      </a:solidFill>
                      <a:prstDash val="solid"/>
                      <a:round/>
                      <a:headEnd type="none" w="med" len="med"/>
                      <a:tailEnd type="none" w="med" len="med"/>
                    </a:lnL>
                    <a:lnR w="12700" cap="flat" cmpd="sng" algn="ctr">
                      <a:solidFill>
                        <a:srgbClr val="DEDEDE"/>
                      </a:solidFill>
                      <a:prstDash val="solid"/>
                      <a:round/>
                      <a:headEnd type="none" w="med" len="med"/>
                      <a:tailEnd type="none" w="med" len="med"/>
                    </a:lnR>
                    <a:lnT w="12700" cap="flat" cmpd="sng" algn="ctr">
                      <a:solidFill>
                        <a:srgbClr val="DEDEDE"/>
                      </a:solidFill>
                      <a:prstDash val="solid"/>
                      <a:round/>
                      <a:headEnd type="none" w="med" len="med"/>
                      <a:tailEnd type="none" w="med" len="med"/>
                    </a:lnT>
                    <a:lnB w="12700" cap="flat" cmpd="sng" algn="ctr">
                      <a:solidFill>
                        <a:srgbClr val="DEDEDE"/>
                      </a:solidFill>
                      <a:prstDash val="solid"/>
                      <a:round/>
                      <a:headEnd type="none" w="med" len="med"/>
                      <a:tailEnd type="none" w="med" len="med"/>
                    </a:lnB>
                    <a:solidFill>
                      <a:srgbClr val="FFFFFF"/>
                    </a:solidFill>
                  </a:tcPr>
                </a:tc>
                <a:tc>
                  <a:txBody>
                    <a:bodyPr/>
                    <a:lstStyle/>
                    <a:p>
                      <a:pPr marL="0" indent="0" algn="ctr">
                        <a:buNone/>
                      </a:pPr>
                      <a:r>
                        <a:rPr lang="en-US" sz="1100" b="1" dirty="0">
                          <a:solidFill>
                            <a:srgbClr val="27AE60"/>
                          </a:solidFill>
                          <a:latin typeface="Calibri" pitchFamily="34" charset="0"/>
                          <a:ea typeface="Calibri" pitchFamily="34" charset="-122"/>
                          <a:cs typeface="Calibri" pitchFamily="34" charset="-120"/>
                        </a:rPr>
                        <a:t>Y</a:t>
                      </a:r>
                      <a:endParaRPr lang="en-US" sz="1100" dirty="0">
                        <a:latin typeface="Calibri" charset="0"/>
                        <a:ea typeface="Calibri" charset="0"/>
                        <a:cs typeface="Calibri" charset="0"/>
                      </a:endParaRPr>
                    </a:p>
                  </a:txBody>
                  <a:tcPr marL="50800" marR="50800" marT="50800" marB="50800">
                    <a:lnL w="12700" cap="flat" cmpd="sng" algn="ctr">
                      <a:solidFill>
                        <a:srgbClr val="DEDEDE"/>
                      </a:solidFill>
                      <a:prstDash val="solid"/>
                      <a:round/>
                      <a:headEnd type="none" w="med" len="med"/>
                      <a:tailEnd type="none" w="med" len="med"/>
                    </a:lnL>
                    <a:lnR w="12700" cap="flat" cmpd="sng" algn="ctr">
                      <a:solidFill>
                        <a:srgbClr val="DEDEDE"/>
                      </a:solidFill>
                      <a:prstDash val="solid"/>
                      <a:round/>
                      <a:headEnd type="none" w="med" len="med"/>
                      <a:tailEnd type="none" w="med" len="med"/>
                    </a:lnR>
                    <a:lnT w="12700" cap="flat" cmpd="sng" algn="ctr">
                      <a:solidFill>
                        <a:srgbClr val="DEDEDE"/>
                      </a:solidFill>
                      <a:prstDash val="solid"/>
                      <a:round/>
                      <a:headEnd type="none" w="med" len="med"/>
                      <a:tailEnd type="none" w="med" len="med"/>
                    </a:lnT>
                    <a:lnB w="12700" cap="flat" cmpd="sng" algn="ctr">
                      <a:solidFill>
                        <a:srgbClr val="DEDEDE"/>
                      </a:solidFill>
                      <a:prstDash val="solid"/>
                      <a:round/>
                      <a:headEnd type="none" w="med" len="med"/>
                      <a:tailEnd type="none" w="med" len="med"/>
                    </a:lnB>
                    <a:solidFill>
                      <a:srgbClr val="F0F0F0"/>
                    </a:solidFill>
                  </a:tcPr>
                </a:tc>
                <a:tc>
                  <a:txBody>
                    <a:bodyPr/>
                    <a:lstStyle/>
                    <a:p>
                      <a:pPr marL="0" indent="0" algn="ctr">
                        <a:buNone/>
                      </a:pPr>
                      <a:r>
                        <a:rPr lang="en-US" sz="1100" b="1" dirty="0">
                          <a:solidFill>
                            <a:srgbClr val="C0392B"/>
                          </a:solidFill>
                          <a:latin typeface="Calibri" pitchFamily="34" charset="0"/>
                          <a:ea typeface="Calibri" pitchFamily="34" charset="-122"/>
                          <a:cs typeface="Calibri" pitchFamily="34" charset="-120"/>
                        </a:rPr>
                        <a:t>N</a:t>
                      </a:r>
                      <a:endParaRPr lang="en-US" sz="1100" dirty="0">
                        <a:latin typeface="Calibri" charset="0"/>
                        <a:ea typeface="Calibri" charset="0"/>
                        <a:cs typeface="Calibri" charset="0"/>
                      </a:endParaRPr>
                    </a:p>
                  </a:txBody>
                  <a:tcPr marL="50800" marR="50800" marT="50800" marB="50800">
                    <a:lnL w="12700" cap="flat" cmpd="sng" algn="ctr">
                      <a:solidFill>
                        <a:srgbClr val="DEDEDE"/>
                      </a:solidFill>
                      <a:prstDash val="solid"/>
                      <a:round/>
                      <a:headEnd type="none" w="med" len="med"/>
                      <a:tailEnd type="none" w="med" len="med"/>
                    </a:lnL>
                    <a:lnR w="12700" cap="flat" cmpd="sng" algn="ctr">
                      <a:solidFill>
                        <a:srgbClr val="DEDEDE"/>
                      </a:solidFill>
                      <a:prstDash val="solid"/>
                      <a:round/>
                      <a:headEnd type="none" w="med" len="med"/>
                      <a:tailEnd type="none" w="med" len="med"/>
                    </a:lnR>
                    <a:lnT w="12700" cap="flat" cmpd="sng" algn="ctr">
                      <a:solidFill>
                        <a:srgbClr val="DEDEDE"/>
                      </a:solidFill>
                      <a:prstDash val="solid"/>
                      <a:round/>
                      <a:headEnd type="none" w="med" len="med"/>
                      <a:tailEnd type="none" w="med" len="med"/>
                    </a:lnT>
                    <a:lnB w="12700" cap="flat" cmpd="sng" algn="ctr">
                      <a:solidFill>
                        <a:srgbClr val="DEDEDE"/>
                      </a:solidFill>
                      <a:prstDash val="solid"/>
                      <a:round/>
                      <a:headEnd type="none" w="med" len="med"/>
                      <a:tailEnd type="none" w="med" len="med"/>
                    </a:lnB>
                    <a:solidFill>
                      <a:srgbClr val="FFFFFF"/>
                    </a:solidFill>
                  </a:tcPr>
                </a:tc>
                <a:tc>
                  <a:txBody>
                    <a:bodyPr/>
                    <a:lstStyle/>
                    <a:p>
                      <a:pPr marL="0" indent="0" algn="ctr">
                        <a:buNone/>
                      </a:pPr>
                      <a:r>
                        <a:rPr lang="en-US" sz="1100" b="1" dirty="0">
                          <a:solidFill>
                            <a:srgbClr val="C0392B"/>
                          </a:solidFill>
                          <a:latin typeface="Calibri" pitchFamily="34" charset="0"/>
                          <a:ea typeface="Calibri" pitchFamily="34" charset="-122"/>
                          <a:cs typeface="Calibri" pitchFamily="34" charset="-120"/>
                        </a:rPr>
                        <a:t>N</a:t>
                      </a:r>
                      <a:endParaRPr lang="en-US" sz="1100" dirty="0">
                        <a:latin typeface="Calibri" charset="0"/>
                        <a:ea typeface="Calibri" charset="0"/>
                        <a:cs typeface="Calibri" charset="0"/>
                      </a:endParaRPr>
                    </a:p>
                  </a:txBody>
                  <a:tcPr marL="50800" marR="50800" marT="50800" marB="50800">
                    <a:lnL w="12700" cap="flat" cmpd="sng" algn="ctr">
                      <a:solidFill>
                        <a:srgbClr val="DEDEDE"/>
                      </a:solidFill>
                      <a:prstDash val="solid"/>
                      <a:round/>
                      <a:headEnd type="none" w="med" len="med"/>
                      <a:tailEnd type="none" w="med" len="med"/>
                    </a:lnL>
                    <a:lnR w="12700" cap="flat" cmpd="sng" algn="ctr">
                      <a:solidFill>
                        <a:srgbClr val="DEDEDE"/>
                      </a:solidFill>
                      <a:prstDash val="solid"/>
                      <a:round/>
                      <a:headEnd type="none" w="med" len="med"/>
                      <a:tailEnd type="none" w="med" len="med"/>
                    </a:lnR>
                    <a:lnT w="12700" cap="flat" cmpd="sng" algn="ctr">
                      <a:solidFill>
                        <a:srgbClr val="DEDEDE"/>
                      </a:solidFill>
                      <a:prstDash val="solid"/>
                      <a:round/>
                      <a:headEnd type="none" w="med" len="med"/>
                      <a:tailEnd type="none" w="med" len="med"/>
                    </a:lnT>
                    <a:lnB w="12700" cap="flat" cmpd="sng" algn="ctr">
                      <a:solidFill>
                        <a:srgbClr val="DEDEDE"/>
                      </a:solidFill>
                      <a:prstDash val="solid"/>
                      <a:round/>
                      <a:headEnd type="none" w="med" len="med"/>
                      <a:tailEnd type="none" w="med" len="med"/>
                    </a:lnB>
                    <a:solidFill>
                      <a:srgbClr val="F0F0F0"/>
                    </a:solidFill>
                  </a:tcPr>
                </a:tc>
                <a:tc>
                  <a:txBody>
                    <a:bodyPr/>
                    <a:lstStyle/>
                    <a:p>
                      <a:pPr marL="0" indent="0" algn="ctr">
                        <a:buNone/>
                      </a:pPr>
                      <a:r>
                        <a:rPr lang="en-US" sz="1100" b="1" dirty="0">
                          <a:solidFill>
                            <a:srgbClr val="C0392B"/>
                          </a:solidFill>
                          <a:latin typeface="Calibri" pitchFamily="34" charset="0"/>
                          <a:ea typeface="Calibri" pitchFamily="34" charset="-122"/>
                          <a:cs typeface="Calibri" pitchFamily="34" charset="-120"/>
                        </a:rPr>
                        <a:t>N</a:t>
                      </a:r>
                      <a:endParaRPr lang="en-US" sz="1100" dirty="0">
                        <a:latin typeface="Calibri" charset="0"/>
                        <a:ea typeface="Calibri" charset="0"/>
                        <a:cs typeface="Calibri" charset="0"/>
                      </a:endParaRPr>
                    </a:p>
                  </a:txBody>
                  <a:tcPr marL="50800" marR="50800" marT="50800" marB="50800">
                    <a:lnL w="12700" cap="flat" cmpd="sng" algn="ctr">
                      <a:solidFill>
                        <a:srgbClr val="DEDEDE"/>
                      </a:solidFill>
                      <a:prstDash val="solid"/>
                      <a:round/>
                      <a:headEnd type="none" w="med" len="med"/>
                      <a:tailEnd type="none" w="med" len="med"/>
                    </a:lnL>
                    <a:lnR w="12700" cap="flat" cmpd="sng" algn="ctr">
                      <a:solidFill>
                        <a:srgbClr val="DEDEDE"/>
                      </a:solidFill>
                      <a:prstDash val="solid"/>
                      <a:round/>
                      <a:headEnd type="none" w="med" len="med"/>
                      <a:tailEnd type="none" w="med" len="med"/>
                    </a:lnR>
                    <a:lnT w="12700" cap="flat" cmpd="sng" algn="ctr">
                      <a:solidFill>
                        <a:srgbClr val="DEDEDE"/>
                      </a:solidFill>
                      <a:prstDash val="solid"/>
                      <a:round/>
                      <a:headEnd type="none" w="med" len="med"/>
                      <a:tailEnd type="none" w="med" len="med"/>
                    </a:lnT>
                    <a:lnB w="12700" cap="flat" cmpd="sng" algn="ctr">
                      <a:solidFill>
                        <a:srgbClr val="DEDEDE"/>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48640">
                <a:tc>
                  <a:txBody>
                    <a:bodyPr/>
                    <a:lstStyle/>
                    <a:p>
                      <a:pPr marL="0" indent="0" algn="ctr">
                        <a:buNone/>
                      </a:pPr>
                      <a:r>
                        <a:rPr lang="en-US" sz="1100" dirty="0">
                          <a:solidFill>
                            <a:srgbClr val="2C2C2C"/>
                          </a:solidFill>
                          <a:latin typeface="Calibri" pitchFamily="34" charset="0"/>
                          <a:ea typeface="Calibri" pitchFamily="34" charset="-122"/>
                          <a:cs typeface="Calibri" pitchFamily="34" charset="-120"/>
                        </a:rPr>
                        <a:t>Has Promo Code?</a:t>
                      </a:r>
                      <a:endParaRPr lang="en-US" sz="1100" dirty="0">
                        <a:latin typeface="Calibri" charset="0"/>
                        <a:ea typeface="Calibri" charset="0"/>
                        <a:cs typeface="Calibri" charset="0"/>
                      </a:endParaRPr>
                    </a:p>
                  </a:txBody>
                  <a:tcPr marL="50800" marR="50800" marT="50800" marB="50800">
                    <a:lnL w="12700" cap="flat" cmpd="sng" algn="ctr">
                      <a:solidFill>
                        <a:srgbClr val="DEDEDE"/>
                      </a:solidFill>
                      <a:prstDash val="solid"/>
                      <a:round/>
                      <a:headEnd type="none" w="med" len="med"/>
                      <a:tailEnd type="none" w="med" len="med"/>
                    </a:lnL>
                    <a:lnR w="12700" cap="flat" cmpd="sng" algn="ctr">
                      <a:solidFill>
                        <a:srgbClr val="DEDEDE"/>
                      </a:solidFill>
                      <a:prstDash val="solid"/>
                      <a:round/>
                      <a:headEnd type="none" w="med" len="med"/>
                      <a:tailEnd type="none" w="med" len="med"/>
                    </a:lnR>
                    <a:lnT w="12700" cap="flat" cmpd="sng" algn="ctr">
                      <a:solidFill>
                        <a:srgbClr val="DEDEDE"/>
                      </a:solidFill>
                      <a:prstDash val="solid"/>
                      <a:round/>
                      <a:headEnd type="none" w="med" len="med"/>
                      <a:tailEnd type="none" w="med" len="med"/>
                    </a:lnT>
                    <a:lnB w="12700" cap="flat" cmpd="sng" algn="ctr">
                      <a:solidFill>
                        <a:srgbClr val="DEDEDE"/>
                      </a:solidFill>
                      <a:prstDash val="solid"/>
                      <a:round/>
                      <a:headEnd type="none" w="med" len="med"/>
                      <a:tailEnd type="none" w="med" len="med"/>
                    </a:lnB>
                    <a:solidFill>
                      <a:srgbClr val="F0F0F0"/>
                    </a:solidFill>
                  </a:tcPr>
                </a:tc>
                <a:tc>
                  <a:txBody>
                    <a:bodyPr/>
                    <a:lstStyle/>
                    <a:p>
                      <a:pPr marL="0" indent="0" algn="ctr">
                        <a:buNone/>
                      </a:pPr>
                      <a:r>
                        <a:rPr lang="en-US" sz="1100" b="1" dirty="0">
                          <a:solidFill>
                            <a:srgbClr val="27AE60"/>
                          </a:solidFill>
                          <a:latin typeface="Calibri" pitchFamily="34" charset="0"/>
                          <a:ea typeface="Calibri" pitchFamily="34" charset="-122"/>
                          <a:cs typeface="Calibri" pitchFamily="34" charset="-120"/>
                        </a:rPr>
                        <a:t>Y</a:t>
                      </a:r>
                      <a:endParaRPr lang="en-US" sz="1100" dirty="0">
                        <a:latin typeface="Calibri" charset="0"/>
                        <a:ea typeface="Calibri" charset="0"/>
                        <a:cs typeface="Calibri" charset="0"/>
                      </a:endParaRPr>
                    </a:p>
                  </a:txBody>
                  <a:tcPr marL="50800" marR="50800" marT="50800" marB="50800">
                    <a:lnL w="12700" cap="flat" cmpd="sng" algn="ctr">
                      <a:solidFill>
                        <a:srgbClr val="DEDEDE"/>
                      </a:solidFill>
                      <a:prstDash val="solid"/>
                      <a:round/>
                      <a:headEnd type="none" w="med" len="med"/>
                      <a:tailEnd type="none" w="med" len="med"/>
                    </a:lnL>
                    <a:lnR w="12700" cap="flat" cmpd="sng" algn="ctr">
                      <a:solidFill>
                        <a:srgbClr val="DEDEDE"/>
                      </a:solidFill>
                      <a:prstDash val="solid"/>
                      <a:round/>
                      <a:headEnd type="none" w="med" len="med"/>
                      <a:tailEnd type="none" w="med" len="med"/>
                    </a:lnR>
                    <a:lnT w="12700" cap="flat" cmpd="sng" algn="ctr">
                      <a:solidFill>
                        <a:srgbClr val="DEDEDE"/>
                      </a:solidFill>
                      <a:prstDash val="solid"/>
                      <a:round/>
                      <a:headEnd type="none" w="med" len="med"/>
                      <a:tailEnd type="none" w="med" len="med"/>
                    </a:lnT>
                    <a:lnB w="12700" cap="flat" cmpd="sng" algn="ctr">
                      <a:solidFill>
                        <a:srgbClr val="DEDEDE"/>
                      </a:solidFill>
                      <a:prstDash val="solid"/>
                      <a:round/>
                      <a:headEnd type="none" w="med" len="med"/>
                      <a:tailEnd type="none" w="med" len="med"/>
                    </a:lnB>
                    <a:solidFill>
                      <a:srgbClr val="FFFFFF"/>
                    </a:solidFill>
                  </a:tcPr>
                </a:tc>
                <a:tc>
                  <a:txBody>
                    <a:bodyPr/>
                    <a:lstStyle/>
                    <a:p>
                      <a:pPr marL="0" indent="0" algn="ctr">
                        <a:buNone/>
                      </a:pPr>
                      <a:r>
                        <a:rPr lang="en-US" sz="1100" b="1" dirty="0">
                          <a:solidFill>
                            <a:srgbClr val="27AE60"/>
                          </a:solidFill>
                          <a:latin typeface="Calibri" pitchFamily="34" charset="0"/>
                          <a:ea typeface="Calibri" pitchFamily="34" charset="-122"/>
                          <a:cs typeface="Calibri" pitchFamily="34" charset="-120"/>
                        </a:rPr>
                        <a:t>Y</a:t>
                      </a:r>
                      <a:endParaRPr lang="en-US" sz="1100" dirty="0">
                        <a:latin typeface="Calibri" charset="0"/>
                        <a:ea typeface="Calibri" charset="0"/>
                        <a:cs typeface="Calibri" charset="0"/>
                      </a:endParaRPr>
                    </a:p>
                  </a:txBody>
                  <a:tcPr marL="50800" marR="50800" marT="50800" marB="50800">
                    <a:lnL w="12700" cap="flat" cmpd="sng" algn="ctr">
                      <a:solidFill>
                        <a:srgbClr val="DEDEDE"/>
                      </a:solidFill>
                      <a:prstDash val="solid"/>
                      <a:round/>
                      <a:headEnd type="none" w="med" len="med"/>
                      <a:tailEnd type="none" w="med" len="med"/>
                    </a:lnL>
                    <a:lnR w="12700" cap="flat" cmpd="sng" algn="ctr">
                      <a:solidFill>
                        <a:srgbClr val="DEDEDE"/>
                      </a:solidFill>
                      <a:prstDash val="solid"/>
                      <a:round/>
                      <a:headEnd type="none" w="med" len="med"/>
                      <a:tailEnd type="none" w="med" len="med"/>
                    </a:lnR>
                    <a:lnT w="12700" cap="flat" cmpd="sng" algn="ctr">
                      <a:solidFill>
                        <a:srgbClr val="DEDEDE"/>
                      </a:solidFill>
                      <a:prstDash val="solid"/>
                      <a:round/>
                      <a:headEnd type="none" w="med" len="med"/>
                      <a:tailEnd type="none" w="med" len="med"/>
                    </a:lnT>
                    <a:lnB w="12700" cap="flat" cmpd="sng" algn="ctr">
                      <a:solidFill>
                        <a:srgbClr val="DEDEDE"/>
                      </a:solidFill>
                      <a:prstDash val="solid"/>
                      <a:round/>
                      <a:headEnd type="none" w="med" len="med"/>
                      <a:tailEnd type="none" w="med" len="med"/>
                    </a:lnB>
                    <a:solidFill>
                      <a:srgbClr val="F0F0F0"/>
                    </a:solidFill>
                  </a:tcPr>
                </a:tc>
                <a:tc>
                  <a:txBody>
                    <a:bodyPr/>
                    <a:lstStyle/>
                    <a:p>
                      <a:pPr marL="0" indent="0" algn="ctr">
                        <a:buNone/>
                      </a:pPr>
                      <a:r>
                        <a:rPr lang="en-US" sz="1100" b="1" dirty="0">
                          <a:solidFill>
                            <a:srgbClr val="C0392B"/>
                          </a:solidFill>
                          <a:latin typeface="Calibri" pitchFamily="34" charset="0"/>
                          <a:ea typeface="Calibri" pitchFamily="34" charset="-122"/>
                          <a:cs typeface="Calibri" pitchFamily="34" charset="-120"/>
                        </a:rPr>
                        <a:t>N</a:t>
                      </a:r>
                      <a:endParaRPr lang="en-US" sz="1100" dirty="0">
                        <a:latin typeface="Calibri" charset="0"/>
                        <a:ea typeface="Calibri" charset="0"/>
                        <a:cs typeface="Calibri" charset="0"/>
                      </a:endParaRPr>
                    </a:p>
                  </a:txBody>
                  <a:tcPr marL="50800" marR="50800" marT="50800" marB="50800">
                    <a:lnL w="12700" cap="flat" cmpd="sng" algn="ctr">
                      <a:solidFill>
                        <a:srgbClr val="DEDEDE"/>
                      </a:solidFill>
                      <a:prstDash val="solid"/>
                      <a:round/>
                      <a:headEnd type="none" w="med" len="med"/>
                      <a:tailEnd type="none" w="med" len="med"/>
                    </a:lnL>
                    <a:lnR w="12700" cap="flat" cmpd="sng" algn="ctr">
                      <a:solidFill>
                        <a:srgbClr val="DEDEDE"/>
                      </a:solidFill>
                      <a:prstDash val="solid"/>
                      <a:round/>
                      <a:headEnd type="none" w="med" len="med"/>
                      <a:tailEnd type="none" w="med" len="med"/>
                    </a:lnR>
                    <a:lnT w="12700" cap="flat" cmpd="sng" algn="ctr">
                      <a:solidFill>
                        <a:srgbClr val="DEDEDE"/>
                      </a:solidFill>
                      <a:prstDash val="solid"/>
                      <a:round/>
                      <a:headEnd type="none" w="med" len="med"/>
                      <a:tailEnd type="none" w="med" len="med"/>
                    </a:lnT>
                    <a:lnB w="12700" cap="flat" cmpd="sng" algn="ctr">
                      <a:solidFill>
                        <a:srgbClr val="DEDEDE"/>
                      </a:solidFill>
                      <a:prstDash val="solid"/>
                      <a:round/>
                      <a:headEnd type="none" w="med" len="med"/>
                      <a:tailEnd type="none" w="med" len="med"/>
                    </a:lnB>
                    <a:solidFill>
                      <a:srgbClr val="FFFFFF"/>
                    </a:solidFill>
                  </a:tcPr>
                </a:tc>
                <a:tc>
                  <a:txBody>
                    <a:bodyPr/>
                    <a:lstStyle/>
                    <a:p>
                      <a:pPr marL="0" indent="0" algn="ctr">
                        <a:buNone/>
                      </a:pPr>
                      <a:r>
                        <a:rPr lang="en-US" sz="1100" b="1" dirty="0">
                          <a:solidFill>
                            <a:srgbClr val="C0392B"/>
                          </a:solidFill>
                          <a:latin typeface="Calibri" pitchFamily="34" charset="0"/>
                          <a:ea typeface="Calibri" pitchFamily="34" charset="-122"/>
                          <a:cs typeface="Calibri" pitchFamily="34" charset="-120"/>
                        </a:rPr>
                        <a:t>N</a:t>
                      </a:r>
                      <a:endParaRPr lang="en-US" sz="1100" dirty="0">
                        <a:latin typeface="Calibri" charset="0"/>
                        <a:ea typeface="Calibri" charset="0"/>
                        <a:cs typeface="Calibri" charset="0"/>
                      </a:endParaRPr>
                    </a:p>
                  </a:txBody>
                  <a:tcPr marL="50800" marR="50800" marT="50800" marB="50800">
                    <a:lnL w="12700" cap="flat" cmpd="sng" algn="ctr">
                      <a:solidFill>
                        <a:srgbClr val="DEDEDE"/>
                      </a:solidFill>
                      <a:prstDash val="solid"/>
                      <a:round/>
                      <a:headEnd type="none" w="med" len="med"/>
                      <a:tailEnd type="none" w="med" len="med"/>
                    </a:lnL>
                    <a:lnR w="12700" cap="flat" cmpd="sng" algn="ctr">
                      <a:solidFill>
                        <a:srgbClr val="DEDEDE"/>
                      </a:solidFill>
                      <a:prstDash val="solid"/>
                      <a:round/>
                      <a:headEnd type="none" w="med" len="med"/>
                      <a:tailEnd type="none" w="med" len="med"/>
                    </a:lnR>
                    <a:lnT w="12700" cap="flat" cmpd="sng" algn="ctr">
                      <a:solidFill>
                        <a:srgbClr val="DEDEDE"/>
                      </a:solidFill>
                      <a:prstDash val="solid"/>
                      <a:round/>
                      <a:headEnd type="none" w="med" len="med"/>
                      <a:tailEnd type="none" w="med" len="med"/>
                    </a:lnT>
                    <a:lnB w="12700" cap="flat" cmpd="sng" algn="ctr">
                      <a:solidFill>
                        <a:srgbClr val="DEDEDE"/>
                      </a:solidFill>
                      <a:prstDash val="solid"/>
                      <a:round/>
                      <a:headEnd type="none" w="med" len="med"/>
                      <a:tailEnd type="none" w="med" len="med"/>
                    </a:lnB>
                    <a:solidFill>
                      <a:srgbClr val="F0F0F0"/>
                    </a:solidFill>
                  </a:tcPr>
                </a:tc>
                <a:tc>
                  <a:txBody>
                    <a:bodyPr/>
                    <a:lstStyle/>
                    <a:p>
                      <a:pPr marL="0" indent="0" algn="ctr">
                        <a:buNone/>
                      </a:pPr>
                      <a:r>
                        <a:rPr lang="en-US" sz="1100" b="1" dirty="0">
                          <a:solidFill>
                            <a:srgbClr val="27AE60"/>
                          </a:solidFill>
                          <a:latin typeface="Calibri" pitchFamily="34" charset="0"/>
                          <a:ea typeface="Calibri" pitchFamily="34" charset="-122"/>
                          <a:cs typeface="Calibri" pitchFamily="34" charset="-120"/>
                        </a:rPr>
                        <a:t>Y</a:t>
                      </a:r>
                      <a:endParaRPr lang="en-US" sz="1100" dirty="0">
                        <a:latin typeface="Calibri" charset="0"/>
                        <a:ea typeface="Calibri" charset="0"/>
                        <a:cs typeface="Calibri" charset="0"/>
                      </a:endParaRPr>
                    </a:p>
                  </a:txBody>
                  <a:tcPr marL="50800" marR="50800" marT="50800" marB="50800">
                    <a:lnL w="12700" cap="flat" cmpd="sng" algn="ctr">
                      <a:solidFill>
                        <a:srgbClr val="DEDEDE"/>
                      </a:solidFill>
                      <a:prstDash val="solid"/>
                      <a:round/>
                      <a:headEnd type="none" w="med" len="med"/>
                      <a:tailEnd type="none" w="med" len="med"/>
                    </a:lnL>
                    <a:lnR w="12700" cap="flat" cmpd="sng" algn="ctr">
                      <a:solidFill>
                        <a:srgbClr val="DEDEDE"/>
                      </a:solidFill>
                      <a:prstDash val="solid"/>
                      <a:round/>
                      <a:headEnd type="none" w="med" len="med"/>
                      <a:tailEnd type="none" w="med" len="med"/>
                    </a:lnR>
                    <a:lnT w="12700" cap="flat" cmpd="sng" algn="ctr">
                      <a:solidFill>
                        <a:srgbClr val="DEDEDE"/>
                      </a:solidFill>
                      <a:prstDash val="solid"/>
                      <a:round/>
                      <a:headEnd type="none" w="med" len="med"/>
                      <a:tailEnd type="none" w="med" len="med"/>
                    </a:lnT>
                    <a:lnB w="12700" cap="flat" cmpd="sng" algn="ctr">
                      <a:solidFill>
                        <a:srgbClr val="DEDEDE"/>
                      </a:solidFill>
                      <a:prstDash val="solid"/>
                      <a:round/>
                      <a:headEnd type="none" w="med" len="med"/>
                      <a:tailEnd type="none" w="med" len="med"/>
                    </a:lnB>
                    <a:solidFill>
                      <a:srgbClr val="FFFFFF"/>
                    </a:solidFill>
                  </a:tcPr>
                </a:tc>
                <a:tc>
                  <a:txBody>
                    <a:bodyPr/>
                    <a:lstStyle/>
                    <a:p>
                      <a:pPr marL="0" indent="0" algn="ctr">
                        <a:buNone/>
                      </a:pPr>
                      <a:r>
                        <a:rPr lang="en-US" sz="1100" b="1" dirty="0">
                          <a:solidFill>
                            <a:srgbClr val="C0392B"/>
                          </a:solidFill>
                          <a:latin typeface="Calibri" pitchFamily="34" charset="0"/>
                          <a:ea typeface="Calibri" pitchFamily="34" charset="-122"/>
                          <a:cs typeface="Calibri" pitchFamily="34" charset="-120"/>
                        </a:rPr>
                        <a:t>N</a:t>
                      </a:r>
                      <a:endParaRPr lang="en-US" sz="1100" dirty="0">
                        <a:latin typeface="Calibri" charset="0"/>
                        <a:ea typeface="Calibri" charset="0"/>
                        <a:cs typeface="Calibri" charset="0"/>
                      </a:endParaRPr>
                    </a:p>
                  </a:txBody>
                  <a:tcPr marL="50800" marR="50800" marT="50800" marB="50800">
                    <a:lnL w="12700" cap="flat" cmpd="sng" algn="ctr">
                      <a:solidFill>
                        <a:srgbClr val="DEDEDE"/>
                      </a:solidFill>
                      <a:prstDash val="solid"/>
                      <a:round/>
                      <a:headEnd type="none" w="med" len="med"/>
                      <a:tailEnd type="none" w="med" len="med"/>
                    </a:lnL>
                    <a:lnR w="12700" cap="flat" cmpd="sng" algn="ctr">
                      <a:solidFill>
                        <a:srgbClr val="DEDEDE"/>
                      </a:solidFill>
                      <a:prstDash val="solid"/>
                      <a:round/>
                      <a:headEnd type="none" w="med" len="med"/>
                      <a:tailEnd type="none" w="med" len="med"/>
                    </a:lnR>
                    <a:lnT w="12700" cap="flat" cmpd="sng" algn="ctr">
                      <a:solidFill>
                        <a:srgbClr val="DEDEDE"/>
                      </a:solidFill>
                      <a:prstDash val="solid"/>
                      <a:round/>
                      <a:headEnd type="none" w="med" len="med"/>
                      <a:tailEnd type="none" w="med" len="med"/>
                    </a:lnT>
                    <a:lnB w="12700" cap="flat" cmpd="sng" algn="ctr">
                      <a:solidFill>
                        <a:srgbClr val="DEDEDE"/>
                      </a:solidFill>
                      <a:prstDash val="solid"/>
                      <a:round/>
                      <a:headEnd type="none" w="med" len="med"/>
                      <a:tailEnd type="none" w="med" len="med"/>
                    </a:lnB>
                    <a:solidFill>
                      <a:srgbClr val="F0F0F0"/>
                    </a:solidFill>
                  </a:tcPr>
                </a:tc>
                <a:tc>
                  <a:txBody>
                    <a:bodyPr/>
                    <a:lstStyle/>
                    <a:p>
                      <a:pPr marL="0" indent="0" algn="ctr">
                        <a:buNone/>
                      </a:pPr>
                      <a:r>
                        <a:rPr lang="en-US" sz="1100" b="1" dirty="0">
                          <a:solidFill>
                            <a:srgbClr val="C0392B"/>
                          </a:solidFill>
                          <a:latin typeface="Calibri" pitchFamily="34" charset="0"/>
                          <a:ea typeface="Calibri" pitchFamily="34" charset="-122"/>
                          <a:cs typeface="Calibri" pitchFamily="34" charset="-120"/>
                        </a:rPr>
                        <a:t>N</a:t>
                      </a:r>
                      <a:endParaRPr lang="en-US" sz="1100" dirty="0">
                        <a:latin typeface="Calibri" charset="0"/>
                        <a:ea typeface="Calibri" charset="0"/>
                        <a:cs typeface="Calibri" charset="0"/>
                      </a:endParaRPr>
                    </a:p>
                  </a:txBody>
                  <a:tcPr marL="50800" marR="50800" marT="50800" marB="50800">
                    <a:lnL w="12700" cap="flat" cmpd="sng" algn="ctr">
                      <a:solidFill>
                        <a:srgbClr val="DEDEDE"/>
                      </a:solidFill>
                      <a:prstDash val="solid"/>
                      <a:round/>
                      <a:headEnd type="none" w="med" len="med"/>
                      <a:tailEnd type="none" w="med" len="med"/>
                    </a:lnL>
                    <a:lnR w="12700" cap="flat" cmpd="sng" algn="ctr">
                      <a:solidFill>
                        <a:srgbClr val="DEDEDE"/>
                      </a:solidFill>
                      <a:prstDash val="solid"/>
                      <a:round/>
                      <a:headEnd type="none" w="med" len="med"/>
                      <a:tailEnd type="none" w="med" len="med"/>
                    </a:lnR>
                    <a:lnT w="12700" cap="flat" cmpd="sng" algn="ctr">
                      <a:solidFill>
                        <a:srgbClr val="DEDEDE"/>
                      </a:solidFill>
                      <a:prstDash val="solid"/>
                      <a:round/>
                      <a:headEnd type="none" w="med" len="med"/>
                      <a:tailEnd type="none" w="med" len="med"/>
                    </a:lnT>
                    <a:lnB w="12700" cap="flat" cmpd="sng" algn="ctr">
                      <a:solidFill>
                        <a:srgbClr val="DEDEDE"/>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548640">
                <a:tc>
                  <a:txBody>
                    <a:bodyPr/>
                    <a:lstStyle/>
                    <a:p>
                      <a:pPr marL="0" indent="0" algn="ctr">
                        <a:buNone/>
                      </a:pPr>
                      <a:r>
                        <a:rPr lang="en-US" sz="1100" dirty="0">
                          <a:solidFill>
                            <a:srgbClr val="2C2C2C"/>
                          </a:solidFill>
                          <a:latin typeface="Calibri" pitchFamily="34" charset="0"/>
                          <a:ea typeface="Calibri" pitchFamily="34" charset="-122"/>
                          <a:cs typeface="Calibri" pitchFamily="34" charset="-120"/>
                        </a:rPr>
                        <a:t>Cart &gt; R500?</a:t>
                      </a:r>
                      <a:endParaRPr lang="en-US" sz="1100" dirty="0">
                        <a:latin typeface="Calibri" charset="0"/>
                        <a:ea typeface="Calibri" charset="0"/>
                        <a:cs typeface="Calibri" charset="0"/>
                      </a:endParaRPr>
                    </a:p>
                  </a:txBody>
                  <a:tcPr marL="50800" marR="50800" marT="50800" marB="50800">
                    <a:lnL w="12700" cap="flat" cmpd="sng" algn="ctr">
                      <a:solidFill>
                        <a:srgbClr val="DEDEDE"/>
                      </a:solidFill>
                      <a:prstDash val="solid"/>
                      <a:round/>
                      <a:headEnd type="none" w="med" len="med"/>
                      <a:tailEnd type="none" w="med" len="med"/>
                    </a:lnL>
                    <a:lnR w="12700" cap="flat" cmpd="sng" algn="ctr">
                      <a:solidFill>
                        <a:srgbClr val="DEDEDE"/>
                      </a:solidFill>
                      <a:prstDash val="solid"/>
                      <a:round/>
                      <a:headEnd type="none" w="med" len="med"/>
                      <a:tailEnd type="none" w="med" len="med"/>
                    </a:lnR>
                    <a:lnT w="12700" cap="flat" cmpd="sng" algn="ctr">
                      <a:solidFill>
                        <a:srgbClr val="DEDEDE"/>
                      </a:solidFill>
                      <a:prstDash val="solid"/>
                      <a:round/>
                      <a:headEnd type="none" w="med" len="med"/>
                      <a:tailEnd type="none" w="med" len="med"/>
                    </a:lnT>
                    <a:lnB w="12700" cap="flat" cmpd="sng" algn="ctr">
                      <a:solidFill>
                        <a:srgbClr val="DEDEDE"/>
                      </a:solidFill>
                      <a:prstDash val="solid"/>
                      <a:round/>
                      <a:headEnd type="none" w="med" len="med"/>
                      <a:tailEnd type="none" w="med" len="med"/>
                    </a:lnB>
                    <a:solidFill>
                      <a:srgbClr val="FFFFFF"/>
                    </a:solidFill>
                  </a:tcPr>
                </a:tc>
                <a:tc>
                  <a:txBody>
                    <a:bodyPr/>
                    <a:lstStyle/>
                    <a:p>
                      <a:pPr marL="0" indent="0" algn="ctr">
                        <a:buNone/>
                      </a:pPr>
                      <a:r>
                        <a:rPr lang="en-US" sz="1100" b="1" dirty="0">
                          <a:solidFill>
                            <a:srgbClr val="27AE60"/>
                          </a:solidFill>
                          <a:latin typeface="Calibri" pitchFamily="34" charset="0"/>
                          <a:ea typeface="Calibri" pitchFamily="34" charset="-122"/>
                          <a:cs typeface="Calibri" pitchFamily="34" charset="-120"/>
                        </a:rPr>
                        <a:t>Y</a:t>
                      </a:r>
                      <a:endParaRPr lang="en-US" sz="1100" dirty="0">
                        <a:latin typeface="Calibri" charset="0"/>
                        <a:ea typeface="Calibri" charset="0"/>
                        <a:cs typeface="Calibri" charset="0"/>
                      </a:endParaRPr>
                    </a:p>
                  </a:txBody>
                  <a:tcPr marL="50800" marR="50800" marT="50800" marB="50800">
                    <a:lnL w="12700" cap="flat" cmpd="sng" algn="ctr">
                      <a:solidFill>
                        <a:srgbClr val="DEDEDE"/>
                      </a:solidFill>
                      <a:prstDash val="solid"/>
                      <a:round/>
                      <a:headEnd type="none" w="med" len="med"/>
                      <a:tailEnd type="none" w="med" len="med"/>
                    </a:lnL>
                    <a:lnR w="12700" cap="flat" cmpd="sng" algn="ctr">
                      <a:solidFill>
                        <a:srgbClr val="DEDEDE"/>
                      </a:solidFill>
                      <a:prstDash val="solid"/>
                      <a:round/>
                      <a:headEnd type="none" w="med" len="med"/>
                      <a:tailEnd type="none" w="med" len="med"/>
                    </a:lnR>
                    <a:lnT w="12700" cap="flat" cmpd="sng" algn="ctr">
                      <a:solidFill>
                        <a:srgbClr val="DEDEDE"/>
                      </a:solidFill>
                      <a:prstDash val="solid"/>
                      <a:round/>
                      <a:headEnd type="none" w="med" len="med"/>
                      <a:tailEnd type="none" w="med" len="med"/>
                    </a:lnT>
                    <a:lnB w="12700" cap="flat" cmpd="sng" algn="ctr">
                      <a:solidFill>
                        <a:srgbClr val="DEDEDE"/>
                      </a:solidFill>
                      <a:prstDash val="solid"/>
                      <a:round/>
                      <a:headEnd type="none" w="med" len="med"/>
                      <a:tailEnd type="none" w="med" len="med"/>
                    </a:lnB>
                    <a:solidFill>
                      <a:srgbClr val="FFFFFF"/>
                    </a:solidFill>
                  </a:tcPr>
                </a:tc>
                <a:tc>
                  <a:txBody>
                    <a:bodyPr/>
                    <a:lstStyle/>
                    <a:p>
                      <a:pPr marL="0" indent="0" algn="ctr">
                        <a:buNone/>
                      </a:pPr>
                      <a:r>
                        <a:rPr lang="en-US" sz="1100" b="1" dirty="0">
                          <a:solidFill>
                            <a:srgbClr val="C0392B"/>
                          </a:solidFill>
                          <a:latin typeface="Calibri" pitchFamily="34" charset="0"/>
                          <a:ea typeface="Calibri" pitchFamily="34" charset="-122"/>
                          <a:cs typeface="Calibri" pitchFamily="34" charset="-120"/>
                        </a:rPr>
                        <a:t>N</a:t>
                      </a:r>
                      <a:endParaRPr lang="en-US" sz="1100" dirty="0">
                        <a:latin typeface="Calibri" charset="0"/>
                        <a:ea typeface="Calibri" charset="0"/>
                        <a:cs typeface="Calibri" charset="0"/>
                      </a:endParaRPr>
                    </a:p>
                  </a:txBody>
                  <a:tcPr marL="50800" marR="50800" marT="50800" marB="50800">
                    <a:lnL w="12700" cap="flat" cmpd="sng" algn="ctr">
                      <a:solidFill>
                        <a:srgbClr val="DEDEDE"/>
                      </a:solidFill>
                      <a:prstDash val="solid"/>
                      <a:round/>
                      <a:headEnd type="none" w="med" len="med"/>
                      <a:tailEnd type="none" w="med" len="med"/>
                    </a:lnL>
                    <a:lnR w="12700" cap="flat" cmpd="sng" algn="ctr">
                      <a:solidFill>
                        <a:srgbClr val="DEDEDE"/>
                      </a:solidFill>
                      <a:prstDash val="solid"/>
                      <a:round/>
                      <a:headEnd type="none" w="med" len="med"/>
                      <a:tailEnd type="none" w="med" len="med"/>
                    </a:lnR>
                    <a:lnT w="12700" cap="flat" cmpd="sng" algn="ctr">
                      <a:solidFill>
                        <a:srgbClr val="DEDEDE"/>
                      </a:solidFill>
                      <a:prstDash val="solid"/>
                      <a:round/>
                      <a:headEnd type="none" w="med" len="med"/>
                      <a:tailEnd type="none" w="med" len="med"/>
                    </a:lnT>
                    <a:lnB w="12700" cap="flat" cmpd="sng" algn="ctr">
                      <a:solidFill>
                        <a:srgbClr val="DEDEDE"/>
                      </a:solidFill>
                      <a:prstDash val="solid"/>
                      <a:round/>
                      <a:headEnd type="none" w="med" len="med"/>
                      <a:tailEnd type="none" w="med" len="med"/>
                    </a:lnB>
                    <a:solidFill>
                      <a:srgbClr val="F0F0F0"/>
                    </a:solidFill>
                  </a:tcPr>
                </a:tc>
                <a:tc>
                  <a:txBody>
                    <a:bodyPr/>
                    <a:lstStyle/>
                    <a:p>
                      <a:pPr marL="0" indent="0" algn="ctr">
                        <a:buNone/>
                      </a:pPr>
                      <a:r>
                        <a:rPr lang="en-US" sz="1100" b="1" dirty="0">
                          <a:solidFill>
                            <a:srgbClr val="27AE60"/>
                          </a:solidFill>
                          <a:latin typeface="Calibri" pitchFamily="34" charset="0"/>
                          <a:ea typeface="Calibri" pitchFamily="34" charset="-122"/>
                          <a:cs typeface="Calibri" pitchFamily="34" charset="-120"/>
                        </a:rPr>
                        <a:t>Y</a:t>
                      </a:r>
                      <a:endParaRPr lang="en-US" sz="1100" dirty="0">
                        <a:latin typeface="Calibri" charset="0"/>
                        <a:ea typeface="Calibri" charset="0"/>
                        <a:cs typeface="Calibri" charset="0"/>
                      </a:endParaRPr>
                    </a:p>
                  </a:txBody>
                  <a:tcPr marL="50800" marR="50800" marT="50800" marB="50800">
                    <a:lnL w="12700" cap="flat" cmpd="sng" algn="ctr">
                      <a:solidFill>
                        <a:srgbClr val="DEDEDE"/>
                      </a:solidFill>
                      <a:prstDash val="solid"/>
                      <a:round/>
                      <a:headEnd type="none" w="med" len="med"/>
                      <a:tailEnd type="none" w="med" len="med"/>
                    </a:lnL>
                    <a:lnR w="12700" cap="flat" cmpd="sng" algn="ctr">
                      <a:solidFill>
                        <a:srgbClr val="DEDEDE"/>
                      </a:solidFill>
                      <a:prstDash val="solid"/>
                      <a:round/>
                      <a:headEnd type="none" w="med" len="med"/>
                      <a:tailEnd type="none" w="med" len="med"/>
                    </a:lnR>
                    <a:lnT w="12700" cap="flat" cmpd="sng" algn="ctr">
                      <a:solidFill>
                        <a:srgbClr val="DEDEDE"/>
                      </a:solidFill>
                      <a:prstDash val="solid"/>
                      <a:round/>
                      <a:headEnd type="none" w="med" len="med"/>
                      <a:tailEnd type="none" w="med" len="med"/>
                    </a:lnT>
                    <a:lnB w="12700" cap="flat" cmpd="sng" algn="ctr">
                      <a:solidFill>
                        <a:srgbClr val="DEDEDE"/>
                      </a:solidFill>
                      <a:prstDash val="solid"/>
                      <a:round/>
                      <a:headEnd type="none" w="med" len="med"/>
                      <a:tailEnd type="none" w="med" len="med"/>
                    </a:lnB>
                    <a:solidFill>
                      <a:srgbClr val="FFFFFF"/>
                    </a:solidFill>
                  </a:tcPr>
                </a:tc>
                <a:tc>
                  <a:txBody>
                    <a:bodyPr/>
                    <a:lstStyle/>
                    <a:p>
                      <a:pPr marL="0" indent="0" algn="ctr">
                        <a:buNone/>
                      </a:pPr>
                      <a:r>
                        <a:rPr lang="en-US" sz="1100" b="1" dirty="0">
                          <a:solidFill>
                            <a:srgbClr val="C0392B"/>
                          </a:solidFill>
                          <a:latin typeface="Calibri" pitchFamily="34" charset="0"/>
                          <a:ea typeface="Calibri" pitchFamily="34" charset="-122"/>
                          <a:cs typeface="Calibri" pitchFamily="34" charset="-120"/>
                        </a:rPr>
                        <a:t>N</a:t>
                      </a:r>
                      <a:endParaRPr lang="en-US" sz="1100" dirty="0">
                        <a:latin typeface="Calibri" charset="0"/>
                        <a:ea typeface="Calibri" charset="0"/>
                        <a:cs typeface="Calibri" charset="0"/>
                      </a:endParaRPr>
                    </a:p>
                  </a:txBody>
                  <a:tcPr marL="50800" marR="50800" marT="50800" marB="50800">
                    <a:lnL w="12700" cap="flat" cmpd="sng" algn="ctr">
                      <a:solidFill>
                        <a:srgbClr val="DEDEDE"/>
                      </a:solidFill>
                      <a:prstDash val="solid"/>
                      <a:round/>
                      <a:headEnd type="none" w="med" len="med"/>
                      <a:tailEnd type="none" w="med" len="med"/>
                    </a:lnL>
                    <a:lnR w="12700" cap="flat" cmpd="sng" algn="ctr">
                      <a:solidFill>
                        <a:srgbClr val="DEDEDE"/>
                      </a:solidFill>
                      <a:prstDash val="solid"/>
                      <a:round/>
                      <a:headEnd type="none" w="med" len="med"/>
                      <a:tailEnd type="none" w="med" len="med"/>
                    </a:lnR>
                    <a:lnT w="12700" cap="flat" cmpd="sng" algn="ctr">
                      <a:solidFill>
                        <a:srgbClr val="DEDEDE"/>
                      </a:solidFill>
                      <a:prstDash val="solid"/>
                      <a:round/>
                      <a:headEnd type="none" w="med" len="med"/>
                      <a:tailEnd type="none" w="med" len="med"/>
                    </a:lnT>
                    <a:lnB w="12700" cap="flat" cmpd="sng" algn="ctr">
                      <a:solidFill>
                        <a:srgbClr val="DEDEDE"/>
                      </a:solidFill>
                      <a:prstDash val="solid"/>
                      <a:round/>
                      <a:headEnd type="none" w="med" len="med"/>
                      <a:tailEnd type="none" w="med" len="med"/>
                    </a:lnB>
                    <a:solidFill>
                      <a:srgbClr val="F0F0F0"/>
                    </a:solidFill>
                  </a:tcPr>
                </a:tc>
                <a:tc>
                  <a:txBody>
                    <a:bodyPr/>
                    <a:lstStyle/>
                    <a:p>
                      <a:pPr marL="0" indent="0" algn="ctr">
                        <a:buNone/>
                      </a:pPr>
                      <a:r>
                        <a:rPr lang="en-US" sz="1100" b="1" dirty="0">
                          <a:solidFill>
                            <a:srgbClr val="27AE60"/>
                          </a:solidFill>
                          <a:latin typeface="Calibri" pitchFamily="34" charset="0"/>
                          <a:ea typeface="Calibri" pitchFamily="34" charset="-122"/>
                          <a:cs typeface="Calibri" pitchFamily="34" charset="-120"/>
                        </a:rPr>
                        <a:t>Y</a:t>
                      </a:r>
                      <a:endParaRPr lang="en-US" sz="1100" dirty="0">
                        <a:latin typeface="Calibri" charset="0"/>
                        <a:ea typeface="Calibri" charset="0"/>
                        <a:cs typeface="Calibri" charset="0"/>
                      </a:endParaRPr>
                    </a:p>
                  </a:txBody>
                  <a:tcPr marL="50800" marR="50800" marT="50800" marB="50800">
                    <a:lnL w="12700" cap="flat" cmpd="sng" algn="ctr">
                      <a:solidFill>
                        <a:srgbClr val="DEDEDE"/>
                      </a:solidFill>
                      <a:prstDash val="solid"/>
                      <a:round/>
                      <a:headEnd type="none" w="med" len="med"/>
                      <a:tailEnd type="none" w="med" len="med"/>
                    </a:lnL>
                    <a:lnR w="12700" cap="flat" cmpd="sng" algn="ctr">
                      <a:solidFill>
                        <a:srgbClr val="DEDEDE"/>
                      </a:solidFill>
                      <a:prstDash val="solid"/>
                      <a:round/>
                      <a:headEnd type="none" w="med" len="med"/>
                      <a:tailEnd type="none" w="med" len="med"/>
                    </a:lnR>
                    <a:lnT w="12700" cap="flat" cmpd="sng" algn="ctr">
                      <a:solidFill>
                        <a:srgbClr val="DEDEDE"/>
                      </a:solidFill>
                      <a:prstDash val="solid"/>
                      <a:round/>
                      <a:headEnd type="none" w="med" len="med"/>
                      <a:tailEnd type="none" w="med" len="med"/>
                    </a:lnT>
                    <a:lnB w="12700" cap="flat" cmpd="sng" algn="ctr">
                      <a:solidFill>
                        <a:srgbClr val="DEDEDE"/>
                      </a:solidFill>
                      <a:prstDash val="solid"/>
                      <a:round/>
                      <a:headEnd type="none" w="med" len="med"/>
                      <a:tailEnd type="none" w="med" len="med"/>
                    </a:lnB>
                    <a:solidFill>
                      <a:srgbClr val="FFFFFF"/>
                    </a:solidFill>
                  </a:tcPr>
                </a:tc>
                <a:tc>
                  <a:txBody>
                    <a:bodyPr/>
                    <a:lstStyle/>
                    <a:p>
                      <a:pPr marL="0" indent="0" algn="ctr">
                        <a:buNone/>
                      </a:pPr>
                      <a:r>
                        <a:rPr lang="en-US" sz="1100" b="1" dirty="0">
                          <a:solidFill>
                            <a:srgbClr val="27AE60"/>
                          </a:solidFill>
                          <a:latin typeface="Calibri" pitchFamily="34" charset="0"/>
                          <a:ea typeface="Calibri" pitchFamily="34" charset="-122"/>
                          <a:cs typeface="Calibri" pitchFamily="34" charset="-120"/>
                        </a:rPr>
                        <a:t>Y</a:t>
                      </a:r>
                      <a:endParaRPr lang="en-US" sz="1100" dirty="0">
                        <a:latin typeface="Calibri" charset="0"/>
                        <a:ea typeface="Calibri" charset="0"/>
                        <a:cs typeface="Calibri" charset="0"/>
                      </a:endParaRPr>
                    </a:p>
                  </a:txBody>
                  <a:tcPr marL="50800" marR="50800" marT="50800" marB="50800">
                    <a:lnL w="12700" cap="flat" cmpd="sng" algn="ctr">
                      <a:solidFill>
                        <a:srgbClr val="DEDEDE"/>
                      </a:solidFill>
                      <a:prstDash val="solid"/>
                      <a:round/>
                      <a:headEnd type="none" w="med" len="med"/>
                      <a:tailEnd type="none" w="med" len="med"/>
                    </a:lnL>
                    <a:lnR w="12700" cap="flat" cmpd="sng" algn="ctr">
                      <a:solidFill>
                        <a:srgbClr val="DEDEDE"/>
                      </a:solidFill>
                      <a:prstDash val="solid"/>
                      <a:round/>
                      <a:headEnd type="none" w="med" len="med"/>
                      <a:tailEnd type="none" w="med" len="med"/>
                    </a:lnR>
                    <a:lnT w="12700" cap="flat" cmpd="sng" algn="ctr">
                      <a:solidFill>
                        <a:srgbClr val="DEDEDE"/>
                      </a:solidFill>
                      <a:prstDash val="solid"/>
                      <a:round/>
                      <a:headEnd type="none" w="med" len="med"/>
                      <a:tailEnd type="none" w="med" len="med"/>
                    </a:lnT>
                    <a:lnB w="12700" cap="flat" cmpd="sng" algn="ctr">
                      <a:solidFill>
                        <a:srgbClr val="DEDEDE"/>
                      </a:solidFill>
                      <a:prstDash val="solid"/>
                      <a:round/>
                      <a:headEnd type="none" w="med" len="med"/>
                      <a:tailEnd type="none" w="med" len="med"/>
                    </a:lnB>
                    <a:solidFill>
                      <a:srgbClr val="F0F0F0"/>
                    </a:solidFill>
                  </a:tcPr>
                </a:tc>
                <a:tc>
                  <a:txBody>
                    <a:bodyPr/>
                    <a:lstStyle/>
                    <a:p>
                      <a:pPr marL="0" indent="0" algn="ctr">
                        <a:buNone/>
                      </a:pPr>
                      <a:r>
                        <a:rPr lang="en-US" sz="1100" b="1" dirty="0">
                          <a:solidFill>
                            <a:srgbClr val="C0392B"/>
                          </a:solidFill>
                          <a:latin typeface="Calibri" pitchFamily="34" charset="0"/>
                          <a:ea typeface="Calibri" pitchFamily="34" charset="-122"/>
                          <a:cs typeface="Calibri" pitchFamily="34" charset="-120"/>
                        </a:rPr>
                        <a:t>N</a:t>
                      </a:r>
                      <a:endParaRPr lang="en-US" sz="1100" dirty="0">
                        <a:latin typeface="Calibri" charset="0"/>
                        <a:ea typeface="Calibri" charset="0"/>
                        <a:cs typeface="Calibri" charset="0"/>
                      </a:endParaRPr>
                    </a:p>
                  </a:txBody>
                  <a:tcPr marL="50800" marR="50800" marT="50800" marB="50800">
                    <a:lnL w="12700" cap="flat" cmpd="sng" algn="ctr">
                      <a:solidFill>
                        <a:srgbClr val="DEDEDE"/>
                      </a:solidFill>
                      <a:prstDash val="solid"/>
                      <a:round/>
                      <a:headEnd type="none" w="med" len="med"/>
                      <a:tailEnd type="none" w="med" len="med"/>
                    </a:lnL>
                    <a:lnR w="12700" cap="flat" cmpd="sng" algn="ctr">
                      <a:solidFill>
                        <a:srgbClr val="DEDEDE"/>
                      </a:solidFill>
                      <a:prstDash val="solid"/>
                      <a:round/>
                      <a:headEnd type="none" w="med" len="med"/>
                      <a:tailEnd type="none" w="med" len="med"/>
                    </a:lnR>
                    <a:lnT w="12700" cap="flat" cmpd="sng" algn="ctr">
                      <a:solidFill>
                        <a:srgbClr val="DEDEDE"/>
                      </a:solidFill>
                      <a:prstDash val="solid"/>
                      <a:round/>
                      <a:headEnd type="none" w="med" len="med"/>
                      <a:tailEnd type="none" w="med" len="med"/>
                    </a:lnT>
                    <a:lnB w="12700" cap="flat" cmpd="sng" algn="ctr">
                      <a:solidFill>
                        <a:srgbClr val="DEDEDE"/>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548640">
                <a:tc>
                  <a:txBody>
                    <a:bodyPr/>
                    <a:lstStyle/>
                    <a:p>
                      <a:pPr marL="0" indent="0" algn="ctr">
                        <a:buNone/>
                      </a:pPr>
                      <a:r>
                        <a:rPr lang="en-US" sz="1000" b="1" dirty="0">
                          <a:solidFill>
                            <a:srgbClr val="FF6500"/>
                          </a:solidFill>
                          <a:latin typeface="Arial" pitchFamily="34" charset="0"/>
                          <a:ea typeface="Arial" pitchFamily="34" charset="-122"/>
                          <a:cs typeface="Arial" pitchFamily="34" charset="-120"/>
                        </a:rPr>
                        <a:t>RESULT</a:t>
                      </a:r>
                      <a:endParaRPr lang="en-US" sz="1000" dirty="0">
                        <a:latin typeface="Arial" charset="0"/>
                        <a:ea typeface="Arial" charset="0"/>
                        <a:cs typeface="Arial" charset="0"/>
                      </a:endParaRPr>
                    </a:p>
                  </a:txBody>
                  <a:tcPr marL="50800" marR="50800" marT="50800" marB="50800">
                    <a:lnL w="12700" cap="flat" cmpd="sng" algn="ctr">
                      <a:solidFill>
                        <a:srgbClr val="DEDEDE"/>
                      </a:solidFill>
                      <a:prstDash val="solid"/>
                      <a:round/>
                      <a:headEnd type="none" w="med" len="med"/>
                      <a:tailEnd type="none" w="med" len="med"/>
                    </a:lnL>
                    <a:lnR w="12700" cap="flat" cmpd="sng" algn="ctr">
                      <a:solidFill>
                        <a:srgbClr val="DEDEDE"/>
                      </a:solidFill>
                      <a:prstDash val="solid"/>
                      <a:round/>
                      <a:headEnd type="none" w="med" len="med"/>
                      <a:tailEnd type="none" w="med" len="med"/>
                    </a:lnR>
                    <a:lnT w="12700" cap="flat" cmpd="sng" algn="ctr">
                      <a:solidFill>
                        <a:srgbClr val="DEDEDE"/>
                      </a:solidFill>
                      <a:prstDash val="solid"/>
                      <a:round/>
                      <a:headEnd type="none" w="med" len="med"/>
                      <a:tailEnd type="none" w="med" len="med"/>
                    </a:lnT>
                    <a:lnB w="12700" cap="flat" cmpd="sng" algn="ctr">
                      <a:solidFill>
                        <a:srgbClr val="DEDEDE"/>
                      </a:solidFill>
                      <a:prstDash val="solid"/>
                      <a:round/>
                      <a:headEnd type="none" w="med" len="med"/>
                      <a:tailEnd type="none" w="med" len="med"/>
                    </a:lnB>
                    <a:solidFill>
                      <a:srgbClr val="1A1A1A"/>
                    </a:solidFill>
                  </a:tcPr>
                </a:tc>
                <a:tc>
                  <a:txBody>
                    <a:bodyPr/>
                    <a:lstStyle/>
                    <a:p>
                      <a:pPr marL="0" indent="0" algn="ctr">
                        <a:buNone/>
                      </a:pPr>
                      <a:r>
                        <a:rPr lang="en-US" sz="1100" b="1" dirty="0">
                          <a:solidFill>
                            <a:srgbClr val="FFFFFF"/>
                          </a:solidFill>
                          <a:latin typeface="Calibri" pitchFamily="34" charset="0"/>
                          <a:ea typeface="Calibri" pitchFamily="34" charset="-122"/>
                          <a:cs typeface="Calibri" pitchFamily="34" charset="-120"/>
                        </a:rPr>
                        <a:t>20% OFF</a:t>
                      </a:r>
                      <a:endParaRPr lang="en-US" sz="1100" dirty="0">
                        <a:latin typeface="Calibri" charset="0"/>
                        <a:ea typeface="Calibri" charset="0"/>
                        <a:cs typeface="Calibri" charset="0"/>
                      </a:endParaRPr>
                    </a:p>
                  </a:txBody>
                  <a:tcPr marL="50800" marR="50800" marT="50800" marB="50800">
                    <a:lnL w="12700" cap="flat" cmpd="sng" algn="ctr">
                      <a:solidFill>
                        <a:srgbClr val="DEDEDE"/>
                      </a:solidFill>
                      <a:prstDash val="solid"/>
                      <a:round/>
                      <a:headEnd type="none" w="med" len="med"/>
                      <a:tailEnd type="none" w="med" len="med"/>
                    </a:lnL>
                    <a:lnR w="12700" cap="flat" cmpd="sng" algn="ctr">
                      <a:solidFill>
                        <a:srgbClr val="DEDEDE"/>
                      </a:solidFill>
                      <a:prstDash val="solid"/>
                      <a:round/>
                      <a:headEnd type="none" w="med" len="med"/>
                      <a:tailEnd type="none" w="med" len="med"/>
                    </a:lnR>
                    <a:lnT w="12700" cap="flat" cmpd="sng" algn="ctr">
                      <a:solidFill>
                        <a:srgbClr val="DEDEDE"/>
                      </a:solidFill>
                      <a:prstDash val="solid"/>
                      <a:round/>
                      <a:headEnd type="none" w="med" len="med"/>
                      <a:tailEnd type="none" w="med" len="med"/>
                    </a:lnT>
                    <a:lnB w="12700" cap="flat" cmpd="sng" algn="ctr">
                      <a:solidFill>
                        <a:srgbClr val="DEDEDE"/>
                      </a:solidFill>
                      <a:prstDash val="solid"/>
                      <a:round/>
                      <a:headEnd type="none" w="med" len="med"/>
                      <a:tailEnd type="none" w="med" len="med"/>
                    </a:lnB>
                    <a:solidFill>
                      <a:srgbClr val="1A5C00"/>
                    </a:solidFill>
                  </a:tcPr>
                </a:tc>
                <a:tc>
                  <a:txBody>
                    <a:bodyPr/>
                    <a:lstStyle/>
                    <a:p>
                      <a:pPr marL="0" indent="0" algn="ctr">
                        <a:buNone/>
                      </a:pPr>
                      <a:r>
                        <a:rPr lang="en-US" sz="1100" b="1" dirty="0">
                          <a:solidFill>
                            <a:srgbClr val="FFFFFF"/>
                          </a:solidFill>
                          <a:latin typeface="Calibri" pitchFamily="34" charset="0"/>
                          <a:ea typeface="Calibri" pitchFamily="34" charset="-122"/>
                          <a:cs typeface="Calibri" pitchFamily="34" charset="-120"/>
                        </a:rPr>
                        <a:t>15% OFF</a:t>
                      </a:r>
                      <a:endParaRPr lang="en-US" sz="1100" dirty="0">
                        <a:latin typeface="Calibri" charset="0"/>
                        <a:ea typeface="Calibri" charset="0"/>
                        <a:cs typeface="Calibri" charset="0"/>
                      </a:endParaRPr>
                    </a:p>
                  </a:txBody>
                  <a:tcPr marL="50800" marR="50800" marT="50800" marB="50800">
                    <a:lnL w="12700" cap="flat" cmpd="sng" algn="ctr">
                      <a:solidFill>
                        <a:srgbClr val="DEDEDE"/>
                      </a:solidFill>
                      <a:prstDash val="solid"/>
                      <a:round/>
                      <a:headEnd type="none" w="med" len="med"/>
                      <a:tailEnd type="none" w="med" len="med"/>
                    </a:lnL>
                    <a:lnR w="12700" cap="flat" cmpd="sng" algn="ctr">
                      <a:solidFill>
                        <a:srgbClr val="DEDEDE"/>
                      </a:solidFill>
                      <a:prstDash val="solid"/>
                      <a:round/>
                      <a:headEnd type="none" w="med" len="med"/>
                      <a:tailEnd type="none" w="med" len="med"/>
                    </a:lnR>
                    <a:lnT w="12700" cap="flat" cmpd="sng" algn="ctr">
                      <a:solidFill>
                        <a:srgbClr val="DEDEDE"/>
                      </a:solidFill>
                      <a:prstDash val="solid"/>
                      <a:round/>
                      <a:headEnd type="none" w="med" len="med"/>
                      <a:tailEnd type="none" w="med" len="med"/>
                    </a:lnT>
                    <a:lnB w="12700" cap="flat" cmpd="sng" algn="ctr">
                      <a:solidFill>
                        <a:srgbClr val="DEDEDE"/>
                      </a:solidFill>
                      <a:prstDash val="solid"/>
                      <a:round/>
                      <a:headEnd type="none" w="med" len="med"/>
                      <a:tailEnd type="none" w="med" len="med"/>
                    </a:lnB>
                    <a:solidFill>
                      <a:srgbClr val="155000"/>
                    </a:solidFill>
                  </a:tcPr>
                </a:tc>
                <a:tc>
                  <a:txBody>
                    <a:bodyPr/>
                    <a:lstStyle/>
                    <a:p>
                      <a:pPr marL="0" indent="0" algn="ctr">
                        <a:buNone/>
                      </a:pPr>
                      <a:r>
                        <a:rPr lang="en-US" sz="1100" b="1" dirty="0">
                          <a:solidFill>
                            <a:srgbClr val="FFFFFF"/>
                          </a:solidFill>
                          <a:latin typeface="Calibri" pitchFamily="34" charset="0"/>
                          <a:ea typeface="Calibri" pitchFamily="34" charset="-122"/>
                          <a:cs typeface="Calibri" pitchFamily="34" charset="-120"/>
                        </a:rPr>
                        <a:t>10% OFF</a:t>
                      </a:r>
                      <a:endParaRPr lang="en-US" sz="1100" dirty="0">
                        <a:latin typeface="Calibri" charset="0"/>
                        <a:ea typeface="Calibri" charset="0"/>
                        <a:cs typeface="Calibri" charset="0"/>
                      </a:endParaRPr>
                    </a:p>
                  </a:txBody>
                  <a:tcPr marL="50800" marR="50800" marT="50800" marB="50800">
                    <a:lnL w="12700" cap="flat" cmpd="sng" algn="ctr">
                      <a:solidFill>
                        <a:srgbClr val="DEDEDE"/>
                      </a:solidFill>
                      <a:prstDash val="solid"/>
                      <a:round/>
                      <a:headEnd type="none" w="med" len="med"/>
                      <a:tailEnd type="none" w="med" len="med"/>
                    </a:lnL>
                    <a:lnR w="12700" cap="flat" cmpd="sng" algn="ctr">
                      <a:solidFill>
                        <a:srgbClr val="DEDEDE"/>
                      </a:solidFill>
                      <a:prstDash val="solid"/>
                      <a:round/>
                      <a:headEnd type="none" w="med" len="med"/>
                      <a:tailEnd type="none" w="med" len="med"/>
                    </a:lnR>
                    <a:lnT w="12700" cap="flat" cmpd="sng" algn="ctr">
                      <a:solidFill>
                        <a:srgbClr val="DEDEDE"/>
                      </a:solidFill>
                      <a:prstDash val="solid"/>
                      <a:round/>
                      <a:headEnd type="none" w="med" len="med"/>
                      <a:tailEnd type="none" w="med" len="med"/>
                    </a:lnT>
                    <a:lnB w="12700" cap="flat" cmpd="sng" algn="ctr">
                      <a:solidFill>
                        <a:srgbClr val="DEDEDE"/>
                      </a:solidFill>
                      <a:prstDash val="solid"/>
                      <a:round/>
                      <a:headEnd type="none" w="med" len="med"/>
                      <a:tailEnd type="none" w="med" len="med"/>
                    </a:lnB>
                    <a:solidFill>
                      <a:srgbClr val="1A5C00"/>
                    </a:solidFill>
                  </a:tcPr>
                </a:tc>
                <a:tc>
                  <a:txBody>
                    <a:bodyPr/>
                    <a:lstStyle/>
                    <a:p>
                      <a:pPr marL="0" indent="0" algn="ctr">
                        <a:buNone/>
                      </a:pPr>
                      <a:r>
                        <a:rPr lang="en-US" sz="1100" b="1" dirty="0">
                          <a:solidFill>
                            <a:srgbClr val="FFFFFF"/>
                          </a:solidFill>
                          <a:latin typeface="Calibri" pitchFamily="34" charset="0"/>
                          <a:ea typeface="Calibri" pitchFamily="34" charset="-122"/>
                          <a:cs typeface="Calibri" pitchFamily="34" charset="-120"/>
                        </a:rPr>
                        <a:t>5% OFF</a:t>
                      </a:r>
                      <a:endParaRPr lang="en-US" sz="1100" dirty="0">
                        <a:latin typeface="Calibri" charset="0"/>
                        <a:ea typeface="Calibri" charset="0"/>
                        <a:cs typeface="Calibri" charset="0"/>
                      </a:endParaRPr>
                    </a:p>
                  </a:txBody>
                  <a:tcPr marL="50800" marR="50800" marT="50800" marB="50800">
                    <a:lnL w="12700" cap="flat" cmpd="sng" algn="ctr">
                      <a:solidFill>
                        <a:srgbClr val="DEDEDE"/>
                      </a:solidFill>
                      <a:prstDash val="solid"/>
                      <a:round/>
                      <a:headEnd type="none" w="med" len="med"/>
                      <a:tailEnd type="none" w="med" len="med"/>
                    </a:lnL>
                    <a:lnR w="12700" cap="flat" cmpd="sng" algn="ctr">
                      <a:solidFill>
                        <a:srgbClr val="DEDEDE"/>
                      </a:solidFill>
                      <a:prstDash val="solid"/>
                      <a:round/>
                      <a:headEnd type="none" w="med" len="med"/>
                      <a:tailEnd type="none" w="med" len="med"/>
                    </a:lnR>
                    <a:lnT w="12700" cap="flat" cmpd="sng" algn="ctr">
                      <a:solidFill>
                        <a:srgbClr val="DEDEDE"/>
                      </a:solidFill>
                      <a:prstDash val="solid"/>
                      <a:round/>
                      <a:headEnd type="none" w="med" len="med"/>
                      <a:tailEnd type="none" w="med" len="med"/>
                    </a:lnT>
                    <a:lnB w="12700" cap="flat" cmpd="sng" algn="ctr">
                      <a:solidFill>
                        <a:srgbClr val="DEDEDE"/>
                      </a:solidFill>
                      <a:prstDash val="solid"/>
                      <a:round/>
                      <a:headEnd type="none" w="med" len="med"/>
                      <a:tailEnd type="none" w="med" len="med"/>
                    </a:lnB>
                    <a:solidFill>
                      <a:srgbClr val="155000"/>
                    </a:solidFill>
                  </a:tcPr>
                </a:tc>
                <a:tc>
                  <a:txBody>
                    <a:bodyPr/>
                    <a:lstStyle/>
                    <a:p>
                      <a:pPr marL="0" indent="0" algn="ctr">
                        <a:buNone/>
                      </a:pPr>
                      <a:r>
                        <a:rPr lang="en-US" sz="1100" b="1" dirty="0">
                          <a:solidFill>
                            <a:srgbClr val="FFFFFF"/>
                          </a:solidFill>
                          <a:latin typeface="Calibri" pitchFamily="34" charset="0"/>
                          <a:ea typeface="Calibri" pitchFamily="34" charset="-122"/>
                          <a:cs typeface="Calibri" pitchFamily="34" charset="-120"/>
                        </a:rPr>
                        <a:t>5% OFF</a:t>
                      </a:r>
                      <a:endParaRPr lang="en-US" sz="1100" dirty="0">
                        <a:latin typeface="Calibri" charset="0"/>
                        <a:ea typeface="Calibri" charset="0"/>
                        <a:cs typeface="Calibri" charset="0"/>
                      </a:endParaRPr>
                    </a:p>
                  </a:txBody>
                  <a:tcPr marL="50800" marR="50800" marT="50800" marB="50800">
                    <a:lnL w="12700" cap="flat" cmpd="sng" algn="ctr">
                      <a:solidFill>
                        <a:srgbClr val="DEDEDE"/>
                      </a:solidFill>
                      <a:prstDash val="solid"/>
                      <a:round/>
                      <a:headEnd type="none" w="med" len="med"/>
                      <a:tailEnd type="none" w="med" len="med"/>
                    </a:lnL>
                    <a:lnR w="12700" cap="flat" cmpd="sng" algn="ctr">
                      <a:solidFill>
                        <a:srgbClr val="DEDEDE"/>
                      </a:solidFill>
                      <a:prstDash val="solid"/>
                      <a:round/>
                      <a:headEnd type="none" w="med" len="med"/>
                      <a:tailEnd type="none" w="med" len="med"/>
                    </a:lnR>
                    <a:lnT w="12700" cap="flat" cmpd="sng" algn="ctr">
                      <a:solidFill>
                        <a:srgbClr val="DEDEDE"/>
                      </a:solidFill>
                      <a:prstDash val="solid"/>
                      <a:round/>
                      <a:headEnd type="none" w="med" len="med"/>
                      <a:tailEnd type="none" w="med" len="med"/>
                    </a:lnT>
                    <a:lnB w="12700" cap="flat" cmpd="sng" algn="ctr">
                      <a:solidFill>
                        <a:srgbClr val="DEDEDE"/>
                      </a:solidFill>
                      <a:prstDash val="solid"/>
                      <a:round/>
                      <a:headEnd type="none" w="med" len="med"/>
                      <a:tailEnd type="none" w="med" len="med"/>
                    </a:lnB>
                    <a:solidFill>
                      <a:srgbClr val="1A5C00"/>
                    </a:solidFill>
                  </a:tcPr>
                </a:tc>
                <a:tc>
                  <a:txBody>
                    <a:bodyPr/>
                    <a:lstStyle/>
                    <a:p>
                      <a:pPr marL="0" indent="0" algn="ctr">
                        <a:buNone/>
                      </a:pPr>
                      <a:r>
                        <a:rPr lang="en-US" sz="1100" b="1" dirty="0">
                          <a:solidFill>
                            <a:srgbClr val="FFFFFF"/>
                          </a:solidFill>
                          <a:latin typeface="Calibri" pitchFamily="34" charset="0"/>
                          <a:ea typeface="Calibri" pitchFamily="34" charset="-122"/>
                          <a:cs typeface="Calibri" pitchFamily="34" charset="-120"/>
                        </a:rPr>
                        <a:t>No Deal</a:t>
                      </a:r>
                      <a:endParaRPr lang="en-US" sz="1100" dirty="0">
                        <a:latin typeface="Calibri" charset="0"/>
                        <a:ea typeface="Calibri" charset="0"/>
                        <a:cs typeface="Calibri" charset="0"/>
                      </a:endParaRPr>
                    </a:p>
                  </a:txBody>
                  <a:tcPr marL="50800" marR="50800" marT="50800" marB="50800">
                    <a:lnL w="12700" cap="flat" cmpd="sng" algn="ctr">
                      <a:solidFill>
                        <a:srgbClr val="DEDEDE"/>
                      </a:solidFill>
                      <a:prstDash val="solid"/>
                      <a:round/>
                      <a:headEnd type="none" w="med" len="med"/>
                      <a:tailEnd type="none" w="med" len="med"/>
                    </a:lnL>
                    <a:lnR w="12700" cap="flat" cmpd="sng" algn="ctr">
                      <a:solidFill>
                        <a:srgbClr val="DEDEDE"/>
                      </a:solidFill>
                      <a:prstDash val="solid"/>
                      <a:round/>
                      <a:headEnd type="none" w="med" len="med"/>
                      <a:tailEnd type="none" w="med" len="med"/>
                    </a:lnR>
                    <a:lnT w="12700" cap="flat" cmpd="sng" algn="ctr">
                      <a:solidFill>
                        <a:srgbClr val="DEDEDE"/>
                      </a:solidFill>
                      <a:prstDash val="solid"/>
                      <a:round/>
                      <a:headEnd type="none" w="med" len="med"/>
                      <a:tailEnd type="none" w="med" len="med"/>
                    </a:lnT>
                    <a:lnB w="12700" cap="flat" cmpd="sng" algn="ctr">
                      <a:solidFill>
                        <a:srgbClr val="DEDEDE"/>
                      </a:solidFill>
                      <a:prstDash val="solid"/>
                      <a:round/>
                      <a:headEnd type="none" w="med" len="med"/>
                      <a:tailEnd type="none" w="med" len="med"/>
                    </a:lnB>
                    <a:solidFill>
                      <a:srgbClr val="4A0000"/>
                    </a:solidFill>
                  </a:tcPr>
                </a:tc>
                <a:tc>
                  <a:txBody>
                    <a:bodyPr/>
                    <a:lstStyle/>
                    <a:p>
                      <a:pPr marL="0" indent="0" algn="ctr">
                        <a:buNone/>
                      </a:pPr>
                      <a:r>
                        <a:rPr lang="en-US" sz="1100" b="1" dirty="0">
                          <a:solidFill>
                            <a:srgbClr val="FFFFFF"/>
                          </a:solidFill>
                          <a:latin typeface="Calibri" pitchFamily="34" charset="0"/>
                          <a:ea typeface="Calibri" pitchFamily="34" charset="-122"/>
                          <a:cs typeface="Calibri" pitchFamily="34" charset="-120"/>
                        </a:rPr>
                        <a:t>No Deal</a:t>
                      </a:r>
                      <a:endParaRPr lang="en-US" sz="1100" dirty="0">
                        <a:latin typeface="Calibri" charset="0"/>
                        <a:ea typeface="Calibri" charset="0"/>
                        <a:cs typeface="Calibri" charset="0"/>
                      </a:endParaRPr>
                    </a:p>
                  </a:txBody>
                  <a:tcPr marL="50800" marR="50800" marT="50800" marB="50800">
                    <a:lnL w="12700" cap="flat" cmpd="sng" algn="ctr">
                      <a:solidFill>
                        <a:srgbClr val="DEDEDE"/>
                      </a:solidFill>
                      <a:prstDash val="solid"/>
                      <a:round/>
                      <a:headEnd type="none" w="med" len="med"/>
                      <a:tailEnd type="none" w="med" len="med"/>
                    </a:lnL>
                    <a:lnR w="12700" cap="flat" cmpd="sng" algn="ctr">
                      <a:solidFill>
                        <a:srgbClr val="DEDEDE"/>
                      </a:solidFill>
                      <a:prstDash val="solid"/>
                      <a:round/>
                      <a:headEnd type="none" w="med" len="med"/>
                      <a:tailEnd type="none" w="med" len="med"/>
                    </a:lnR>
                    <a:lnT w="12700" cap="flat" cmpd="sng" algn="ctr">
                      <a:solidFill>
                        <a:srgbClr val="DEDEDE"/>
                      </a:solidFill>
                      <a:prstDash val="solid"/>
                      <a:round/>
                      <a:headEnd type="none" w="med" len="med"/>
                      <a:tailEnd type="none" w="med" len="med"/>
                    </a:lnT>
                    <a:lnB w="12700" cap="flat" cmpd="sng" algn="ctr">
                      <a:solidFill>
                        <a:srgbClr val="DEDEDE"/>
                      </a:solidFill>
                      <a:prstDash val="solid"/>
                      <a:round/>
                      <a:headEnd type="none" w="med" len="med"/>
                      <a:tailEnd type="none" w="med" len="med"/>
                    </a:lnB>
                    <a:solidFill>
                      <a:srgbClr val="4A0000"/>
                    </a:solidFill>
                  </a:tcPr>
                </a:tc>
                <a:extLst>
                  <a:ext uri="{0D108BD9-81ED-4DB2-BD59-A6C34878D82A}">
                    <a16:rowId xmlns:a16="http://schemas.microsoft.com/office/drawing/2014/main" val="10004"/>
                  </a:ext>
                </a:extLst>
              </a:tr>
            </a:tbl>
          </a:graphicData>
        </a:graphic>
      </p:graphicFrame>
      <p:sp>
        <p:nvSpPr>
          <p:cNvPr id="11" name="Text 8"/>
          <p:cNvSpPr/>
          <p:nvPr/>
        </p:nvSpPr>
        <p:spPr>
          <a:xfrm>
            <a:off x="228600" y="4526280"/>
            <a:ext cx="8732520" cy="201168"/>
          </a:xfrm>
          <a:prstGeom prst="rect">
            <a:avLst/>
          </a:prstGeom>
          <a:noFill/>
          <a:ln/>
        </p:spPr>
        <p:txBody>
          <a:bodyPr wrap="square" lIns="0" tIns="0" rIns="0" bIns="0" rtlCol="0" anchor="ctr"/>
          <a:lstStyle/>
          <a:p>
            <a:pPr marL="0" indent="0">
              <a:buNone/>
            </a:pPr>
            <a:r>
              <a:rPr lang="en-US" sz="950" i="1" dirty="0">
                <a:solidFill>
                  <a:srgbClr val="5A5A5A"/>
                </a:solidFill>
                <a:latin typeface="Calibri" pitchFamily="34" charset="0"/>
                <a:ea typeface="Calibri" pitchFamily="34" charset="-122"/>
                <a:cs typeface="Calibri" pitchFamily="34" charset="-120"/>
              </a:rPr>
              <a:t>Each column = 1 unique test case. 7 columns = 7 test cases covering ALL condition combinations — no guessing.</a:t>
            </a:r>
            <a:endParaRPr lang="en-US" sz="950" dirty="0"/>
          </a:p>
        </p:txBody>
      </p:sp>
      <p:sp>
        <p:nvSpPr>
          <p:cNvPr id="12" name="Shape 9"/>
          <p:cNvSpPr/>
          <p:nvPr/>
        </p:nvSpPr>
        <p:spPr>
          <a:xfrm>
            <a:off x="228600" y="4773168"/>
            <a:ext cx="8732520" cy="201168"/>
          </a:xfrm>
          <a:prstGeom prst="rect">
            <a:avLst/>
          </a:prstGeom>
          <a:solidFill>
            <a:srgbClr val="FFF3E0"/>
          </a:solidFill>
          <a:ln w="12700">
            <a:solidFill>
              <a:srgbClr val="FF6500"/>
            </a:solidFill>
            <a:prstDash val="solid"/>
          </a:ln>
        </p:spPr>
      </p:sp>
      <p:sp>
        <p:nvSpPr>
          <p:cNvPr id="13" name="Text 10"/>
          <p:cNvSpPr/>
          <p:nvPr/>
        </p:nvSpPr>
        <p:spPr>
          <a:xfrm>
            <a:off x="320040" y="4782312"/>
            <a:ext cx="8503920" cy="182880"/>
          </a:xfrm>
          <a:prstGeom prst="rect">
            <a:avLst/>
          </a:prstGeom>
          <a:noFill/>
          <a:ln/>
        </p:spPr>
        <p:txBody>
          <a:bodyPr wrap="square" lIns="0" tIns="0" rIns="0" bIns="0" rtlCol="0" anchor="ctr"/>
          <a:lstStyle/>
          <a:p>
            <a:pPr marL="0" indent="0">
              <a:buNone/>
            </a:pPr>
            <a:r>
              <a:rPr lang="en-US" sz="900" dirty="0">
                <a:solidFill>
                  <a:srgbClr val="2C2C2C"/>
                </a:solidFill>
                <a:latin typeface="Calibri" pitchFamily="34" charset="0"/>
                <a:ea typeface="Calibri" pitchFamily="34" charset="-122"/>
                <a:cs typeface="Calibri" pitchFamily="34" charset="-120"/>
              </a:rPr>
              <a:t>FORMULA: 2^n combinations where n = number of conditions. 3 conditions = 2³ = 8 combinations (7 unique here as one combination is impossible).</a:t>
            </a:r>
            <a:endParaRPr lang="en-US" sz="9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20">
    <p:bg>
      <p:bgPr>
        <a:solidFill>
          <a:srgbClr val="F5F5F5"/>
        </a:solidFill>
        <a:effectLst/>
      </p:bgPr>
    </p:bg>
    <p:spTree>
      <p:nvGrpSpPr>
        <p:cNvPr id="1" name=""/>
        <p:cNvGrpSpPr/>
        <p:nvPr/>
      </p:nvGrpSpPr>
      <p:grpSpPr>
        <a:xfrm>
          <a:off x="0" y="0"/>
          <a:ext cx="0" cy="0"/>
          <a:chOff x="0" y="0"/>
          <a:chExt cx="0" cy="0"/>
        </a:xfrm>
      </p:grpSpPr>
      <p:sp>
        <p:nvSpPr>
          <p:cNvPr id="2" name="Shape 0"/>
          <p:cNvSpPr/>
          <p:nvPr/>
        </p:nvSpPr>
        <p:spPr>
          <a:xfrm>
            <a:off x="0" y="0"/>
            <a:ext cx="9144000" cy="621792"/>
          </a:xfrm>
          <a:prstGeom prst="rect">
            <a:avLst/>
          </a:prstGeom>
          <a:solidFill>
            <a:srgbClr val="0D0D0D"/>
          </a:solidFill>
          <a:ln w="12700">
            <a:solidFill>
              <a:srgbClr val="0D0D0D"/>
            </a:solidFill>
            <a:prstDash val="solid"/>
          </a:ln>
        </p:spPr>
      </p:sp>
      <p:sp>
        <p:nvSpPr>
          <p:cNvPr id="3" name="Shape 1"/>
          <p:cNvSpPr/>
          <p:nvPr/>
        </p:nvSpPr>
        <p:spPr>
          <a:xfrm>
            <a:off x="0" y="0"/>
            <a:ext cx="64008" cy="621792"/>
          </a:xfrm>
          <a:prstGeom prst="rect">
            <a:avLst/>
          </a:prstGeom>
          <a:solidFill>
            <a:srgbClr val="FF6500"/>
          </a:solidFill>
          <a:ln w="12700">
            <a:solidFill>
              <a:srgbClr val="FF6500"/>
            </a:solidFill>
            <a:prstDash val="solid"/>
          </a:ln>
        </p:spPr>
      </p:sp>
      <p:sp>
        <p:nvSpPr>
          <p:cNvPr id="4" name="Text 2"/>
          <p:cNvSpPr/>
          <p:nvPr/>
        </p:nvSpPr>
        <p:spPr>
          <a:xfrm>
            <a:off x="201168" y="64008"/>
            <a:ext cx="8503920" cy="493776"/>
          </a:xfrm>
          <a:prstGeom prst="rect">
            <a:avLst/>
          </a:prstGeom>
          <a:noFill/>
          <a:ln/>
        </p:spPr>
        <p:txBody>
          <a:bodyPr wrap="square" lIns="0" tIns="0" rIns="0" bIns="0" rtlCol="0" anchor="ctr"/>
          <a:lstStyle/>
          <a:p>
            <a:pPr marL="0" indent="0">
              <a:buNone/>
            </a:pPr>
            <a:r>
              <a:rPr lang="en-US" sz="1900" b="1" dirty="0">
                <a:solidFill>
                  <a:srgbClr val="FFFFFF"/>
                </a:solidFill>
                <a:latin typeface="Arial" pitchFamily="34" charset="0"/>
                <a:ea typeface="Arial" pitchFamily="34" charset="-122"/>
                <a:cs typeface="Arial" pitchFamily="34" charset="-120"/>
              </a:rPr>
              <a:t>Design Techniques 4 &amp; 5 — State Transition &amp; Use Case Testing</a:t>
            </a:r>
            <a:endParaRPr lang="en-US" sz="1900" dirty="0"/>
          </a:p>
        </p:txBody>
      </p:sp>
      <p:sp>
        <p:nvSpPr>
          <p:cNvPr id="5" name="Shape 3"/>
          <p:cNvSpPr/>
          <p:nvPr/>
        </p:nvSpPr>
        <p:spPr>
          <a:xfrm>
            <a:off x="0" y="4828032"/>
            <a:ext cx="9144000" cy="315468"/>
          </a:xfrm>
          <a:prstGeom prst="rect">
            <a:avLst/>
          </a:prstGeom>
          <a:solidFill>
            <a:srgbClr val="0D0D0D"/>
          </a:solidFill>
          <a:ln w="12700">
            <a:solidFill>
              <a:srgbClr val="0D0D0D"/>
            </a:solidFill>
            <a:prstDash val="solid"/>
          </a:ln>
        </p:spPr>
      </p:sp>
      <p:sp>
        <p:nvSpPr>
          <p:cNvPr id="6" name="Text 4"/>
          <p:cNvSpPr/>
          <p:nvPr/>
        </p:nvSpPr>
        <p:spPr>
          <a:xfrm>
            <a:off x="182880" y="4855464"/>
            <a:ext cx="7315200" cy="228600"/>
          </a:xfrm>
          <a:prstGeom prst="rect">
            <a:avLst/>
          </a:prstGeom>
          <a:noFill/>
          <a:ln/>
        </p:spPr>
        <p:txBody>
          <a:bodyPr wrap="square" lIns="0" tIns="0" rIns="0" bIns="0" rtlCol="0" anchor="ctr"/>
          <a:lstStyle/>
          <a:p>
            <a:pPr marL="0" indent="0">
              <a:buNone/>
            </a:pPr>
            <a:r>
              <a:rPr lang="en-US" sz="850" dirty="0">
                <a:solidFill>
                  <a:srgbClr val="999999"/>
                </a:solidFill>
                <a:latin typeface="Calibri" pitchFamily="34" charset="0"/>
                <a:ea typeface="Calibri" pitchFamily="34" charset="-122"/>
                <a:cs typeface="Calibri" pitchFamily="34" charset="-120"/>
              </a:rPr>
              <a:t>Quality Engineering | Test Case Development in STLC</a:t>
            </a:r>
            <a:endParaRPr lang="en-US" sz="850" dirty="0"/>
          </a:p>
        </p:txBody>
      </p:sp>
      <p:sp>
        <p:nvSpPr>
          <p:cNvPr id="7" name="Text 5"/>
          <p:cNvSpPr/>
          <p:nvPr/>
        </p:nvSpPr>
        <p:spPr>
          <a:xfrm>
            <a:off x="7406640" y="4855464"/>
            <a:ext cx="1554480" cy="228600"/>
          </a:xfrm>
          <a:prstGeom prst="rect">
            <a:avLst/>
          </a:prstGeom>
          <a:noFill/>
          <a:ln/>
        </p:spPr>
        <p:txBody>
          <a:bodyPr wrap="square" lIns="0" tIns="0" rIns="0" bIns="0" rtlCol="0" anchor="ctr"/>
          <a:lstStyle/>
          <a:p>
            <a:pPr marL="0" indent="0" algn="r">
              <a:buNone/>
            </a:pPr>
            <a:r>
              <a:rPr lang="en-US" sz="850" b="1" dirty="0">
                <a:solidFill>
                  <a:srgbClr val="FF6500"/>
                </a:solidFill>
                <a:latin typeface="Calibri" pitchFamily="34" charset="0"/>
                <a:ea typeface="Calibri" pitchFamily="34" charset="-122"/>
                <a:cs typeface="Calibri" pitchFamily="34" charset="-120"/>
              </a:rPr>
              <a:t>INTERNAL TRAINING</a:t>
            </a:r>
            <a:endParaRPr lang="en-US" sz="850" dirty="0"/>
          </a:p>
        </p:txBody>
      </p:sp>
      <p:sp>
        <p:nvSpPr>
          <p:cNvPr id="8" name="Shape 6"/>
          <p:cNvSpPr/>
          <p:nvPr/>
        </p:nvSpPr>
        <p:spPr>
          <a:xfrm>
            <a:off x="228600" y="777240"/>
            <a:ext cx="4160520" cy="3913632"/>
          </a:xfrm>
          <a:prstGeom prst="rect">
            <a:avLst/>
          </a:prstGeom>
          <a:solidFill>
            <a:srgbClr val="FFFFFF"/>
          </a:solidFill>
          <a:ln w="12700">
            <a:solidFill>
              <a:srgbClr val="DEDEDE"/>
            </a:solidFill>
            <a:prstDash val="solid"/>
          </a:ln>
          <a:effectLst>
            <a:outerShdw blurRad="76200" dist="25400" dir="8100000" algn="bl" rotWithShape="0">
              <a:srgbClr val="000000">
                <a:alpha val="13000"/>
              </a:srgbClr>
            </a:outerShdw>
          </a:effectLst>
        </p:spPr>
      </p:sp>
      <p:sp>
        <p:nvSpPr>
          <p:cNvPr id="9" name="Shape 7"/>
          <p:cNvSpPr/>
          <p:nvPr/>
        </p:nvSpPr>
        <p:spPr>
          <a:xfrm>
            <a:off x="228600" y="777240"/>
            <a:ext cx="4160520" cy="384048"/>
          </a:xfrm>
          <a:prstGeom prst="rect">
            <a:avLst/>
          </a:prstGeom>
          <a:solidFill>
            <a:srgbClr val="0D0D0D"/>
          </a:solidFill>
          <a:ln w="12700">
            <a:solidFill>
              <a:srgbClr val="0D0D0D"/>
            </a:solidFill>
            <a:prstDash val="solid"/>
          </a:ln>
        </p:spPr>
      </p:sp>
      <p:sp>
        <p:nvSpPr>
          <p:cNvPr id="10" name="Text 8"/>
          <p:cNvSpPr/>
          <p:nvPr/>
        </p:nvSpPr>
        <p:spPr>
          <a:xfrm>
            <a:off x="320040" y="804672"/>
            <a:ext cx="3977640" cy="310896"/>
          </a:xfrm>
          <a:prstGeom prst="rect">
            <a:avLst/>
          </a:prstGeom>
          <a:noFill/>
          <a:ln/>
        </p:spPr>
        <p:txBody>
          <a:bodyPr wrap="square" lIns="0" tIns="0" rIns="0" bIns="0" rtlCol="0" anchor="ctr"/>
          <a:lstStyle/>
          <a:p>
            <a:pPr marL="0" indent="0">
              <a:buNone/>
            </a:pPr>
            <a:r>
              <a:rPr lang="en-US" sz="1100" b="1" kern="0" spc="50" dirty="0">
                <a:solidFill>
                  <a:srgbClr val="FF6500"/>
                </a:solidFill>
                <a:latin typeface="Arial" pitchFamily="34" charset="0"/>
                <a:ea typeface="Arial" pitchFamily="34" charset="-122"/>
                <a:cs typeface="Arial" pitchFamily="34" charset="-120"/>
              </a:rPr>
              <a:t>STATE TRANSITION TESTING</a:t>
            </a:r>
            <a:endParaRPr lang="en-US" sz="1100" dirty="0"/>
          </a:p>
        </p:txBody>
      </p:sp>
      <p:sp>
        <p:nvSpPr>
          <p:cNvPr id="11" name="Text 9"/>
          <p:cNvSpPr/>
          <p:nvPr/>
        </p:nvSpPr>
        <p:spPr>
          <a:xfrm>
            <a:off x="320040" y="1234440"/>
            <a:ext cx="3931920" cy="457200"/>
          </a:xfrm>
          <a:prstGeom prst="rect">
            <a:avLst/>
          </a:prstGeom>
          <a:noFill/>
          <a:ln/>
        </p:spPr>
        <p:txBody>
          <a:bodyPr wrap="square" lIns="0" tIns="0" rIns="0" bIns="0" rtlCol="0" anchor="ctr"/>
          <a:lstStyle/>
          <a:p>
            <a:pPr marL="0" indent="0">
              <a:buNone/>
            </a:pPr>
            <a:r>
              <a:rPr lang="en-US" sz="1050" dirty="0">
                <a:solidFill>
                  <a:srgbClr val="2C2C2C"/>
                </a:solidFill>
                <a:latin typeface="Calibri" pitchFamily="34" charset="0"/>
                <a:ea typeface="Calibri" pitchFamily="34" charset="-122"/>
                <a:cs typeface="Calibri" pitchFamily="34" charset="-120"/>
              </a:rPr>
              <a:t>Tests how the system moves between defined states based on events/inputs.</a:t>
            </a:r>
            <a:endParaRPr lang="en-US" sz="1050" dirty="0"/>
          </a:p>
          <a:p>
            <a:pPr marL="0" indent="0">
              <a:buNone/>
            </a:pPr>
            <a:r>
              <a:rPr lang="en-US" sz="1050" dirty="0">
                <a:solidFill>
                  <a:srgbClr val="2C2C2C"/>
                </a:solidFill>
                <a:latin typeface="Calibri" pitchFamily="34" charset="0"/>
                <a:ea typeface="Calibri" pitchFamily="34" charset="-122"/>
                <a:cs typeface="Calibri" pitchFamily="34" charset="-120"/>
              </a:rPr>
              <a:t>Each state change = a test case.</a:t>
            </a:r>
            <a:endParaRPr lang="en-US" sz="1050" dirty="0"/>
          </a:p>
        </p:txBody>
      </p:sp>
      <p:sp>
        <p:nvSpPr>
          <p:cNvPr id="12" name="Shape 10"/>
          <p:cNvSpPr/>
          <p:nvPr/>
        </p:nvSpPr>
        <p:spPr>
          <a:xfrm>
            <a:off x="365760" y="1828800"/>
            <a:ext cx="3749040" cy="521208"/>
          </a:xfrm>
          <a:prstGeom prst="rect">
            <a:avLst/>
          </a:prstGeom>
          <a:solidFill>
            <a:srgbClr val="1A1A4A"/>
          </a:solidFill>
          <a:ln w="12700">
            <a:solidFill>
              <a:srgbClr val="FF6500"/>
            </a:solidFill>
            <a:prstDash val="solid"/>
          </a:ln>
        </p:spPr>
      </p:sp>
      <p:sp>
        <p:nvSpPr>
          <p:cNvPr id="13" name="Text 11"/>
          <p:cNvSpPr/>
          <p:nvPr/>
        </p:nvSpPr>
        <p:spPr>
          <a:xfrm>
            <a:off x="365760" y="1828800"/>
            <a:ext cx="3749040" cy="521208"/>
          </a:xfrm>
          <a:prstGeom prst="rect">
            <a:avLst/>
          </a:prstGeom>
          <a:noFill/>
          <a:ln/>
        </p:spPr>
        <p:txBody>
          <a:bodyPr wrap="square" lIns="0" tIns="0" rIns="0" bIns="0" rtlCol="0" anchor="ctr"/>
          <a:lstStyle/>
          <a:p>
            <a:pPr marL="0" indent="0" algn="ctr">
              <a:buNone/>
            </a:pPr>
            <a:r>
              <a:rPr lang="en-US" sz="1050" b="1" dirty="0">
                <a:solidFill>
                  <a:srgbClr val="FFFFFF"/>
                </a:solidFill>
                <a:latin typeface="Arial" pitchFamily="34" charset="0"/>
                <a:ea typeface="Arial" pitchFamily="34" charset="-122"/>
                <a:cs typeface="Arial" pitchFamily="34" charset="-120"/>
              </a:rPr>
              <a:t>LOGIN PAGE</a:t>
            </a:r>
            <a:endParaRPr lang="en-US" sz="1050" dirty="0"/>
          </a:p>
        </p:txBody>
      </p:sp>
      <p:sp>
        <p:nvSpPr>
          <p:cNvPr id="14" name="Shape 12"/>
          <p:cNvSpPr/>
          <p:nvPr/>
        </p:nvSpPr>
        <p:spPr>
          <a:xfrm>
            <a:off x="365760" y="2514600"/>
            <a:ext cx="3749040" cy="521208"/>
          </a:xfrm>
          <a:prstGeom prst="rect">
            <a:avLst/>
          </a:prstGeom>
          <a:solidFill>
            <a:srgbClr val="1A3A00"/>
          </a:solidFill>
          <a:ln w="12700">
            <a:solidFill>
              <a:srgbClr val="FF6500"/>
            </a:solidFill>
            <a:prstDash val="solid"/>
          </a:ln>
        </p:spPr>
      </p:sp>
      <p:sp>
        <p:nvSpPr>
          <p:cNvPr id="15" name="Text 13"/>
          <p:cNvSpPr/>
          <p:nvPr/>
        </p:nvSpPr>
        <p:spPr>
          <a:xfrm>
            <a:off x="365760" y="2514600"/>
            <a:ext cx="3749040" cy="521208"/>
          </a:xfrm>
          <a:prstGeom prst="rect">
            <a:avLst/>
          </a:prstGeom>
          <a:noFill/>
          <a:ln/>
        </p:spPr>
        <p:txBody>
          <a:bodyPr wrap="square" lIns="0" tIns="0" rIns="0" bIns="0" rtlCol="0" anchor="ctr"/>
          <a:lstStyle/>
          <a:p>
            <a:pPr marL="0" indent="0" algn="ctr">
              <a:buNone/>
            </a:pPr>
            <a:r>
              <a:rPr lang="en-US" sz="1050" b="1" dirty="0">
                <a:solidFill>
                  <a:srgbClr val="FFFFFF"/>
                </a:solidFill>
                <a:latin typeface="Arial" pitchFamily="34" charset="0"/>
                <a:ea typeface="Arial" pitchFamily="34" charset="-122"/>
                <a:cs typeface="Arial" pitchFamily="34" charset="-120"/>
              </a:rPr>
              <a:t>LOGGED IN — ACTIVE SESSION</a:t>
            </a:r>
            <a:endParaRPr lang="en-US" sz="1050" dirty="0"/>
          </a:p>
        </p:txBody>
      </p:sp>
      <p:sp>
        <p:nvSpPr>
          <p:cNvPr id="16" name="Shape 14"/>
          <p:cNvSpPr/>
          <p:nvPr/>
        </p:nvSpPr>
        <p:spPr>
          <a:xfrm>
            <a:off x="365760" y="3200400"/>
            <a:ext cx="3749040" cy="521208"/>
          </a:xfrm>
          <a:prstGeom prst="rect">
            <a:avLst/>
          </a:prstGeom>
          <a:solidFill>
            <a:srgbClr val="3D0000"/>
          </a:solidFill>
          <a:ln w="12700">
            <a:solidFill>
              <a:srgbClr val="FF6500"/>
            </a:solidFill>
            <a:prstDash val="solid"/>
          </a:ln>
        </p:spPr>
      </p:sp>
      <p:sp>
        <p:nvSpPr>
          <p:cNvPr id="17" name="Text 15"/>
          <p:cNvSpPr/>
          <p:nvPr/>
        </p:nvSpPr>
        <p:spPr>
          <a:xfrm>
            <a:off x="365760" y="3200400"/>
            <a:ext cx="3749040" cy="521208"/>
          </a:xfrm>
          <a:prstGeom prst="rect">
            <a:avLst/>
          </a:prstGeom>
          <a:noFill/>
          <a:ln/>
        </p:spPr>
        <p:txBody>
          <a:bodyPr wrap="square" lIns="0" tIns="0" rIns="0" bIns="0" rtlCol="0" anchor="ctr"/>
          <a:lstStyle/>
          <a:p>
            <a:pPr marL="0" indent="0" algn="ctr">
              <a:buNone/>
            </a:pPr>
            <a:r>
              <a:rPr lang="en-US" sz="1050" b="1" dirty="0">
                <a:solidFill>
                  <a:srgbClr val="FFFFFF"/>
                </a:solidFill>
                <a:latin typeface="Arial" pitchFamily="34" charset="0"/>
                <a:ea typeface="Arial" pitchFamily="34" charset="-122"/>
                <a:cs typeface="Arial" pitchFamily="34" charset="-120"/>
              </a:rPr>
              <a:t>SESSION EXPIRED</a:t>
            </a:r>
            <a:endParaRPr lang="en-US" sz="1050" dirty="0"/>
          </a:p>
        </p:txBody>
      </p:sp>
      <p:sp>
        <p:nvSpPr>
          <p:cNvPr id="18" name="Shape 16"/>
          <p:cNvSpPr/>
          <p:nvPr/>
        </p:nvSpPr>
        <p:spPr>
          <a:xfrm>
            <a:off x="365760" y="3886200"/>
            <a:ext cx="3749040" cy="521208"/>
          </a:xfrm>
          <a:prstGeom prst="rect">
            <a:avLst/>
          </a:prstGeom>
          <a:solidFill>
            <a:srgbClr val="3D0000"/>
          </a:solidFill>
          <a:ln w="12700">
            <a:solidFill>
              <a:srgbClr val="FF6500"/>
            </a:solidFill>
            <a:prstDash val="solid"/>
          </a:ln>
        </p:spPr>
      </p:sp>
      <p:sp>
        <p:nvSpPr>
          <p:cNvPr id="19" name="Text 17"/>
          <p:cNvSpPr/>
          <p:nvPr/>
        </p:nvSpPr>
        <p:spPr>
          <a:xfrm>
            <a:off x="365760" y="3886200"/>
            <a:ext cx="3749040" cy="521208"/>
          </a:xfrm>
          <a:prstGeom prst="rect">
            <a:avLst/>
          </a:prstGeom>
          <a:noFill/>
          <a:ln/>
        </p:spPr>
        <p:txBody>
          <a:bodyPr wrap="square" lIns="0" tIns="0" rIns="0" bIns="0" rtlCol="0" anchor="ctr"/>
          <a:lstStyle/>
          <a:p>
            <a:pPr marL="0" indent="0" algn="ctr">
              <a:buNone/>
            </a:pPr>
            <a:r>
              <a:rPr lang="en-US" sz="1050" b="1" dirty="0">
                <a:solidFill>
                  <a:srgbClr val="FFFFFF"/>
                </a:solidFill>
                <a:latin typeface="Arial" pitchFamily="34" charset="0"/>
                <a:ea typeface="Arial" pitchFamily="34" charset="-122"/>
                <a:cs typeface="Arial" pitchFamily="34" charset="-120"/>
              </a:rPr>
              <a:t>ACCOUNT LOCKED</a:t>
            </a:r>
            <a:endParaRPr lang="en-US" sz="1050" dirty="0"/>
          </a:p>
        </p:txBody>
      </p:sp>
      <p:sp>
        <p:nvSpPr>
          <p:cNvPr id="20" name="Text 18"/>
          <p:cNvSpPr/>
          <p:nvPr/>
        </p:nvSpPr>
        <p:spPr>
          <a:xfrm>
            <a:off x="365760" y="2377440"/>
            <a:ext cx="3749040" cy="182880"/>
          </a:xfrm>
          <a:prstGeom prst="rect">
            <a:avLst/>
          </a:prstGeom>
          <a:noFill/>
          <a:ln/>
        </p:spPr>
        <p:txBody>
          <a:bodyPr wrap="square" lIns="0" tIns="0" rIns="0" bIns="0" rtlCol="0" anchor="ctr"/>
          <a:lstStyle/>
          <a:p>
            <a:pPr marL="0" indent="0" algn="ctr">
              <a:buNone/>
            </a:pPr>
            <a:r>
              <a:rPr lang="en-US" sz="900" i="1" dirty="0">
                <a:solidFill>
                  <a:srgbClr val="FF6500"/>
                </a:solidFill>
                <a:latin typeface="Calibri" pitchFamily="34" charset="0"/>
                <a:ea typeface="Calibri" pitchFamily="34" charset="-122"/>
                <a:cs typeface="Calibri" pitchFamily="34" charset="-120"/>
              </a:rPr>
              <a:t>→ Valid credentials entered</a:t>
            </a:r>
            <a:endParaRPr lang="en-US" sz="900" dirty="0"/>
          </a:p>
        </p:txBody>
      </p:sp>
      <p:sp>
        <p:nvSpPr>
          <p:cNvPr id="21" name="Text 19"/>
          <p:cNvSpPr/>
          <p:nvPr/>
        </p:nvSpPr>
        <p:spPr>
          <a:xfrm>
            <a:off x="365760" y="3063240"/>
            <a:ext cx="3749040" cy="182880"/>
          </a:xfrm>
          <a:prstGeom prst="rect">
            <a:avLst/>
          </a:prstGeom>
          <a:noFill/>
          <a:ln/>
        </p:spPr>
        <p:txBody>
          <a:bodyPr wrap="square" lIns="0" tIns="0" rIns="0" bIns="0" rtlCol="0" anchor="ctr"/>
          <a:lstStyle/>
          <a:p>
            <a:pPr marL="0" indent="0" algn="ctr">
              <a:buNone/>
            </a:pPr>
            <a:r>
              <a:rPr lang="en-US" sz="900" i="1" dirty="0">
                <a:solidFill>
                  <a:srgbClr val="FF6500"/>
                </a:solidFill>
                <a:latin typeface="Calibri" pitchFamily="34" charset="0"/>
                <a:ea typeface="Calibri" pitchFamily="34" charset="-122"/>
                <a:cs typeface="Calibri" pitchFamily="34" charset="-120"/>
              </a:rPr>
              <a:t>→ Inactivity timeout (30 min)</a:t>
            </a:r>
            <a:endParaRPr lang="en-US" sz="900" dirty="0"/>
          </a:p>
        </p:txBody>
      </p:sp>
      <p:sp>
        <p:nvSpPr>
          <p:cNvPr id="22" name="Text 20"/>
          <p:cNvSpPr/>
          <p:nvPr/>
        </p:nvSpPr>
        <p:spPr>
          <a:xfrm>
            <a:off x="365760" y="3749040"/>
            <a:ext cx="3749040" cy="182880"/>
          </a:xfrm>
          <a:prstGeom prst="rect">
            <a:avLst/>
          </a:prstGeom>
          <a:noFill/>
          <a:ln/>
        </p:spPr>
        <p:txBody>
          <a:bodyPr wrap="square" lIns="0" tIns="0" rIns="0" bIns="0" rtlCol="0" anchor="ctr"/>
          <a:lstStyle/>
          <a:p>
            <a:pPr marL="0" indent="0" algn="ctr">
              <a:buNone/>
            </a:pPr>
            <a:r>
              <a:rPr lang="en-US" sz="900" i="1" dirty="0">
                <a:solidFill>
                  <a:srgbClr val="FF6500"/>
                </a:solidFill>
                <a:latin typeface="Calibri" pitchFamily="34" charset="0"/>
                <a:ea typeface="Calibri" pitchFamily="34" charset="-122"/>
                <a:cs typeface="Calibri" pitchFamily="34" charset="-120"/>
              </a:rPr>
              <a:t>→ 3 failed login attempts</a:t>
            </a:r>
            <a:endParaRPr lang="en-US" sz="900" dirty="0"/>
          </a:p>
        </p:txBody>
      </p:sp>
      <p:sp>
        <p:nvSpPr>
          <p:cNvPr id="23" name="Shape 21"/>
          <p:cNvSpPr/>
          <p:nvPr/>
        </p:nvSpPr>
        <p:spPr>
          <a:xfrm>
            <a:off x="4572000" y="777240"/>
            <a:ext cx="4343400" cy="3913632"/>
          </a:xfrm>
          <a:prstGeom prst="rect">
            <a:avLst/>
          </a:prstGeom>
          <a:solidFill>
            <a:srgbClr val="FFFFFF"/>
          </a:solidFill>
          <a:ln w="12700">
            <a:solidFill>
              <a:srgbClr val="DEDEDE"/>
            </a:solidFill>
            <a:prstDash val="solid"/>
          </a:ln>
          <a:effectLst>
            <a:outerShdw blurRad="76200" dist="25400" dir="8100000" algn="bl" rotWithShape="0">
              <a:srgbClr val="000000">
                <a:alpha val="13000"/>
              </a:srgbClr>
            </a:outerShdw>
          </a:effectLst>
        </p:spPr>
      </p:sp>
      <p:sp>
        <p:nvSpPr>
          <p:cNvPr id="24" name="Shape 22"/>
          <p:cNvSpPr/>
          <p:nvPr/>
        </p:nvSpPr>
        <p:spPr>
          <a:xfrm>
            <a:off x="4572000" y="777240"/>
            <a:ext cx="4343400" cy="384048"/>
          </a:xfrm>
          <a:prstGeom prst="rect">
            <a:avLst/>
          </a:prstGeom>
          <a:solidFill>
            <a:srgbClr val="0D0D0D"/>
          </a:solidFill>
          <a:ln w="12700">
            <a:solidFill>
              <a:srgbClr val="0D0D0D"/>
            </a:solidFill>
            <a:prstDash val="solid"/>
          </a:ln>
        </p:spPr>
      </p:sp>
      <p:sp>
        <p:nvSpPr>
          <p:cNvPr id="25" name="Text 23"/>
          <p:cNvSpPr/>
          <p:nvPr/>
        </p:nvSpPr>
        <p:spPr>
          <a:xfrm>
            <a:off x="4663440" y="804672"/>
            <a:ext cx="4160520" cy="310896"/>
          </a:xfrm>
          <a:prstGeom prst="rect">
            <a:avLst/>
          </a:prstGeom>
          <a:noFill/>
          <a:ln/>
        </p:spPr>
        <p:txBody>
          <a:bodyPr wrap="square" lIns="0" tIns="0" rIns="0" bIns="0" rtlCol="0" anchor="ctr"/>
          <a:lstStyle/>
          <a:p>
            <a:pPr marL="0" indent="0">
              <a:buNone/>
            </a:pPr>
            <a:r>
              <a:rPr lang="en-US" sz="1100" b="1" kern="0" spc="50" dirty="0">
                <a:solidFill>
                  <a:srgbClr val="FF6500"/>
                </a:solidFill>
                <a:latin typeface="Arial" pitchFamily="34" charset="0"/>
                <a:ea typeface="Arial" pitchFamily="34" charset="-122"/>
                <a:cs typeface="Arial" pitchFamily="34" charset="-120"/>
              </a:rPr>
              <a:t>USE CASE TESTING</a:t>
            </a:r>
            <a:endParaRPr lang="en-US" sz="1100" dirty="0"/>
          </a:p>
        </p:txBody>
      </p:sp>
      <p:sp>
        <p:nvSpPr>
          <p:cNvPr id="26" name="Text 24"/>
          <p:cNvSpPr/>
          <p:nvPr/>
        </p:nvSpPr>
        <p:spPr>
          <a:xfrm>
            <a:off x="4663440" y="1234440"/>
            <a:ext cx="4160520" cy="502920"/>
          </a:xfrm>
          <a:prstGeom prst="rect">
            <a:avLst/>
          </a:prstGeom>
          <a:noFill/>
          <a:ln/>
        </p:spPr>
        <p:txBody>
          <a:bodyPr wrap="square" lIns="0" tIns="0" rIns="0" bIns="0" rtlCol="0" anchor="ctr"/>
          <a:lstStyle/>
          <a:p>
            <a:pPr marL="0" indent="0">
              <a:buNone/>
            </a:pPr>
            <a:r>
              <a:rPr lang="en-US" sz="1050" dirty="0">
                <a:solidFill>
                  <a:srgbClr val="2C2C2C"/>
                </a:solidFill>
                <a:latin typeface="Calibri" pitchFamily="34" charset="0"/>
                <a:ea typeface="Calibri" pitchFamily="34" charset="-122"/>
                <a:cs typeface="Calibri" pitchFamily="34" charset="-120"/>
              </a:rPr>
              <a:t>Based on use case documents. Tests end-to-end user-system interactions.</a:t>
            </a:r>
            <a:endParaRPr lang="en-US" sz="1050" dirty="0"/>
          </a:p>
          <a:p>
            <a:pPr marL="0" indent="0">
              <a:buNone/>
            </a:pPr>
            <a:r>
              <a:rPr lang="en-US" sz="1050" dirty="0">
                <a:solidFill>
                  <a:srgbClr val="2C2C2C"/>
                </a:solidFill>
                <a:latin typeface="Calibri" pitchFamily="34" charset="0"/>
                <a:ea typeface="Calibri" pitchFamily="34" charset="-122"/>
                <a:cs typeface="Calibri" pitchFamily="34" charset="-120"/>
              </a:rPr>
              <a:t>Covers: Actor → Action → System Response → Outcome.</a:t>
            </a:r>
            <a:endParaRPr lang="en-US" sz="1050" dirty="0"/>
          </a:p>
        </p:txBody>
      </p:sp>
      <p:sp>
        <p:nvSpPr>
          <p:cNvPr id="27" name="Shape 25"/>
          <p:cNvSpPr/>
          <p:nvPr/>
        </p:nvSpPr>
        <p:spPr>
          <a:xfrm>
            <a:off x="4663440" y="1783080"/>
            <a:ext cx="1005840" cy="329184"/>
          </a:xfrm>
          <a:prstGeom prst="rect">
            <a:avLst/>
          </a:prstGeom>
          <a:solidFill>
            <a:srgbClr val="FF6500"/>
          </a:solidFill>
          <a:ln w="12700">
            <a:solidFill>
              <a:srgbClr val="FF6500"/>
            </a:solidFill>
            <a:prstDash val="solid"/>
          </a:ln>
        </p:spPr>
      </p:sp>
      <p:sp>
        <p:nvSpPr>
          <p:cNvPr id="28" name="Text 26"/>
          <p:cNvSpPr/>
          <p:nvPr/>
        </p:nvSpPr>
        <p:spPr>
          <a:xfrm>
            <a:off x="4663440" y="1783080"/>
            <a:ext cx="1005840" cy="329184"/>
          </a:xfrm>
          <a:prstGeom prst="rect">
            <a:avLst/>
          </a:prstGeom>
          <a:noFill/>
          <a:ln/>
        </p:spPr>
        <p:txBody>
          <a:bodyPr wrap="square" lIns="0" tIns="0" rIns="0" bIns="0" rtlCol="0" anchor="ctr"/>
          <a:lstStyle/>
          <a:p>
            <a:pPr marL="0" indent="0" algn="ctr">
              <a:buNone/>
            </a:pPr>
            <a:r>
              <a:rPr lang="en-US" sz="850" b="1" dirty="0">
                <a:solidFill>
                  <a:srgbClr val="FFFFFF"/>
                </a:solidFill>
                <a:latin typeface="Arial" pitchFamily="34" charset="0"/>
                <a:ea typeface="Arial" pitchFamily="34" charset="-122"/>
                <a:cs typeface="Arial" pitchFamily="34" charset="-120"/>
              </a:rPr>
              <a:t>Use Case</a:t>
            </a:r>
            <a:endParaRPr lang="en-US" sz="850" dirty="0"/>
          </a:p>
        </p:txBody>
      </p:sp>
      <p:sp>
        <p:nvSpPr>
          <p:cNvPr id="29" name="Text 27"/>
          <p:cNvSpPr/>
          <p:nvPr/>
        </p:nvSpPr>
        <p:spPr>
          <a:xfrm>
            <a:off x="5733288" y="1810512"/>
            <a:ext cx="3090672" cy="301752"/>
          </a:xfrm>
          <a:prstGeom prst="rect">
            <a:avLst/>
          </a:prstGeom>
          <a:noFill/>
          <a:ln/>
        </p:spPr>
        <p:txBody>
          <a:bodyPr wrap="square" lIns="0" tIns="0" rIns="0" bIns="0" rtlCol="0" anchor="ctr"/>
          <a:lstStyle/>
          <a:p>
            <a:pPr marL="0" indent="0">
              <a:buNone/>
            </a:pPr>
            <a:r>
              <a:rPr lang="en-US" sz="950" dirty="0">
                <a:solidFill>
                  <a:srgbClr val="2C2C2C"/>
                </a:solidFill>
                <a:latin typeface="Calibri" pitchFamily="34" charset="0"/>
                <a:ea typeface="Calibri" pitchFamily="34" charset="-122"/>
                <a:cs typeface="Calibri" pitchFamily="34" charset="-120"/>
              </a:rPr>
              <a:t>UC-005: Place an Order</a:t>
            </a:r>
            <a:endParaRPr lang="en-US" sz="950" dirty="0"/>
          </a:p>
        </p:txBody>
      </p:sp>
      <p:sp>
        <p:nvSpPr>
          <p:cNvPr id="30" name="Shape 28"/>
          <p:cNvSpPr/>
          <p:nvPr/>
        </p:nvSpPr>
        <p:spPr>
          <a:xfrm>
            <a:off x="4663440" y="2185416"/>
            <a:ext cx="1005840" cy="329184"/>
          </a:xfrm>
          <a:prstGeom prst="rect">
            <a:avLst/>
          </a:prstGeom>
          <a:solidFill>
            <a:srgbClr val="FF6500"/>
          </a:solidFill>
          <a:ln w="12700">
            <a:solidFill>
              <a:srgbClr val="FF6500"/>
            </a:solidFill>
            <a:prstDash val="solid"/>
          </a:ln>
        </p:spPr>
      </p:sp>
      <p:sp>
        <p:nvSpPr>
          <p:cNvPr id="31" name="Text 29"/>
          <p:cNvSpPr/>
          <p:nvPr/>
        </p:nvSpPr>
        <p:spPr>
          <a:xfrm>
            <a:off x="4663440" y="2185416"/>
            <a:ext cx="1005840" cy="329184"/>
          </a:xfrm>
          <a:prstGeom prst="rect">
            <a:avLst/>
          </a:prstGeom>
          <a:noFill/>
          <a:ln/>
        </p:spPr>
        <p:txBody>
          <a:bodyPr wrap="square" lIns="0" tIns="0" rIns="0" bIns="0" rtlCol="0" anchor="ctr"/>
          <a:lstStyle/>
          <a:p>
            <a:pPr marL="0" indent="0" algn="ctr">
              <a:buNone/>
            </a:pPr>
            <a:r>
              <a:rPr lang="en-US" sz="850" b="1" dirty="0">
                <a:solidFill>
                  <a:srgbClr val="FFFFFF"/>
                </a:solidFill>
                <a:latin typeface="Arial" pitchFamily="34" charset="0"/>
                <a:ea typeface="Arial" pitchFamily="34" charset="-122"/>
                <a:cs typeface="Arial" pitchFamily="34" charset="-120"/>
              </a:rPr>
              <a:t>Actor</a:t>
            </a:r>
            <a:endParaRPr lang="en-US" sz="850" dirty="0"/>
          </a:p>
        </p:txBody>
      </p:sp>
      <p:sp>
        <p:nvSpPr>
          <p:cNvPr id="32" name="Text 30"/>
          <p:cNvSpPr/>
          <p:nvPr/>
        </p:nvSpPr>
        <p:spPr>
          <a:xfrm>
            <a:off x="5733288" y="2212848"/>
            <a:ext cx="3090672" cy="301752"/>
          </a:xfrm>
          <a:prstGeom prst="rect">
            <a:avLst/>
          </a:prstGeom>
          <a:noFill/>
          <a:ln/>
        </p:spPr>
        <p:txBody>
          <a:bodyPr wrap="square" lIns="0" tIns="0" rIns="0" bIns="0" rtlCol="0" anchor="ctr"/>
          <a:lstStyle/>
          <a:p>
            <a:pPr marL="0" indent="0">
              <a:buNone/>
            </a:pPr>
            <a:r>
              <a:rPr lang="en-US" sz="950" dirty="0">
                <a:solidFill>
                  <a:srgbClr val="2C2C2C"/>
                </a:solidFill>
                <a:latin typeface="Calibri" pitchFamily="34" charset="0"/>
                <a:ea typeface="Calibri" pitchFamily="34" charset="-122"/>
                <a:cs typeface="Calibri" pitchFamily="34" charset="-120"/>
              </a:rPr>
              <a:t>Registered Customer</a:t>
            </a:r>
            <a:endParaRPr lang="en-US" sz="950" dirty="0"/>
          </a:p>
        </p:txBody>
      </p:sp>
      <p:sp>
        <p:nvSpPr>
          <p:cNvPr id="33" name="Shape 31"/>
          <p:cNvSpPr/>
          <p:nvPr/>
        </p:nvSpPr>
        <p:spPr>
          <a:xfrm>
            <a:off x="4663440" y="2587752"/>
            <a:ext cx="1005840" cy="329184"/>
          </a:xfrm>
          <a:prstGeom prst="rect">
            <a:avLst/>
          </a:prstGeom>
          <a:solidFill>
            <a:srgbClr val="FF6500"/>
          </a:solidFill>
          <a:ln w="12700">
            <a:solidFill>
              <a:srgbClr val="FF6500"/>
            </a:solidFill>
            <a:prstDash val="solid"/>
          </a:ln>
        </p:spPr>
      </p:sp>
      <p:sp>
        <p:nvSpPr>
          <p:cNvPr id="34" name="Text 32"/>
          <p:cNvSpPr/>
          <p:nvPr/>
        </p:nvSpPr>
        <p:spPr>
          <a:xfrm>
            <a:off x="4663440" y="2587752"/>
            <a:ext cx="1005840" cy="329184"/>
          </a:xfrm>
          <a:prstGeom prst="rect">
            <a:avLst/>
          </a:prstGeom>
          <a:noFill/>
          <a:ln/>
        </p:spPr>
        <p:txBody>
          <a:bodyPr wrap="square" lIns="0" tIns="0" rIns="0" bIns="0" rtlCol="0" anchor="ctr"/>
          <a:lstStyle/>
          <a:p>
            <a:pPr marL="0" indent="0" algn="ctr">
              <a:buNone/>
            </a:pPr>
            <a:r>
              <a:rPr lang="en-US" sz="850" b="1" dirty="0">
                <a:solidFill>
                  <a:srgbClr val="FFFFFF"/>
                </a:solidFill>
                <a:latin typeface="Arial" pitchFamily="34" charset="0"/>
                <a:ea typeface="Arial" pitchFamily="34" charset="-122"/>
                <a:cs typeface="Arial" pitchFamily="34" charset="-120"/>
              </a:rPr>
              <a:t>Preconditions</a:t>
            </a:r>
            <a:endParaRPr lang="en-US" sz="850" dirty="0"/>
          </a:p>
        </p:txBody>
      </p:sp>
      <p:sp>
        <p:nvSpPr>
          <p:cNvPr id="35" name="Text 33"/>
          <p:cNvSpPr/>
          <p:nvPr/>
        </p:nvSpPr>
        <p:spPr>
          <a:xfrm>
            <a:off x="5733288" y="2615184"/>
            <a:ext cx="3090672" cy="301752"/>
          </a:xfrm>
          <a:prstGeom prst="rect">
            <a:avLst/>
          </a:prstGeom>
          <a:noFill/>
          <a:ln/>
        </p:spPr>
        <p:txBody>
          <a:bodyPr wrap="square" lIns="0" tIns="0" rIns="0" bIns="0" rtlCol="0" anchor="ctr"/>
          <a:lstStyle/>
          <a:p>
            <a:pPr marL="0" indent="0">
              <a:buNone/>
            </a:pPr>
            <a:r>
              <a:rPr lang="en-US" sz="950" dirty="0">
                <a:solidFill>
                  <a:srgbClr val="2C2C2C"/>
                </a:solidFill>
                <a:latin typeface="Calibri" pitchFamily="34" charset="0"/>
                <a:ea typeface="Calibri" pitchFamily="34" charset="-122"/>
                <a:cs typeface="Calibri" pitchFamily="34" charset="-120"/>
              </a:rPr>
              <a:t>User logged in; items in cart; payment method saved</a:t>
            </a:r>
            <a:endParaRPr lang="en-US" sz="950" dirty="0"/>
          </a:p>
        </p:txBody>
      </p:sp>
      <p:sp>
        <p:nvSpPr>
          <p:cNvPr id="36" name="Shape 34"/>
          <p:cNvSpPr/>
          <p:nvPr/>
        </p:nvSpPr>
        <p:spPr>
          <a:xfrm>
            <a:off x="4663440" y="2990088"/>
            <a:ext cx="1005840" cy="329184"/>
          </a:xfrm>
          <a:prstGeom prst="rect">
            <a:avLst/>
          </a:prstGeom>
          <a:solidFill>
            <a:srgbClr val="FF6500"/>
          </a:solidFill>
          <a:ln w="12700">
            <a:solidFill>
              <a:srgbClr val="FF6500"/>
            </a:solidFill>
            <a:prstDash val="solid"/>
          </a:ln>
        </p:spPr>
      </p:sp>
      <p:sp>
        <p:nvSpPr>
          <p:cNvPr id="37" name="Text 35"/>
          <p:cNvSpPr/>
          <p:nvPr/>
        </p:nvSpPr>
        <p:spPr>
          <a:xfrm>
            <a:off x="4663440" y="2990088"/>
            <a:ext cx="1005840" cy="329184"/>
          </a:xfrm>
          <a:prstGeom prst="rect">
            <a:avLst/>
          </a:prstGeom>
          <a:noFill/>
          <a:ln/>
        </p:spPr>
        <p:txBody>
          <a:bodyPr wrap="square" lIns="0" tIns="0" rIns="0" bIns="0" rtlCol="0" anchor="ctr"/>
          <a:lstStyle/>
          <a:p>
            <a:pPr marL="0" indent="0" algn="ctr">
              <a:buNone/>
            </a:pPr>
            <a:r>
              <a:rPr lang="en-US" sz="850" b="1" dirty="0">
                <a:solidFill>
                  <a:srgbClr val="FFFFFF"/>
                </a:solidFill>
                <a:latin typeface="Arial" pitchFamily="34" charset="0"/>
                <a:ea typeface="Arial" pitchFamily="34" charset="-122"/>
                <a:cs typeface="Arial" pitchFamily="34" charset="-120"/>
              </a:rPr>
              <a:t>Basic Flow</a:t>
            </a:r>
            <a:endParaRPr lang="en-US" sz="850" dirty="0"/>
          </a:p>
        </p:txBody>
      </p:sp>
      <p:sp>
        <p:nvSpPr>
          <p:cNvPr id="38" name="Text 36"/>
          <p:cNvSpPr/>
          <p:nvPr/>
        </p:nvSpPr>
        <p:spPr>
          <a:xfrm>
            <a:off x="5733288" y="3017520"/>
            <a:ext cx="3090672" cy="301752"/>
          </a:xfrm>
          <a:prstGeom prst="rect">
            <a:avLst/>
          </a:prstGeom>
          <a:noFill/>
          <a:ln/>
        </p:spPr>
        <p:txBody>
          <a:bodyPr wrap="square" lIns="0" tIns="0" rIns="0" bIns="0" rtlCol="0" anchor="ctr"/>
          <a:lstStyle/>
          <a:p>
            <a:pPr marL="0" indent="0">
              <a:buNone/>
            </a:pPr>
            <a:r>
              <a:rPr lang="en-US" sz="950" dirty="0">
                <a:solidFill>
                  <a:srgbClr val="2C2C2C"/>
                </a:solidFill>
                <a:latin typeface="Calibri" pitchFamily="34" charset="0"/>
                <a:ea typeface="Calibri" pitchFamily="34" charset="-122"/>
                <a:cs typeface="Calibri" pitchFamily="34" charset="-120"/>
              </a:rPr>
              <a:t>Select items → View cart → Apply coupon → Checkout → Confirm order → Receive confirmation email</a:t>
            </a:r>
            <a:endParaRPr lang="en-US" sz="950" dirty="0"/>
          </a:p>
        </p:txBody>
      </p:sp>
      <p:sp>
        <p:nvSpPr>
          <p:cNvPr id="39" name="Shape 37"/>
          <p:cNvSpPr/>
          <p:nvPr/>
        </p:nvSpPr>
        <p:spPr>
          <a:xfrm>
            <a:off x="4663440" y="3392424"/>
            <a:ext cx="1005840" cy="329184"/>
          </a:xfrm>
          <a:prstGeom prst="rect">
            <a:avLst/>
          </a:prstGeom>
          <a:solidFill>
            <a:srgbClr val="FF6500"/>
          </a:solidFill>
          <a:ln w="12700">
            <a:solidFill>
              <a:srgbClr val="FF6500"/>
            </a:solidFill>
            <a:prstDash val="solid"/>
          </a:ln>
        </p:spPr>
      </p:sp>
      <p:sp>
        <p:nvSpPr>
          <p:cNvPr id="40" name="Text 38"/>
          <p:cNvSpPr/>
          <p:nvPr/>
        </p:nvSpPr>
        <p:spPr>
          <a:xfrm>
            <a:off x="4663440" y="3392424"/>
            <a:ext cx="1005840" cy="329184"/>
          </a:xfrm>
          <a:prstGeom prst="rect">
            <a:avLst/>
          </a:prstGeom>
          <a:noFill/>
          <a:ln/>
        </p:spPr>
        <p:txBody>
          <a:bodyPr wrap="square" lIns="0" tIns="0" rIns="0" bIns="0" rtlCol="0" anchor="ctr"/>
          <a:lstStyle/>
          <a:p>
            <a:pPr marL="0" indent="0" algn="ctr">
              <a:buNone/>
            </a:pPr>
            <a:r>
              <a:rPr lang="en-US" sz="850" b="1" dirty="0">
                <a:solidFill>
                  <a:srgbClr val="FFFFFF"/>
                </a:solidFill>
                <a:latin typeface="Arial" pitchFamily="34" charset="0"/>
                <a:ea typeface="Arial" pitchFamily="34" charset="-122"/>
                <a:cs typeface="Arial" pitchFamily="34" charset="-120"/>
              </a:rPr>
              <a:t>Alt Flow 1</a:t>
            </a:r>
            <a:endParaRPr lang="en-US" sz="850" dirty="0"/>
          </a:p>
        </p:txBody>
      </p:sp>
      <p:sp>
        <p:nvSpPr>
          <p:cNvPr id="41" name="Text 39"/>
          <p:cNvSpPr/>
          <p:nvPr/>
        </p:nvSpPr>
        <p:spPr>
          <a:xfrm>
            <a:off x="5733288" y="3419856"/>
            <a:ext cx="3090672" cy="301752"/>
          </a:xfrm>
          <a:prstGeom prst="rect">
            <a:avLst/>
          </a:prstGeom>
          <a:noFill/>
          <a:ln/>
        </p:spPr>
        <p:txBody>
          <a:bodyPr wrap="square" lIns="0" tIns="0" rIns="0" bIns="0" rtlCol="0" anchor="ctr"/>
          <a:lstStyle/>
          <a:p>
            <a:pPr marL="0" indent="0">
              <a:buNone/>
            </a:pPr>
            <a:r>
              <a:rPr lang="en-US" sz="950" dirty="0">
                <a:solidFill>
                  <a:srgbClr val="2C2C2C"/>
                </a:solidFill>
                <a:latin typeface="Calibri" pitchFamily="34" charset="0"/>
                <a:ea typeface="Calibri" pitchFamily="34" charset="-122"/>
                <a:cs typeface="Calibri" pitchFamily="34" charset="-120"/>
              </a:rPr>
              <a:t>Coupon invalid → Show error → User continues without coupon</a:t>
            </a:r>
            <a:endParaRPr lang="en-US" sz="950" dirty="0"/>
          </a:p>
        </p:txBody>
      </p:sp>
      <p:sp>
        <p:nvSpPr>
          <p:cNvPr id="42" name="Shape 40"/>
          <p:cNvSpPr/>
          <p:nvPr/>
        </p:nvSpPr>
        <p:spPr>
          <a:xfrm>
            <a:off x="4663440" y="3794760"/>
            <a:ext cx="1005840" cy="329184"/>
          </a:xfrm>
          <a:prstGeom prst="rect">
            <a:avLst/>
          </a:prstGeom>
          <a:solidFill>
            <a:srgbClr val="FF6500"/>
          </a:solidFill>
          <a:ln w="12700">
            <a:solidFill>
              <a:srgbClr val="FF6500"/>
            </a:solidFill>
            <a:prstDash val="solid"/>
          </a:ln>
        </p:spPr>
      </p:sp>
      <p:sp>
        <p:nvSpPr>
          <p:cNvPr id="43" name="Text 41"/>
          <p:cNvSpPr/>
          <p:nvPr/>
        </p:nvSpPr>
        <p:spPr>
          <a:xfrm>
            <a:off x="4663440" y="3794760"/>
            <a:ext cx="1005840" cy="329184"/>
          </a:xfrm>
          <a:prstGeom prst="rect">
            <a:avLst/>
          </a:prstGeom>
          <a:noFill/>
          <a:ln/>
        </p:spPr>
        <p:txBody>
          <a:bodyPr wrap="square" lIns="0" tIns="0" rIns="0" bIns="0" rtlCol="0" anchor="ctr"/>
          <a:lstStyle/>
          <a:p>
            <a:pPr marL="0" indent="0" algn="ctr">
              <a:buNone/>
            </a:pPr>
            <a:r>
              <a:rPr lang="en-US" sz="850" b="1" dirty="0">
                <a:solidFill>
                  <a:srgbClr val="FFFFFF"/>
                </a:solidFill>
                <a:latin typeface="Arial" pitchFamily="34" charset="0"/>
                <a:ea typeface="Arial" pitchFamily="34" charset="-122"/>
                <a:cs typeface="Arial" pitchFamily="34" charset="-120"/>
              </a:rPr>
              <a:t>Alt Flow 2</a:t>
            </a:r>
            <a:endParaRPr lang="en-US" sz="850" dirty="0"/>
          </a:p>
        </p:txBody>
      </p:sp>
      <p:sp>
        <p:nvSpPr>
          <p:cNvPr id="44" name="Text 42"/>
          <p:cNvSpPr/>
          <p:nvPr/>
        </p:nvSpPr>
        <p:spPr>
          <a:xfrm>
            <a:off x="5733288" y="3822192"/>
            <a:ext cx="3090672" cy="301752"/>
          </a:xfrm>
          <a:prstGeom prst="rect">
            <a:avLst/>
          </a:prstGeom>
          <a:noFill/>
          <a:ln/>
        </p:spPr>
        <p:txBody>
          <a:bodyPr wrap="square" lIns="0" tIns="0" rIns="0" bIns="0" rtlCol="0" anchor="ctr"/>
          <a:lstStyle/>
          <a:p>
            <a:pPr marL="0" indent="0">
              <a:buNone/>
            </a:pPr>
            <a:r>
              <a:rPr lang="en-US" sz="950" dirty="0">
                <a:solidFill>
                  <a:srgbClr val="2C2C2C"/>
                </a:solidFill>
                <a:latin typeface="Calibri" pitchFamily="34" charset="0"/>
                <a:ea typeface="Calibri" pitchFamily="34" charset="-122"/>
                <a:cs typeface="Calibri" pitchFamily="34" charset="-120"/>
              </a:rPr>
              <a:t>Payment fails → Retry prompt → Order held pending payment</a:t>
            </a:r>
            <a:endParaRPr lang="en-US" sz="950" dirty="0"/>
          </a:p>
        </p:txBody>
      </p:sp>
      <p:sp>
        <p:nvSpPr>
          <p:cNvPr id="45" name="Shape 43"/>
          <p:cNvSpPr/>
          <p:nvPr/>
        </p:nvSpPr>
        <p:spPr>
          <a:xfrm>
            <a:off x="4663440" y="4197096"/>
            <a:ext cx="1005840" cy="329184"/>
          </a:xfrm>
          <a:prstGeom prst="rect">
            <a:avLst/>
          </a:prstGeom>
          <a:solidFill>
            <a:srgbClr val="FF6500"/>
          </a:solidFill>
          <a:ln w="12700">
            <a:solidFill>
              <a:srgbClr val="FF6500"/>
            </a:solidFill>
            <a:prstDash val="solid"/>
          </a:ln>
        </p:spPr>
      </p:sp>
      <p:sp>
        <p:nvSpPr>
          <p:cNvPr id="46" name="Text 44"/>
          <p:cNvSpPr/>
          <p:nvPr/>
        </p:nvSpPr>
        <p:spPr>
          <a:xfrm>
            <a:off x="4663440" y="4197096"/>
            <a:ext cx="1005840" cy="329184"/>
          </a:xfrm>
          <a:prstGeom prst="rect">
            <a:avLst/>
          </a:prstGeom>
          <a:noFill/>
          <a:ln/>
        </p:spPr>
        <p:txBody>
          <a:bodyPr wrap="square" lIns="0" tIns="0" rIns="0" bIns="0" rtlCol="0" anchor="ctr"/>
          <a:lstStyle/>
          <a:p>
            <a:pPr marL="0" indent="0" algn="ctr">
              <a:buNone/>
            </a:pPr>
            <a:r>
              <a:rPr lang="en-US" sz="850" b="1" dirty="0">
                <a:solidFill>
                  <a:srgbClr val="FFFFFF"/>
                </a:solidFill>
                <a:latin typeface="Arial" pitchFamily="34" charset="0"/>
                <a:ea typeface="Arial" pitchFamily="34" charset="-122"/>
                <a:cs typeface="Arial" pitchFamily="34" charset="-120"/>
              </a:rPr>
              <a:t>Postcondition</a:t>
            </a:r>
            <a:endParaRPr lang="en-US" sz="850" dirty="0"/>
          </a:p>
        </p:txBody>
      </p:sp>
      <p:sp>
        <p:nvSpPr>
          <p:cNvPr id="47" name="Text 45"/>
          <p:cNvSpPr/>
          <p:nvPr/>
        </p:nvSpPr>
        <p:spPr>
          <a:xfrm>
            <a:off x="5733288" y="4224528"/>
            <a:ext cx="3090672" cy="301752"/>
          </a:xfrm>
          <a:prstGeom prst="rect">
            <a:avLst/>
          </a:prstGeom>
          <a:noFill/>
          <a:ln/>
        </p:spPr>
        <p:txBody>
          <a:bodyPr wrap="square" lIns="0" tIns="0" rIns="0" bIns="0" rtlCol="0" anchor="ctr"/>
          <a:lstStyle/>
          <a:p>
            <a:pPr marL="0" indent="0">
              <a:buNone/>
            </a:pPr>
            <a:r>
              <a:rPr lang="en-US" sz="950" dirty="0">
                <a:solidFill>
                  <a:srgbClr val="2C2C2C"/>
                </a:solidFill>
                <a:latin typeface="Calibri" pitchFamily="34" charset="0"/>
                <a:ea typeface="Calibri" pitchFamily="34" charset="-122"/>
                <a:cs typeface="Calibri" pitchFamily="34" charset="-120"/>
              </a:rPr>
              <a:t>Order created in system; inventory decremented; email sent</a:t>
            </a:r>
            <a:endParaRPr lang="en-US" sz="9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1">
    <p:bg>
      <p:bgPr>
        <a:solidFill>
          <a:srgbClr val="0D0D0D"/>
        </a:solidFill>
        <a:effectLst/>
      </p:bgPr>
    </p:bg>
    <p:spTree>
      <p:nvGrpSpPr>
        <p:cNvPr id="1" name=""/>
        <p:cNvGrpSpPr/>
        <p:nvPr/>
      </p:nvGrpSpPr>
      <p:grpSpPr>
        <a:xfrm>
          <a:off x="0" y="0"/>
          <a:ext cx="0" cy="0"/>
          <a:chOff x="0" y="0"/>
          <a:chExt cx="0" cy="0"/>
        </a:xfrm>
      </p:grpSpPr>
      <p:sp>
        <p:nvSpPr>
          <p:cNvPr id="2" name="Shape 0"/>
          <p:cNvSpPr/>
          <p:nvPr/>
        </p:nvSpPr>
        <p:spPr>
          <a:xfrm>
            <a:off x="0" y="0"/>
            <a:ext cx="64008" cy="5143500"/>
          </a:xfrm>
          <a:prstGeom prst="rect">
            <a:avLst/>
          </a:prstGeom>
          <a:solidFill>
            <a:srgbClr val="FF6500"/>
          </a:solidFill>
          <a:ln w="12700">
            <a:solidFill>
              <a:srgbClr val="FF6500"/>
            </a:solidFill>
            <a:prstDash val="solid"/>
          </a:ln>
        </p:spPr>
      </p:sp>
      <p:sp>
        <p:nvSpPr>
          <p:cNvPr id="3" name="Shape 1"/>
          <p:cNvSpPr/>
          <p:nvPr/>
        </p:nvSpPr>
        <p:spPr>
          <a:xfrm>
            <a:off x="0" y="4828032"/>
            <a:ext cx="9144000" cy="315468"/>
          </a:xfrm>
          <a:prstGeom prst="rect">
            <a:avLst/>
          </a:prstGeom>
          <a:solidFill>
            <a:srgbClr val="FF6500"/>
          </a:solidFill>
          <a:ln w="12700">
            <a:solidFill>
              <a:srgbClr val="FF6500"/>
            </a:solidFill>
            <a:prstDash val="solid"/>
          </a:ln>
        </p:spPr>
      </p:sp>
      <p:sp>
        <p:nvSpPr>
          <p:cNvPr id="4" name="Shape 2"/>
          <p:cNvSpPr/>
          <p:nvPr/>
        </p:nvSpPr>
        <p:spPr>
          <a:xfrm>
            <a:off x="228600" y="365760"/>
            <a:ext cx="640080" cy="640080"/>
          </a:xfrm>
          <a:prstGeom prst="rect">
            <a:avLst/>
          </a:prstGeom>
          <a:solidFill>
            <a:srgbClr val="FF6500"/>
          </a:solidFill>
          <a:ln w="12700">
            <a:solidFill>
              <a:srgbClr val="FF6500"/>
            </a:solidFill>
            <a:prstDash val="solid"/>
          </a:ln>
        </p:spPr>
      </p:sp>
      <p:sp>
        <p:nvSpPr>
          <p:cNvPr id="5" name="Text 3"/>
          <p:cNvSpPr/>
          <p:nvPr/>
        </p:nvSpPr>
        <p:spPr>
          <a:xfrm>
            <a:off x="228600" y="365760"/>
            <a:ext cx="640080" cy="640080"/>
          </a:xfrm>
          <a:prstGeom prst="rect">
            <a:avLst/>
          </a:prstGeom>
          <a:noFill/>
          <a:ln/>
        </p:spPr>
        <p:txBody>
          <a:bodyPr wrap="square" lIns="0" tIns="0" rIns="0" bIns="0" rtlCol="0" anchor="ctr"/>
          <a:lstStyle/>
          <a:p>
            <a:pPr marL="0" indent="0" algn="ctr">
              <a:buNone/>
            </a:pPr>
            <a:r>
              <a:rPr lang="en-US" sz="2600" b="1" dirty="0">
                <a:solidFill>
                  <a:srgbClr val="FFFFFF"/>
                </a:solidFill>
                <a:latin typeface="Arial Black" pitchFamily="34" charset="0"/>
                <a:ea typeface="Arial Black" pitchFamily="34" charset="-122"/>
                <a:cs typeface="Arial Black" pitchFamily="34" charset="-120"/>
              </a:rPr>
              <a:t>07</a:t>
            </a:r>
            <a:endParaRPr lang="en-US" sz="2600" dirty="0"/>
          </a:p>
        </p:txBody>
      </p:sp>
      <p:sp>
        <p:nvSpPr>
          <p:cNvPr id="6" name="Text 4"/>
          <p:cNvSpPr/>
          <p:nvPr/>
        </p:nvSpPr>
        <p:spPr>
          <a:xfrm>
            <a:off x="1005840" y="475488"/>
            <a:ext cx="4572000" cy="420624"/>
          </a:xfrm>
          <a:prstGeom prst="rect">
            <a:avLst/>
          </a:prstGeom>
          <a:noFill/>
          <a:ln/>
        </p:spPr>
        <p:txBody>
          <a:bodyPr wrap="square" lIns="0" tIns="0" rIns="0" bIns="0" rtlCol="0" anchor="ctr"/>
          <a:lstStyle/>
          <a:p>
            <a:pPr marL="0" indent="0">
              <a:buNone/>
            </a:pPr>
            <a:r>
              <a:rPr lang="en-US" sz="1200" dirty="0">
                <a:solidFill>
                  <a:srgbClr val="AAAAAA"/>
                </a:solidFill>
                <a:latin typeface="Calibri" pitchFamily="34" charset="0"/>
                <a:ea typeface="Calibri" pitchFamily="34" charset="-122"/>
                <a:cs typeface="Calibri" pitchFamily="34" charset="-120"/>
              </a:rPr>
              <a:t>SECTION SEVEN</a:t>
            </a:r>
            <a:endParaRPr lang="en-US" sz="1200" dirty="0"/>
          </a:p>
        </p:txBody>
      </p:sp>
      <p:sp>
        <p:nvSpPr>
          <p:cNvPr id="7" name="Text 5"/>
          <p:cNvSpPr/>
          <p:nvPr/>
        </p:nvSpPr>
        <p:spPr>
          <a:xfrm>
            <a:off x="228600" y="1005840"/>
            <a:ext cx="8503920" cy="1371600"/>
          </a:xfrm>
          <a:prstGeom prst="rect">
            <a:avLst/>
          </a:prstGeom>
          <a:noFill/>
          <a:ln/>
        </p:spPr>
        <p:txBody>
          <a:bodyPr wrap="square" lIns="0" tIns="0" rIns="0" bIns="0" rtlCol="0" anchor="ctr"/>
          <a:lstStyle/>
          <a:p>
            <a:pPr marL="0" indent="0">
              <a:buNone/>
            </a:pPr>
            <a:r>
              <a:rPr lang="en-US" sz="3600" b="1" dirty="0">
                <a:solidFill>
                  <a:srgbClr val="FFFFFF"/>
                </a:solidFill>
                <a:latin typeface="Arial Black" pitchFamily="34" charset="0"/>
                <a:ea typeface="Arial Black" pitchFamily="34" charset="-122"/>
                <a:cs typeface="Arial Black" pitchFamily="34" charset="-120"/>
              </a:rPr>
              <a:t>Best Practices for Writing</a:t>
            </a:r>
            <a:endParaRPr lang="en-US" sz="3600" dirty="0"/>
          </a:p>
          <a:p>
            <a:pPr marL="0" indent="0">
              <a:buNone/>
            </a:pPr>
            <a:r>
              <a:rPr lang="en-US" sz="3600" b="1" dirty="0">
                <a:solidFill>
                  <a:srgbClr val="FFFFFF"/>
                </a:solidFill>
                <a:latin typeface="Arial Black" pitchFamily="34" charset="0"/>
                <a:ea typeface="Arial Black" pitchFamily="34" charset="-122"/>
                <a:cs typeface="Arial Black" pitchFamily="34" charset="-120"/>
              </a:rPr>
              <a:t>Effective Test Cases</a:t>
            </a:r>
            <a:endParaRPr lang="en-US" sz="3600" dirty="0"/>
          </a:p>
        </p:txBody>
      </p:sp>
      <p:sp>
        <p:nvSpPr>
          <p:cNvPr id="8" name="Shape 6"/>
          <p:cNvSpPr/>
          <p:nvPr/>
        </p:nvSpPr>
        <p:spPr>
          <a:xfrm>
            <a:off x="228600" y="2514600"/>
            <a:ext cx="2084832" cy="1005840"/>
          </a:xfrm>
          <a:prstGeom prst="rect">
            <a:avLst/>
          </a:prstGeom>
          <a:solidFill>
            <a:srgbClr val="181818"/>
          </a:solidFill>
          <a:ln w="12700">
            <a:solidFill>
              <a:srgbClr val="2D2D2D"/>
            </a:solidFill>
            <a:prstDash val="solid"/>
          </a:ln>
        </p:spPr>
      </p:sp>
      <p:sp>
        <p:nvSpPr>
          <p:cNvPr id="9" name="Shape 7"/>
          <p:cNvSpPr/>
          <p:nvPr/>
        </p:nvSpPr>
        <p:spPr>
          <a:xfrm>
            <a:off x="228600" y="2514600"/>
            <a:ext cx="329184" cy="1005840"/>
          </a:xfrm>
          <a:prstGeom prst="rect">
            <a:avLst/>
          </a:prstGeom>
          <a:solidFill>
            <a:srgbClr val="FF6500"/>
          </a:solidFill>
          <a:ln w="12700">
            <a:solidFill>
              <a:srgbClr val="FF6500"/>
            </a:solidFill>
            <a:prstDash val="solid"/>
          </a:ln>
        </p:spPr>
      </p:sp>
      <p:sp>
        <p:nvSpPr>
          <p:cNvPr id="10" name="Text 8"/>
          <p:cNvSpPr/>
          <p:nvPr/>
        </p:nvSpPr>
        <p:spPr>
          <a:xfrm>
            <a:off x="228600" y="2514600"/>
            <a:ext cx="329184" cy="365760"/>
          </a:xfrm>
          <a:prstGeom prst="rect">
            <a:avLst/>
          </a:prstGeom>
          <a:noFill/>
          <a:ln/>
        </p:spPr>
        <p:txBody>
          <a:bodyPr wrap="square" lIns="0" tIns="0" rIns="0" bIns="0" rtlCol="0" anchor="ctr"/>
          <a:lstStyle/>
          <a:p>
            <a:pPr marL="0" indent="0" algn="ctr">
              <a:buNone/>
            </a:pPr>
            <a:r>
              <a:rPr lang="en-US" sz="1300" b="1" dirty="0">
                <a:solidFill>
                  <a:srgbClr val="FFFFFF"/>
                </a:solidFill>
                <a:latin typeface="Arial Black" pitchFamily="34" charset="0"/>
                <a:ea typeface="Arial Black" pitchFamily="34" charset="-122"/>
                <a:cs typeface="Arial Black" pitchFamily="34" charset="-120"/>
              </a:rPr>
              <a:t>1</a:t>
            </a:r>
            <a:endParaRPr lang="en-US" sz="1300" dirty="0"/>
          </a:p>
        </p:txBody>
      </p:sp>
      <p:sp>
        <p:nvSpPr>
          <p:cNvPr id="11" name="Text 9"/>
          <p:cNvSpPr/>
          <p:nvPr/>
        </p:nvSpPr>
        <p:spPr>
          <a:xfrm>
            <a:off x="612648" y="2551176"/>
            <a:ext cx="1645920" cy="274320"/>
          </a:xfrm>
          <a:prstGeom prst="rect">
            <a:avLst/>
          </a:prstGeom>
          <a:noFill/>
          <a:ln/>
        </p:spPr>
        <p:txBody>
          <a:bodyPr wrap="square" lIns="0" tIns="0" rIns="0" bIns="0" rtlCol="0" anchor="ctr"/>
          <a:lstStyle/>
          <a:p>
            <a:pPr marL="0" indent="0">
              <a:buNone/>
            </a:pPr>
            <a:r>
              <a:rPr lang="en-US" sz="1000" b="1" dirty="0">
                <a:solidFill>
                  <a:srgbClr val="FFFFFF"/>
                </a:solidFill>
                <a:latin typeface="Arial" pitchFamily="34" charset="0"/>
                <a:ea typeface="Arial" pitchFamily="34" charset="-122"/>
                <a:cs typeface="Arial" pitchFamily="34" charset="-120"/>
              </a:rPr>
              <a:t>Use Action Verbs</a:t>
            </a:r>
            <a:endParaRPr lang="en-US" sz="1000" dirty="0"/>
          </a:p>
        </p:txBody>
      </p:sp>
      <p:sp>
        <p:nvSpPr>
          <p:cNvPr id="12" name="Text 10"/>
          <p:cNvSpPr/>
          <p:nvPr/>
        </p:nvSpPr>
        <p:spPr>
          <a:xfrm>
            <a:off x="612648" y="2834640"/>
            <a:ext cx="1645920" cy="640080"/>
          </a:xfrm>
          <a:prstGeom prst="rect">
            <a:avLst/>
          </a:prstGeom>
          <a:noFill/>
          <a:ln/>
        </p:spPr>
        <p:txBody>
          <a:bodyPr wrap="square" lIns="0" tIns="0" rIns="0" bIns="0" rtlCol="0" anchor="t"/>
          <a:lstStyle/>
          <a:p>
            <a:pPr marL="0" indent="0">
              <a:buNone/>
            </a:pPr>
            <a:r>
              <a:rPr lang="en-US" sz="850" dirty="0">
                <a:solidFill>
                  <a:srgbClr val="AAAAAA"/>
                </a:solidFill>
                <a:latin typeface="Calibri" pitchFamily="34" charset="0"/>
                <a:ea typeface="Calibri" pitchFamily="34" charset="-122"/>
                <a:cs typeface="Calibri" pitchFamily="34" charset="-120"/>
              </a:rPr>
              <a:t>Begin every step with a clear verb: Navigate, Enter, Click, Verify, Assert. Never use passive or vague language.</a:t>
            </a:r>
            <a:endParaRPr lang="en-US" sz="850" dirty="0"/>
          </a:p>
        </p:txBody>
      </p:sp>
      <p:sp>
        <p:nvSpPr>
          <p:cNvPr id="13" name="Shape 11"/>
          <p:cNvSpPr/>
          <p:nvPr/>
        </p:nvSpPr>
        <p:spPr>
          <a:xfrm>
            <a:off x="2450592" y="2514600"/>
            <a:ext cx="2084832" cy="1005840"/>
          </a:xfrm>
          <a:prstGeom prst="rect">
            <a:avLst/>
          </a:prstGeom>
          <a:solidFill>
            <a:srgbClr val="181818"/>
          </a:solidFill>
          <a:ln w="12700">
            <a:solidFill>
              <a:srgbClr val="2D2D2D"/>
            </a:solidFill>
            <a:prstDash val="solid"/>
          </a:ln>
        </p:spPr>
      </p:sp>
      <p:sp>
        <p:nvSpPr>
          <p:cNvPr id="14" name="Shape 12"/>
          <p:cNvSpPr/>
          <p:nvPr/>
        </p:nvSpPr>
        <p:spPr>
          <a:xfrm>
            <a:off x="2450592" y="2514600"/>
            <a:ext cx="329184" cy="1005840"/>
          </a:xfrm>
          <a:prstGeom prst="rect">
            <a:avLst/>
          </a:prstGeom>
          <a:solidFill>
            <a:srgbClr val="FF6500"/>
          </a:solidFill>
          <a:ln w="12700">
            <a:solidFill>
              <a:srgbClr val="FF6500"/>
            </a:solidFill>
            <a:prstDash val="solid"/>
          </a:ln>
        </p:spPr>
      </p:sp>
      <p:sp>
        <p:nvSpPr>
          <p:cNvPr id="15" name="Text 13"/>
          <p:cNvSpPr/>
          <p:nvPr/>
        </p:nvSpPr>
        <p:spPr>
          <a:xfrm>
            <a:off x="2450592" y="2514600"/>
            <a:ext cx="329184" cy="365760"/>
          </a:xfrm>
          <a:prstGeom prst="rect">
            <a:avLst/>
          </a:prstGeom>
          <a:noFill/>
          <a:ln/>
        </p:spPr>
        <p:txBody>
          <a:bodyPr wrap="square" lIns="0" tIns="0" rIns="0" bIns="0" rtlCol="0" anchor="ctr"/>
          <a:lstStyle/>
          <a:p>
            <a:pPr marL="0" indent="0" algn="ctr">
              <a:buNone/>
            </a:pPr>
            <a:r>
              <a:rPr lang="en-US" sz="1300" b="1" dirty="0">
                <a:solidFill>
                  <a:srgbClr val="FFFFFF"/>
                </a:solidFill>
                <a:latin typeface="Arial Black" pitchFamily="34" charset="0"/>
                <a:ea typeface="Arial Black" pitchFamily="34" charset="-122"/>
                <a:cs typeface="Arial Black" pitchFamily="34" charset="-120"/>
              </a:rPr>
              <a:t>2</a:t>
            </a:r>
            <a:endParaRPr lang="en-US" sz="1300" dirty="0"/>
          </a:p>
        </p:txBody>
      </p:sp>
      <p:sp>
        <p:nvSpPr>
          <p:cNvPr id="16" name="Text 14"/>
          <p:cNvSpPr/>
          <p:nvPr/>
        </p:nvSpPr>
        <p:spPr>
          <a:xfrm>
            <a:off x="2834640" y="2551176"/>
            <a:ext cx="1645920" cy="274320"/>
          </a:xfrm>
          <a:prstGeom prst="rect">
            <a:avLst/>
          </a:prstGeom>
          <a:noFill/>
          <a:ln/>
        </p:spPr>
        <p:txBody>
          <a:bodyPr wrap="square" lIns="0" tIns="0" rIns="0" bIns="0" rtlCol="0" anchor="ctr"/>
          <a:lstStyle/>
          <a:p>
            <a:pPr marL="0" indent="0">
              <a:buNone/>
            </a:pPr>
            <a:r>
              <a:rPr lang="en-US" sz="1000" b="1" dirty="0">
                <a:solidFill>
                  <a:srgbClr val="FFFFFF"/>
                </a:solidFill>
                <a:latin typeface="Arial" pitchFamily="34" charset="0"/>
                <a:ea typeface="Arial" pitchFamily="34" charset="-122"/>
                <a:cs typeface="Arial" pitchFamily="34" charset="-120"/>
              </a:rPr>
              <a:t>One Expected Result Per TC</a:t>
            </a:r>
            <a:endParaRPr lang="en-US" sz="1000" dirty="0"/>
          </a:p>
        </p:txBody>
      </p:sp>
      <p:sp>
        <p:nvSpPr>
          <p:cNvPr id="17" name="Text 15"/>
          <p:cNvSpPr/>
          <p:nvPr/>
        </p:nvSpPr>
        <p:spPr>
          <a:xfrm>
            <a:off x="2834640" y="2834640"/>
            <a:ext cx="1645920" cy="640080"/>
          </a:xfrm>
          <a:prstGeom prst="rect">
            <a:avLst/>
          </a:prstGeom>
          <a:noFill/>
          <a:ln/>
        </p:spPr>
        <p:txBody>
          <a:bodyPr wrap="square" lIns="0" tIns="0" rIns="0" bIns="0" rtlCol="0" anchor="t"/>
          <a:lstStyle/>
          <a:p>
            <a:pPr marL="0" indent="0">
              <a:buNone/>
            </a:pPr>
            <a:r>
              <a:rPr lang="en-US" sz="850" dirty="0">
                <a:solidFill>
                  <a:srgbClr val="AAAAAA"/>
                </a:solidFill>
                <a:latin typeface="Calibri" pitchFamily="34" charset="0"/>
                <a:ea typeface="Calibri" pitchFamily="34" charset="-122"/>
                <a:cs typeface="Calibri" pitchFamily="34" charset="-120"/>
              </a:rPr>
              <a:t>Each test case must test one specific thing. Multiple expected results per TC creates ambiguity in pass/fail analysis.</a:t>
            </a:r>
            <a:endParaRPr lang="en-US" sz="850" dirty="0"/>
          </a:p>
        </p:txBody>
      </p:sp>
      <p:sp>
        <p:nvSpPr>
          <p:cNvPr id="18" name="Shape 16"/>
          <p:cNvSpPr/>
          <p:nvPr/>
        </p:nvSpPr>
        <p:spPr>
          <a:xfrm>
            <a:off x="4672584" y="2514600"/>
            <a:ext cx="2084832" cy="1005840"/>
          </a:xfrm>
          <a:prstGeom prst="rect">
            <a:avLst/>
          </a:prstGeom>
          <a:solidFill>
            <a:srgbClr val="181818"/>
          </a:solidFill>
          <a:ln w="12700">
            <a:solidFill>
              <a:srgbClr val="2D2D2D"/>
            </a:solidFill>
            <a:prstDash val="solid"/>
          </a:ln>
        </p:spPr>
      </p:sp>
      <p:sp>
        <p:nvSpPr>
          <p:cNvPr id="19" name="Shape 17"/>
          <p:cNvSpPr/>
          <p:nvPr/>
        </p:nvSpPr>
        <p:spPr>
          <a:xfrm>
            <a:off x="4672584" y="2514600"/>
            <a:ext cx="329184" cy="1005840"/>
          </a:xfrm>
          <a:prstGeom prst="rect">
            <a:avLst/>
          </a:prstGeom>
          <a:solidFill>
            <a:srgbClr val="FF6500"/>
          </a:solidFill>
          <a:ln w="12700">
            <a:solidFill>
              <a:srgbClr val="FF6500"/>
            </a:solidFill>
            <a:prstDash val="solid"/>
          </a:ln>
        </p:spPr>
      </p:sp>
      <p:sp>
        <p:nvSpPr>
          <p:cNvPr id="20" name="Text 18"/>
          <p:cNvSpPr/>
          <p:nvPr/>
        </p:nvSpPr>
        <p:spPr>
          <a:xfrm>
            <a:off x="4672584" y="2514600"/>
            <a:ext cx="329184" cy="365760"/>
          </a:xfrm>
          <a:prstGeom prst="rect">
            <a:avLst/>
          </a:prstGeom>
          <a:noFill/>
          <a:ln/>
        </p:spPr>
        <p:txBody>
          <a:bodyPr wrap="square" lIns="0" tIns="0" rIns="0" bIns="0" rtlCol="0" anchor="ctr"/>
          <a:lstStyle/>
          <a:p>
            <a:pPr marL="0" indent="0" algn="ctr">
              <a:buNone/>
            </a:pPr>
            <a:r>
              <a:rPr lang="en-US" sz="1300" b="1" dirty="0">
                <a:solidFill>
                  <a:srgbClr val="FFFFFF"/>
                </a:solidFill>
                <a:latin typeface="Arial Black" pitchFamily="34" charset="0"/>
                <a:ea typeface="Arial Black" pitchFamily="34" charset="-122"/>
                <a:cs typeface="Arial Black" pitchFamily="34" charset="-120"/>
              </a:rPr>
              <a:t>3</a:t>
            </a:r>
            <a:endParaRPr lang="en-US" sz="1300" dirty="0"/>
          </a:p>
        </p:txBody>
      </p:sp>
      <p:sp>
        <p:nvSpPr>
          <p:cNvPr id="21" name="Text 19"/>
          <p:cNvSpPr/>
          <p:nvPr/>
        </p:nvSpPr>
        <p:spPr>
          <a:xfrm>
            <a:off x="5056632" y="2551176"/>
            <a:ext cx="1645920" cy="274320"/>
          </a:xfrm>
          <a:prstGeom prst="rect">
            <a:avLst/>
          </a:prstGeom>
          <a:noFill/>
          <a:ln/>
        </p:spPr>
        <p:txBody>
          <a:bodyPr wrap="square" lIns="0" tIns="0" rIns="0" bIns="0" rtlCol="0" anchor="ctr"/>
          <a:lstStyle/>
          <a:p>
            <a:pPr marL="0" indent="0">
              <a:buNone/>
            </a:pPr>
            <a:r>
              <a:rPr lang="en-US" sz="1000" b="1" dirty="0">
                <a:solidFill>
                  <a:srgbClr val="FFFFFF"/>
                </a:solidFill>
                <a:latin typeface="Arial" pitchFamily="34" charset="0"/>
                <a:ea typeface="Arial" pitchFamily="34" charset="-122"/>
                <a:cs typeface="Arial" pitchFamily="34" charset="-120"/>
              </a:rPr>
              <a:t>Make TCs Independent</a:t>
            </a:r>
            <a:endParaRPr lang="en-US" sz="1000" dirty="0"/>
          </a:p>
        </p:txBody>
      </p:sp>
      <p:sp>
        <p:nvSpPr>
          <p:cNvPr id="22" name="Text 20"/>
          <p:cNvSpPr/>
          <p:nvPr/>
        </p:nvSpPr>
        <p:spPr>
          <a:xfrm>
            <a:off x="5056632" y="2834640"/>
            <a:ext cx="1645920" cy="640080"/>
          </a:xfrm>
          <a:prstGeom prst="rect">
            <a:avLst/>
          </a:prstGeom>
          <a:noFill/>
          <a:ln/>
        </p:spPr>
        <p:txBody>
          <a:bodyPr wrap="square" lIns="0" tIns="0" rIns="0" bIns="0" rtlCol="0" anchor="t"/>
          <a:lstStyle/>
          <a:p>
            <a:pPr marL="0" indent="0">
              <a:buNone/>
            </a:pPr>
            <a:r>
              <a:rPr lang="en-US" sz="850" dirty="0">
                <a:solidFill>
                  <a:srgbClr val="AAAAAA"/>
                </a:solidFill>
                <a:latin typeface="Calibri" pitchFamily="34" charset="0"/>
                <a:ea typeface="Calibri" pitchFamily="34" charset="-122"/>
                <a:cs typeface="Calibri" pitchFamily="34" charset="-120"/>
              </a:rPr>
              <a:t>No test case should depend on another TC having run first. Each TC must be executable in isolation.</a:t>
            </a:r>
            <a:endParaRPr lang="en-US" sz="850" dirty="0"/>
          </a:p>
        </p:txBody>
      </p:sp>
      <p:sp>
        <p:nvSpPr>
          <p:cNvPr id="23" name="Shape 21"/>
          <p:cNvSpPr/>
          <p:nvPr/>
        </p:nvSpPr>
        <p:spPr>
          <a:xfrm>
            <a:off x="6894576" y="2514600"/>
            <a:ext cx="2084832" cy="1005840"/>
          </a:xfrm>
          <a:prstGeom prst="rect">
            <a:avLst/>
          </a:prstGeom>
          <a:solidFill>
            <a:srgbClr val="181818"/>
          </a:solidFill>
          <a:ln w="12700">
            <a:solidFill>
              <a:srgbClr val="2D2D2D"/>
            </a:solidFill>
            <a:prstDash val="solid"/>
          </a:ln>
        </p:spPr>
      </p:sp>
      <p:sp>
        <p:nvSpPr>
          <p:cNvPr id="24" name="Shape 22"/>
          <p:cNvSpPr/>
          <p:nvPr/>
        </p:nvSpPr>
        <p:spPr>
          <a:xfrm>
            <a:off x="6894576" y="2514600"/>
            <a:ext cx="329184" cy="1005840"/>
          </a:xfrm>
          <a:prstGeom prst="rect">
            <a:avLst/>
          </a:prstGeom>
          <a:solidFill>
            <a:srgbClr val="FF6500"/>
          </a:solidFill>
          <a:ln w="12700">
            <a:solidFill>
              <a:srgbClr val="FF6500"/>
            </a:solidFill>
            <a:prstDash val="solid"/>
          </a:ln>
        </p:spPr>
      </p:sp>
      <p:sp>
        <p:nvSpPr>
          <p:cNvPr id="25" name="Text 23"/>
          <p:cNvSpPr/>
          <p:nvPr/>
        </p:nvSpPr>
        <p:spPr>
          <a:xfrm>
            <a:off x="6894576" y="2514600"/>
            <a:ext cx="329184" cy="365760"/>
          </a:xfrm>
          <a:prstGeom prst="rect">
            <a:avLst/>
          </a:prstGeom>
          <a:noFill/>
          <a:ln/>
        </p:spPr>
        <p:txBody>
          <a:bodyPr wrap="square" lIns="0" tIns="0" rIns="0" bIns="0" rtlCol="0" anchor="ctr"/>
          <a:lstStyle/>
          <a:p>
            <a:pPr marL="0" indent="0" algn="ctr">
              <a:buNone/>
            </a:pPr>
            <a:r>
              <a:rPr lang="en-US" sz="1300" b="1" dirty="0">
                <a:solidFill>
                  <a:srgbClr val="FFFFFF"/>
                </a:solidFill>
                <a:latin typeface="Arial Black" pitchFamily="34" charset="0"/>
                <a:ea typeface="Arial Black" pitchFamily="34" charset="-122"/>
                <a:cs typeface="Arial Black" pitchFamily="34" charset="-120"/>
              </a:rPr>
              <a:t>4</a:t>
            </a:r>
            <a:endParaRPr lang="en-US" sz="1300" dirty="0"/>
          </a:p>
        </p:txBody>
      </p:sp>
      <p:sp>
        <p:nvSpPr>
          <p:cNvPr id="26" name="Text 24"/>
          <p:cNvSpPr/>
          <p:nvPr/>
        </p:nvSpPr>
        <p:spPr>
          <a:xfrm>
            <a:off x="7278624" y="2551176"/>
            <a:ext cx="1645920" cy="274320"/>
          </a:xfrm>
          <a:prstGeom prst="rect">
            <a:avLst/>
          </a:prstGeom>
          <a:noFill/>
          <a:ln/>
        </p:spPr>
        <p:txBody>
          <a:bodyPr wrap="square" lIns="0" tIns="0" rIns="0" bIns="0" rtlCol="0" anchor="ctr"/>
          <a:lstStyle/>
          <a:p>
            <a:pPr marL="0" indent="0">
              <a:buNone/>
            </a:pPr>
            <a:r>
              <a:rPr lang="en-US" sz="1000" b="1" dirty="0">
                <a:solidFill>
                  <a:srgbClr val="FFFFFF"/>
                </a:solidFill>
                <a:latin typeface="Arial" pitchFamily="34" charset="0"/>
                <a:ea typeface="Arial" pitchFamily="34" charset="-122"/>
                <a:cs typeface="Arial" pitchFamily="34" charset="-120"/>
              </a:rPr>
              <a:t>Meaningful IDs</a:t>
            </a:r>
            <a:endParaRPr lang="en-US" sz="1000" dirty="0"/>
          </a:p>
        </p:txBody>
      </p:sp>
      <p:sp>
        <p:nvSpPr>
          <p:cNvPr id="27" name="Text 25"/>
          <p:cNvSpPr/>
          <p:nvPr/>
        </p:nvSpPr>
        <p:spPr>
          <a:xfrm>
            <a:off x="7278624" y="2834640"/>
            <a:ext cx="1645920" cy="640080"/>
          </a:xfrm>
          <a:prstGeom prst="rect">
            <a:avLst/>
          </a:prstGeom>
          <a:noFill/>
          <a:ln/>
        </p:spPr>
        <p:txBody>
          <a:bodyPr wrap="square" lIns="0" tIns="0" rIns="0" bIns="0" rtlCol="0" anchor="t"/>
          <a:lstStyle/>
          <a:p>
            <a:pPr marL="0" indent="0">
              <a:buNone/>
            </a:pPr>
            <a:r>
              <a:rPr lang="en-US" sz="850" dirty="0">
                <a:solidFill>
                  <a:srgbClr val="AAAAAA"/>
                </a:solidFill>
                <a:latin typeface="Calibri" pitchFamily="34" charset="0"/>
                <a:ea typeface="Calibri" pitchFamily="34" charset="-122"/>
                <a:cs typeface="Calibri" pitchFamily="34" charset="-120"/>
              </a:rPr>
              <a:t>Use structured IDs: TC_[MODULE]_[TYPE]_[NUMBER]. Example: TC_LOGIN_NEG_003 instantly tells you it's a negative login test.</a:t>
            </a:r>
            <a:endParaRPr lang="en-US" sz="850" dirty="0"/>
          </a:p>
        </p:txBody>
      </p:sp>
      <p:sp>
        <p:nvSpPr>
          <p:cNvPr id="28" name="Shape 26"/>
          <p:cNvSpPr/>
          <p:nvPr/>
        </p:nvSpPr>
        <p:spPr>
          <a:xfrm>
            <a:off x="228600" y="3611880"/>
            <a:ext cx="2084832" cy="1005840"/>
          </a:xfrm>
          <a:prstGeom prst="rect">
            <a:avLst/>
          </a:prstGeom>
          <a:solidFill>
            <a:srgbClr val="181818"/>
          </a:solidFill>
          <a:ln w="12700">
            <a:solidFill>
              <a:srgbClr val="2D2D2D"/>
            </a:solidFill>
            <a:prstDash val="solid"/>
          </a:ln>
        </p:spPr>
      </p:sp>
      <p:sp>
        <p:nvSpPr>
          <p:cNvPr id="29" name="Shape 27"/>
          <p:cNvSpPr/>
          <p:nvPr/>
        </p:nvSpPr>
        <p:spPr>
          <a:xfrm>
            <a:off x="228600" y="3611880"/>
            <a:ext cx="329184" cy="1005840"/>
          </a:xfrm>
          <a:prstGeom prst="rect">
            <a:avLst/>
          </a:prstGeom>
          <a:solidFill>
            <a:srgbClr val="FF6500"/>
          </a:solidFill>
          <a:ln w="12700">
            <a:solidFill>
              <a:srgbClr val="FF6500"/>
            </a:solidFill>
            <a:prstDash val="solid"/>
          </a:ln>
        </p:spPr>
      </p:sp>
      <p:sp>
        <p:nvSpPr>
          <p:cNvPr id="30" name="Text 28"/>
          <p:cNvSpPr/>
          <p:nvPr/>
        </p:nvSpPr>
        <p:spPr>
          <a:xfrm>
            <a:off x="228600" y="3611880"/>
            <a:ext cx="329184" cy="365760"/>
          </a:xfrm>
          <a:prstGeom prst="rect">
            <a:avLst/>
          </a:prstGeom>
          <a:noFill/>
          <a:ln/>
        </p:spPr>
        <p:txBody>
          <a:bodyPr wrap="square" lIns="0" tIns="0" rIns="0" bIns="0" rtlCol="0" anchor="ctr"/>
          <a:lstStyle/>
          <a:p>
            <a:pPr marL="0" indent="0" algn="ctr">
              <a:buNone/>
            </a:pPr>
            <a:r>
              <a:rPr lang="en-US" sz="1300" b="1" dirty="0">
                <a:solidFill>
                  <a:srgbClr val="FFFFFF"/>
                </a:solidFill>
                <a:latin typeface="Arial Black" pitchFamily="34" charset="0"/>
                <a:ea typeface="Arial Black" pitchFamily="34" charset="-122"/>
                <a:cs typeface="Arial Black" pitchFamily="34" charset="-120"/>
              </a:rPr>
              <a:t>5</a:t>
            </a:r>
            <a:endParaRPr lang="en-US" sz="1300" dirty="0"/>
          </a:p>
        </p:txBody>
      </p:sp>
      <p:sp>
        <p:nvSpPr>
          <p:cNvPr id="31" name="Text 29"/>
          <p:cNvSpPr/>
          <p:nvPr/>
        </p:nvSpPr>
        <p:spPr>
          <a:xfrm>
            <a:off x="612648" y="3648456"/>
            <a:ext cx="1645920" cy="274320"/>
          </a:xfrm>
          <a:prstGeom prst="rect">
            <a:avLst/>
          </a:prstGeom>
          <a:noFill/>
          <a:ln/>
        </p:spPr>
        <p:txBody>
          <a:bodyPr wrap="square" lIns="0" tIns="0" rIns="0" bIns="0" rtlCol="0" anchor="ctr"/>
          <a:lstStyle/>
          <a:p>
            <a:pPr marL="0" indent="0">
              <a:buNone/>
            </a:pPr>
            <a:r>
              <a:rPr lang="en-US" sz="1000" b="1" dirty="0">
                <a:solidFill>
                  <a:srgbClr val="FFFFFF"/>
                </a:solidFill>
                <a:latin typeface="Arial" pitchFamily="34" charset="0"/>
                <a:ea typeface="Arial" pitchFamily="34" charset="-122"/>
                <a:cs typeface="Arial" pitchFamily="34" charset="-120"/>
              </a:rPr>
              <a:t>Cover Positive &amp; Negative</a:t>
            </a:r>
            <a:endParaRPr lang="en-US" sz="1000" dirty="0"/>
          </a:p>
        </p:txBody>
      </p:sp>
      <p:sp>
        <p:nvSpPr>
          <p:cNvPr id="32" name="Text 30"/>
          <p:cNvSpPr/>
          <p:nvPr/>
        </p:nvSpPr>
        <p:spPr>
          <a:xfrm>
            <a:off x="612648" y="3931920"/>
            <a:ext cx="1645920" cy="640080"/>
          </a:xfrm>
          <a:prstGeom prst="rect">
            <a:avLst/>
          </a:prstGeom>
          <a:noFill/>
          <a:ln/>
        </p:spPr>
        <p:txBody>
          <a:bodyPr wrap="square" lIns="0" tIns="0" rIns="0" bIns="0" rtlCol="0" anchor="t"/>
          <a:lstStyle/>
          <a:p>
            <a:pPr marL="0" indent="0">
              <a:buNone/>
            </a:pPr>
            <a:r>
              <a:rPr lang="en-US" sz="850" dirty="0">
                <a:solidFill>
                  <a:srgbClr val="AAAAAA"/>
                </a:solidFill>
                <a:latin typeface="Calibri" pitchFamily="34" charset="0"/>
                <a:ea typeface="Calibri" pitchFamily="34" charset="-122"/>
                <a:cs typeface="Calibri" pitchFamily="34" charset="-120"/>
              </a:rPr>
              <a:t>For every positive scenario (happy path), always write at least one negative scenario (error path).</a:t>
            </a:r>
            <a:endParaRPr lang="en-US" sz="850" dirty="0"/>
          </a:p>
        </p:txBody>
      </p:sp>
      <p:sp>
        <p:nvSpPr>
          <p:cNvPr id="33" name="Shape 31"/>
          <p:cNvSpPr/>
          <p:nvPr/>
        </p:nvSpPr>
        <p:spPr>
          <a:xfrm>
            <a:off x="2450592" y="3611880"/>
            <a:ext cx="2084832" cy="1005840"/>
          </a:xfrm>
          <a:prstGeom prst="rect">
            <a:avLst/>
          </a:prstGeom>
          <a:solidFill>
            <a:srgbClr val="181818"/>
          </a:solidFill>
          <a:ln w="12700">
            <a:solidFill>
              <a:srgbClr val="2D2D2D"/>
            </a:solidFill>
            <a:prstDash val="solid"/>
          </a:ln>
        </p:spPr>
      </p:sp>
      <p:sp>
        <p:nvSpPr>
          <p:cNvPr id="34" name="Shape 32"/>
          <p:cNvSpPr/>
          <p:nvPr/>
        </p:nvSpPr>
        <p:spPr>
          <a:xfrm>
            <a:off x="2450592" y="3611880"/>
            <a:ext cx="329184" cy="1005840"/>
          </a:xfrm>
          <a:prstGeom prst="rect">
            <a:avLst/>
          </a:prstGeom>
          <a:solidFill>
            <a:srgbClr val="FF6500"/>
          </a:solidFill>
          <a:ln w="12700">
            <a:solidFill>
              <a:srgbClr val="FF6500"/>
            </a:solidFill>
            <a:prstDash val="solid"/>
          </a:ln>
        </p:spPr>
      </p:sp>
      <p:sp>
        <p:nvSpPr>
          <p:cNvPr id="35" name="Text 33"/>
          <p:cNvSpPr/>
          <p:nvPr/>
        </p:nvSpPr>
        <p:spPr>
          <a:xfrm>
            <a:off x="2450592" y="3611880"/>
            <a:ext cx="329184" cy="365760"/>
          </a:xfrm>
          <a:prstGeom prst="rect">
            <a:avLst/>
          </a:prstGeom>
          <a:noFill/>
          <a:ln/>
        </p:spPr>
        <p:txBody>
          <a:bodyPr wrap="square" lIns="0" tIns="0" rIns="0" bIns="0" rtlCol="0" anchor="ctr"/>
          <a:lstStyle/>
          <a:p>
            <a:pPr marL="0" indent="0" algn="ctr">
              <a:buNone/>
            </a:pPr>
            <a:r>
              <a:rPr lang="en-US" sz="1300" b="1" dirty="0">
                <a:solidFill>
                  <a:srgbClr val="FFFFFF"/>
                </a:solidFill>
                <a:latin typeface="Arial Black" pitchFamily="34" charset="0"/>
                <a:ea typeface="Arial Black" pitchFamily="34" charset="-122"/>
                <a:cs typeface="Arial Black" pitchFamily="34" charset="-120"/>
              </a:rPr>
              <a:t>6</a:t>
            </a:r>
            <a:endParaRPr lang="en-US" sz="1300" dirty="0"/>
          </a:p>
        </p:txBody>
      </p:sp>
      <p:sp>
        <p:nvSpPr>
          <p:cNvPr id="36" name="Text 34"/>
          <p:cNvSpPr/>
          <p:nvPr/>
        </p:nvSpPr>
        <p:spPr>
          <a:xfrm>
            <a:off x="2834640" y="3648456"/>
            <a:ext cx="1645920" cy="274320"/>
          </a:xfrm>
          <a:prstGeom prst="rect">
            <a:avLst/>
          </a:prstGeom>
          <a:noFill/>
          <a:ln/>
        </p:spPr>
        <p:txBody>
          <a:bodyPr wrap="square" lIns="0" tIns="0" rIns="0" bIns="0" rtlCol="0" anchor="ctr"/>
          <a:lstStyle/>
          <a:p>
            <a:pPr marL="0" indent="0">
              <a:buNone/>
            </a:pPr>
            <a:r>
              <a:rPr lang="en-US" sz="1000" b="1" dirty="0">
                <a:solidFill>
                  <a:srgbClr val="FFFFFF"/>
                </a:solidFill>
                <a:latin typeface="Arial" pitchFamily="34" charset="0"/>
                <a:ea typeface="Arial" pitchFamily="34" charset="-122"/>
                <a:cs typeface="Arial" pitchFamily="34" charset="-120"/>
              </a:rPr>
              <a:t>Document Preconditions</a:t>
            </a:r>
            <a:endParaRPr lang="en-US" sz="1000" dirty="0"/>
          </a:p>
        </p:txBody>
      </p:sp>
      <p:sp>
        <p:nvSpPr>
          <p:cNvPr id="37" name="Text 35"/>
          <p:cNvSpPr/>
          <p:nvPr/>
        </p:nvSpPr>
        <p:spPr>
          <a:xfrm>
            <a:off x="2834640" y="3931920"/>
            <a:ext cx="1645920" cy="640080"/>
          </a:xfrm>
          <a:prstGeom prst="rect">
            <a:avLst/>
          </a:prstGeom>
          <a:noFill/>
          <a:ln/>
        </p:spPr>
        <p:txBody>
          <a:bodyPr wrap="square" lIns="0" tIns="0" rIns="0" bIns="0" rtlCol="0" anchor="t"/>
          <a:lstStyle/>
          <a:p>
            <a:pPr marL="0" indent="0">
              <a:buNone/>
            </a:pPr>
            <a:r>
              <a:rPr lang="en-US" sz="850" dirty="0">
                <a:solidFill>
                  <a:srgbClr val="AAAAAA"/>
                </a:solidFill>
                <a:latin typeface="Calibri" pitchFamily="34" charset="0"/>
                <a:ea typeface="Calibri" pitchFamily="34" charset="-122"/>
                <a:cs typeface="Calibri" pitchFamily="34" charset="-120"/>
              </a:rPr>
              <a:t>List ALL setup requirements: test account details, browser version, feature flags, environment URLs.</a:t>
            </a:r>
            <a:endParaRPr lang="en-US" sz="850" dirty="0"/>
          </a:p>
        </p:txBody>
      </p:sp>
      <p:sp>
        <p:nvSpPr>
          <p:cNvPr id="38" name="Shape 36"/>
          <p:cNvSpPr/>
          <p:nvPr/>
        </p:nvSpPr>
        <p:spPr>
          <a:xfrm>
            <a:off x="4672584" y="3611880"/>
            <a:ext cx="2084832" cy="1005840"/>
          </a:xfrm>
          <a:prstGeom prst="rect">
            <a:avLst/>
          </a:prstGeom>
          <a:solidFill>
            <a:srgbClr val="181818"/>
          </a:solidFill>
          <a:ln w="12700">
            <a:solidFill>
              <a:srgbClr val="2D2D2D"/>
            </a:solidFill>
            <a:prstDash val="solid"/>
          </a:ln>
        </p:spPr>
      </p:sp>
      <p:sp>
        <p:nvSpPr>
          <p:cNvPr id="39" name="Shape 37"/>
          <p:cNvSpPr/>
          <p:nvPr/>
        </p:nvSpPr>
        <p:spPr>
          <a:xfrm>
            <a:off x="4672584" y="3611880"/>
            <a:ext cx="329184" cy="1005840"/>
          </a:xfrm>
          <a:prstGeom prst="rect">
            <a:avLst/>
          </a:prstGeom>
          <a:solidFill>
            <a:srgbClr val="FF6500"/>
          </a:solidFill>
          <a:ln w="12700">
            <a:solidFill>
              <a:srgbClr val="FF6500"/>
            </a:solidFill>
            <a:prstDash val="solid"/>
          </a:ln>
        </p:spPr>
      </p:sp>
      <p:sp>
        <p:nvSpPr>
          <p:cNvPr id="40" name="Text 38"/>
          <p:cNvSpPr/>
          <p:nvPr/>
        </p:nvSpPr>
        <p:spPr>
          <a:xfrm>
            <a:off x="4672584" y="3611880"/>
            <a:ext cx="329184" cy="365760"/>
          </a:xfrm>
          <a:prstGeom prst="rect">
            <a:avLst/>
          </a:prstGeom>
          <a:noFill/>
          <a:ln/>
        </p:spPr>
        <p:txBody>
          <a:bodyPr wrap="square" lIns="0" tIns="0" rIns="0" bIns="0" rtlCol="0" anchor="ctr"/>
          <a:lstStyle/>
          <a:p>
            <a:pPr marL="0" indent="0" algn="ctr">
              <a:buNone/>
            </a:pPr>
            <a:r>
              <a:rPr lang="en-US" sz="1300" b="1" dirty="0">
                <a:solidFill>
                  <a:srgbClr val="FFFFFF"/>
                </a:solidFill>
                <a:latin typeface="Arial Black" pitchFamily="34" charset="0"/>
                <a:ea typeface="Arial Black" pitchFamily="34" charset="-122"/>
                <a:cs typeface="Arial Black" pitchFamily="34" charset="-120"/>
              </a:rPr>
              <a:t>7</a:t>
            </a:r>
            <a:endParaRPr lang="en-US" sz="1300" dirty="0"/>
          </a:p>
        </p:txBody>
      </p:sp>
      <p:sp>
        <p:nvSpPr>
          <p:cNvPr id="41" name="Text 39"/>
          <p:cNvSpPr/>
          <p:nvPr/>
        </p:nvSpPr>
        <p:spPr>
          <a:xfrm>
            <a:off x="5056632" y="3648456"/>
            <a:ext cx="1645920" cy="274320"/>
          </a:xfrm>
          <a:prstGeom prst="rect">
            <a:avLst/>
          </a:prstGeom>
          <a:noFill/>
          <a:ln/>
        </p:spPr>
        <p:txBody>
          <a:bodyPr wrap="square" lIns="0" tIns="0" rIns="0" bIns="0" rtlCol="0" anchor="ctr"/>
          <a:lstStyle/>
          <a:p>
            <a:pPr marL="0" indent="0">
              <a:buNone/>
            </a:pPr>
            <a:r>
              <a:rPr lang="en-US" sz="1000" b="1" dirty="0">
                <a:solidFill>
                  <a:srgbClr val="FFFFFF"/>
                </a:solidFill>
                <a:latin typeface="Arial" pitchFamily="34" charset="0"/>
                <a:ea typeface="Arial" pitchFamily="34" charset="-122"/>
                <a:cs typeface="Arial" pitchFamily="34" charset="-120"/>
              </a:rPr>
              <a:t>Trace to Requirements</a:t>
            </a:r>
            <a:endParaRPr lang="en-US" sz="1000" dirty="0"/>
          </a:p>
        </p:txBody>
      </p:sp>
      <p:sp>
        <p:nvSpPr>
          <p:cNvPr id="42" name="Text 40"/>
          <p:cNvSpPr/>
          <p:nvPr/>
        </p:nvSpPr>
        <p:spPr>
          <a:xfrm>
            <a:off x="5056632" y="3931920"/>
            <a:ext cx="1645920" cy="640080"/>
          </a:xfrm>
          <a:prstGeom prst="rect">
            <a:avLst/>
          </a:prstGeom>
          <a:noFill/>
          <a:ln/>
        </p:spPr>
        <p:txBody>
          <a:bodyPr wrap="square" lIns="0" tIns="0" rIns="0" bIns="0" rtlCol="0" anchor="t"/>
          <a:lstStyle/>
          <a:p>
            <a:pPr marL="0" indent="0">
              <a:buNone/>
            </a:pPr>
            <a:r>
              <a:rPr lang="en-US" sz="850" dirty="0">
                <a:solidFill>
                  <a:srgbClr val="AAAAAA"/>
                </a:solidFill>
                <a:latin typeface="Calibri" pitchFamily="34" charset="0"/>
                <a:ea typeface="Calibri" pitchFamily="34" charset="-122"/>
                <a:cs typeface="Calibri" pitchFamily="34" charset="-120"/>
              </a:rPr>
              <a:t>Every test case must reference the requirement ID it verifies. If no requirement exists, question why you're testing it.</a:t>
            </a:r>
            <a:endParaRPr lang="en-US" sz="850" dirty="0"/>
          </a:p>
        </p:txBody>
      </p:sp>
      <p:sp>
        <p:nvSpPr>
          <p:cNvPr id="43" name="Shape 41"/>
          <p:cNvSpPr/>
          <p:nvPr/>
        </p:nvSpPr>
        <p:spPr>
          <a:xfrm>
            <a:off x="6894576" y="3611880"/>
            <a:ext cx="2084832" cy="1005840"/>
          </a:xfrm>
          <a:prstGeom prst="rect">
            <a:avLst/>
          </a:prstGeom>
          <a:solidFill>
            <a:srgbClr val="181818"/>
          </a:solidFill>
          <a:ln w="12700">
            <a:solidFill>
              <a:srgbClr val="2D2D2D"/>
            </a:solidFill>
            <a:prstDash val="solid"/>
          </a:ln>
        </p:spPr>
      </p:sp>
      <p:sp>
        <p:nvSpPr>
          <p:cNvPr id="44" name="Shape 42"/>
          <p:cNvSpPr/>
          <p:nvPr/>
        </p:nvSpPr>
        <p:spPr>
          <a:xfrm>
            <a:off x="6894576" y="3611880"/>
            <a:ext cx="329184" cy="1005840"/>
          </a:xfrm>
          <a:prstGeom prst="rect">
            <a:avLst/>
          </a:prstGeom>
          <a:solidFill>
            <a:srgbClr val="FF6500"/>
          </a:solidFill>
          <a:ln w="12700">
            <a:solidFill>
              <a:srgbClr val="FF6500"/>
            </a:solidFill>
            <a:prstDash val="solid"/>
          </a:ln>
        </p:spPr>
      </p:sp>
      <p:sp>
        <p:nvSpPr>
          <p:cNvPr id="45" name="Text 43"/>
          <p:cNvSpPr/>
          <p:nvPr/>
        </p:nvSpPr>
        <p:spPr>
          <a:xfrm>
            <a:off x="6894576" y="3611880"/>
            <a:ext cx="329184" cy="365760"/>
          </a:xfrm>
          <a:prstGeom prst="rect">
            <a:avLst/>
          </a:prstGeom>
          <a:noFill/>
          <a:ln/>
        </p:spPr>
        <p:txBody>
          <a:bodyPr wrap="square" lIns="0" tIns="0" rIns="0" bIns="0" rtlCol="0" anchor="ctr"/>
          <a:lstStyle/>
          <a:p>
            <a:pPr marL="0" indent="0" algn="ctr">
              <a:buNone/>
            </a:pPr>
            <a:r>
              <a:rPr lang="en-US" sz="1300" b="1" dirty="0">
                <a:solidFill>
                  <a:srgbClr val="FFFFFF"/>
                </a:solidFill>
                <a:latin typeface="Arial Black" pitchFamily="34" charset="0"/>
                <a:ea typeface="Arial Black" pitchFamily="34" charset="-122"/>
                <a:cs typeface="Arial Black" pitchFamily="34" charset="-120"/>
              </a:rPr>
              <a:t>8</a:t>
            </a:r>
            <a:endParaRPr lang="en-US" sz="1300" dirty="0"/>
          </a:p>
        </p:txBody>
      </p:sp>
      <p:sp>
        <p:nvSpPr>
          <p:cNvPr id="46" name="Text 44"/>
          <p:cNvSpPr/>
          <p:nvPr/>
        </p:nvSpPr>
        <p:spPr>
          <a:xfrm>
            <a:off x="7278624" y="3648456"/>
            <a:ext cx="1645920" cy="274320"/>
          </a:xfrm>
          <a:prstGeom prst="rect">
            <a:avLst/>
          </a:prstGeom>
          <a:noFill/>
          <a:ln/>
        </p:spPr>
        <p:txBody>
          <a:bodyPr wrap="square" lIns="0" tIns="0" rIns="0" bIns="0" rtlCol="0" anchor="ctr"/>
          <a:lstStyle/>
          <a:p>
            <a:pPr marL="0" indent="0">
              <a:buNone/>
            </a:pPr>
            <a:r>
              <a:rPr lang="en-US" sz="1000" b="1" dirty="0">
                <a:solidFill>
                  <a:srgbClr val="FFFFFF"/>
                </a:solidFill>
                <a:latin typeface="Arial" pitchFamily="34" charset="0"/>
                <a:ea typeface="Arial" pitchFamily="34" charset="-122"/>
                <a:cs typeface="Arial" pitchFamily="34" charset="-120"/>
              </a:rPr>
              <a:t>Peer Review</a:t>
            </a:r>
            <a:endParaRPr lang="en-US" sz="1000" dirty="0"/>
          </a:p>
        </p:txBody>
      </p:sp>
      <p:sp>
        <p:nvSpPr>
          <p:cNvPr id="47" name="Text 45"/>
          <p:cNvSpPr/>
          <p:nvPr/>
        </p:nvSpPr>
        <p:spPr>
          <a:xfrm>
            <a:off x="7278624" y="3931920"/>
            <a:ext cx="1645920" cy="640080"/>
          </a:xfrm>
          <a:prstGeom prst="rect">
            <a:avLst/>
          </a:prstGeom>
          <a:noFill/>
          <a:ln/>
        </p:spPr>
        <p:txBody>
          <a:bodyPr wrap="square" lIns="0" tIns="0" rIns="0" bIns="0" rtlCol="0" anchor="t"/>
          <a:lstStyle/>
          <a:p>
            <a:pPr marL="0" indent="0">
              <a:buNone/>
            </a:pPr>
            <a:r>
              <a:rPr lang="en-US" sz="850" dirty="0">
                <a:solidFill>
                  <a:srgbClr val="AAAAAA"/>
                </a:solidFill>
                <a:latin typeface="Calibri" pitchFamily="34" charset="0"/>
                <a:ea typeface="Calibri" pitchFamily="34" charset="-122"/>
                <a:cs typeface="Calibri" pitchFamily="34" charset="-120"/>
              </a:rPr>
              <a:t>All test cases must be reviewed by a senior QA before execution. A second set of eyes catches ambiguity and missing cases.</a:t>
            </a:r>
            <a:endParaRPr lang="en-US" sz="8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2">
    <p:bg>
      <p:bgPr>
        <a:solidFill>
          <a:srgbClr val="F5F5F5"/>
        </a:solidFill>
        <a:effectLst/>
      </p:bgPr>
    </p:bg>
    <p:spTree>
      <p:nvGrpSpPr>
        <p:cNvPr id="1" name=""/>
        <p:cNvGrpSpPr/>
        <p:nvPr/>
      </p:nvGrpSpPr>
      <p:grpSpPr>
        <a:xfrm>
          <a:off x="0" y="0"/>
          <a:ext cx="0" cy="0"/>
          <a:chOff x="0" y="0"/>
          <a:chExt cx="0" cy="0"/>
        </a:xfrm>
      </p:grpSpPr>
      <p:sp>
        <p:nvSpPr>
          <p:cNvPr id="2" name="Shape 0"/>
          <p:cNvSpPr/>
          <p:nvPr/>
        </p:nvSpPr>
        <p:spPr>
          <a:xfrm>
            <a:off x="0" y="0"/>
            <a:ext cx="9144000" cy="621792"/>
          </a:xfrm>
          <a:prstGeom prst="rect">
            <a:avLst/>
          </a:prstGeom>
          <a:solidFill>
            <a:srgbClr val="0D0D0D"/>
          </a:solidFill>
          <a:ln w="12700">
            <a:solidFill>
              <a:srgbClr val="0D0D0D"/>
            </a:solidFill>
            <a:prstDash val="solid"/>
          </a:ln>
        </p:spPr>
      </p:sp>
      <p:sp>
        <p:nvSpPr>
          <p:cNvPr id="3" name="Shape 1"/>
          <p:cNvSpPr/>
          <p:nvPr/>
        </p:nvSpPr>
        <p:spPr>
          <a:xfrm>
            <a:off x="0" y="0"/>
            <a:ext cx="64008" cy="621792"/>
          </a:xfrm>
          <a:prstGeom prst="rect">
            <a:avLst/>
          </a:prstGeom>
          <a:solidFill>
            <a:srgbClr val="FF6500"/>
          </a:solidFill>
          <a:ln w="12700">
            <a:solidFill>
              <a:srgbClr val="FF6500"/>
            </a:solidFill>
            <a:prstDash val="solid"/>
          </a:ln>
        </p:spPr>
      </p:sp>
      <p:sp>
        <p:nvSpPr>
          <p:cNvPr id="4" name="Text 2"/>
          <p:cNvSpPr/>
          <p:nvPr/>
        </p:nvSpPr>
        <p:spPr>
          <a:xfrm>
            <a:off x="201168" y="64008"/>
            <a:ext cx="8503920" cy="493776"/>
          </a:xfrm>
          <a:prstGeom prst="rect">
            <a:avLst/>
          </a:prstGeom>
          <a:noFill/>
          <a:ln/>
        </p:spPr>
        <p:txBody>
          <a:bodyPr wrap="square" lIns="0" tIns="0" rIns="0" bIns="0" rtlCol="0" anchor="ctr"/>
          <a:lstStyle/>
          <a:p>
            <a:pPr marL="0" indent="0">
              <a:buNone/>
            </a:pPr>
            <a:r>
              <a:rPr lang="en-US" sz="1900" b="1" dirty="0">
                <a:solidFill>
                  <a:srgbClr val="FFFFFF"/>
                </a:solidFill>
                <a:latin typeface="Arial" pitchFamily="34" charset="0"/>
                <a:ea typeface="Arial" pitchFamily="34" charset="-122"/>
                <a:cs typeface="Arial" pitchFamily="34" charset="-120"/>
              </a:rPr>
              <a:t>Test Data Preparation — Types, Management &amp; Importance</a:t>
            </a:r>
            <a:endParaRPr lang="en-US" sz="1900" dirty="0"/>
          </a:p>
        </p:txBody>
      </p:sp>
      <p:sp>
        <p:nvSpPr>
          <p:cNvPr id="5" name="Shape 3"/>
          <p:cNvSpPr/>
          <p:nvPr/>
        </p:nvSpPr>
        <p:spPr>
          <a:xfrm>
            <a:off x="0" y="4828032"/>
            <a:ext cx="9144000" cy="315468"/>
          </a:xfrm>
          <a:prstGeom prst="rect">
            <a:avLst/>
          </a:prstGeom>
          <a:solidFill>
            <a:srgbClr val="0D0D0D"/>
          </a:solidFill>
          <a:ln w="12700">
            <a:solidFill>
              <a:srgbClr val="0D0D0D"/>
            </a:solidFill>
            <a:prstDash val="solid"/>
          </a:ln>
        </p:spPr>
      </p:sp>
      <p:sp>
        <p:nvSpPr>
          <p:cNvPr id="6" name="Text 4"/>
          <p:cNvSpPr/>
          <p:nvPr/>
        </p:nvSpPr>
        <p:spPr>
          <a:xfrm>
            <a:off x="182880" y="4855464"/>
            <a:ext cx="7315200" cy="228600"/>
          </a:xfrm>
          <a:prstGeom prst="rect">
            <a:avLst/>
          </a:prstGeom>
          <a:noFill/>
          <a:ln/>
        </p:spPr>
        <p:txBody>
          <a:bodyPr wrap="square" lIns="0" tIns="0" rIns="0" bIns="0" rtlCol="0" anchor="ctr"/>
          <a:lstStyle/>
          <a:p>
            <a:pPr marL="0" indent="0">
              <a:buNone/>
            </a:pPr>
            <a:r>
              <a:rPr lang="en-US" sz="850" dirty="0">
                <a:solidFill>
                  <a:srgbClr val="999999"/>
                </a:solidFill>
                <a:latin typeface="Calibri" pitchFamily="34" charset="0"/>
                <a:ea typeface="Calibri" pitchFamily="34" charset="-122"/>
                <a:cs typeface="Calibri" pitchFamily="34" charset="-120"/>
              </a:rPr>
              <a:t>Quality Engineering | Test Case Development in STLC</a:t>
            </a:r>
            <a:endParaRPr lang="en-US" sz="850" dirty="0"/>
          </a:p>
        </p:txBody>
      </p:sp>
      <p:sp>
        <p:nvSpPr>
          <p:cNvPr id="7" name="Text 5"/>
          <p:cNvSpPr/>
          <p:nvPr/>
        </p:nvSpPr>
        <p:spPr>
          <a:xfrm>
            <a:off x="7406640" y="4855464"/>
            <a:ext cx="1554480" cy="228600"/>
          </a:xfrm>
          <a:prstGeom prst="rect">
            <a:avLst/>
          </a:prstGeom>
          <a:noFill/>
          <a:ln/>
        </p:spPr>
        <p:txBody>
          <a:bodyPr wrap="square" lIns="0" tIns="0" rIns="0" bIns="0" rtlCol="0" anchor="ctr"/>
          <a:lstStyle/>
          <a:p>
            <a:pPr marL="0" indent="0" algn="r">
              <a:buNone/>
            </a:pPr>
            <a:r>
              <a:rPr lang="en-US" sz="850" b="1" dirty="0">
                <a:solidFill>
                  <a:srgbClr val="FF6500"/>
                </a:solidFill>
                <a:latin typeface="Calibri" pitchFamily="34" charset="0"/>
                <a:ea typeface="Calibri" pitchFamily="34" charset="-122"/>
                <a:cs typeface="Calibri" pitchFamily="34" charset="-120"/>
              </a:rPr>
              <a:t>INTERNAL TRAINING</a:t>
            </a:r>
            <a:endParaRPr lang="en-US" sz="850" dirty="0"/>
          </a:p>
        </p:txBody>
      </p:sp>
      <p:sp>
        <p:nvSpPr>
          <p:cNvPr id="8" name="Text 6"/>
          <p:cNvSpPr/>
          <p:nvPr/>
        </p:nvSpPr>
        <p:spPr>
          <a:xfrm>
            <a:off x="228600" y="758952"/>
            <a:ext cx="8732520" cy="658368"/>
          </a:xfrm>
          <a:prstGeom prst="rect">
            <a:avLst/>
          </a:prstGeom>
          <a:noFill/>
          <a:ln/>
        </p:spPr>
        <p:txBody>
          <a:bodyPr wrap="square" lIns="0" tIns="0" rIns="0" bIns="0" rtlCol="0" anchor="ctr"/>
          <a:lstStyle/>
          <a:p>
            <a:pPr marL="0" indent="0">
              <a:buNone/>
            </a:pPr>
            <a:r>
              <a:rPr lang="en-US" sz="1150" dirty="0">
                <a:solidFill>
                  <a:srgbClr val="2C2C2C"/>
                </a:solidFill>
                <a:latin typeface="Calibri" pitchFamily="34" charset="0"/>
                <a:ea typeface="Calibri" pitchFamily="34" charset="-122"/>
                <a:cs typeface="Calibri" pitchFamily="34" charset="-120"/>
              </a:rPr>
              <a:t>Test data is the specific set of inputs used to execute test cases. Poor test data leads to missed defects — even well-written test cases will fail to detect bugs if executed with the wrong data. Data must be prepared BEFORE test execution begins.</a:t>
            </a:r>
            <a:endParaRPr lang="en-US" sz="1150" dirty="0"/>
          </a:p>
        </p:txBody>
      </p:sp>
      <p:sp>
        <p:nvSpPr>
          <p:cNvPr id="9" name="Shape 7"/>
          <p:cNvSpPr/>
          <p:nvPr/>
        </p:nvSpPr>
        <p:spPr>
          <a:xfrm>
            <a:off x="228600" y="1508760"/>
            <a:ext cx="2761488" cy="3182112"/>
          </a:xfrm>
          <a:prstGeom prst="rect">
            <a:avLst/>
          </a:prstGeom>
          <a:solidFill>
            <a:srgbClr val="FFFFFF"/>
          </a:solidFill>
          <a:ln w="12700">
            <a:solidFill>
              <a:srgbClr val="DEDEDE"/>
            </a:solidFill>
            <a:prstDash val="solid"/>
          </a:ln>
          <a:effectLst>
            <a:outerShdw blurRad="76200" dist="25400" dir="8100000" algn="bl" rotWithShape="0">
              <a:srgbClr val="000000">
                <a:alpha val="13000"/>
              </a:srgbClr>
            </a:outerShdw>
          </a:effectLst>
        </p:spPr>
      </p:sp>
      <p:sp>
        <p:nvSpPr>
          <p:cNvPr id="10" name="Shape 8"/>
          <p:cNvSpPr/>
          <p:nvPr/>
        </p:nvSpPr>
        <p:spPr>
          <a:xfrm>
            <a:off x="228600" y="1508760"/>
            <a:ext cx="2761488" cy="347472"/>
          </a:xfrm>
          <a:prstGeom prst="rect">
            <a:avLst/>
          </a:prstGeom>
          <a:solidFill>
            <a:srgbClr val="27AE60"/>
          </a:solidFill>
          <a:ln w="12700">
            <a:solidFill>
              <a:srgbClr val="27AE60"/>
            </a:solidFill>
            <a:prstDash val="solid"/>
          </a:ln>
        </p:spPr>
      </p:sp>
      <p:sp>
        <p:nvSpPr>
          <p:cNvPr id="11" name="Text 9"/>
          <p:cNvSpPr/>
          <p:nvPr/>
        </p:nvSpPr>
        <p:spPr>
          <a:xfrm>
            <a:off x="292608" y="1508760"/>
            <a:ext cx="2633472" cy="347472"/>
          </a:xfrm>
          <a:prstGeom prst="rect">
            <a:avLst/>
          </a:prstGeom>
          <a:noFill/>
          <a:ln/>
        </p:spPr>
        <p:txBody>
          <a:bodyPr wrap="square" lIns="0" tIns="0" rIns="0" bIns="0" rtlCol="0" anchor="ctr"/>
          <a:lstStyle/>
          <a:p>
            <a:pPr marL="0" indent="0">
              <a:buNone/>
            </a:pPr>
            <a:r>
              <a:rPr lang="en-US" sz="1100" b="1" kern="0" spc="100" dirty="0">
                <a:solidFill>
                  <a:srgbClr val="FFFFFF"/>
                </a:solidFill>
                <a:latin typeface="Arial" pitchFamily="34" charset="0"/>
                <a:ea typeface="Arial" pitchFamily="34" charset="-122"/>
                <a:cs typeface="Arial" pitchFamily="34" charset="-120"/>
              </a:rPr>
              <a:t>VALID DATA</a:t>
            </a:r>
            <a:endParaRPr lang="en-US" sz="1100" dirty="0"/>
          </a:p>
        </p:txBody>
      </p:sp>
      <p:sp>
        <p:nvSpPr>
          <p:cNvPr id="12" name="Text 10"/>
          <p:cNvSpPr/>
          <p:nvPr/>
        </p:nvSpPr>
        <p:spPr>
          <a:xfrm>
            <a:off x="320040" y="1920240"/>
            <a:ext cx="2578608" cy="2697480"/>
          </a:xfrm>
          <a:prstGeom prst="rect">
            <a:avLst/>
          </a:prstGeom>
          <a:noFill/>
          <a:ln/>
        </p:spPr>
        <p:txBody>
          <a:bodyPr wrap="square" lIns="0" tIns="0" rIns="0" bIns="0" rtlCol="0" anchor="t"/>
          <a:lstStyle/>
          <a:p>
            <a:pPr marL="342900" indent="-342900">
              <a:spcAft>
                <a:spcPts val="500"/>
              </a:spcAft>
              <a:buSzPct val="100000"/>
              <a:buChar char="•"/>
            </a:pPr>
            <a:r>
              <a:rPr lang="en-US" sz="1050" dirty="0">
                <a:solidFill>
                  <a:srgbClr val="2C2C2C"/>
                </a:solidFill>
                <a:latin typeface="Calibri" pitchFamily="34" charset="0"/>
                <a:ea typeface="Calibri" pitchFamily="34" charset="-122"/>
                <a:cs typeface="Calibri" pitchFamily="34" charset="-120"/>
              </a:rPr>
              <a:t>Correct format, within acceptable range</a:t>
            </a:r>
            <a:endParaRPr lang="en-US" sz="1050" dirty="0"/>
          </a:p>
          <a:p>
            <a:pPr marL="342900" indent="-342900">
              <a:spcAft>
                <a:spcPts val="500"/>
              </a:spcAft>
              <a:buSzPct val="100000"/>
              <a:buChar char="•"/>
            </a:pPr>
            <a:r>
              <a:rPr lang="en-US" sz="1050" dirty="0">
                <a:solidFill>
                  <a:srgbClr val="5A5A5A"/>
                </a:solidFill>
                <a:latin typeface="Calibri" pitchFamily="34" charset="0"/>
                <a:ea typeface="Calibri" pitchFamily="34" charset="-122"/>
                <a:cs typeface="Calibri" pitchFamily="34" charset="-120"/>
              </a:rPr>
              <a:t>Meets all field validation rules</a:t>
            </a:r>
            <a:endParaRPr lang="en-US" sz="1050" dirty="0"/>
          </a:p>
          <a:p>
            <a:pPr marL="342900" indent="-342900">
              <a:spcAft>
                <a:spcPts val="500"/>
              </a:spcAft>
              <a:buSzPct val="100000"/>
              <a:buChar char="•"/>
            </a:pPr>
            <a:r>
              <a:rPr lang="en-US" sz="1050" dirty="0">
                <a:solidFill>
                  <a:srgbClr val="2C2C2C"/>
                </a:solidFill>
                <a:latin typeface="Calibri" pitchFamily="34" charset="0"/>
                <a:ea typeface="Calibri" pitchFamily="34" charset="-122"/>
                <a:cs typeface="Calibri" pitchFamily="34" charset="-120"/>
              </a:rPr>
              <a:t>Example: Email = 'user@domain.com'</a:t>
            </a:r>
            <a:endParaRPr lang="en-US" sz="1050" dirty="0"/>
          </a:p>
          <a:p>
            <a:pPr marL="342900" indent="-342900">
              <a:spcAft>
                <a:spcPts val="500"/>
              </a:spcAft>
              <a:buSzPct val="100000"/>
              <a:buChar char="•"/>
            </a:pPr>
            <a:r>
              <a:rPr lang="en-US" sz="1050" dirty="0">
                <a:solidFill>
                  <a:srgbClr val="5A5A5A"/>
                </a:solidFill>
                <a:latin typeface="Calibri" pitchFamily="34" charset="0"/>
                <a:ea typeface="Calibri" pitchFamily="34" charset="-122"/>
                <a:cs typeface="Calibri" pitchFamily="34" charset="-120"/>
              </a:rPr>
              <a:t>Example: Age = 25</a:t>
            </a:r>
            <a:endParaRPr lang="en-US" sz="1050" dirty="0"/>
          </a:p>
          <a:p>
            <a:pPr marL="342900" indent="-342900">
              <a:spcAft>
                <a:spcPts val="500"/>
              </a:spcAft>
              <a:buSzPct val="100000"/>
              <a:buChar char="•"/>
            </a:pPr>
            <a:r>
              <a:rPr lang="en-US" sz="1050" dirty="0">
                <a:solidFill>
                  <a:srgbClr val="2C2C2C"/>
                </a:solidFill>
                <a:latin typeface="Calibri" pitchFamily="34" charset="0"/>
                <a:ea typeface="Calibri" pitchFamily="34" charset="-122"/>
                <a:cs typeface="Calibri" pitchFamily="34" charset="-120"/>
              </a:rPr>
              <a:t>Example: Phone = '0821234567' (10 digits)</a:t>
            </a:r>
            <a:endParaRPr lang="en-US" sz="1050" dirty="0"/>
          </a:p>
          <a:p>
            <a:pPr marL="342900" indent="-342900">
              <a:spcAft>
                <a:spcPts val="500"/>
              </a:spcAft>
              <a:buSzPct val="100000"/>
              <a:buChar char="•"/>
            </a:pPr>
            <a:r>
              <a:rPr lang="en-US" sz="1050" dirty="0">
                <a:solidFill>
                  <a:srgbClr val="5A5A5A"/>
                </a:solidFill>
                <a:latin typeface="Calibri" pitchFamily="34" charset="0"/>
                <a:ea typeface="Calibri" pitchFamily="34" charset="-122"/>
                <a:cs typeface="Calibri" pitchFamily="34" charset="-120"/>
              </a:rPr>
              <a:t>Used in positive test cases — system MUST accept</a:t>
            </a:r>
            <a:endParaRPr lang="en-US" sz="1050" dirty="0"/>
          </a:p>
        </p:txBody>
      </p:sp>
      <p:sp>
        <p:nvSpPr>
          <p:cNvPr id="13" name="Shape 11"/>
          <p:cNvSpPr/>
          <p:nvPr/>
        </p:nvSpPr>
        <p:spPr>
          <a:xfrm>
            <a:off x="3136392" y="1508760"/>
            <a:ext cx="2761488" cy="3182112"/>
          </a:xfrm>
          <a:prstGeom prst="rect">
            <a:avLst/>
          </a:prstGeom>
          <a:solidFill>
            <a:srgbClr val="FFFFFF"/>
          </a:solidFill>
          <a:ln w="12700">
            <a:solidFill>
              <a:srgbClr val="DEDEDE"/>
            </a:solidFill>
            <a:prstDash val="solid"/>
          </a:ln>
          <a:effectLst>
            <a:outerShdw blurRad="76200" dist="25400" dir="8100000" algn="bl" rotWithShape="0">
              <a:srgbClr val="000000">
                <a:alpha val="13000"/>
              </a:srgbClr>
            </a:outerShdw>
          </a:effectLst>
        </p:spPr>
      </p:sp>
      <p:sp>
        <p:nvSpPr>
          <p:cNvPr id="14" name="Shape 12"/>
          <p:cNvSpPr/>
          <p:nvPr/>
        </p:nvSpPr>
        <p:spPr>
          <a:xfrm>
            <a:off x="3136392" y="1508760"/>
            <a:ext cx="2761488" cy="347472"/>
          </a:xfrm>
          <a:prstGeom prst="rect">
            <a:avLst/>
          </a:prstGeom>
          <a:solidFill>
            <a:srgbClr val="C0392B"/>
          </a:solidFill>
          <a:ln w="12700">
            <a:solidFill>
              <a:srgbClr val="C0392B"/>
            </a:solidFill>
            <a:prstDash val="solid"/>
          </a:ln>
        </p:spPr>
      </p:sp>
      <p:sp>
        <p:nvSpPr>
          <p:cNvPr id="15" name="Text 13"/>
          <p:cNvSpPr/>
          <p:nvPr/>
        </p:nvSpPr>
        <p:spPr>
          <a:xfrm>
            <a:off x="3200400" y="1508760"/>
            <a:ext cx="2633472" cy="347472"/>
          </a:xfrm>
          <a:prstGeom prst="rect">
            <a:avLst/>
          </a:prstGeom>
          <a:noFill/>
          <a:ln/>
        </p:spPr>
        <p:txBody>
          <a:bodyPr wrap="square" lIns="0" tIns="0" rIns="0" bIns="0" rtlCol="0" anchor="ctr"/>
          <a:lstStyle/>
          <a:p>
            <a:pPr marL="0" indent="0">
              <a:buNone/>
            </a:pPr>
            <a:r>
              <a:rPr lang="en-US" sz="1100" b="1" kern="0" spc="100" dirty="0">
                <a:solidFill>
                  <a:srgbClr val="FFFFFF"/>
                </a:solidFill>
                <a:latin typeface="Arial" pitchFamily="34" charset="0"/>
                <a:ea typeface="Arial" pitchFamily="34" charset="-122"/>
                <a:cs typeface="Arial" pitchFamily="34" charset="-120"/>
              </a:rPr>
              <a:t>INVALID DATA</a:t>
            </a:r>
            <a:endParaRPr lang="en-US" sz="1100" dirty="0"/>
          </a:p>
        </p:txBody>
      </p:sp>
      <p:sp>
        <p:nvSpPr>
          <p:cNvPr id="16" name="Text 14"/>
          <p:cNvSpPr/>
          <p:nvPr/>
        </p:nvSpPr>
        <p:spPr>
          <a:xfrm>
            <a:off x="3227832" y="1920240"/>
            <a:ext cx="2578608" cy="2697480"/>
          </a:xfrm>
          <a:prstGeom prst="rect">
            <a:avLst/>
          </a:prstGeom>
          <a:noFill/>
          <a:ln/>
        </p:spPr>
        <p:txBody>
          <a:bodyPr wrap="square" lIns="0" tIns="0" rIns="0" bIns="0" rtlCol="0" anchor="t"/>
          <a:lstStyle/>
          <a:p>
            <a:pPr marL="342900" indent="-342900">
              <a:spcAft>
                <a:spcPts val="500"/>
              </a:spcAft>
              <a:buSzPct val="100000"/>
              <a:buChar char="•"/>
            </a:pPr>
            <a:r>
              <a:rPr lang="en-US" sz="1050" dirty="0">
                <a:solidFill>
                  <a:srgbClr val="2C2C2C"/>
                </a:solidFill>
                <a:latin typeface="Calibri" pitchFamily="34" charset="0"/>
                <a:ea typeface="Calibri" pitchFamily="34" charset="-122"/>
                <a:cs typeface="Calibri" pitchFamily="34" charset="-120"/>
              </a:rPr>
              <a:t>Wrong format, out of range, or forbidden</a:t>
            </a:r>
            <a:endParaRPr lang="en-US" sz="1050" dirty="0"/>
          </a:p>
          <a:p>
            <a:pPr marL="342900" indent="-342900">
              <a:spcAft>
                <a:spcPts val="500"/>
              </a:spcAft>
              <a:buSzPct val="100000"/>
              <a:buChar char="•"/>
            </a:pPr>
            <a:r>
              <a:rPr lang="en-US" sz="1050" dirty="0">
                <a:solidFill>
                  <a:srgbClr val="5A5A5A"/>
                </a:solidFill>
                <a:latin typeface="Calibri" pitchFamily="34" charset="0"/>
                <a:ea typeface="Calibri" pitchFamily="34" charset="-122"/>
                <a:cs typeface="Calibri" pitchFamily="34" charset="-120"/>
              </a:rPr>
              <a:t>Example: Email = 'not-an-email'</a:t>
            </a:r>
            <a:endParaRPr lang="en-US" sz="1050" dirty="0"/>
          </a:p>
          <a:p>
            <a:pPr marL="342900" indent="-342900">
              <a:spcAft>
                <a:spcPts val="500"/>
              </a:spcAft>
              <a:buSzPct val="100000"/>
              <a:buChar char="•"/>
            </a:pPr>
            <a:r>
              <a:rPr lang="en-US" sz="1050" dirty="0">
                <a:solidFill>
                  <a:srgbClr val="2C2C2C"/>
                </a:solidFill>
                <a:latin typeface="Calibri" pitchFamily="34" charset="0"/>
                <a:ea typeface="Calibri" pitchFamily="34" charset="-122"/>
                <a:cs typeface="Calibri" pitchFamily="34" charset="-120"/>
              </a:rPr>
              <a:t>Example: Age = -5 or 999</a:t>
            </a:r>
            <a:endParaRPr lang="en-US" sz="1050" dirty="0"/>
          </a:p>
          <a:p>
            <a:pPr marL="342900" indent="-342900">
              <a:spcAft>
                <a:spcPts val="500"/>
              </a:spcAft>
              <a:buSzPct val="100000"/>
              <a:buChar char="•"/>
            </a:pPr>
            <a:r>
              <a:rPr lang="en-US" sz="1050" dirty="0">
                <a:solidFill>
                  <a:srgbClr val="5A5A5A"/>
                </a:solidFill>
                <a:latin typeface="Calibri" pitchFamily="34" charset="0"/>
                <a:ea typeface="Calibri" pitchFamily="34" charset="-122"/>
                <a:cs typeface="Calibri" pitchFamily="34" charset="-120"/>
              </a:rPr>
              <a:t>Example: Phone = 'ABCDEFGHIJ'</a:t>
            </a:r>
            <a:endParaRPr lang="en-US" sz="1050" dirty="0"/>
          </a:p>
          <a:p>
            <a:pPr marL="342900" indent="-342900">
              <a:spcAft>
                <a:spcPts val="500"/>
              </a:spcAft>
              <a:buSzPct val="100000"/>
              <a:buChar char="•"/>
            </a:pPr>
            <a:r>
              <a:rPr lang="en-US" sz="1050" dirty="0">
                <a:solidFill>
                  <a:srgbClr val="2C2C2C"/>
                </a:solidFill>
                <a:latin typeface="Calibri" pitchFamily="34" charset="0"/>
                <a:ea typeface="Calibri" pitchFamily="34" charset="-122"/>
                <a:cs typeface="Calibri" pitchFamily="34" charset="-120"/>
              </a:rPr>
              <a:t>SQL injection: admin'--</a:t>
            </a:r>
            <a:endParaRPr lang="en-US" sz="1050" dirty="0"/>
          </a:p>
          <a:p>
            <a:pPr marL="342900" indent="-342900">
              <a:spcAft>
                <a:spcPts val="500"/>
              </a:spcAft>
              <a:buSzPct val="100000"/>
              <a:buChar char="•"/>
            </a:pPr>
            <a:r>
              <a:rPr lang="en-US" sz="1050" dirty="0">
                <a:solidFill>
                  <a:srgbClr val="5A5A5A"/>
                </a:solidFill>
                <a:latin typeface="Calibri" pitchFamily="34" charset="0"/>
                <a:ea typeface="Calibri" pitchFamily="34" charset="-122"/>
                <a:cs typeface="Calibri" pitchFamily="34" charset="-120"/>
              </a:rPr>
              <a:t>Used in negative test cases — system MUST reject</a:t>
            </a:r>
            <a:endParaRPr lang="en-US" sz="1050" dirty="0"/>
          </a:p>
        </p:txBody>
      </p:sp>
      <p:sp>
        <p:nvSpPr>
          <p:cNvPr id="17" name="Shape 15"/>
          <p:cNvSpPr/>
          <p:nvPr/>
        </p:nvSpPr>
        <p:spPr>
          <a:xfrm>
            <a:off x="6044184" y="1508760"/>
            <a:ext cx="2761488" cy="3182112"/>
          </a:xfrm>
          <a:prstGeom prst="rect">
            <a:avLst/>
          </a:prstGeom>
          <a:solidFill>
            <a:srgbClr val="FFFFFF"/>
          </a:solidFill>
          <a:ln w="12700">
            <a:solidFill>
              <a:srgbClr val="DEDEDE"/>
            </a:solidFill>
            <a:prstDash val="solid"/>
          </a:ln>
          <a:effectLst>
            <a:outerShdw blurRad="76200" dist="25400" dir="8100000" algn="bl" rotWithShape="0">
              <a:srgbClr val="000000">
                <a:alpha val="13000"/>
              </a:srgbClr>
            </a:outerShdw>
          </a:effectLst>
        </p:spPr>
      </p:sp>
      <p:sp>
        <p:nvSpPr>
          <p:cNvPr id="18" name="Shape 16"/>
          <p:cNvSpPr/>
          <p:nvPr/>
        </p:nvSpPr>
        <p:spPr>
          <a:xfrm>
            <a:off x="6044184" y="1508760"/>
            <a:ext cx="2761488" cy="347472"/>
          </a:xfrm>
          <a:prstGeom prst="rect">
            <a:avLst/>
          </a:prstGeom>
          <a:solidFill>
            <a:srgbClr val="FF6500"/>
          </a:solidFill>
          <a:ln w="12700">
            <a:solidFill>
              <a:srgbClr val="FF6500"/>
            </a:solidFill>
            <a:prstDash val="solid"/>
          </a:ln>
        </p:spPr>
      </p:sp>
      <p:sp>
        <p:nvSpPr>
          <p:cNvPr id="19" name="Text 17"/>
          <p:cNvSpPr/>
          <p:nvPr/>
        </p:nvSpPr>
        <p:spPr>
          <a:xfrm>
            <a:off x="6108192" y="1508760"/>
            <a:ext cx="2633472" cy="347472"/>
          </a:xfrm>
          <a:prstGeom prst="rect">
            <a:avLst/>
          </a:prstGeom>
          <a:noFill/>
          <a:ln/>
        </p:spPr>
        <p:txBody>
          <a:bodyPr wrap="square" lIns="0" tIns="0" rIns="0" bIns="0" rtlCol="0" anchor="ctr"/>
          <a:lstStyle/>
          <a:p>
            <a:pPr marL="0" indent="0">
              <a:buNone/>
            </a:pPr>
            <a:r>
              <a:rPr lang="en-US" sz="1100" b="1" kern="0" spc="100" dirty="0">
                <a:solidFill>
                  <a:srgbClr val="FFFFFF"/>
                </a:solidFill>
                <a:latin typeface="Arial" pitchFamily="34" charset="0"/>
                <a:ea typeface="Arial" pitchFamily="34" charset="-122"/>
                <a:cs typeface="Arial" pitchFamily="34" charset="-120"/>
              </a:rPr>
              <a:t>EDGE / BOUNDARY DATA</a:t>
            </a:r>
            <a:endParaRPr lang="en-US" sz="1100" dirty="0"/>
          </a:p>
        </p:txBody>
      </p:sp>
      <p:sp>
        <p:nvSpPr>
          <p:cNvPr id="20" name="Text 18"/>
          <p:cNvSpPr/>
          <p:nvPr/>
        </p:nvSpPr>
        <p:spPr>
          <a:xfrm>
            <a:off x="6135624" y="1920240"/>
            <a:ext cx="2578608" cy="2697480"/>
          </a:xfrm>
          <a:prstGeom prst="rect">
            <a:avLst/>
          </a:prstGeom>
          <a:noFill/>
          <a:ln/>
        </p:spPr>
        <p:txBody>
          <a:bodyPr wrap="square" lIns="0" tIns="0" rIns="0" bIns="0" rtlCol="0" anchor="t"/>
          <a:lstStyle/>
          <a:p>
            <a:pPr marL="342900" indent="-342900">
              <a:spcAft>
                <a:spcPts val="500"/>
              </a:spcAft>
              <a:buSzPct val="100000"/>
              <a:buChar char="•"/>
            </a:pPr>
            <a:r>
              <a:rPr lang="en-US" sz="1050" dirty="0">
                <a:solidFill>
                  <a:srgbClr val="2C2C2C"/>
                </a:solidFill>
                <a:latin typeface="Calibri" pitchFamily="34" charset="0"/>
                <a:ea typeface="Calibri" pitchFamily="34" charset="-122"/>
                <a:cs typeface="Calibri" pitchFamily="34" charset="-120"/>
              </a:rPr>
              <a:t>Values at or just outside boundary limits</a:t>
            </a:r>
            <a:endParaRPr lang="en-US" sz="1050" dirty="0"/>
          </a:p>
          <a:p>
            <a:pPr marL="342900" indent="-342900">
              <a:spcAft>
                <a:spcPts val="500"/>
              </a:spcAft>
              <a:buSzPct val="100000"/>
              <a:buChar char="•"/>
            </a:pPr>
            <a:r>
              <a:rPr lang="en-US" sz="1050" dirty="0">
                <a:solidFill>
                  <a:srgbClr val="5A5A5A"/>
                </a:solidFill>
                <a:latin typeface="Calibri" pitchFamily="34" charset="0"/>
                <a:ea typeface="Calibri" pitchFamily="34" charset="-122"/>
                <a:cs typeface="Calibri" pitchFamily="34" charset="-120"/>
              </a:rPr>
              <a:t>Example: Min password = 8 chars → test 7, 8, 9</a:t>
            </a:r>
            <a:endParaRPr lang="en-US" sz="1050" dirty="0"/>
          </a:p>
          <a:p>
            <a:pPr marL="342900" indent="-342900">
              <a:spcAft>
                <a:spcPts val="500"/>
              </a:spcAft>
              <a:buSzPct val="100000"/>
              <a:buChar char="•"/>
            </a:pPr>
            <a:r>
              <a:rPr lang="en-US" sz="1050" dirty="0">
                <a:solidFill>
                  <a:srgbClr val="2C2C2C"/>
                </a:solidFill>
                <a:latin typeface="Calibri" pitchFamily="34" charset="0"/>
                <a:ea typeface="Calibri" pitchFamily="34" charset="-122"/>
                <a:cs typeface="Calibri" pitchFamily="34" charset="-120"/>
              </a:rPr>
              <a:t>Example: Max file upload = 5MB → test 4.9MB, 5MB, 5.1MB</a:t>
            </a:r>
            <a:endParaRPr lang="en-US" sz="1050" dirty="0"/>
          </a:p>
          <a:p>
            <a:pPr marL="342900" indent="-342900">
              <a:spcAft>
                <a:spcPts val="500"/>
              </a:spcAft>
              <a:buSzPct val="100000"/>
              <a:buChar char="•"/>
            </a:pPr>
            <a:r>
              <a:rPr lang="en-US" sz="1050" dirty="0">
                <a:solidFill>
                  <a:srgbClr val="5A5A5A"/>
                </a:solidFill>
                <a:latin typeface="Calibri" pitchFamily="34" charset="0"/>
                <a:ea typeface="Calibri" pitchFamily="34" charset="-122"/>
                <a:cs typeface="Calibri" pitchFamily="34" charset="-120"/>
              </a:rPr>
              <a:t>Empty string, null, whitespace-only inputs</a:t>
            </a:r>
            <a:endParaRPr lang="en-US" sz="1050" dirty="0"/>
          </a:p>
          <a:p>
            <a:pPr marL="342900" indent="-342900">
              <a:spcAft>
                <a:spcPts val="500"/>
              </a:spcAft>
              <a:buSzPct val="100000"/>
              <a:buChar char="•"/>
            </a:pPr>
            <a:r>
              <a:rPr lang="en-US" sz="1050" dirty="0">
                <a:solidFill>
                  <a:srgbClr val="2C2C2C"/>
                </a:solidFill>
                <a:latin typeface="Calibri" pitchFamily="34" charset="0"/>
                <a:ea typeface="Calibri" pitchFamily="34" charset="-122"/>
                <a:cs typeface="Calibri" pitchFamily="34" charset="-120"/>
              </a:rPr>
              <a:t>Special characters: !@#$%^&amp;*()</a:t>
            </a:r>
            <a:endParaRPr lang="en-US" sz="1050" dirty="0"/>
          </a:p>
          <a:p>
            <a:pPr marL="342900" indent="-342900">
              <a:spcAft>
                <a:spcPts val="500"/>
              </a:spcAft>
              <a:buSzPct val="100000"/>
              <a:buChar char="•"/>
            </a:pPr>
            <a:r>
              <a:rPr lang="en-US" sz="1050" dirty="0">
                <a:solidFill>
                  <a:srgbClr val="5A5A5A"/>
                </a:solidFill>
                <a:latin typeface="Calibri" pitchFamily="34" charset="0"/>
                <a:ea typeface="Calibri" pitchFamily="34" charset="-122"/>
                <a:cs typeface="Calibri" pitchFamily="34" charset="-120"/>
              </a:rPr>
              <a:t>Unicode &amp; international characters: äöüñ 漢字</a:t>
            </a:r>
            <a:endParaRPr lang="en-US" sz="1050" dirty="0"/>
          </a:p>
        </p:txBody>
      </p:sp>
      <p:sp>
        <p:nvSpPr>
          <p:cNvPr id="21" name="Shape 19"/>
          <p:cNvSpPr/>
          <p:nvPr/>
        </p:nvSpPr>
        <p:spPr>
          <a:xfrm>
            <a:off x="228600" y="4782312"/>
            <a:ext cx="8732520" cy="182880"/>
          </a:xfrm>
          <a:prstGeom prst="rect">
            <a:avLst/>
          </a:prstGeom>
          <a:solidFill>
            <a:srgbClr val="FFF3E0"/>
          </a:solidFill>
          <a:ln w="12700">
            <a:solidFill>
              <a:srgbClr val="FF6500"/>
            </a:solidFill>
            <a:prstDash val="solid"/>
          </a:ln>
        </p:spPr>
      </p:sp>
      <p:sp>
        <p:nvSpPr>
          <p:cNvPr id="22" name="Text 20"/>
          <p:cNvSpPr/>
          <p:nvPr/>
        </p:nvSpPr>
        <p:spPr>
          <a:xfrm>
            <a:off x="320040" y="4791456"/>
            <a:ext cx="8503920" cy="164592"/>
          </a:xfrm>
          <a:prstGeom prst="rect">
            <a:avLst/>
          </a:prstGeom>
          <a:noFill/>
          <a:ln/>
        </p:spPr>
        <p:txBody>
          <a:bodyPr wrap="square" lIns="0" tIns="0" rIns="0" bIns="0" rtlCol="0" anchor="ctr"/>
          <a:lstStyle/>
          <a:p>
            <a:pPr marL="0" indent="0">
              <a:buNone/>
            </a:pPr>
            <a:r>
              <a:rPr lang="en-US" sz="900" dirty="0">
                <a:solidFill>
                  <a:srgbClr val="2C2C2C"/>
                </a:solidFill>
                <a:latin typeface="Calibri" pitchFamily="34" charset="0"/>
                <a:ea typeface="Calibri" pitchFamily="34" charset="-122"/>
                <a:cs typeface="Calibri" pitchFamily="34" charset="-120"/>
              </a:rPr>
              <a:t>DATA MANAGEMENT: Never use real production data in test environments. Use anonymised/synthetic data. Store test data in shared repositories (Excel, TestRail, databases).</a:t>
            </a:r>
            <a:endParaRPr lang="en-US" sz="9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3">
    <p:bg>
      <p:bgPr>
        <a:solidFill>
          <a:srgbClr val="F5F5F5"/>
        </a:solidFill>
        <a:effectLst/>
      </p:bgPr>
    </p:bg>
    <p:spTree>
      <p:nvGrpSpPr>
        <p:cNvPr id="1" name=""/>
        <p:cNvGrpSpPr/>
        <p:nvPr/>
      </p:nvGrpSpPr>
      <p:grpSpPr>
        <a:xfrm>
          <a:off x="0" y="0"/>
          <a:ext cx="0" cy="0"/>
          <a:chOff x="0" y="0"/>
          <a:chExt cx="0" cy="0"/>
        </a:xfrm>
      </p:grpSpPr>
      <p:sp>
        <p:nvSpPr>
          <p:cNvPr id="2" name="Shape 0"/>
          <p:cNvSpPr/>
          <p:nvPr/>
        </p:nvSpPr>
        <p:spPr>
          <a:xfrm>
            <a:off x="0" y="0"/>
            <a:ext cx="9144000" cy="621792"/>
          </a:xfrm>
          <a:prstGeom prst="rect">
            <a:avLst/>
          </a:prstGeom>
          <a:solidFill>
            <a:srgbClr val="0D0D0D"/>
          </a:solidFill>
          <a:ln w="12700">
            <a:solidFill>
              <a:srgbClr val="0D0D0D"/>
            </a:solidFill>
            <a:prstDash val="solid"/>
          </a:ln>
        </p:spPr>
      </p:sp>
      <p:sp>
        <p:nvSpPr>
          <p:cNvPr id="3" name="Shape 1"/>
          <p:cNvSpPr/>
          <p:nvPr/>
        </p:nvSpPr>
        <p:spPr>
          <a:xfrm>
            <a:off x="0" y="0"/>
            <a:ext cx="64008" cy="621792"/>
          </a:xfrm>
          <a:prstGeom prst="rect">
            <a:avLst/>
          </a:prstGeom>
          <a:solidFill>
            <a:srgbClr val="FF6500"/>
          </a:solidFill>
          <a:ln w="12700">
            <a:solidFill>
              <a:srgbClr val="FF6500"/>
            </a:solidFill>
            <a:prstDash val="solid"/>
          </a:ln>
        </p:spPr>
      </p:sp>
      <p:sp>
        <p:nvSpPr>
          <p:cNvPr id="4" name="Text 2"/>
          <p:cNvSpPr/>
          <p:nvPr/>
        </p:nvSpPr>
        <p:spPr>
          <a:xfrm>
            <a:off x="201168" y="64008"/>
            <a:ext cx="8503920" cy="493776"/>
          </a:xfrm>
          <a:prstGeom prst="rect">
            <a:avLst/>
          </a:prstGeom>
          <a:noFill/>
          <a:ln/>
        </p:spPr>
        <p:txBody>
          <a:bodyPr wrap="square" lIns="0" tIns="0" rIns="0" bIns="0" rtlCol="0" anchor="ctr"/>
          <a:lstStyle/>
          <a:p>
            <a:pPr marL="0" indent="0">
              <a:buNone/>
            </a:pPr>
            <a:r>
              <a:rPr lang="en-US" sz="1900" b="1" dirty="0">
                <a:solidFill>
                  <a:srgbClr val="FFFFFF"/>
                </a:solidFill>
                <a:latin typeface="Arial" pitchFamily="34" charset="0"/>
                <a:ea typeface="Arial" pitchFamily="34" charset="-122"/>
                <a:cs typeface="Arial" pitchFamily="34" charset="-120"/>
              </a:rPr>
              <a:t>Manual vs Automated Test Cases — When to Use Each</a:t>
            </a:r>
            <a:endParaRPr lang="en-US" sz="1900" dirty="0"/>
          </a:p>
        </p:txBody>
      </p:sp>
      <p:sp>
        <p:nvSpPr>
          <p:cNvPr id="5" name="Shape 3"/>
          <p:cNvSpPr/>
          <p:nvPr/>
        </p:nvSpPr>
        <p:spPr>
          <a:xfrm>
            <a:off x="0" y="4828032"/>
            <a:ext cx="9144000" cy="315468"/>
          </a:xfrm>
          <a:prstGeom prst="rect">
            <a:avLst/>
          </a:prstGeom>
          <a:solidFill>
            <a:srgbClr val="0D0D0D"/>
          </a:solidFill>
          <a:ln w="12700">
            <a:solidFill>
              <a:srgbClr val="0D0D0D"/>
            </a:solidFill>
            <a:prstDash val="solid"/>
          </a:ln>
        </p:spPr>
      </p:sp>
      <p:sp>
        <p:nvSpPr>
          <p:cNvPr id="6" name="Text 4"/>
          <p:cNvSpPr/>
          <p:nvPr/>
        </p:nvSpPr>
        <p:spPr>
          <a:xfrm>
            <a:off x="182880" y="4855464"/>
            <a:ext cx="7315200" cy="228600"/>
          </a:xfrm>
          <a:prstGeom prst="rect">
            <a:avLst/>
          </a:prstGeom>
          <a:noFill/>
          <a:ln/>
        </p:spPr>
        <p:txBody>
          <a:bodyPr wrap="square" lIns="0" tIns="0" rIns="0" bIns="0" rtlCol="0" anchor="ctr"/>
          <a:lstStyle/>
          <a:p>
            <a:pPr marL="0" indent="0">
              <a:buNone/>
            </a:pPr>
            <a:r>
              <a:rPr lang="en-US" sz="850" dirty="0">
                <a:solidFill>
                  <a:srgbClr val="999999"/>
                </a:solidFill>
                <a:latin typeface="Calibri" pitchFamily="34" charset="0"/>
                <a:ea typeface="Calibri" pitchFamily="34" charset="-122"/>
                <a:cs typeface="Calibri" pitchFamily="34" charset="-120"/>
              </a:rPr>
              <a:t>Quality Engineering | Test Case Development in STLC</a:t>
            </a:r>
            <a:endParaRPr lang="en-US" sz="850" dirty="0"/>
          </a:p>
        </p:txBody>
      </p:sp>
      <p:sp>
        <p:nvSpPr>
          <p:cNvPr id="7" name="Text 5"/>
          <p:cNvSpPr/>
          <p:nvPr/>
        </p:nvSpPr>
        <p:spPr>
          <a:xfrm>
            <a:off x="7406640" y="4855464"/>
            <a:ext cx="1554480" cy="228600"/>
          </a:xfrm>
          <a:prstGeom prst="rect">
            <a:avLst/>
          </a:prstGeom>
          <a:noFill/>
          <a:ln/>
        </p:spPr>
        <p:txBody>
          <a:bodyPr wrap="square" lIns="0" tIns="0" rIns="0" bIns="0" rtlCol="0" anchor="ctr"/>
          <a:lstStyle/>
          <a:p>
            <a:pPr marL="0" indent="0" algn="r">
              <a:buNone/>
            </a:pPr>
            <a:r>
              <a:rPr lang="en-US" sz="850" b="1" dirty="0">
                <a:solidFill>
                  <a:srgbClr val="FF6500"/>
                </a:solidFill>
                <a:latin typeface="Calibri" pitchFamily="34" charset="0"/>
                <a:ea typeface="Calibri" pitchFamily="34" charset="-122"/>
                <a:cs typeface="Calibri" pitchFamily="34" charset="-120"/>
              </a:rPr>
              <a:t>INTERNAL TRAINING</a:t>
            </a:r>
            <a:endParaRPr lang="en-US" sz="850" dirty="0"/>
          </a:p>
        </p:txBody>
      </p:sp>
      <p:graphicFrame>
        <p:nvGraphicFramePr>
          <p:cNvPr id="24" name="Table 0"/>
          <p:cNvGraphicFramePr>
            <a:graphicFrameLocks noGrp="1"/>
          </p:cNvGraphicFramePr>
          <p:nvPr>
            <p:extLst>
              <p:ext uri="{D42A27DB-BD31-4B8C-83A1-F6EECF244321}">
                <p14:modId xmlns:p14="http://schemas.microsoft.com/office/powerpoint/2010/main" val="1579011935"/>
              </p:ext>
            </p:extLst>
          </p:nvPr>
        </p:nvGraphicFramePr>
        <p:xfrm>
          <a:off x="228600" y="777240"/>
          <a:ext cx="8412480" cy="4297680"/>
        </p:xfrm>
        <a:graphic>
          <a:graphicData uri="http://schemas.openxmlformats.org/drawingml/2006/table">
            <a:tbl>
              <a:tblPr/>
              <a:tblGrid>
                <a:gridCol w="2194560">
                  <a:extLst>
                    <a:ext uri="{9D8B030D-6E8A-4147-A177-3AD203B41FA5}">
                      <a16:colId xmlns:a16="http://schemas.microsoft.com/office/drawing/2014/main" val="20000"/>
                    </a:ext>
                  </a:extLst>
                </a:gridCol>
                <a:gridCol w="3108960">
                  <a:extLst>
                    <a:ext uri="{9D8B030D-6E8A-4147-A177-3AD203B41FA5}">
                      <a16:colId xmlns:a16="http://schemas.microsoft.com/office/drawing/2014/main" val="20001"/>
                    </a:ext>
                  </a:extLst>
                </a:gridCol>
                <a:gridCol w="3108960">
                  <a:extLst>
                    <a:ext uri="{9D8B030D-6E8A-4147-A177-3AD203B41FA5}">
                      <a16:colId xmlns:a16="http://schemas.microsoft.com/office/drawing/2014/main" val="20002"/>
                    </a:ext>
                  </a:extLst>
                </a:gridCol>
              </a:tblGrid>
              <a:tr h="429768">
                <a:tc>
                  <a:txBody>
                    <a:bodyPr/>
                    <a:lstStyle/>
                    <a:p>
                      <a:pPr marL="0" indent="0">
                        <a:buNone/>
                      </a:pPr>
                      <a:r>
                        <a:rPr lang="en-US" sz="1100" b="1" dirty="0">
                          <a:solidFill>
                            <a:srgbClr val="FF6500"/>
                          </a:solidFill>
                          <a:latin typeface="Arial" pitchFamily="34" charset="0"/>
                          <a:ea typeface="Arial" pitchFamily="34" charset="-122"/>
                          <a:cs typeface="Arial" pitchFamily="34" charset="-120"/>
                        </a:rPr>
                        <a:t>Comparison Aspect</a:t>
                      </a:r>
                      <a:endParaRPr lang="en-US" sz="1100" dirty="0">
                        <a:latin typeface="Arial" charset="0"/>
                        <a:ea typeface="Arial" charset="0"/>
                        <a:cs typeface="Arial" charset="0"/>
                      </a:endParaRPr>
                    </a:p>
                  </a:txBody>
                  <a:tcPr marL="38100" marR="38100" marT="38100" marB="38100">
                    <a:lnL w="12700" cap="flat" cmpd="sng" algn="ctr">
                      <a:solidFill>
                        <a:srgbClr val="DEDEDE"/>
                      </a:solidFill>
                      <a:prstDash val="solid"/>
                      <a:round/>
                      <a:headEnd type="none" w="med" len="med"/>
                      <a:tailEnd type="none" w="med" len="med"/>
                    </a:lnL>
                    <a:lnR w="12700" cap="flat" cmpd="sng" algn="ctr">
                      <a:solidFill>
                        <a:srgbClr val="DEDEDE"/>
                      </a:solidFill>
                      <a:prstDash val="solid"/>
                      <a:round/>
                      <a:headEnd type="none" w="med" len="med"/>
                      <a:tailEnd type="none" w="med" len="med"/>
                    </a:lnR>
                    <a:lnT w="12700" cap="flat" cmpd="sng" algn="ctr">
                      <a:solidFill>
                        <a:srgbClr val="DEDEDE"/>
                      </a:solidFill>
                      <a:prstDash val="solid"/>
                      <a:round/>
                      <a:headEnd type="none" w="med" len="med"/>
                      <a:tailEnd type="none" w="med" len="med"/>
                    </a:lnT>
                    <a:lnB w="12700" cap="flat" cmpd="sng" algn="ctr">
                      <a:solidFill>
                        <a:srgbClr val="DEDEDE"/>
                      </a:solidFill>
                      <a:prstDash val="solid"/>
                      <a:round/>
                      <a:headEnd type="none" w="med" len="med"/>
                      <a:tailEnd type="none" w="med" len="med"/>
                    </a:lnB>
                    <a:solidFill>
                      <a:srgbClr val="0D0D0D"/>
                    </a:solidFill>
                  </a:tcPr>
                </a:tc>
                <a:tc>
                  <a:txBody>
                    <a:bodyPr/>
                    <a:lstStyle/>
                    <a:p>
                      <a:pPr marL="0" indent="0">
                        <a:buNone/>
                      </a:pPr>
                      <a:r>
                        <a:rPr lang="en-US" sz="1100" b="1" dirty="0">
                          <a:solidFill>
                            <a:srgbClr val="FF6500"/>
                          </a:solidFill>
                          <a:latin typeface="Arial" pitchFamily="34" charset="0"/>
                          <a:ea typeface="Arial" pitchFamily="34" charset="-122"/>
                          <a:cs typeface="Arial" pitchFamily="34" charset="-120"/>
                        </a:rPr>
                        <a:t>Manual Testing</a:t>
                      </a:r>
                      <a:endParaRPr lang="en-US" sz="1100" dirty="0">
                        <a:latin typeface="Arial" charset="0"/>
                        <a:ea typeface="Arial" charset="0"/>
                        <a:cs typeface="Arial" charset="0"/>
                      </a:endParaRPr>
                    </a:p>
                  </a:txBody>
                  <a:tcPr marL="38100" marR="38100" marT="38100" marB="38100">
                    <a:lnL w="12700" cap="flat" cmpd="sng" algn="ctr">
                      <a:solidFill>
                        <a:srgbClr val="DEDEDE"/>
                      </a:solidFill>
                      <a:prstDash val="solid"/>
                      <a:round/>
                      <a:headEnd type="none" w="med" len="med"/>
                      <a:tailEnd type="none" w="med" len="med"/>
                    </a:lnL>
                    <a:lnR w="12700" cap="flat" cmpd="sng" algn="ctr">
                      <a:solidFill>
                        <a:srgbClr val="DEDEDE"/>
                      </a:solidFill>
                      <a:prstDash val="solid"/>
                      <a:round/>
                      <a:headEnd type="none" w="med" len="med"/>
                      <a:tailEnd type="none" w="med" len="med"/>
                    </a:lnR>
                    <a:lnT w="12700" cap="flat" cmpd="sng" algn="ctr">
                      <a:solidFill>
                        <a:srgbClr val="DEDEDE"/>
                      </a:solidFill>
                      <a:prstDash val="solid"/>
                      <a:round/>
                      <a:headEnd type="none" w="med" len="med"/>
                      <a:tailEnd type="none" w="med" len="med"/>
                    </a:lnT>
                    <a:lnB w="12700" cap="flat" cmpd="sng" algn="ctr">
                      <a:solidFill>
                        <a:srgbClr val="DEDEDE"/>
                      </a:solidFill>
                      <a:prstDash val="solid"/>
                      <a:round/>
                      <a:headEnd type="none" w="med" len="med"/>
                      <a:tailEnd type="none" w="med" len="med"/>
                    </a:lnB>
                    <a:solidFill>
                      <a:srgbClr val="0D0D0D"/>
                    </a:solidFill>
                  </a:tcPr>
                </a:tc>
                <a:tc>
                  <a:txBody>
                    <a:bodyPr/>
                    <a:lstStyle/>
                    <a:p>
                      <a:pPr marL="0" indent="0">
                        <a:buNone/>
                      </a:pPr>
                      <a:r>
                        <a:rPr lang="en-US" sz="1100" b="1" dirty="0">
                          <a:solidFill>
                            <a:srgbClr val="FF6500"/>
                          </a:solidFill>
                          <a:latin typeface="Arial" pitchFamily="34" charset="0"/>
                          <a:ea typeface="Arial" pitchFamily="34" charset="-122"/>
                          <a:cs typeface="Arial" pitchFamily="34" charset="-120"/>
                        </a:rPr>
                        <a:t>Automated Testing</a:t>
                      </a:r>
                      <a:endParaRPr lang="en-US" sz="1100" dirty="0">
                        <a:latin typeface="Arial" charset="0"/>
                        <a:ea typeface="Arial" charset="0"/>
                        <a:cs typeface="Arial" charset="0"/>
                      </a:endParaRPr>
                    </a:p>
                  </a:txBody>
                  <a:tcPr marL="38100" marR="38100" marT="38100" marB="38100">
                    <a:lnL w="12700" cap="flat" cmpd="sng" algn="ctr">
                      <a:solidFill>
                        <a:srgbClr val="DEDEDE"/>
                      </a:solidFill>
                      <a:prstDash val="solid"/>
                      <a:round/>
                      <a:headEnd type="none" w="med" len="med"/>
                      <a:tailEnd type="none" w="med" len="med"/>
                    </a:lnL>
                    <a:lnR w="12700" cap="flat" cmpd="sng" algn="ctr">
                      <a:solidFill>
                        <a:srgbClr val="DEDEDE"/>
                      </a:solidFill>
                      <a:prstDash val="solid"/>
                      <a:round/>
                      <a:headEnd type="none" w="med" len="med"/>
                      <a:tailEnd type="none" w="med" len="med"/>
                    </a:lnR>
                    <a:lnT w="12700" cap="flat" cmpd="sng" algn="ctr">
                      <a:solidFill>
                        <a:srgbClr val="DEDEDE"/>
                      </a:solidFill>
                      <a:prstDash val="solid"/>
                      <a:round/>
                      <a:headEnd type="none" w="med" len="med"/>
                      <a:tailEnd type="none" w="med" len="med"/>
                    </a:lnT>
                    <a:lnB w="12700" cap="flat" cmpd="sng" algn="ctr">
                      <a:solidFill>
                        <a:srgbClr val="DEDEDE"/>
                      </a:solidFill>
                      <a:prstDash val="solid"/>
                      <a:round/>
                      <a:headEnd type="none" w="med" len="med"/>
                      <a:tailEnd type="none" w="med" len="med"/>
                    </a:lnB>
                    <a:solidFill>
                      <a:srgbClr val="0D0D0D"/>
                    </a:solidFill>
                  </a:tcPr>
                </a:tc>
                <a:extLst>
                  <a:ext uri="{0D108BD9-81ED-4DB2-BD59-A6C34878D82A}">
                    <a16:rowId xmlns:a16="http://schemas.microsoft.com/office/drawing/2014/main" val="10000"/>
                  </a:ext>
                </a:extLst>
              </a:tr>
              <a:tr h="429768">
                <a:tc>
                  <a:txBody>
                    <a:bodyPr/>
                    <a:lstStyle/>
                    <a:p>
                      <a:pPr marL="0" indent="0">
                        <a:buNone/>
                      </a:pPr>
                      <a:r>
                        <a:rPr lang="en-US" sz="1000" dirty="0">
                          <a:solidFill>
                            <a:srgbClr val="2C2C2C"/>
                          </a:solidFill>
                          <a:latin typeface="Calibri" pitchFamily="34" charset="0"/>
                          <a:ea typeface="Calibri" pitchFamily="34" charset="-122"/>
                          <a:cs typeface="Calibri" pitchFamily="34" charset="-120"/>
                        </a:rPr>
                        <a:t>Definition</a:t>
                      </a:r>
                      <a:endParaRPr lang="en-US" sz="1000" dirty="0">
                        <a:latin typeface="Calibri" charset="0"/>
                        <a:ea typeface="Calibri" charset="0"/>
                        <a:cs typeface="Calibri" charset="0"/>
                      </a:endParaRPr>
                    </a:p>
                  </a:txBody>
                  <a:tcPr marL="38100" marR="38100" marT="38100" marB="38100" anchor="ctr">
                    <a:lnL w="12700" cap="flat" cmpd="sng" algn="ctr">
                      <a:solidFill>
                        <a:srgbClr val="DEDEDE"/>
                      </a:solidFill>
                      <a:prstDash val="solid"/>
                      <a:round/>
                      <a:headEnd type="none" w="med" len="med"/>
                      <a:tailEnd type="none" w="med" len="med"/>
                    </a:lnL>
                    <a:lnR w="12700" cap="flat" cmpd="sng" algn="ctr">
                      <a:solidFill>
                        <a:srgbClr val="DEDEDE"/>
                      </a:solidFill>
                      <a:prstDash val="solid"/>
                      <a:round/>
                      <a:headEnd type="none" w="med" len="med"/>
                      <a:tailEnd type="none" w="med" len="med"/>
                    </a:lnR>
                    <a:lnT w="12700" cap="flat" cmpd="sng" algn="ctr">
                      <a:solidFill>
                        <a:srgbClr val="DEDEDE"/>
                      </a:solidFill>
                      <a:prstDash val="solid"/>
                      <a:round/>
                      <a:headEnd type="none" w="med" len="med"/>
                      <a:tailEnd type="none" w="med" len="med"/>
                    </a:lnT>
                    <a:lnB w="12700" cap="flat" cmpd="sng" algn="ctr">
                      <a:solidFill>
                        <a:srgbClr val="DEDEDE"/>
                      </a:solidFill>
                      <a:prstDash val="solid"/>
                      <a:round/>
                      <a:headEnd type="none" w="med" len="med"/>
                      <a:tailEnd type="none" w="med" len="med"/>
                    </a:lnB>
                    <a:solidFill>
                      <a:srgbClr val="FFFFFF"/>
                    </a:solidFill>
                  </a:tcPr>
                </a:tc>
                <a:tc>
                  <a:txBody>
                    <a:bodyPr/>
                    <a:lstStyle/>
                    <a:p>
                      <a:pPr marL="0" indent="0">
                        <a:buNone/>
                      </a:pPr>
                      <a:r>
                        <a:rPr lang="en-US" sz="1000" dirty="0">
                          <a:solidFill>
                            <a:srgbClr val="2C2C2C"/>
                          </a:solidFill>
                          <a:latin typeface="Calibri" pitchFamily="34" charset="0"/>
                          <a:ea typeface="Calibri" pitchFamily="34" charset="-122"/>
                          <a:cs typeface="Calibri" pitchFamily="34" charset="-120"/>
                        </a:rPr>
                        <a:t>A human tester follows test case steps manually, observing and recording outcomes</a:t>
                      </a:r>
                      <a:endParaRPr lang="en-US" sz="1000" dirty="0">
                        <a:latin typeface="Calibri" charset="0"/>
                        <a:ea typeface="Calibri" charset="0"/>
                        <a:cs typeface="Calibri" charset="0"/>
                      </a:endParaRPr>
                    </a:p>
                  </a:txBody>
                  <a:tcPr marL="38100" marR="38100" marT="38100" marB="38100" anchor="ctr">
                    <a:lnL w="12700" cap="flat" cmpd="sng" algn="ctr">
                      <a:solidFill>
                        <a:srgbClr val="DEDEDE"/>
                      </a:solidFill>
                      <a:prstDash val="solid"/>
                      <a:round/>
                      <a:headEnd type="none" w="med" len="med"/>
                      <a:tailEnd type="none" w="med" len="med"/>
                    </a:lnL>
                    <a:lnR w="12700" cap="flat" cmpd="sng" algn="ctr">
                      <a:solidFill>
                        <a:srgbClr val="DEDEDE"/>
                      </a:solidFill>
                      <a:prstDash val="solid"/>
                      <a:round/>
                      <a:headEnd type="none" w="med" len="med"/>
                      <a:tailEnd type="none" w="med" len="med"/>
                    </a:lnR>
                    <a:lnT w="12700" cap="flat" cmpd="sng" algn="ctr">
                      <a:solidFill>
                        <a:srgbClr val="DEDEDE"/>
                      </a:solidFill>
                      <a:prstDash val="solid"/>
                      <a:round/>
                      <a:headEnd type="none" w="med" len="med"/>
                      <a:tailEnd type="none" w="med" len="med"/>
                    </a:lnT>
                    <a:lnB w="12700" cap="flat" cmpd="sng" algn="ctr">
                      <a:solidFill>
                        <a:srgbClr val="DEDEDE"/>
                      </a:solidFill>
                      <a:prstDash val="solid"/>
                      <a:round/>
                      <a:headEnd type="none" w="med" len="med"/>
                      <a:tailEnd type="none" w="med" len="med"/>
                    </a:lnB>
                    <a:solidFill>
                      <a:srgbClr val="FFFFFF"/>
                    </a:solidFill>
                  </a:tcPr>
                </a:tc>
                <a:tc>
                  <a:txBody>
                    <a:bodyPr/>
                    <a:lstStyle/>
                    <a:p>
                      <a:pPr marL="0" indent="0">
                        <a:buNone/>
                      </a:pPr>
                      <a:r>
                        <a:rPr lang="en-US" sz="1000" dirty="0">
                          <a:solidFill>
                            <a:srgbClr val="2C2C2C"/>
                          </a:solidFill>
                          <a:latin typeface="Calibri" pitchFamily="34" charset="0"/>
                          <a:ea typeface="Calibri" pitchFamily="34" charset="-122"/>
                          <a:cs typeface="Calibri" pitchFamily="34" charset="-120"/>
                        </a:rPr>
                        <a:t>A script (Selenium, Playwright) executes the test case automatically with no human intervention</a:t>
                      </a:r>
                      <a:endParaRPr lang="en-US" sz="1000" dirty="0">
                        <a:latin typeface="Calibri" charset="0"/>
                        <a:ea typeface="Calibri" charset="0"/>
                        <a:cs typeface="Calibri" charset="0"/>
                      </a:endParaRPr>
                    </a:p>
                  </a:txBody>
                  <a:tcPr marL="38100" marR="38100" marT="38100" marB="38100" anchor="ctr">
                    <a:lnL w="12700" cap="flat" cmpd="sng" algn="ctr">
                      <a:solidFill>
                        <a:srgbClr val="DEDEDE"/>
                      </a:solidFill>
                      <a:prstDash val="solid"/>
                      <a:round/>
                      <a:headEnd type="none" w="med" len="med"/>
                      <a:tailEnd type="none" w="med" len="med"/>
                    </a:lnL>
                    <a:lnR w="12700" cap="flat" cmpd="sng" algn="ctr">
                      <a:solidFill>
                        <a:srgbClr val="DEDEDE"/>
                      </a:solidFill>
                      <a:prstDash val="solid"/>
                      <a:round/>
                      <a:headEnd type="none" w="med" len="med"/>
                      <a:tailEnd type="none" w="med" len="med"/>
                    </a:lnR>
                    <a:lnT w="12700" cap="flat" cmpd="sng" algn="ctr">
                      <a:solidFill>
                        <a:srgbClr val="DEDEDE"/>
                      </a:solidFill>
                      <a:prstDash val="solid"/>
                      <a:round/>
                      <a:headEnd type="none" w="med" len="med"/>
                      <a:tailEnd type="none" w="med" len="med"/>
                    </a:lnT>
                    <a:lnB w="12700" cap="flat" cmpd="sng" algn="ctr">
                      <a:solidFill>
                        <a:srgbClr val="DEDEDE"/>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29768">
                <a:tc>
                  <a:txBody>
                    <a:bodyPr/>
                    <a:lstStyle/>
                    <a:p>
                      <a:pPr marL="0" indent="0">
                        <a:buNone/>
                      </a:pPr>
                      <a:r>
                        <a:rPr lang="en-US" sz="1000" dirty="0">
                          <a:solidFill>
                            <a:srgbClr val="2C2C2C"/>
                          </a:solidFill>
                          <a:latin typeface="Calibri" pitchFamily="34" charset="0"/>
                          <a:ea typeface="Calibri" pitchFamily="34" charset="-122"/>
                          <a:cs typeface="Calibri" pitchFamily="34" charset="-120"/>
                        </a:rPr>
                        <a:t>Best For</a:t>
                      </a:r>
                      <a:endParaRPr lang="en-US" sz="1000" dirty="0">
                        <a:latin typeface="Calibri" charset="0"/>
                        <a:ea typeface="Calibri" charset="0"/>
                        <a:cs typeface="Calibri" charset="0"/>
                      </a:endParaRPr>
                    </a:p>
                  </a:txBody>
                  <a:tcPr marL="38100" marR="38100" marT="38100" marB="38100" anchor="ctr">
                    <a:lnL w="12700" cap="flat" cmpd="sng" algn="ctr">
                      <a:solidFill>
                        <a:srgbClr val="DEDEDE"/>
                      </a:solidFill>
                      <a:prstDash val="solid"/>
                      <a:round/>
                      <a:headEnd type="none" w="med" len="med"/>
                      <a:tailEnd type="none" w="med" len="med"/>
                    </a:lnL>
                    <a:lnR w="12700" cap="flat" cmpd="sng" algn="ctr">
                      <a:solidFill>
                        <a:srgbClr val="DEDEDE"/>
                      </a:solidFill>
                      <a:prstDash val="solid"/>
                      <a:round/>
                      <a:headEnd type="none" w="med" len="med"/>
                      <a:tailEnd type="none" w="med" len="med"/>
                    </a:lnR>
                    <a:lnT w="12700" cap="flat" cmpd="sng" algn="ctr">
                      <a:solidFill>
                        <a:srgbClr val="DEDEDE"/>
                      </a:solidFill>
                      <a:prstDash val="solid"/>
                      <a:round/>
                      <a:headEnd type="none" w="med" len="med"/>
                      <a:tailEnd type="none" w="med" len="med"/>
                    </a:lnT>
                    <a:lnB w="12700" cap="flat" cmpd="sng" algn="ctr">
                      <a:solidFill>
                        <a:srgbClr val="DEDEDE"/>
                      </a:solidFill>
                      <a:prstDash val="solid"/>
                      <a:round/>
                      <a:headEnd type="none" w="med" len="med"/>
                      <a:tailEnd type="none" w="med" len="med"/>
                    </a:lnB>
                    <a:solidFill>
                      <a:srgbClr val="F0F0F0"/>
                    </a:solidFill>
                  </a:tcPr>
                </a:tc>
                <a:tc>
                  <a:txBody>
                    <a:bodyPr/>
                    <a:lstStyle/>
                    <a:p>
                      <a:pPr marL="0" indent="0">
                        <a:buNone/>
                      </a:pPr>
                      <a:r>
                        <a:rPr lang="en-US" sz="1000" dirty="0">
                          <a:solidFill>
                            <a:srgbClr val="2C2C2C"/>
                          </a:solidFill>
                          <a:latin typeface="Calibri" pitchFamily="34" charset="0"/>
                          <a:ea typeface="Calibri" pitchFamily="34" charset="-122"/>
                          <a:cs typeface="Calibri" pitchFamily="34" charset="-120"/>
                        </a:rPr>
                        <a:t>Exploratory, usability, ad-hoc, one-time tests</a:t>
                      </a:r>
                      <a:endParaRPr lang="en-US" sz="1000" dirty="0">
                        <a:latin typeface="Calibri" charset="0"/>
                        <a:ea typeface="Calibri" charset="0"/>
                        <a:cs typeface="Calibri" charset="0"/>
                      </a:endParaRPr>
                    </a:p>
                  </a:txBody>
                  <a:tcPr marL="38100" marR="38100" marT="38100" marB="38100" anchor="ctr">
                    <a:lnL w="12700" cap="flat" cmpd="sng" algn="ctr">
                      <a:solidFill>
                        <a:srgbClr val="DEDEDE"/>
                      </a:solidFill>
                      <a:prstDash val="solid"/>
                      <a:round/>
                      <a:headEnd type="none" w="med" len="med"/>
                      <a:tailEnd type="none" w="med" len="med"/>
                    </a:lnL>
                    <a:lnR w="12700" cap="flat" cmpd="sng" algn="ctr">
                      <a:solidFill>
                        <a:srgbClr val="DEDEDE"/>
                      </a:solidFill>
                      <a:prstDash val="solid"/>
                      <a:round/>
                      <a:headEnd type="none" w="med" len="med"/>
                      <a:tailEnd type="none" w="med" len="med"/>
                    </a:lnR>
                    <a:lnT w="12700" cap="flat" cmpd="sng" algn="ctr">
                      <a:solidFill>
                        <a:srgbClr val="DEDEDE"/>
                      </a:solidFill>
                      <a:prstDash val="solid"/>
                      <a:round/>
                      <a:headEnd type="none" w="med" len="med"/>
                      <a:tailEnd type="none" w="med" len="med"/>
                    </a:lnT>
                    <a:lnB w="12700" cap="flat" cmpd="sng" algn="ctr">
                      <a:solidFill>
                        <a:srgbClr val="DEDEDE"/>
                      </a:solidFill>
                      <a:prstDash val="solid"/>
                      <a:round/>
                      <a:headEnd type="none" w="med" len="med"/>
                      <a:tailEnd type="none" w="med" len="med"/>
                    </a:lnB>
                    <a:solidFill>
                      <a:srgbClr val="F0F0F0"/>
                    </a:solidFill>
                  </a:tcPr>
                </a:tc>
                <a:tc>
                  <a:txBody>
                    <a:bodyPr/>
                    <a:lstStyle/>
                    <a:p>
                      <a:pPr marL="0" indent="0">
                        <a:buNone/>
                      </a:pPr>
                      <a:r>
                        <a:rPr lang="en-US" sz="1000" dirty="0">
                          <a:solidFill>
                            <a:srgbClr val="2C2C2C"/>
                          </a:solidFill>
                          <a:latin typeface="Calibri" pitchFamily="34" charset="0"/>
                          <a:ea typeface="Calibri" pitchFamily="34" charset="-122"/>
                          <a:cs typeface="Calibri" pitchFamily="34" charset="-120"/>
                        </a:rPr>
                        <a:t>Regression, smoke, load, repetitive, and data-driven tests</a:t>
                      </a:r>
                      <a:endParaRPr lang="en-US" sz="1000" dirty="0">
                        <a:latin typeface="Calibri" charset="0"/>
                        <a:ea typeface="Calibri" charset="0"/>
                        <a:cs typeface="Calibri" charset="0"/>
                      </a:endParaRPr>
                    </a:p>
                  </a:txBody>
                  <a:tcPr marL="38100" marR="38100" marT="38100" marB="38100" anchor="ctr">
                    <a:lnL w="12700" cap="flat" cmpd="sng" algn="ctr">
                      <a:solidFill>
                        <a:srgbClr val="DEDEDE"/>
                      </a:solidFill>
                      <a:prstDash val="solid"/>
                      <a:round/>
                      <a:headEnd type="none" w="med" len="med"/>
                      <a:tailEnd type="none" w="med" len="med"/>
                    </a:lnL>
                    <a:lnR w="12700" cap="flat" cmpd="sng" algn="ctr">
                      <a:solidFill>
                        <a:srgbClr val="DEDEDE"/>
                      </a:solidFill>
                      <a:prstDash val="solid"/>
                      <a:round/>
                      <a:headEnd type="none" w="med" len="med"/>
                      <a:tailEnd type="none" w="med" len="med"/>
                    </a:lnR>
                    <a:lnT w="12700" cap="flat" cmpd="sng" algn="ctr">
                      <a:solidFill>
                        <a:srgbClr val="DEDEDE"/>
                      </a:solidFill>
                      <a:prstDash val="solid"/>
                      <a:round/>
                      <a:headEnd type="none" w="med" len="med"/>
                      <a:tailEnd type="none" w="med" len="med"/>
                    </a:lnT>
                    <a:lnB w="12700" cap="flat" cmpd="sng" algn="ctr">
                      <a:solidFill>
                        <a:srgbClr val="DEDEDE"/>
                      </a:solidFill>
                      <a:prstDash val="solid"/>
                      <a:round/>
                      <a:headEnd type="none" w="med" len="med"/>
                      <a:tailEnd type="none" w="med" len="med"/>
                    </a:lnB>
                    <a:solidFill>
                      <a:srgbClr val="F0F0F0"/>
                    </a:solidFill>
                  </a:tcPr>
                </a:tc>
                <a:extLst>
                  <a:ext uri="{0D108BD9-81ED-4DB2-BD59-A6C34878D82A}">
                    <a16:rowId xmlns:a16="http://schemas.microsoft.com/office/drawing/2014/main" val="10002"/>
                  </a:ext>
                </a:extLst>
              </a:tr>
              <a:tr h="429768">
                <a:tc>
                  <a:txBody>
                    <a:bodyPr/>
                    <a:lstStyle/>
                    <a:p>
                      <a:pPr marL="0" indent="0">
                        <a:buNone/>
                      </a:pPr>
                      <a:r>
                        <a:rPr lang="en-US" sz="1000" dirty="0">
                          <a:solidFill>
                            <a:srgbClr val="2C2C2C"/>
                          </a:solidFill>
                          <a:latin typeface="Calibri" pitchFamily="34" charset="0"/>
                          <a:ea typeface="Calibri" pitchFamily="34" charset="-122"/>
                          <a:cs typeface="Calibri" pitchFamily="34" charset="-120"/>
                        </a:rPr>
                        <a:t>Speed</a:t>
                      </a:r>
                      <a:endParaRPr lang="en-US" sz="1000" dirty="0">
                        <a:latin typeface="Calibri" charset="0"/>
                        <a:ea typeface="Calibri" charset="0"/>
                        <a:cs typeface="Calibri" charset="0"/>
                      </a:endParaRPr>
                    </a:p>
                  </a:txBody>
                  <a:tcPr marL="38100" marR="38100" marT="38100" marB="38100" anchor="ctr">
                    <a:lnL w="12700" cap="flat" cmpd="sng" algn="ctr">
                      <a:solidFill>
                        <a:srgbClr val="DEDEDE"/>
                      </a:solidFill>
                      <a:prstDash val="solid"/>
                      <a:round/>
                      <a:headEnd type="none" w="med" len="med"/>
                      <a:tailEnd type="none" w="med" len="med"/>
                    </a:lnL>
                    <a:lnR w="12700" cap="flat" cmpd="sng" algn="ctr">
                      <a:solidFill>
                        <a:srgbClr val="DEDEDE"/>
                      </a:solidFill>
                      <a:prstDash val="solid"/>
                      <a:round/>
                      <a:headEnd type="none" w="med" len="med"/>
                      <a:tailEnd type="none" w="med" len="med"/>
                    </a:lnR>
                    <a:lnT w="12700" cap="flat" cmpd="sng" algn="ctr">
                      <a:solidFill>
                        <a:srgbClr val="DEDEDE"/>
                      </a:solidFill>
                      <a:prstDash val="solid"/>
                      <a:round/>
                      <a:headEnd type="none" w="med" len="med"/>
                      <a:tailEnd type="none" w="med" len="med"/>
                    </a:lnT>
                    <a:lnB w="12700" cap="flat" cmpd="sng" algn="ctr">
                      <a:solidFill>
                        <a:srgbClr val="DEDEDE"/>
                      </a:solidFill>
                      <a:prstDash val="solid"/>
                      <a:round/>
                      <a:headEnd type="none" w="med" len="med"/>
                      <a:tailEnd type="none" w="med" len="med"/>
                    </a:lnB>
                    <a:solidFill>
                      <a:srgbClr val="FFFFFF"/>
                    </a:solidFill>
                  </a:tcPr>
                </a:tc>
                <a:tc>
                  <a:txBody>
                    <a:bodyPr/>
                    <a:lstStyle/>
                    <a:p>
                      <a:pPr marL="0" indent="0">
                        <a:buNone/>
                      </a:pPr>
                      <a:r>
                        <a:rPr lang="en-US" sz="1000" dirty="0">
                          <a:solidFill>
                            <a:srgbClr val="2C2C2C"/>
                          </a:solidFill>
                          <a:latin typeface="Calibri" pitchFamily="34" charset="0"/>
                          <a:ea typeface="Calibri" pitchFamily="34" charset="-122"/>
                          <a:cs typeface="Calibri" pitchFamily="34" charset="-120"/>
                        </a:rPr>
                        <a:t>Slow — human execution time limits throughput</a:t>
                      </a:r>
                      <a:endParaRPr lang="en-US" sz="1000" dirty="0">
                        <a:latin typeface="Calibri" charset="0"/>
                        <a:ea typeface="Calibri" charset="0"/>
                        <a:cs typeface="Calibri" charset="0"/>
                      </a:endParaRPr>
                    </a:p>
                  </a:txBody>
                  <a:tcPr marL="38100" marR="38100" marT="38100" marB="38100" anchor="ctr">
                    <a:lnL w="12700" cap="flat" cmpd="sng" algn="ctr">
                      <a:solidFill>
                        <a:srgbClr val="DEDEDE"/>
                      </a:solidFill>
                      <a:prstDash val="solid"/>
                      <a:round/>
                      <a:headEnd type="none" w="med" len="med"/>
                      <a:tailEnd type="none" w="med" len="med"/>
                    </a:lnL>
                    <a:lnR w="12700" cap="flat" cmpd="sng" algn="ctr">
                      <a:solidFill>
                        <a:srgbClr val="DEDEDE"/>
                      </a:solidFill>
                      <a:prstDash val="solid"/>
                      <a:round/>
                      <a:headEnd type="none" w="med" len="med"/>
                      <a:tailEnd type="none" w="med" len="med"/>
                    </a:lnR>
                    <a:lnT w="12700" cap="flat" cmpd="sng" algn="ctr">
                      <a:solidFill>
                        <a:srgbClr val="DEDEDE"/>
                      </a:solidFill>
                      <a:prstDash val="solid"/>
                      <a:round/>
                      <a:headEnd type="none" w="med" len="med"/>
                      <a:tailEnd type="none" w="med" len="med"/>
                    </a:lnT>
                    <a:lnB w="12700" cap="flat" cmpd="sng" algn="ctr">
                      <a:solidFill>
                        <a:srgbClr val="DEDEDE"/>
                      </a:solidFill>
                      <a:prstDash val="solid"/>
                      <a:round/>
                      <a:headEnd type="none" w="med" len="med"/>
                      <a:tailEnd type="none" w="med" len="med"/>
                    </a:lnB>
                    <a:solidFill>
                      <a:srgbClr val="FFFFFF"/>
                    </a:solidFill>
                  </a:tcPr>
                </a:tc>
                <a:tc>
                  <a:txBody>
                    <a:bodyPr/>
                    <a:lstStyle/>
                    <a:p>
                      <a:pPr marL="0" indent="0">
                        <a:buNone/>
                      </a:pPr>
                      <a:r>
                        <a:rPr lang="en-US" sz="1000" dirty="0">
                          <a:solidFill>
                            <a:srgbClr val="2C2C2C"/>
                          </a:solidFill>
                          <a:latin typeface="Calibri" pitchFamily="34" charset="0"/>
                          <a:ea typeface="Calibri" pitchFamily="34" charset="-122"/>
                          <a:cs typeface="Calibri" pitchFamily="34" charset="-120"/>
                        </a:rPr>
                        <a:t>Very fast — can run 1,000s of tests in minutes</a:t>
                      </a:r>
                      <a:endParaRPr lang="en-US" sz="1000" dirty="0">
                        <a:latin typeface="Calibri" charset="0"/>
                        <a:ea typeface="Calibri" charset="0"/>
                        <a:cs typeface="Calibri" charset="0"/>
                      </a:endParaRPr>
                    </a:p>
                  </a:txBody>
                  <a:tcPr marL="38100" marR="38100" marT="38100" marB="38100" anchor="ctr">
                    <a:lnL w="12700" cap="flat" cmpd="sng" algn="ctr">
                      <a:solidFill>
                        <a:srgbClr val="DEDEDE"/>
                      </a:solidFill>
                      <a:prstDash val="solid"/>
                      <a:round/>
                      <a:headEnd type="none" w="med" len="med"/>
                      <a:tailEnd type="none" w="med" len="med"/>
                    </a:lnL>
                    <a:lnR w="12700" cap="flat" cmpd="sng" algn="ctr">
                      <a:solidFill>
                        <a:srgbClr val="DEDEDE"/>
                      </a:solidFill>
                      <a:prstDash val="solid"/>
                      <a:round/>
                      <a:headEnd type="none" w="med" len="med"/>
                      <a:tailEnd type="none" w="med" len="med"/>
                    </a:lnR>
                    <a:lnT w="12700" cap="flat" cmpd="sng" algn="ctr">
                      <a:solidFill>
                        <a:srgbClr val="DEDEDE"/>
                      </a:solidFill>
                      <a:prstDash val="solid"/>
                      <a:round/>
                      <a:headEnd type="none" w="med" len="med"/>
                      <a:tailEnd type="none" w="med" len="med"/>
                    </a:lnT>
                    <a:lnB w="12700" cap="flat" cmpd="sng" algn="ctr">
                      <a:solidFill>
                        <a:srgbClr val="DEDEDE"/>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29768">
                <a:tc>
                  <a:txBody>
                    <a:bodyPr/>
                    <a:lstStyle/>
                    <a:p>
                      <a:pPr marL="0" indent="0">
                        <a:buNone/>
                      </a:pPr>
                      <a:r>
                        <a:rPr lang="en-US" sz="1000" dirty="0">
                          <a:solidFill>
                            <a:srgbClr val="2C2C2C"/>
                          </a:solidFill>
                          <a:latin typeface="Calibri" pitchFamily="34" charset="0"/>
                          <a:ea typeface="Calibri" pitchFamily="34" charset="-122"/>
                          <a:cs typeface="Calibri" pitchFamily="34" charset="-120"/>
                        </a:rPr>
                        <a:t>Accuracy</a:t>
                      </a:r>
                      <a:endParaRPr lang="en-US" sz="1000" dirty="0">
                        <a:latin typeface="Calibri" charset="0"/>
                        <a:ea typeface="Calibri" charset="0"/>
                        <a:cs typeface="Calibri" charset="0"/>
                      </a:endParaRPr>
                    </a:p>
                  </a:txBody>
                  <a:tcPr marL="38100" marR="38100" marT="38100" marB="38100" anchor="ctr">
                    <a:lnL w="12700" cap="flat" cmpd="sng" algn="ctr">
                      <a:solidFill>
                        <a:srgbClr val="DEDEDE"/>
                      </a:solidFill>
                      <a:prstDash val="solid"/>
                      <a:round/>
                      <a:headEnd type="none" w="med" len="med"/>
                      <a:tailEnd type="none" w="med" len="med"/>
                    </a:lnL>
                    <a:lnR w="12700" cap="flat" cmpd="sng" algn="ctr">
                      <a:solidFill>
                        <a:srgbClr val="DEDEDE"/>
                      </a:solidFill>
                      <a:prstDash val="solid"/>
                      <a:round/>
                      <a:headEnd type="none" w="med" len="med"/>
                      <a:tailEnd type="none" w="med" len="med"/>
                    </a:lnR>
                    <a:lnT w="12700" cap="flat" cmpd="sng" algn="ctr">
                      <a:solidFill>
                        <a:srgbClr val="DEDEDE"/>
                      </a:solidFill>
                      <a:prstDash val="solid"/>
                      <a:round/>
                      <a:headEnd type="none" w="med" len="med"/>
                      <a:tailEnd type="none" w="med" len="med"/>
                    </a:lnT>
                    <a:lnB w="12700" cap="flat" cmpd="sng" algn="ctr">
                      <a:solidFill>
                        <a:srgbClr val="DEDEDE"/>
                      </a:solidFill>
                      <a:prstDash val="solid"/>
                      <a:round/>
                      <a:headEnd type="none" w="med" len="med"/>
                      <a:tailEnd type="none" w="med" len="med"/>
                    </a:lnB>
                    <a:solidFill>
                      <a:srgbClr val="F0F0F0"/>
                    </a:solidFill>
                  </a:tcPr>
                </a:tc>
                <a:tc>
                  <a:txBody>
                    <a:bodyPr/>
                    <a:lstStyle/>
                    <a:p>
                      <a:pPr marL="0" indent="0">
                        <a:buNone/>
                      </a:pPr>
                      <a:r>
                        <a:rPr lang="en-US" sz="1000" dirty="0">
                          <a:solidFill>
                            <a:srgbClr val="2C2C2C"/>
                          </a:solidFill>
                          <a:latin typeface="Calibri" pitchFamily="34" charset="0"/>
                          <a:ea typeface="Calibri" pitchFamily="34" charset="-122"/>
                          <a:cs typeface="Calibri" pitchFamily="34" charset="-120"/>
                        </a:rPr>
                        <a:t>Prone to human error and fatigue over repeated execution</a:t>
                      </a:r>
                      <a:endParaRPr lang="en-US" sz="1000" dirty="0">
                        <a:latin typeface="Calibri" charset="0"/>
                        <a:ea typeface="Calibri" charset="0"/>
                        <a:cs typeface="Calibri" charset="0"/>
                      </a:endParaRPr>
                    </a:p>
                  </a:txBody>
                  <a:tcPr marL="38100" marR="38100" marT="38100" marB="38100" anchor="ctr">
                    <a:lnL w="12700" cap="flat" cmpd="sng" algn="ctr">
                      <a:solidFill>
                        <a:srgbClr val="DEDEDE"/>
                      </a:solidFill>
                      <a:prstDash val="solid"/>
                      <a:round/>
                      <a:headEnd type="none" w="med" len="med"/>
                      <a:tailEnd type="none" w="med" len="med"/>
                    </a:lnL>
                    <a:lnR w="12700" cap="flat" cmpd="sng" algn="ctr">
                      <a:solidFill>
                        <a:srgbClr val="DEDEDE"/>
                      </a:solidFill>
                      <a:prstDash val="solid"/>
                      <a:round/>
                      <a:headEnd type="none" w="med" len="med"/>
                      <a:tailEnd type="none" w="med" len="med"/>
                    </a:lnR>
                    <a:lnT w="12700" cap="flat" cmpd="sng" algn="ctr">
                      <a:solidFill>
                        <a:srgbClr val="DEDEDE"/>
                      </a:solidFill>
                      <a:prstDash val="solid"/>
                      <a:round/>
                      <a:headEnd type="none" w="med" len="med"/>
                      <a:tailEnd type="none" w="med" len="med"/>
                    </a:lnT>
                    <a:lnB w="12700" cap="flat" cmpd="sng" algn="ctr">
                      <a:solidFill>
                        <a:srgbClr val="DEDEDE"/>
                      </a:solidFill>
                      <a:prstDash val="solid"/>
                      <a:round/>
                      <a:headEnd type="none" w="med" len="med"/>
                      <a:tailEnd type="none" w="med" len="med"/>
                    </a:lnB>
                    <a:solidFill>
                      <a:srgbClr val="F0F0F0"/>
                    </a:solidFill>
                  </a:tcPr>
                </a:tc>
                <a:tc>
                  <a:txBody>
                    <a:bodyPr/>
                    <a:lstStyle/>
                    <a:p>
                      <a:pPr marL="0" indent="0">
                        <a:buNone/>
                      </a:pPr>
                      <a:r>
                        <a:rPr lang="en-US" sz="1000" dirty="0">
                          <a:solidFill>
                            <a:srgbClr val="2C2C2C"/>
                          </a:solidFill>
                          <a:latin typeface="Calibri" pitchFamily="34" charset="0"/>
                          <a:ea typeface="Calibri" pitchFamily="34" charset="-122"/>
                          <a:cs typeface="Calibri" pitchFamily="34" charset="-120"/>
                        </a:rPr>
                        <a:t>100% consistent — same inputs always produce same execution</a:t>
                      </a:r>
                      <a:endParaRPr lang="en-US" sz="1000" dirty="0">
                        <a:latin typeface="Calibri" charset="0"/>
                        <a:ea typeface="Calibri" charset="0"/>
                        <a:cs typeface="Calibri" charset="0"/>
                      </a:endParaRPr>
                    </a:p>
                  </a:txBody>
                  <a:tcPr marL="38100" marR="38100" marT="38100" marB="38100" anchor="ctr">
                    <a:lnL w="12700" cap="flat" cmpd="sng" algn="ctr">
                      <a:solidFill>
                        <a:srgbClr val="DEDEDE"/>
                      </a:solidFill>
                      <a:prstDash val="solid"/>
                      <a:round/>
                      <a:headEnd type="none" w="med" len="med"/>
                      <a:tailEnd type="none" w="med" len="med"/>
                    </a:lnL>
                    <a:lnR w="12700" cap="flat" cmpd="sng" algn="ctr">
                      <a:solidFill>
                        <a:srgbClr val="DEDEDE"/>
                      </a:solidFill>
                      <a:prstDash val="solid"/>
                      <a:round/>
                      <a:headEnd type="none" w="med" len="med"/>
                      <a:tailEnd type="none" w="med" len="med"/>
                    </a:lnR>
                    <a:lnT w="12700" cap="flat" cmpd="sng" algn="ctr">
                      <a:solidFill>
                        <a:srgbClr val="DEDEDE"/>
                      </a:solidFill>
                      <a:prstDash val="solid"/>
                      <a:round/>
                      <a:headEnd type="none" w="med" len="med"/>
                      <a:tailEnd type="none" w="med" len="med"/>
                    </a:lnT>
                    <a:lnB w="12700" cap="flat" cmpd="sng" algn="ctr">
                      <a:solidFill>
                        <a:srgbClr val="DEDEDE"/>
                      </a:solidFill>
                      <a:prstDash val="solid"/>
                      <a:round/>
                      <a:headEnd type="none" w="med" len="med"/>
                      <a:tailEnd type="none" w="med" len="med"/>
                    </a:lnB>
                    <a:solidFill>
                      <a:srgbClr val="F0F0F0"/>
                    </a:solidFill>
                  </a:tcPr>
                </a:tc>
                <a:extLst>
                  <a:ext uri="{0D108BD9-81ED-4DB2-BD59-A6C34878D82A}">
                    <a16:rowId xmlns:a16="http://schemas.microsoft.com/office/drawing/2014/main" val="10004"/>
                  </a:ext>
                </a:extLst>
              </a:tr>
              <a:tr h="429768">
                <a:tc>
                  <a:txBody>
                    <a:bodyPr/>
                    <a:lstStyle/>
                    <a:p>
                      <a:pPr marL="0" indent="0">
                        <a:buNone/>
                      </a:pPr>
                      <a:r>
                        <a:rPr lang="en-US" sz="1000" dirty="0">
                          <a:solidFill>
                            <a:srgbClr val="2C2C2C"/>
                          </a:solidFill>
                          <a:latin typeface="Calibri" pitchFamily="34" charset="0"/>
                          <a:ea typeface="Calibri" pitchFamily="34" charset="-122"/>
                          <a:cs typeface="Calibri" pitchFamily="34" charset="-120"/>
                        </a:rPr>
                        <a:t>Cost</a:t>
                      </a:r>
                      <a:endParaRPr lang="en-US" sz="1000" dirty="0">
                        <a:latin typeface="Calibri" charset="0"/>
                        <a:ea typeface="Calibri" charset="0"/>
                        <a:cs typeface="Calibri" charset="0"/>
                      </a:endParaRPr>
                    </a:p>
                  </a:txBody>
                  <a:tcPr marL="38100" marR="38100" marT="38100" marB="38100" anchor="ctr">
                    <a:lnL w="12700" cap="flat" cmpd="sng" algn="ctr">
                      <a:solidFill>
                        <a:srgbClr val="DEDEDE"/>
                      </a:solidFill>
                      <a:prstDash val="solid"/>
                      <a:round/>
                      <a:headEnd type="none" w="med" len="med"/>
                      <a:tailEnd type="none" w="med" len="med"/>
                    </a:lnL>
                    <a:lnR w="12700" cap="flat" cmpd="sng" algn="ctr">
                      <a:solidFill>
                        <a:srgbClr val="DEDEDE"/>
                      </a:solidFill>
                      <a:prstDash val="solid"/>
                      <a:round/>
                      <a:headEnd type="none" w="med" len="med"/>
                      <a:tailEnd type="none" w="med" len="med"/>
                    </a:lnR>
                    <a:lnT w="12700" cap="flat" cmpd="sng" algn="ctr">
                      <a:solidFill>
                        <a:srgbClr val="DEDEDE"/>
                      </a:solidFill>
                      <a:prstDash val="solid"/>
                      <a:round/>
                      <a:headEnd type="none" w="med" len="med"/>
                      <a:tailEnd type="none" w="med" len="med"/>
                    </a:lnT>
                    <a:lnB w="12700" cap="flat" cmpd="sng" algn="ctr">
                      <a:solidFill>
                        <a:srgbClr val="DEDEDE"/>
                      </a:solidFill>
                      <a:prstDash val="solid"/>
                      <a:round/>
                      <a:headEnd type="none" w="med" len="med"/>
                      <a:tailEnd type="none" w="med" len="med"/>
                    </a:lnB>
                    <a:solidFill>
                      <a:srgbClr val="FFFFFF"/>
                    </a:solidFill>
                  </a:tcPr>
                </a:tc>
                <a:tc>
                  <a:txBody>
                    <a:bodyPr/>
                    <a:lstStyle/>
                    <a:p>
                      <a:pPr marL="0" indent="0">
                        <a:buNone/>
                      </a:pPr>
                      <a:r>
                        <a:rPr lang="en-US" sz="1000" dirty="0">
                          <a:solidFill>
                            <a:srgbClr val="2C2C2C"/>
                          </a:solidFill>
                          <a:latin typeface="Calibri" pitchFamily="34" charset="0"/>
                          <a:ea typeface="Calibri" pitchFamily="34" charset="-122"/>
                          <a:cs typeface="Calibri" pitchFamily="34" charset="-120"/>
                        </a:rPr>
                        <a:t>Low initial cost; expensive at scale</a:t>
                      </a:r>
                      <a:endParaRPr lang="en-US" sz="1000" dirty="0">
                        <a:latin typeface="Calibri" charset="0"/>
                        <a:ea typeface="Calibri" charset="0"/>
                        <a:cs typeface="Calibri" charset="0"/>
                      </a:endParaRPr>
                    </a:p>
                  </a:txBody>
                  <a:tcPr marL="38100" marR="38100" marT="38100" marB="38100" anchor="ctr">
                    <a:lnL w="12700" cap="flat" cmpd="sng" algn="ctr">
                      <a:solidFill>
                        <a:srgbClr val="DEDEDE"/>
                      </a:solidFill>
                      <a:prstDash val="solid"/>
                      <a:round/>
                      <a:headEnd type="none" w="med" len="med"/>
                      <a:tailEnd type="none" w="med" len="med"/>
                    </a:lnL>
                    <a:lnR w="12700" cap="flat" cmpd="sng" algn="ctr">
                      <a:solidFill>
                        <a:srgbClr val="DEDEDE"/>
                      </a:solidFill>
                      <a:prstDash val="solid"/>
                      <a:round/>
                      <a:headEnd type="none" w="med" len="med"/>
                      <a:tailEnd type="none" w="med" len="med"/>
                    </a:lnR>
                    <a:lnT w="12700" cap="flat" cmpd="sng" algn="ctr">
                      <a:solidFill>
                        <a:srgbClr val="DEDEDE"/>
                      </a:solidFill>
                      <a:prstDash val="solid"/>
                      <a:round/>
                      <a:headEnd type="none" w="med" len="med"/>
                      <a:tailEnd type="none" w="med" len="med"/>
                    </a:lnT>
                    <a:lnB w="12700" cap="flat" cmpd="sng" algn="ctr">
                      <a:solidFill>
                        <a:srgbClr val="DEDEDE"/>
                      </a:solidFill>
                      <a:prstDash val="solid"/>
                      <a:round/>
                      <a:headEnd type="none" w="med" len="med"/>
                      <a:tailEnd type="none" w="med" len="med"/>
                    </a:lnB>
                    <a:solidFill>
                      <a:srgbClr val="FFFFFF"/>
                    </a:solidFill>
                  </a:tcPr>
                </a:tc>
                <a:tc>
                  <a:txBody>
                    <a:bodyPr/>
                    <a:lstStyle/>
                    <a:p>
                      <a:pPr marL="0" indent="0">
                        <a:buNone/>
                      </a:pPr>
                      <a:r>
                        <a:rPr lang="en-US" sz="1000" dirty="0">
                          <a:solidFill>
                            <a:srgbClr val="2C2C2C"/>
                          </a:solidFill>
                          <a:latin typeface="Calibri" pitchFamily="34" charset="0"/>
                          <a:ea typeface="Calibri" pitchFamily="34" charset="-122"/>
                          <a:cs typeface="Calibri" pitchFamily="34" charset="-120"/>
                        </a:rPr>
                        <a:t>High initial investment (scripting); low cost at scale</a:t>
                      </a:r>
                      <a:endParaRPr lang="en-US" sz="1000" dirty="0">
                        <a:latin typeface="Calibri" charset="0"/>
                        <a:ea typeface="Calibri" charset="0"/>
                        <a:cs typeface="Calibri" charset="0"/>
                      </a:endParaRPr>
                    </a:p>
                  </a:txBody>
                  <a:tcPr marL="38100" marR="38100" marT="38100" marB="38100" anchor="ctr">
                    <a:lnL w="12700" cap="flat" cmpd="sng" algn="ctr">
                      <a:solidFill>
                        <a:srgbClr val="DEDEDE"/>
                      </a:solidFill>
                      <a:prstDash val="solid"/>
                      <a:round/>
                      <a:headEnd type="none" w="med" len="med"/>
                      <a:tailEnd type="none" w="med" len="med"/>
                    </a:lnL>
                    <a:lnR w="12700" cap="flat" cmpd="sng" algn="ctr">
                      <a:solidFill>
                        <a:srgbClr val="DEDEDE"/>
                      </a:solidFill>
                      <a:prstDash val="solid"/>
                      <a:round/>
                      <a:headEnd type="none" w="med" len="med"/>
                      <a:tailEnd type="none" w="med" len="med"/>
                    </a:lnR>
                    <a:lnT w="12700" cap="flat" cmpd="sng" algn="ctr">
                      <a:solidFill>
                        <a:srgbClr val="DEDEDE"/>
                      </a:solidFill>
                      <a:prstDash val="solid"/>
                      <a:round/>
                      <a:headEnd type="none" w="med" len="med"/>
                      <a:tailEnd type="none" w="med" len="med"/>
                    </a:lnT>
                    <a:lnB w="12700" cap="flat" cmpd="sng" algn="ctr">
                      <a:solidFill>
                        <a:srgbClr val="DEDEDE"/>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429768">
                <a:tc>
                  <a:txBody>
                    <a:bodyPr/>
                    <a:lstStyle/>
                    <a:p>
                      <a:pPr marL="0" indent="0">
                        <a:buNone/>
                      </a:pPr>
                      <a:r>
                        <a:rPr lang="en-US" sz="1000" dirty="0">
                          <a:solidFill>
                            <a:srgbClr val="2C2C2C"/>
                          </a:solidFill>
                          <a:latin typeface="Calibri" pitchFamily="34" charset="0"/>
                          <a:ea typeface="Calibri" pitchFamily="34" charset="-122"/>
                          <a:cs typeface="Calibri" pitchFamily="34" charset="-120"/>
                        </a:rPr>
                        <a:t>When to Automate?</a:t>
                      </a:r>
                      <a:endParaRPr lang="en-US" sz="1000" dirty="0">
                        <a:latin typeface="Calibri" charset="0"/>
                        <a:ea typeface="Calibri" charset="0"/>
                        <a:cs typeface="Calibri" charset="0"/>
                      </a:endParaRPr>
                    </a:p>
                  </a:txBody>
                  <a:tcPr marL="38100" marR="38100" marT="38100" marB="38100" anchor="ctr">
                    <a:lnL w="12700" cap="flat" cmpd="sng" algn="ctr">
                      <a:solidFill>
                        <a:srgbClr val="DEDEDE"/>
                      </a:solidFill>
                      <a:prstDash val="solid"/>
                      <a:round/>
                      <a:headEnd type="none" w="med" len="med"/>
                      <a:tailEnd type="none" w="med" len="med"/>
                    </a:lnL>
                    <a:lnR w="12700" cap="flat" cmpd="sng" algn="ctr">
                      <a:solidFill>
                        <a:srgbClr val="DEDEDE"/>
                      </a:solidFill>
                      <a:prstDash val="solid"/>
                      <a:round/>
                      <a:headEnd type="none" w="med" len="med"/>
                      <a:tailEnd type="none" w="med" len="med"/>
                    </a:lnR>
                    <a:lnT w="12700" cap="flat" cmpd="sng" algn="ctr">
                      <a:solidFill>
                        <a:srgbClr val="DEDEDE"/>
                      </a:solidFill>
                      <a:prstDash val="solid"/>
                      <a:round/>
                      <a:headEnd type="none" w="med" len="med"/>
                      <a:tailEnd type="none" w="med" len="med"/>
                    </a:lnT>
                    <a:lnB w="12700" cap="flat" cmpd="sng" algn="ctr">
                      <a:solidFill>
                        <a:srgbClr val="DEDEDE"/>
                      </a:solidFill>
                      <a:prstDash val="solid"/>
                      <a:round/>
                      <a:headEnd type="none" w="med" len="med"/>
                      <a:tailEnd type="none" w="med" len="med"/>
                    </a:lnB>
                    <a:solidFill>
                      <a:srgbClr val="F0F0F0"/>
                    </a:solidFill>
                  </a:tcPr>
                </a:tc>
                <a:tc>
                  <a:txBody>
                    <a:bodyPr/>
                    <a:lstStyle/>
                    <a:p>
                      <a:pPr marL="0" indent="0">
                        <a:buNone/>
                      </a:pPr>
                      <a:r>
                        <a:rPr lang="en-US" sz="1000" dirty="0">
                          <a:solidFill>
                            <a:srgbClr val="2C2C2C"/>
                          </a:solidFill>
                          <a:latin typeface="Calibri" pitchFamily="34" charset="0"/>
                          <a:ea typeface="Calibri" pitchFamily="34" charset="-122"/>
                          <a:cs typeface="Calibri" pitchFamily="34" charset="-120"/>
                        </a:rPr>
                        <a:t>—</a:t>
                      </a:r>
                      <a:endParaRPr lang="en-US" sz="1000" dirty="0">
                        <a:latin typeface="Calibri" charset="0"/>
                        <a:ea typeface="Calibri" charset="0"/>
                        <a:cs typeface="Calibri" charset="0"/>
                      </a:endParaRPr>
                    </a:p>
                  </a:txBody>
                  <a:tcPr marL="38100" marR="38100" marT="38100" marB="38100" anchor="ctr">
                    <a:lnL w="12700" cap="flat" cmpd="sng" algn="ctr">
                      <a:solidFill>
                        <a:srgbClr val="DEDEDE"/>
                      </a:solidFill>
                      <a:prstDash val="solid"/>
                      <a:round/>
                      <a:headEnd type="none" w="med" len="med"/>
                      <a:tailEnd type="none" w="med" len="med"/>
                    </a:lnL>
                    <a:lnR w="12700" cap="flat" cmpd="sng" algn="ctr">
                      <a:solidFill>
                        <a:srgbClr val="DEDEDE"/>
                      </a:solidFill>
                      <a:prstDash val="solid"/>
                      <a:round/>
                      <a:headEnd type="none" w="med" len="med"/>
                      <a:tailEnd type="none" w="med" len="med"/>
                    </a:lnR>
                    <a:lnT w="12700" cap="flat" cmpd="sng" algn="ctr">
                      <a:solidFill>
                        <a:srgbClr val="DEDEDE"/>
                      </a:solidFill>
                      <a:prstDash val="solid"/>
                      <a:round/>
                      <a:headEnd type="none" w="med" len="med"/>
                      <a:tailEnd type="none" w="med" len="med"/>
                    </a:lnT>
                    <a:lnB w="12700" cap="flat" cmpd="sng" algn="ctr">
                      <a:solidFill>
                        <a:srgbClr val="DEDEDE"/>
                      </a:solidFill>
                      <a:prstDash val="solid"/>
                      <a:round/>
                      <a:headEnd type="none" w="med" len="med"/>
                      <a:tailEnd type="none" w="med" len="med"/>
                    </a:lnB>
                    <a:solidFill>
                      <a:srgbClr val="F0F0F0"/>
                    </a:solidFill>
                  </a:tcPr>
                </a:tc>
                <a:tc>
                  <a:txBody>
                    <a:bodyPr/>
                    <a:lstStyle/>
                    <a:p>
                      <a:pPr marL="0" indent="0">
                        <a:buNone/>
                      </a:pPr>
                      <a:r>
                        <a:rPr lang="en-US" sz="1000" dirty="0">
                          <a:solidFill>
                            <a:srgbClr val="2C2C2C"/>
                          </a:solidFill>
                          <a:latin typeface="Calibri" pitchFamily="34" charset="0"/>
                          <a:ea typeface="Calibri" pitchFamily="34" charset="-122"/>
                          <a:cs typeface="Calibri" pitchFamily="34" charset="-120"/>
                        </a:rPr>
                        <a:t>When a test case will be run &gt; 3 times, covers critical business flows, or is part of a regression suite</a:t>
                      </a:r>
                      <a:endParaRPr lang="en-US" sz="1000" dirty="0">
                        <a:latin typeface="Calibri" charset="0"/>
                        <a:ea typeface="Calibri" charset="0"/>
                        <a:cs typeface="Calibri" charset="0"/>
                      </a:endParaRPr>
                    </a:p>
                  </a:txBody>
                  <a:tcPr marL="38100" marR="38100" marT="38100" marB="38100" anchor="ctr">
                    <a:lnL w="12700" cap="flat" cmpd="sng" algn="ctr">
                      <a:solidFill>
                        <a:srgbClr val="DEDEDE"/>
                      </a:solidFill>
                      <a:prstDash val="solid"/>
                      <a:round/>
                      <a:headEnd type="none" w="med" len="med"/>
                      <a:tailEnd type="none" w="med" len="med"/>
                    </a:lnL>
                    <a:lnR w="12700" cap="flat" cmpd="sng" algn="ctr">
                      <a:solidFill>
                        <a:srgbClr val="DEDEDE"/>
                      </a:solidFill>
                      <a:prstDash val="solid"/>
                      <a:round/>
                      <a:headEnd type="none" w="med" len="med"/>
                      <a:tailEnd type="none" w="med" len="med"/>
                    </a:lnR>
                    <a:lnT w="12700" cap="flat" cmpd="sng" algn="ctr">
                      <a:solidFill>
                        <a:srgbClr val="DEDEDE"/>
                      </a:solidFill>
                      <a:prstDash val="solid"/>
                      <a:round/>
                      <a:headEnd type="none" w="med" len="med"/>
                      <a:tailEnd type="none" w="med" len="med"/>
                    </a:lnT>
                    <a:lnB w="12700" cap="flat" cmpd="sng" algn="ctr">
                      <a:solidFill>
                        <a:srgbClr val="DEDEDE"/>
                      </a:solidFill>
                      <a:prstDash val="solid"/>
                      <a:round/>
                      <a:headEnd type="none" w="med" len="med"/>
                      <a:tailEnd type="none" w="med" len="med"/>
                    </a:lnB>
                    <a:solidFill>
                      <a:srgbClr val="F0F0F0"/>
                    </a:solidFill>
                  </a:tcPr>
                </a:tc>
                <a:extLst>
                  <a:ext uri="{0D108BD9-81ED-4DB2-BD59-A6C34878D82A}">
                    <a16:rowId xmlns:a16="http://schemas.microsoft.com/office/drawing/2014/main" val="10006"/>
                  </a:ext>
                </a:extLst>
              </a:tr>
              <a:tr h="429768">
                <a:tc>
                  <a:txBody>
                    <a:bodyPr/>
                    <a:lstStyle/>
                    <a:p>
                      <a:pPr marL="0" indent="0">
                        <a:buNone/>
                      </a:pPr>
                      <a:r>
                        <a:rPr lang="en-US" sz="1000" dirty="0">
                          <a:solidFill>
                            <a:srgbClr val="2C2C2C"/>
                          </a:solidFill>
                          <a:latin typeface="Calibri" pitchFamily="34" charset="0"/>
                          <a:ea typeface="Calibri" pitchFamily="34" charset="-122"/>
                          <a:cs typeface="Calibri" pitchFamily="34" charset="-120"/>
                        </a:rPr>
                        <a:t>Tools</a:t>
                      </a:r>
                      <a:endParaRPr lang="en-US" sz="1000" dirty="0">
                        <a:latin typeface="Calibri" charset="0"/>
                        <a:ea typeface="Calibri" charset="0"/>
                        <a:cs typeface="Calibri" charset="0"/>
                      </a:endParaRPr>
                    </a:p>
                  </a:txBody>
                  <a:tcPr marL="38100" marR="38100" marT="38100" marB="38100" anchor="ctr">
                    <a:lnL w="12700" cap="flat" cmpd="sng" algn="ctr">
                      <a:solidFill>
                        <a:srgbClr val="DEDEDE"/>
                      </a:solidFill>
                      <a:prstDash val="solid"/>
                      <a:round/>
                      <a:headEnd type="none" w="med" len="med"/>
                      <a:tailEnd type="none" w="med" len="med"/>
                    </a:lnL>
                    <a:lnR w="12700" cap="flat" cmpd="sng" algn="ctr">
                      <a:solidFill>
                        <a:srgbClr val="DEDEDE"/>
                      </a:solidFill>
                      <a:prstDash val="solid"/>
                      <a:round/>
                      <a:headEnd type="none" w="med" len="med"/>
                      <a:tailEnd type="none" w="med" len="med"/>
                    </a:lnR>
                    <a:lnT w="12700" cap="flat" cmpd="sng" algn="ctr">
                      <a:solidFill>
                        <a:srgbClr val="DEDEDE"/>
                      </a:solidFill>
                      <a:prstDash val="solid"/>
                      <a:round/>
                      <a:headEnd type="none" w="med" len="med"/>
                      <a:tailEnd type="none" w="med" len="med"/>
                    </a:lnT>
                    <a:lnB w="12700" cap="flat" cmpd="sng" algn="ctr">
                      <a:solidFill>
                        <a:srgbClr val="DEDEDE"/>
                      </a:solidFill>
                      <a:prstDash val="solid"/>
                      <a:round/>
                      <a:headEnd type="none" w="med" len="med"/>
                      <a:tailEnd type="none" w="med" len="med"/>
                    </a:lnB>
                    <a:solidFill>
                      <a:srgbClr val="FFFFFF"/>
                    </a:solidFill>
                  </a:tcPr>
                </a:tc>
                <a:tc>
                  <a:txBody>
                    <a:bodyPr/>
                    <a:lstStyle/>
                    <a:p>
                      <a:pPr marL="0" indent="0">
                        <a:buNone/>
                      </a:pPr>
                      <a:r>
                        <a:rPr lang="en-US" sz="1000" dirty="0">
                          <a:solidFill>
                            <a:srgbClr val="2C2C2C"/>
                          </a:solidFill>
                          <a:latin typeface="Calibri" pitchFamily="34" charset="0"/>
                          <a:ea typeface="Calibri" pitchFamily="34" charset="-122"/>
                          <a:cs typeface="Calibri" pitchFamily="34" charset="-120"/>
                        </a:rPr>
                        <a:t>Excel/Sheets, Jira, TestRail, Zephyr</a:t>
                      </a:r>
                      <a:endParaRPr lang="en-US" sz="1000" dirty="0">
                        <a:latin typeface="Calibri" charset="0"/>
                        <a:ea typeface="Calibri" charset="0"/>
                        <a:cs typeface="Calibri" charset="0"/>
                      </a:endParaRPr>
                    </a:p>
                  </a:txBody>
                  <a:tcPr marL="38100" marR="38100" marT="38100" marB="38100" anchor="ctr">
                    <a:lnL w="12700" cap="flat" cmpd="sng" algn="ctr">
                      <a:solidFill>
                        <a:srgbClr val="DEDEDE"/>
                      </a:solidFill>
                      <a:prstDash val="solid"/>
                      <a:round/>
                      <a:headEnd type="none" w="med" len="med"/>
                      <a:tailEnd type="none" w="med" len="med"/>
                    </a:lnL>
                    <a:lnR w="12700" cap="flat" cmpd="sng" algn="ctr">
                      <a:solidFill>
                        <a:srgbClr val="DEDEDE"/>
                      </a:solidFill>
                      <a:prstDash val="solid"/>
                      <a:round/>
                      <a:headEnd type="none" w="med" len="med"/>
                      <a:tailEnd type="none" w="med" len="med"/>
                    </a:lnR>
                    <a:lnT w="12700" cap="flat" cmpd="sng" algn="ctr">
                      <a:solidFill>
                        <a:srgbClr val="DEDEDE"/>
                      </a:solidFill>
                      <a:prstDash val="solid"/>
                      <a:round/>
                      <a:headEnd type="none" w="med" len="med"/>
                      <a:tailEnd type="none" w="med" len="med"/>
                    </a:lnT>
                    <a:lnB w="12700" cap="flat" cmpd="sng" algn="ctr">
                      <a:solidFill>
                        <a:srgbClr val="DEDEDE"/>
                      </a:solidFill>
                      <a:prstDash val="solid"/>
                      <a:round/>
                      <a:headEnd type="none" w="med" len="med"/>
                      <a:tailEnd type="none" w="med" len="med"/>
                    </a:lnB>
                    <a:solidFill>
                      <a:srgbClr val="FFFFFF"/>
                    </a:solidFill>
                  </a:tcPr>
                </a:tc>
                <a:tc>
                  <a:txBody>
                    <a:bodyPr/>
                    <a:lstStyle/>
                    <a:p>
                      <a:pPr marL="0" indent="0">
                        <a:buNone/>
                      </a:pPr>
                      <a:r>
                        <a:rPr lang="en-US" sz="1000" dirty="0">
                          <a:solidFill>
                            <a:srgbClr val="2C2C2C"/>
                          </a:solidFill>
                          <a:latin typeface="Calibri" pitchFamily="34" charset="0"/>
                          <a:ea typeface="Calibri" pitchFamily="34" charset="-122"/>
                          <a:cs typeface="Calibri" pitchFamily="34" charset="-120"/>
                        </a:rPr>
                        <a:t>Selenium (Java/Python), Playwright (JS/TypeScript), JUnit, TestNG</a:t>
                      </a:r>
                      <a:endParaRPr lang="en-US" sz="1000" dirty="0">
                        <a:latin typeface="Calibri" charset="0"/>
                        <a:ea typeface="Calibri" charset="0"/>
                        <a:cs typeface="Calibri" charset="0"/>
                      </a:endParaRPr>
                    </a:p>
                  </a:txBody>
                  <a:tcPr marL="38100" marR="38100" marT="38100" marB="38100" anchor="ctr">
                    <a:lnL w="12700" cap="flat" cmpd="sng" algn="ctr">
                      <a:solidFill>
                        <a:srgbClr val="DEDEDE"/>
                      </a:solidFill>
                      <a:prstDash val="solid"/>
                      <a:round/>
                      <a:headEnd type="none" w="med" len="med"/>
                      <a:tailEnd type="none" w="med" len="med"/>
                    </a:lnL>
                    <a:lnR w="12700" cap="flat" cmpd="sng" algn="ctr">
                      <a:solidFill>
                        <a:srgbClr val="DEDEDE"/>
                      </a:solidFill>
                      <a:prstDash val="solid"/>
                      <a:round/>
                      <a:headEnd type="none" w="med" len="med"/>
                      <a:tailEnd type="none" w="med" len="med"/>
                    </a:lnR>
                    <a:lnT w="12700" cap="flat" cmpd="sng" algn="ctr">
                      <a:solidFill>
                        <a:srgbClr val="DEDEDE"/>
                      </a:solidFill>
                      <a:prstDash val="solid"/>
                      <a:round/>
                      <a:headEnd type="none" w="med" len="med"/>
                      <a:tailEnd type="none" w="med" len="med"/>
                    </a:lnT>
                    <a:lnB w="12700" cap="flat" cmpd="sng" algn="ctr">
                      <a:solidFill>
                        <a:srgbClr val="DEDEDE"/>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r h="429768">
                <a:tc>
                  <a:txBody>
                    <a:bodyPr/>
                    <a:lstStyle/>
                    <a:p>
                      <a:pPr marL="0" indent="0">
                        <a:buNone/>
                      </a:pPr>
                      <a:r>
                        <a:rPr lang="en-US" sz="1000" dirty="0">
                          <a:solidFill>
                            <a:srgbClr val="2C2C2C"/>
                          </a:solidFill>
                          <a:latin typeface="Calibri" pitchFamily="34" charset="0"/>
                          <a:ea typeface="Calibri" pitchFamily="34" charset="-122"/>
                          <a:cs typeface="Calibri" pitchFamily="34" charset="-120"/>
                        </a:rPr>
                        <a:t>Skills Required</a:t>
                      </a:r>
                      <a:endParaRPr lang="en-US" sz="1000" dirty="0">
                        <a:latin typeface="Calibri" charset="0"/>
                        <a:ea typeface="Calibri" charset="0"/>
                        <a:cs typeface="Calibri" charset="0"/>
                      </a:endParaRPr>
                    </a:p>
                  </a:txBody>
                  <a:tcPr marL="38100" marR="38100" marT="38100" marB="38100" anchor="ctr">
                    <a:lnL w="12700" cap="flat" cmpd="sng" algn="ctr">
                      <a:solidFill>
                        <a:srgbClr val="DEDEDE"/>
                      </a:solidFill>
                      <a:prstDash val="solid"/>
                      <a:round/>
                      <a:headEnd type="none" w="med" len="med"/>
                      <a:tailEnd type="none" w="med" len="med"/>
                    </a:lnL>
                    <a:lnR w="12700" cap="flat" cmpd="sng" algn="ctr">
                      <a:solidFill>
                        <a:srgbClr val="DEDEDE"/>
                      </a:solidFill>
                      <a:prstDash val="solid"/>
                      <a:round/>
                      <a:headEnd type="none" w="med" len="med"/>
                      <a:tailEnd type="none" w="med" len="med"/>
                    </a:lnR>
                    <a:lnT w="12700" cap="flat" cmpd="sng" algn="ctr">
                      <a:solidFill>
                        <a:srgbClr val="DEDEDE"/>
                      </a:solidFill>
                      <a:prstDash val="solid"/>
                      <a:round/>
                      <a:headEnd type="none" w="med" len="med"/>
                      <a:tailEnd type="none" w="med" len="med"/>
                    </a:lnT>
                    <a:lnB w="12700" cap="flat" cmpd="sng" algn="ctr">
                      <a:solidFill>
                        <a:srgbClr val="DEDEDE"/>
                      </a:solidFill>
                      <a:prstDash val="solid"/>
                      <a:round/>
                      <a:headEnd type="none" w="med" len="med"/>
                      <a:tailEnd type="none" w="med" len="med"/>
                    </a:lnB>
                    <a:solidFill>
                      <a:srgbClr val="F0F0F0"/>
                    </a:solidFill>
                  </a:tcPr>
                </a:tc>
                <a:tc>
                  <a:txBody>
                    <a:bodyPr/>
                    <a:lstStyle/>
                    <a:p>
                      <a:pPr marL="0" indent="0">
                        <a:buNone/>
                      </a:pPr>
                      <a:r>
                        <a:rPr lang="en-US" sz="1000" dirty="0">
                          <a:solidFill>
                            <a:srgbClr val="2C2C2C"/>
                          </a:solidFill>
                          <a:latin typeface="Calibri" pitchFamily="34" charset="0"/>
                          <a:ea typeface="Calibri" pitchFamily="34" charset="-122"/>
                          <a:cs typeface="Calibri" pitchFamily="34" charset="-120"/>
                        </a:rPr>
                        <a:t>Domain knowledge, analytical thinking</a:t>
                      </a:r>
                      <a:endParaRPr lang="en-US" sz="1000" dirty="0">
                        <a:latin typeface="Calibri" charset="0"/>
                        <a:ea typeface="Calibri" charset="0"/>
                        <a:cs typeface="Calibri" charset="0"/>
                      </a:endParaRPr>
                    </a:p>
                  </a:txBody>
                  <a:tcPr marL="38100" marR="38100" marT="38100" marB="38100" anchor="ctr">
                    <a:lnL w="12700" cap="flat" cmpd="sng" algn="ctr">
                      <a:solidFill>
                        <a:srgbClr val="DEDEDE"/>
                      </a:solidFill>
                      <a:prstDash val="solid"/>
                      <a:round/>
                      <a:headEnd type="none" w="med" len="med"/>
                      <a:tailEnd type="none" w="med" len="med"/>
                    </a:lnL>
                    <a:lnR w="12700" cap="flat" cmpd="sng" algn="ctr">
                      <a:solidFill>
                        <a:srgbClr val="DEDEDE"/>
                      </a:solidFill>
                      <a:prstDash val="solid"/>
                      <a:round/>
                      <a:headEnd type="none" w="med" len="med"/>
                      <a:tailEnd type="none" w="med" len="med"/>
                    </a:lnR>
                    <a:lnT w="12700" cap="flat" cmpd="sng" algn="ctr">
                      <a:solidFill>
                        <a:srgbClr val="DEDEDE"/>
                      </a:solidFill>
                      <a:prstDash val="solid"/>
                      <a:round/>
                      <a:headEnd type="none" w="med" len="med"/>
                      <a:tailEnd type="none" w="med" len="med"/>
                    </a:lnT>
                    <a:lnB w="12700" cap="flat" cmpd="sng" algn="ctr">
                      <a:solidFill>
                        <a:srgbClr val="DEDEDE"/>
                      </a:solidFill>
                      <a:prstDash val="solid"/>
                      <a:round/>
                      <a:headEnd type="none" w="med" len="med"/>
                      <a:tailEnd type="none" w="med" len="med"/>
                    </a:lnB>
                    <a:solidFill>
                      <a:srgbClr val="F0F0F0"/>
                    </a:solidFill>
                  </a:tcPr>
                </a:tc>
                <a:tc>
                  <a:txBody>
                    <a:bodyPr/>
                    <a:lstStyle/>
                    <a:p>
                      <a:pPr marL="0" indent="0">
                        <a:buNone/>
                      </a:pPr>
                      <a:r>
                        <a:rPr lang="en-US" sz="1000" dirty="0">
                          <a:solidFill>
                            <a:srgbClr val="2C2C2C"/>
                          </a:solidFill>
                          <a:latin typeface="Calibri" pitchFamily="34" charset="0"/>
                          <a:ea typeface="Calibri" pitchFamily="34" charset="-122"/>
                          <a:cs typeface="Calibri" pitchFamily="34" charset="-120"/>
                        </a:rPr>
                        <a:t>Programming, framework knowledge (Java, JS, Python)</a:t>
                      </a:r>
                      <a:endParaRPr lang="en-US" sz="1000" dirty="0">
                        <a:latin typeface="Calibri" charset="0"/>
                        <a:ea typeface="Calibri" charset="0"/>
                        <a:cs typeface="Calibri" charset="0"/>
                      </a:endParaRPr>
                    </a:p>
                  </a:txBody>
                  <a:tcPr marL="38100" marR="38100" marT="38100" marB="38100" anchor="ctr">
                    <a:lnL w="12700" cap="flat" cmpd="sng" algn="ctr">
                      <a:solidFill>
                        <a:srgbClr val="DEDEDE"/>
                      </a:solidFill>
                      <a:prstDash val="solid"/>
                      <a:round/>
                      <a:headEnd type="none" w="med" len="med"/>
                      <a:tailEnd type="none" w="med" len="med"/>
                    </a:lnL>
                    <a:lnR w="12700" cap="flat" cmpd="sng" algn="ctr">
                      <a:solidFill>
                        <a:srgbClr val="DEDEDE"/>
                      </a:solidFill>
                      <a:prstDash val="solid"/>
                      <a:round/>
                      <a:headEnd type="none" w="med" len="med"/>
                      <a:tailEnd type="none" w="med" len="med"/>
                    </a:lnR>
                    <a:lnT w="12700" cap="flat" cmpd="sng" algn="ctr">
                      <a:solidFill>
                        <a:srgbClr val="DEDEDE"/>
                      </a:solidFill>
                      <a:prstDash val="solid"/>
                      <a:round/>
                      <a:headEnd type="none" w="med" len="med"/>
                      <a:tailEnd type="none" w="med" len="med"/>
                    </a:lnT>
                    <a:lnB w="12700" cap="flat" cmpd="sng" algn="ctr">
                      <a:solidFill>
                        <a:srgbClr val="DEDEDE"/>
                      </a:solidFill>
                      <a:prstDash val="solid"/>
                      <a:round/>
                      <a:headEnd type="none" w="med" len="med"/>
                      <a:tailEnd type="none" w="med" len="med"/>
                    </a:lnB>
                    <a:solidFill>
                      <a:srgbClr val="F0F0F0"/>
                    </a:solidFill>
                  </a:tcPr>
                </a:tc>
                <a:extLst>
                  <a:ext uri="{0D108BD9-81ED-4DB2-BD59-A6C34878D82A}">
                    <a16:rowId xmlns:a16="http://schemas.microsoft.com/office/drawing/2014/main" val="10008"/>
                  </a:ext>
                </a:extLst>
              </a:tr>
              <a:tr h="429768">
                <a:tc>
                  <a:txBody>
                    <a:bodyPr/>
                    <a:lstStyle/>
                    <a:p>
                      <a:pPr marL="0" indent="0">
                        <a:buNone/>
                      </a:pPr>
                      <a:r>
                        <a:rPr lang="en-US" sz="1000" dirty="0">
                          <a:solidFill>
                            <a:srgbClr val="2C2C2C"/>
                          </a:solidFill>
                          <a:latin typeface="Calibri" pitchFamily="34" charset="0"/>
                          <a:ea typeface="Calibri" pitchFamily="34" charset="-122"/>
                          <a:cs typeface="Calibri" pitchFamily="34" charset="-120"/>
                        </a:rPr>
                        <a:t>Example</a:t>
                      </a:r>
                      <a:endParaRPr lang="en-US" sz="1000" dirty="0">
                        <a:latin typeface="Calibri" charset="0"/>
                        <a:ea typeface="Calibri" charset="0"/>
                        <a:cs typeface="Calibri" charset="0"/>
                      </a:endParaRPr>
                    </a:p>
                  </a:txBody>
                  <a:tcPr marL="38100" marR="38100" marT="38100" marB="38100" anchor="ctr">
                    <a:lnL w="12700" cap="flat" cmpd="sng" algn="ctr">
                      <a:solidFill>
                        <a:srgbClr val="DEDEDE"/>
                      </a:solidFill>
                      <a:prstDash val="solid"/>
                      <a:round/>
                      <a:headEnd type="none" w="med" len="med"/>
                      <a:tailEnd type="none" w="med" len="med"/>
                    </a:lnL>
                    <a:lnR w="12700" cap="flat" cmpd="sng" algn="ctr">
                      <a:solidFill>
                        <a:srgbClr val="DEDEDE"/>
                      </a:solidFill>
                      <a:prstDash val="solid"/>
                      <a:round/>
                      <a:headEnd type="none" w="med" len="med"/>
                      <a:tailEnd type="none" w="med" len="med"/>
                    </a:lnR>
                    <a:lnT w="12700" cap="flat" cmpd="sng" algn="ctr">
                      <a:solidFill>
                        <a:srgbClr val="DEDEDE"/>
                      </a:solidFill>
                      <a:prstDash val="solid"/>
                      <a:round/>
                      <a:headEnd type="none" w="med" len="med"/>
                      <a:tailEnd type="none" w="med" len="med"/>
                    </a:lnT>
                    <a:lnB w="12700" cap="flat" cmpd="sng" algn="ctr">
                      <a:solidFill>
                        <a:srgbClr val="DEDEDE"/>
                      </a:solidFill>
                      <a:prstDash val="solid"/>
                      <a:round/>
                      <a:headEnd type="none" w="med" len="med"/>
                      <a:tailEnd type="none" w="med" len="med"/>
                    </a:lnB>
                    <a:solidFill>
                      <a:srgbClr val="FFFFFF"/>
                    </a:solidFill>
                  </a:tcPr>
                </a:tc>
                <a:tc>
                  <a:txBody>
                    <a:bodyPr/>
                    <a:lstStyle/>
                    <a:p>
                      <a:pPr marL="0" indent="0">
                        <a:buNone/>
                      </a:pPr>
                      <a:r>
                        <a:rPr lang="en-US" sz="1000" dirty="0">
                          <a:solidFill>
                            <a:srgbClr val="2C2C2C"/>
                          </a:solidFill>
                          <a:latin typeface="Calibri" pitchFamily="34" charset="0"/>
                          <a:ea typeface="Calibri" pitchFamily="34" charset="-122"/>
                          <a:cs typeface="Calibri" pitchFamily="34" charset="-120"/>
                        </a:rPr>
                        <a:t>Manually verifying a new UI layout for brand consistency</a:t>
                      </a:r>
                      <a:endParaRPr lang="en-US" sz="1000" dirty="0">
                        <a:latin typeface="Calibri" charset="0"/>
                        <a:ea typeface="Calibri" charset="0"/>
                        <a:cs typeface="Calibri" charset="0"/>
                      </a:endParaRPr>
                    </a:p>
                  </a:txBody>
                  <a:tcPr marL="38100" marR="38100" marT="38100" marB="38100" anchor="ctr">
                    <a:lnL w="12700" cap="flat" cmpd="sng" algn="ctr">
                      <a:solidFill>
                        <a:srgbClr val="DEDEDE"/>
                      </a:solidFill>
                      <a:prstDash val="solid"/>
                      <a:round/>
                      <a:headEnd type="none" w="med" len="med"/>
                      <a:tailEnd type="none" w="med" len="med"/>
                    </a:lnL>
                    <a:lnR w="12700" cap="flat" cmpd="sng" algn="ctr">
                      <a:solidFill>
                        <a:srgbClr val="DEDEDE"/>
                      </a:solidFill>
                      <a:prstDash val="solid"/>
                      <a:round/>
                      <a:headEnd type="none" w="med" len="med"/>
                      <a:tailEnd type="none" w="med" len="med"/>
                    </a:lnR>
                    <a:lnT w="12700" cap="flat" cmpd="sng" algn="ctr">
                      <a:solidFill>
                        <a:srgbClr val="DEDEDE"/>
                      </a:solidFill>
                      <a:prstDash val="solid"/>
                      <a:round/>
                      <a:headEnd type="none" w="med" len="med"/>
                      <a:tailEnd type="none" w="med" len="med"/>
                    </a:lnT>
                    <a:lnB w="12700" cap="flat" cmpd="sng" algn="ctr">
                      <a:solidFill>
                        <a:srgbClr val="DEDEDE"/>
                      </a:solidFill>
                      <a:prstDash val="solid"/>
                      <a:round/>
                      <a:headEnd type="none" w="med" len="med"/>
                      <a:tailEnd type="none" w="med" len="med"/>
                    </a:lnB>
                    <a:solidFill>
                      <a:srgbClr val="FFFFFF"/>
                    </a:solidFill>
                  </a:tcPr>
                </a:tc>
                <a:tc>
                  <a:txBody>
                    <a:bodyPr/>
                    <a:lstStyle/>
                    <a:p>
                      <a:pPr marL="0" indent="0">
                        <a:buNone/>
                      </a:pPr>
                      <a:r>
                        <a:rPr lang="en-US" sz="1000" dirty="0">
                          <a:solidFill>
                            <a:srgbClr val="2C2C2C"/>
                          </a:solidFill>
                          <a:latin typeface="Calibri" pitchFamily="34" charset="0"/>
                          <a:ea typeface="Calibri" pitchFamily="34" charset="-122"/>
                          <a:cs typeface="Calibri" pitchFamily="34" charset="-120"/>
                        </a:rPr>
                        <a:t>Automated login regression test run after every deployment</a:t>
                      </a:r>
                      <a:endParaRPr lang="en-US" sz="1000" dirty="0">
                        <a:latin typeface="Calibri" charset="0"/>
                        <a:ea typeface="Calibri" charset="0"/>
                        <a:cs typeface="Calibri" charset="0"/>
                      </a:endParaRPr>
                    </a:p>
                  </a:txBody>
                  <a:tcPr marL="38100" marR="38100" marT="38100" marB="38100" anchor="ctr">
                    <a:lnL w="12700" cap="flat" cmpd="sng" algn="ctr">
                      <a:solidFill>
                        <a:srgbClr val="DEDEDE"/>
                      </a:solidFill>
                      <a:prstDash val="solid"/>
                      <a:round/>
                      <a:headEnd type="none" w="med" len="med"/>
                      <a:tailEnd type="none" w="med" len="med"/>
                    </a:lnL>
                    <a:lnR w="12700" cap="flat" cmpd="sng" algn="ctr">
                      <a:solidFill>
                        <a:srgbClr val="DEDEDE"/>
                      </a:solidFill>
                      <a:prstDash val="solid"/>
                      <a:round/>
                      <a:headEnd type="none" w="med" len="med"/>
                      <a:tailEnd type="none" w="med" len="med"/>
                    </a:lnR>
                    <a:lnT w="12700" cap="flat" cmpd="sng" algn="ctr">
                      <a:solidFill>
                        <a:srgbClr val="DEDEDE"/>
                      </a:solidFill>
                      <a:prstDash val="solid"/>
                      <a:round/>
                      <a:headEnd type="none" w="med" len="med"/>
                      <a:tailEnd type="none" w="med" len="med"/>
                    </a:lnT>
                    <a:lnB w="12700" cap="flat" cmpd="sng" algn="ctr">
                      <a:solidFill>
                        <a:srgbClr val="DEDEDE"/>
                      </a:solidFill>
                      <a:prstDash val="solid"/>
                      <a:round/>
                      <a:headEnd type="none" w="med" len="med"/>
                      <a:tailEnd type="none" w="med" len="med"/>
                    </a:lnB>
                    <a:solidFill>
                      <a:srgbClr val="FFFFFF"/>
                    </a:solidFill>
                  </a:tcPr>
                </a:tc>
                <a:extLst>
                  <a:ext uri="{0D108BD9-81ED-4DB2-BD59-A6C34878D82A}">
                    <a16:rowId xmlns:a16="http://schemas.microsoft.com/office/drawing/2014/main" val="10009"/>
                  </a:ext>
                </a:extLst>
              </a:tr>
            </a:tbl>
          </a:graphicData>
        </a:graphic>
      </p:graphicFrame>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4">
    <p:bg>
      <p:bgPr>
        <a:solidFill>
          <a:srgbClr val="0D1117"/>
        </a:solidFill>
        <a:effectLst/>
      </p:bgPr>
    </p:bg>
    <p:spTree>
      <p:nvGrpSpPr>
        <p:cNvPr id="1" name=""/>
        <p:cNvGrpSpPr/>
        <p:nvPr/>
      </p:nvGrpSpPr>
      <p:grpSpPr>
        <a:xfrm>
          <a:off x="0" y="0"/>
          <a:ext cx="0" cy="0"/>
          <a:chOff x="0" y="0"/>
          <a:chExt cx="0" cy="0"/>
        </a:xfrm>
      </p:grpSpPr>
      <p:sp>
        <p:nvSpPr>
          <p:cNvPr id="2" name="Shape 0"/>
          <p:cNvSpPr/>
          <p:nvPr/>
        </p:nvSpPr>
        <p:spPr>
          <a:xfrm>
            <a:off x="0" y="0"/>
            <a:ext cx="64008" cy="5143500"/>
          </a:xfrm>
          <a:prstGeom prst="rect">
            <a:avLst/>
          </a:prstGeom>
          <a:solidFill>
            <a:srgbClr val="FF6500"/>
          </a:solidFill>
          <a:ln w="12700">
            <a:solidFill>
              <a:srgbClr val="FF6500"/>
            </a:solidFill>
            <a:prstDash val="solid"/>
          </a:ln>
        </p:spPr>
      </p:sp>
      <p:sp>
        <p:nvSpPr>
          <p:cNvPr id="3" name="Shape 1"/>
          <p:cNvSpPr/>
          <p:nvPr/>
        </p:nvSpPr>
        <p:spPr>
          <a:xfrm>
            <a:off x="0" y="4828032"/>
            <a:ext cx="9144000" cy="315468"/>
          </a:xfrm>
          <a:prstGeom prst="rect">
            <a:avLst/>
          </a:prstGeom>
          <a:solidFill>
            <a:srgbClr val="FF6500"/>
          </a:solidFill>
          <a:ln w="12700">
            <a:solidFill>
              <a:srgbClr val="FF6500"/>
            </a:solidFill>
            <a:prstDash val="solid"/>
          </a:ln>
        </p:spPr>
      </p:sp>
      <p:sp>
        <p:nvSpPr>
          <p:cNvPr id="4" name="Shape 2"/>
          <p:cNvSpPr/>
          <p:nvPr/>
        </p:nvSpPr>
        <p:spPr>
          <a:xfrm>
            <a:off x="0" y="0"/>
            <a:ext cx="9144000" cy="640080"/>
          </a:xfrm>
          <a:prstGeom prst="rect">
            <a:avLst/>
          </a:prstGeom>
          <a:solidFill>
            <a:srgbClr val="161B22"/>
          </a:solidFill>
          <a:ln w="12700">
            <a:solidFill>
              <a:srgbClr val="161B22"/>
            </a:solidFill>
            <a:prstDash val="solid"/>
          </a:ln>
        </p:spPr>
      </p:sp>
      <p:sp>
        <p:nvSpPr>
          <p:cNvPr id="5" name="Shape 3"/>
          <p:cNvSpPr/>
          <p:nvPr/>
        </p:nvSpPr>
        <p:spPr>
          <a:xfrm>
            <a:off x="0" y="0"/>
            <a:ext cx="64008" cy="640080"/>
          </a:xfrm>
          <a:prstGeom prst="rect">
            <a:avLst/>
          </a:prstGeom>
          <a:solidFill>
            <a:srgbClr val="FF6500"/>
          </a:solidFill>
          <a:ln w="12700">
            <a:solidFill>
              <a:srgbClr val="FF6500"/>
            </a:solidFill>
            <a:prstDash val="solid"/>
          </a:ln>
        </p:spPr>
      </p:sp>
      <p:sp>
        <p:nvSpPr>
          <p:cNvPr id="6" name="Shape 4"/>
          <p:cNvSpPr/>
          <p:nvPr/>
        </p:nvSpPr>
        <p:spPr>
          <a:xfrm>
            <a:off x="201168" y="109728"/>
            <a:ext cx="1234440" cy="384048"/>
          </a:xfrm>
          <a:prstGeom prst="rect">
            <a:avLst/>
          </a:prstGeom>
          <a:solidFill>
            <a:srgbClr val="FF6500"/>
          </a:solidFill>
          <a:ln w="12700">
            <a:solidFill>
              <a:srgbClr val="FF6500"/>
            </a:solidFill>
            <a:prstDash val="solid"/>
          </a:ln>
        </p:spPr>
      </p:sp>
      <p:sp>
        <p:nvSpPr>
          <p:cNvPr id="7" name="Text 5"/>
          <p:cNvSpPr/>
          <p:nvPr/>
        </p:nvSpPr>
        <p:spPr>
          <a:xfrm>
            <a:off x="201168" y="109728"/>
            <a:ext cx="1234440" cy="384048"/>
          </a:xfrm>
          <a:prstGeom prst="rect">
            <a:avLst/>
          </a:prstGeom>
          <a:noFill/>
          <a:ln/>
        </p:spPr>
        <p:txBody>
          <a:bodyPr wrap="square" lIns="0" tIns="0" rIns="0" bIns="0" rtlCol="0" anchor="ctr"/>
          <a:lstStyle/>
          <a:p>
            <a:pPr marL="0" indent="0" algn="ctr">
              <a:buNone/>
            </a:pPr>
            <a:r>
              <a:rPr lang="en-US" sz="1200" b="1" dirty="0">
                <a:solidFill>
                  <a:srgbClr val="FFFFFF"/>
                </a:solidFill>
                <a:latin typeface="Arial" pitchFamily="34" charset="0"/>
                <a:ea typeface="Arial" pitchFamily="34" charset="-122"/>
                <a:cs typeface="Arial" pitchFamily="34" charset="-120"/>
              </a:rPr>
              <a:t>SELENIUM</a:t>
            </a:r>
            <a:endParaRPr lang="en-US" sz="1200" dirty="0"/>
          </a:p>
        </p:txBody>
      </p:sp>
      <p:sp>
        <p:nvSpPr>
          <p:cNvPr id="8" name="Shape 6"/>
          <p:cNvSpPr/>
          <p:nvPr/>
        </p:nvSpPr>
        <p:spPr>
          <a:xfrm>
            <a:off x="1508760" y="109728"/>
            <a:ext cx="1371600" cy="384048"/>
          </a:xfrm>
          <a:prstGeom prst="rect">
            <a:avLst/>
          </a:prstGeom>
          <a:solidFill>
            <a:srgbClr val="1A3A00"/>
          </a:solidFill>
          <a:ln w="12700">
            <a:solidFill>
              <a:srgbClr val="27AE60"/>
            </a:solidFill>
            <a:prstDash val="solid"/>
          </a:ln>
        </p:spPr>
      </p:sp>
      <p:sp>
        <p:nvSpPr>
          <p:cNvPr id="9" name="Text 7"/>
          <p:cNvSpPr/>
          <p:nvPr/>
        </p:nvSpPr>
        <p:spPr>
          <a:xfrm>
            <a:off x="1508760" y="109728"/>
            <a:ext cx="1371600" cy="384048"/>
          </a:xfrm>
          <a:prstGeom prst="rect">
            <a:avLst/>
          </a:prstGeom>
          <a:noFill/>
          <a:ln/>
        </p:spPr>
        <p:txBody>
          <a:bodyPr wrap="square" lIns="0" tIns="0" rIns="0" bIns="0" rtlCol="0" anchor="ctr"/>
          <a:lstStyle/>
          <a:p>
            <a:pPr marL="0" indent="0" algn="ctr">
              <a:buNone/>
            </a:pPr>
            <a:r>
              <a:rPr lang="en-US" sz="1100" b="1" dirty="0">
                <a:solidFill>
                  <a:srgbClr val="27AE60"/>
                </a:solidFill>
                <a:latin typeface="Calibri" pitchFamily="34" charset="0"/>
                <a:ea typeface="Calibri" pitchFamily="34" charset="-122"/>
                <a:cs typeface="Calibri" pitchFamily="34" charset="-120"/>
              </a:rPr>
              <a:t>Java + TestNG</a:t>
            </a:r>
            <a:endParaRPr lang="en-US" sz="1100" dirty="0"/>
          </a:p>
        </p:txBody>
      </p:sp>
      <p:sp>
        <p:nvSpPr>
          <p:cNvPr id="10" name="Shape 8"/>
          <p:cNvSpPr/>
          <p:nvPr/>
        </p:nvSpPr>
        <p:spPr>
          <a:xfrm>
            <a:off x="3017520" y="109728"/>
            <a:ext cx="2011680" cy="384048"/>
          </a:xfrm>
          <a:prstGeom prst="rect">
            <a:avLst/>
          </a:prstGeom>
          <a:solidFill>
            <a:srgbClr val="1A1A3A"/>
          </a:solidFill>
          <a:ln w="12700">
            <a:solidFill>
              <a:srgbClr val="6699FF"/>
            </a:solidFill>
            <a:prstDash val="solid"/>
          </a:ln>
        </p:spPr>
      </p:sp>
      <p:sp>
        <p:nvSpPr>
          <p:cNvPr id="11" name="Text 9"/>
          <p:cNvSpPr/>
          <p:nvPr/>
        </p:nvSpPr>
        <p:spPr>
          <a:xfrm>
            <a:off x="3017520" y="109728"/>
            <a:ext cx="2011680" cy="384048"/>
          </a:xfrm>
          <a:prstGeom prst="rect">
            <a:avLst/>
          </a:prstGeom>
          <a:noFill/>
          <a:ln/>
        </p:spPr>
        <p:txBody>
          <a:bodyPr wrap="square" lIns="0" tIns="0" rIns="0" bIns="0" rtlCol="0" anchor="ctr"/>
          <a:lstStyle/>
          <a:p>
            <a:pPr marL="0" indent="0" algn="ctr">
              <a:buNone/>
            </a:pPr>
            <a:r>
              <a:rPr lang="en-US" sz="1100" b="1" dirty="0">
                <a:solidFill>
                  <a:srgbClr val="6699FF"/>
                </a:solidFill>
                <a:latin typeface="Calibri" pitchFamily="34" charset="0"/>
                <a:ea typeface="Calibri" pitchFamily="34" charset="-122"/>
                <a:cs typeface="Calibri" pitchFamily="34" charset="-120"/>
              </a:rPr>
              <a:t>IntelliJ / Eclipse IDE</a:t>
            </a:r>
            <a:endParaRPr lang="en-US" sz="1100" dirty="0"/>
          </a:p>
        </p:txBody>
      </p:sp>
      <p:sp>
        <p:nvSpPr>
          <p:cNvPr id="12" name="Text 10"/>
          <p:cNvSpPr/>
          <p:nvPr/>
        </p:nvSpPr>
        <p:spPr>
          <a:xfrm>
            <a:off x="5166360" y="146304"/>
            <a:ext cx="3749040" cy="320040"/>
          </a:xfrm>
          <a:prstGeom prst="rect">
            <a:avLst/>
          </a:prstGeom>
          <a:noFill/>
          <a:ln/>
        </p:spPr>
        <p:txBody>
          <a:bodyPr wrap="square" lIns="0" tIns="0" rIns="0" bIns="0" rtlCol="0" anchor="ctr"/>
          <a:lstStyle/>
          <a:p>
            <a:pPr marL="0" indent="0">
              <a:buNone/>
            </a:pPr>
            <a:r>
              <a:rPr lang="en-US" sz="1200" b="1" dirty="0">
                <a:solidFill>
                  <a:srgbClr val="CCCCCC"/>
                </a:solidFill>
                <a:latin typeface="Arial" pitchFamily="34" charset="0"/>
                <a:ea typeface="Arial" pitchFamily="34" charset="-122"/>
                <a:cs typeface="Arial" pitchFamily="34" charset="-120"/>
              </a:rPr>
              <a:t>Automating TC_LOGIN_001 — Valid Login Test</a:t>
            </a:r>
            <a:endParaRPr lang="en-US" sz="1200" dirty="0"/>
          </a:p>
        </p:txBody>
      </p:sp>
      <p:sp>
        <p:nvSpPr>
          <p:cNvPr id="13" name="Shape 11"/>
          <p:cNvSpPr/>
          <p:nvPr/>
        </p:nvSpPr>
        <p:spPr>
          <a:xfrm>
            <a:off x="201168" y="749808"/>
            <a:ext cx="8732520" cy="3931920"/>
          </a:xfrm>
          <a:prstGeom prst="rect">
            <a:avLst/>
          </a:prstGeom>
          <a:solidFill>
            <a:srgbClr val="161B22"/>
          </a:solidFill>
          <a:ln w="12700">
            <a:solidFill>
              <a:srgbClr val="30363D"/>
            </a:solidFill>
            <a:prstDash val="solid"/>
          </a:ln>
        </p:spPr>
      </p:sp>
      <p:sp>
        <p:nvSpPr>
          <p:cNvPr id="14" name="Text 12"/>
          <p:cNvSpPr/>
          <p:nvPr/>
        </p:nvSpPr>
        <p:spPr>
          <a:xfrm>
            <a:off x="384048" y="841248"/>
            <a:ext cx="8412480" cy="3749040"/>
          </a:xfrm>
          <a:prstGeom prst="rect">
            <a:avLst/>
          </a:prstGeom>
          <a:noFill/>
          <a:ln/>
        </p:spPr>
        <p:txBody>
          <a:bodyPr wrap="square" lIns="0" tIns="0" rIns="0" bIns="0" rtlCol="0" anchor="t"/>
          <a:lstStyle/>
          <a:p>
            <a:pPr marL="0" indent="0">
              <a:buNone/>
            </a:pPr>
            <a:r>
              <a:rPr lang="en-US" sz="1000" dirty="0">
                <a:solidFill>
                  <a:srgbClr val="6A737D"/>
                </a:solidFill>
                <a:latin typeface="Courier New" pitchFamily="34" charset="0"/>
                <a:ea typeface="Courier New" pitchFamily="34" charset="-122"/>
                <a:cs typeface="Courier New" pitchFamily="34" charset="-120"/>
              </a:rPr>
              <a:t>// TC_LOGIN_001 — Selenium WebDriver Test (Java + TestNG)</a:t>
            </a:r>
            <a:endParaRPr lang="en-US" sz="1000" dirty="0"/>
          </a:p>
          <a:p>
            <a:pPr marL="0" indent="0">
              <a:buNone/>
            </a:pPr>
            <a:r>
              <a:rPr lang="en-US" sz="1000" dirty="0">
                <a:solidFill>
                  <a:srgbClr val="6A737D"/>
                </a:solidFill>
                <a:latin typeface="Courier New" pitchFamily="34" charset="0"/>
                <a:ea typeface="Courier New" pitchFamily="34" charset="-122"/>
                <a:cs typeface="Courier New" pitchFamily="34" charset="-120"/>
              </a:rPr>
              <a:t>// Requirement: REQ-001 | Priority: High | Severity: Critical</a:t>
            </a:r>
            <a:endParaRPr lang="en-US" sz="1000" dirty="0"/>
          </a:p>
          <a:p>
            <a:pPr marL="0" indent="0">
              <a:buNone/>
            </a:pPr>
            <a:r>
              <a:rPr lang="en-US" sz="1000" dirty="0">
                <a:solidFill>
                  <a:srgbClr val="FFFFFF"/>
                </a:solidFill>
                <a:latin typeface="Courier New" pitchFamily="34" charset="0"/>
                <a:ea typeface="Courier New" pitchFamily="34" charset="-122"/>
                <a:cs typeface="Courier New" pitchFamily="34" charset="-120"/>
              </a:rPr>
              <a:t> </a:t>
            </a:r>
            <a:endParaRPr lang="en-US" sz="1000" dirty="0"/>
          </a:p>
          <a:p>
            <a:pPr marL="0" indent="0">
              <a:buNone/>
            </a:pPr>
            <a:r>
              <a:rPr lang="en-US" sz="1000" dirty="0">
                <a:solidFill>
                  <a:srgbClr val="FF7B72"/>
                </a:solidFill>
                <a:latin typeface="Courier New" pitchFamily="34" charset="0"/>
                <a:ea typeface="Courier New" pitchFamily="34" charset="-122"/>
                <a:cs typeface="Courier New" pitchFamily="34" charset="-120"/>
              </a:rPr>
              <a:t>import org.openqa.selenium.*;</a:t>
            </a:r>
            <a:endParaRPr lang="en-US" sz="1000" dirty="0"/>
          </a:p>
          <a:p>
            <a:pPr marL="0" indent="0">
              <a:buNone/>
            </a:pPr>
            <a:r>
              <a:rPr lang="en-US" sz="1000" dirty="0">
                <a:solidFill>
                  <a:srgbClr val="FF7B72"/>
                </a:solidFill>
                <a:latin typeface="Courier New" pitchFamily="34" charset="0"/>
                <a:ea typeface="Courier New" pitchFamily="34" charset="-122"/>
                <a:cs typeface="Courier New" pitchFamily="34" charset="-120"/>
              </a:rPr>
              <a:t>import org.openqa.selenium.chrome.ChromeDriver;</a:t>
            </a:r>
            <a:endParaRPr lang="en-US" sz="1000" dirty="0"/>
          </a:p>
          <a:p>
            <a:pPr marL="0" indent="0">
              <a:buNone/>
            </a:pPr>
            <a:r>
              <a:rPr lang="en-US" sz="1000" dirty="0">
                <a:solidFill>
                  <a:srgbClr val="FF7B72"/>
                </a:solidFill>
                <a:latin typeface="Courier New" pitchFamily="34" charset="0"/>
                <a:ea typeface="Courier New" pitchFamily="34" charset="-122"/>
                <a:cs typeface="Courier New" pitchFamily="34" charset="-120"/>
              </a:rPr>
              <a:t>import org.testng.Assert;</a:t>
            </a:r>
            <a:endParaRPr lang="en-US" sz="1000" dirty="0"/>
          </a:p>
          <a:p>
            <a:pPr marL="0" indent="0">
              <a:buNone/>
            </a:pPr>
            <a:r>
              <a:rPr lang="en-US" sz="1000" dirty="0">
                <a:solidFill>
                  <a:srgbClr val="FF7B72"/>
                </a:solidFill>
                <a:latin typeface="Courier New" pitchFamily="34" charset="0"/>
                <a:ea typeface="Courier New" pitchFamily="34" charset="-122"/>
                <a:cs typeface="Courier New" pitchFamily="34" charset="-120"/>
              </a:rPr>
              <a:t>import org.testng.annotations.*;</a:t>
            </a:r>
            <a:endParaRPr lang="en-US" sz="1000" dirty="0"/>
          </a:p>
          <a:p>
            <a:pPr marL="0" indent="0">
              <a:buNone/>
            </a:pPr>
            <a:r>
              <a:rPr lang="en-US" sz="1000" dirty="0">
                <a:solidFill>
                  <a:srgbClr val="FFFFFF"/>
                </a:solidFill>
                <a:latin typeface="Courier New" pitchFamily="34" charset="0"/>
                <a:ea typeface="Courier New" pitchFamily="34" charset="-122"/>
                <a:cs typeface="Courier New" pitchFamily="34" charset="-120"/>
              </a:rPr>
              <a:t> </a:t>
            </a:r>
            <a:endParaRPr lang="en-US" sz="1000" dirty="0"/>
          </a:p>
          <a:p>
            <a:pPr marL="0" indent="0">
              <a:buNone/>
            </a:pPr>
            <a:r>
              <a:rPr lang="en-US" sz="1000" dirty="0">
                <a:solidFill>
                  <a:srgbClr val="FFFFFF"/>
                </a:solidFill>
                <a:latin typeface="Courier New" pitchFamily="34" charset="0"/>
                <a:ea typeface="Courier New" pitchFamily="34" charset="-122"/>
                <a:cs typeface="Courier New" pitchFamily="34" charset="-120"/>
              </a:rPr>
              <a:t>public class LoginTest {</a:t>
            </a:r>
            <a:endParaRPr lang="en-US" sz="1000" dirty="0"/>
          </a:p>
          <a:p>
            <a:pPr marL="0" indent="0">
              <a:buNone/>
            </a:pPr>
            <a:r>
              <a:rPr lang="en-US" sz="1000" dirty="0">
                <a:solidFill>
                  <a:srgbClr val="79C0FF"/>
                </a:solidFill>
                <a:latin typeface="Courier New" pitchFamily="34" charset="0"/>
                <a:ea typeface="Courier New" pitchFamily="34" charset="-122"/>
                <a:cs typeface="Courier New" pitchFamily="34" charset="-120"/>
              </a:rPr>
              <a:t>    WebDriver driver;</a:t>
            </a:r>
            <a:endParaRPr lang="en-US" sz="1000" dirty="0"/>
          </a:p>
          <a:p>
            <a:pPr marL="0" indent="0">
              <a:buNone/>
            </a:pPr>
            <a:r>
              <a:rPr lang="en-US" sz="1000" dirty="0">
                <a:solidFill>
                  <a:srgbClr val="FFFFFF"/>
                </a:solidFill>
                <a:latin typeface="Courier New" pitchFamily="34" charset="0"/>
                <a:ea typeface="Courier New" pitchFamily="34" charset="-122"/>
                <a:cs typeface="Courier New" pitchFamily="34" charset="-120"/>
              </a:rPr>
              <a:t> </a:t>
            </a:r>
            <a:endParaRPr lang="en-US" sz="1000" dirty="0"/>
          </a:p>
          <a:p>
            <a:pPr marL="0" indent="0">
              <a:buNone/>
            </a:pPr>
            <a:r>
              <a:rPr lang="en-US" sz="1000" dirty="0">
                <a:solidFill>
                  <a:srgbClr val="6A737D"/>
                </a:solidFill>
                <a:latin typeface="Courier New" pitchFamily="34" charset="0"/>
                <a:ea typeface="Courier New" pitchFamily="34" charset="-122"/>
                <a:cs typeface="Courier New" pitchFamily="34" charset="-120"/>
              </a:rPr>
              <a:t>    @BeforeMethod    // Runs BEFORE each test — sets up browser</a:t>
            </a:r>
            <a:endParaRPr lang="en-US" sz="1000" dirty="0"/>
          </a:p>
          <a:p>
            <a:pPr marL="0" indent="0">
              <a:buNone/>
            </a:pPr>
            <a:r>
              <a:rPr lang="en-US" sz="1000" dirty="0">
                <a:solidFill>
                  <a:srgbClr val="FFFFFF"/>
                </a:solidFill>
                <a:latin typeface="Courier New" pitchFamily="34" charset="0"/>
                <a:ea typeface="Courier New" pitchFamily="34" charset="-122"/>
                <a:cs typeface="Courier New" pitchFamily="34" charset="-120"/>
              </a:rPr>
              <a:t>    public void setUp() {</a:t>
            </a:r>
            <a:endParaRPr lang="en-US" sz="1000" dirty="0"/>
          </a:p>
          <a:p>
            <a:pPr marL="0" indent="0">
              <a:buNone/>
            </a:pPr>
            <a:r>
              <a:rPr lang="en-US" sz="1000" dirty="0">
                <a:solidFill>
                  <a:srgbClr val="79C0FF"/>
                </a:solidFill>
                <a:latin typeface="Courier New" pitchFamily="34" charset="0"/>
                <a:ea typeface="Courier New" pitchFamily="34" charset="-122"/>
                <a:cs typeface="Courier New" pitchFamily="34" charset="-120"/>
              </a:rPr>
              <a:t>        driver = new ChromeDriver();</a:t>
            </a:r>
            <a:endParaRPr lang="en-US" sz="1000" dirty="0"/>
          </a:p>
          <a:p>
            <a:pPr marL="0" indent="0">
              <a:buNone/>
            </a:pPr>
            <a:r>
              <a:rPr lang="en-US" sz="1000" dirty="0">
                <a:solidFill>
                  <a:srgbClr val="79C0FF"/>
                </a:solidFill>
                <a:latin typeface="Courier New" pitchFamily="34" charset="0"/>
                <a:ea typeface="Courier New" pitchFamily="34" charset="-122"/>
                <a:cs typeface="Courier New" pitchFamily="34" charset="-120"/>
              </a:rPr>
              <a:t>        driver.manage().window().maximize();</a:t>
            </a:r>
            <a:endParaRPr lang="en-US" sz="1000" dirty="0"/>
          </a:p>
          <a:p>
            <a:pPr marL="0" indent="0">
              <a:buNone/>
            </a:pPr>
            <a:r>
              <a:rPr lang="en-US" sz="1000" dirty="0">
                <a:solidFill>
                  <a:srgbClr val="A5D6FF"/>
                </a:solidFill>
                <a:latin typeface="Courier New" pitchFamily="34" charset="0"/>
                <a:ea typeface="Courier New" pitchFamily="34" charset="-122"/>
                <a:cs typeface="Courier New" pitchFamily="34" charset="-120"/>
              </a:rPr>
              <a:t>        driver.get("https://app.example.com/login");</a:t>
            </a:r>
            <a:endParaRPr lang="en-US" sz="1000" dirty="0"/>
          </a:p>
          <a:p>
            <a:pPr marL="0" indent="0">
              <a:buNone/>
            </a:pPr>
            <a:r>
              <a:rPr lang="en-US" sz="1000" dirty="0">
                <a:solidFill>
                  <a:srgbClr val="FFFFFF"/>
                </a:solidFill>
                <a:latin typeface="Courier New" pitchFamily="34" charset="0"/>
                <a:ea typeface="Courier New" pitchFamily="34" charset="-122"/>
                <a:cs typeface="Courier New" pitchFamily="34" charset="-120"/>
              </a:rPr>
              <a:t>    }</a:t>
            </a:r>
            <a:endParaRPr lang="en-US" sz="1000" dirty="0"/>
          </a:p>
          <a:p>
            <a:pPr marL="0" indent="0">
              <a:buNone/>
            </a:pPr>
            <a:r>
              <a:rPr lang="en-US" sz="1000" dirty="0">
                <a:solidFill>
                  <a:srgbClr val="FFFFFF"/>
                </a:solidFill>
                <a:latin typeface="Courier New" pitchFamily="34" charset="0"/>
                <a:ea typeface="Courier New" pitchFamily="34" charset="-122"/>
                <a:cs typeface="Courier New" pitchFamily="34" charset="-120"/>
              </a:rPr>
              <a:t> </a:t>
            </a:r>
            <a:endParaRPr lang="en-US" sz="1000" dirty="0"/>
          </a:p>
          <a:p>
            <a:pPr marL="0" indent="0">
              <a:buNone/>
            </a:pPr>
            <a:r>
              <a:rPr lang="en-US" sz="1000" dirty="0">
                <a:solidFill>
                  <a:srgbClr val="D2A8FF"/>
                </a:solidFill>
                <a:latin typeface="Courier New" pitchFamily="34" charset="0"/>
                <a:ea typeface="Courier New" pitchFamily="34" charset="-122"/>
                <a:cs typeface="Courier New" pitchFamily="34" charset="-120"/>
              </a:rPr>
              <a:t>    @Test(description = "TC_LOGIN_001: Login with valid credentials")</a:t>
            </a:r>
            <a:endParaRPr lang="en-US" sz="1000" dirty="0"/>
          </a:p>
          <a:p>
            <a:pPr marL="0" indent="0">
              <a:buNone/>
            </a:pPr>
            <a:r>
              <a:rPr lang="en-US" sz="1000" dirty="0">
                <a:solidFill>
                  <a:srgbClr val="FFFFFF"/>
                </a:solidFill>
                <a:latin typeface="Courier New" pitchFamily="34" charset="0"/>
                <a:ea typeface="Courier New" pitchFamily="34" charset="-122"/>
                <a:cs typeface="Courier New" pitchFamily="34" charset="-120"/>
              </a:rPr>
              <a:t>    public void testValidLogin() {</a:t>
            </a:r>
            <a:endParaRPr lang="en-US" sz="1000" dirty="0"/>
          </a:p>
          <a:p>
            <a:pPr marL="0" indent="0">
              <a:buNone/>
            </a:pPr>
            <a:r>
              <a:rPr lang="en-US" sz="1000" dirty="0">
                <a:solidFill>
                  <a:srgbClr val="79C0FF"/>
                </a:solidFill>
                <a:latin typeface="Courier New" pitchFamily="34" charset="0"/>
                <a:ea typeface="Courier New" pitchFamily="34" charset="-122"/>
                <a:cs typeface="Courier New" pitchFamily="34" charset="-120"/>
              </a:rPr>
              <a:t>        driver.findElement(By.id("email")).sendKeys("john@example.com");</a:t>
            </a:r>
            <a:endParaRPr lang="en-US" sz="1000" dirty="0"/>
          </a:p>
          <a:p>
            <a:pPr marL="0" indent="0">
              <a:buNone/>
            </a:pPr>
            <a:r>
              <a:rPr lang="en-US" sz="1000" dirty="0">
                <a:solidFill>
                  <a:srgbClr val="79C0FF"/>
                </a:solidFill>
                <a:latin typeface="Courier New" pitchFamily="34" charset="0"/>
                <a:ea typeface="Courier New" pitchFamily="34" charset="-122"/>
                <a:cs typeface="Courier New" pitchFamily="34" charset="-120"/>
              </a:rPr>
              <a:t>        driver.findElement(By.id("password")).sendKeys("SecurePass@123");</a:t>
            </a:r>
            <a:endParaRPr lang="en-US" sz="1000" dirty="0"/>
          </a:p>
          <a:p>
            <a:pPr marL="0" indent="0">
              <a:buNone/>
            </a:pPr>
            <a:r>
              <a:rPr lang="en-US" sz="1000" dirty="0">
                <a:solidFill>
                  <a:srgbClr val="79C0FF"/>
                </a:solidFill>
                <a:latin typeface="Courier New" pitchFamily="34" charset="0"/>
                <a:ea typeface="Courier New" pitchFamily="34" charset="-122"/>
                <a:cs typeface="Courier New" pitchFamily="34" charset="-120"/>
              </a:rPr>
              <a:t>        driver.findElement(By.id("loginBtn")).click();</a:t>
            </a:r>
            <a:endParaRPr lang="en-US" sz="1000" dirty="0"/>
          </a:p>
          <a:p>
            <a:pPr marL="0" indent="0">
              <a:buNone/>
            </a:pPr>
            <a:r>
              <a:rPr lang="en-US" sz="1000" dirty="0">
                <a:solidFill>
                  <a:srgbClr val="3FB950"/>
                </a:solidFill>
                <a:latin typeface="Courier New" pitchFamily="34" charset="0"/>
                <a:ea typeface="Courier New" pitchFamily="34" charset="-122"/>
                <a:cs typeface="Courier New" pitchFamily="34" charset="-120"/>
              </a:rPr>
              <a:t>        Assert.assertEquals(driver.getTitle(), "Dashboard", "Login failed!");</a:t>
            </a:r>
            <a:endParaRPr lang="en-US" sz="1000" dirty="0"/>
          </a:p>
          <a:p>
            <a:pPr marL="0" indent="0">
              <a:buNone/>
            </a:pPr>
            <a:r>
              <a:rPr lang="en-US" sz="1000" dirty="0">
                <a:solidFill>
                  <a:srgbClr val="FFFFFF"/>
                </a:solidFill>
                <a:latin typeface="Courier New" pitchFamily="34" charset="0"/>
                <a:ea typeface="Courier New" pitchFamily="34" charset="-122"/>
                <a:cs typeface="Courier New" pitchFamily="34" charset="-120"/>
              </a:rPr>
              <a:t>    }</a:t>
            </a:r>
            <a:endParaRPr lang="en-US" sz="1000" dirty="0"/>
          </a:p>
          <a:p>
            <a:pPr marL="0" indent="0">
              <a:buNone/>
            </a:pPr>
            <a:r>
              <a:rPr lang="en-US" sz="1000" dirty="0">
                <a:solidFill>
                  <a:srgbClr val="FFFFFF"/>
                </a:solidFill>
                <a:latin typeface="Courier New" pitchFamily="34" charset="0"/>
                <a:ea typeface="Courier New" pitchFamily="34" charset="-122"/>
                <a:cs typeface="Courier New" pitchFamily="34" charset="-120"/>
              </a:rPr>
              <a:t> </a:t>
            </a:r>
            <a:endParaRPr lang="en-US" sz="1000" dirty="0"/>
          </a:p>
          <a:p>
            <a:pPr marL="0" indent="0">
              <a:buNone/>
            </a:pPr>
            <a:r>
              <a:rPr lang="en-US" sz="1000" dirty="0">
                <a:solidFill>
                  <a:srgbClr val="6A737D"/>
                </a:solidFill>
                <a:latin typeface="Courier New" pitchFamily="34" charset="0"/>
                <a:ea typeface="Courier New" pitchFamily="34" charset="-122"/>
                <a:cs typeface="Courier New" pitchFamily="34" charset="-120"/>
              </a:rPr>
              <a:t>    @AfterMethod    // Runs AFTER each test — closes browser</a:t>
            </a:r>
            <a:endParaRPr lang="en-US" sz="1000" dirty="0"/>
          </a:p>
          <a:p>
            <a:pPr marL="0" indent="0">
              <a:buNone/>
            </a:pPr>
            <a:r>
              <a:rPr lang="en-US" sz="1000" dirty="0">
                <a:solidFill>
                  <a:srgbClr val="FFFFFF"/>
                </a:solidFill>
                <a:latin typeface="Courier New" pitchFamily="34" charset="0"/>
                <a:ea typeface="Courier New" pitchFamily="34" charset="-122"/>
                <a:cs typeface="Courier New" pitchFamily="34" charset="-120"/>
              </a:rPr>
              <a:t>    public void tearDown() { driver.quit(); }</a:t>
            </a:r>
            <a:endParaRPr lang="en-US" sz="1000" dirty="0"/>
          </a:p>
          <a:p>
            <a:pPr marL="0" indent="0">
              <a:buNone/>
            </a:pPr>
            <a:r>
              <a:rPr lang="en-US" sz="1000" dirty="0">
                <a:solidFill>
                  <a:srgbClr val="FFFFFF"/>
                </a:solidFill>
                <a:latin typeface="Courier New" pitchFamily="34" charset="0"/>
                <a:ea typeface="Courier New" pitchFamily="34" charset="-122"/>
                <a:cs typeface="Courier New" pitchFamily="34" charset="-120"/>
              </a:rPr>
              <a:t>}</a:t>
            </a:r>
            <a:endParaRPr lang="en-US" sz="1000" dirty="0"/>
          </a:p>
        </p:txBody>
      </p:sp>
      <p:sp>
        <p:nvSpPr>
          <p:cNvPr id="15" name="Text 13"/>
          <p:cNvSpPr/>
          <p:nvPr/>
        </p:nvSpPr>
        <p:spPr>
          <a:xfrm>
            <a:off x="182880" y="4855464"/>
            <a:ext cx="8778240" cy="201168"/>
          </a:xfrm>
          <a:prstGeom prst="rect">
            <a:avLst/>
          </a:prstGeom>
          <a:noFill/>
          <a:ln/>
        </p:spPr>
        <p:txBody>
          <a:bodyPr wrap="square" lIns="0" tIns="0" rIns="0" bIns="0" rtlCol="0" anchor="ctr"/>
          <a:lstStyle/>
          <a:p>
            <a:pPr marL="0" indent="0" algn="ctr">
              <a:buNone/>
            </a:pPr>
            <a:r>
              <a:rPr lang="en-US" sz="900" b="1" dirty="0">
                <a:solidFill>
                  <a:srgbClr val="0D0D0D"/>
                </a:solidFill>
                <a:latin typeface="Arial" pitchFamily="34" charset="0"/>
                <a:ea typeface="Arial" pitchFamily="34" charset="-122"/>
                <a:cs typeface="Arial" pitchFamily="34" charset="-120"/>
              </a:rPr>
              <a:t>INTERNAL TRAINING — Quality Engineering</a:t>
            </a:r>
            <a:endParaRPr lang="en-US" sz="9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5">
    <p:bg>
      <p:bgPr>
        <a:solidFill>
          <a:srgbClr val="0D1117"/>
        </a:solidFill>
        <a:effectLst/>
      </p:bgPr>
    </p:bg>
    <p:spTree>
      <p:nvGrpSpPr>
        <p:cNvPr id="1" name=""/>
        <p:cNvGrpSpPr/>
        <p:nvPr/>
      </p:nvGrpSpPr>
      <p:grpSpPr>
        <a:xfrm>
          <a:off x="0" y="0"/>
          <a:ext cx="0" cy="0"/>
          <a:chOff x="0" y="0"/>
          <a:chExt cx="0" cy="0"/>
        </a:xfrm>
      </p:grpSpPr>
      <p:sp>
        <p:nvSpPr>
          <p:cNvPr id="2" name="Shape 0"/>
          <p:cNvSpPr/>
          <p:nvPr/>
        </p:nvSpPr>
        <p:spPr>
          <a:xfrm>
            <a:off x="0" y="0"/>
            <a:ext cx="64008" cy="5143500"/>
          </a:xfrm>
          <a:prstGeom prst="rect">
            <a:avLst/>
          </a:prstGeom>
          <a:solidFill>
            <a:srgbClr val="FF6500"/>
          </a:solidFill>
          <a:ln w="12700">
            <a:solidFill>
              <a:srgbClr val="FF6500"/>
            </a:solidFill>
            <a:prstDash val="solid"/>
          </a:ln>
        </p:spPr>
      </p:sp>
      <p:sp>
        <p:nvSpPr>
          <p:cNvPr id="3" name="Shape 1"/>
          <p:cNvSpPr/>
          <p:nvPr/>
        </p:nvSpPr>
        <p:spPr>
          <a:xfrm>
            <a:off x="0" y="4828032"/>
            <a:ext cx="9144000" cy="315468"/>
          </a:xfrm>
          <a:prstGeom prst="rect">
            <a:avLst/>
          </a:prstGeom>
          <a:solidFill>
            <a:srgbClr val="FF6500"/>
          </a:solidFill>
          <a:ln w="12700">
            <a:solidFill>
              <a:srgbClr val="FF6500"/>
            </a:solidFill>
            <a:prstDash val="solid"/>
          </a:ln>
        </p:spPr>
      </p:sp>
      <p:sp>
        <p:nvSpPr>
          <p:cNvPr id="4" name="Shape 2"/>
          <p:cNvSpPr/>
          <p:nvPr/>
        </p:nvSpPr>
        <p:spPr>
          <a:xfrm>
            <a:off x="0" y="0"/>
            <a:ext cx="9144000" cy="640080"/>
          </a:xfrm>
          <a:prstGeom prst="rect">
            <a:avLst/>
          </a:prstGeom>
          <a:solidFill>
            <a:srgbClr val="161B22"/>
          </a:solidFill>
          <a:ln w="12700">
            <a:solidFill>
              <a:srgbClr val="161B22"/>
            </a:solidFill>
            <a:prstDash val="solid"/>
          </a:ln>
        </p:spPr>
      </p:sp>
      <p:sp>
        <p:nvSpPr>
          <p:cNvPr id="5" name="Shape 3"/>
          <p:cNvSpPr/>
          <p:nvPr/>
        </p:nvSpPr>
        <p:spPr>
          <a:xfrm>
            <a:off x="0" y="0"/>
            <a:ext cx="64008" cy="640080"/>
          </a:xfrm>
          <a:prstGeom prst="rect">
            <a:avLst/>
          </a:prstGeom>
          <a:solidFill>
            <a:srgbClr val="FF6500"/>
          </a:solidFill>
          <a:ln w="12700">
            <a:solidFill>
              <a:srgbClr val="FF6500"/>
            </a:solidFill>
            <a:prstDash val="solid"/>
          </a:ln>
        </p:spPr>
      </p:sp>
      <p:sp>
        <p:nvSpPr>
          <p:cNvPr id="6" name="Shape 4"/>
          <p:cNvSpPr/>
          <p:nvPr/>
        </p:nvSpPr>
        <p:spPr>
          <a:xfrm>
            <a:off x="201168" y="109728"/>
            <a:ext cx="1417320" cy="384048"/>
          </a:xfrm>
          <a:prstGeom prst="rect">
            <a:avLst/>
          </a:prstGeom>
          <a:solidFill>
            <a:srgbClr val="FF6500"/>
          </a:solidFill>
          <a:ln w="12700">
            <a:solidFill>
              <a:srgbClr val="FF6500"/>
            </a:solidFill>
            <a:prstDash val="solid"/>
          </a:ln>
        </p:spPr>
      </p:sp>
      <p:sp>
        <p:nvSpPr>
          <p:cNvPr id="7" name="Text 5"/>
          <p:cNvSpPr/>
          <p:nvPr/>
        </p:nvSpPr>
        <p:spPr>
          <a:xfrm>
            <a:off x="201168" y="109728"/>
            <a:ext cx="1417320" cy="384048"/>
          </a:xfrm>
          <a:prstGeom prst="rect">
            <a:avLst/>
          </a:prstGeom>
          <a:noFill/>
          <a:ln/>
        </p:spPr>
        <p:txBody>
          <a:bodyPr wrap="square" lIns="0" tIns="0" rIns="0" bIns="0" rtlCol="0" anchor="ctr"/>
          <a:lstStyle/>
          <a:p>
            <a:pPr marL="0" indent="0" algn="ctr">
              <a:buNone/>
            </a:pPr>
            <a:r>
              <a:rPr lang="en-US" sz="1200" b="1" dirty="0">
                <a:solidFill>
                  <a:srgbClr val="FFFFFF"/>
                </a:solidFill>
                <a:latin typeface="Arial" pitchFamily="34" charset="0"/>
                <a:ea typeface="Arial" pitchFamily="34" charset="-122"/>
                <a:cs typeface="Arial" pitchFamily="34" charset="-120"/>
              </a:rPr>
              <a:t>PLAYWRIGHT</a:t>
            </a:r>
            <a:endParaRPr lang="en-US" sz="1200" dirty="0"/>
          </a:p>
        </p:txBody>
      </p:sp>
      <p:sp>
        <p:nvSpPr>
          <p:cNvPr id="8" name="Shape 6"/>
          <p:cNvSpPr/>
          <p:nvPr/>
        </p:nvSpPr>
        <p:spPr>
          <a:xfrm>
            <a:off x="1691640" y="109728"/>
            <a:ext cx="2011680" cy="384048"/>
          </a:xfrm>
          <a:prstGeom prst="rect">
            <a:avLst/>
          </a:prstGeom>
          <a:solidFill>
            <a:srgbClr val="1A3A00"/>
          </a:solidFill>
          <a:ln w="12700">
            <a:solidFill>
              <a:srgbClr val="27AE60"/>
            </a:solidFill>
            <a:prstDash val="solid"/>
          </a:ln>
        </p:spPr>
      </p:sp>
      <p:sp>
        <p:nvSpPr>
          <p:cNvPr id="9" name="Text 7"/>
          <p:cNvSpPr/>
          <p:nvPr/>
        </p:nvSpPr>
        <p:spPr>
          <a:xfrm>
            <a:off x="1691640" y="109728"/>
            <a:ext cx="2011680" cy="384048"/>
          </a:xfrm>
          <a:prstGeom prst="rect">
            <a:avLst/>
          </a:prstGeom>
          <a:noFill/>
          <a:ln/>
        </p:spPr>
        <p:txBody>
          <a:bodyPr wrap="square" lIns="0" tIns="0" rIns="0" bIns="0" rtlCol="0" anchor="ctr"/>
          <a:lstStyle/>
          <a:p>
            <a:pPr marL="0" indent="0" algn="ctr">
              <a:buNone/>
            </a:pPr>
            <a:r>
              <a:rPr lang="en-US" sz="1100" b="1" dirty="0">
                <a:solidFill>
                  <a:srgbClr val="27AE60"/>
                </a:solidFill>
                <a:latin typeface="Calibri" pitchFamily="34" charset="0"/>
                <a:ea typeface="Calibri" pitchFamily="34" charset="-122"/>
                <a:cs typeface="Calibri" pitchFamily="34" charset="-120"/>
              </a:rPr>
              <a:t>JavaScript / TypeScript</a:t>
            </a:r>
            <a:endParaRPr lang="en-US" sz="1100" dirty="0"/>
          </a:p>
        </p:txBody>
      </p:sp>
      <p:sp>
        <p:nvSpPr>
          <p:cNvPr id="10" name="Shape 8"/>
          <p:cNvSpPr/>
          <p:nvPr/>
        </p:nvSpPr>
        <p:spPr>
          <a:xfrm>
            <a:off x="3840480" y="109728"/>
            <a:ext cx="1371600" cy="384048"/>
          </a:xfrm>
          <a:prstGeom prst="rect">
            <a:avLst/>
          </a:prstGeom>
          <a:solidFill>
            <a:srgbClr val="1A1A3A"/>
          </a:solidFill>
          <a:ln w="12700">
            <a:solidFill>
              <a:srgbClr val="6699FF"/>
            </a:solidFill>
            <a:prstDash val="solid"/>
          </a:ln>
        </p:spPr>
      </p:sp>
      <p:sp>
        <p:nvSpPr>
          <p:cNvPr id="11" name="Text 9"/>
          <p:cNvSpPr/>
          <p:nvPr/>
        </p:nvSpPr>
        <p:spPr>
          <a:xfrm>
            <a:off x="3840480" y="109728"/>
            <a:ext cx="1371600" cy="384048"/>
          </a:xfrm>
          <a:prstGeom prst="rect">
            <a:avLst/>
          </a:prstGeom>
          <a:noFill/>
          <a:ln/>
        </p:spPr>
        <p:txBody>
          <a:bodyPr wrap="square" lIns="0" tIns="0" rIns="0" bIns="0" rtlCol="0" anchor="ctr"/>
          <a:lstStyle/>
          <a:p>
            <a:pPr marL="0" indent="0" algn="ctr">
              <a:buNone/>
            </a:pPr>
            <a:r>
              <a:rPr lang="en-US" sz="1100" b="1" dirty="0">
                <a:solidFill>
                  <a:srgbClr val="6699FF"/>
                </a:solidFill>
                <a:latin typeface="Calibri" pitchFamily="34" charset="0"/>
                <a:ea typeface="Calibri" pitchFamily="34" charset="-122"/>
                <a:cs typeface="Calibri" pitchFamily="34" charset="-120"/>
              </a:rPr>
              <a:t>VS Code / IntelliJ</a:t>
            </a:r>
            <a:endParaRPr lang="en-US" sz="1100" dirty="0"/>
          </a:p>
        </p:txBody>
      </p:sp>
      <p:sp>
        <p:nvSpPr>
          <p:cNvPr id="12" name="Text 10"/>
          <p:cNvSpPr/>
          <p:nvPr/>
        </p:nvSpPr>
        <p:spPr>
          <a:xfrm>
            <a:off x="5349240" y="146304"/>
            <a:ext cx="3566160" cy="320040"/>
          </a:xfrm>
          <a:prstGeom prst="rect">
            <a:avLst/>
          </a:prstGeom>
          <a:noFill/>
          <a:ln/>
        </p:spPr>
        <p:txBody>
          <a:bodyPr wrap="square" lIns="0" tIns="0" rIns="0" bIns="0" rtlCol="0" anchor="ctr"/>
          <a:lstStyle/>
          <a:p>
            <a:pPr marL="0" indent="0">
              <a:buNone/>
            </a:pPr>
            <a:r>
              <a:rPr lang="en-US" sz="1200" b="1" dirty="0">
                <a:solidFill>
                  <a:srgbClr val="CCCCCC"/>
                </a:solidFill>
                <a:latin typeface="Arial" pitchFamily="34" charset="0"/>
                <a:ea typeface="Arial" pitchFamily="34" charset="-122"/>
                <a:cs typeface="Arial" pitchFamily="34" charset="-120"/>
              </a:rPr>
              <a:t>TC_LOGIN_001 + TC_LOGIN_002 — Valid &amp; Invalid Login</a:t>
            </a:r>
            <a:endParaRPr lang="en-US" sz="1200" dirty="0"/>
          </a:p>
        </p:txBody>
      </p:sp>
      <p:sp>
        <p:nvSpPr>
          <p:cNvPr id="13" name="Shape 11"/>
          <p:cNvSpPr/>
          <p:nvPr/>
        </p:nvSpPr>
        <p:spPr>
          <a:xfrm>
            <a:off x="201168" y="749808"/>
            <a:ext cx="8732520" cy="3931920"/>
          </a:xfrm>
          <a:prstGeom prst="rect">
            <a:avLst/>
          </a:prstGeom>
          <a:solidFill>
            <a:srgbClr val="161B22"/>
          </a:solidFill>
          <a:ln w="12700">
            <a:solidFill>
              <a:srgbClr val="30363D"/>
            </a:solidFill>
            <a:prstDash val="solid"/>
          </a:ln>
        </p:spPr>
      </p:sp>
      <p:sp>
        <p:nvSpPr>
          <p:cNvPr id="14" name="Text 12"/>
          <p:cNvSpPr/>
          <p:nvPr/>
        </p:nvSpPr>
        <p:spPr>
          <a:xfrm>
            <a:off x="384048" y="841248"/>
            <a:ext cx="8412480" cy="3749040"/>
          </a:xfrm>
          <a:prstGeom prst="rect">
            <a:avLst/>
          </a:prstGeom>
          <a:noFill/>
          <a:ln/>
        </p:spPr>
        <p:txBody>
          <a:bodyPr wrap="square" lIns="0" tIns="0" rIns="0" bIns="0" rtlCol="0" anchor="t"/>
          <a:lstStyle/>
          <a:p>
            <a:pPr marL="0" indent="0">
              <a:buNone/>
            </a:pPr>
            <a:r>
              <a:rPr lang="en-US" sz="950" dirty="0">
                <a:solidFill>
                  <a:srgbClr val="6A737D"/>
                </a:solidFill>
                <a:latin typeface="Courier New" pitchFamily="34" charset="0"/>
                <a:ea typeface="Courier New" pitchFamily="34" charset="-122"/>
                <a:cs typeface="Courier New" pitchFamily="34" charset="-120"/>
              </a:rPr>
              <a:t>// Playwright Test — TC_LOGIN_001 &amp; TC_LOGIN_002</a:t>
            </a:r>
            <a:endParaRPr lang="en-US" sz="950" dirty="0"/>
          </a:p>
          <a:p>
            <a:pPr marL="0" indent="0">
              <a:buNone/>
            </a:pPr>
            <a:r>
              <a:rPr lang="en-US" sz="950" dirty="0">
                <a:solidFill>
                  <a:srgbClr val="6A737D"/>
                </a:solidFill>
                <a:latin typeface="Courier New" pitchFamily="34" charset="0"/>
                <a:ea typeface="Courier New" pitchFamily="34" charset="-122"/>
                <a:cs typeface="Courier New" pitchFamily="34" charset="-120"/>
              </a:rPr>
              <a:t>// Framework: Playwright + TypeScript | IDE: VS Code</a:t>
            </a:r>
            <a:endParaRPr lang="en-US" sz="950" dirty="0"/>
          </a:p>
          <a:p>
            <a:pPr marL="0" indent="0">
              <a:buNone/>
            </a:pPr>
            <a:r>
              <a:rPr lang="en-US" sz="950" dirty="0">
                <a:solidFill>
                  <a:srgbClr val="FFFFFF"/>
                </a:solidFill>
                <a:latin typeface="Courier New" pitchFamily="34" charset="0"/>
                <a:ea typeface="Courier New" pitchFamily="34" charset="-122"/>
                <a:cs typeface="Courier New" pitchFamily="34" charset="-120"/>
              </a:rPr>
              <a:t> </a:t>
            </a:r>
            <a:endParaRPr lang="en-US" sz="950" dirty="0"/>
          </a:p>
          <a:p>
            <a:pPr marL="0" indent="0">
              <a:buNone/>
            </a:pPr>
            <a:r>
              <a:rPr lang="en-US" sz="950" dirty="0">
                <a:solidFill>
                  <a:srgbClr val="FF7B72"/>
                </a:solidFill>
                <a:latin typeface="Courier New" pitchFamily="34" charset="0"/>
                <a:ea typeface="Courier New" pitchFamily="34" charset="-122"/>
                <a:cs typeface="Courier New" pitchFamily="34" charset="-120"/>
              </a:rPr>
              <a:t>import { test, expect } from '@playwright/test';</a:t>
            </a:r>
            <a:endParaRPr lang="en-US" sz="950" dirty="0"/>
          </a:p>
          <a:p>
            <a:pPr marL="0" indent="0">
              <a:buNone/>
            </a:pPr>
            <a:r>
              <a:rPr lang="en-US" sz="950" dirty="0">
                <a:solidFill>
                  <a:srgbClr val="FFFFFF"/>
                </a:solidFill>
                <a:latin typeface="Courier New" pitchFamily="34" charset="0"/>
                <a:ea typeface="Courier New" pitchFamily="34" charset="-122"/>
                <a:cs typeface="Courier New" pitchFamily="34" charset="-120"/>
              </a:rPr>
              <a:t> </a:t>
            </a:r>
            <a:endParaRPr lang="en-US" sz="950" dirty="0"/>
          </a:p>
          <a:p>
            <a:pPr marL="0" indent="0">
              <a:buNone/>
            </a:pPr>
            <a:r>
              <a:rPr lang="en-US" sz="950" dirty="0">
                <a:solidFill>
                  <a:srgbClr val="A5D6FF"/>
                </a:solidFill>
                <a:latin typeface="Courier New" pitchFamily="34" charset="0"/>
                <a:ea typeface="Courier New" pitchFamily="34" charset="-122"/>
                <a:cs typeface="Courier New" pitchFamily="34" charset="-120"/>
              </a:rPr>
              <a:t>const BASE_URL = 'https://app.example.com/login';</a:t>
            </a:r>
            <a:endParaRPr lang="en-US" sz="950" dirty="0"/>
          </a:p>
          <a:p>
            <a:pPr marL="0" indent="0">
              <a:buNone/>
            </a:pPr>
            <a:r>
              <a:rPr lang="en-US" sz="950" dirty="0">
                <a:solidFill>
                  <a:srgbClr val="FFFFFF"/>
                </a:solidFill>
                <a:latin typeface="Courier New" pitchFamily="34" charset="0"/>
                <a:ea typeface="Courier New" pitchFamily="34" charset="-122"/>
                <a:cs typeface="Courier New" pitchFamily="34" charset="-120"/>
              </a:rPr>
              <a:t> </a:t>
            </a:r>
            <a:endParaRPr lang="en-US" sz="950" dirty="0"/>
          </a:p>
          <a:p>
            <a:pPr marL="0" indent="0">
              <a:buNone/>
            </a:pPr>
            <a:r>
              <a:rPr lang="en-US" sz="950" dirty="0">
                <a:solidFill>
                  <a:srgbClr val="FFFFFF"/>
                </a:solidFill>
                <a:latin typeface="Courier New" pitchFamily="34" charset="0"/>
                <a:ea typeface="Courier New" pitchFamily="34" charset="-122"/>
                <a:cs typeface="Courier New" pitchFamily="34" charset="-120"/>
              </a:rPr>
              <a:t>test.describe('Login Module — TC_LOGIN_001 &amp; TC_LOGIN_002', () =&gt; {</a:t>
            </a:r>
            <a:endParaRPr lang="en-US" sz="950" dirty="0"/>
          </a:p>
          <a:p>
            <a:pPr marL="0" indent="0">
              <a:buNone/>
            </a:pPr>
            <a:r>
              <a:rPr lang="en-US" sz="950" dirty="0">
                <a:solidFill>
                  <a:srgbClr val="FFFFFF"/>
                </a:solidFill>
                <a:latin typeface="Courier New" pitchFamily="34" charset="0"/>
                <a:ea typeface="Courier New" pitchFamily="34" charset="-122"/>
                <a:cs typeface="Courier New" pitchFamily="34" charset="-120"/>
              </a:rPr>
              <a:t> </a:t>
            </a:r>
            <a:endParaRPr lang="en-US" sz="950" dirty="0"/>
          </a:p>
          <a:p>
            <a:pPr marL="0" indent="0">
              <a:buNone/>
            </a:pPr>
            <a:r>
              <a:rPr lang="en-US" sz="950" dirty="0">
                <a:solidFill>
                  <a:srgbClr val="6A737D"/>
                </a:solidFill>
                <a:latin typeface="Courier New" pitchFamily="34" charset="0"/>
                <a:ea typeface="Courier New" pitchFamily="34" charset="-122"/>
                <a:cs typeface="Courier New" pitchFamily="34" charset="-120"/>
              </a:rPr>
              <a:t>  // TC_LOGIN_001: Positive — Valid Credentials</a:t>
            </a:r>
            <a:endParaRPr lang="en-US" sz="950" dirty="0"/>
          </a:p>
          <a:p>
            <a:pPr marL="0" indent="0">
              <a:buNone/>
            </a:pPr>
            <a:r>
              <a:rPr lang="en-US" sz="950" dirty="0">
                <a:solidFill>
                  <a:srgbClr val="FFFFFF"/>
                </a:solidFill>
                <a:latin typeface="Courier New" pitchFamily="34" charset="0"/>
                <a:ea typeface="Courier New" pitchFamily="34" charset="-122"/>
                <a:cs typeface="Courier New" pitchFamily="34" charset="-120"/>
              </a:rPr>
              <a:t>  test('should login successfully with valid credentials', async ({ page }) =&gt; {</a:t>
            </a:r>
            <a:endParaRPr lang="en-US" sz="950" dirty="0"/>
          </a:p>
          <a:p>
            <a:pPr marL="0" indent="0">
              <a:buNone/>
            </a:pPr>
            <a:r>
              <a:rPr lang="en-US" sz="950" dirty="0">
                <a:solidFill>
                  <a:srgbClr val="79C0FF"/>
                </a:solidFill>
                <a:latin typeface="Courier New" pitchFamily="34" charset="0"/>
                <a:ea typeface="Courier New" pitchFamily="34" charset="-122"/>
                <a:cs typeface="Courier New" pitchFamily="34" charset="-120"/>
              </a:rPr>
              <a:t>    await page.goto(BASE_URL);</a:t>
            </a:r>
            <a:endParaRPr lang="en-US" sz="950" dirty="0"/>
          </a:p>
          <a:p>
            <a:pPr marL="0" indent="0">
              <a:buNone/>
            </a:pPr>
            <a:r>
              <a:rPr lang="en-US" sz="950" dirty="0">
                <a:solidFill>
                  <a:srgbClr val="79C0FF"/>
                </a:solidFill>
                <a:latin typeface="Courier New" pitchFamily="34" charset="0"/>
                <a:ea typeface="Courier New" pitchFamily="34" charset="-122"/>
                <a:cs typeface="Courier New" pitchFamily="34" charset="-120"/>
              </a:rPr>
              <a:t>    await page.fill('#email', 'john@example.com');</a:t>
            </a:r>
            <a:endParaRPr lang="en-US" sz="950" dirty="0"/>
          </a:p>
          <a:p>
            <a:pPr marL="0" indent="0">
              <a:buNone/>
            </a:pPr>
            <a:r>
              <a:rPr lang="en-US" sz="950" dirty="0">
                <a:solidFill>
                  <a:srgbClr val="79C0FF"/>
                </a:solidFill>
                <a:latin typeface="Courier New" pitchFamily="34" charset="0"/>
                <a:ea typeface="Courier New" pitchFamily="34" charset="-122"/>
                <a:cs typeface="Courier New" pitchFamily="34" charset="-120"/>
              </a:rPr>
              <a:t>    await page.fill('#password', 'SecurePass@123');</a:t>
            </a:r>
            <a:endParaRPr lang="en-US" sz="950" dirty="0"/>
          </a:p>
          <a:p>
            <a:pPr marL="0" indent="0">
              <a:buNone/>
            </a:pPr>
            <a:r>
              <a:rPr lang="en-US" sz="950" dirty="0">
                <a:solidFill>
                  <a:srgbClr val="79C0FF"/>
                </a:solidFill>
                <a:latin typeface="Courier New" pitchFamily="34" charset="0"/>
                <a:ea typeface="Courier New" pitchFamily="34" charset="-122"/>
                <a:cs typeface="Courier New" pitchFamily="34" charset="-120"/>
              </a:rPr>
              <a:t>    await page.click('#loginBtn');</a:t>
            </a:r>
            <a:endParaRPr lang="en-US" sz="950" dirty="0"/>
          </a:p>
          <a:p>
            <a:pPr marL="0" indent="0">
              <a:buNone/>
            </a:pPr>
            <a:r>
              <a:rPr lang="en-US" sz="950" dirty="0">
                <a:solidFill>
                  <a:srgbClr val="3FB950"/>
                </a:solidFill>
                <a:latin typeface="Courier New" pitchFamily="34" charset="0"/>
                <a:ea typeface="Courier New" pitchFamily="34" charset="-122"/>
                <a:cs typeface="Courier New" pitchFamily="34" charset="-120"/>
              </a:rPr>
              <a:t>    await expect(page).toHaveTitle('Dashboard');</a:t>
            </a:r>
            <a:endParaRPr lang="en-US" sz="950" dirty="0"/>
          </a:p>
          <a:p>
            <a:pPr marL="0" indent="0">
              <a:buNone/>
            </a:pPr>
            <a:r>
              <a:rPr lang="en-US" sz="950" dirty="0">
                <a:solidFill>
                  <a:srgbClr val="3FB950"/>
                </a:solidFill>
                <a:latin typeface="Courier New" pitchFamily="34" charset="0"/>
                <a:ea typeface="Courier New" pitchFamily="34" charset="-122"/>
                <a:cs typeface="Courier New" pitchFamily="34" charset="-120"/>
              </a:rPr>
              <a:t>    await expect(page.locator('.welcome')).toContainText('Welcome, John!');</a:t>
            </a:r>
            <a:endParaRPr lang="en-US" sz="950" dirty="0"/>
          </a:p>
          <a:p>
            <a:pPr marL="0" indent="0">
              <a:buNone/>
            </a:pPr>
            <a:r>
              <a:rPr lang="en-US" sz="950" dirty="0">
                <a:solidFill>
                  <a:srgbClr val="FFFFFF"/>
                </a:solidFill>
                <a:latin typeface="Courier New" pitchFamily="34" charset="0"/>
                <a:ea typeface="Courier New" pitchFamily="34" charset="-122"/>
                <a:cs typeface="Courier New" pitchFamily="34" charset="-120"/>
              </a:rPr>
              <a:t>  });</a:t>
            </a:r>
            <a:endParaRPr lang="en-US" sz="950" dirty="0"/>
          </a:p>
          <a:p>
            <a:pPr marL="0" indent="0">
              <a:buNone/>
            </a:pPr>
            <a:r>
              <a:rPr lang="en-US" sz="950" dirty="0">
                <a:solidFill>
                  <a:srgbClr val="FFFFFF"/>
                </a:solidFill>
                <a:latin typeface="Courier New" pitchFamily="34" charset="0"/>
                <a:ea typeface="Courier New" pitchFamily="34" charset="-122"/>
                <a:cs typeface="Courier New" pitchFamily="34" charset="-120"/>
              </a:rPr>
              <a:t> </a:t>
            </a:r>
            <a:endParaRPr lang="en-US" sz="950" dirty="0"/>
          </a:p>
          <a:p>
            <a:pPr marL="0" indent="0">
              <a:buNone/>
            </a:pPr>
            <a:r>
              <a:rPr lang="en-US" sz="950" dirty="0">
                <a:solidFill>
                  <a:srgbClr val="6A737D"/>
                </a:solidFill>
                <a:latin typeface="Courier New" pitchFamily="34" charset="0"/>
                <a:ea typeface="Courier New" pitchFamily="34" charset="-122"/>
                <a:cs typeface="Courier New" pitchFamily="34" charset="-120"/>
              </a:rPr>
              <a:t>  // TC_LOGIN_002: Negative — Invalid Password</a:t>
            </a:r>
            <a:endParaRPr lang="en-US" sz="950" dirty="0"/>
          </a:p>
          <a:p>
            <a:pPr marL="0" indent="0">
              <a:buNone/>
            </a:pPr>
            <a:r>
              <a:rPr lang="en-US" sz="950" dirty="0">
                <a:solidFill>
                  <a:srgbClr val="FFFFFF"/>
                </a:solidFill>
                <a:latin typeface="Courier New" pitchFamily="34" charset="0"/>
                <a:ea typeface="Courier New" pitchFamily="34" charset="-122"/>
                <a:cs typeface="Courier New" pitchFamily="34" charset="-120"/>
              </a:rPr>
              <a:t>  test('should show error for invalid password', async ({ page }) =&gt; {</a:t>
            </a:r>
            <a:endParaRPr lang="en-US" sz="950" dirty="0"/>
          </a:p>
          <a:p>
            <a:pPr marL="0" indent="0">
              <a:buNone/>
            </a:pPr>
            <a:r>
              <a:rPr lang="en-US" sz="950" dirty="0">
                <a:solidFill>
                  <a:srgbClr val="79C0FF"/>
                </a:solidFill>
                <a:latin typeface="Courier New" pitchFamily="34" charset="0"/>
                <a:ea typeface="Courier New" pitchFamily="34" charset="-122"/>
                <a:cs typeface="Courier New" pitchFamily="34" charset="-120"/>
              </a:rPr>
              <a:t>    await page.goto(BASE_URL);</a:t>
            </a:r>
            <a:endParaRPr lang="en-US" sz="950" dirty="0"/>
          </a:p>
          <a:p>
            <a:pPr marL="0" indent="0">
              <a:buNone/>
            </a:pPr>
            <a:r>
              <a:rPr lang="en-US" sz="950" dirty="0">
                <a:solidFill>
                  <a:srgbClr val="79C0FF"/>
                </a:solidFill>
                <a:latin typeface="Courier New" pitchFamily="34" charset="0"/>
                <a:ea typeface="Courier New" pitchFamily="34" charset="-122"/>
                <a:cs typeface="Courier New" pitchFamily="34" charset="-120"/>
              </a:rPr>
              <a:t>    await page.fill('#email', 'john@example.com');</a:t>
            </a:r>
            <a:endParaRPr lang="en-US" sz="950" dirty="0"/>
          </a:p>
          <a:p>
            <a:pPr marL="0" indent="0">
              <a:buNone/>
            </a:pPr>
            <a:r>
              <a:rPr lang="en-US" sz="950" dirty="0">
                <a:solidFill>
                  <a:srgbClr val="79C0FF"/>
                </a:solidFill>
                <a:latin typeface="Courier New" pitchFamily="34" charset="0"/>
                <a:ea typeface="Courier New" pitchFamily="34" charset="-122"/>
                <a:cs typeface="Courier New" pitchFamily="34" charset="-120"/>
              </a:rPr>
              <a:t>    await page.fill('#password', 'WrongPass999');</a:t>
            </a:r>
            <a:endParaRPr lang="en-US" sz="950" dirty="0"/>
          </a:p>
          <a:p>
            <a:pPr marL="0" indent="0">
              <a:buNone/>
            </a:pPr>
            <a:r>
              <a:rPr lang="en-US" sz="950" dirty="0">
                <a:solidFill>
                  <a:srgbClr val="79C0FF"/>
                </a:solidFill>
                <a:latin typeface="Courier New" pitchFamily="34" charset="0"/>
                <a:ea typeface="Courier New" pitchFamily="34" charset="-122"/>
                <a:cs typeface="Courier New" pitchFamily="34" charset="-120"/>
              </a:rPr>
              <a:t>    await page.click('#loginBtn');</a:t>
            </a:r>
            <a:endParaRPr lang="en-US" sz="950" dirty="0"/>
          </a:p>
          <a:p>
            <a:pPr marL="0" indent="0">
              <a:buNone/>
            </a:pPr>
            <a:r>
              <a:rPr lang="en-US" sz="950" dirty="0">
                <a:solidFill>
                  <a:srgbClr val="3FB950"/>
                </a:solidFill>
                <a:latin typeface="Courier New" pitchFamily="34" charset="0"/>
                <a:ea typeface="Courier New" pitchFamily="34" charset="-122"/>
                <a:cs typeface="Courier New" pitchFamily="34" charset="-120"/>
              </a:rPr>
              <a:t>    await expect(page.locator('.error-msg')).toBeVisible();</a:t>
            </a:r>
            <a:endParaRPr lang="en-US" sz="950" dirty="0"/>
          </a:p>
          <a:p>
            <a:pPr marL="0" indent="0">
              <a:buNone/>
            </a:pPr>
            <a:r>
              <a:rPr lang="en-US" sz="950" dirty="0">
                <a:solidFill>
                  <a:srgbClr val="3FB950"/>
                </a:solidFill>
                <a:latin typeface="Courier New" pitchFamily="34" charset="0"/>
                <a:ea typeface="Courier New" pitchFamily="34" charset="-122"/>
                <a:cs typeface="Courier New" pitchFamily="34" charset="-120"/>
              </a:rPr>
              <a:t>    await expect(page.locator('.error-msg')).toHaveText('Invalid email or password');</a:t>
            </a:r>
            <a:endParaRPr lang="en-US" sz="950" dirty="0"/>
          </a:p>
          <a:p>
            <a:pPr marL="0" indent="0">
              <a:buNone/>
            </a:pPr>
            <a:r>
              <a:rPr lang="en-US" sz="950" dirty="0">
                <a:solidFill>
                  <a:srgbClr val="FFFFFF"/>
                </a:solidFill>
                <a:latin typeface="Courier New" pitchFamily="34" charset="0"/>
                <a:ea typeface="Courier New" pitchFamily="34" charset="-122"/>
                <a:cs typeface="Courier New" pitchFamily="34" charset="-120"/>
              </a:rPr>
              <a:t>  });</a:t>
            </a:r>
            <a:endParaRPr lang="en-US" sz="950" dirty="0"/>
          </a:p>
          <a:p>
            <a:pPr marL="0" indent="0">
              <a:buNone/>
            </a:pPr>
            <a:r>
              <a:rPr lang="en-US" sz="950" dirty="0">
                <a:solidFill>
                  <a:srgbClr val="FFFFFF"/>
                </a:solidFill>
                <a:latin typeface="Courier New" pitchFamily="34" charset="0"/>
                <a:ea typeface="Courier New" pitchFamily="34" charset="-122"/>
                <a:cs typeface="Courier New" pitchFamily="34" charset="-120"/>
              </a:rPr>
              <a:t>});</a:t>
            </a:r>
            <a:endParaRPr lang="en-US" sz="950" dirty="0"/>
          </a:p>
        </p:txBody>
      </p:sp>
      <p:sp>
        <p:nvSpPr>
          <p:cNvPr id="15" name="Text 13"/>
          <p:cNvSpPr/>
          <p:nvPr/>
        </p:nvSpPr>
        <p:spPr>
          <a:xfrm>
            <a:off x="182880" y="4855464"/>
            <a:ext cx="8778240" cy="201168"/>
          </a:xfrm>
          <a:prstGeom prst="rect">
            <a:avLst/>
          </a:prstGeom>
          <a:noFill/>
          <a:ln/>
        </p:spPr>
        <p:txBody>
          <a:bodyPr wrap="square" lIns="0" tIns="0" rIns="0" bIns="0" rtlCol="0" anchor="ctr"/>
          <a:lstStyle/>
          <a:p>
            <a:pPr marL="0" indent="0" algn="ctr">
              <a:buNone/>
            </a:pPr>
            <a:r>
              <a:rPr lang="en-US" sz="900" b="1" dirty="0">
                <a:solidFill>
                  <a:srgbClr val="0D0D0D"/>
                </a:solidFill>
                <a:latin typeface="Arial" pitchFamily="34" charset="0"/>
                <a:ea typeface="Arial" pitchFamily="34" charset="-122"/>
                <a:cs typeface="Arial" pitchFamily="34" charset="-120"/>
              </a:rPr>
              <a:t>INTERNAL TRAINING — Quality Engineering</a:t>
            </a:r>
            <a:endParaRPr lang="en-US" sz="9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6">
    <p:bg>
      <p:bgPr>
        <a:solidFill>
          <a:srgbClr val="F5F5F5"/>
        </a:solidFill>
        <a:effectLst/>
      </p:bgPr>
    </p:bg>
    <p:spTree>
      <p:nvGrpSpPr>
        <p:cNvPr id="1" name=""/>
        <p:cNvGrpSpPr/>
        <p:nvPr/>
      </p:nvGrpSpPr>
      <p:grpSpPr>
        <a:xfrm>
          <a:off x="0" y="0"/>
          <a:ext cx="0" cy="0"/>
          <a:chOff x="0" y="0"/>
          <a:chExt cx="0" cy="0"/>
        </a:xfrm>
      </p:grpSpPr>
      <p:sp>
        <p:nvSpPr>
          <p:cNvPr id="2" name="Shape 0"/>
          <p:cNvSpPr/>
          <p:nvPr/>
        </p:nvSpPr>
        <p:spPr>
          <a:xfrm>
            <a:off x="0" y="0"/>
            <a:ext cx="9144000" cy="621792"/>
          </a:xfrm>
          <a:prstGeom prst="rect">
            <a:avLst/>
          </a:prstGeom>
          <a:solidFill>
            <a:srgbClr val="0D0D0D"/>
          </a:solidFill>
          <a:ln w="12700">
            <a:solidFill>
              <a:srgbClr val="0D0D0D"/>
            </a:solidFill>
            <a:prstDash val="solid"/>
          </a:ln>
        </p:spPr>
      </p:sp>
      <p:sp>
        <p:nvSpPr>
          <p:cNvPr id="3" name="Shape 1"/>
          <p:cNvSpPr/>
          <p:nvPr/>
        </p:nvSpPr>
        <p:spPr>
          <a:xfrm>
            <a:off x="0" y="0"/>
            <a:ext cx="64008" cy="621792"/>
          </a:xfrm>
          <a:prstGeom prst="rect">
            <a:avLst/>
          </a:prstGeom>
          <a:solidFill>
            <a:srgbClr val="FF6500"/>
          </a:solidFill>
          <a:ln w="12700">
            <a:solidFill>
              <a:srgbClr val="FF6500"/>
            </a:solidFill>
            <a:prstDash val="solid"/>
          </a:ln>
        </p:spPr>
      </p:sp>
      <p:sp>
        <p:nvSpPr>
          <p:cNvPr id="4" name="Text 2"/>
          <p:cNvSpPr/>
          <p:nvPr/>
        </p:nvSpPr>
        <p:spPr>
          <a:xfrm>
            <a:off x="201168" y="64008"/>
            <a:ext cx="8503920" cy="493776"/>
          </a:xfrm>
          <a:prstGeom prst="rect">
            <a:avLst/>
          </a:prstGeom>
          <a:noFill/>
          <a:ln/>
        </p:spPr>
        <p:txBody>
          <a:bodyPr wrap="square" lIns="0" tIns="0" rIns="0" bIns="0" rtlCol="0" anchor="ctr"/>
          <a:lstStyle/>
          <a:p>
            <a:pPr marL="0" indent="0">
              <a:buNone/>
            </a:pPr>
            <a:r>
              <a:rPr lang="en-US" sz="1900" b="1" dirty="0">
                <a:solidFill>
                  <a:srgbClr val="FFFFFF"/>
                </a:solidFill>
                <a:latin typeface="Arial" pitchFamily="34" charset="0"/>
                <a:ea typeface="Arial" pitchFamily="34" charset="-122"/>
                <a:cs typeface="Arial" pitchFamily="34" charset="-120"/>
              </a:rPr>
              <a:t>Test Case Review &amp; Optimization — Quality Control Process</a:t>
            </a:r>
            <a:endParaRPr lang="en-US" sz="1900" dirty="0"/>
          </a:p>
        </p:txBody>
      </p:sp>
      <p:sp>
        <p:nvSpPr>
          <p:cNvPr id="5" name="Shape 3"/>
          <p:cNvSpPr/>
          <p:nvPr/>
        </p:nvSpPr>
        <p:spPr>
          <a:xfrm>
            <a:off x="0" y="4828032"/>
            <a:ext cx="9144000" cy="315468"/>
          </a:xfrm>
          <a:prstGeom prst="rect">
            <a:avLst/>
          </a:prstGeom>
          <a:solidFill>
            <a:srgbClr val="0D0D0D"/>
          </a:solidFill>
          <a:ln w="12700">
            <a:solidFill>
              <a:srgbClr val="0D0D0D"/>
            </a:solidFill>
            <a:prstDash val="solid"/>
          </a:ln>
        </p:spPr>
      </p:sp>
      <p:sp>
        <p:nvSpPr>
          <p:cNvPr id="6" name="Text 4"/>
          <p:cNvSpPr/>
          <p:nvPr/>
        </p:nvSpPr>
        <p:spPr>
          <a:xfrm>
            <a:off x="182880" y="4855464"/>
            <a:ext cx="7315200" cy="228600"/>
          </a:xfrm>
          <a:prstGeom prst="rect">
            <a:avLst/>
          </a:prstGeom>
          <a:noFill/>
          <a:ln/>
        </p:spPr>
        <p:txBody>
          <a:bodyPr wrap="square" lIns="0" tIns="0" rIns="0" bIns="0" rtlCol="0" anchor="ctr"/>
          <a:lstStyle/>
          <a:p>
            <a:pPr marL="0" indent="0">
              <a:buNone/>
            </a:pPr>
            <a:r>
              <a:rPr lang="en-US" sz="850" dirty="0">
                <a:solidFill>
                  <a:srgbClr val="999999"/>
                </a:solidFill>
                <a:latin typeface="Calibri" pitchFamily="34" charset="0"/>
                <a:ea typeface="Calibri" pitchFamily="34" charset="-122"/>
                <a:cs typeface="Calibri" pitchFamily="34" charset="-120"/>
              </a:rPr>
              <a:t>Quality Engineering | Test Case Development in STLC</a:t>
            </a:r>
            <a:endParaRPr lang="en-US" sz="850" dirty="0"/>
          </a:p>
        </p:txBody>
      </p:sp>
      <p:sp>
        <p:nvSpPr>
          <p:cNvPr id="7" name="Text 5"/>
          <p:cNvSpPr/>
          <p:nvPr/>
        </p:nvSpPr>
        <p:spPr>
          <a:xfrm>
            <a:off x="7406640" y="4855464"/>
            <a:ext cx="1554480" cy="228600"/>
          </a:xfrm>
          <a:prstGeom prst="rect">
            <a:avLst/>
          </a:prstGeom>
          <a:noFill/>
          <a:ln/>
        </p:spPr>
        <p:txBody>
          <a:bodyPr wrap="square" lIns="0" tIns="0" rIns="0" bIns="0" rtlCol="0" anchor="ctr"/>
          <a:lstStyle/>
          <a:p>
            <a:pPr marL="0" indent="0" algn="r">
              <a:buNone/>
            </a:pPr>
            <a:r>
              <a:rPr lang="en-US" sz="850" b="1" dirty="0">
                <a:solidFill>
                  <a:srgbClr val="FF6500"/>
                </a:solidFill>
                <a:latin typeface="Calibri" pitchFamily="34" charset="0"/>
                <a:ea typeface="Calibri" pitchFamily="34" charset="-122"/>
                <a:cs typeface="Calibri" pitchFamily="34" charset="-120"/>
              </a:rPr>
              <a:t>INTERNAL TRAINING</a:t>
            </a:r>
            <a:endParaRPr lang="en-US" sz="850" dirty="0"/>
          </a:p>
        </p:txBody>
      </p:sp>
      <p:sp>
        <p:nvSpPr>
          <p:cNvPr id="8" name="Text 6"/>
          <p:cNvSpPr/>
          <p:nvPr/>
        </p:nvSpPr>
        <p:spPr>
          <a:xfrm>
            <a:off x="228600" y="758952"/>
            <a:ext cx="8732520" cy="502920"/>
          </a:xfrm>
          <a:prstGeom prst="rect">
            <a:avLst/>
          </a:prstGeom>
          <a:noFill/>
          <a:ln/>
        </p:spPr>
        <p:txBody>
          <a:bodyPr wrap="square" lIns="0" tIns="0" rIns="0" bIns="0" rtlCol="0" anchor="ctr"/>
          <a:lstStyle/>
          <a:p>
            <a:pPr marL="0" indent="0">
              <a:buNone/>
            </a:pPr>
            <a:r>
              <a:rPr lang="en-US" sz="1150" dirty="0">
                <a:solidFill>
                  <a:srgbClr val="2C2C2C"/>
                </a:solidFill>
                <a:latin typeface="Calibri" pitchFamily="34" charset="0"/>
                <a:ea typeface="Calibri" pitchFamily="34" charset="-122"/>
                <a:cs typeface="Calibri" pitchFamily="34" charset="-120"/>
              </a:rPr>
              <a:t>Test case documents are NOT final upon first draft. A structured review process must be followed before any test case is approved for execution.</a:t>
            </a:r>
            <a:endParaRPr lang="en-US" sz="1150" dirty="0"/>
          </a:p>
        </p:txBody>
      </p:sp>
      <p:sp>
        <p:nvSpPr>
          <p:cNvPr id="9" name="Shape 7"/>
          <p:cNvSpPr/>
          <p:nvPr/>
        </p:nvSpPr>
        <p:spPr>
          <a:xfrm>
            <a:off x="228600" y="1325880"/>
            <a:ext cx="2057400" cy="3364992"/>
          </a:xfrm>
          <a:prstGeom prst="rect">
            <a:avLst/>
          </a:prstGeom>
          <a:solidFill>
            <a:srgbClr val="FFFFFF"/>
          </a:solidFill>
          <a:ln w="12700">
            <a:solidFill>
              <a:srgbClr val="DEDEDE"/>
            </a:solidFill>
            <a:prstDash val="solid"/>
          </a:ln>
          <a:effectLst>
            <a:outerShdw blurRad="76200" dist="25400" dir="8100000" algn="bl" rotWithShape="0">
              <a:srgbClr val="000000">
                <a:alpha val="13000"/>
              </a:srgbClr>
            </a:outerShdw>
          </a:effectLst>
        </p:spPr>
      </p:sp>
      <p:sp>
        <p:nvSpPr>
          <p:cNvPr id="10" name="Shape 8"/>
          <p:cNvSpPr/>
          <p:nvPr/>
        </p:nvSpPr>
        <p:spPr>
          <a:xfrm>
            <a:off x="228600" y="1325880"/>
            <a:ext cx="2057400" cy="475488"/>
          </a:xfrm>
          <a:prstGeom prst="rect">
            <a:avLst/>
          </a:prstGeom>
          <a:solidFill>
            <a:srgbClr val="0D0D0D"/>
          </a:solidFill>
          <a:ln w="12700">
            <a:solidFill>
              <a:srgbClr val="0D0D0D"/>
            </a:solidFill>
            <a:prstDash val="solid"/>
          </a:ln>
        </p:spPr>
      </p:sp>
      <p:sp>
        <p:nvSpPr>
          <p:cNvPr id="11" name="Text 9"/>
          <p:cNvSpPr/>
          <p:nvPr/>
        </p:nvSpPr>
        <p:spPr>
          <a:xfrm>
            <a:off x="228600" y="1325880"/>
            <a:ext cx="411480" cy="475488"/>
          </a:xfrm>
          <a:prstGeom prst="rect">
            <a:avLst/>
          </a:prstGeom>
          <a:noFill/>
          <a:ln/>
        </p:spPr>
        <p:txBody>
          <a:bodyPr wrap="square" lIns="0" tIns="0" rIns="0" bIns="0" rtlCol="0" anchor="ctr"/>
          <a:lstStyle/>
          <a:p>
            <a:pPr marL="0" indent="0" algn="ctr">
              <a:buNone/>
            </a:pPr>
            <a:r>
              <a:rPr lang="en-US" sz="1400" b="1" dirty="0">
                <a:solidFill>
                  <a:srgbClr val="FF6500"/>
                </a:solidFill>
                <a:latin typeface="Arial Black" pitchFamily="34" charset="0"/>
                <a:ea typeface="Arial Black" pitchFamily="34" charset="-122"/>
                <a:cs typeface="Arial Black" pitchFamily="34" charset="-120"/>
              </a:rPr>
              <a:t>01</a:t>
            </a:r>
            <a:endParaRPr lang="en-US" sz="1400" dirty="0"/>
          </a:p>
        </p:txBody>
      </p:sp>
      <p:sp>
        <p:nvSpPr>
          <p:cNvPr id="12" name="Text 10"/>
          <p:cNvSpPr/>
          <p:nvPr/>
        </p:nvSpPr>
        <p:spPr>
          <a:xfrm>
            <a:off x="685800" y="1362456"/>
            <a:ext cx="1536192" cy="402336"/>
          </a:xfrm>
          <a:prstGeom prst="rect">
            <a:avLst/>
          </a:prstGeom>
          <a:noFill/>
          <a:ln/>
        </p:spPr>
        <p:txBody>
          <a:bodyPr wrap="square" lIns="0" tIns="0" rIns="0" bIns="0" rtlCol="0" anchor="ctr"/>
          <a:lstStyle/>
          <a:p>
            <a:pPr marL="0" indent="0">
              <a:buNone/>
            </a:pPr>
            <a:r>
              <a:rPr lang="en-US" sz="1050" b="1" dirty="0">
                <a:solidFill>
                  <a:srgbClr val="FFFFFF"/>
                </a:solidFill>
                <a:latin typeface="Arial" pitchFamily="34" charset="0"/>
                <a:ea typeface="Arial" pitchFamily="34" charset="-122"/>
                <a:cs typeface="Arial" pitchFamily="34" charset="-120"/>
              </a:rPr>
              <a:t>Self-Review (Author)</a:t>
            </a:r>
            <a:endParaRPr lang="en-US" sz="1050" dirty="0"/>
          </a:p>
        </p:txBody>
      </p:sp>
      <p:sp>
        <p:nvSpPr>
          <p:cNvPr id="13" name="Text 11"/>
          <p:cNvSpPr/>
          <p:nvPr/>
        </p:nvSpPr>
        <p:spPr>
          <a:xfrm>
            <a:off x="320040" y="1856232"/>
            <a:ext cx="1874520" cy="2743200"/>
          </a:xfrm>
          <a:prstGeom prst="rect">
            <a:avLst/>
          </a:prstGeom>
          <a:noFill/>
          <a:ln/>
        </p:spPr>
        <p:txBody>
          <a:bodyPr wrap="square" lIns="0" tIns="0" rIns="0" bIns="0" rtlCol="0" anchor="t"/>
          <a:lstStyle/>
          <a:p>
            <a:pPr marL="342900" indent="-342900">
              <a:spcAft>
                <a:spcPts val="500"/>
              </a:spcAft>
              <a:buSzPct val="100000"/>
              <a:buChar char="•"/>
            </a:pPr>
            <a:r>
              <a:rPr lang="en-US" sz="1000" dirty="0">
                <a:solidFill>
                  <a:srgbClr val="2C2C2C"/>
                </a:solidFill>
                <a:latin typeface="Calibri" pitchFamily="34" charset="0"/>
                <a:ea typeface="Calibri" pitchFamily="34" charset="-122"/>
                <a:cs typeface="Calibri" pitchFamily="34" charset="-120"/>
              </a:rPr>
              <a:t>Re-read every step — would a new tester understand this?</a:t>
            </a:r>
            <a:endParaRPr lang="en-US" sz="1000" dirty="0"/>
          </a:p>
          <a:p>
            <a:pPr marL="342900" indent="-342900">
              <a:spcAft>
                <a:spcPts val="500"/>
              </a:spcAft>
              <a:buSzPct val="100000"/>
              <a:buChar char="•"/>
            </a:pPr>
            <a:r>
              <a:rPr lang="en-US" sz="1000" dirty="0">
                <a:solidFill>
                  <a:srgbClr val="5A5A5A"/>
                </a:solidFill>
                <a:latin typeface="Calibri" pitchFamily="34" charset="0"/>
                <a:ea typeface="Calibri" pitchFamily="34" charset="-122"/>
                <a:cs typeface="Calibri" pitchFamily="34" charset="-120"/>
              </a:rPr>
              <a:t>Verify all 11 fields are completed</a:t>
            </a:r>
            <a:endParaRPr lang="en-US" sz="1000" dirty="0"/>
          </a:p>
          <a:p>
            <a:pPr marL="342900" indent="-342900">
              <a:spcAft>
                <a:spcPts val="500"/>
              </a:spcAft>
              <a:buSzPct val="100000"/>
              <a:buChar char="•"/>
            </a:pPr>
            <a:r>
              <a:rPr lang="en-US" sz="1000" dirty="0">
                <a:solidFill>
                  <a:srgbClr val="2C2C2C"/>
                </a:solidFill>
                <a:latin typeface="Calibri" pitchFamily="34" charset="0"/>
                <a:ea typeface="Calibri" pitchFamily="34" charset="-122"/>
                <a:cs typeface="Calibri" pitchFamily="34" charset="-120"/>
              </a:rPr>
              <a:t>Check test data is realistic and varied</a:t>
            </a:r>
            <a:endParaRPr lang="en-US" sz="1000" dirty="0"/>
          </a:p>
          <a:p>
            <a:pPr marL="342900" indent="-342900">
              <a:spcAft>
                <a:spcPts val="500"/>
              </a:spcAft>
              <a:buSzPct val="100000"/>
              <a:buChar char="•"/>
            </a:pPr>
            <a:r>
              <a:rPr lang="en-US" sz="1000" dirty="0">
                <a:solidFill>
                  <a:srgbClr val="5A5A5A"/>
                </a:solidFill>
                <a:latin typeface="Calibri" pitchFamily="34" charset="0"/>
                <a:ea typeface="Calibri" pitchFamily="34" charset="-122"/>
                <a:cs typeface="Calibri" pitchFamily="34" charset="-120"/>
              </a:rPr>
              <a:t>Confirm expected result is specific, not vague</a:t>
            </a:r>
            <a:endParaRPr lang="en-US" sz="1000" dirty="0"/>
          </a:p>
          <a:p>
            <a:pPr marL="342900" indent="-342900">
              <a:spcAft>
                <a:spcPts val="500"/>
              </a:spcAft>
              <a:buSzPct val="100000"/>
              <a:buChar char="•"/>
            </a:pPr>
            <a:r>
              <a:rPr lang="en-US" sz="1000" dirty="0">
                <a:solidFill>
                  <a:srgbClr val="2C2C2C"/>
                </a:solidFill>
                <a:latin typeface="Calibri" pitchFamily="34" charset="0"/>
                <a:ea typeface="Calibri" pitchFamily="34" charset="-122"/>
                <a:cs typeface="Calibri" pitchFamily="34" charset="-120"/>
              </a:rPr>
              <a:t>Ensure TC is traceable to a requirement</a:t>
            </a:r>
            <a:endParaRPr lang="en-US" sz="1000" dirty="0"/>
          </a:p>
        </p:txBody>
      </p:sp>
      <p:sp>
        <p:nvSpPr>
          <p:cNvPr id="14" name="Shape 12"/>
          <p:cNvSpPr/>
          <p:nvPr/>
        </p:nvSpPr>
        <p:spPr>
          <a:xfrm>
            <a:off x="2423160" y="1325880"/>
            <a:ext cx="2057400" cy="3364992"/>
          </a:xfrm>
          <a:prstGeom prst="rect">
            <a:avLst/>
          </a:prstGeom>
          <a:solidFill>
            <a:srgbClr val="FFFFFF"/>
          </a:solidFill>
          <a:ln w="12700">
            <a:solidFill>
              <a:srgbClr val="DEDEDE"/>
            </a:solidFill>
            <a:prstDash val="solid"/>
          </a:ln>
          <a:effectLst>
            <a:outerShdw blurRad="76200" dist="25400" dir="8100000" algn="bl" rotWithShape="0">
              <a:srgbClr val="000000">
                <a:alpha val="13000"/>
              </a:srgbClr>
            </a:outerShdw>
          </a:effectLst>
        </p:spPr>
      </p:sp>
      <p:sp>
        <p:nvSpPr>
          <p:cNvPr id="15" name="Shape 13"/>
          <p:cNvSpPr/>
          <p:nvPr/>
        </p:nvSpPr>
        <p:spPr>
          <a:xfrm>
            <a:off x="2423160" y="1325880"/>
            <a:ext cx="2057400" cy="475488"/>
          </a:xfrm>
          <a:prstGeom prst="rect">
            <a:avLst/>
          </a:prstGeom>
          <a:solidFill>
            <a:srgbClr val="0D0D0D"/>
          </a:solidFill>
          <a:ln w="12700">
            <a:solidFill>
              <a:srgbClr val="0D0D0D"/>
            </a:solidFill>
            <a:prstDash val="solid"/>
          </a:ln>
        </p:spPr>
      </p:sp>
      <p:sp>
        <p:nvSpPr>
          <p:cNvPr id="16" name="Text 14"/>
          <p:cNvSpPr/>
          <p:nvPr/>
        </p:nvSpPr>
        <p:spPr>
          <a:xfrm>
            <a:off x="2423160" y="1325880"/>
            <a:ext cx="411480" cy="475488"/>
          </a:xfrm>
          <a:prstGeom prst="rect">
            <a:avLst/>
          </a:prstGeom>
          <a:noFill/>
          <a:ln/>
        </p:spPr>
        <p:txBody>
          <a:bodyPr wrap="square" lIns="0" tIns="0" rIns="0" bIns="0" rtlCol="0" anchor="ctr"/>
          <a:lstStyle/>
          <a:p>
            <a:pPr marL="0" indent="0" algn="ctr">
              <a:buNone/>
            </a:pPr>
            <a:r>
              <a:rPr lang="en-US" sz="1400" b="1" dirty="0">
                <a:solidFill>
                  <a:srgbClr val="FF6500"/>
                </a:solidFill>
                <a:latin typeface="Arial Black" pitchFamily="34" charset="0"/>
                <a:ea typeface="Arial Black" pitchFamily="34" charset="-122"/>
                <a:cs typeface="Arial Black" pitchFamily="34" charset="-120"/>
              </a:rPr>
              <a:t>02</a:t>
            </a:r>
            <a:endParaRPr lang="en-US" sz="1400" dirty="0"/>
          </a:p>
        </p:txBody>
      </p:sp>
      <p:sp>
        <p:nvSpPr>
          <p:cNvPr id="17" name="Text 15"/>
          <p:cNvSpPr/>
          <p:nvPr/>
        </p:nvSpPr>
        <p:spPr>
          <a:xfrm>
            <a:off x="2880360" y="1362456"/>
            <a:ext cx="1536192" cy="402336"/>
          </a:xfrm>
          <a:prstGeom prst="rect">
            <a:avLst/>
          </a:prstGeom>
          <a:noFill/>
          <a:ln/>
        </p:spPr>
        <p:txBody>
          <a:bodyPr wrap="square" lIns="0" tIns="0" rIns="0" bIns="0" rtlCol="0" anchor="ctr"/>
          <a:lstStyle/>
          <a:p>
            <a:pPr marL="0" indent="0">
              <a:buNone/>
            </a:pPr>
            <a:r>
              <a:rPr lang="en-US" sz="1050" b="1" dirty="0">
                <a:solidFill>
                  <a:srgbClr val="FFFFFF"/>
                </a:solidFill>
                <a:latin typeface="Arial" pitchFamily="34" charset="0"/>
                <a:ea typeface="Arial" pitchFamily="34" charset="-122"/>
                <a:cs typeface="Arial" pitchFamily="34" charset="-120"/>
              </a:rPr>
              <a:t>Peer Review (Fellow QA)</a:t>
            </a:r>
            <a:endParaRPr lang="en-US" sz="1050" dirty="0"/>
          </a:p>
        </p:txBody>
      </p:sp>
      <p:sp>
        <p:nvSpPr>
          <p:cNvPr id="18" name="Text 16"/>
          <p:cNvSpPr/>
          <p:nvPr/>
        </p:nvSpPr>
        <p:spPr>
          <a:xfrm>
            <a:off x="2514600" y="1856232"/>
            <a:ext cx="1874520" cy="2743200"/>
          </a:xfrm>
          <a:prstGeom prst="rect">
            <a:avLst/>
          </a:prstGeom>
          <a:noFill/>
          <a:ln/>
        </p:spPr>
        <p:txBody>
          <a:bodyPr wrap="square" lIns="0" tIns="0" rIns="0" bIns="0" rtlCol="0" anchor="t"/>
          <a:lstStyle/>
          <a:p>
            <a:pPr marL="342900" indent="-342900">
              <a:spcAft>
                <a:spcPts val="500"/>
              </a:spcAft>
              <a:buSzPct val="100000"/>
              <a:buChar char="•"/>
            </a:pPr>
            <a:r>
              <a:rPr lang="en-US" sz="1000" dirty="0">
                <a:solidFill>
                  <a:srgbClr val="2C2C2C"/>
                </a:solidFill>
                <a:latin typeface="Calibri" pitchFamily="34" charset="0"/>
                <a:ea typeface="Calibri" pitchFamily="34" charset="-122"/>
                <a:cs typeface="Calibri" pitchFamily="34" charset="-120"/>
              </a:rPr>
              <a:t>Independent QA reads and attempts to execute mentally</a:t>
            </a:r>
            <a:endParaRPr lang="en-US" sz="1000" dirty="0"/>
          </a:p>
          <a:p>
            <a:pPr marL="342900" indent="-342900">
              <a:spcAft>
                <a:spcPts val="500"/>
              </a:spcAft>
              <a:buSzPct val="100000"/>
              <a:buChar char="•"/>
            </a:pPr>
            <a:r>
              <a:rPr lang="en-US" sz="1000" dirty="0">
                <a:solidFill>
                  <a:srgbClr val="5A5A5A"/>
                </a:solidFill>
                <a:latin typeface="Calibri" pitchFamily="34" charset="0"/>
                <a:ea typeface="Calibri" pitchFamily="34" charset="-122"/>
                <a:cs typeface="Calibri" pitchFamily="34" charset="-120"/>
              </a:rPr>
              <a:t>Identifies ambiguous steps or missing preconditions</a:t>
            </a:r>
            <a:endParaRPr lang="en-US" sz="1000" dirty="0"/>
          </a:p>
          <a:p>
            <a:pPr marL="342900" indent="-342900">
              <a:spcAft>
                <a:spcPts val="500"/>
              </a:spcAft>
              <a:buSzPct val="100000"/>
              <a:buChar char="•"/>
            </a:pPr>
            <a:r>
              <a:rPr lang="en-US" sz="1000" dirty="0">
                <a:solidFill>
                  <a:srgbClr val="2C2C2C"/>
                </a:solidFill>
                <a:latin typeface="Calibri" pitchFamily="34" charset="0"/>
                <a:ea typeface="Calibri" pitchFamily="34" charset="-122"/>
                <a:cs typeface="Calibri" pitchFamily="34" charset="-120"/>
              </a:rPr>
              <a:t>Flags duplicate test cases</a:t>
            </a:r>
            <a:endParaRPr lang="en-US" sz="1000" dirty="0"/>
          </a:p>
          <a:p>
            <a:pPr marL="342900" indent="-342900">
              <a:spcAft>
                <a:spcPts val="500"/>
              </a:spcAft>
              <a:buSzPct val="100000"/>
              <a:buChar char="•"/>
            </a:pPr>
            <a:r>
              <a:rPr lang="en-US" sz="1000" dirty="0">
                <a:solidFill>
                  <a:srgbClr val="5A5A5A"/>
                </a:solidFill>
                <a:latin typeface="Calibri" pitchFamily="34" charset="0"/>
                <a:ea typeface="Calibri" pitchFamily="34" charset="-122"/>
                <a:cs typeface="Calibri" pitchFamily="34" charset="-120"/>
              </a:rPr>
              <a:t>Suggests missing edge cases and negative scenarios</a:t>
            </a:r>
            <a:endParaRPr lang="en-US" sz="1000" dirty="0"/>
          </a:p>
          <a:p>
            <a:pPr marL="342900" indent="-342900">
              <a:spcAft>
                <a:spcPts val="500"/>
              </a:spcAft>
              <a:buSzPct val="100000"/>
              <a:buChar char="•"/>
            </a:pPr>
            <a:r>
              <a:rPr lang="en-US" sz="1000" dirty="0">
                <a:solidFill>
                  <a:srgbClr val="2C2C2C"/>
                </a:solidFill>
                <a:latin typeface="Calibri" pitchFamily="34" charset="0"/>
                <a:ea typeface="Calibri" pitchFamily="34" charset="-122"/>
                <a:cs typeface="Calibri" pitchFamily="34" charset="-120"/>
              </a:rPr>
              <a:t>Raises questions on unclear expected results</a:t>
            </a:r>
            <a:endParaRPr lang="en-US" sz="1000" dirty="0"/>
          </a:p>
        </p:txBody>
      </p:sp>
      <p:sp>
        <p:nvSpPr>
          <p:cNvPr id="19" name="Shape 17"/>
          <p:cNvSpPr/>
          <p:nvPr/>
        </p:nvSpPr>
        <p:spPr>
          <a:xfrm>
            <a:off x="4617720" y="1325880"/>
            <a:ext cx="2057400" cy="3364992"/>
          </a:xfrm>
          <a:prstGeom prst="rect">
            <a:avLst/>
          </a:prstGeom>
          <a:solidFill>
            <a:srgbClr val="FFFFFF"/>
          </a:solidFill>
          <a:ln w="12700">
            <a:solidFill>
              <a:srgbClr val="DEDEDE"/>
            </a:solidFill>
            <a:prstDash val="solid"/>
          </a:ln>
          <a:effectLst>
            <a:outerShdw blurRad="76200" dist="25400" dir="8100000" algn="bl" rotWithShape="0">
              <a:srgbClr val="000000">
                <a:alpha val="13000"/>
              </a:srgbClr>
            </a:outerShdw>
          </a:effectLst>
        </p:spPr>
      </p:sp>
      <p:sp>
        <p:nvSpPr>
          <p:cNvPr id="20" name="Shape 18"/>
          <p:cNvSpPr/>
          <p:nvPr/>
        </p:nvSpPr>
        <p:spPr>
          <a:xfrm>
            <a:off x="4617720" y="1325880"/>
            <a:ext cx="2057400" cy="475488"/>
          </a:xfrm>
          <a:prstGeom prst="rect">
            <a:avLst/>
          </a:prstGeom>
          <a:solidFill>
            <a:srgbClr val="0D0D0D"/>
          </a:solidFill>
          <a:ln w="12700">
            <a:solidFill>
              <a:srgbClr val="0D0D0D"/>
            </a:solidFill>
            <a:prstDash val="solid"/>
          </a:ln>
        </p:spPr>
      </p:sp>
      <p:sp>
        <p:nvSpPr>
          <p:cNvPr id="21" name="Text 19"/>
          <p:cNvSpPr/>
          <p:nvPr/>
        </p:nvSpPr>
        <p:spPr>
          <a:xfrm>
            <a:off x="4617720" y="1325880"/>
            <a:ext cx="411480" cy="475488"/>
          </a:xfrm>
          <a:prstGeom prst="rect">
            <a:avLst/>
          </a:prstGeom>
          <a:noFill/>
          <a:ln/>
        </p:spPr>
        <p:txBody>
          <a:bodyPr wrap="square" lIns="0" tIns="0" rIns="0" bIns="0" rtlCol="0" anchor="ctr"/>
          <a:lstStyle/>
          <a:p>
            <a:pPr marL="0" indent="0" algn="ctr">
              <a:buNone/>
            </a:pPr>
            <a:r>
              <a:rPr lang="en-US" sz="1400" b="1" dirty="0">
                <a:solidFill>
                  <a:srgbClr val="FF6500"/>
                </a:solidFill>
                <a:latin typeface="Arial Black" pitchFamily="34" charset="0"/>
                <a:ea typeface="Arial Black" pitchFamily="34" charset="-122"/>
                <a:cs typeface="Arial Black" pitchFamily="34" charset="-120"/>
              </a:rPr>
              <a:t>03</a:t>
            </a:r>
            <a:endParaRPr lang="en-US" sz="1400" dirty="0"/>
          </a:p>
        </p:txBody>
      </p:sp>
      <p:sp>
        <p:nvSpPr>
          <p:cNvPr id="22" name="Text 20"/>
          <p:cNvSpPr/>
          <p:nvPr/>
        </p:nvSpPr>
        <p:spPr>
          <a:xfrm>
            <a:off x="5074920" y="1362456"/>
            <a:ext cx="1536192" cy="402336"/>
          </a:xfrm>
          <a:prstGeom prst="rect">
            <a:avLst/>
          </a:prstGeom>
          <a:noFill/>
          <a:ln/>
        </p:spPr>
        <p:txBody>
          <a:bodyPr wrap="square" lIns="0" tIns="0" rIns="0" bIns="0" rtlCol="0" anchor="ctr"/>
          <a:lstStyle/>
          <a:p>
            <a:pPr marL="0" indent="0">
              <a:buNone/>
            </a:pPr>
            <a:r>
              <a:rPr lang="en-US" sz="1050" b="1" dirty="0">
                <a:solidFill>
                  <a:srgbClr val="FFFFFF"/>
                </a:solidFill>
                <a:latin typeface="Arial" pitchFamily="34" charset="0"/>
                <a:ea typeface="Arial" pitchFamily="34" charset="-122"/>
                <a:cs typeface="Arial" pitchFamily="34" charset="-120"/>
              </a:rPr>
              <a:t>QA Lead Validation</a:t>
            </a:r>
            <a:endParaRPr lang="en-US" sz="1050" dirty="0"/>
          </a:p>
        </p:txBody>
      </p:sp>
      <p:sp>
        <p:nvSpPr>
          <p:cNvPr id="23" name="Text 21"/>
          <p:cNvSpPr/>
          <p:nvPr/>
        </p:nvSpPr>
        <p:spPr>
          <a:xfrm>
            <a:off x="4709160" y="1856232"/>
            <a:ext cx="1874520" cy="2743200"/>
          </a:xfrm>
          <a:prstGeom prst="rect">
            <a:avLst/>
          </a:prstGeom>
          <a:noFill/>
          <a:ln/>
        </p:spPr>
        <p:txBody>
          <a:bodyPr wrap="square" lIns="0" tIns="0" rIns="0" bIns="0" rtlCol="0" anchor="t"/>
          <a:lstStyle/>
          <a:p>
            <a:pPr marL="342900" indent="-342900">
              <a:spcAft>
                <a:spcPts val="500"/>
              </a:spcAft>
              <a:buSzPct val="100000"/>
              <a:buChar char="•"/>
            </a:pPr>
            <a:r>
              <a:rPr lang="en-US" sz="1000" dirty="0">
                <a:solidFill>
                  <a:srgbClr val="2C2C2C"/>
                </a:solidFill>
                <a:latin typeface="Calibri" pitchFamily="34" charset="0"/>
                <a:ea typeface="Calibri" pitchFamily="34" charset="-122"/>
                <a:cs typeface="Calibri" pitchFamily="34" charset="-120"/>
              </a:rPr>
              <a:t>Reviews coverage against the RTM</a:t>
            </a:r>
            <a:endParaRPr lang="en-US" sz="1000" dirty="0"/>
          </a:p>
          <a:p>
            <a:pPr marL="342900" indent="-342900">
              <a:spcAft>
                <a:spcPts val="500"/>
              </a:spcAft>
              <a:buSzPct val="100000"/>
              <a:buChar char="•"/>
            </a:pPr>
            <a:r>
              <a:rPr lang="en-US" sz="1000" dirty="0">
                <a:solidFill>
                  <a:srgbClr val="5A5A5A"/>
                </a:solidFill>
                <a:latin typeface="Calibri" pitchFamily="34" charset="0"/>
                <a:ea typeface="Calibri" pitchFamily="34" charset="-122"/>
                <a:cs typeface="Calibri" pitchFamily="34" charset="-120"/>
              </a:rPr>
              <a:t>Checks priority and severity assignments</a:t>
            </a:r>
            <a:endParaRPr lang="en-US" sz="1000" dirty="0"/>
          </a:p>
          <a:p>
            <a:pPr marL="342900" indent="-342900">
              <a:spcAft>
                <a:spcPts val="500"/>
              </a:spcAft>
              <a:buSzPct val="100000"/>
              <a:buChar char="•"/>
            </a:pPr>
            <a:r>
              <a:rPr lang="en-US" sz="1000" dirty="0">
                <a:solidFill>
                  <a:srgbClr val="2C2C2C"/>
                </a:solidFill>
                <a:latin typeface="Calibri" pitchFamily="34" charset="0"/>
                <a:ea typeface="Calibri" pitchFamily="34" charset="-122"/>
                <a:cs typeface="Calibri" pitchFamily="34" charset="-120"/>
              </a:rPr>
              <a:t>Confirms test data is appropriate</a:t>
            </a:r>
            <a:endParaRPr lang="en-US" sz="1000" dirty="0"/>
          </a:p>
          <a:p>
            <a:pPr marL="342900" indent="-342900">
              <a:spcAft>
                <a:spcPts val="500"/>
              </a:spcAft>
              <a:buSzPct val="100000"/>
              <a:buChar char="•"/>
            </a:pPr>
            <a:r>
              <a:rPr lang="en-US" sz="1000" dirty="0">
                <a:solidFill>
                  <a:srgbClr val="5A5A5A"/>
                </a:solidFill>
                <a:latin typeface="Calibri" pitchFamily="34" charset="0"/>
                <a:ea typeface="Calibri" pitchFamily="34" charset="-122"/>
                <a:cs typeface="Calibri" pitchFamily="34" charset="-120"/>
              </a:rPr>
              <a:t>Approves or requests changes</a:t>
            </a:r>
            <a:endParaRPr lang="en-US" sz="1000" dirty="0"/>
          </a:p>
          <a:p>
            <a:pPr marL="342900" indent="-342900">
              <a:spcAft>
                <a:spcPts val="500"/>
              </a:spcAft>
              <a:buSzPct val="100000"/>
              <a:buChar char="•"/>
            </a:pPr>
            <a:r>
              <a:rPr lang="en-US" sz="1000" dirty="0">
                <a:solidFill>
                  <a:srgbClr val="2C2C2C"/>
                </a:solidFill>
                <a:latin typeface="Calibri" pitchFamily="34" charset="0"/>
                <a:ea typeface="Calibri" pitchFamily="34" charset="-122"/>
                <a:cs typeface="Calibri" pitchFamily="34" charset="-120"/>
              </a:rPr>
              <a:t>Signs off test cases as ready for execution</a:t>
            </a:r>
            <a:endParaRPr lang="en-US" sz="1000" dirty="0"/>
          </a:p>
        </p:txBody>
      </p:sp>
      <p:sp>
        <p:nvSpPr>
          <p:cNvPr id="24" name="Shape 22"/>
          <p:cNvSpPr/>
          <p:nvPr/>
        </p:nvSpPr>
        <p:spPr>
          <a:xfrm>
            <a:off x="6812280" y="1325880"/>
            <a:ext cx="2057400" cy="3364992"/>
          </a:xfrm>
          <a:prstGeom prst="rect">
            <a:avLst/>
          </a:prstGeom>
          <a:solidFill>
            <a:srgbClr val="FFFFFF"/>
          </a:solidFill>
          <a:ln w="12700">
            <a:solidFill>
              <a:srgbClr val="DEDEDE"/>
            </a:solidFill>
            <a:prstDash val="solid"/>
          </a:ln>
          <a:effectLst>
            <a:outerShdw blurRad="76200" dist="25400" dir="8100000" algn="bl" rotWithShape="0">
              <a:srgbClr val="000000">
                <a:alpha val="13000"/>
              </a:srgbClr>
            </a:outerShdw>
          </a:effectLst>
        </p:spPr>
      </p:sp>
      <p:sp>
        <p:nvSpPr>
          <p:cNvPr id="25" name="Shape 23"/>
          <p:cNvSpPr/>
          <p:nvPr/>
        </p:nvSpPr>
        <p:spPr>
          <a:xfrm>
            <a:off x="6812280" y="1325880"/>
            <a:ext cx="2057400" cy="475488"/>
          </a:xfrm>
          <a:prstGeom prst="rect">
            <a:avLst/>
          </a:prstGeom>
          <a:solidFill>
            <a:srgbClr val="0D0D0D"/>
          </a:solidFill>
          <a:ln w="12700">
            <a:solidFill>
              <a:srgbClr val="0D0D0D"/>
            </a:solidFill>
            <a:prstDash val="solid"/>
          </a:ln>
        </p:spPr>
      </p:sp>
      <p:sp>
        <p:nvSpPr>
          <p:cNvPr id="26" name="Text 24"/>
          <p:cNvSpPr/>
          <p:nvPr/>
        </p:nvSpPr>
        <p:spPr>
          <a:xfrm>
            <a:off x="6812280" y="1325880"/>
            <a:ext cx="411480" cy="475488"/>
          </a:xfrm>
          <a:prstGeom prst="rect">
            <a:avLst/>
          </a:prstGeom>
          <a:noFill/>
          <a:ln/>
        </p:spPr>
        <p:txBody>
          <a:bodyPr wrap="square" lIns="0" tIns="0" rIns="0" bIns="0" rtlCol="0" anchor="ctr"/>
          <a:lstStyle/>
          <a:p>
            <a:pPr marL="0" indent="0" algn="ctr">
              <a:buNone/>
            </a:pPr>
            <a:r>
              <a:rPr lang="en-US" sz="1400" b="1" dirty="0">
                <a:solidFill>
                  <a:srgbClr val="FF6500"/>
                </a:solidFill>
                <a:latin typeface="Arial Black" pitchFamily="34" charset="0"/>
                <a:ea typeface="Arial Black" pitchFamily="34" charset="-122"/>
                <a:cs typeface="Arial Black" pitchFamily="34" charset="-120"/>
              </a:rPr>
              <a:t>04</a:t>
            </a:r>
            <a:endParaRPr lang="en-US" sz="1400" dirty="0"/>
          </a:p>
        </p:txBody>
      </p:sp>
      <p:sp>
        <p:nvSpPr>
          <p:cNvPr id="27" name="Text 25"/>
          <p:cNvSpPr/>
          <p:nvPr/>
        </p:nvSpPr>
        <p:spPr>
          <a:xfrm>
            <a:off x="7269480" y="1362456"/>
            <a:ext cx="1536192" cy="402336"/>
          </a:xfrm>
          <a:prstGeom prst="rect">
            <a:avLst/>
          </a:prstGeom>
          <a:noFill/>
          <a:ln/>
        </p:spPr>
        <p:txBody>
          <a:bodyPr wrap="square" lIns="0" tIns="0" rIns="0" bIns="0" rtlCol="0" anchor="ctr"/>
          <a:lstStyle/>
          <a:p>
            <a:pPr marL="0" indent="0">
              <a:buNone/>
            </a:pPr>
            <a:r>
              <a:rPr lang="en-US" sz="1050" b="1" dirty="0">
                <a:solidFill>
                  <a:srgbClr val="FFFFFF"/>
                </a:solidFill>
                <a:latin typeface="Arial" pitchFamily="34" charset="0"/>
                <a:ea typeface="Arial" pitchFamily="34" charset="-122"/>
                <a:cs typeface="Arial" pitchFamily="34" charset="-120"/>
              </a:rPr>
              <a:t>Optimization (Ongoing)</a:t>
            </a:r>
            <a:endParaRPr lang="en-US" sz="1050" dirty="0"/>
          </a:p>
        </p:txBody>
      </p:sp>
      <p:sp>
        <p:nvSpPr>
          <p:cNvPr id="28" name="Text 26"/>
          <p:cNvSpPr/>
          <p:nvPr/>
        </p:nvSpPr>
        <p:spPr>
          <a:xfrm>
            <a:off x="6903720" y="1856232"/>
            <a:ext cx="1874520" cy="2743200"/>
          </a:xfrm>
          <a:prstGeom prst="rect">
            <a:avLst/>
          </a:prstGeom>
          <a:noFill/>
          <a:ln/>
        </p:spPr>
        <p:txBody>
          <a:bodyPr wrap="square" lIns="0" tIns="0" rIns="0" bIns="0" rtlCol="0" anchor="t"/>
          <a:lstStyle/>
          <a:p>
            <a:pPr marL="342900" indent="-342900">
              <a:spcAft>
                <a:spcPts val="500"/>
              </a:spcAft>
              <a:buSzPct val="100000"/>
              <a:buChar char="•"/>
            </a:pPr>
            <a:r>
              <a:rPr lang="en-US" sz="1000" dirty="0">
                <a:solidFill>
                  <a:srgbClr val="2C2C2C"/>
                </a:solidFill>
                <a:latin typeface="Calibri" pitchFamily="34" charset="0"/>
                <a:ea typeface="Calibri" pitchFamily="34" charset="-122"/>
                <a:cs typeface="Calibri" pitchFamily="34" charset="-120"/>
              </a:rPr>
              <a:t>Remove redundant or duplicate TCs</a:t>
            </a:r>
            <a:endParaRPr lang="en-US" sz="1000" dirty="0"/>
          </a:p>
          <a:p>
            <a:pPr marL="342900" indent="-342900">
              <a:spcAft>
                <a:spcPts val="500"/>
              </a:spcAft>
              <a:buSzPct val="100000"/>
              <a:buChar char="•"/>
            </a:pPr>
            <a:r>
              <a:rPr lang="en-US" sz="1000" dirty="0">
                <a:solidFill>
                  <a:srgbClr val="5A5A5A"/>
                </a:solidFill>
                <a:latin typeface="Calibri" pitchFamily="34" charset="0"/>
                <a:ea typeface="Calibri" pitchFamily="34" charset="-122"/>
                <a:cs typeface="Calibri" pitchFamily="34" charset="-120"/>
              </a:rPr>
              <a:t>Merge similar TCs where appropriate</a:t>
            </a:r>
            <a:endParaRPr lang="en-US" sz="1000" dirty="0"/>
          </a:p>
          <a:p>
            <a:pPr marL="342900" indent="-342900">
              <a:spcAft>
                <a:spcPts val="500"/>
              </a:spcAft>
              <a:buSzPct val="100000"/>
              <a:buChar char="•"/>
            </a:pPr>
            <a:r>
              <a:rPr lang="en-US" sz="1000" dirty="0">
                <a:solidFill>
                  <a:srgbClr val="2C2C2C"/>
                </a:solidFill>
                <a:latin typeface="Calibri" pitchFamily="34" charset="0"/>
                <a:ea typeface="Calibri" pitchFamily="34" charset="-122"/>
                <a:cs typeface="Calibri" pitchFamily="34" charset="-120"/>
              </a:rPr>
              <a:t>Update TCs when requirements change</a:t>
            </a:r>
            <a:endParaRPr lang="en-US" sz="1000" dirty="0"/>
          </a:p>
          <a:p>
            <a:pPr marL="342900" indent="-342900">
              <a:spcAft>
                <a:spcPts val="500"/>
              </a:spcAft>
              <a:buSzPct val="100000"/>
              <a:buChar char="•"/>
            </a:pPr>
            <a:r>
              <a:rPr lang="en-US" sz="1000" dirty="0">
                <a:solidFill>
                  <a:srgbClr val="5A5A5A"/>
                </a:solidFill>
                <a:latin typeface="Calibri" pitchFamily="34" charset="0"/>
                <a:ea typeface="Calibri" pitchFamily="34" charset="-122"/>
                <a:cs typeface="Calibri" pitchFamily="34" charset="-120"/>
              </a:rPr>
              <a:t>Archive obsolete test cases</a:t>
            </a:r>
            <a:endParaRPr lang="en-US" sz="1000" dirty="0"/>
          </a:p>
          <a:p>
            <a:pPr marL="342900" indent="-342900">
              <a:spcAft>
                <a:spcPts val="500"/>
              </a:spcAft>
              <a:buSzPct val="100000"/>
              <a:buChar char="•"/>
            </a:pPr>
            <a:r>
              <a:rPr lang="en-US" sz="1000" dirty="0">
                <a:solidFill>
                  <a:srgbClr val="2C2C2C"/>
                </a:solidFill>
                <a:latin typeface="Calibri" pitchFamily="34" charset="0"/>
                <a:ea typeface="Calibri" pitchFamily="34" charset="-122"/>
                <a:cs typeface="Calibri" pitchFamily="34" charset="-120"/>
              </a:rPr>
              <a:t>Tag TCs for automation candidates</a:t>
            </a:r>
            <a:endParaRPr lang="en-US" sz="10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7">
    <p:bg>
      <p:bgPr>
        <a:solidFill>
          <a:srgbClr val="F5F5F5"/>
        </a:solidFill>
        <a:effectLst/>
      </p:bgPr>
    </p:bg>
    <p:spTree>
      <p:nvGrpSpPr>
        <p:cNvPr id="1" name=""/>
        <p:cNvGrpSpPr/>
        <p:nvPr/>
      </p:nvGrpSpPr>
      <p:grpSpPr>
        <a:xfrm>
          <a:off x="0" y="0"/>
          <a:ext cx="0" cy="0"/>
          <a:chOff x="0" y="0"/>
          <a:chExt cx="0" cy="0"/>
        </a:xfrm>
      </p:grpSpPr>
      <p:sp>
        <p:nvSpPr>
          <p:cNvPr id="2" name="Shape 0"/>
          <p:cNvSpPr/>
          <p:nvPr/>
        </p:nvSpPr>
        <p:spPr>
          <a:xfrm>
            <a:off x="0" y="0"/>
            <a:ext cx="9144000" cy="621792"/>
          </a:xfrm>
          <a:prstGeom prst="rect">
            <a:avLst/>
          </a:prstGeom>
          <a:solidFill>
            <a:srgbClr val="0D0D0D"/>
          </a:solidFill>
          <a:ln w="12700">
            <a:solidFill>
              <a:srgbClr val="0D0D0D"/>
            </a:solidFill>
            <a:prstDash val="solid"/>
          </a:ln>
        </p:spPr>
      </p:sp>
      <p:sp>
        <p:nvSpPr>
          <p:cNvPr id="3" name="Shape 1"/>
          <p:cNvSpPr/>
          <p:nvPr/>
        </p:nvSpPr>
        <p:spPr>
          <a:xfrm>
            <a:off x="0" y="0"/>
            <a:ext cx="64008" cy="621792"/>
          </a:xfrm>
          <a:prstGeom prst="rect">
            <a:avLst/>
          </a:prstGeom>
          <a:solidFill>
            <a:srgbClr val="FF6500"/>
          </a:solidFill>
          <a:ln w="12700">
            <a:solidFill>
              <a:srgbClr val="FF6500"/>
            </a:solidFill>
            <a:prstDash val="solid"/>
          </a:ln>
        </p:spPr>
      </p:sp>
      <p:sp>
        <p:nvSpPr>
          <p:cNvPr id="4" name="Text 2"/>
          <p:cNvSpPr/>
          <p:nvPr/>
        </p:nvSpPr>
        <p:spPr>
          <a:xfrm>
            <a:off x="201168" y="64008"/>
            <a:ext cx="8503920" cy="493776"/>
          </a:xfrm>
          <a:prstGeom prst="rect">
            <a:avLst/>
          </a:prstGeom>
          <a:noFill/>
          <a:ln/>
        </p:spPr>
        <p:txBody>
          <a:bodyPr wrap="square" lIns="0" tIns="0" rIns="0" bIns="0" rtlCol="0" anchor="ctr"/>
          <a:lstStyle/>
          <a:p>
            <a:pPr marL="0" indent="0">
              <a:buNone/>
            </a:pPr>
            <a:r>
              <a:rPr lang="en-US" sz="1900" b="1" dirty="0">
                <a:solidFill>
                  <a:srgbClr val="FFFFFF"/>
                </a:solidFill>
                <a:latin typeface="Arial" pitchFamily="34" charset="0"/>
                <a:ea typeface="Arial" pitchFamily="34" charset="-122"/>
                <a:cs typeface="Arial" pitchFamily="34" charset="-120"/>
              </a:rPr>
              <a:t>Entry &amp; Exit Criteria for Test Case Development</a:t>
            </a:r>
            <a:endParaRPr lang="en-US" sz="1900" dirty="0"/>
          </a:p>
        </p:txBody>
      </p:sp>
      <p:sp>
        <p:nvSpPr>
          <p:cNvPr id="5" name="Shape 3"/>
          <p:cNvSpPr/>
          <p:nvPr/>
        </p:nvSpPr>
        <p:spPr>
          <a:xfrm>
            <a:off x="0" y="4828032"/>
            <a:ext cx="9144000" cy="315468"/>
          </a:xfrm>
          <a:prstGeom prst="rect">
            <a:avLst/>
          </a:prstGeom>
          <a:solidFill>
            <a:srgbClr val="0D0D0D"/>
          </a:solidFill>
          <a:ln w="12700">
            <a:solidFill>
              <a:srgbClr val="0D0D0D"/>
            </a:solidFill>
            <a:prstDash val="solid"/>
          </a:ln>
        </p:spPr>
      </p:sp>
      <p:sp>
        <p:nvSpPr>
          <p:cNvPr id="6" name="Text 4"/>
          <p:cNvSpPr/>
          <p:nvPr/>
        </p:nvSpPr>
        <p:spPr>
          <a:xfrm>
            <a:off x="182880" y="4855464"/>
            <a:ext cx="7315200" cy="228600"/>
          </a:xfrm>
          <a:prstGeom prst="rect">
            <a:avLst/>
          </a:prstGeom>
          <a:noFill/>
          <a:ln/>
        </p:spPr>
        <p:txBody>
          <a:bodyPr wrap="square" lIns="0" tIns="0" rIns="0" bIns="0" rtlCol="0" anchor="ctr"/>
          <a:lstStyle/>
          <a:p>
            <a:pPr marL="0" indent="0">
              <a:buNone/>
            </a:pPr>
            <a:r>
              <a:rPr lang="en-US" sz="850" dirty="0">
                <a:solidFill>
                  <a:srgbClr val="999999"/>
                </a:solidFill>
                <a:latin typeface="Calibri" pitchFamily="34" charset="0"/>
                <a:ea typeface="Calibri" pitchFamily="34" charset="-122"/>
                <a:cs typeface="Calibri" pitchFamily="34" charset="-120"/>
              </a:rPr>
              <a:t>Quality Engineering | Test Case Development in STLC</a:t>
            </a:r>
            <a:endParaRPr lang="en-US" sz="850" dirty="0"/>
          </a:p>
        </p:txBody>
      </p:sp>
      <p:sp>
        <p:nvSpPr>
          <p:cNvPr id="7" name="Text 5"/>
          <p:cNvSpPr/>
          <p:nvPr/>
        </p:nvSpPr>
        <p:spPr>
          <a:xfrm>
            <a:off x="7406640" y="4855464"/>
            <a:ext cx="1554480" cy="228600"/>
          </a:xfrm>
          <a:prstGeom prst="rect">
            <a:avLst/>
          </a:prstGeom>
          <a:noFill/>
          <a:ln/>
        </p:spPr>
        <p:txBody>
          <a:bodyPr wrap="square" lIns="0" tIns="0" rIns="0" bIns="0" rtlCol="0" anchor="ctr"/>
          <a:lstStyle/>
          <a:p>
            <a:pPr marL="0" indent="0" algn="r">
              <a:buNone/>
            </a:pPr>
            <a:r>
              <a:rPr lang="en-US" sz="850" b="1" dirty="0">
                <a:solidFill>
                  <a:srgbClr val="FF6500"/>
                </a:solidFill>
                <a:latin typeface="Calibri" pitchFamily="34" charset="0"/>
                <a:ea typeface="Calibri" pitchFamily="34" charset="-122"/>
                <a:cs typeface="Calibri" pitchFamily="34" charset="-120"/>
              </a:rPr>
              <a:t>INTERNAL TRAINING</a:t>
            </a:r>
            <a:endParaRPr lang="en-US" sz="850" dirty="0"/>
          </a:p>
        </p:txBody>
      </p:sp>
      <p:sp>
        <p:nvSpPr>
          <p:cNvPr id="8" name="Text 6"/>
          <p:cNvSpPr/>
          <p:nvPr/>
        </p:nvSpPr>
        <p:spPr>
          <a:xfrm>
            <a:off x="228600" y="758952"/>
            <a:ext cx="8732520" cy="548640"/>
          </a:xfrm>
          <a:prstGeom prst="rect">
            <a:avLst/>
          </a:prstGeom>
          <a:noFill/>
          <a:ln/>
        </p:spPr>
        <p:txBody>
          <a:bodyPr wrap="square" lIns="0" tIns="0" rIns="0" bIns="0" rtlCol="0" anchor="ctr"/>
          <a:lstStyle/>
          <a:p>
            <a:pPr marL="0" indent="0">
              <a:buNone/>
            </a:pPr>
            <a:r>
              <a:rPr lang="en-US" sz="1150" dirty="0">
                <a:solidFill>
                  <a:srgbClr val="2C2C2C"/>
                </a:solidFill>
                <a:latin typeface="Calibri" pitchFamily="34" charset="0"/>
                <a:ea typeface="Calibri" pitchFamily="34" charset="-122"/>
                <a:cs typeface="Calibri" pitchFamily="34" charset="-120"/>
              </a:rPr>
              <a:t>Entry criteria define the conditions that must be met BEFORE test case development can begin. Exit criteria define when the test case development phase is considered COMPLETE.</a:t>
            </a:r>
            <a:endParaRPr lang="en-US" sz="1150" dirty="0"/>
          </a:p>
        </p:txBody>
      </p:sp>
      <p:sp>
        <p:nvSpPr>
          <p:cNvPr id="9" name="Shape 7"/>
          <p:cNvSpPr/>
          <p:nvPr/>
        </p:nvSpPr>
        <p:spPr>
          <a:xfrm>
            <a:off x="228600" y="1371600"/>
            <a:ext cx="4160520" cy="3310128"/>
          </a:xfrm>
          <a:prstGeom prst="rect">
            <a:avLst/>
          </a:prstGeom>
          <a:solidFill>
            <a:srgbClr val="FFFFFF"/>
          </a:solidFill>
          <a:ln w="12700">
            <a:solidFill>
              <a:srgbClr val="DEDEDE"/>
            </a:solidFill>
            <a:prstDash val="solid"/>
          </a:ln>
          <a:effectLst>
            <a:outerShdw blurRad="76200" dist="25400" dir="8100000" algn="bl" rotWithShape="0">
              <a:srgbClr val="000000">
                <a:alpha val="13000"/>
              </a:srgbClr>
            </a:outerShdw>
          </a:effectLst>
        </p:spPr>
      </p:sp>
      <p:sp>
        <p:nvSpPr>
          <p:cNvPr id="10" name="Shape 8"/>
          <p:cNvSpPr/>
          <p:nvPr/>
        </p:nvSpPr>
        <p:spPr>
          <a:xfrm>
            <a:off x="228600" y="1371600"/>
            <a:ext cx="4160520" cy="457200"/>
          </a:xfrm>
          <a:prstGeom prst="rect">
            <a:avLst/>
          </a:prstGeom>
          <a:solidFill>
            <a:srgbClr val="27AE60"/>
          </a:solidFill>
          <a:ln w="12700">
            <a:solidFill>
              <a:srgbClr val="27AE60"/>
            </a:solidFill>
            <a:prstDash val="solid"/>
          </a:ln>
        </p:spPr>
      </p:sp>
      <p:sp>
        <p:nvSpPr>
          <p:cNvPr id="11" name="Text 9"/>
          <p:cNvSpPr/>
          <p:nvPr/>
        </p:nvSpPr>
        <p:spPr>
          <a:xfrm>
            <a:off x="320040" y="1399032"/>
            <a:ext cx="3977640" cy="402336"/>
          </a:xfrm>
          <a:prstGeom prst="rect">
            <a:avLst/>
          </a:prstGeom>
          <a:noFill/>
          <a:ln/>
        </p:spPr>
        <p:txBody>
          <a:bodyPr wrap="square" lIns="0" tIns="0" rIns="0" bIns="0" rtlCol="0" anchor="ctr"/>
          <a:lstStyle/>
          <a:p>
            <a:pPr marL="0" indent="0">
              <a:buNone/>
            </a:pPr>
            <a:r>
              <a:rPr lang="en-US" sz="1150" b="1" dirty="0">
                <a:solidFill>
                  <a:srgbClr val="FFFFFF"/>
                </a:solidFill>
                <a:latin typeface="Arial" pitchFamily="34" charset="0"/>
                <a:ea typeface="Arial" pitchFamily="34" charset="-122"/>
                <a:cs typeface="Arial" pitchFamily="34" charset="-120"/>
              </a:rPr>
              <a:t>ENTRY CRITERIA — Must Be True BEFORE Starting</a:t>
            </a:r>
            <a:endParaRPr lang="en-US" sz="1150" dirty="0"/>
          </a:p>
        </p:txBody>
      </p:sp>
      <p:sp>
        <p:nvSpPr>
          <p:cNvPr id="12" name="Text 10"/>
          <p:cNvSpPr/>
          <p:nvPr/>
        </p:nvSpPr>
        <p:spPr>
          <a:xfrm>
            <a:off x="347472" y="1920240"/>
            <a:ext cx="3931920" cy="2697480"/>
          </a:xfrm>
          <a:prstGeom prst="rect">
            <a:avLst/>
          </a:prstGeom>
          <a:noFill/>
          <a:ln/>
        </p:spPr>
        <p:txBody>
          <a:bodyPr wrap="square" lIns="0" tIns="0" rIns="0" bIns="0" rtlCol="0" anchor="t"/>
          <a:lstStyle/>
          <a:p>
            <a:pPr marL="342900" indent="-342900">
              <a:spcAft>
                <a:spcPts val="500"/>
              </a:spcAft>
              <a:buSzPct val="100000"/>
              <a:buChar char="•"/>
            </a:pPr>
            <a:r>
              <a:rPr lang="en-US" sz="1050" dirty="0">
                <a:solidFill>
                  <a:srgbClr val="2C2C2C"/>
                </a:solidFill>
                <a:latin typeface="Calibri" pitchFamily="34" charset="0"/>
                <a:ea typeface="Calibri" pitchFamily="34" charset="-122"/>
                <a:cs typeface="Calibri" pitchFamily="34" charset="-120"/>
              </a:rPr>
              <a:t>Business Requirements Document (BRD) is approved and baselined</a:t>
            </a:r>
            <a:endParaRPr lang="en-US" sz="1050" dirty="0"/>
          </a:p>
          <a:p>
            <a:pPr marL="342900" indent="-342900">
              <a:spcAft>
                <a:spcPts val="500"/>
              </a:spcAft>
              <a:buSzPct val="100000"/>
              <a:buChar char="•"/>
            </a:pPr>
            <a:r>
              <a:rPr lang="en-US" sz="1050" dirty="0">
                <a:solidFill>
                  <a:srgbClr val="5A5A5A"/>
                </a:solidFill>
                <a:latin typeface="Calibri" pitchFamily="34" charset="0"/>
                <a:ea typeface="Calibri" pitchFamily="34" charset="-122"/>
                <a:cs typeface="Calibri" pitchFamily="34" charset="-120"/>
              </a:rPr>
              <a:t>Software Requirements Specification (SRS) has been reviewed and signed off</a:t>
            </a:r>
            <a:endParaRPr lang="en-US" sz="1050" dirty="0"/>
          </a:p>
          <a:p>
            <a:pPr marL="342900" indent="-342900">
              <a:spcAft>
                <a:spcPts val="500"/>
              </a:spcAft>
              <a:buSzPct val="100000"/>
              <a:buChar char="•"/>
            </a:pPr>
            <a:r>
              <a:rPr lang="en-US" sz="1050" dirty="0">
                <a:solidFill>
                  <a:srgbClr val="2C2C2C"/>
                </a:solidFill>
                <a:latin typeface="Calibri" pitchFamily="34" charset="0"/>
                <a:ea typeface="Calibri" pitchFamily="34" charset="-122"/>
                <a:cs typeface="Calibri" pitchFamily="34" charset="-120"/>
              </a:rPr>
              <a:t>Test Plan has been created and approved by QA Lead and Project Manager</a:t>
            </a:r>
            <a:endParaRPr lang="en-US" sz="1050" dirty="0"/>
          </a:p>
          <a:p>
            <a:pPr marL="342900" indent="-342900">
              <a:spcAft>
                <a:spcPts val="500"/>
              </a:spcAft>
              <a:buSzPct val="100000"/>
              <a:buChar char="•"/>
            </a:pPr>
            <a:r>
              <a:rPr lang="en-US" sz="1050" dirty="0">
                <a:solidFill>
                  <a:srgbClr val="5A5A5A"/>
                </a:solidFill>
                <a:latin typeface="Calibri" pitchFamily="34" charset="0"/>
                <a:ea typeface="Calibri" pitchFamily="34" charset="-122"/>
                <a:cs typeface="Calibri" pitchFamily="34" charset="-120"/>
              </a:rPr>
              <a:t>Requirement Traceability Matrix (RTM) has been created (initial draft)</a:t>
            </a:r>
            <a:endParaRPr lang="en-US" sz="1050" dirty="0"/>
          </a:p>
          <a:p>
            <a:pPr marL="342900" indent="-342900">
              <a:spcAft>
                <a:spcPts val="500"/>
              </a:spcAft>
              <a:buSzPct val="100000"/>
              <a:buChar char="•"/>
            </a:pPr>
            <a:r>
              <a:rPr lang="en-US" sz="1050" dirty="0">
                <a:solidFill>
                  <a:srgbClr val="2C2C2C"/>
                </a:solidFill>
                <a:latin typeface="Calibri" pitchFamily="34" charset="0"/>
                <a:ea typeface="Calibri" pitchFamily="34" charset="-122"/>
                <a:cs typeface="Calibri" pitchFamily="34" charset="-120"/>
              </a:rPr>
              <a:t>Test environment details and access credentials are available</a:t>
            </a:r>
            <a:endParaRPr lang="en-US" sz="1050" dirty="0"/>
          </a:p>
          <a:p>
            <a:pPr marL="342900" indent="-342900">
              <a:spcAft>
                <a:spcPts val="500"/>
              </a:spcAft>
              <a:buSzPct val="100000"/>
              <a:buChar char="•"/>
            </a:pPr>
            <a:r>
              <a:rPr lang="en-US" sz="1050" dirty="0">
                <a:solidFill>
                  <a:srgbClr val="5A5A5A"/>
                </a:solidFill>
                <a:latin typeface="Calibri" pitchFamily="34" charset="0"/>
                <a:ea typeface="Calibri" pitchFamily="34" charset="-122"/>
                <a:cs typeface="Calibri" pitchFamily="34" charset="-120"/>
              </a:rPr>
              <a:t>Test data sources and access permissions have been confirmed</a:t>
            </a:r>
            <a:endParaRPr lang="en-US" sz="1050" dirty="0"/>
          </a:p>
          <a:p>
            <a:pPr marL="342900" indent="-342900">
              <a:spcAft>
                <a:spcPts val="500"/>
              </a:spcAft>
              <a:buSzPct val="100000"/>
              <a:buChar char="•"/>
            </a:pPr>
            <a:r>
              <a:rPr lang="en-US" sz="1050" dirty="0">
                <a:solidFill>
                  <a:srgbClr val="2C2C2C"/>
                </a:solidFill>
                <a:latin typeface="Calibri" pitchFamily="34" charset="0"/>
                <a:ea typeface="Calibri" pitchFamily="34" charset="-122"/>
                <a:cs typeface="Calibri" pitchFamily="34" charset="-120"/>
              </a:rPr>
              <a:t>Tools configured: Jira, TestRail/Zephyr, Selenium/Playwright frameworks</a:t>
            </a:r>
            <a:endParaRPr lang="en-US" sz="1050" dirty="0"/>
          </a:p>
        </p:txBody>
      </p:sp>
      <p:sp>
        <p:nvSpPr>
          <p:cNvPr id="13" name="Shape 11"/>
          <p:cNvSpPr/>
          <p:nvPr/>
        </p:nvSpPr>
        <p:spPr>
          <a:xfrm>
            <a:off x="4754880" y="1371600"/>
            <a:ext cx="4160520" cy="3310128"/>
          </a:xfrm>
          <a:prstGeom prst="rect">
            <a:avLst/>
          </a:prstGeom>
          <a:solidFill>
            <a:srgbClr val="FFFFFF"/>
          </a:solidFill>
          <a:ln w="12700">
            <a:solidFill>
              <a:srgbClr val="DEDEDE"/>
            </a:solidFill>
            <a:prstDash val="solid"/>
          </a:ln>
          <a:effectLst>
            <a:outerShdw blurRad="76200" dist="25400" dir="8100000" algn="bl" rotWithShape="0">
              <a:srgbClr val="000000">
                <a:alpha val="13000"/>
              </a:srgbClr>
            </a:outerShdw>
          </a:effectLst>
        </p:spPr>
      </p:sp>
      <p:sp>
        <p:nvSpPr>
          <p:cNvPr id="14" name="Shape 12"/>
          <p:cNvSpPr/>
          <p:nvPr/>
        </p:nvSpPr>
        <p:spPr>
          <a:xfrm>
            <a:off x="4754880" y="1371600"/>
            <a:ext cx="4160520" cy="457200"/>
          </a:xfrm>
          <a:prstGeom prst="rect">
            <a:avLst/>
          </a:prstGeom>
          <a:solidFill>
            <a:srgbClr val="FF6500"/>
          </a:solidFill>
          <a:ln w="12700">
            <a:solidFill>
              <a:srgbClr val="FF6500"/>
            </a:solidFill>
            <a:prstDash val="solid"/>
          </a:ln>
        </p:spPr>
      </p:sp>
      <p:sp>
        <p:nvSpPr>
          <p:cNvPr id="15" name="Text 13"/>
          <p:cNvSpPr/>
          <p:nvPr/>
        </p:nvSpPr>
        <p:spPr>
          <a:xfrm>
            <a:off x="4846320" y="1399032"/>
            <a:ext cx="3977640" cy="402336"/>
          </a:xfrm>
          <a:prstGeom prst="rect">
            <a:avLst/>
          </a:prstGeom>
          <a:noFill/>
          <a:ln/>
        </p:spPr>
        <p:txBody>
          <a:bodyPr wrap="square" lIns="0" tIns="0" rIns="0" bIns="0" rtlCol="0" anchor="ctr"/>
          <a:lstStyle/>
          <a:p>
            <a:pPr marL="0" indent="0">
              <a:buNone/>
            </a:pPr>
            <a:r>
              <a:rPr lang="en-US" sz="1150" b="1" dirty="0">
                <a:solidFill>
                  <a:srgbClr val="FFFFFF"/>
                </a:solidFill>
                <a:latin typeface="Arial" pitchFamily="34" charset="0"/>
                <a:ea typeface="Arial" pitchFamily="34" charset="-122"/>
                <a:cs typeface="Arial" pitchFamily="34" charset="-120"/>
              </a:rPr>
              <a:t>EXIT CRITERIA — Must Be True BEFORE Proceeding</a:t>
            </a:r>
            <a:endParaRPr lang="en-US" sz="1150" dirty="0"/>
          </a:p>
        </p:txBody>
      </p:sp>
      <p:sp>
        <p:nvSpPr>
          <p:cNvPr id="16" name="Text 14"/>
          <p:cNvSpPr/>
          <p:nvPr/>
        </p:nvSpPr>
        <p:spPr>
          <a:xfrm>
            <a:off x="4873752" y="1920240"/>
            <a:ext cx="3931920" cy="2697480"/>
          </a:xfrm>
          <a:prstGeom prst="rect">
            <a:avLst/>
          </a:prstGeom>
          <a:noFill/>
          <a:ln/>
        </p:spPr>
        <p:txBody>
          <a:bodyPr wrap="square" lIns="0" tIns="0" rIns="0" bIns="0" rtlCol="0" anchor="t"/>
          <a:lstStyle/>
          <a:p>
            <a:pPr marL="342900" indent="-342900">
              <a:spcAft>
                <a:spcPts val="500"/>
              </a:spcAft>
              <a:buSzPct val="100000"/>
              <a:buChar char="•"/>
            </a:pPr>
            <a:r>
              <a:rPr lang="en-US" sz="1050" dirty="0">
                <a:solidFill>
                  <a:srgbClr val="2C2C2C"/>
                </a:solidFill>
                <a:latin typeface="Calibri" pitchFamily="34" charset="0"/>
                <a:ea typeface="Calibri" pitchFamily="34" charset="-122"/>
                <a:cs typeface="Calibri" pitchFamily="34" charset="-120"/>
              </a:rPr>
              <a:t>100% of testable requirements have at least one mapped test case</a:t>
            </a:r>
            <a:endParaRPr lang="en-US" sz="1050" dirty="0"/>
          </a:p>
          <a:p>
            <a:pPr marL="342900" indent="-342900">
              <a:spcAft>
                <a:spcPts val="500"/>
              </a:spcAft>
              <a:buSzPct val="100000"/>
              <a:buChar char="•"/>
            </a:pPr>
            <a:r>
              <a:rPr lang="en-US" sz="1050" dirty="0">
                <a:solidFill>
                  <a:srgbClr val="5A5A5A"/>
                </a:solidFill>
                <a:latin typeface="Calibri" pitchFamily="34" charset="0"/>
                <a:ea typeface="Calibri" pitchFamily="34" charset="-122"/>
                <a:cs typeface="Calibri" pitchFamily="34" charset="-120"/>
              </a:rPr>
              <a:t>All 11 test case fields are fully and accurately completed</a:t>
            </a:r>
            <a:endParaRPr lang="en-US" sz="1050" dirty="0"/>
          </a:p>
          <a:p>
            <a:pPr marL="342900" indent="-342900">
              <a:spcAft>
                <a:spcPts val="500"/>
              </a:spcAft>
              <a:buSzPct val="100000"/>
              <a:buChar char="•"/>
            </a:pPr>
            <a:r>
              <a:rPr lang="en-US" sz="1050" dirty="0">
                <a:solidFill>
                  <a:srgbClr val="2C2C2C"/>
                </a:solidFill>
                <a:latin typeface="Calibri" pitchFamily="34" charset="0"/>
                <a:ea typeface="Calibri" pitchFamily="34" charset="-122"/>
                <a:cs typeface="Calibri" pitchFamily="34" charset="-120"/>
              </a:rPr>
              <a:t>All test cases have passed peer review and QA Lead sign-off</a:t>
            </a:r>
            <a:endParaRPr lang="en-US" sz="1050" dirty="0"/>
          </a:p>
          <a:p>
            <a:pPr marL="342900" indent="-342900">
              <a:spcAft>
                <a:spcPts val="500"/>
              </a:spcAft>
              <a:buSzPct val="100000"/>
              <a:buChar char="•"/>
            </a:pPr>
            <a:r>
              <a:rPr lang="en-US" sz="1050" dirty="0">
                <a:solidFill>
                  <a:srgbClr val="5A5A5A"/>
                </a:solidFill>
                <a:latin typeface="Calibri" pitchFamily="34" charset="0"/>
                <a:ea typeface="Calibri" pitchFamily="34" charset="-122"/>
                <a:cs typeface="Calibri" pitchFamily="34" charset="-120"/>
              </a:rPr>
              <a:t>RTM has been updated to reflect all test case IDs and their status</a:t>
            </a:r>
            <a:endParaRPr lang="en-US" sz="1050" dirty="0"/>
          </a:p>
          <a:p>
            <a:pPr marL="342900" indent="-342900">
              <a:spcAft>
                <a:spcPts val="500"/>
              </a:spcAft>
              <a:buSzPct val="100000"/>
              <a:buChar char="•"/>
            </a:pPr>
            <a:r>
              <a:rPr lang="en-US" sz="1050" dirty="0">
                <a:solidFill>
                  <a:srgbClr val="2C2C2C"/>
                </a:solidFill>
                <a:latin typeface="Calibri" pitchFamily="34" charset="0"/>
                <a:ea typeface="Calibri" pitchFamily="34" charset="-122"/>
                <a:cs typeface="Calibri" pitchFamily="34" charset="-120"/>
              </a:rPr>
              <a:t>Test data sets have been prepared, validated, and stored in repository</a:t>
            </a:r>
            <a:endParaRPr lang="en-US" sz="1050" dirty="0"/>
          </a:p>
          <a:p>
            <a:pPr marL="342900" indent="-342900">
              <a:spcAft>
                <a:spcPts val="500"/>
              </a:spcAft>
              <a:buSzPct val="100000"/>
              <a:buChar char="•"/>
            </a:pPr>
            <a:r>
              <a:rPr lang="en-US" sz="1050" dirty="0">
                <a:solidFill>
                  <a:srgbClr val="5A5A5A"/>
                </a:solidFill>
                <a:latin typeface="Calibri" pitchFamily="34" charset="0"/>
                <a:ea typeface="Calibri" pitchFamily="34" charset="-122"/>
                <a:cs typeface="Calibri" pitchFamily="34" charset="-120"/>
              </a:rPr>
              <a:t>Test cases have been uploaded to the test management tool (Jira/TestRail)</a:t>
            </a:r>
            <a:endParaRPr lang="en-US" sz="1050" dirty="0"/>
          </a:p>
          <a:p>
            <a:pPr marL="342900" indent="-342900">
              <a:spcAft>
                <a:spcPts val="500"/>
              </a:spcAft>
              <a:buSzPct val="100000"/>
              <a:buChar char="•"/>
            </a:pPr>
            <a:r>
              <a:rPr lang="en-US" sz="1050" dirty="0">
                <a:solidFill>
                  <a:srgbClr val="2C2C2C"/>
                </a:solidFill>
                <a:latin typeface="Calibri" pitchFamily="34" charset="0"/>
                <a:ea typeface="Calibri" pitchFamily="34" charset="-122"/>
                <a:cs typeface="Calibri" pitchFamily="34" charset="-120"/>
              </a:rPr>
              <a:t>Test case coverage report has been generated and shared with stakeholders</a:t>
            </a:r>
            <a:endParaRPr lang="en-US" sz="105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8">
    <p:bg>
      <p:bgPr>
        <a:solidFill>
          <a:srgbClr val="F5F5F5"/>
        </a:solidFill>
        <a:effectLst/>
      </p:bgPr>
    </p:bg>
    <p:spTree>
      <p:nvGrpSpPr>
        <p:cNvPr id="1" name=""/>
        <p:cNvGrpSpPr/>
        <p:nvPr/>
      </p:nvGrpSpPr>
      <p:grpSpPr>
        <a:xfrm>
          <a:off x="0" y="0"/>
          <a:ext cx="0" cy="0"/>
          <a:chOff x="0" y="0"/>
          <a:chExt cx="0" cy="0"/>
        </a:xfrm>
      </p:grpSpPr>
      <p:sp>
        <p:nvSpPr>
          <p:cNvPr id="2" name="Shape 0"/>
          <p:cNvSpPr/>
          <p:nvPr/>
        </p:nvSpPr>
        <p:spPr>
          <a:xfrm>
            <a:off x="0" y="0"/>
            <a:ext cx="9144000" cy="621792"/>
          </a:xfrm>
          <a:prstGeom prst="rect">
            <a:avLst/>
          </a:prstGeom>
          <a:solidFill>
            <a:srgbClr val="0D0D0D"/>
          </a:solidFill>
          <a:ln w="12700">
            <a:solidFill>
              <a:srgbClr val="0D0D0D"/>
            </a:solidFill>
            <a:prstDash val="solid"/>
          </a:ln>
        </p:spPr>
      </p:sp>
      <p:sp>
        <p:nvSpPr>
          <p:cNvPr id="3" name="Shape 1"/>
          <p:cNvSpPr/>
          <p:nvPr/>
        </p:nvSpPr>
        <p:spPr>
          <a:xfrm>
            <a:off x="0" y="0"/>
            <a:ext cx="64008" cy="621792"/>
          </a:xfrm>
          <a:prstGeom prst="rect">
            <a:avLst/>
          </a:prstGeom>
          <a:solidFill>
            <a:srgbClr val="FF6500"/>
          </a:solidFill>
          <a:ln w="12700">
            <a:solidFill>
              <a:srgbClr val="FF6500"/>
            </a:solidFill>
            <a:prstDash val="solid"/>
          </a:ln>
        </p:spPr>
      </p:sp>
      <p:sp>
        <p:nvSpPr>
          <p:cNvPr id="4" name="Text 2"/>
          <p:cNvSpPr/>
          <p:nvPr/>
        </p:nvSpPr>
        <p:spPr>
          <a:xfrm>
            <a:off x="201168" y="64008"/>
            <a:ext cx="8503920" cy="493776"/>
          </a:xfrm>
          <a:prstGeom prst="rect">
            <a:avLst/>
          </a:prstGeom>
          <a:noFill/>
          <a:ln/>
        </p:spPr>
        <p:txBody>
          <a:bodyPr wrap="square" lIns="0" tIns="0" rIns="0" bIns="0" rtlCol="0" anchor="ctr"/>
          <a:lstStyle/>
          <a:p>
            <a:pPr marL="0" indent="0">
              <a:buNone/>
            </a:pPr>
            <a:r>
              <a:rPr lang="en-US" sz="1900" b="1" dirty="0">
                <a:solidFill>
                  <a:srgbClr val="FFFFFF"/>
                </a:solidFill>
                <a:latin typeface="Arial" pitchFamily="34" charset="0"/>
                <a:ea typeface="Arial" pitchFamily="34" charset="-122"/>
                <a:cs typeface="Arial" pitchFamily="34" charset="-120"/>
              </a:rPr>
              <a:t>Deliverables of the Test Case Development Phase</a:t>
            </a:r>
            <a:endParaRPr lang="en-US" sz="1900" dirty="0"/>
          </a:p>
        </p:txBody>
      </p:sp>
      <p:sp>
        <p:nvSpPr>
          <p:cNvPr id="5" name="Shape 3"/>
          <p:cNvSpPr/>
          <p:nvPr/>
        </p:nvSpPr>
        <p:spPr>
          <a:xfrm>
            <a:off x="0" y="4828032"/>
            <a:ext cx="9144000" cy="315468"/>
          </a:xfrm>
          <a:prstGeom prst="rect">
            <a:avLst/>
          </a:prstGeom>
          <a:solidFill>
            <a:srgbClr val="0D0D0D"/>
          </a:solidFill>
          <a:ln w="12700">
            <a:solidFill>
              <a:srgbClr val="0D0D0D"/>
            </a:solidFill>
            <a:prstDash val="solid"/>
          </a:ln>
        </p:spPr>
      </p:sp>
      <p:sp>
        <p:nvSpPr>
          <p:cNvPr id="6" name="Text 4"/>
          <p:cNvSpPr/>
          <p:nvPr/>
        </p:nvSpPr>
        <p:spPr>
          <a:xfrm>
            <a:off x="182880" y="4855464"/>
            <a:ext cx="7315200" cy="228600"/>
          </a:xfrm>
          <a:prstGeom prst="rect">
            <a:avLst/>
          </a:prstGeom>
          <a:noFill/>
          <a:ln/>
        </p:spPr>
        <p:txBody>
          <a:bodyPr wrap="square" lIns="0" tIns="0" rIns="0" bIns="0" rtlCol="0" anchor="ctr"/>
          <a:lstStyle/>
          <a:p>
            <a:pPr marL="0" indent="0">
              <a:buNone/>
            </a:pPr>
            <a:r>
              <a:rPr lang="en-US" sz="850" dirty="0">
                <a:solidFill>
                  <a:srgbClr val="999999"/>
                </a:solidFill>
                <a:latin typeface="Calibri" pitchFamily="34" charset="0"/>
                <a:ea typeface="Calibri" pitchFamily="34" charset="-122"/>
                <a:cs typeface="Calibri" pitchFamily="34" charset="-120"/>
              </a:rPr>
              <a:t>Quality Engineering | Test Case Development in STLC</a:t>
            </a:r>
            <a:endParaRPr lang="en-US" sz="850" dirty="0"/>
          </a:p>
        </p:txBody>
      </p:sp>
      <p:sp>
        <p:nvSpPr>
          <p:cNvPr id="7" name="Text 5"/>
          <p:cNvSpPr/>
          <p:nvPr/>
        </p:nvSpPr>
        <p:spPr>
          <a:xfrm>
            <a:off x="7406640" y="4855464"/>
            <a:ext cx="1554480" cy="228600"/>
          </a:xfrm>
          <a:prstGeom prst="rect">
            <a:avLst/>
          </a:prstGeom>
          <a:noFill/>
          <a:ln/>
        </p:spPr>
        <p:txBody>
          <a:bodyPr wrap="square" lIns="0" tIns="0" rIns="0" bIns="0" rtlCol="0" anchor="ctr"/>
          <a:lstStyle/>
          <a:p>
            <a:pPr marL="0" indent="0" algn="r">
              <a:buNone/>
            </a:pPr>
            <a:r>
              <a:rPr lang="en-US" sz="850" b="1" dirty="0">
                <a:solidFill>
                  <a:srgbClr val="FF6500"/>
                </a:solidFill>
                <a:latin typeface="Calibri" pitchFamily="34" charset="0"/>
                <a:ea typeface="Calibri" pitchFamily="34" charset="-122"/>
                <a:cs typeface="Calibri" pitchFamily="34" charset="-120"/>
              </a:rPr>
              <a:t>INTERNAL TRAINING</a:t>
            </a:r>
            <a:endParaRPr lang="en-US" sz="850" dirty="0"/>
          </a:p>
        </p:txBody>
      </p:sp>
      <p:sp>
        <p:nvSpPr>
          <p:cNvPr id="8" name="Shape 6"/>
          <p:cNvSpPr/>
          <p:nvPr/>
        </p:nvSpPr>
        <p:spPr>
          <a:xfrm>
            <a:off x="228600" y="777240"/>
            <a:ext cx="4160520" cy="1901952"/>
          </a:xfrm>
          <a:prstGeom prst="rect">
            <a:avLst/>
          </a:prstGeom>
          <a:solidFill>
            <a:srgbClr val="FFFFFF"/>
          </a:solidFill>
          <a:ln w="12700">
            <a:solidFill>
              <a:srgbClr val="DEDEDE"/>
            </a:solidFill>
            <a:prstDash val="solid"/>
          </a:ln>
          <a:effectLst>
            <a:outerShdw blurRad="76200" dist="25400" dir="8100000" algn="bl" rotWithShape="0">
              <a:srgbClr val="000000">
                <a:alpha val="13000"/>
              </a:srgbClr>
            </a:outerShdw>
          </a:effectLst>
        </p:spPr>
      </p:sp>
      <p:sp>
        <p:nvSpPr>
          <p:cNvPr id="9" name="Shape 7"/>
          <p:cNvSpPr/>
          <p:nvPr/>
        </p:nvSpPr>
        <p:spPr>
          <a:xfrm>
            <a:off x="228600" y="777240"/>
            <a:ext cx="548640" cy="1901952"/>
          </a:xfrm>
          <a:prstGeom prst="rect">
            <a:avLst/>
          </a:prstGeom>
          <a:solidFill>
            <a:srgbClr val="0D0D0D"/>
          </a:solidFill>
          <a:ln w="12700">
            <a:solidFill>
              <a:srgbClr val="0D0D0D"/>
            </a:solidFill>
            <a:prstDash val="solid"/>
          </a:ln>
        </p:spPr>
      </p:sp>
      <p:sp>
        <p:nvSpPr>
          <p:cNvPr id="10" name="Text 8"/>
          <p:cNvSpPr/>
          <p:nvPr/>
        </p:nvSpPr>
        <p:spPr>
          <a:xfrm>
            <a:off x="274320" y="822960"/>
            <a:ext cx="457200" cy="457200"/>
          </a:xfrm>
          <a:prstGeom prst="rect">
            <a:avLst/>
          </a:prstGeom>
          <a:noFill/>
          <a:ln/>
        </p:spPr>
        <p:txBody>
          <a:bodyPr wrap="square" lIns="0" tIns="0" rIns="0" bIns="0" rtlCol="0" anchor="ctr"/>
          <a:lstStyle/>
          <a:p>
            <a:pPr marL="0" indent="0" algn="ctr">
              <a:buNone/>
            </a:pPr>
            <a:r>
              <a:rPr lang="en-US" sz="2000" dirty="0">
                <a:solidFill>
                  <a:srgbClr val="000000"/>
                </a:solidFill>
              </a:rPr>
              <a:t>📄</a:t>
            </a:r>
            <a:endParaRPr lang="en-US" sz="2000" dirty="0"/>
          </a:p>
        </p:txBody>
      </p:sp>
      <p:sp>
        <p:nvSpPr>
          <p:cNvPr id="11" name="Text 9"/>
          <p:cNvSpPr/>
          <p:nvPr/>
        </p:nvSpPr>
        <p:spPr>
          <a:xfrm>
            <a:off x="274320" y="1325880"/>
            <a:ext cx="457200" cy="365760"/>
          </a:xfrm>
          <a:prstGeom prst="rect">
            <a:avLst/>
          </a:prstGeom>
          <a:noFill/>
          <a:ln/>
        </p:spPr>
        <p:txBody>
          <a:bodyPr wrap="square" lIns="0" tIns="0" rIns="0" bIns="0" rtlCol="0" anchor="ctr"/>
          <a:lstStyle/>
          <a:p>
            <a:pPr marL="0" indent="0" algn="ctr">
              <a:buNone/>
            </a:pPr>
            <a:r>
              <a:rPr lang="en-US" sz="1100" b="1" dirty="0">
                <a:solidFill>
                  <a:srgbClr val="FF6500"/>
                </a:solidFill>
                <a:latin typeface="Arial Black" pitchFamily="34" charset="0"/>
                <a:ea typeface="Arial Black" pitchFamily="34" charset="-122"/>
                <a:cs typeface="Arial Black" pitchFamily="34" charset="-120"/>
              </a:rPr>
              <a:t>D1</a:t>
            </a:r>
            <a:endParaRPr lang="en-US" sz="1100" dirty="0"/>
          </a:p>
        </p:txBody>
      </p:sp>
      <p:sp>
        <p:nvSpPr>
          <p:cNvPr id="12" name="Text 10"/>
          <p:cNvSpPr/>
          <p:nvPr/>
        </p:nvSpPr>
        <p:spPr>
          <a:xfrm>
            <a:off x="850392" y="832104"/>
            <a:ext cx="3447288" cy="347472"/>
          </a:xfrm>
          <a:prstGeom prst="rect">
            <a:avLst/>
          </a:prstGeom>
          <a:noFill/>
          <a:ln/>
        </p:spPr>
        <p:txBody>
          <a:bodyPr wrap="square" lIns="0" tIns="0" rIns="0" bIns="0" rtlCol="0" anchor="ctr"/>
          <a:lstStyle/>
          <a:p>
            <a:pPr marL="0" indent="0">
              <a:buNone/>
            </a:pPr>
            <a:r>
              <a:rPr lang="en-US" sz="1300" b="1" dirty="0">
                <a:solidFill>
                  <a:srgbClr val="FF6500"/>
                </a:solidFill>
                <a:latin typeface="Arial" pitchFamily="34" charset="0"/>
                <a:ea typeface="Arial" pitchFamily="34" charset="-122"/>
                <a:cs typeface="Arial" pitchFamily="34" charset="-120"/>
              </a:rPr>
              <a:t>Test Case Document</a:t>
            </a:r>
            <a:endParaRPr lang="en-US" sz="1300" dirty="0"/>
          </a:p>
        </p:txBody>
      </p:sp>
      <p:sp>
        <p:nvSpPr>
          <p:cNvPr id="13" name="Text 11"/>
          <p:cNvSpPr/>
          <p:nvPr/>
        </p:nvSpPr>
        <p:spPr>
          <a:xfrm>
            <a:off x="850392" y="1207008"/>
            <a:ext cx="3447288" cy="749808"/>
          </a:xfrm>
          <a:prstGeom prst="rect">
            <a:avLst/>
          </a:prstGeom>
          <a:noFill/>
          <a:ln/>
        </p:spPr>
        <p:txBody>
          <a:bodyPr wrap="square" lIns="0" tIns="0" rIns="0" bIns="0" rtlCol="0" anchor="t"/>
          <a:lstStyle/>
          <a:p>
            <a:pPr marL="0" indent="0">
              <a:buNone/>
            </a:pPr>
            <a:r>
              <a:rPr lang="en-US" sz="1000" dirty="0">
                <a:solidFill>
                  <a:srgbClr val="2C2C2C"/>
                </a:solidFill>
                <a:latin typeface="Calibri" pitchFamily="34" charset="0"/>
                <a:ea typeface="Calibri" pitchFamily="34" charset="-122"/>
                <a:cs typeface="Calibri" pitchFamily="34" charset="-120"/>
              </a:rPr>
              <a:t>The primary deliverable. A structured document (Excel, TestRail, Zephyr) containing all test cases with all 11 fields completed for every testable requirement.</a:t>
            </a:r>
            <a:endParaRPr lang="en-US" sz="1000" dirty="0"/>
          </a:p>
        </p:txBody>
      </p:sp>
      <p:sp>
        <p:nvSpPr>
          <p:cNvPr id="14" name="Text 12"/>
          <p:cNvSpPr/>
          <p:nvPr/>
        </p:nvSpPr>
        <p:spPr>
          <a:xfrm>
            <a:off x="850392" y="1984248"/>
            <a:ext cx="3447288" cy="621792"/>
          </a:xfrm>
          <a:prstGeom prst="rect">
            <a:avLst/>
          </a:prstGeom>
          <a:noFill/>
          <a:ln/>
        </p:spPr>
        <p:txBody>
          <a:bodyPr wrap="square" lIns="0" tIns="0" rIns="0" bIns="0" rtlCol="0" anchor="t"/>
          <a:lstStyle/>
          <a:p>
            <a:pPr marL="0" indent="0">
              <a:buNone/>
            </a:pPr>
            <a:r>
              <a:rPr lang="en-US" sz="950" i="1" dirty="0">
                <a:solidFill>
                  <a:srgbClr val="5A5A5A"/>
                </a:solidFill>
                <a:latin typeface="Calibri" pitchFamily="34" charset="0"/>
                <a:ea typeface="Calibri" pitchFamily="34" charset="-122"/>
                <a:cs typeface="Calibri" pitchFamily="34" charset="-120"/>
              </a:rPr>
              <a:t>Format: Excel (.xlsx), TestRail, Zephyr Scale, or Confluence table</a:t>
            </a:r>
            <a:endParaRPr lang="en-US" sz="950" dirty="0"/>
          </a:p>
          <a:p>
            <a:pPr marL="0" indent="0">
              <a:buNone/>
            </a:pPr>
            <a:r>
              <a:rPr lang="en-US" sz="950" i="1" dirty="0">
                <a:solidFill>
                  <a:srgbClr val="5A5A5A"/>
                </a:solidFill>
                <a:latin typeface="Calibri" pitchFamily="34" charset="0"/>
                <a:ea typeface="Calibri" pitchFamily="34" charset="-122"/>
                <a:cs typeface="Calibri" pitchFamily="34" charset="-120"/>
              </a:rPr>
              <a:t>Naming: TC_[ProjectName]_[Module]_v[1.0].xlsx</a:t>
            </a:r>
            <a:endParaRPr lang="en-US" sz="950" dirty="0"/>
          </a:p>
        </p:txBody>
      </p:sp>
      <p:sp>
        <p:nvSpPr>
          <p:cNvPr id="15" name="Shape 13"/>
          <p:cNvSpPr/>
          <p:nvPr/>
        </p:nvSpPr>
        <p:spPr>
          <a:xfrm>
            <a:off x="4599432" y="777240"/>
            <a:ext cx="4160520" cy="1901952"/>
          </a:xfrm>
          <a:prstGeom prst="rect">
            <a:avLst/>
          </a:prstGeom>
          <a:solidFill>
            <a:srgbClr val="FFFFFF"/>
          </a:solidFill>
          <a:ln w="12700">
            <a:solidFill>
              <a:srgbClr val="DEDEDE"/>
            </a:solidFill>
            <a:prstDash val="solid"/>
          </a:ln>
          <a:effectLst>
            <a:outerShdw blurRad="76200" dist="25400" dir="8100000" algn="bl" rotWithShape="0">
              <a:srgbClr val="000000">
                <a:alpha val="13000"/>
              </a:srgbClr>
            </a:outerShdw>
          </a:effectLst>
        </p:spPr>
      </p:sp>
      <p:sp>
        <p:nvSpPr>
          <p:cNvPr id="16" name="Shape 14"/>
          <p:cNvSpPr/>
          <p:nvPr/>
        </p:nvSpPr>
        <p:spPr>
          <a:xfrm>
            <a:off x="4599432" y="777240"/>
            <a:ext cx="548640" cy="1901952"/>
          </a:xfrm>
          <a:prstGeom prst="rect">
            <a:avLst/>
          </a:prstGeom>
          <a:solidFill>
            <a:srgbClr val="0D0D0D"/>
          </a:solidFill>
          <a:ln w="12700">
            <a:solidFill>
              <a:srgbClr val="0D0D0D"/>
            </a:solidFill>
            <a:prstDash val="solid"/>
          </a:ln>
        </p:spPr>
      </p:sp>
      <p:sp>
        <p:nvSpPr>
          <p:cNvPr id="17" name="Text 15"/>
          <p:cNvSpPr/>
          <p:nvPr/>
        </p:nvSpPr>
        <p:spPr>
          <a:xfrm>
            <a:off x="4645152" y="822960"/>
            <a:ext cx="457200" cy="457200"/>
          </a:xfrm>
          <a:prstGeom prst="rect">
            <a:avLst/>
          </a:prstGeom>
          <a:noFill/>
          <a:ln/>
        </p:spPr>
        <p:txBody>
          <a:bodyPr wrap="square" lIns="0" tIns="0" rIns="0" bIns="0" rtlCol="0" anchor="ctr"/>
          <a:lstStyle/>
          <a:p>
            <a:pPr marL="0" indent="0" algn="ctr">
              <a:buNone/>
            </a:pPr>
            <a:r>
              <a:rPr lang="en-US" sz="2000" dirty="0">
                <a:solidFill>
                  <a:srgbClr val="000000"/>
                </a:solidFill>
              </a:rPr>
              <a:t>🔗</a:t>
            </a:r>
            <a:endParaRPr lang="en-US" sz="2000" dirty="0"/>
          </a:p>
        </p:txBody>
      </p:sp>
      <p:sp>
        <p:nvSpPr>
          <p:cNvPr id="18" name="Text 16"/>
          <p:cNvSpPr/>
          <p:nvPr/>
        </p:nvSpPr>
        <p:spPr>
          <a:xfrm>
            <a:off x="4645152" y="1325880"/>
            <a:ext cx="457200" cy="365760"/>
          </a:xfrm>
          <a:prstGeom prst="rect">
            <a:avLst/>
          </a:prstGeom>
          <a:noFill/>
          <a:ln/>
        </p:spPr>
        <p:txBody>
          <a:bodyPr wrap="square" lIns="0" tIns="0" rIns="0" bIns="0" rtlCol="0" anchor="ctr"/>
          <a:lstStyle/>
          <a:p>
            <a:pPr marL="0" indent="0" algn="ctr">
              <a:buNone/>
            </a:pPr>
            <a:r>
              <a:rPr lang="en-US" sz="1100" b="1" dirty="0">
                <a:solidFill>
                  <a:srgbClr val="FF6500"/>
                </a:solidFill>
                <a:latin typeface="Arial Black" pitchFamily="34" charset="0"/>
                <a:ea typeface="Arial Black" pitchFamily="34" charset="-122"/>
                <a:cs typeface="Arial Black" pitchFamily="34" charset="-120"/>
              </a:rPr>
              <a:t>D2</a:t>
            </a:r>
            <a:endParaRPr lang="en-US" sz="1100" dirty="0"/>
          </a:p>
        </p:txBody>
      </p:sp>
      <p:sp>
        <p:nvSpPr>
          <p:cNvPr id="19" name="Text 17"/>
          <p:cNvSpPr/>
          <p:nvPr/>
        </p:nvSpPr>
        <p:spPr>
          <a:xfrm>
            <a:off x="5221224" y="832104"/>
            <a:ext cx="3447288" cy="347472"/>
          </a:xfrm>
          <a:prstGeom prst="rect">
            <a:avLst/>
          </a:prstGeom>
          <a:noFill/>
          <a:ln/>
        </p:spPr>
        <p:txBody>
          <a:bodyPr wrap="square" lIns="0" tIns="0" rIns="0" bIns="0" rtlCol="0" anchor="ctr"/>
          <a:lstStyle/>
          <a:p>
            <a:pPr marL="0" indent="0">
              <a:buNone/>
            </a:pPr>
            <a:r>
              <a:rPr lang="en-US" sz="1300" b="1" dirty="0">
                <a:solidFill>
                  <a:srgbClr val="FF6500"/>
                </a:solidFill>
                <a:latin typeface="Arial" pitchFamily="34" charset="0"/>
                <a:ea typeface="Arial" pitchFamily="34" charset="-122"/>
                <a:cs typeface="Arial" pitchFamily="34" charset="-120"/>
              </a:rPr>
              <a:t>Requirement Traceability Matrix (RTM)</a:t>
            </a:r>
            <a:endParaRPr lang="en-US" sz="1300" dirty="0"/>
          </a:p>
        </p:txBody>
      </p:sp>
      <p:sp>
        <p:nvSpPr>
          <p:cNvPr id="20" name="Text 18"/>
          <p:cNvSpPr/>
          <p:nvPr/>
        </p:nvSpPr>
        <p:spPr>
          <a:xfrm>
            <a:off x="5221224" y="1207008"/>
            <a:ext cx="3447288" cy="749808"/>
          </a:xfrm>
          <a:prstGeom prst="rect">
            <a:avLst/>
          </a:prstGeom>
          <a:noFill/>
          <a:ln/>
        </p:spPr>
        <p:txBody>
          <a:bodyPr wrap="square" lIns="0" tIns="0" rIns="0" bIns="0" rtlCol="0" anchor="t"/>
          <a:lstStyle/>
          <a:p>
            <a:pPr marL="0" indent="0">
              <a:buNone/>
            </a:pPr>
            <a:r>
              <a:rPr lang="en-US" sz="1000" dirty="0">
                <a:solidFill>
                  <a:srgbClr val="2C2C2C"/>
                </a:solidFill>
                <a:latin typeface="Calibri" pitchFamily="34" charset="0"/>
                <a:ea typeface="Calibri" pitchFamily="34" charset="-122"/>
                <a:cs typeface="Calibri" pitchFamily="34" charset="-120"/>
              </a:rPr>
              <a:t>An updated RTM showing the mapping between every requirement ID and its corresponding test case IDs, priorities, and execution status.</a:t>
            </a:r>
            <a:endParaRPr lang="en-US" sz="1000" dirty="0"/>
          </a:p>
        </p:txBody>
      </p:sp>
      <p:sp>
        <p:nvSpPr>
          <p:cNvPr id="21" name="Text 19"/>
          <p:cNvSpPr/>
          <p:nvPr/>
        </p:nvSpPr>
        <p:spPr>
          <a:xfrm>
            <a:off x="5221224" y="1984248"/>
            <a:ext cx="3447288" cy="621792"/>
          </a:xfrm>
          <a:prstGeom prst="rect">
            <a:avLst/>
          </a:prstGeom>
          <a:noFill/>
          <a:ln/>
        </p:spPr>
        <p:txBody>
          <a:bodyPr wrap="square" lIns="0" tIns="0" rIns="0" bIns="0" rtlCol="0" anchor="t"/>
          <a:lstStyle/>
          <a:p>
            <a:pPr marL="0" indent="0">
              <a:buNone/>
            </a:pPr>
            <a:r>
              <a:rPr lang="en-US" sz="950" i="1" dirty="0">
                <a:solidFill>
                  <a:srgbClr val="5A5A5A"/>
                </a:solidFill>
                <a:latin typeface="Calibri" pitchFamily="34" charset="0"/>
                <a:ea typeface="Calibri" pitchFamily="34" charset="-122"/>
                <a:cs typeface="Calibri" pitchFamily="34" charset="-120"/>
              </a:rPr>
              <a:t>Format: Excel or Confluence table</a:t>
            </a:r>
            <a:endParaRPr lang="en-US" sz="950" dirty="0"/>
          </a:p>
          <a:p>
            <a:pPr marL="0" indent="0">
              <a:buNone/>
            </a:pPr>
            <a:r>
              <a:rPr lang="en-US" sz="950" i="1" dirty="0">
                <a:solidFill>
                  <a:srgbClr val="5A5A5A"/>
                </a:solidFill>
                <a:latin typeface="Calibri" pitchFamily="34" charset="0"/>
                <a:ea typeface="Calibri" pitchFamily="34" charset="-122"/>
                <a:cs typeface="Calibri" pitchFamily="34" charset="-120"/>
              </a:rPr>
              <a:t>Columns: Req ID | Req Description | TC ID(s) | TC Status | Remarks</a:t>
            </a:r>
            <a:endParaRPr lang="en-US" sz="950" dirty="0"/>
          </a:p>
        </p:txBody>
      </p:sp>
      <p:sp>
        <p:nvSpPr>
          <p:cNvPr id="22" name="Shape 20"/>
          <p:cNvSpPr/>
          <p:nvPr/>
        </p:nvSpPr>
        <p:spPr>
          <a:xfrm>
            <a:off x="228600" y="2807208"/>
            <a:ext cx="4160520" cy="1901952"/>
          </a:xfrm>
          <a:prstGeom prst="rect">
            <a:avLst/>
          </a:prstGeom>
          <a:solidFill>
            <a:srgbClr val="FFFFFF"/>
          </a:solidFill>
          <a:ln w="12700">
            <a:solidFill>
              <a:srgbClr val="DEDEDE"/>
            </a:solidFill>
            <a:prstDash val="solid"/>
          </a:ln>
          <a:effectLst>
            <a:outerShdw blurRad="76200" dist="25400" dir="8100000" algn="bl" rotWithShape="0">
              <a:srgbClr val="000000">
                <a:alpha val="13000"/>
              </a:srgbClr>
            </a:outerShdw>
          </a:effectLst>
        </p:spPr>
      </p:sp>
      <p:sp>
        <p:nvSpPr>
          <p:cNvPr id="23" name="Shape 21"/>
          <p:cNvSpPr/>
          <p:nvPr/>
        </p:nvSpPr>
        <p:spPr>
          <a:xfrm>
            <a:off x="228600" y="2807208"/>
            <a:ext cx="548640" cy="1901952"/>
          </a:xfrm>
          <a:prstGeom prst="rect">
            <a:avLst/>
          </a:prstGeom>
          <a:solidFill>
            <a:srgbClr val="0D0D0D"/>
          </a:solidFill>
          <a:ln w="12700">
            <a:solidFill>
              <a:srgbClr val="0D0D0D"/>
            </a:solidFill>
            <a:prstDash val="solid"/>
          </a:ln>
        </p:spPr>
      </p:sp>
      <p:sp>
        <p:nvSpPr>
          <p:cNvPr id="24" name="Text 22"/>
          <p:cNvSpPr/>
          <p:nvPr/>
        </p:nvSpPr>
        <p:spPr>
          <a:xfrm>
            <a:off x="274320" y="2852928"/>
            <a:ext cx="457200" cy="457200"/>
          </a:xfrm>
          <a:prstGeom prst="rect">
            <a:avLst/>
          </a:prstGeom>
          <a:noFill/>
          <a:ln/>
        </p:spPr>
        <p:txBody>
          <a:bodyPr wrap="square" lIns="0" tIns="0" rIns="0" bIns="0" rtlCol="0" anchor="ctr"/>
          <a:lstStyle/>
          <a:p>
            <a:pPr marL="0" indent="0" algn="ctr">
              <a:buNone/>
            </a:pPr>
            <a:r>
              <a:rPr lang="en-US" sz="2000" dirty="0">
                <a:solidFill>
                  <a:srgbClr val="000000"/>
                </a:solidFill>
              </a:rPr>
              <a:t>🗃️</a:t>
            </a:r>
            <a:endParaRPr lang="en-US" sz="2000" dirty="0"/>
          </a:p>
        </p:txBody>
      </p:sp>
      <p:sp>
        <p:nvSpPr>
          <p:cNvPr id="25" name="Text 23"/>
          <p:cNvSpPr/>
          <p:nvPr/>
        </p:nvSpPr>
        <p:spPr>
          <a:xfrm>
            <a:off x="274320" y="3355848"/>
            <a:ext cx="457200" cy="365760"/>
          </a:xfrm>
          <a:prstGeom prst="rect">
            <a:avLst/>
          </a:prstGeom>
          <a:noFill/>
          <a:ln/>
        </p:spPr>
        <p:txBody>
          <a:bodyPr wrap="square" lIns="0" tIns="0" rIns="0" bIns="0" rtlCol="0" anchor="ctr"/>
          <a:lstStyle/>
          <a:p>
            <a:pPr marL="0" indent="0" algn="ctr">
              <a:buNone/>
            </a:pPr>
            <a:r>
              <a:rPr lang="en-US" sz="1100" b="1" dirty="0">
                <a:solidFill>
                  <a:srgbClr val="FF6500"/>
                </a:solidFill>
                <a:latin typeface="Arial Black" pitchFamily="34" charset="0"/>
                <a:ea typeface="Arial Black" pitchFamily="34" charset="-122"/>
                <a:cs typeface="Arial Black" pitchFamily="34" charset="-120"/>
              </a:rPr>
              <a:t>D3</a:t>
            </a:r>
            <a:endParaRPr lang="en-US" sz="1100" dirty="0"/>
          </a:p>
        </p:txBody>
      </p:sp>
      <p:sp>
        <p:nvSpPr>
          <p:cNvPr id="26" name="Text 24"/>
          <p:cNvSpPr/>
          <p:nvPr/>
        </p:nvSpPr>
        <p:spPr>
          <a:xfrm>
            <a:off x="850392" y="2862072"/>
            <a:ext cx="3447288" cy="347472"/>
          </a:xfrm>
          <a:prstGeom prst="rect">
            <a:avLst/>
          </a:prstGeom>
          <a:noFill/>
          <a:ln/>
        </p:spPr>
        <p:txBody>
          <a:bodyPr wrap="square" lIns="0" tIns="0" rIns="0" bIns="0" rtlCol="0" anchor="ctr"/>
          <a:lstStyle/>
          <a:p>
            <a:pPr marL="0" indent="0">
              <a:buNone/>
            </a:pPr>
            <a:r>
              <a:rPr lang="en-US" sz="1300" b="1" dirty="0">
                <a:solidFill>
                  <a:srgbClr val="FF6500"/>
                </a:solidFill>
                <a:latin typeface="Arial" pitchFamily="34" charset="0"/>
                <a:ea typeface="Arial" pitchFamily="34" charset="-122"/>
                <a:cs typeface="Arial" pitchFamily="34" charset="-120"/>
              </a:rPr>
              <a:t>Test Data Repository</a:t>
            </a:r>
            <a:endParaRPr lang="en-US" sz="1300" dirty="0"/>
          </a:p>
        </p:txBody>
      </p:sp>
      <p:sp>
        <p:nvSpPr>
          <p:cNvPr id="27" name="Text 25"/>
          <p:cNvSpPr/>
          <p:nvPr/>
        </p:nvSpPr>
        <p:spPr>
          <a:xfrm>
            <a:off x="850392" y="3236976"/>
            <a:ext cx="3447288" cy="749808"/>
          </a:xfrm>
          <a:prstGeom prst="rect">
            <a:avLst/>
          </a:prstGeom>
          <a:noFill/>
          <a:ln/>
        </p:spPr>
        <p:txBody>
          <a:bodyPr wrap="square" lIns="0" tIns="0" rIns="0" bIns="0" rtlCol="0" anchor="t"/>
          <a:lstStyle/>
          <a:p>
            <a:pPr marL="0" indent="0">
              <a:buNone/>
            </a:pPr>
            <a:r>
              <a:rPr lang="en-US" sz="1000" dirty="0">
                <a:solidFill>
                  <a:srgbClr val="2C2C2C"/>
                </a:solidFill>
                <a:latin typeface="Calibri" pitchFamily="34" charset="0"/>
                <a:ea typeface="Calibri" pitchFamily="34" charset="-122"/>
                <a:cs typeface="Calibri" pitchFamily="34" charset="-120"/>
              </a:rPr>
              <a:t>A curated collection of test data sets (valid, invalid, edge) aligned to each test case. Must include data for positive, negative, and boundary scenarios.</a:t>
            </a:r>
            <a:endParaRPr lang="en-US" sz="1000" dirty="0"/>
          </a:p>
        </p:txBody>
      </p:sp>
      <p:sp>
        <p:nvSpPr>
          <p:cNvPr id="28" name="Text 26"/>
          <p:cNvSpPr/>
          <p:nvPr/>
        </p:nvSpPr>
        <p:spPr>
          <a:xfrm>
            <a:off x="850392" y="4014216"/>
            <a:ext cx="3447288" cy="621792"/>
          </a:xfrm>
          <a:prstGeom prst="rect">
            <a:avLst/>
          </a:prstGeom>
          <a:noFill/>
          <a:ln/>
        </p:spPr>
        <p:txBody>
          <a:bodyPr wrap="square" lIns="0" tIns="0" rIns="0" bIns="0" rtlCol="0" anchor="t"/>
          <a:lstStyle/>
          <a:p>
            <a:pPr marL="0" indent="0">
              <a:buNone/>
            </a:pPr>
            <a:r>
              <a:rPr lang="en-US" sz="950" i="1" dirty="0">
                <a:solidFill>
                  <a:srgbClr val="5A5A5A"/>
                </a:solidFill>
                <a:latin typeface="Calibri" pitchFamily="34" charset="0"/>
                <a:ea typeface="Calibri" pitchFamily="34" charset="-122"/>
                <a:cs typeface="Calibri" pitchFamily="34" charset="-120"/>
              </a:rPr>
              <a:t>Format: Excel sheets, CSV files, or database scripts</a:t>
            </a:r>
            <a:endParaRPr lang="en-US" sz="950" dirty="0"/>
          </a:p>
          <a:p>
            <a:pPr marL="0" indent="0">
              <a:buNone/>
            </a:pPr>
            <a:r>
              <a:rPr lang="en-US" sz="950" i="1" dirty="0">
                <a:solidFill>
                  <a:srgbClr val="5A5A5A"/>
                </a:solidFill>
                <a:latin typeface="Calibri" pitchFamily="34" charset="0"/>
                <a:ea typeface="Calibri" pitchFamily="34" charset="-122"/>
                <a:cs typeface="Calibri" pitchFamily="34" charset="-120"/>
              </a:rPr>
              <a:t>Location: Shared team repository (Confluence, SharePoint)</a:t>
            </a:r>
            <a:endParaRPr lang="en-US" sz="950" dirty="0"/>
          </a:p>
        </p:txBody>
      </p:sp>
      <p:sp>
        <p:nvSpPr>
          <p:cNvPr id="29" name="Shape 27"/>
          <p:cNvSpPr/>
          <p:nvPr/>
        </p:nvSpPr>
        <p:spPr>
          <a:xfrm>
            <a:off x="4599432" y="2807208"/>
            <a:ext cx="4160520" cy="1901952"/>
          </a:xfrm>
          <a:prstGeom prst="rect">
            <a:avLst/>
          </a:prstGeom>
          <a:solidFill>
            <a:srgbClr val="FFFFFF"/>
          </a:solidFill>
          <a:ln w="12700">
            <a:solidFill>
              <a:srgbClr val="DEDEDE"/>
            </a:solidFill>
            <a:prstDash val="solid"/>
          </a:ln>
          <a:effectLst>
            <a:outerShdw blurRad="76200" dist="25400" dir="8100000" algn="bl" rotWithShape="0">
              <a:srgbClr val="000000">
                <a:alpha val="13000"/>
              </a:srgbClr>
            </a:outerShdw>
          </a:effectLst>
        </p:spPr>
      </p:sp>
      <p:sp>
        <p:nvSpPr>
          <p:cNvPr id="30" name="Shape 28"/>
          <p:cNvSpPr/>
          <p:nvPr/>
        </p:nvSpPr>
        <p:spPr>
          <a:xfrm>
            <a:off x="4599432" y="2807208"/>
            <a:ext cx="548640" cy="1901952"/>
          </a:xfrm>
          <a:prstGeom prst="rect">
            <a:avLst/>
          </a:prstGeom>
          <a:solidFill>
            <a:srgbClr val="0D0D0D"/>
          </a:solidFill>
          <a:ln w="12700">
            <a:solidFill>
              <a:srgbClr val="0D0D0D"/>
            </a:solidFill>
            <a:prstDash val="solid"/>
          </a:ln>
        </p:spPr>
      </p:sp>
      <p:sp>
        <p:nvSpPr>
          <p:cNvPr id="31" name="Text 29"/>
          <p:cNvSpPr/>
          <p:nvPr/>
        </p:nvSpPr>
        <p:spPr>
          <a:xfrm>
            <a:off x="4645152" y="2852928"/>
            <a:ext cx="457200" cy="457200"/>
          </a:xfrm>
          <a:prstGeom prst="rect">
            <a:avLst/>
          </a:prstGeom>
          <a:noFill/>
          <a:ln/>
        </p:spPr>
        <p:txBody>
          <a:bodyPr wrap="square" lIns="0" tIns="0" rIns="0" bIns="0" rtlCol="0" anchor="ctr"/>
          <a:lstStyle/>
          <a:p>
            <a:pPr marL="0" indent="0" algn="ctr">
              <a:buNone/>
            </a:pPr>
            <a:r>
              <a:rPr lang="en-US" sz="2000" dirty="0">
                <a:solidFill>
                  <a:srgbClr val="000000"/>
                </a:solidFill>
              </a:rPr>
              <a:t>✅</a:t>
            </a:r>
            <a:endParaRPr lang="en-US" sz="2000" dirty="0"/>
          </a:p>
        </p:txBody>
      </p:sp>
      <p:sp>
        <p:nvSpPr>
          <p:cNvPr id="32" name="Text 30"/>
          <p:cNvSpPr/>
          <p:nvPr/>
        </p:nvSpPr>
        <p:spPr>
          <a:xfrm>
            <a:off x="4645152" y="3355848"/>
            <a:ext cx="457200" cy="365760"/>
          </a:xfrm>
          <a:prstGeom prst="rect">
            <a:avLst/>
          </a:prstGeom>
          <a:noFill/>
          <a:ln/>
        </p:spPr>
        <p:txBody>
          <a:bodyPr wrap="square" lIns="0" tIns="0" rIns="0" bIns="0" rtlCol="0" anchor="ctr"/>
          <a:lstStyle/>
          <a:p>
            <a:pPr marL="0" indent="0" algn="ctr">
              <a:buNone/>
            </a:pPr>
            <a:r>
              <a:rPr lang="en-US" sz="1100" b="1" dirty="0">
                <a:solidFill>
                  <a:srgbClr val="FF6500"/>
                </a:solidFill>
                <a:latin typeface="Arial Black" pitchFamily="34" charset="0"/>
                <a:ea typeface="Arial Black" pitchFamily="34" charset="-122"/>
                <a:cs typeface="Arial Black" pitchFamily="34" charset="-120"/>
              </a:rPr>
              <a:t>D4</a:t>
            </a:r>
            <a:endParaRPr lang="en-US" sz="1100" dirty="0"/>
          </a:p>
        </p:txBody>
      </p:sp>
      <p:sp>
        <p:nvSpPr>
          <p:cNvPr id="33" name="Text 31"/>
          <p:cNvSpPr/>
          <p:nvPr/>
        </p:nvSpPr>
        <p:spPr>
          <a:xfrm>
            <a:off x="5221224" y="2862072"/>
            <a:ext cx="3447288" cy="347472"/>
          </a:xfrm>
          <a:prstGeom prst="rect">
            <a:avLst/>
          </a:prstGeom>
          <a:noFill/>
          <a:ln/>
        </p:spPr>
        <p:txBody>
          <a:bodyPr wrap="square" lIns="0" tIns="0" rIns="0" bIns="0" rtlCol="0" anchor="ctr"/>
          <a:lstStyle/>
          <a:p>
            <a:pPr marL="0" indent="0">
              <a:buNone/>
            </a:pPr>
            <a:r>
              <a:rPr lang="en-US" sz="1300" b="1" dirty="0">
                <a:solidFill>
                  <a:srgbClr val="FF6500"/>
                </a:solidFill>
                <a:latin typeface="Arial" pitchFamily="34" charset="0"/>
                <a:ea typeface="Arial" pitchFamily="34" charset="-122"/>
                <a:cs typeface="Arial" pitchFamily="34" charset="-120"/>
              </a:rPr>
              <a:t>Test Case Review Sign-Off Sheet</a:t>
            </a:r>
            <a:endParaRPr lang="en-US" sz="1300" dirty="0"/>
          </a:p>
        </p:txBody>
      </p:sp>
      <p:sp>
        <p:nvSpPr>
          <p:cNvPr id="34" name="Text 32"/>
          <p:cNvSpPr/>
          <p:nvPr/>
        </p:nvSpPr>
        <p:spPr>
          <a:xfrm>
            <a:off x="5221224" y="3236976"/>
            <a:ext cx="3447288" cy="749808"/>
          </a:xfrm>
          <a:prstGeom prst="rect">
            <a:avLst/>
          </a:prstGeom>
          <a:noFill/>
          <a:ln/>
        </p:spPr>
        <p:txBody>
          <a:bodyPr wrap="square" lIns="0" tIns="0" rIns="0" bIns="0" rtlCol="0" anchor="t"/>
          <a:lstStyle/>
          <a:p>
            <a:pPr marL="0" indent="0">
              <a:buNone/>
            </a:pPr>
            <a:r>
              <a:rPr lang="en-US" sz="1000" dirty="0">
                <a:solidFill>
                  <a:srgbClr val="2C2C2C"/>
                </a:solidFill>
                <a:latin typeface="Calibri" pitchFamily="34" charset="0"/>
                <a:ea typeface="Calibri" pitchFamily="34" charset="-122"/>
                <a:cs typeface="Calibri" pitchFamily="34" charset="-120"/>
              </a:rPr>
              <a:t>A document confirming that all test cases have been peer-reviewed, QA Lead validated, and approved. Includes reviewer name, date, and approval status.</a:t>
            </a:r>
            <a:endParaRPr lang="en-US" sz="1000" dirty="0"/>
          </a:p>
        </p:txBody>
      </p:sp>
      <p:sp>
        <p:nvSpPr>
          <p:cNvPr id="35" name="Text 33"/>
          <p:cNvSpPr/>
          <p:nvPr/>
        </p:nvSpPr>
        <p:spPr>
          <a:xfrm>
            <a:off x="5221224" y="4014216"/>
            <a:ext cx="3447288" cy="621792"/>
          </a:xfrm>
          <a:prstGeom prst="rect">
            <a:avLst/>
          </a:prstGeom>
          <a:noFill/>
          <a:ln/>
        </p:spPr>
        <p:txBody>
          <a:bodyPr wrap="square" lIns="0" tIns="0" rIns="0" bIns="0" rtlCol="0" anchor="t"/>
          <a:lstStyle/>
          <a:p>
            <a:pPr marL="0" indent="0">
              <a:buNone/>
            </a:pPr>
            <a:r>
              <a:rPr lang="en-US" sz="950" i="1" dirty="0">
                <a:solidFill>
                  <a:srgbClr val="5A5A5A"/>
                </a:solidFill>
                <a:latin typeface="Calibri" pitchFamily="34" charset="0"/>
                <a:ea typeface="Calibri" pitchFamily="34" charset="-122"/>
                <a:cs typeface="Calibri" pitchFamily="34" charset="-120"/>
              </a:rPr>
              <a:t>Format: Physical or digital sign-off form</a:t>
            </a:r>
            <a:endParaRPr lang="en-US" sz="950" dirty="0"/>
          </a:p>
          <a:p>
            <a:pPr marL="0" indent="0">
              <a:buNone/>
            </a:pPr>
            <a:r>
              <a:rPr lang="en-US" sz="950" i="1" dirty="0">
                <a:solidFill>
                  <a:srgbClr val="5A5A5A"/>
                </a:solidFill>
                <a:latin typeface="Calibri" pitchFamily="34" charset="0"/>
                <a:ea typeface="Calibri" pitchFamily="34" charset="-122"/>
                <a:cs typeface="Calibri" pitchFamily="34" charset="-120"/>
              </a:rPr>
              <a:t>Required: Author, Peer Reviewer, QA Lead signatures</a:t>
            </a:r>
            <a:endParaRPr lang="en-US" sz="95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9">
    <p:bg>
      <p:bgPr>
        <a:solidFill>
          <a:srgbClr val="F5F5F5"/>
        </a:solidFill>
        <a:effectLst/>
      </p:bgPr>
    </p:bg>
    <p:spTree>
      <p:nvGrpSpPr>
        <p:cNvPr id="1" name=""/>
        <p:cNvGrpSpPr/>
        <p:nvPr/>
      </p:nvGrpSpPr>
      <p:grpSpPr>
        <a:xfrm>
          <a:off x="0" y="0"/>
          <a:ext cx="0" cy="0"/>
          <a:chOff x="0" y="0"/>
          <a:chExt cx="0" cy="0"/>
        </a:xfrm>
      </p:grpSpPr>
      <p:sp>
        <p:nvSpPr>
          <p:cNvPr id="2" name="Shape 0"/>
          <p:cNvSpPr/>
          <p:nvPr/>
        </p:nvSpPr>
        <p:spPr>
          <a:xfrm>
            <a:off x="0" y="0"/>
            <a:ext cx="9144000" cy="621792"/>
          </a:xfrm>
          <a:prstGeom prst="rect">
            <a:avLst/>
          </a:prstGeom>
          <a:solidFill>
            <a:srgbClr val="0D0D0D"/>
          </a:solidFill>
          <a:ln w="12700">
            <a:solidFill>
              <a:srgbClr val="0D0D0D"/>
            </a:solidFill>
            <a:prstDash val="solid"/>
          </a:ln>
        </p:spPr>
      </p:sp>
      <p:sp>
        <p:nvSpPr>
          <p:cNvPr id="3" name="Shape 1"/>
          <p:cNvSpPr/>
          <p:nvPr/>
        </p:nvSpPr>
        <p:spPr>
          <a:xfrm>
            <a:off x="0" y="0"/>
            <a:ext cx="64008" cy="621792"/>
          </a:xfrm>
          <a:prstGeom prst="rect">
            <a:avLst/>
          </a:prstGeom>
          <a:solidFill>
            <a:srgbClr val="FF6500"/>
          </a:solidFill>
          <a:ln w="12700">
            <a:solidFill>
              <a:srgbClr val="FF6500"/>
            </a:solidFill>
            <a:prstDash val="solid"/>
          </a:ln>
        </p:spPr>
      </p:sp>
      <p:sp>
        <p:nvSpPr>
          <p:cNvPr id="4" name="Text 2"/>
          <p:cNvSpPr/>
          <p:nvPr/>
        </p:nvSpPr>
        <p:spPr>
          <a:xfrm>
            <a:off x="201168" y="64008"/>
            <a:ext cx="8503920" cy="493776"/>
          </a:xfrm>
          <a:prstGeom prst="rect">
            <a:avLst/>
          </a:prstGeom>
          <a:noFill/>
          <a:ln/>
        </p:spPr>
        <p:txBody>
          <a:bodyPr wrap="square" lIns="0" tIns="0" rIns="0" bIns="0" rtlCol="0" anchor="ctr"/>
          <a:lstStyle/>
          <a:p>
            <a:pPr marL="0" indent="0">
              <a:buNone/>
            </a:pPr>
            <a:r>
              <a:rPr lang="en-US" sz="1900" b="1" dirty="0">
                <a:solidFill>
                  <a:srgbClr val="FFFFFF"/>
                </a:solidFill>
                <a:latin typeface="Arial" pitchFamily="34" charset="0"/>
                <a:ea typeface="Arial" pitchFamily="34" charset="-122"/>
                <a:cs typeface="Arial" pitchFamily="34" charset="-120"/>
              </a:rPr>
              <a:t>Sample Test Case Template — Blank (Use This as Your Standard Format)</a:t>
            </a:r>
            <a:endParaRPr lang="en-US" sz="1900" dirty="0"/>
          </a:p>
        </p:txBody>
      </p:sp>
      <p:sp>
        <p:nvSpPr>
          <p:cNvPr id="5" name="Shape 3"/>
          <p:cNvSpPr/>
          <p:nvPr/>
        </p:nvSpPr>
        <p:spPr>
          <a:xfrm>
            <a:off x="0" y="4828032"/>
            <a:ext cx="9144000" cy="315468"/>
          </a:xfrm>
          <a:prstGeom prst="rect">
            <a:avLst/>
          </a:prstGeom>
          <a:solidFill>
            <a:srgbClr val="0D0D0D"/>
          </a:solidFill>
          <a:ln w="12700">
            <a:solidFill>
              <a:srgbClr val="0D0D0D"/>
            </a:solidFill>
            <a:prstDash val="solid"/>
          </a:ln>
        </p:spPr>
      </p:sp>
      <p:sp>
        <p:nvSpPr>
          <p:cNvPr id="6" name="Text 4"/>
          <p:cNvSpPr/>
          <p:nvPr/>
        </p:nvSpPr>
        <p:spPr>
          <a:xfrm>
            <a:off x="182880" y="4855464"/>
            <a:ext cx="7315200" cy="228600"/>
          </a:xfrm>
          <a:prstGeom prst="rect">
            <a:avLst/>
          </a:prstGeom>
          <a:noFill/>
          <a:ln/>
        </p:spPr>
        <p:txBody>
          <a:bodyPr wrap="square" lIns="0" tIns="0" rIns="0" bIns="0" rtlCol="0" anchor="ctr"/>
          <a:lstStyle/>
          <a:p>
            <a:pPr marL="0" indent="0">
              <a:buNone/>
            </a:pPr>
            <a:r>
              <a:rPr lang="en-US" sz="850" dirty="0">
                <a:solidFill>
                  <a:srgbClr val="999999"/>
                </a:solidFill>
                <a:latin typeface="Calibri" pitchFamily="34" charset="0"/>
                <a:ea typeface="Calibri" pitchFamily="34" charset="-122"/>
                <a:cs typeface="Calibri" pitchFamily="34" charset="-120"/>
              </a:rPr>
              <a:t>Quality Engineering | Test Case Development in STLC</a:t>
            </a:r>
            <a:endParaRPr lang="en-US" sz="850" dirty="0"/>
          </a:p>
        </p:txBody>
      </p:sp>
      <p:sp>
        <p:nvSpPr>
          <p:cNvPr id="7" name="Text 5"/>
          <p:cNvSpPr/>
          <p:nvPr/>
        </p:nvSpPr>
        <p:spPr>
          <a:xfrm>
            <a:off x="7406640" y="4855464"/>
            <a:ext cx="1554480" cy="228600"/>
          </a:xfrm>
          <a:prstGeom prst="rect">
            <a:avLst/>
          </a:prstGeom>
          <a:noFill/>
          <a:ln/>
        </p:spPr>
        <p:txBody>
          <a:bodyPr wrap="square" lIns="0" tIns="0" rIns="0" bIns="0" rtlCol="0" anchor="ctr"/>
          <a:lstStyle/>
          <a:p>
            <a:pPr marL="0" indent="0" algn="r">
              <a:buNone/>
            </a:pPr>
            <a:r>
              <a:rPr lang="en-US" sz="850" b="1" dirty="0">
                <a:solidFill>
                  <a:srgbClr val="FF6500"/>
                </a:solidFill>
                <a:latin typeface="Calibri" pitchFamily="34" charset="0"/>
                <a:ea typeface="Calibri" pitchFamily="34" charset="-122"/>
                <a:cs typeface="Calibri" pitchFamily="34" charset="-120"/>
              </a:rPr>
              <a:t>INTERNAL TRAINING</a:t>
            </a:r>
            <a:endParaRPr lang="en-US" sz="850" dirty="0"/>
          </a:p>
        </p:txBody>
      </p:sp>
      <p:graphicFrame>
        <p:nvGraphicFramePr>
          <p:cNvPr id="30" name="Table 0"/>
          <p:cNvGraphicFramePr>
            <a:graphicFrameLocks noGrp="1"/>
          </p:cNvGraphicFramePr>
          <p:nvPr>
            <p:extLst>
              <p:ext uri="{D42A27DB-BD31-4B8C-83A1-F6EECF244321}">
                <p14:modId xmlns:p14="http://schemas.microsoft.com/office/powerpoint/2010/main" val="1579011935"/>
              </p:ext>
            </p:extLst>
          </p:nvPr>
        </p:nvGraphicFramePr>
        <p:xfrm>
          <a:off x="228600" y="777240"/>
          <a:ext cx="9692640" cy="3017520"/>
        </p:xfrm>
        <a:graphic>
          <a:graphicData uri="http://schemas.openxmlformats.org/drawingml/2006/table">
            <a:tbl>
              <a:tblPr/>
              <a:tblGrid>
                <a:gridCol w="1005840">
                  <a:extLst>
                    <a:ext uri="{9D8B030D-6E8A-4147-A177-3AD203B41FA5}">
                      <a16:colId xmlns:a16="http://schemas.microsoft.com/office/drawing/2014/main" val="20000"/>
                    </a:ext>
                  </a:extLst>
                </a:gridCol>
                <a:gridCol w="1371600">
                  <a:extLst>
                    <a:ext uri="{9D8B030D-6E8A-4147-A177-3AD203B41FA5}">
                      <a16:colId xmlns:a16="http://schemas.microsoft.com/office/drawing/2014/main" val="20001"/>
                    </a:ext>
                  </a:extLst>
                </a:gridCol>
                <a:gridCol w="1463040">
                  <a:extLst>
                    <a:ext uri="{9D8B030D-6E8A-4147-A177-3AD203B41FA5}">
                      <a16:colId xmlns:a16="http://schemas.microsoft.com/office/drawing/2014/main" val="20002"/>
                    </a:ext>
                  </a:extLst>
                </a:gridCol>
                <a:gridCol w="1645920">
                  <a:extLst>
                    <a:ext uri="{9D8B030D-6E8A-4147-A177-3AD203B41FA5}">
                      <a16:colId xmlns:a16="http://schemas.microsoft.com/office/drawing/2014/main" val="20003"/>
                    </a:ext>
                  </a:extLst>
                </a:gridCol>
                <a:gridCol w="1005840">
                  <a:extLst>
                    <a:ext uri="{9D8B030D-6E8A-4147-A177-3AD203B41FA5}">
                      <a16:colId xmlns:a16="http://schemas.microsoft.com/office/drawing/2014/main" val="20004"/>
                    </a:ext>
                  </a:extLst>
                </a:gridCol>
                <a:gridCol w="1463040">
                  <a:extLst>
                    <a:ext uri="{9D8B030D-6E8A-4147-A177-3AD203B41FA5}">
                      <a16:colId xmlns:a16="http://schemas.microsoft.com/office/drawing/2014/main" val="20005"/>
                    </a:ext>
                  </a:extLst>
                </a:gridCol>
                <a:gridCol w="640080">
                  <a:extLst>
                    <a:ext uri="{9D8B030D-6E8A-4147-A177-3AD203B41FA5}">
                      <a16:colId xmlns:a16="http://schemas.microsoft.com/office/drawing/2014/main" val="20006"/>
                    </a:ext>
                  </a:extLst>
                </a:gridCol>
                <a:gridCol w="548640">
                  <a:extLst>
                    <a:ext uri="{9D8B030D-6E8A-4147-A177-3AD203B41FA5}">
                      <a16:colId xmlns:a16="http://schemas.microsoft.com/office/drawing/2014/main" val="20007"/>
                    </a:ext>
                  </a:extLst>
                </a:gridCol>
                <a:gridCol w="548640">
                  <a:extLst>
                    <a:ext uri="{9D8B030D-6E8A-4147-A177-3AD203B41FA5}">
                      <a16:colId xmlns:a16="http://schemas.microsoft.com/office/drawing/2014/main" val="20008"/>
                    </a:ext>
                  </a:extLst>
                </a:gridCol>
              </a:tblGrid>
              <a:tr h="502920">
                <a:tc>
                  <a:txBody>
                    <a:bodyPr/>
                    <a:lstStyle/>
                    <a:p>
                      <a:pPr marL="0" indent="0" algn="ctr">
                        <a:buNone/>
                      </a:pPr>
                      <a:r>
                        <a:rPr lang="en-US" sz="900" b="1" dirty="0">
                          <a:solidFill>
                            <a:srgbClr val="FF6500"/>
                          </a:solidFill>
                          <a:latin typeface="Arial" pitchFamily="34" charset="0"/>
                          <a:ea typeface="Arial" pitchFamily="34" charset="-122"/>
                          <a:cs typeface="Arial" pitchFamily="34" charset="-120"/>
                        </a:rPr>
                        <a:t>Test Case ID</a:t>
                      </a:r>
                      <a:endParaRPr lang="en-US" sz="900" dirty="0">
                        <a:latin typeface="Arial" charset="0"/>
                        <a:ea typeface="Arial" charset="0"/>
                        <a:cs typeface="Arial" charset="0"/>
                      </a:endParaRPr>
                    </a:p>
                  </a:txBody>
                  <a:tcPr marL="38100" marR="38100" marT="38100" marB="38100">
                    <a:lnL w="12700" cap="flat" cmpd="sng" algn="ctr">
                      <a:solidFill>
                        <a:srgbClr val="DEDEDE"/>
                      </a:solidFill>
                      <a:prstDash val="solid"/>
                      <a:round/>
                      <a:headEnd type="none" w="med" len="med"/>
                      <a:tailEnd type="none" w="med" len="med"/>
                    </a:lnL>
                    <a:lnR w="12700" cap="flat" cmpd="sng" algn="ctr">
                      <a:solidFill>
                        <a:srgbClr val="DEDEDE"/>
                      </a:solidFill>
                      <a:prstDash val="solid"/>
                      <a:round/>
                      <a:headEnd type="none" w="med" len="med"/>
                      <a:tailEnd type="none" w="med" len="med"/>
                    </a:lnR>
                    <a:lnT w="12700" cap="flat" cmpd="sng" algn="ctr">
                      <a:solidFill>
                        <a:srgbClr val="DEDEDE"/>
                      </a:solidFill>
                      <a:prstDash val="solid"/>
                      <a:round/>
                      <a:headEnd type="none" w="med" len="med"/>
                      <a:tailEnd type="none" w="med" len="med"/>
                    </a:lnT>
                    <a:lnB w="12700" cap="flat" cmpd="sng" algn="ctr">
                      <a:solidFill>
                        <a:srgbClr val="DEDEDE"/>
                      </a:solidFill>
                      <a:prstDash val="solid"/>
                      <a:round/>
                      <a:headEnd type="none" w="med" len="med"/>
                      <a:tailEnd type="none" w="med" len="med"/>
                    </a:lnB>
                    <a:solidFill>
                      <a:srgbClr val="0D0D0D"/>
                    </a:solidFill>
                  </a:tcPr>
                </a:tc>
                <a:tc>
                  <a:txBody>
                    <a:bodyPr/>
                    <a:lstStyle/>
                    <a:p>
                      <a:pPr marL="0" indent="0" algn="ctr">
                        <a:buNone/>
                      </a:pPr>
                      <a:r>
                        <a:rPr lang="en-US" sz="900" b="1" dirty="0">
                          <a:solidFill>
                            <a:srgbClr val="FF6500"/>
                          </a:solidFill>
                          <a:latin typeface="Arial" pitchFamily="34" charset="0"/>
                          <a:ea typeface="Arial" pitchFamily="34" charset="-122"/>
                          <a:cs typeface="Arial" pitchFamily="34" charset="-120"/>
                        </a:rPr>
                        <a:t>Test Scenario</a:t>
                      </a:r>
                      <a:endParaRPr lang="en-US" sz="900" dirty="0">
                        <a:latin typeface="Arial" charset="0"/>
                        <a:ea typeface="Arial" charset="0"/>
                        <a:cs typeface="Arial" charset="0"/>
                      </a:endParaRPr>
                    </a:p>
                  </a:txBody>
                  <a:tcPr marL="38100" marR="38100" marT="38100" marB="38100">
                    <a:lnL w="12700" cap="flat" cmpd="sng" algn="ctr">
                      <a:solidFill>
                        <a:srgbClr val="DEDEDE"/>
                      </a:solidFill>
                      <a:prstDash val="solid"/>
                      <a:round/>
                      <a:headEnd type="none" w="med" len="med"/>
                      <a:tailEnd type="none" w="med" len="med"/>
                    </a:lnL>
                    <a:lnR w="12700" cap="flat" cmpd="sng" algn="ctr">
                      <a:solidFill>
                        <a:srgbClr val="DEDEDE"/>
                      </a:solidFill>
                      <a:prstDash val="solid"/>
                      <a:round/>
                      <a:headEnd type="none" w="med" len="med"/>
                      <a:tailEnd type="none" w="med" len="med"/>
                    </a:lnR>
                    <a:lnT w="12700" cap="flat" cmpd="sng" algn="ctr">
                      <a:solidFill>
                        <a:srgbClr val="DEDEDE"/>
                      </a:solidFill>
                      <a:prstDash val="solid"/>
                      <a:round/>
                      <a:headEnd type="none" w="med" len="med"/>
                      <a:tailEnd type="none" w="med" len="med"/>
                    </a:lnT>
                    <a:lnB w="12700" cap="flat" cmpd="sng" algn="ctr">
                      <a:solidFill>
                        <a:srgbClr val="DEDEDE"/>
                      </a:solidFill>
                      <a:prstDash val="solid"/>
                      <a:round/>
                      <a:headEnd type="none" w="med" len="med"/>
                      <a:tailEnd type="none" w="med" len="med"/>
                    </a:lnB>
                    <a:solidFill>
                      <a:srgbClr val="0D0D0D"/>
                    </a:solidFill>
                  </a:tcPr>
                </a:tc>
                <a:tc>
                  <a:txBody>
                    <a:bodyPr/>
                    <a:lstStyle/>
                    <a:p>
                      <a:pPr marL="0" indent="0" algn="ctr">
                        <a:buNone/>
                      </a:pPr>
                      <a:r>
                        <a:rPr lang="en-US" sz="900" b="1" dirty="0">
                          <a:solidFill>
                            <a:srgbClr val="FF6500"/>
                          </a:solidFill>
                          <a:latin typeface="Arial" pitchFamily="34" charset="0"/>
                          <a:ea typeface="Arial" pitchFamily="34" charset="-122"/>
                          <a:cs typeface="Arial" pitchFamily="34" charset="-120"/>
                        </a:rPr>
                        <a:t>Preconditions</a:t>
                      </a:r>
                      <a:endParaRPr lang="en-US" sz="900" dirty="0">
                        <a:latin typeface="Arial" charset="0"/>
                        <a:ea typeface="Arial" charset="0"/>
                        <a:cs typeface="Arial" charset="0"/>
                      </a:endParaRPr>
                    </a:p>
                  </a:txBody>
                  <a:tcPr marL="38100" marR="38100" marT="38100" marB="38100">
                    <a:lnL w="12700" cap="flat" cmpd="sng" algn="ctr">
                      <a:solidFill>
                        <a:srgbClr val="DEDEDE"/>
                      </a:solidFill>
                      <a:prstDash val="solid"/>
                      <a:round/>
                      <a:headEnd type="none" w="med" len="med"/>
                      <a:tailEnd type="none" w="med" len="med"/>
                    </a:lnL>
                    <a:lnR w="12700" cap="flat" cmpd="sng" algn="ctr">
                      <a:solidFill>
                        <a:srgbClr val="DEDEDE"/>
                      </a:solidFill>
                      <a:prstDash val="solid"/>
                      <a:round/>
                      <a:headEnd type="none" w="med" len="med"/>
                      <a:tailEnd type="none" w="med" len="med"/>
                    </a:lnR>
                    <a:lnT w="12700" cap="flat" cmpd="sng" algn="ctr">
                      <a:solidFill>
                        <a:srgbClr val="DEDEDE"/>
                      </a:solidFill>
                      <a:prstDash val="solid"/>
                      <a:round/>
                      <a:headEnd type="none" w="med" len="med"/>
                      <a:tailEnd type="none" w="med" len="med"/>
                    </a:lnT>
                    <a:lnB w="12700" cap="flat" cmpd="sng" algn="ctr">
                      <a:solidFill>
                        <a:srgbClr val="DEDEDE"/>
                      </a:solidFill>
                      <a:prstDash val="solid"/>
                      <a:round/>
                      <a:headEnd type="none" w="med" len="med"/>
                      <a:tailEnd type="none" w="med" len="med"/>
                    </a:lnB>
                    <a:solidFill>
                      <a:srgbClr val="0D0D0D"/>
                    </a:solidFill>
                  </a:tcPr>
                </a:tc>
                <a:tc>
                  <a:txBody>
                    <a:bodyPr/>
                    <a:lstStyle/>
                    <a:p>
                      <a:pPr marL="0" indent="0" algn="ctr">
                        <a:buNone/>
                      </a:pPr>
                      <a:r>
                        <a:rPr lang="en-US" sz="900" b="1" dirty="0">
                          <a:solidFill>
                            <a:srgbClr val="FF6500"/>
                          </a:solidFill>
                          <a:latin typeface="Arial" pitchFamily="34" charset="0"/>
                          <a:ea typeface="Arial" pitchFamily="34" charset="-122"/>
                          <a:cs typeface="Arial" pitchFamily="34" charset="-120"/>
                        </a:rPr>
                        <a:t>Test Steps</a:t>
                      </a:r>
                      <a:endParaRPr lang="en-US" sz="900" dirty="0">
                        <a:latin typeface="Arial" charset="0"/>
                        <a:ea typeface="Arial" charset="0"/>
                        <a:cs typeface="Arial" charset="0"/>
                      </a:endParaRPr>
                    </a:p>
                  </a:txBody>
                  <a:tcPr marL="38100" marR="38100" marT="38100" marB="38100">
                    <a:lnL w="12700" cap="flat" cmpd="sng" algn="ctr">
                      <a:solidFill>
                        <a:srgbClr val="DEDEDE"/>
                      </a:solidFill>
                      <a:prstDash val="solid"/>
                      <a:round/>
                      <a:headEnd type="none" w="med" len="med"/>
                      <a:tailEnd type="none" w="med" len="med"/>
                    </a:lnL>
                    <a:lnR w="12700" cap="flat" cmpd="sng" algn="ctr">
                      <a:solidFill>
                        <a:srgbClr val="DEDEDE"/>
                      </a:solidFill>
                      <a:prstDash val="solid"/>
                      <a:round/>
                      <a:headEnd type="none" w="med" len="med"/>
                      <a:tailEnd type="none" w="med" len="med"/>
                    </a:lnR>
                    <a:lnT w="12700" cap="flat" cmpd="sng" algn="ctr">
                      <a:solidFill>
                        <a:srgbClr val="DEDEDE"/>
                      </a:solidFill>
                      <a:prstDash val="solid"/>
                      <a:round/>
                      <a:headEnd type="none" w="med" len="med"/>
                      <a:tailEnd type="none" w="med" len="med"/>
                    </a:lnT>
                    <a:lnB w="12700" cap="flat" cmpd="sng" algn="ctr">
                      <a:solidFill>
                        <a:srgbClr val="DEDEDE"/>
                      </a:solidFill>
                      <a:prstDash val="solid"/>
                      <a:round/>
                      <a:headEnd type="none" w="med" len="med"/>
                      <a:tailEnd type="none" w="med" len="med"/>
                    </a:lnB>
                    <a:solidFill>
                      <a:srgbClr val="0D0D0D"/>
                    </a:solidFill>
                  </a:tcPr>
                </a:tc>
                <a:tc>
                  <a:txBody>
                    <a:bodyPr/>
                    <a:lstStyle/>
                    <a:p>
                      <a:pPr marL="0" indent="0" algn="ctr">
                        <a:buNone/>
                      </a:pPr>
                      <a:r>
                        <a:rPr lang="en-US" sz="900" b="1" dirty="0">
                          <a:solidFill>
                            <a:srgbClr val="FF6500"/>
                          </a:solidFill>
                          <a:latin typeface="Arial" pitchFamily="34" charset="0"/>
                          <a:ea typeface="Arial" pitchFamily="34" charset="-122"/>
                          <a:cs typeface="Arial" pitchFamily="34" charset="-120"/>
                        </a:rPr>
                        <a:t>Test Data</a:t>
                      </a:r>
                      <a:endParaRPr lang="en-US" sz="900" dirty="0">
                        <a:latin typeface="Arial" charset="0"/>
                        <a:ea typeface="Arial" charset="0"/>
                        <a:cs typeface="Arial" charset="0"/>
                      </a:endParaRPr>
                    </a:p>
                  </a:txBody>
                  <a:tcPr marL="38100" marR="38100" marT="38100" marB="38100">
                    <a:lnL w="12700" cap="flat" cmpd="sng" algn="ctr">
                      <a:solidFill>
                        <a:srgbClr val="DEDEDE"/>
                      </a:solidFill>
                      <a:prstDash val="solid"/>
                      <a:round/>
                      <a:headEnd type="none" w="med" len="med"/>
                      <a:tailEnd type="none" w="med" len="med"/>
                    </a:lnL>
                    <a:lnR w="12700" cap="flat" cmpd="sng" algn="ctr">
                      <a:solidFill>
                        <a:srgbClr val="DEDEDE"/>
                      </a:solidFill>
                      <a:prstDash val="solid"/>
                      <a:round/>
                      <a:headEnd type="none" w="med" len="med"/>
                      <a:tailEnd type="none" w="med" len="med"/>
                    </a:lnR>
                    <a:lnT w="12700" cap="flat" cmpd="sng" algn="ctr">
                      <a:solidFill>
                        <a:srgbClr val="DEDEDE"/>
                      </a:solidFill>
                      <a:prstDash val="solid"/>
                      <a:round/>
                      <a:headEnd type="none" w="med" len="med"/>
                      <a:tailEnd type="none" w="med" len="med"/>
                    </a:lnT>
                    <a:lnB w="12700" cap="flat" cmpd="sng" algn="ctr">
                      <a:solidFill>
                        <a:srgbClr val="DEDEDE"/>
                      </a:solidFill>
                      <a:prstDash val="solid"/>
                      <a:round/>
                      <a:headEnd type="none" w="med" len="med"/>
                      <a:tailEnd type="none" w="med" len="med"/>
                    </a:lnB>
                    <a:solidFill>
                      <a:srgbClr val="0D0D0D"/>
                    </a:solidFill>
                  </a:tcPr>
                </a:tc>
                <a:tc>
                  <a:txBody>
                    <a:bodyPr/>
                    <a:lstStyle/>
                    <a:p>
                      <a:pPr marL="0" indent="0" algn="ctr">
                        <a:buNone/>
                      </a:pPr>
                      <a:r>
                        <a:rPr lang="en-US" sz="900" b="1" dirty="0">
                          <a:solidFill>
                            <a:srgbClr val="FF6500"/>
                          </a:solidFill>
                          <a:latin typeface="Arial" pitchFamily="34" charset="0"/>
                          <a:ea typeface="Arial" pitchFamily="34" charset="-122"/>
                          <a:cs typeface="Arial" pitchFamily="34" charset="-120"/>
                        </a:rPr>
                        <a:t>Expected Result</a:t>
                      </a:r>
                      <a:endParaRPr lang="en-US" sz="900" dirty="0">
                        <a:latin typeface="Arial" charset="0"/>
                        <a:ea typeface="Arial" charset="0"/>
                        <a:cs typeface="Arial" charset="0"/>
                      </a:endParaRPr>
                    </a:p>
                  </a:txBody>
                  <a:tcPr marL="38100" marR="38100" marT="38100" marB="38100">
                    <a:lnL w="12700" cap="flat" cmpd="sng" algn="ctr">
                      <a:solidFill>
                        <a:srgbClr val="DEDEDE"/>
                      </a:solidFill>
                      <a:prstDash val="solid"/>
                      <a:round/>
                      <a:headEnd type="none" w="med" len="med"/>
                      <a:tailEnd type="none" w="med" len="med"/>
                    </a:lnL>
                    <a:lnR w="12700" cap="flat" cmpd="sng" algn="ctr">
                      <a:solidFill>
                        <a:srgbClr val="DEDEDE"/>
                      </a:solidFill>
                      <a:prstDash val="solid"/>
                      <a:round/>
                      <a:headEnd type="none" w="med" len="med"/>
                      <a:tailEnd type="none" w="med" len="med"/>
                    </a:lnR>
                    <a:lnT w="12700" cap="flat" cmpd="sng" algn="ctr">
                      <a:solidFill>
                        <a:srgbClr val="DEDEDE"/>
                      </a:solidFill>
                      <a:prstDash val="solid"/>
                      <a:round/>
                      <a:headEnd type="none" w="med" len="med"/>
                      <a:tailEnd type="none" w="med" len="med"/>
                    </a:lnT>
                    <a:lnB w="12700" cap="flat" cmpd="sng" algn="ctr">
                      <a:solidFill>
                        <a:srgbClr val="DEDEDE"/>
                      </a:solidFill>
                      <a:prstDash val="solid"/>
                      <a:round/>
                      <a:headEnd type="none" w="med" len="med"/>
                      <a:tailEnd type="none" w="med" len="med"/>
                    </a:lnB>
                    <a:solidFill>
                      <a:srgbClr val="0D0D0D"/>
                    </a:solidFill>
                  </a:tcPr>
                </a:tc>
                <a:tc>
                  <a:txBody>
                    <a:bodyPr/>
                    <a:lstStyle/>
                    <a:p>
                      <a:pPr marL="0" indent="0" algn="ctr">
                        <a:buNone/>
                      </a:pPr>
                      <a:r>
                        <a:rPr lang="en-US" sz="900" b="1" dirty="0">
                          <a:solidFill>
                            <a:srgbClr val="FF6500"/>
                          </a:solidFill>
                          <a:latin typeface="Arial" pitchFamily="34" charset="0"/>
                          <a:ea typeface="Arial" pitchFamily="34" charset="-122"/>
                          <a:cs typeface="Arial" pitchFamily="34" charset="-120"/>
                        </a:rPr>
                        <a:t>Status</a:t>
                      </a:r>
                      <a:endParaRPr lang="en-US" sz="900" dirty="0">
                        <a:latin typeface="Arial" charset="0"/>
                        <a:ea typeface="Arial" charset="0"/>
                        <a:cs typeface="Arial" charset="0"/>
                      </a:endParaRPr>
                    </a:p>
                  </a:txBody>
                  <a:tcPr marL="38100" marR="38100" marT="38100" marB="38100">
                    <a:lnL w="12700" cap="flat" cmpd="sng" algn="ctr">
                      <a:solidFill>
                        <a:srgbClr val="DEDEDE"/>
                      </a:solidFill>
                      <a:prstDash val="solid"/>
                      <a:round/>
                      <a:headEnd type="none" w="med" len="med"/>
                      <a:tailEnd type="none" w="med" len="med"/>
                    </a:lnL>
                    <a:lnR w="12700" cap="flat" cmpd="sng" algn="ctr">
                      <a:solidFill>
                        <a:srgbClr val="DEDEDE"/>
                      </a:solidFill>
                      <a:prstDash val="solid"/>
                      <a:round/>
                      <a:headEnd type="none" w="med" len="med"/>
                      <a:tailEnd type="none" w="med" len="med"/>
                    </a:lnR>
                    <a:lnT w="12700" cap="flat" cmpd="sng" algn="ctr">
                      <a:solidFill>
                        <a:srgbClr val="DEDEDE"/>
                      </a:solidFill>
                      <a:prstDash val="solid"/>
                      <a:round/>
                      <a:headEnd type="none" w="med" len="med"/>
                      <a:tailEnd type="none" w="med" len="med"/>
                    </a:lnT>
                    <a:lnB w="12700" cap="flat" cmpd="sng" algn="ctr">
                      <a:solidFill>
                        <a:srgbClr val="DEDEDE"/>
                      </a:solidFill>
                      <a:prstDash val="solid"/>
                      <a:round/>
                      <a:headEnd type="none" w="med" len="med"/>
                      <a:tailEnd type="none" w="med" len="med"/>
                    </a:lnB>
                    <a:solidFill>
                      <a:srgbClr val="0D0D0D"/>
                    </a:solidFill>
                  </a:tcPr>
                </a:tc>
                <a:tc>
                  <a:txBody>
                    <a:bodyPr/>
                    <a:lstStyle/>
                    <a:p>
                      <a:pPr marL="0" indent="0" algn="ctr">
                        <a:buNone/>
                      </a:pPr>
                      <a:r>
                        <a:rPr lang="en-US" sz="900" b="1" dirty="0">
                          <a:solidFill>
                            <a:srgbClr val="FF6500"/>
                          </a:solidFill>
                          <a:latin typeface="Arial" pitchFamily="34" charset="0"/>
                          <a:ea typeface="Arial" pitchFamily="34" charset="-122"/>
                          <a:cs typeface="Arial" pitchFamily="34" charset="-120"/>
                        </a:rPr>
                        <a:t>Priority</a:t>
                      </a:r>
                      <a:endParaRPr lang="en-US" sz="900" dirty="0">
                        <a:latin typeface="Arial" charset="0"/>
                        <a:ea typeface="Arial" charset="0"/>
                        <a:cs typeface="Arial" charset="0"/>
                      </a:endParaRPr>
                    </a:p>
                  </a:txBody>
                  <a:tcPr marL="38100" marR="38100" marT="38100" marB="38100">
                    <a:lnL w="12700" cap="flat" cmpd="sng" algn="ctr">
                      <a:solidFill>
                        <a:srgbClr val="DEDEDE"/>
                      </a:solidFill>
                      <a:prstDash val="solid"/>
                      <a:round/>
                      <a:headEnd type="none" w="med" len="med"/>
                      <a:tailEnd type="none" w="med" len="med"/>
                    </a:lnL>
                    <a:lnR w="12700" cap="flat" cmpd="sng" algn="ctr">
                      <a:solidFill>
                        <a:srgbClr val="DEDEDE"/>
                      </a:solidFill>
                      <a:prstDash val="solid"/>
                      <a:round/>
                      <a:headEnd type="none" w="med" len="med"/>
                      <a:tailEnd type="none" w="med" len="med"/>
                    </a:lnR>
                    <a:lnT w="12700" cap="flat" cmpd="sng" algn="ctr">
                      <a:solidFill>
                        <a:srgbClr val="DEDEDE"/>
                      </a:solidFill>
                      <a:prstDash val="solid"/>
                      <a:round/>
                      <a:headEnd type="none" w="med" len="med"/>
                      <a:tailEnd type="none" w="med" len="med"/>
                    </a:lnT>
                    <a:lnB w="12700" cap="flat" cmpd="sng" algn="ctr">
                      <a:solidFill>
                        <a:srgbClr val="DEDEDE"/>
                      </a:solidFill>
                      <a:prstDash val="solid"/>
                      <a:round/>
                      <a:headEnd type="none" w="med" len="med"/>
                      <a:tailEnd type="none" w="med" len="med"/>
                    </a:lnB>
                    <a:solidFill>
                      <a:srgbClr val="0D0D0D"/>
                    </a:solidFill>
                  </a:tcPr>
                </a:tc>
                <a:tc>
                  <a:txBody>
                    <a:bodyPr/>
                    <a:lstStyle/>
                    <a:p>
                      <a:pPr marL="0" indent="0" algn="ctr">
                        <a:buNone/>
                      </a:pPr>
                      <a:r>
                        <a:rPr lang="en-US" sz="900" b="1" dirty="0">
                          <a:solidFill>
                            <a:srgbClr val="FF6500"/>
                          </a:solidFill>
                          <a:latin typeface="Arial" pitchFamily="34" charset="0"/>
                          <a:ea typeface="Arial" pitchFamily="34" charset="-122"/>
                          <a:cs typeface="Arial" pitchFamily="34" charset="-120"/>
                        </a:rPr>
                        <a:t>Severity</a:t>
                      </a:r>
                      <a:endParaRPr lang="en-US" sz="900" dirty="0">
                        <a:latin typeface="Arial" charset="0"/>
                        <a:ea typeface="Arial" charset="0"/>
                        <a:cs typeface="Arial" charset="0"/>
                      </a:endParaRPr>
                    </a:p>
                  </a:txBody>
                  <a:tcPr marL="38100" marR="38100" marT="38100" marB="38100">
                    <a:lnL w="12700" cap="flat" cmpd="sng" algn="ctr">
                      <a:solidFill>
                        <a:srgbClr val="DEDEDE"/>
                      </a:solidFill>
                      <a:prstDash val="solid"/>
                      <a:round/>
                      <a:headEnd type="none" w="med" len="med"/>
                      <a:tailEnd type="none" w="med" len="med"/>
                    </a:lnL>
                    <a:lnR w="12700" cap="flat" cmpd="sng" algn="ctr">
                      <a:solidFill>
                        <a:srgbClr val="DEDEDE"/>
                      </a:solidFill>
                      <a:prstDash val="solid"/>
                      <a:round/>
                      <a:headEnd type="none" w="med" len="med"/>
                      <a:tailEnd type="none" w="med" len="med"/>
                    </a:lnR>
                    <a:lnT w="12700" cap="flat" cmpd="sng" algn="ctr">
                      <a:solidFill>
                        <a:srgbClr val="DEDEDE"/>
                      </a:solidFill>
                      <a:prstDash val="solid"/>
                      <a:round/>
                      <a:headEnd type="none" w="med" len="med"/>
                      <a:tailEnd type="none" w="med" len="med"/>
                    </a:lnT>
                    <a:lnB w="12700" cap="flat" cmpd="sng" algn="ctr">
                      <a:solidFill>
                        <a:srgbClr val="DEDEDE"/>
                      </a:solidFill>
                      <a:prstDash val="solid"/>
                      <a:round/>
                      <a:headEnd type="none" w="med" len="med"/>
                      <a:tailEnd type="none" w="med" len="med"/>
                    </a:lnB>
                    <a:solidFill>
                      <a:srgbClr val="0D0D0D"/>
                    </a:solidFill>
                  </a:tcPr>
                </a:tc>
                <a:extLst>
                  <a:ext uri="{0D108BD9-81ED-4DB2-BD59-A6C34878D82A}">
                    <a16:rowId xmlns:a16="http://schemas.microsoft.com/office/drawing/2014/main" val="10000"/>
                  </a:ext>
                </a:extLst>
              </a:tr>
              <a:tr h="502920">
                <a:tc>
                  <a:txBody>
                    <a:bodyPr/>
                    <a:lstStyle/>
                    <a:p>
                      <a:pPr marL="0" indent="0" algn="ctr">
                        <a:buNone/>
                      </a:pPr>
                      <a:r>
                        <a:rPr lang="en-US" sz="900" i="1" dirty="0">
                          <a:solidFill>
                            <a:srgbClr val="5A5A5A"/>
                          </a:solidFill>
                          <a:latin typeface="Calibri" pitchFamily="34" charset="0"/>
                          <a:ea typeface="Calibri" pitchFamily="34" charset="-122"/>
                          <a:cs typeface="Calibri" pitchFamily="34" charset="-120"/>
                        </a:rPr>
                        <a:t>TC_[MOD]_001</a:t>
                      </a:r>
                      <a:endParaRPr lang="en-US" sz="900" dirty="0">
                        <a:latin typeface="Calibri" charset="0"/>
                        <a:ea typeface="Calibri" charset="0"/>
                        <a:cs typeface="Calibri" charset="0"/>
                      </a:endParaRPr>
                    </a:p>
                  </a:txBody>
                  <a:tcPr marL="38100" marR="38100" marT="38100" marB="38100">
                    <a:lnL w="12700" cap="flat" cmpd="sng" algn="ctr">
                      <a:solidFill>
                        <a:srgbClr val="DEDEDE"/>
                      </a:solidFill>
                      <a:prstDash val="solid"/>
                      <a:round/>
                      <a:headEnd type="none" w="med" len="med"/>
                      <a:tailEnd type="none" w="med" len="med"/>
                    </a:lnL>
                    <a:lnR w="12700" cap="flat" cmpd="sng" algn="ctr">
                      <a:solidFill>
                        <a:srgbClr val="DEDEDE"/>
                      </a:solidFill>
                      <a:prstDash val="solid"/>
                      <a:round/>
                      <a:headEnd type="none" w="med" len="med"/>
                      <a:tailEnd type="none" w="med" len="med"/>
                    </a:lnR>
                    <a:lnT w="12700" cap="flat" cmpd="sng" algn="ctr">
                      <a:solidFill>
                        <a:srgbClr val="DEDEDE"/>
                      </a:solidFill>
                      <a:prstDash val="solid"/>
                      <a:round/>
                      <a:headEnd type="none" w="med" len="med"/>
                      <a:tailEnd type="none" w="med" len="med"/>
                    </a:lnT>
                    <a:lnB w="12700" cap="flat" cmpd="sng" algn="ctr">
                      <a:solidFill>
                        <a:srgbClr val="DEDEDE"/>
                      </a:solidFill>
                      <a:prstDash val="solid"/>
                      <a:round/>
                      <a:headEnd type="none" w="med" len="med"/>
                      <a:tailEnd type="none" w="med" len="med"/>
                    </a:lnB>
                    <a:solidFill>
                      <a:srgbClr val="F0F0F0"/>
                    </a:solidFill>
                  </a:tcPr>
                </a:tc>
                <a:tc>
                  <a:txBody>
                    <a:bodyPr/>
                    <a:lstStyle/>
                    <a:p>
                      <a:pPr marL="0" indent="0" algn="ctr">
                        <a:buNone/>
                      </a:pPr>
                      <a:r>
                        <a:rPr lang="en-US" sz="900" i="1" dirty="0">
                          <a:solidFill>
                            <a:srgbClr val="DEDEDE"/>
                          </a:solidFill>
                          <a:latin typeface="Calibri" pitchFamily="34" charset="0"/>
                          <a:ea typeface="Calibri" pitchFamily="34" charset="-122"/>
                          <a:cs typeface="Calibri" pitchFamily="34" charset="-120"/>
                        </a:rPr>
                        <a:t>[enter value]</a:t>
                      </a:r>
                      <a:endParaRPr lang="en-US" sz="900" dirty="0">
                        <a:latin typeface="Calibri" charset="0"/>
                        <a:ea typeface="Calibri" charset="0"/>
                        <a:cs typeface="Calibri" charset="0"/>
                      </a:endParaRPr>
                    </a:p>
                  </a:txBody>
                  <a:tcPr marL="38100" marR="38100" marT="38100" marB="38100">
                    <a:lnL w="12700" cap="flat" cmpd="sng" algn="ctr">
                      <a:solidFill>
                        <a:srgbClr val="DEDEDE"/>
                      </a:solidFill>
                      <a:prstDash val="solid"/>
                      <a:round/>
                      <a:headEnd type="none" w="med" len="med"/>
                      <a:tailEnd type="none" w="med" len="med"/>
                    </a:lnL>
                    <a:lnR w="12700" cap="flat" cmpd="sng" algn="ctr">
                      <a:solidFill>
                        <a:srgbClr val="DEDEDE"/>
                      </a:solidFill>
                      <a:prstDash val="solid"/>
                      <a:round/>
                      <a:headEnd type="none" w="med" len="med"/>
                      <a:tailEnd type="none" w="med" len="med"/>
                    </a:lnR>
                    <a:lnT w="12700" cap="flat" cmpd="sng" algn="ctr">
                      <a:solidFill>
                        <a:srgbClr val="DEDEDE"/>
                      </a:solidFill>
                      <a:prstDash val="solid"/>
                      <a:round/>
                      <a:headEnd type="none" w="med" len="med"/>
                      <a:tailEnd type="none" w="med" len="med"/>
                    </a:lnT>
                    <a:lnB w="12700" cap="flat" cmpd="sng" algn="ctr">
                      <a:solidFill>
                        <a:srgbClr val="DEDEDE"/>
                      </a:solidFill>
                      <a:prstDash val="solid"/>
                      <a:round/>
                      <a:headEnd type="none" w="med" len="med"/>
                      <a:tailEnd type="none" w="med" len="med"/>
                    </a:lnB>
                    <a:solidFill>
                      <a:srgbClr val="F0F0F0"/>
                    </a:solidFill>
                  </a:tcPr>
                </a:tc>
                <a:tc>
                  <a:txBody>
                    <a:bodyPr/>
                    <a:lstStyle/>
                    <a:p>
                      <a:pPr marL="0" indent="0" algn="ctr">
                        <a:buNone/>
                      </a:pPr>
                      <a:r>
                        <a:rPr lang="en-US" sz="900" i="1" dirty="0">
                          <a:solidFill>
                            <a:srgbClr val="DEDEDE"/>
                          </a:solidFill>
                          <a:latin typeface="Calibri" pitchFamily="34" charset="0"/>
                          <a:ea typeface="Calibri" pitchFamily="34" charset="-122"/>
                          <a:cs typeface="Calibri" pitchFamily="34" charset="-120"/>
                        </a:rPr>
                        <a:t>[enter value]</a:t>
                      </a:r>
                      <a:endParaRPr lang="en-US" sz="900" dirty="0">
                        <a:latin typeface="Calibri" charset="0"/>
                        <a:ea typeface="Calibri" charset="0"/>
                        <a:cs typeface="Calibri" charset="0"/>
                      </a:endParaRPr>
                    </a:p>
                  </a:txBody>
                  <a:tcPr marL="38100" marR="38100" marT="38100" marB="38100">
                    <a:lnL w="12700" cap="flat" cmpd="sng" algn="ctr">
                      <a:solidFill>
                        <a:srgbClr val="DEDEDE"/>
                      </a:solidFill>
                      <a:prstDash val="solid"/>
                      <a:round/>
                      <a:headEnd type="none" w="med" len="med"/>
                      <a:tailEnd type="none" w="med" len="med"/>
                    </a:lnL>
                    <a:lnR w="12700" cap="flat" cmpd="sng" algn="ctr">
                      <a:solidFill>
                        <a:srgbClr val="DEDEDE"/>
                      </a:solidFill>
                      <a:prstDash val="solid"/>
                      <a:round/>
                      <a:headEnd type="none" w="med" len="med"/>
                      <a:tailEnd type="none" w="med" len="med"/>
                    </a:lnR>
                    <a:lnT w="12700" cap="flat" cmpd="sng" algn="ctr">
                      <a:solidFill>
                        <a:srgbClr val="DEDEDE"/>
                      </a:solidFill>
                      <a:prstDash val="solid"/>
                      <a:round/>
                      <a:headEnd type="none" w="med" len="med"/>
                      <a:tailEnd type="none" w="med" len="med"/>
                    </a:lnT>
                    <a:lnB w="12700" cap="flat" cmpd="sng" algn="ctr">
                      <a:solidFill>
                        <a:srgbClr val="DEDEDE"/>
                      </a:solidFill>
                      <a:prstDash val="solid"/>
                      <a:round/>
                      <a:headEnd type="none" w="med" len="med"/>
                      <a:tailEnd type="none" w="med" len="med"/>
                    </a:lnB>
                    <a:solidFill>
                      <a:srgbClr val="F0F0F0"/>
                    </a:solidFill>
                  </a:tcPr>
                </a:tc>
                <a:tc>
                  <a:txBody>
                    <a:bodyPr/>
                    <a:lstStyle/>
                    <a:p>
                      <a:pPr marL="0" indent="0" algn="ctr">
                        <a:buNone/>
                      </a:pPr>
                      <a:r>
                        <a:rPr lang="en-US" sz="900" i="1" dirty="0">
                          <a:solidFill>
                            <a:srgbClr val="DEDEDE"/>
                          </a:solidFill>
                          <a:latin typeface="Calibri" pitchFamily="34" charset="0"/>
                          <a:ea typeface="Calibri" pitchFamily="34" charset="-122"/>
                          <a:cs typeface="Calibri" pitchFamily="34" charset="-120"/>
                        </a:rPr>
                        <a:t>[enter value]</a:t>
                      </a:r>
                      <a:endParaRPr lang="en-US" sz="900" dirty="0">
                        <a:latin typeface="Calibri" charset="0"/>
                        <a:ea typeface="Calibri" charset="0"/>
                        <a:cs typeface="Calibri" charset="0"/>
                      </a:endParaRPr>
                    </a:p>
                  </a:txBody>
                  <a:tcPr marL="38100" marR="38100" marT="38100" marB="38100">
                    <a:lnL w="12700" cap="flat" cmpd="sng" algn="ctr">
                      <a:solidFill>
                        <a:srgbClr val="DEDEDE"/>
                      </a:solidFill>
                      <a:prstDash val="solid"/>
                      <a:round/>
                      <a:headEnd type="none" w="med" len="med"/>
                      <a:tailEnd type="none" w="med" len="med"/>
                    </a:lnL>
                    <a:lnR w="12700" cap="flat" cmpd="sng" algn="ctr">
                      <a:solidFill>
                        <a:srgbClr val="DEDEDE"/>
                      </a:solidFill>
                      <a:prstDash val="solid"/>
                      <a:round/>
                      <a:headEnd type="none" w="med" len="med"/>
                      <a:tailEnd type="none" w="med" len="med"/>
                    </a:lnR>
                    <a:lnT w="12700" cap="flat" cmpd="sng" algn="ctr">
                      <a:solidFill>
                        <a:srgbClr val="DEDEDE"/>
                      </a:solidFill>
                      <a:prstDash val="solid"/>
                      <a:round/>
                      <a:headEnd type="none" w="med" len="med"/>
                      <a:tailEnd type="none" w="med" len="med"/>
                    </a:lnT>
                    <a:lnB w="12700" cap="flat" cmpd="sng" algn="ctr">
                      <a:solidFill>
                        <a:srgbClr val="DEDEDE"/>
                      </a:solidFill>
                      <a:prstDash val="solid"/>
                      <a:round/>
                      <a:headEnd type="none" w="med" len="med"/>
                      <a:tailEnd type="none" w="med" len="med"/>
                    </a:lnB>
                    <a:solidFill>
                      <a:srgbClr val="F0F0F0"/>
                    </a:solidFill>
                  </a:tcPr>
                </a:tc>
                <a:tc>
                  <a:txBody>
                    <a:bodyPr/>
                    <a:lstStyle/>
                    <a:p>
                      <a:pPr marL="0" indent="0" algn="ctr">
                        <a:buNone/>
                      </a:pPr>
                      <a:r>
                        <a:rPr lang="en-US" sz="900" i="1" dirty="0">
                          <a:solidFill>
                            <a:srgbClr val="DEDEDE"/>
                          </a:solidFill>
                          <a:latin typeface="Calibri" pitchFamily="34" charset="0"/>
                          <a:ea typeface="Calibri" pitchFamily="34" charset="-122"/>
                          <a:cs typeface="Calibri" pitchFamily="34" charset="-120"/>
                        </a:rPr>
                        <a:t>[enter value]</a:t>
                      </a:r>
                      <a:endParaRPr lang="en-US" sz="900" dirty="0">
                        <a:latin typeface="Calibri" charset="0"/>
                        <a:ea typeface="Calibri" charset="0"/>
                        <a:cs typeface="Calibri" charset="0"/>
                      </a:endParaRPr>
                    </a:p>
                  </a:txBody>
                  <a:tcPr marL="38100" marR="38100" marT="38100" marB="38100">
                    <a:lnL w="12700" cap="flat" cmpd="sng" algn="ctr">
                      <a:solidFill>
                        <a:srgbClr val="DEDEDE"/>
                      </a:solidFill>
                      <a:prstDash val="solid"/>
                      <a:round/>
                      <a:headEnd type="none" w="med" len="med"/>
                      <a:tailEnd type="none" w="med" len="med"/>
                    </a:lnL>
                    <a:lnR w="12700" cap="flat" cmpd="sng" algn="ctr">
                      <a:solidFill>
                        <a:srgbClr val="DEDEDE"/>
                      </a:solidFill>
                      <a:prstDash val="solid"/>
                      <a:round/>
                      <a:headEnd type="none" w="med" len="med"/>
                      <a:tailEnd type="none" w="med" len="med"/>
                    </a:lnR>
                    <a:lnT w="12700" cap="flat" cmpd="sng" algn="ctr">
                      <a:solidFill>
                        <a:srgbClr val="DEDEDE"/>
                      </a:solidFill>
                      <a:prstDash val="solid"/>
                      <a:round/>
                      <a:headEnd type="none" w="med" len="med"/>
                      <a:tailEnd type="none" w="med" len="med"/>
                    </a:lnT>
                    <a:lnB w="12700" cap="flat" cmpd="sng" algn="ctr">
                      <a:solidFill>
                        <a:srgbClr val="DEDEDE"/>
                      </a:solidFill>
                      <a:prstDash val="solid"/>
                      <a:round/>
                      <a:headEnd type="none" w="med" len="med"/>
                      <a:tailEnd type="none" w="med" len="med"/>
                    </a:lnB>
                    <a:solidFill>
                      <a:srgbClr val="F0F0F0"/>
                    </a:solidFill>
                  </a:tcPr>
                </a:tc>
                <a:tc>
                  <a:txBody>
                    <a:bodyPr/>
                    <a:lstStyle/>
                    <a:p>
                      <a:pPr marL="0" indent="0" algn="ctr">
                        <a:buNone/>
                      </a:pPr>
                      <a:r>
                        <a:rPr lang="en-US" sz="900" i="1" dirty="0">
                          <a:solidFill>
                            <a:srgbClr val="DEDEDE"/>
                          </a:solidFill>
                          <a:latin typeface="Calibri" pitchFamily="34" charset="0"/>
                          <a:ea typeface="Calibri" pitchFamily="34" charset="-122"/>
                          <a:cs typeface="Calibri" pitchFamily="34" charset="-120"/>
                        </a:rPr>
                        <a:t>[enter value]</a:t>
                      </a:r>
                      <a:endParaRPr lang="en-US" sz="900" dirty="0">
                        <a:latin typeface="Calibri" charset="0"/>
                        <a:ea typeface="Calibri" charset="0"/>
                        <a:cs typeface="Calibri" charset="0"/>
                      </a:endParaRPr>
                    </a:p>
                  </a:txBody>
                  <a:tcPr marL="38100" marR="38100" marT="38100" marB="38100">
                    <a:lnL w="12700" cap="flat" cmpd="sng" algn="ctr">
                      <a:solidFill>
                        <a:srgbClr val="DEDEDE"/>
                      </a:solidFill>
                      <a:prstDash val="solid"/>
                      <a:round/>
                      <a:headEnd type="none" w="med" len="med"/>
                      <a:tailEnd type="none" w="med" len="med"/>
                    </a:lnL>
                    <a:lnR w="12700" cap="flat" cmpd="sng" algn="ctr">
                      <a:solidFill>
                        <a:srgbClr val="DEDEDE"/>
                      </a:solidFill>
                      <a:prstDash val="solid"/>
                      <a:round/>
                      <a:headEnd type="none" w="med" len="med"/>
                      <a:tailEnd type="none" w="med" len="med"/>
                    </a:lnR>
                    <a:lnT w="12700" cap="flat" cmpd="sng" algn="ctr">
                      <a:solidFill>
                        <a:srgbClr val="DEDEDE"/>
                      </a:solidFill>
                      <a:prstDash val="solid"/>
                      <a:round/>
                      <a:headEnd type="none" w="med" len="med"/>
                      <a:tailEnd type="none" w="med" len="med"/>
                    </a:lnT>
                    <a:lnB w="12700" cap="flat" cmpd="sng" algn="ctr">
                      <a:solidFill>
                        <a:srgbClr val="DEDEDE"/>
                      </a:solidFill>
                      <a:prstDash val="solid"/>
                      <a:round/>
                      <a:headEnd type="none" w="med" len="med"/>
                      <a:tailEnd type="none" w="med" len="med"/>
                    </a:lnB>
                    <a:solidFill>
                      <a:srgbClr val="F0F0F0"/>
                    </a:solidFill>
                  </a:tcPr>
                </a:tc>
                <a:tc>
                  <a:txBody>
                    <a:bodyPr/>
                    <a:lstStyle/>
                    <a:p>
                      <a:pPr marL="0" indent="0" algn="ctr">
                        <a:buNone/>
                      </a:pPr>
                      <a:r>
                        <a:rPr lang="en-US" sz="900" i="1" dirty="0">
                          <a:solidFill>
                            <a:srgbClr val="DEDEDE"/>
                          </a:solidFill>
                          <a:latin typeface="Calibri" pitchFamily="34" charset="0"/>
                          <a:ea typeface="Calibri" pitchFamily="34" charset="-122"/>
                          <a:cs typeface="Calibri" pitchFamily="34" charset="-120"/>
                        </a:rPr>
                        <a:t>[enter value]</a:t>
                      </a:r>
                      <a:endParaRPr lang="en-US" sz="900" dirty="0">
                        <a:latin typeface="Calibri" charset="0"/>
                        <a:ea typeface="Calibri" charset="0"/>
                        <a:cs typeface="Calibri" charset="0"/>
                      </a:endParaRPr>
                    </a:p>
                  </a:txBody>
                  <a:tcPr marL="38100" marR="38100" marT="38100" marB="38100">
                    <a:lnL w="12700" cap="flat" cmpd="sng" algn="ctr">
                      <a:solidFill>
                        <a:srgbClr val="DEDEDE"/>
                      </a:solidFill>
                      <a:prstDash val="solid"/>
                      <a:round/>
                      <a:headEnd type="none" w="med" len="med"/>
                      <a:tailEnd type="none" w="med" len="med"/>
                    </a:lnL>
                    <a:lnR w="12700" cap="flat" cmpd="sng" algn="ctr">
                      <a:solidFill>
                        <a:srgbClr val="DEDEDE"/>
                      </a:solidFill>
                      <a:prstDash val="solid"/>
                      <a:round/>
                      <a:headEnd type="none" w="med" len="med"/>
                      <a:tailEnd type="none" w="med" len="med"/>
                    </a:lnR>
                    <a:lnT w="12700" cap="flat" cmpd="sng" algn="ctr">
                      <a:solidFill>
                        <a:srgbClr val="DEDEDE"/>
                      </a:solidFill>
                      <a:prstDash val="solid"/>
                      <a:round/>
                      <a:headEnd type="none" w="med" len="med"/>
                      <a:tailEnd type="none" w="med" len="med"/>
                    </a:lnT>
                    <a:lnB w="12700" cap="flat" cmpd="sng" algn="ctr">
                      <a:solidFill>
                        <a:srgbClr val="DEDEDE"/>
                      </a:solidFill>
                      <a:prstDash val="solid"/>
                      <a:round/>
                      <a:headEnd type="none" w="med" len="med"/>
                      <a:tailEnd type="none" w="med" len="med"/>
                    </a:lnB>
                    <a:solidFill>
                      <a:srgbClr val="F0F0F0"/>
                    </a:solidFill>
                  </a:tcPr>
                </a:tc>
                <a:tc>
                  <a:txBody>
                    <a:bodyPr/>
                    <a:lstStyle/>
                    <a:p>
                      <a:pPr marL="0" indent="0" algn="ctr">
                        <a:buNone/>
                      </a:pPr>
                      <a:r>
                        <a:rPr lang="en-US" sz="900" i="1" dirty="0">
                          <a:solidFill>
                            <a:srgbClr val="DEDEDE"/>
                          </a:solidFill>
                          <a:latin typeface="Calibri" pitchFamily="34" charset="0"/>
                          <a:ea typeface="Calibri" pitchFamily="34" charset="-122"/>
                          <a:cs typeface="Calibri" pitchFamily="34" charset="-120"/>
                        </a:rPr>
                        <a:t>[enter value]</a:t>
                      </a:r>
                      <a:endParaRPr lang="en-US" sz="900" dirty="0">
                        <a:latin typeface="Calibri" charset="0"/>
                        <a:ea typeface="Calibri" charset="0"/>
                        <a:cs typeface="Calibri" charset="0"/>
                      </a:endParaRPr>
                    </a:p>
                  </a:txBody>
                  <a:tcPr marL="38100" marR="38100" marT="38100" marB="38100">
                    <a:lnL w="12700" cap="flat" cmpd="sng" algn="ctr">
                      <a:solidFill>
                        <a:srgbClr val="DEDEDE"/>
                      </a:solidFill>
                      <a:prstDash val="solid"/>
                      <a:round/>
                      <a:headEnd type="none" w="med" len="med"/>
                      <a:tailEnd type="none" w="med" len="med"/>
                    </a:lnL>
                    <a:lnR w="12700" cap="flat" cmpd="sng" algn="ctr">
                      <a:solidFill>
                        <a:srgbClr val="DEDEDE"/>
                      </a:solidFill>
                      <a:prstDash val="solid"/>
                      <a:round/>
                      <a:headEnd type="none" w="med" len="med"/>
                      <a:tailEnd type="none" w="med" len="med"/>
                    </a:lnR>
                    <a:lnT w="12700" cap="flat" cmpd="sng" algn="ctr">
                      <a:solidFill>
                        <a:srgbClr val="DEDEDE"/>
                      </a:solidFill>
                      <a:prstDash val="solid"/>
                      <a:round/>
                      <a:headEnd type="none" w="med" len="med"/>
                      <a:tailEnd type="none" w="med" len="med"/>
                    </a:lnT>
                    <a:lnB w="12700" cap="flat" cmpd="sng" algn="ctr">
                      <a:solidFill>
                        <a:srgbClr val="DEDEDE"/>
                      </a:solidFill>
                      <a:prstDash val="solid"/>
                      <a:round/>
                      <a:headEnd type="none" w="med" len="med"/>
                      <a:tailEnd type="none" w="med" len="med"/>
                    </a:lnB>
                    <a:solidFill>
                      <a:srgbClr val="F0F0F0"/>
                    </a:solidFill>
                  </a:tcPr>
                </a:tc>
                <a:tc>
                  <a:txBody>
                    <a:bodyPr/>
                    <a:lstStyle/>
                    <a:p>
                      <a:pPr marL="0" indent="0" algn="ctr">
                        <a:buNone/>
                      </a:pPr>
                      <a:r>
                        <a:rPr lang="en-US" sz="900" i="1" dirty="0">
                          <a:solidFill>
                            <a:srgbClr val="DEDEDE"/>
                          </a:solidFill>
                          <a:latin typeface="Calibri" pitchFamily="34" charset="0"/>
                          <a:ea typeface="Calibri" pitchFamily="34" charset="-122"/>
                          <a:cs typeface="Calibri" pitchFamily="34" charset="-120"/>
                        </a:rPr>
                        <a:t>[enter value]</a:t>
                      </a:r>
                      <a:endParaRPr lang="en-US" sz="900" dirty="0">
                        <a:latin typeface="Calibri" charset="0"/>
                        <a:ea typeface="Calibri" charset="0"/>
                        <a:cs typeface="Calibri" charset="0"/>
                      </a:endParaRPr>
                    </a:p>
                  </a:txBody>
                  <a:tcPr marL="38100" marR="38100" marT="38100" marB="38100">
                    <a:lnL w="12700" cap="flat" cmpd="sng" algn="ctr">
                      <a:solidFill>
                        <a:srgbClr val="DEDEDE"/>
                      </a:solidFill>
                      <a:prstDash val="solid"/>
                      <a:round/>
                      <a:headEnd type="none" w="med" len="med"/>
                      <a:tailEnd type="none" w="med" len="med"/>
                    </a:lnL>
                    <a:lnR w="12700" cap="flat" cmpd="sng" algn="ctr">
                      <a:solidFill>
                        <a:srgbClr val="DEDEDE"/>
                      </a:solidFill>
                      <a:prstDash val="solid"/>
                      <a:round/>
                      <a:headEnd type="none" w="med" len="med"/>
                      <a:tailEnd type="none" w="med" len="med"/>
                    </a:lnR>
                    <a:lnT w="12700" cap="flat" cmpd="sng" algn="ctr">
                      <a:solidFill>
                        <a:srgbClr val="DEDEDE"/>
                      </a:solidFill>
                      <a:prstDash val="solid"/>
                      <a:round/>
                      <a:headEnd type="none" w="med" len="med"/>
                      <a:tailEnd type="none" w="med" len="med"/>
                    </a:lnT>
                    <a:lnB w="12700" cap="flat" cmpd="sng" algn="ctr">
                      <a:solidFill>
                        <a:srgbClr val="DEDEDE"/>
                      </a:solidFill>
                      <a:prstDash val="solid"/>
                      <a:round/>
                      <a:headEnd type="none" w="med" len="med"/>
                      <a:tailEnd type="none" w="med" len="med"/>
                    </a:lnB>
                    <a:solidFill>
                      <a:srgbClr val="F0F0F0"/>
                    </a:solidFill>
                  </a:tcPr>
                </a:tc>
                <a:extLst>
                  <a:ext uri="{0D108BD9-81ED-4DB2-BD59-A6C34878D82A}">
                    <a16:rowId xmlns:a16="http://schemas.microsoft.com/office/drawing/2014/main" val="10001"/>
                  </a:ext>
                </a:extLst>
              </a:tr>
              <a:tr h="502920">
                <a:tc>
                  <a:txBody>
                    <a:bodyPr/>
                    <a:lstStyle/>
                    <a:p>
                      <a:pPr marL="0" indent="0" algn="ctr">
                        <a:buNone/>
                      </a:pPr>
                      <a:r>
                        <a:rPr lang="en-US" sz="900" i="1" dirty="0">
                          <a:solidFill>
                            <a:srgbClr val="5A5A5A"/>
                          </a:solidFill>
                          <a:latin typeface="Calibri" pitchFamily="34" charset="0"/>
                          <a:ea typeface="Calibri" pitchFamily="34" charset="-122"/>
                          <a:cs typeface="Calibri" pitchFamily="34" charset="-120"/>
                        </a:rPr>
                        <a:t>TC_[MOD]_002</a:t>
                      </a:r>
                      <a:endParaRPr lang="en-US" sz="900" dirty="0">
                        <a:latin typeface="Calibri" charset="0"/>
                        <a:ea typeface="Calibri" charset="0"/>
                        <a:cs typeface="Calibri" charset="0"/>
                      </a:endParaRPr>
                    </a:p>
                  </a:txBody>
                  <a:tcPr marL="38100" marR="38100" marT="38100" marB="38100">
                    <a:lnL w="12700" cap="flat" cmpd="sng" algn="ctr">
                      <a:solidFill>
                        <a:srgbClr val="DEDEDE"/>
                      </a:solidFill>
                      <a:prstDash val="solid"/>
                      <a:round/>
                      <a:headEnd type="none" w="med" len="med"/>
                      <a:tailEnd type="none" w="med" len="med"/>
                    </a:lnL>
                    <a:lnR w="12700" cap="flat" cmpd="sng" algn="ctr">
                      <a:solidFill>
                        <a:srgbClr val="DEDEDE"/>
                      </a:solidFill>
                      <a:prstDash val="solid"/>
                      <a:round/>
                      <a:headEnd type="none" w="med" len="med"/>
                      <a:tailEnd type="none" w="med" len="med"/>
                    </a:lnR>
                    <a:lnT w="12700" cap="flat" cmpd="sng" algn="ctr">
                      <a:solidFill>
                        <a:srgbClr val="DEDEDE"/>
                      </a:solidFill>
                      <a:prstDash val="solid"/>
                      <a:round/>
                      <a:headEnd type="none" w="med" len="med"/>
                      <a:tailEnd type="none" w="med" len="med"/>
                    </a:lnT>
                    <a:lnB w="12700" cap="flat" cmpd="sng" algn="ctr">
                      <a:solidFill>
                        <a:srgbClr val="DEDEDE"/>
                      </a:solidFill>
                      <a:prstDash val="solid"/>
                      <a:round/>
                      <a:headEnd type="none" w="med" len="med"/>
                      <a:tailEnd type="none" w="med" len="med"/>
                    </a:lnB>
                    <a:solidFill>
                      <a:srgbClr val="FFFFFF"/>
                    </a:solidFill>
                  </a:tcPr>
                </a:tc>
                <a:tc>
                  <a:txBody>
                    <a:bodyPr/>
                    <a:lstStyle/>
                    <a:p>
                      <a:pPr marL="0" indent="0" algn="ctr">
                        <a:buNone/>
                      </a:pPr>
                      <a:r>
                        <a:rPr lang="en-US" sz="900" i="1" dirty="0">
                          <a:solidFill>
                            <a:srgbClr val="DEDEDE"/>
                          </a:solidFill>
                          <a:latin typeface="Calibri" pitchFamily="34" charset="0"/>
                          <a:ea typeface="Calibri" pitchFamily="34" charset="-122"/>
                          <a:cs typeface="Calibri" pitchFamily="34" charset="-120"/>
                        </a:rPr>
                        <a:t>[enter value]</a:t>
                      </a:r>
                      <a:endParaRPr lang="en-US" sz="900" dirty="0">
                        <a:latin typeface="Calibri" charset="0"/>
                        <a:ea typeface="Calibri" charset="0"/>
                        <a:cs typeface="Calibri" charset="0"/>
                      </a:endParaRPr>
                    </a:p>
                  </a:txBody>
                  <a:tcPr marL="38100" marR="38100" marT="38100" marB="38100">
                    <a:lnL w="12700" cap="flat" cmpd="sng" algn="ctr">
                      <a:solidFill>
                        <a:srgbClr val="DEDEDE"/>
                      </a:solidFill>
                      <a:prstDash val="solid"/>
                      <a:round/>
                      <a:headEnd type="none" w="med" len="med"/>
                      <a:tailEnd type="none" w="med" len="med"/>
                    </a:lnL>
                    <a:lnR w="12700" cap="flat" cmpd="sng" algn="ctr">
                      <a:solidFill>
                        <a:srgbClr val="DEDEDE"/>
                      </a:solidFill>
                      <a:prstDash val="solid"/>
                      <a:round/>
                      <a:headEnd type="none" w="med" len="med"/>
                      <a:tailEnd type="none" w="med" len="med"/>
                    </a:lnR>
                    <a:lnT w="12700" cap="flat" cmpd="sng" algn="ctr">
                      <a:solidFill>
                        <a:srgbClr val="DEDEDE"/>
                      </a:solidFill>
                      <a:prstDash val="solid"/>
                      <a:round/>
                      <a:headEnd type="none" w="med" len="med"/>
                      <a:tailEnd type="none" w="med" len="med"/>
                    </a:lnT>
                    <a:lnB w="12700" cap="flat" cmpd="sng" algn="ctr">
                      <a:solidFill>
                        <a:srgbClr val="DEDEDE"/>
                      </a:solidFill>
                      <a:prstDash val="solid"/>
                      <a:round/>
                      <a:headEnd type="none" w="med" len="med"/>
                      <a:tailEnd type="none" w="med" len="med"/>
                    </a:lnB>
                    <a:solidFill>
                      <a:srgbClr val="FFFFFF"/>
                    </a:solidFill>
                  </a:tcPr>
                </a:tc>
                <a:tc>
                  <a:txBody>
                    <a:bodyPr/>
                    <a:lstStyle/>
                    <a:p>
                      <a:pPr marL="0" indent="0" algn="ctr">
                        <a:buNone/>
                      </a:pPr>
                      <a:r>
                        <a:rPr lang="en-US" sz="900" i="1" dirty="0">
                          <a:solidFill>
                            <a:srgbClr val="DEDEDE"/>
                          </a:solidFill>
                          <a:latin typeface="Calibri" pitchFamily="34" charset="0"/>
                          <a:ea typeface="Calibri" pitchFamily="34" charset="-122"/>
                          <a:cs typeface="Calibri" pitchFamily="34" charset="-120"/>
                        </a:rPr>
                        <a:t>[enter value]</a:t>
                      </a:r>
                      <a:endParaRPr lang="en-US" sz="900" dirty="0">
                        <a:latin typeface="Calibri" charset="0"/>
                        <a:ea typeface="Calibri" charset="0"/>
                        <a:cs typeface="Calibri" charset="0"/>
                      </a:endParaRPr>
                    </a:p>
                  </a:txBody>
                  <a:tcPr marL="38100" marR="38100" marT="38100" marB="38100">
                    <a:lnL w="12700" cap="flat" cmpd="sng" algn="ctr">
                      <a:solidFill>
                        <a:srgbClr val="DEDEDE"/>
                      </a:solidFill>
                      <a:prstDash val="solid"/>
                      <a:round/>
                      <a:headEnd type="none" w="med" len="med"/>
                      <a:tailEnd type="none" w="med" len="med"/>
                    </a:lnL>
                    <a:lnR w="12700" cap="flat" cmpd="sng" algn="ctr">
                      <a:solidFill>
                        <a:srgbClr val="DEDEDE"/>
                      </a:solidFill>
                      <a:prstDash val="solid"/>
                      <a:round/>
                      <a:headEnd type="none" w="med" len="med"/>
                      <a:tailEnd type="none" w="med" len="med"/>
                    </a:lnR>
                    <a:lnT w="12700" cap="flat" cmpd="sng" algn="ctr">
                      <a:solidFill>
                        <a:srgbClr val="DEDEDE"/>
                      </a:solidFill>
                      <a:prstDash val="solid"/>
                      <a:round/>
                      <a:headEnd type="none" w="med" len="med"/>
                      <a:tailEnd type="none" w="med" len="med"/>
                    </a:lnT>
                    <a:lnB w="12700" cap="flat" cmpd="sng" algn="ctr">
                      <a:solidFill>
                        <a:srgbClr val="DEDEDE"/>
                      </a:solidFill>
                      <a:prstDash val="solid"/>
                      <a:round/>
                      <a:headEnd type="none" w="med" len="med"/>
                      <a:tailEnd type="none" w="med" len="med"/>
                    </a:lnB>
                    <a:solidFill>
                      <a:srgbClr val="FFFFFF"/>
                    </a:solidFill>
                  </a:tcPr>
                </a:tc>
                <a:tc>
                  <a:txBody>
                    <a:bodyPr/>
                    <a:lstStyle/>
                    <a:p>
                      <a:pPr marL="0" indent="0" algn="ctr">
                        <a:buNone/>
                      </a:pPr>
                      <a:r>
                        <a:rPr lang="en-US" sz="900" i="1" dirty="0">
                          <a:solidFill>
                            <a:srgbClr val="DEDEDE"/>
                          </a:solidFill>
                          <a:latin typeface="Calibri" pitchFamily="34" charset="0"/>
                          <a:ea typeface="Calibri" pitchFamily="34" charset="-122"/>
                          <a:cs typeface="Calibri" pitchFamily="34" charset="-120"/>
                        </a:rPr>
                        <a:t>[enter value]</a:t>
                      </a:r>
                      <a:endParaRPr lang="en-US" sz="900" dirty="0">
                        <a:latin typeface="Calibri" charset="0"/>
                        <a:ea typeface="Calibri" charset="0"/>
                        <a:cs typeface="Calibri" charset="0"/>
                      </a:endParaRPr>
                    </a:p>
                  </a:txBody>
                  <a:tcPr marL="38100" marR="38100" marT="38100" marB="38100">
                    <a:lnL w="12700" cap="flat" cmpd="sng" algn="ctr">
                      <a:solidFill>
                        <a:srgbClr val="DEDEDE"/>
                      </a:solidFill>
                      <a:prstDash val="solid"/>
                      <a:round/>
                      <a:headEnd type="none" w="med" len="med"/>
                      <a:tailEnd type="none" w="med" len="med"/>
                    </a:lnL>
                    <a:lnR w="12700" cap="flat" cmpd="sng" algn="ctr">
                      <a:solidFill>
                        <a:srgbClr val="DEDEDE"/>
                      </a:solidFill>
                      <a:prstDash val="solid"/>
                      <a:round/>
                      <a:headEnd type="none" w="med" len="med"/>
                      <a:tailEnd type="none" w="med" len="med"/>
                    </a:lnR>
                    <a:lnT w="12700" cap="flat" cmpd="sng" algn="ctr">
                      <a:solidFill>
                        <a:srgbClr val="DEDEDE"/>
                      </a:solidFill>
                      <a:prstDash val="solid"/>
                      <a:round/>
                      <a:headEnd type="none" w="med" len="med"/>
                      <a:tailEnd type="none" w="med" len="med"/>
                    </a:lnT>
                    <a:lnB w="12700" cap="flat" cmpd="sng" algn="ctr">
                      <a:solidFill>
                        <a:srgbClr val="DEDEDE"/>
                      </a:solidFill>
                      <a:prstDash val="solid"/>
                      <a:round/>
                      <a:headEnd type="none" w="med" len="med"/>
                      <a:tailEnd type="none" w="med" len="med"/>
                    </a:lnB>
                    <a:solidFill>
                      <a:srgbClr val="FFFFFF"/>
                    </a:solidFill>
                  </a:tcPr>
                </a:tc>
                <a:tc>
                  <a:txBody>
                    <a:bodyPr/>
                    <a:lstStyle/>
                    <a:p>
                      <a:pPr marL="0" indent="0" algn="ctr">
                        <a:buNone/>
                      </a:pPr>
                      <a:r>
                        <a:rPr lang="en-US" sz="900" i="1" dirty="0">
                          <a:solidFill>
                            <a:srgbClr val="DEDEDE"/>
                          </a:solidFill>
                          <a:latin typeface="Calibri" pitchFamily="34" charset="0"/>
                          <a:ea typeface="Calibri" pitchFamily="34" charset="-122"/>
                          <a:cs typeface="Calibri" pitchFamily="34" charset="-120"/>
                        </a:rPr>
                        <a:t>[enter value]</a:t>
                      </a:r>
                      <a:endParaRPr lang="en-US" sz="900" dirty="0">
                        <a:latin typeface="Calibri" charset="0"/>
                        <a:ea typeface="Calibri" charset="0"/>
                        <a:cs typeface="Calibri" charset="0"/>
                      </a:endParaRPr>
                    </a:p>
                  </a:txBody>
                  <a:tcPr marL="38100" marR="38100" marT="38100" marB="38100">
                    <a:lnL w="12700" cap="flat" cmpd="sng" algn="ctr">
                      <a:solidFill>
                        <a:srgbClr val="DEDEDE"/>
                      </a:solidFill>
                      <a:prstDash val="solid"/>
                      <a:round/>
                      <a:headEnd type="none" w="med" len="med"/>
                      <a:tailEnd type="none" w="med" len="med"/>
                    </a:lnL>
                    <a:lnR w="12700" cap="flat" cmpd="sng" algn="ctr">
                      <a:solidFill>
                        <a:srgbClr val="DEDEDE"/>
                      </a:solidFill>
                      <a:prstDash val="solid"/>
                      <a:round/>
                      <a:headEnd type="none" w="med" len="med"/>
                      <a:tailEnd type="none" w="med" len="med"/>
                    </a:lnR>
                    <a:lnT w="12700" cap="flat" cmpd="sng" algn="ctr">
                      <a:solidFill>
                        <a:srgbClr val="DEDEDE"/>
                      </a:solidFill>
                      <a:prstDash val="solid"/>
                      <a:round/>
                      <a:headEnd type="none" w="med" len="med"/>
                      <a:tailEnd type="none" w="med" len="med"/>
                    </a:lnT>
                    <a:lnB w="12700" cap="flat" cmpd="sng" algn="ctr">
                      <a:solidFill>
                        <a:srgbClr val="DEDEDE"/>
                      </a:solidFill>
                      <a:prstDash val="solid"/>
                      <a:round/>
                      <a:headEnd type="none" w="med" len="med"/>
                      <a:tailEnd type="none" w="med" len="med"/>
                    </a:lnB>
                    <a:solidFill>
                      <a:srgbClr val="FFFFFF"/>
                    </a:solidFill>
                  </a:tcPr>
                </a:tc>
                <a:tc>
                  <a:txBody>
                    <a:bodyPr/>
                    <a:lstStyle/>
                    <a:p>
                      <a:pPr marL="0" indent="0" algn="ctr">
                        <a:buNone/>
                      </a:pPr>
                      <a:r>
                        <a:rPr lang="en-US" sz="900" i="1" dirty="0">
                          <a:solidFill>
                            <a:srgbClr val="DEDEDE"/>
                          </a:solidFill>
                          <a:latin typeface="Calibri" pitchFamily="34" charset="0"/>
                          <a:ea typeface="Calibri" pitchFamily="34" charset="-122"/>
                          <a:cs typeface="Calibri" pitchFamily="34" charset="-120"/>
                        </a:rPr>
                        <a:t>[enter value]</a:t>
                      </a:r>
                      <a:endParaRPr lang="en-US" sz="900" dirty="0">
                        <a:latin typeface="Calibri" charset="0"/>
                        <a:ea typeface="Calibri" charset="0"/>
                        <a:cs typeface="Calibri" charset="0"/>
                      </a:endParaRPr>
                    </a:p>
                  </a:txBody>
                  <a:tcPr marL="38100" marR="38100" marT="38100" marB="38100">
                    <a:lnL w="12700" cap="flat" cmpd="sng" algn="ctr">
                      <a:solidFill>
                        <a:srgbClr val="DEDEDE"/>
                      </a:solidFill>
                      <a:prstDash val="solid"/>
                      <a:round/>
                      <a:headEnd type="none" w="med" len="med"/>
                      <a:tailEnd type="none" w="med" len="med"/>
                    </a:lnL>
                    <a:lnR w="12700" cap="flat" cmpd="sng" algn="ctr">
                      <a:solidFill>
                        <a:srgbClr val="DEDEDE"/>
                      </a:solidFill>
                      <a:prstDash val="solid"/>
                      <a:round/>
                      <a:headEnd type="none" w="med" len="med"/>
                      <a:tailEnd type="none" w="med" len="med"/>
                    </a:lnR>
                    <a:lnT w="12700" cap="flat" cmpd="sng" algn="ctr">
                      <a:solidFill>
                        <a:srgbClr val="DEDEDE"/>
                      </a:solidFill>
                      <a:prstDash val="solid"/>
                      <a:round/>
                      <a:headEnd type="none" w="med" len="med"/>
                      <a:tailEnd type="none" w="med" len="med"/>
                    </a:lnT>
                    <a:lnB w="12700" cap="flat" cmpd="sng" algn="ctr">
                      <a:solidFill>
                        <a:srgbClr val="DEDEDE"/>
                      </a:solidFill>
                      <a:prstDash val="solid"/>
                      <a:round/>
                      <a:headEnd type="none" w="med" len="med"/>
                      <a:tailEnd type="none" w="med" len="med"/>
                    </a:lnB>
                    <a:solidFill>
                      <a:srgbClr val="FFFFFF"/>
                    </a:solidFill>
                  </a:tcPr>
                </a:tc>
                <a:tc>
                  <a:txBody>
                    <a:bodyPr/>
                    <a:lstStyle/>
                    <a:p>
                      <a:pPr marL="0" indent="0" algn="ctr">
                        <a:buNone/>
                      </a:pPr>
                      <a:r>
                        <a:rPr lang="en-US" sz="900" i="1" dirty="0">
                          <a:solidFill>
                            <a:srgbClr val="DEDEDE"/>
                          </a:solidFill>
                          <a:latin typeface="Calibri" pitchFamily="34" charset="0"/>
                          <a:ea typeface="Calibri" pitchFamily="34" charset="-122"/>
                          <a:cs typeface="Calibri" pitchFamily="34" charset="-120"/>
                        </a:rPr>
                        <a:t>[enter value]</a:t>
                      </a:r>
                      <a:endParaRPr lang="en-US" sz="900" dirty="0">
                        <a:latin typeface="Calibri" charset="0"/>
                        <a:ea typeface="Calibri" charset="0"/>
                        <a:cs typeface="Calibri" charset="0"/>
                      </a:endParaRPr>
                    </a:p>
                  </a:txBody>
                  <a:tcPr marL="38100" marR="38100" marT="38100" marB="38100">
                    <a:lnL w="12700" cap="flat" cmpd="sng" algn="ctr">
                      <a:solidFill>
                        <a:srgbClr val="DEDEDE"/>
                      </a:solidFill>
                      <a:prstDash val="solid"/>
                      <a:round/>
                      <a:headEnd type="none" w="med" len="med"/>
                      <a:tailEnd type="none" w="med" len="med"/>
                    </a:lnL>
                    <a:lnR w="12700" cap="flat" cmpd="sng" algn="ctr">
                      <a:solidFill>
                        <a:srgbClr val="DEDEDE"/>
                      </a:solidFill>
                      <a:prstDash val="solid"/>
                      <a:round/>
                      <a:headEnd type="none" w="med" len="med"/>
                      <a:tailEnd type="none" w="med" len="med"/>
                    </a:lnR>
                    <a:lnT w="12700" cap="flat" cmpd="sng" algn="ctr">
                      <a:solidFill>
                        <a:srgbClr val="DEDEDE"/>
                      </a:solidFill>
                      <a:prstDash val="solid"/>
                      <a:round/>
                      <a:headEnd type="none" w="med" len="med"/>
                      <a:tailEnd type="none" w="med" len="med"/>
                    </a:lnT>
                    <a:lnB w="12700" cap="flat" cmpd="sng" algn="ctr">
                      <a:solidFill>
                        <a:srgbClr val="DEDEDE"/>
                      </a:solidFill>
                      <a:prstDash val="solid"/>
                      <a:round/>
                      <a:headEnd type="none" w="med" len="med"/>
                      <a:tailEnd type="none" w="med" len="med"/>
                    </a:lnB>
                    <a:solidFill>
                      <a:srgbClr val="FFFFFF"/>
                    </a:solidFill>
                  </a:tcPr>
                </a:tc>
                <a:tc>
                  <a:txBody>
                    <a:bodyPr/>
                    <a:lstStyle/>
                    <a:p>
                      <a:pPr marL="0" indent="0" algn="ctr">
                        <a:buNone/>
                      </a:pPr>
                      <a:r>
                        <a:rPr lang="en-US" sz="900" i="1" dirty="0">
                          <a:solidFill>
                            <a:srgbClr val="DEDEDE"/>
                          </a:solidFill>
                          <a:latin typeface="Calibri" pitchFamily="34" charset="0"/>
                          <a:ea typeface="Calibri" pitchFamily="34" charset="-122"/>
                          <a:cs typeface="Calibri" pitchFamily="34" charset="-120"/>
                        </a:rPr>
                        <a:t>[enter value]</a:t>
                      </a:r>
                      <a:endParaRPr lang="en-US" sz="900" dirty="0">
                        <a:latin typeface="Calibri" charset="0"/>
                        <a:ea typeface="Calibri" charset="0"/>
                        <a:cs typeface="Calibri" charset="0"/>
                      </a:endParaRPr>
                    </a:p>
                  </a:txBody>
                  <a:tcPr marL="38100" marR="38100" marT="38100" marB="38100">
                    <a:lnL w="12700" cap="flat" cmpd="sng" algn="ctr">
                      <a:solidFill>
                        <a:srgbClr val="DEDEDE"/>
                      </a:solidFill>
                      <a:prstDash val="solid"/>
                      <a:round/>
                      <a:headEnd type="none" w="med" len="med"/>
                      <a:tailEnd type="none" w="med" len="med"/>
                    </a:lnL>
                    <a:lnR w="12700" cap="flat" cmpd="sng" algn="ctr">
                      <a:solidFill>
                        <a:srgbClr val="DEDEDE"/>
                      </a:solidFill>
                      <a:prstDash val="solid"/>
                      <a:round/>
                      <a:headEnd type="none" w="med" len="med"/>
                      <a:tailEnd type="none" w="med" len="med"/>
                    </a:lnR>
                    <a:lnT w="12700" cap="flat" cmpd="sng" algn="ctr">
                      <a:solidFill>
                        <a:srgbClr val="DEDEDE"/>
                      </a:solidFill>
                      <a:prstDash val="solid"/>
                      <a:round/>
                      <a:headEnd type="none" w="med" len="med"/>
                      <a:tailEnd type="none" w="med" len="med"/>
                    </a:lnT>
                    <a:lnB w="12700" cap="flat" cmpd="sng" algn="ctr">
                      <a:solidFill>
                        <a:srgbClr val="DEDEDE"/>
                      </a:solidFill>
                      <a:prstDash val="solid"/>
                      <a:round/>
                      <a:headEnd type="none" w="med" len="med"/>
                      <a:tailEnd type="none" w="med" len="med"/>
                    </a:lnB>
                    <a:solidFill>
                      <a:srgbClr val="FFFFFF"/>
                    </a:solidFill>
                  </a:tcPr>
                </a:tc>
                <a:tc>
                  <a:txBody>
                    <a:bodyPr/>
                    <a:lstStyle/>
                    <a:p>
                      <a:pPr marL="0" indent="0" algn="ctr">
                        <a:buNone/>
                      </a:pPr>
                      <a:r>
                        <a:rPr lang="en-US" sz="900" i="1" dirty="0">
                          <a:solidFill>
                            <a:srgbClr val="DEDEDE"/>
                          </a:solidFill>
                          <a:latin typeface="Calibri" pitchFamily="34" charset="0"/>
                          <a:ea typeface="Calibri" pitchFamily="34" charset="-122"/>
                          <a:cs typeface="Calibri" pitchFamily="34" charset="-120"/>
                        </a:rPr>
                        <a:t>[enter value]</a:t>
                      </a:r>
                      <a:endParaRPr lang="en-US" sz="900" dirty="0">
                        <a:latin typeface="Calibri" charset="0"/>
                        <a:ea typeface="Calibri" charset="0"/>
                        <a:cs typeface="Calibri" charset="0"/>
                      </a:endParaRPr>
                    </a:p>
                  </a:txBody>
                  <a:tcPr marL="38100" marR="38100" marT="38100" marB="38100">
                    <a:lnL w="12700" cap="flat" cmpd="sng" algn="ctr">
                      <a:solidFill>
                        <a:srgbClr val="DEDEDE"/>
                      </a:solidFill>
                      <a:prstDash val="solid"/>
                      <a:round/>
                      <a:headEnd type="none" w="med" len="med"/>
                      <a:tailEnd type="none" w="med" len="med"/>
                    </a:lnL>
                    <a:lnR w="12700" cap="flat" cmpd="sng" algn="ctr">
                      <a:solidFill>
                        <a:srgbClr val="DEDEDE"/>
                      </a:solidFill>
                      <a:prstDash val="solid"/>
                      <a:round/>
                      <a:headEnd type="none" w="med" len="med"/>
                      <a:tailEnd type="none" w="med" len="med"/>
                    </a:lnR>
                    <a:lnT w="12700" cap="flat" cmpd="sng" algn="ctr">
                      <a:solidFill>
                        <a:srgbClr val="DEDEDE"/>
                      </a:solidFill>
                      <a:prstDash val="solid"/>
                      <a:round/>
                      <a:headEnd type="none" w="med" len="med"/>
                      <a:tailEnd type="none" w="med" len="med"/>
                    </a:lnT>
                    <a:lnB w="12700" cap="flat" cmpd="sng" algn="ctr">
                      <a:solidFill>
                        <a:srgbClr val="DEDEDE"/>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502920">
                <a:tc>
                  <a:txBody>
                    <a:bodyPr/>
                    <a:lstStyle/>
                    <a:p>
                      <a:pPr marL="0" indent="0" algn="ctr">
                        <a:buNone/>
                      </a:pPr>
                      <a:r>
                        <a:rPr lang="en-US" sz="900" i="1" dirty="0">
                          <a:solidFill>
                            <a:srgbClr val="5A5A5A"/>
                          </a:solidFill>
                          <a:latin typeface="Calibri" pitchFamily="34" charset="0"/>
                          <a:ea typeface="Calibri" pitchFamily="34" charset="-122"/>
                          <a:cs typeface="Calibri" pitchFamily="34" charset="-120"/>
                        </a:rPr>
                        <a:t>TC_[MOD]_003</a:t>
                      </a:r>
                      <a:endParaRPr lang="en-US" sz="900" dirty="0">
                        <a:latin typeface="Calibri" charset="0"/>
                        <a:ea typeface="Calibri" charset="0"/>
                        <a:cs typeface="Calibri" charset="0"/>
                      </a:endParaRPr>
                    </a:p>
                  </a:txBody>
                  <a:tcPr marL="38100" marR="38100" marT="38100" marB="38100">
                    <a:lnL w="12700" cap="flat" cmpd="sng" algn="ctr">
                      <a:solidFill>
                        <a:srgbClr val="DEDEDE"/>
                      </a:solidFill>
                      <a:prstDash val="solid"/>
                      <a:round/>
                      <a:headEnd type="none" w="med" len="med"/>
                      <a:tailEnd type="none" w="med" len="med"/>
                    </a:lnL>
                    <a:lnR w="12700" cap="flat" cmpd="sng" algn="ctr">
                      <a:solidFill>
                        <a:srgbClr val="DEDEDE"/>
                      </a:solidFill>
                      <a:prstDash val="solid"/>
                      <a:round/>
                      <a:headEnd type="none" w="med" len="med"/>
                      <a:tailEnd type="none" w="med" len="med"/>
                    </a:lnR>
                    <a:lnT w="12700" cap="flat" cmpd="sng" algn="ctr">
                      <a:solidFill>
                        <a:srgbClr val="DEDEDE"/>
                      </a:solidFill>
                      <a:prstDash val="solid"/>
                      <a:round/>
                      <a:headEnd type="none" w="med" len="med"/>
                      <a:tailEnd type="none" w="med" len="med"/>
                    </a:lnT>
                    <a:lnB w="12700" cap="flat" cmpd="sng" algn="ctr">
                      <a:solidFill>
                        <a:srgbClr val="DEDEDE"/>
                      </a:solidFill>
                      <a:prstDash val="solid"/>
                      <a:round/>
                      <a:headEnd type="none" w="med" len="med"/>
                      <a:tailEnd type="none" w="med" len="med"/>
                    </a:lnB>
                    <a:solidFill>
                      <a:srgbClr val="F0F0F0"/>
                    </a:solidFill>
                  </a:tcPr>
                </a:tc>
                <a:tc>
                  <a:txBody>
                    <a:bodyPr/>
                    <a:lstStyle/>
                    <a:p>
                      <a:pPr marL="0" indent="0" algn="ctr">
                        <a:buNone/>
                      </a:pPr>
                      <a:r>
                        <a:rPr lang="en-US" sz="900" i="1" dirty="0">
                          <a:solidFill>
                            <a:srgbClr val="DEDEDE"/>
                          </a:solidFill>
                          <a:latin typeface="Calibri" pitchFamily="34" charset="0"/>
                          <a:ea typeface="Calibri" pitchFamily="34" charset="-122"/>
                          <a:cs typeface="Calibri" pitchFamily="34" charset="-120"/>
                        </a:rPr>
                        <a:t>[enter value]</a:t>
                      </a:r>
                      <a:endParaRPr lang="en-US" sz="900" dirty="0">
                        <a:latin typeface="Calibri" charset="0"/>
                        <a:ea typeface="Calibri" charset="0"/>
                        <a:cs typeface="Calibri" charset="0"/>
                      </a:endParaRPr>
                    </a:p>
                  </a:txBody>
                  <a:tcPr marL="38100" marR="38100" marT="38100" marB="38100">
                    <a:lnL w="12700" cap="flat" cmpd="sng" algn="ctr">
                      <a:solidFill>
                        <a:srgbClr val="DEDEDE"/>
                      </a:solidFill>
                      <a:prstDash val="solid"/>
                      <a:round/>
                      <a:headEnd type="none" w="med" len="med"/>
                      <a:tailEnd type="none" w="med" len="med"/>
                    </a:lnL>
                    <a:lnR w="12700" cap="flat" cmpd="sng" algn="ctr">
                      <a:solidFill>
                        <a:srgbClr val="DEDEDE"/>
                      </a:solidFill>
                      <a:prstDash val="solid"/>
                      <a:round/>
                      <a:headEnd type="none" w="med" len="med"/>
                      <a:tailEnd type="none" w="med" len="med"/>
                    </a:lnR>
                    <a:lnT w="12700" cap="flat" cmpd="sng" algn="ctr">
                      <a:solidFill>
                        <a:srgbClr val="DEDEDE"/>
                      </a:solidFill>
                      <a:prstDash val="solid"/>
                      <a:round/>
                      <a:headEnd type="none" w="med" len="med"/>
                      <a:tailEnd type="none" w="med" len="med"/>
                    </a:lnT>
                    <a:lnB w="12700" cap="flat" cmpd="sng" algn="ctr">
                      <a:solidFill>
                        <a:srgbClr val="DEDEDE"/>
                      </a:solidFill>
                      <a:prstDash val="solid"/>
                      <a:round/>
                      <a:headEnd type="none" w="med" len="med"/>
                      <a:tailEnd type="none" w="med" len="med"/>
                    </a:lnB>
                    <a:solidFill>
                      <a:srgbClr val="F0F0F0"/>
                    </a:solidFill>
                  </a:tcPr>
                </a:tc>
                <a:tc>
                  <a:txBody>
                    <a:bodyPr/>
                    <a:lstStyle/>
                    <a:p>
                      <a:pPr marL="0" indent="0" algn="ctr">
                        <a:buNone/>
                      </a:pPr>
                      <a:r>
                        <a:rPr lang="en-US" sz="900" i="1" dirty="0">
                          <a:solidFill>
                            <a:srgbClr val="DEDEDE"/>
                          </a:solidFill>
                          <a:latin typeface="Calibri" pitchFamily="34" charset="0"/>
                          <a:ea typeface="Calibri" pitchFamily="34" charset="-122"/>
                          <a:cs typeface="Calibri" pitchFamily="34" charset="-120"/>
                        </a:rPr>
                        <a:t>[enter value]</a:t>
                      </a:r>
                      <a:endParaRPr lang="en-US" sz="900" dirty="0">
                        <a:latin typeface="Calibri" charset="0"/>
                        <a:ea typeface="Calibri" charset="0"/>
                        <a:cs typeface="Calibri" charset="0"/>
                      </a:endParaRPr>
                    </a:p>
                  </a:txBody>
                  <a:tcPr marL="38100" marR="38100" marT="38100" marB="38100">
                    <a:lnL w="12700" cap="flat" cmpd="sng" algn="ctr">
                      <a:solidFill>
                        <a:srgbClr val="DEDEDE"/>
                      </a:solidFill>
                      <a:prstDash val="solid"/>
                      <a:round/>
                      <a:headEnd type="none" w="med" len="med"/>
                      <a:tailEnd type="none" w="med" len="med"/>
                    </a:lnL>
                    <a:lnR w="12700" cap="flat" cmpd="sng" algn="ctr">
                      <a:solidFill>
                        <a:srgbClr val="DEDEDE"/>
                      </a:solidFill>
                      <a:prstDash val="solid"/>
                      <a:round/>
                      <a:headEnd type="none" w="med" len="med"/>
                      <a:tailEnd type="none" w="med" len="med"/>
                    </a:lnR>
                    <a:lnT w="12700" cap="flat" cmpd="sng" algn="ctr">
                      <a:solidFill>
                        <a:srgbClr val="DEDEDE"/>
                      </a:solidFill>
                      <a:prstDash val="solid"/>
                      <a:round/>
                      <a:headEnd type="none" w="med" len="med"/>
                      <a:tailEnd type="none" w="med" len="med"/>
                    </a:lnT>
                    <a:lnB w="12700" cap="flat" cmpd="sng" algn="ctr">
                      <a:solidFill>
                        <a:srgbClr val="DEDEDE"/>
                      </a:solidFill>
                      <a:prstDash val="solid"/>
                      <a:round/>
                      <a:headEnd type="none" w="med" len="med"/>
                      <a:tailEnd type="none" w="med" len="med"/>
                    </a:lnB>
                    <a:solidFill>
                      <a:srgbClr val="F0F0F0"/>
                    </a:solidFill>
                  </a:tcPr>
                </a:tc>
                <a:tc>
                  <a:txBody>
                    <a:bodyPr/>
                    <a:lstStyle/>
                    <a:p>
                      <a:pPr marL="0" indent="0" algn="ctr">
                        <a:buNone/>
                      </a:pPr>
                      <a:r>
                        <a:rPr lang="en-US" sz="900" i="1" dirty="0">
                          <a:solidFill>
                            <a:srgbClr val="DEDEDE"/>
                          </a:solidFill>
                          <a:latin typeface="Calibri" pitchFamily="34" charset="0"/>
                          <a:ea typeface="Calibri" pitchFamily="34" charset="-122"/>
                          <a:cs typeface="Calibri" pitchFamily="34" charset="-120"/>
                        </a:rPr>
                        <a:t>[enter value]</a:t>
                      </a:r>
                      <a:endParaRPr lang="en-US" sz="900" dirty="0">
                        <a:latin typeface="Calibri" charset="0"/>
                        <a:ea typeface="Calibri" charset="0"/>
                        <a:cs typeface="Calibri" charset="0"/>
                      </a:endParaRPr>
                    </a:p>
                  </a:txBody>
                  <a:tcPr marL="38100" marR="38100" marT="38100" marB="38100">
                    <a:lnL w="12700" cap="flat" cmpd="sng" algn="ctr">
                      <a:solidFill>
                        <a:srgbClr val="DEDEDE"/>
                      </a:solidFill>
                      <a:prstDash val="solid"/>
                      <a:round/>
                      <a:headEnd type="none" w="med" len="med"/>
                      <a:tailEnd type="none" w="med" len="med"/>
                    </a:lnL>
                    <a:lnR w="12700" cap="flat" cmpd="sng" algn="ctr">
                      <a:solidFill>
                        <a:srgbClr val="DEDEDE"/>
                      </a:solidFill>
                      <a:prstDash val="solid"/>
                      <a:round/>
                      <a:headEnd type="none" w="med" len="med"/>
                      <a:tailEnd type="none" w="med" len="med"/>
                    </a:lnR>
                    <a:lnT w="12700" cap="flat" cmpd="sng" algn="ctr">
                      <a:solidFill>
                        <a:srgbClr val="DEDEDE"/>
                      </a:solidFill>
                      <a:prstDash val="solid"/>
                      <a:round/>
                      <a:headEnd type="none" w="med" len="med"/>
                      <a:tailEnd type="none" w="med" len="med"/>
                    </a:lnT>
                    <a:lnB w="12700" cap="flat" cmpd="sng" algn="ctr">
                      <a:solidFill>
                        <a:srgbClr val="DEDEDE"/>
                      </a:solidFill>
                      <a:prstDash val="solid"/>
                      <a:round/>
                      <a:headEnd type="none" w="med" len="med"/>
                      <a:tailEnd type="none" w="med" len="med"/>
                    </a:lnB>
                    <a:solidFill>
                      <a:srgbClr val="F0F0F0"/>
                    </a:solidFill>
                  </a:tcPr>
                </a:tc>
                <a:tc>
                  <a:txBody>
                    <a:bodyPr/>
                    <a:lstStyle/>
                    <a:p>
                      <a:pPr marL="0" indent="0" algn="ctr">
                        <a:buNone/>
                      </a:pPr>
                      <a:r>
                        <a:rPr lang="en-US" sz="900" i="1" dirty="0">
                          <a:solidFill>
                            <a:srgbClr val="DEDEDE"/>
                          </a:solidFill>
                          <a:latin typeface="Calibri" pitchFamily="34" charset="0"/>
                          <a:ea typeface="Calibri" pitchFamily="34" charset="-122"/>
                          <a:cs typeface="Calibri" pitchFamily="34" charset="-120"/>
                        </a:rPr>
                        <a:t>[enter value]</a:t>
                      </a:r>
                      <a:endParaRPr lang="en-US" sz="900" dirty="0">
                        <a:latin typeface="Calibri" charset="0"/>
                        <a:ea typeface="Calibri" charset="0"/>
                        <a:cs typeface="Calibri" charset="0"/>
                      </a:endParaRPr>
                    </a:p>
                  </a:txBody>
                  <a:tcPr marL="38100" marR="38100" marT="38100" marB="38100">
                    <a:lnL w="12700" cap="flat" cmpd="sng" algn="ctr">
                      <a:solidFill>
                        <a:srgbClr val="DEDEDE"/>
                      </a:solidFill>
                      <a:prstDash val="solid"/>
                      <a:round/>
                      <a:headEnd type="none" w="med" len="med"/>
                      <a:tailEnd type="none" w="med" len="med"/>
                    </a:lnL>
                    <a:lnR w="12700" cap="flat" cmpd="sng" algn="ctr">
                      <a:solidFill>
                        <a:srgbClr val="DEDEDE"/>
                      </a:solidFill>
                      <a:prstDash val="solid"/>
                      <a:round/>
                      <a:headEnd type="none" w="med" len="med"/>
                      <a:tailEnd type="none" w="med" len="med"/>
                    </a:lnR>
                    <a:lnT w="12700" cap="flat" cmpd="sng" algn="ctr">
                      <a:solidFill>
                        <a:srgbClr val="DEDEDE"/>
                      </a:solidFill>
                      <a:prstDash val="solid"/>
                      <a:round/>
                      <a:headEnd type="none" w="med" len="med"/>
                      <a:tailEnd type="none" w="med" len="med"/>
                    </a:lnT>
                    <a:lnB w="12700" cap="flat" cmpd="sng" algn="ctr">
                      <a:solidFill>
                        <a:srgbClr val="DEDEDE"/>
                      </a:solidFill>
                      <a:prstDash val="solid"/>
                      <a:round/>
                      <a:headEnd type="none" w="med" len="med"/>
                      <a:tailEnd type="none" w="med" len="med"/>
                    </a:lnB>
                    <a:solidFill>
                      <a:srgbClr val="F0F0F0"/>
                    </a:solidFill>
                  </a:tcPr>
                </a:tc>
                <a:tc>
                  <a:txBody>
                    <a:bodyPr/>
                    <a:lstStyle/>
                    <a:p>
                      <a:pPr marL="0" indent="0" algn="ctr">
                        <a:buNone/>
                      </a:pPr>
                      <a:r>
                        <a:rPr lang="en-US" sz="900" i="1" dirty="0">
                          <a:solidFill>
                            <a:srgbClr val="DEDEDE"/>
                          </a:solidFill>
                          <a:latin typeface="Calibri" pitchFamily="34" charset="0"/>
                          <a:ea typeface="Calibri" pitchFamily="34" charset="-122"/>
                          <a:cs typeface="Calibri" pitchFamily="34" charset="-120"/>
                        </a:rPr>
                        <a:t>[enter value]</a:t>
                      </a:r>
                      <a:endParaRPr lang="en-US" sz="900" dirty="0">
                        <a:latin typeface="Calibri" charset="0"/>
                        <a:ea typeface="Calibri" charset="0"/>
                        <a:cs typeface="Calibri" charset="0"/>
                      </a:endParaRPr>
                    </a:p>
                  </a:txBody>
                  <a:tcPr marL="38100" marR="38100" marT="38100" marB="38100">
                    <a:lnL w="12700" cap="flat" cmpd="sng" algn="ctr">
                      <a:solidFill>
                        <a:srgbClr val="DEDEDE"/>
                      </a:solidFill>
                      <a:prstDash val="solid"/>
                      <a:round/>
                      <a:headEnd type="none" w="med" len="med"/>
                      <a:tailEnd type="none" w="med" len="med"/>
                    </a:lnL>
                    <a:lnR w="12700" cap="flat" cmpd="sng" algn="ctr">
                      <a:solidFill>
                        <a:srgbClr val="DEDEDE"/>
                      </a:solidFill>
                      <a:prstDash val="solid"/>
                      <a:round/>
                      <a:headEnd type="none" w="med" len="med"/>
                      <a:tailEnd type="none" w="med" len="med"/>
                    </a:lnR>
                    <a:lnT w="12700" cap="flat" cmpd="sng" algn="ctr">
                      <a:solidFill>
                        <a:srgbClr val="DEDEDE"/>
                      </a:solidFill>
                      <a:prstDash val="solid"/>
                      <a:round/>
                      <a:headEnd type="none" w="med" len="med"/>
                      <a:tailEnd type="none" w="med" len="med"/>
                    </a:lnT>
                    <a:lnB w="12700" cap="flat" cmpd="sng" algn="ctr">
                      <a:solidFill>
                        <a:srgbClr val="DEDEDE"/>
                      </a:solidFill>
                      <a:prstDash val="solid"/>
                      <a:round/>
                      <a:headEnd type="none" w="med" len="med"/>
                      <a:tailEnd type="none" w="med" len="med"/>
                    </a:lnB>
                    <a:solidFill>
                      <a:srgbClr val="F0F0F0"/>
                    </a:solidFill>
                  </a:tcPr>
                </a:tc>
                <a:tc>
                  <a:txBody>
                    <a:bodyPr/>
                    <a:lstStyle/>
                    <a:p>
                      <a:pPr marL="0" indent="0" algn="ctr">
                        <a:buNone/>
                      </a:pPr>
                      <a:r>
                        <a:rPr lang="en-US" sz="900" i="1" dirty="0">
                          <a:solidFill>
                            <a:srgbClr val="DEDEDE"/>
                          </a:solidFill>
                          <a:latin typeface="Calibri" pitchFamily="34" charset="0"/>
                          <a:ea typeface="Calibri" pitchFamily="34" charset="-122"/>
                          <a:cs typeface="Calibri" pitchFamily="34" charset="-120"/>
                        </a:rPr>
                        <a:t>[enter value]</a:t>
                      </a:r>
                      <a:endParaRPr lang="en-US" sz="900" dirty="0">
                        <a:latin typeface="Calibri" charset="0"/>
                        <a:ea typeface="Calibri" charset="0"/>
                        <a:cs typeface="Calibri" charset="0"/>
                      </a:endParaRPr>
                    </a:p>
                  </a:txBody>
                  <a:tcPr marL="38100" marR="38100" marT="38100" marB="38100">
                    <a:lnL w="12700" cap="flat" cmpd="sng" algn="ctr">
                      <a:solidFill>
                        <a:srgbClr val="DEDEDE"/>
                      </a:solidFill>
                      <a:prstDash val="solid"/>
                      <a:round/>
                      <a:headEnd type="none" w="med" len="med"/>
                      <a:tailEnd type="none" w="med" len="med"/>
                    </a:lnL>
                    <a:lnR w="12700" cap="flat" cmpd="sng" algn="ctr">
                      <a:solidFill>
                        <a:srgbClr val="DEDEDE"/>
                      </a:solidFill>
                      <a:prstDash val="solid"/>
                      <a:round/>
                      <a:headEnd type="none" w="med" len="med"/>
                      <a:tailEnd type="none" w="med" len="med"/>
                    </a:lnR>
                    <a:lnT w="12700" cap="flat" cmpd="sng" algn="ctr">
                      <a:solidFill>
                        <a:srgbClr val="DEDEDE"/>
                      </a:solidFill>
                      <a:prstDash val="solid"/>
                      <a:round/>
                      <a:headEnd type="none" w="med" len="med"/>
                      <a:tailEnd type="none" w="med" len="med"/>
                    </a:lnT>
                    <a:lnB w="12700" cap="flat" cmpd="sng" algn="ctr">
                      <a:solidFill>
                        <a:srgbClr val="DEDEDE"/>
                      </a:solidFill>
                      <a:prstDash val="solid"/>
                      <a:round/>
                      <a:headEnd type="none" w="med" len="med"/>
                      <a:tailEnd type="none" w="med" len="med"/>
                    </a:lnB>
                    <a:solidFill>
                      <a:srgbClr val="F0F0F0"/>
                    </a:solidFill>
                  </a:tcPr>
                </a:tc>
                <a:tc>
                  <a:txBody>
                    <a:bodyPr/>
                    <a:lstStyle/>
                    <a:p>
                      <a:pPr marL="0" indent="0" algn="ctr">
                        <a:buNone/>
                      </a:pPr>
                      <a:r>
                        <a:rPr lang="en-US" sz="900" i="1" dirty="0">
                          <a:solidFill>
                            <a:srgbClr val="DEDEDE"/>
                          </a:solidFill>
                          <a:latin typeface="Calibri" pitchFamily="34" charset="0"/>
                          <a:ea typeface="Calibri" pitchFamily="34" charset="-122"/>
                          <a:cs typeface="Calibri" pitchFamily="34" charset="-120"/>
                        </a:rPr>
                        <a:t>[enter value]</a:t>
                      </a:r>
                      <a:endParaRPr lang="en-US" sz="900" dirty="0">
                        <a:latin typeface="Calibri" charset="0"/>
                        <a:ea typeface="Calibri" charset="0"/>
                        <a:cs typeface="Calibri" charset="0"/>
                      </a:endParaRPr>
                    </a:p>
                  </a:txBody>
                  <a:tcPr marL="38100" marR="38100" marT="38100" marB="38100">
                    <a:lnL w="12700" cap="flat" cmpd="sng" algn="ctr">
                      <a:solidFill>
                        <a:srgbClr val="DEDEDE"/>
                      </a:solidFill>
                      <a:prstDash val="solid"/>
                      <a:round/>
                      <a:headEnd type="none" w="med" len="med"/>
                      <a:tailEnd type="none" w="med" len="med"/>
                    </a:lnL>
                    <a:lnR w="12700" cap="flat" cmpd="sng" algn="ctr">
                      <a:solidFill>
                        <a:srgbClr val="DEDEDE"/>
                      </a:solidFill>
                      <a:prstDash val="solid"/>
                      <a:round/>
                      <a:headEnd type="none" w="med" len="med"/>
                      <a:tailEnd type="none" w="med" len="med"/>
                    </a:lnR>
                    <a:lnT w="12700" cap="flat" cmpd="sng" algn="ctr">
                      <a:solidFill>
                        <a:srgbClr val="DEDEDE"/>
                      </a:solidFill>
                      <a:prstDash val="solid"/>
                      <a:round/>
                      <a:headEnd type="none" w="med" len="med"/>
                      <a:tailEnd type="none" w="med" len="med"/>
                    </a:lnT>
                    <a:lnB w="12700" cap="flat" cmpd="sng" algn="ctr">
                      <a:solidFill>
                        <a:srgbClr val="DEDEDE"/>
                      </a:solidFill>
                      <a:prstDash val="solid"/>
                      <a:round/>
                      <a:headEnd type="none" w="med" len="med"/>
                      <a:tailEnd type="none" w="med" len="med"/>
                    </a:lnB>
                    <a:solidFill>
                      <a:srgbClr val="F0F0F0"/>
                    </a:solidFill>
                  </a:tcPr>
                </a:tc>
                <a:tc>
                  <a:txBody>
                    <a:bodyPr/>
                    <a:lstStyle/>
                    <a:p>
                      <a:pPr marL="0" indent="0" algn="ctr">
                        <a:buNone/>
                      </a:pPr>
                      <a:r>
                        <a:rPr lang="en-US" sz="900" i="1" dirty="0">
                          <a:solidFill>
                            <a:srgbClr val="DEDEDE"/>
                          </a:solidFill>
                          <a:latin typeface="Calibri" pitchFamily="34" charset="0"/>
                          <a:ea typeface="Calibri" pitchFamily="34" charset="-122"/>
                          <a:cs typeface="Calibri" pitchFamily="34" charset="-120"/>
                        </a:rPr>
                        <a:t>[enter value]</a:t>
                      </a:r>
                      <a:endParaRPr lang="en-US" sz="900" dirty="0">
                        <a:latin typeface="Calibri" charset="0"/>
                        <a:ea typeface="Calibri" charset="0"/>
                        <a:cs typeface="Calibri" charset="0"/>
                      </a:endParaRPr>
                    </a:p>
                  </a:txBody>
                  <a:tcPr marL="38100" marR="38100" marT="38100" marB="38100">
                    <a:lnL w="12700" cap="flat" cmpd="sng" algn="ctr">
                      <a:solidFill>
                        <a:srgbClr val="DEDEDE"/>
                      </a:solidFill>
                      <a:prstDash val="solid"/>
                      <a:round/>
                      <a:headEnd type="none" w="med" len="med"/>
                      <a:tailEnd type="none" w="med" len="med"/>
                    </a:lnL>
                    <a:lnR w="12700" cap="flat" cmpd="sng" algn="ctr">
                      <a:solidFill>
                        <a:srgbClr val="DEDEDE"/>
                      </a:solidFill>
                      <a:prstDash val="solid"/>
                      <a:round/>
                      <a:headEnd type="none" w="med" len="med"/>
                      <a:tailEnd type="none" w="med" len="med"/>
                    </a:lnR>
                    <a:lnT w="12700" cap="flat" cmpd="sng" algn="ctr">
                      <a:solidFill>
                        <a:srgbClr val="DEDEDE"/>
                      </a:solidFill>
                      <a:prstDash val="solid"/>
                      <a:round/>
                      <a:headEnd type="none" w="med" len="med"/>
                      <a:tailEnd type="none" w="med" len="med"/>
                    </a:lnT>
                    <a:lnB w="12700" cap="flat" cmpd="sng" algn="ctr">
                      <a:solidFill>
                        <a:srgbClr val="DEDEDE"/>
                      </a:solidFill>
                      <a:prstDash val="solid"/>
                      <a:round/>
                      <a:headEnd type="none" w="med" len="med"/>
                      <a:tailEnd type="none" w="med" len="med"/>
                    </a:lnB>
                    <a:solidFill>
                      <a:srgbClr val="F0F0F0"/>
                    </a:solidFill>
                  </a:tcPr>
                </a:tc>
                <a:extLst>
                  <a:ext uri="{0D108BD9-81ED-4DB2-BD59-A6C34878D82A}">
                    <a16:rowId xmlns:a16="http://schemas.microsoft.com/office/drawing/2014/main" val="10003"/>
                  </a:ext>
                </a:extLst>
              </a:tr>
              <a:tr h="502920">
                <a:tc>
                  <a:txBody>
                    <a:bodyPr/>
                    <a:lstStyle/>
                    <a:p>
                      <a:pPr marL="0" indent="0" algn="ctr">
                        <a:buNone/>
                      </a:pPr>
                      <a:r>
                        <a:rPr lang="en-US" sz="900" i="1" dirty="0">
                          <a:solidFill>
                            <a:srgbClr val="5A5A5A"/>
                          </a:solidFill>
                          <a:latin typeface="Calibri" pitchFamily="34" charset="0"/>
                          <a:ea typeface="Calibri" pitchFamily="34" charset="-122"/>
                          <a:cs typeface="Calibri" pitchFamily="34" charset="-120"/>
                        </a:rPr>
                        <a:t>TC_[MOD]_004</a:t>
                      </a:r>
                      <a:endParaRPr lang="en-US" sz="900" dirty="0">
                        <a:latin typeface="Calibri" charset="0"/>
                        <a:ea typeface="Calibri" charset="0"/>
                        <a:cs typeface="Calibri" charset="0"/>
                      </a:endParaRPr>
                    </a:p>
                  </a:txBody>
                  <a:tcPr marL="38100" marR="38100" marT="38100" marB="38100">
                    <a:lnL w="12700" cap="flat" cmpd="sng" algn="ctr">
                      <a:solidFill>
                        <a:srgbClr val="DEDEDE"/>
                      </a:solidFill>
                      <a:prstDash val="solid"/>
                      <a:round/>
                      <a:headEnd type="none" w="med" len="med"/>
                      <a:tailEnd type="none" w="med" len="med"/>
                    </a:lnL>
                    <a:lnR w="12700" cap="flat" cmpd="sng" algn="ctr">
                      <a:solidFill>
                        <a:srgbClr val="DEDEDE"/>
                      </a:solidFill>
                      <a:prstDash val="solid"/>
                      <a:round/>
                      <a:headEnd type="none" w="med" len="med"/>
                      <a:tailEnd type="none" w="med" len="med"/>
                    </a:lnR>
                    <a:lnT w="12700" cap="flat" cmpd="sng" algn="ctr">
                      <a:solidFill>
                        <a:srgbClr val="DEDEDE"/>
                      </a:solidFill>
                      <a:prstDash val="solid"/>
                      <a:round/>
                      <a:headEnd type="none" w="med" len="med"/>
                      <a:tailEnd type="none" w="med" len="med"/>
                    </a:lnT>
                    <a:lnB w="12700" cap="flat" cmpd="sng" algn="ctr">
                      <a:solidFill>
                        <a:srgbClr val="DEDEDE"/>
                      </a:solidFill>
                      <a:prstDash val="solid"/>
                      <a:round/>
                      <a:headEnd type="none" w="med" len="med"/>
                      <a:tailEnd type="none" w="med" len="med"/>
                    </a:lnB>
                    <a:solidFill>
                      <a:srgbClr val="FFFFFF"/>
                    </a:solidFill>
                  </a:tcPr>
                </a:tc>
                <a:tc>
                  <a:txBody>
                    <a:bodyPr/>
                    <a:lstStyle/>
                    <a:p>
                      <a:pPr marL="0" indent="0" algn="ctr">
                        <a:buNone/>
                      </a:pPr>
                      <a:r>
                        <a:rPr lang="en-US" sz="900" i="1" dirty="0">
                          <a:solidFill>
                            <a:srgbClr val="DEDEDE"/>
                          </a:solidFill>
                          <a:latin typeface="Calibri" pitchFamily="34" charset="0"/>
                          <a:ea typeface="Calibri" pitchFamily="34" charset="-122"/>
                          <a:cs typeface="Calibri" pitchFamily="34" charset="-120"/>
                        </a:rPr>
                        <a:t>[enter value]</a:t>
                      </a:r>
                      <a:endParaRPr lang="en-US" sz="900" dirty="0">
                        <a:latin typeface="Calibri" charset="0"/>
                        <a:ea typeface="Calibri" charset="0"/>
                        <a:cs typeface="Calibri" charset="0"/>
                      </a:endParaRPr>
                    </a:p>
                  </a:txBody>
                  <a:tcPr marL="38100" marR="38100" marT="38100" marB="38100">
                    <a:lnL w="12700" cap="flat" cmpd="sng" algn="ctr">
                      <a:solidFill>
                        <a:srgbClr val="DEDEDE"/>
                      </a:solidFill>
                      <a:prstDash val="solid"/>
                      <a:round/>
                      <a:headEnd type="none" w="med" len="med"/>
                      <a:tailEnd type="none" w="med" len="med"/>
                    </a:lnL>
                    <a:lnR w="12700" cap="flat" cmpd="sng" algn="ctr">
                      <a:solidFill>
                        <a:srgbClr val="DEDEDE"/>
                      </a:solidFill>
                      <a:prstDash val="solid"/>
                      <a:round/>
                      <a:headEnd type="none" w="med" len="med"/>
                      <a:tailEnd type="none" w="med" len="med"/>
                    </a:lnR>
                    <a:lnT w="12700" cap="flat" cmpd="sng" algn="ctr">
                      <a:solidFill>
                        <a:srgbClr val="DEDEDE"/>
                      </a:solidFill>
                      <a:prstDash val="solid"/>
                      <a:round/>
                      <a:headEnd type="none" w="med" len="med"/>
                      <a:tailEnd type="none" w="med" len="med"/>
                    </a:lnT>
                    <a:lnB w="12700" cap="flat" cmpd="sng" algn="ctr">
                      <a:solidFill>
                        <a:srgbClr val="DEDEDE"/>
                      </a:solidFill>
                      <a:prstDash val="solid"/>
                      <a:round/>
                      <a:headEnd type="none" w="med" len="med"/>
                      <a:tailEnd type="none" w="med" len="med"/>
                    </a:lnB>
                    <a:solidFill>
                      <a:srgbClr val="FFFFFF"/>
                    </a:solidFill>
                  </a:tcPr>
                </a:tc>
                <a:tc>
                  <a:txBody>
                    <a:bodyPr/>
                    <a:lstStyle/>
                    <a:p>
                      <a:pPr marL="0" indent="0" algn="ctr">
                        <a:buNone/>
                      </a:pPr>
                      <a:r>
                        <a:rPr lang="en-US" sz="900" i="1" dirty="0">
                          <a:solidFill>
                            <a:srgbClr val="DEDEDE"/>
                          </a:solidFill>
                          <a:latin typeface="Calibri" pitchFamily="34" charset="0"/>
                          <a:ea typeface="Calibri" pitchFamily="34" charset="-122"/>
                          <a:cs typeface="Calibri" pitchFamily="34" charset="-120"/>
                        </a:rPr>
                        <a:t>[enter value]</a:t>
                      </a:r>
                      <a:endParaRPr lang="en-US" sz="900" dirty="0">
                        <a:latin typeface="Calibri" charset="0"/>
                        <a:ea typeface="Calibri" charset="0"/>
                        <a:cs typeface="Calibri" charset="0"/>
                      </a:endParaRPr>
                    </a:p>
                  </a:txBody>
                  <a:tcPr marL="38100" marR="38100" marT="38100" marB="38100">
                    <a:lnL w="12700" cap="flat" cmpd="sng" algn="ctr">
                      <a:solidFill>
                        <a:srgbClr val="DEDEDE"/>
                      </a:solidFill>
                      <a:prstDash val="solid"/>
                      <a:round/>
                      <a:headEnd type="none" w="med" len="med"/>
                      <a:tailEnd type="none" w="med" len="med"/>
                    </a:lnL>
                    <a:lnR w="12700" cap="flat" cmpd="sng" algn="ctr">
                      <a:solidFill>
                        <a:srgbClr val="DEDEDE"/>
                      </a:solidFill>
                      <a:prstDash val="solid"/>
                      <a:round/>
                      <a:headEnd type="none" w="med" len="med"/>
                      <a:tailEnd type="none" w="med" len="med"/>
                    </a:lnR>
                    <a:lnT w="12700" cap="flat" cmpd="sng" algn="ctr">
                      <a:solidFill>
                        <a:srgbClr val="DEDEDE"/>
                      </a:solidFill>
                      <a:prstDash val="solid"/>
                      <a:round/>
                      <a:headEnd type="none" w="med" len="med"/>
                      <a:tailEnd type="none" w="med" len="med"/>
                    </a:lnT>
                    <a:lnB w="12700" cap="flat" cmpd="sng" algn="ctr">
                      <a:solidFill>
                        <a:srgbClr val="DEDEDE"/>
                      </a:solidFill>
                      <a:prstDash val="solid"/>
                      <a:round/>
                      <a:headEnd type="none" w="med" len="med"/>
                      <a:tailEnd type="none" w="med" len="med"/>
                    </a:lnB>
                    <a:solidFill>
                      <a:srgbClr val="FFFFFF"/>
                    </a:solidFill>
                  </a:tcPr>
                </a:tc>
                <a:tc>
                  <a:txBody>
                    <a:bodyPr/>
                    <a:lstStyle/>
                    <a:p>
                      <a:pPr marL="0" indent="0" algn="ctr">
                        <a:buNone/>
                      </a:pPr>
                      <a:r>
                        <a:rPr lang="en-US" sz="900" i="1" dirty="0">
                          <a:solidFill>
                            <a:srgbClr val="DEDEDE"/>
                          </a:solidFill>
                          <a:latin typeface="Calibri" pitchFamily="34" charset="0"/>
                          <a:ea typeface="Calibri" pitchFamily="34" charset="-122"/>
                          <a:cs typeface="Calibri" pitchFamily="34" charset="-120"/>
                        </a:rPr>
                        <a:t>[enter value]</a:t>
                      </a:r>
                      <a:endParaRPr lang="en-US" sz="900" dirty="0">
                        <a:latin typeface="Calibri" charset="0"/>
                        <a:ea typeface="Calibri" charset="0"/>
                        <a:cs typeface="Calibri" charset="0"/>
                      </a:endParaRPr>
                    </a:p>
                  </a:txBody>
                  <a:tcPr marL="38100" marR="38100" marT="38100" marB="38100">
                    <a:lnL w="12700" cap="flat" cmpd="sng" algn="ctr">
                      <a:solidFill>
                        <a:srgbClr val="DEDEDE"/>
                      </a:solidFill>
                      <a:prstDash val="solid"/>
                      <a:round/>
                      <a:headEnd type="none" w="med" len="med"/>
                      <a:tailEnd type="none" w="med" len="med"/>
                    </a:lnL>
                    <a:lnR w="12700" cap="flat" cmpd="sng" algn="ctr">
                      <a:solidFill>
                        <a:srgbClr val="DEDEDE"/>
                      </a:solidFill>
                      <a:prstDash val="solid"/>
                      <a:round/>
                      <a:headEnd type="none" w="med" len="med"/>
                      <a:tailEnd type="none" w="med" len="med"/>
                    </a:lnR>
                    <a:lnT w="12700" cap="flat" cmpd="sng" algn="ctr">
                      <a:solidFill>
                        <a:srgbClr val="DEDEDE"/>
                      </a:solidFill>
                      <a:prstDash val="solid"/>
                      <a:round/>
                      <a:headEnd type="none" w="med" len="med"/>
                      <a:tailEnd type="none" w="med" len="med"/>
                    </a:lnT>
                    <a:lnB w="12700" cap="flat" cmpd="sng" algn="ctr">
                      <a:solidFill>
                        <a:srgbClr val="DEDEDE"/>
                      </a:solidFill>
                      <a:prstDash val="solid"/>
                      <a:round/>
                      <a:headEnd type="none" w="med" len="med"/>
                      <a:tailEnd type="none" w="med" len="med"/>
                    </a:lnB>
                    <a:solidFill>
                      <a:srgbClr val="FFFFFF"/>
                    </a:solidFill>
                  </a:tcPr>
                </a:tc>
                <a:tc>
                  <a:txBody>
                    <a:bodyPr/>
                    <a:lstStyle/>
                    <a:p>
                      <a:pPr marL="0" indent="0" algn="ctr">
                        <a:buNone/>
                      </a:pPr>
                      <a:r>
                        <a:rPr lang="en-US" sz="900" i="1" dirty="0">
                          <a:solidFill>
                            <a:srgbClr val="DEDEDE"/>
                          </a:solidFill>
                          <a:latin typeface="Calibri" pitchFamily="34" charset="0"/>
                          <a:ea typeface="Calibri" pitchFamily="34" charset="-122"/>
                          <a:cs typeface="Calibri" pitchFamily="34" charset="-120"/>
                        </a:rPr>
                        <a:t>[enter value]</a:t>
                      </a:r>
                      <a:endParaRPr lang="en-US" sz="900" dirty="0">
                        <a:latin typeface="Calibri" charset="0"/>
                        <a:ea typeface="Calibri" charset="0"/>
                        <a:cs typeface="Calibri" charset="0"/>
                      </a:endParaRPr>
                    </a:p>
                  </a:txBody>
                  <a:tcPr marL="38100" marR="38100" marT="38100" marB="38100">
                    <a:lnL w="12700" cap="flat" cmpd="sng" algn="ctr">
                      <a:solidFill>
                        <a:srgbClr val="DEDEDE"/>
                      </a:solidFill>
                      <a:prstDash val="solid"/>
                      <a:round/>
                      <a:headEnd type="none" w="med" len="med"/>
                      <a:tailEnd type="none" w="med" len="med"/>
                    </a:lnL>
                    <a:lnR w="12700" cap="flat" cmpd="sng" algn="ctr">
                      <a:solidFill>
                        <a:srgbClr val="DEDEDE"/>
                      </a:solidFill>
                      <a:prstDash val="solid"/>
                      <a:round/>
                      <a:headEnd type="none" w="med" len="med"/>
                      <a:tailEnd type="none" w="med" len="med"/>
                    </a:lnR>
                    <a:lnT w="12700" cap="flat" cmpd="sng" algn="ctr">
                      <a:solidFill>
                        <a:srgbClr val="DEDEDE"/>
                      </a:solidFill>
                      <a:prstDash val="solid"/>
                      <a:round/>
                      <a:headEnd type="none" w="med" len="med"/>
                      <a:tailEnd type="none" w="med" len="med"/>
                    </a:lnT>
                    <a:lnB w="12700" cap="flat" cmpd="sng" algn="ctr">
                      <a:solidFill>
                        <a:srgbClr val="DEDEDE"/>
                      </a:solidFill>
                      <a:prstDash val="solid"/>
                      <a:round/>
                      <a:headEnd type="none" w="med" len="med"/>
                      <a:tailEnd type="none" w="med" len="med"/>
                    </a:lnB>
                    <a:solidFill>
                      <a:srgbClr val="FFFFFF"/>
                    </a:solidFill>
                  </a:tcPr>
                </a:tc>
                <a:tc>
                  <a:txBody>
                    <a:bodyPr/>
                    <a:lstStyle/>
                    <a:p>
                      <a:pPr marL="0" indent="0" algn="ctr">
                        <a:buNone/>
                      </a:pPr>
                      <a:r>
                        <a:rPr lang="en-US" sz="900" i="1" dirty="0">
                          <a:solidFill>
                            <a:srgbClr val="DEDEDE"/>
                          </a:solidFill>
                          <a:latin typeface="Calibri" pitchFamily="34" charset="0"/>
                          <a:ea typeface="Calibri" pitchFamily="34" charset="-122"/>
                          <a:cs typeface="Calibri" pitchFamily="34" charset="-120"/>
                        </a:rPr>
                        <a:t>[enter value]</a:t>
                      </a:r>
                      <a:endParaRPr lang="en-US" sz="900" dirty="0">
                        <a:latin typeface="Calibri" charset="0"/>
                        <a:ea typeface="Calibri" charset="0"/>
                        <a:cs typeface="Calibri" charset="0"/>
                      </a:endParaRPr>
                    </a:p>
                  </a:txBody>
                  <a:tcPr marL="38100" marR="38100" marT="38100" marB="38100">
                    <a:lnL w="12700" cap="flat" cmpd="sng" algn="ctr">
                      <a:solidFill>
                        <a:srgbClr val="DEDEDE"/>
                      </a:solidFill>
                      <a:prstDash val="solid"/>
                      <a:round/>
                      <a:headEnd type="none" w="med" len="med"/>
                      <a:tailEnd type="none" w="med" len="med"/>
                    </a:lnL>
                    <a:lnR w="12700" cap="flat" cmpd="sng" algn="ctr">
                      <a:solidFill>
                        <a:srgbClr val="DEDEDE"/>
                      </a:solidFill>
                      <a:prstDash val="solid"/>
                      <a:round/>
                      <a:headEnd type="none" w="med" len="med"/>
                      <a:tailEnd type="none" w="med" len="med"/>
                    </a:lnR>
                    <a:lnT w="12700" cap="flat" cmpd="sng" algn="ctr">
                      <a:solidFill>
                        <a:srgbClr val="DEDEDE"/>
                      </a:solidFill>
                      <a:prstDash val="solid"/>
                      <a:round/>
                      <a:headEnd type="none" w="med" len="med"/>
                      <a:tailEnd type="none" w="med" len="med"/>
                    </a:lnT>
                    <a:lnB w="12700" cap="flat" cmpd="sng" algn="ctr">
                      <a:solidFill>
                        <a:srgbClr val="DEDEDE"/>
                      </a:solidFill>
                      <a:prstDash val="solid"/>
                      <a:round/>
                      <a:headEnd type="none" w="med" len="med"/>
                      <a:tailEnd type="none" w="med" len="med"/>
                    </a:lnB>
                    <a:solidFill>
                      <a:srgbClr val="FFFFFF"/>
                    </a:solidFill>
                  </a:tcPr>
                </a:tc>
                <a:tc>
                  <a:txBody>
                    <a:bodyPr/>
                    <a:lstStyle/>
                    <a:p>
                      <a:pPr marL="0" indent="0" algn="ctr">
                        <a:buNone/>
                      </a:pPr>
                      <a:r>
                        <a:rPr lang="en-US" sz="900" i="1" dirty="0">
                          <a:solidFill>
                            <a:srgbClr val="DEDEDE"/>
                          </a:solidFill>
                          <a:latin typeface="Calibri" pitchFamily="34" charset="0"/>
                          <a:ea typeface="Calibri" pitchFamily="34" charset="-122"/>
                          <a:cs typeface="Calibri" pitchFamily="34" charset="-120"/>
                        </a:rPr>
                        <a:t>[enter value]</a:t>
                      </a:r>
                      <a:endParaRPr lang="en-US" sz="900" dirty="0">
                        <a:latin typeface="Calibri" charset="0"/>
                        <a:ea typeface="Calibri" charset="0"/>
                        <a:cs typeface="Calibri" charset="0"/>
                      </a:endParaRPr>
                    </a:p>
                  </a:txBody>
                  <a:tcPr marL="38100" marR="38100" marT="38100" marB="38100">
                    <a:lnL w="12700" cap="flat" cmpd="sng" algn="ctr">
                      <a:solidFill>
                        <a:srgbClr val="DEDEDE"/>
                      </a:solidFill>
                      <a:prstDash val="solid"/>
                      <a:round/>
                      <a:headEnd type="none" w="med" len="med"/>
                      <a:tailEnd type="none" w="med" len="med"/>
                    </a:lnL>
                    <a:lnR w="12700" cap="flat" cmpd="sng" algn="ctr">
                      <a:solidFill>
                        <a:srgbClr val="DEDEDE"/>
                      </a:solidFill>
                      <a:prstDash val="solid"/>
                      <a:round/>
                      <a:headEnd type="none" w="med" len="med"/>
                      <a:tailEnd type="none" w="med" len="med"/>
                    </a:lnR>
                    <a:lnT w="12700" cap="flat" cmpd="sng" algn="ctr">
                      <a:solidFill>
                        <a:srgbClr val="DEDEDE"/>
                      </a:solidFill>
                      <a:prstDash val="solid"/>
                      <a:round/>
                      <a:headEnd type="none" w="med" len="med"/>
                      <a:tailEnd type="none" w="med" len="med"/>
                    </a:lnT>
                    <a:lnB w="12700" cap="flat" cmpd="sng" algn="ctr">
                      <a:solidFill>
                        <a:srgbClr val="DEDEDE"/>
                      </a:solidFill>
                      <a:prstDash val="solid"/>
                      <a:round/>
                      <a:headEnd type="none" w="med" len="med"/>
                      <a:tailEnd type="none" w="med" len="med"/>
                    </a:lnB>
                    <a:solidFill>
                      <a:srgbClr val="FFFFFF"/>
                    </a:solidFill>
                  </a:tcPr>
                </a:tc>
                <a:tc>
                  <a:txBody>
                    <a:bodyPr/>
                    <a:lstStyle/>
                    <a:p>
                      <a:pPr marL="0" indent="0" algn="ctr">
                        <a:buNone/>
                      </a:pPr>
                      <a:r>
                        <a:rPr lang="en-US" sz="900" i="1" dirty="0">
                          <a:solidFill>
                            <a:srgbClr val="DEDEDE"/>
                          </a:solidFill>
                          <a:latin typeface="Calibri" pitchFamily="34" charset="0"/>
                          <a:ea typeface="Calibri" pitchFamily="34" charset="-122"/>
                          <a:cs typeface="Calibri" pitchFamily="34" charset="-120"/>
                        </a:rPr>
                        <a:t>[enter value]</a:t>
                      </a:r>
                      <a:endParaRPr lang="en-US" sz="900" dirty="0">
                        <a:latin typeface="Calibri" charset="0"/>
                        <a:ea typeface="Calibri" charset="0"/>
                        <a:cs typeface="Calibri" charset="0"/>
                      </a:endParaRPr>
                    </a:p>
                  </a:txBody>
                  <a:tcPr marL="38100" marR="38100" marT="38100" marB="38100">
                    <a:lnL w="12700" cap="flat" cmpd="sng" algn="ctr">
                      <a:solidFill>
                        <a:srgbClr val="DEDEDE"/>
                      </a:solidFill>
                      <a:prstDash val="solid"/>
                      <a:round/>
                      <a:headEnd type="none" w="med" len="med"/>
                      <a:tailEnd type="none" w="med" len="med"/>
                    </a:lnL>
                    <a:lnR w="12700" cap="flat" cmpd="sng" algn="ctr">
                      <a:solidFill>
                        <a:srgbClr val="DEDEDE"/>
                      </a:solidFill>
                      <a:prstDash val="solid"/>
                      <a:round/>
                      <a:headEnd type="none" w="med" len="med"/>
                      <a:tailEnd type="none" w="med" len="med"/>
                    </a:lnR>
                    <a:lnT w="12700" cap="flat" cmpd="sng" algn="ctr">
                      <a:solidFill>
                        <a:srgbClr val="DEDEDE"/>
                      </a:solidFill>
                      <a:prstDash val="solid"/>
                      <a:round/>
                      <a:headEnd type="none" w="med" len="med"/>
                      <a:tailEnd type="none" w="med" len="med"/>
                    </a:lnT>
                    <a:lnB w="12700" cap="flat" cmpd="sng" algn="ctr">
                      <a:solidFill>
                        <a:srgbClr val="DEDEDE"/>
                      </a:solidFill>
                      <a:prstDash val="solid"/>
                      <a:round/>
                      <a:headEnd type="none" w="med" len="med"/>
                      <a:tailEnd type="none" w="med" len="med"/>
                    </a:lnB>
                    <a:solidFill>
                      <a:srgbClr val="FFFFFF"/>
                    </a:solidFill>
                  </a:tcPr>
                </a:tc>
                <a:tc>
                  <a:txBody>
                    <a:bodyPr/>
                    <a:lstStyle/>
                    <a:p>
                      <a:pPr marL="0" indent="0" algn="ctr">
                        <a:buNone/>
                      </a:pPr>
                      <a:r>
                        <a:rPr lang="en-US" sz="900" i="1" dirty="0">
                          <a:solidFill>
                            <a:srgbClr val="DEDEDE"/>
                          </a:solidFill>
                          <a:latin typeface="Calibri" pitchFamily="34" charset="0"/>
                          <a:ea typeface="Calibri" pitchFamily="34" charset="-122"/>
                          <a:cs typeface="Calibri" pitchFamily="34" charset="-120"/>
                        </a:rPr>
                        <a:t>[enter value]</a:t>
                      </a:r>
                      <a:endParaRPr lang="en-US" sz="900" dirty="0">
                        <a:latin typeface="Calibri" charset="0"/>
                        <a:ea typeface="Calibri" charset="0"/>
                        <a:cs typeface="Calibri" charset="0"/>
                      </a:endParaRPr>
                    </a:p>
                  </a:txBody>
                  <a:tcPr marL="38100" marR="38100" marT="38100" marB="38100">
                    <a:lnL w="12700" cap="flat" cmpd="sng" algn="ctr">
                      <a:solidFill>
                        <a:srgbClr val="DEDEDE"/>
                      </a:solidFill>
                      <a:prstDash val="solid"/>
                      <a:round/>
                      <a:headEnd type="none" w="med" len="med"/>
                      <a:tailEnd type="none" w="med" len="med"/>
                    </a:lnL>
                    <a:lnR w="12700" cap="flat" cmpd="sng" algn="ctr">
                      <a:solidFill>
                        <a:srgbClr val="DEDEDE"/>
                      </a:solidFill>
                      <a:prstDash val="solid"/>
                      <a:round/>
                      <a:headEnd type="none" w="med" len="med"/>
                      <a:tailEnd type="none" w="med" len="med"/>
                    </a:lnR>
                    <a:lnT w="12700" cap="flat" cmpd="sng" algn="ctr">
                      <a:solidFill>
                        <a:srgbClr val="DEDEDE"/>
                      </a:solidFill>
                      <a:prstDash val="solid"/>
                      <a:round/>
                      <a:headEnd type="none" w="med" len="med"/>
                      <a:tailEnd type="none" w="med" len="med"/>
                    </a:lnT>
                    <a:lnB w="12700" cap="flat" cmpd="sng" algn="ctr">
                      <a:solidFill>
                        <a:srgbClr val="DEDEDE"/>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502920">
                <a:tc>
                  <a:txBody>
                    <a:bodyPr/>
                    <a:lstStyle/>
                    <a:p>
                      <a:pPr marL="0" indent="0" algn="ctr">
                        <a:buNone/>
                      </a:pPr>
                      <a:r>
                        <a:rPr lang="en-US" sz="900" i="1" dirty="0">
                          <a:solidFill>
                            <a:srgbClr val="5A5A5A"/>
                          </a:solidFill>
                          <a:latin typeface="Calibri" pitchFamily="34" charset="0"/>
                          <a:ea typeface="Calibri" pitchFamily="34" charset="-122"/>
                          <a:cs typeface="Calibri" pitchFamily="34" charset="-120"/>
                        </a:rPr>
                        <a:t>TC_[MOD]_005</a:t>
                      </a:r>
                      <a:endParaRPr lang="en-US" sz="900" dirty="0">
                        <a:latin typeface="Calibri" charset="0"/>
                        <a:ea typeface="Calibri" charset="0"/>
                        <a:cs typeface="Calibri" charset="0"/>
                      </a:endParaRPr>
                    </a:p>
                  </a:txBody>
                  <a:tcPr marL="38100" marR="38100" marT="38100" marB="38100">
                    <a:lnL w="12700" cap="flat" cmpd="sng" algn="ctr">
                      <a:solidFill>
                        <a:srgbClr val="DEDEDE"/>
                      </a:solidFill>
                      <a:prstDash val="solid"/>
                      <a:round/>
                      <a:headEnd type="none" w="med" len="med"/>
                      <a:tailEnd type="none" w="med" len="med"/>
                    </a:lnL>
                    <a:lnR w="12700" cap="flat" cmpd="sng" algn="ctr">
                      <a:solidFill>
                        <a:srgbClr val="DEDEDE"/>
                      </a:solidFill>
                      <a:prstDash val="solid"/>
                      <a:round/>
                      <a:headEnd type="none" w="med" len="med"/>
                      <a:tailEnd type="none" w="med" len="med"/>
                    </a:lnR>
                    <a:lnT w="12700" cap="flat" cmpd="sng" algn="ctr">
                      <a:solidFill>
                        <a:srgbClr val="DEDEDE"/>
                      </a:solidFill>
                      <a:prstDash val="solid"/>
                      <a:round/>
                      <a:headEnd type="none" w="med" len="med"/>
                      <a:tailEnd type="none" w="med" len="med"/>
                    </a:lnT>
                    <a:lnB w="12700" cap="flat" cmpd="sng" algn="ctr">
                      <a:solidFill>
                        <a:srgbClr val="DEDEDE"/>
                      </a:solidFill>
                      <a:prstDash val="solid"/>
                      <a:round/>
                      <a:headEnd type="none" w="med" len="med"/>
                      <a:tailEnd type="none" w="med" len="med"/>
                    </a:lnB>
                    <a:solidFill>
                      <a:srgbClr val="F0F0F0"/>
                    </a:solidFill>
                  </a:tcPr>
                </a:tc>
                <a:tc>
                  <a:txBody>
                    <a:bodyPr/>
                    <a:lstStyle/>
                    <a:p>
                      <a:pPr marL="0" indent="0" algn="ctr">
                        <a:buNone/>
                      </a:pPr>
                      <a:r>
                        <a:rPr lang="en-US" sz="900" i="1" dirty="0">
                          <a:solidFill>
                            <a:srgbClr val="DEDEDE"/>
                          </a:solidFill>
                          <a:latin typeface="Calibri" pitchFamily="34" charset="0"/>
                          <a:ea typeface="Calibri" pitchFamily="34" charset="-122"/>
                          <a:cs typeface="Calibri" pitchFamily="34" charset="-120"/>
                        </a:rPr>
                        <a:t>[enter value]</a:t>
                      </a:r>
                      <a:endParaRPr lang="en-US" sz="900" dirty="0">
                        <a:latin typeface="Calibri" charset="0"/>
                        <a:ea typeface="Calibri" charset="0"/>
                        <a:cs typeface="Calibri" charset="0"/>
                      </a:endParaRPr>
                    </a:p>
                  </a:txBody>
                  <a:tcPr marL="38100" marR="38100" marT="38100" marB="38100">
                    <a:lnL w="12700" cap="flat" cmpd="sng" algn="ctr">
                      <a:solidFill>
                        <a:srgbClr val="DEDEDE"/>
                      </a:solidFill>
                      <a:prstDash val="solid"/>
                      <a:round/>
                      <a:headEnd type="none" w="med" len="med"/>
                      <a:tailEnd type="none" w="med" len="med"/>
                    </a:lnL>
                    <a:lnR w="12700" cap="flat" cmpd="sng" algn="ctr">
                      <a:solidFill>
                        <a:srgbClr val="DEDEDE"/>
                      </a:solidFill>
                      <a:prstDash val="solid"/>
                      <a:round/>
                      <a:headEnd type="none" w="med" len="med"/>
                      <a:tailEnd type="none" w="med" len="med"/>
                    </a:lnR>
                    <a:lnT w="12700" cap="flat" cmpd="sng" algn="ctr">
                      <a:solidFill>
                        <a:srgbClr val="DEDEDE"/>
                      </a:solidFill>
                      <a:prstDash val="solid"/>
                      <a:round/>
                      <a:headEnd type="none" w="med" len="med"/>
                      <a:tailEnd type="none" w="med" len="med"/>
                    </a:lnT>
                    <a:lnB w="12700" cap="flat" cmpd="sng" algn="ctr">
                      <a:solidFill>
                        <a:srgbClr val="DEDEDE"/>
                      </a:solidFill>
                      <a:prstDash val="solid"/>
                      <a:round/>
                      <a:headEnd type="none" w="med" len="med"/>
                      <a:tailEnd type="none" w="med" len="med"/>
                    </a:lnB>
                    <a:solidFill>
                      <a:srgbClr val="F0F0F0"/>
                    </a:solidFill>
                  </a:tcPr>
                </a:tc>
                <a:tc>
                  <a:txBody>
                    <a:bodyPr/>
                    <a:lstStyle/>
                    <a:p>
                      <a:pPr marL="0" indent="0" algn="ctr">
                        <a:buNone/>
                      </a:pPr>
                      <a:r>
                        <a:rPr lang="en-US" sz="900" i="1" dirty="0">
                          <a:solidFill>
                            <a:srgbClr val="DEDEDE"/>
                          </a:solidFill>
                          <a:latin typeface="Calibri" pitchFamily="34" charset="0"/>
                          <a:ea typeface="Calibri" pitchFamily="34" charset="-122"/>
                          <a:cs typeface="Calibri" pitchFamily="34" charset="-120"/>
                        </a:rPr>
                        <a:t>[enter value]</a:t>
                      </a:r>
                      <a:endParaRPr lang="en-US" sz="900" dirty="0">
                        <a:latin typeface="Calibri" charset="0"/>
                        <a:ea typeface="Calibri" charset="0"/>
                        <a:cs typeface="Calibri" charset="0"/>
                      </a:endParaRPr>
                    </a:p>
                  </a:txBody>
                  <a:tcPr marL="38100" marR="38100" marT="38100" marB="38100">
                    <a:lnL w="12700" cap="flat" cmpd="sng" algn="ctr">
                      <a:solidFill>
                        <a:srgbClr val="DEDEDE"/>
                      </a:solidFill>
                      <a:prstDash val="solid"/>
                      <a:round/>
                      <a:headEnd type="none" w="med" len="med"/>
                      <a:tailEnd type="none" w="med" len="med"/>
                    </a:lnL>
                    <a:lnR w="12700" cap="flat" cmpd="sng" algn="ctr">
                      <a:solidFill>
                        <a:srgbClr val="DEDEDE"/>
                      </a:solidFill>
                      <a:prstDash val="solid"/>
                      <a:round/>
                      <a:headEnd type="none" w="med" len="med"/>
                      <a:tailEnd type="none" w="med" len="med"/>
                    </a:lnR>
                    <a:lnT w="12700" cap="flat" cmpd="sng" algn="ctr">
                      <a:solidFill>
                        <a:srgbClr val="DEDEDE"/>
                      </a:solidFill>
                      <a:prstDash val="solid"/>
                      <a:round/>
                      <a:headEnd type="none" w="med" len="med"/>
                      <a:tailEnd type="none" w="med" len="med"/>
                    </a:lnT>
                    <a:lnB w="12700" cap="flat" cmpd="sng" algn="ctr">
                      <a:solidFill>
                        <a:srgbClr val="DEDEDE"/>
                      </a:solidFill>
                      <a:prstDash val="solid"/>
                      <a:round/>
                      <a:headEnd type="none" w="med" len="med"/>
                      <a:tailEnd type="none" w="med" len="med"/>
                    </a:lnB>
                    <a:solidFill>
                      <a:srgbClr val="F0F0F0"/>
                    </a:solidFill>
                  </a:tcPr>
                </a:tc>
                <a:tc>
                  <a:txBody>
                    <a:bodyPr/>
                    <a:lstStyle/>
                    <a:p>
                      <a:pPr marL="0" indent="0" algn="ctr">
                        <a:buNone/>
                      </a:pPr>
                      <a:r>
                        <a:rPr lang="en-US" sz="900" i="1" dirty="0">
                          <a:solidFill>
                            <a:srgbClr val="DEDEDE"/>
                          </a:solidFill>
                          <a:latin typeface="Calibri" pitchFamily="34" charset="0"/>
                          <a:ea typeface="Calibri" pitchFamily="34" charset="-122"/>
                          <a:cs typeface="Calibri" pitchFamily="34" charset="-120"/>
                        </a:rPr>
                        <a:t>[enter value]</a:t>
                      </a:r>
                      <a:endParaRPr lang="en-US" sz="900" dirty="0">
                        <a:latin typeface="Calibri" charset="0"/>
                        <a:ea typeface="Calibri" charset="0"/>
                        <a:cs typeface="Calibri" charset="0"/>
                      </a:endParaRPr>
                    </a:p>
                  </a:txBody>
                  <a:tcPr marL="38100" marR="38100" marT="38100" marB="38100">
                    <a:lnL w="12700" cap="flat" cmpd="sng" algn="ctr">
                      <a:solidFill>
                        <a:srgbClr val="DEDEDE"/>
                      </a:solidFill>
                      <a:prstDash val="solid"/>
                      <a:round/>
                      <a:headEnd type="none" w="med" len="med"/>
                      <a:tailEnd type="none" w="med" len="med"/>
                    </a:lnL>
                    <a:lnR w="12700" cap="flat" cmpd="sng" algn="ctr">
                      <a:solidFill>
                        <a:srgbClr val="DEDEDE"/>
                      </a:solidFill>
                      <a:prstDash val="solid"/>
                      <a:round/>
                      <a:headEnd type="none" w="med" len="med"/>
                      <a:tailEnd type="none" w="med" len="med"/>
                    </a:lnR>
                    <a:lnT w="12700" cap="flat" cmpd="sng" algn="ctr">
                      <a:solidFill>
                        <a:srgbClr val="DEDEDE"/>
                      </a:solidFill>
                      <a:prstDash val="solid"/>
                      <a:round/>
                      <a:headEnd type="none" w="med" len="med"/>
                      <a:tailEnd type="none" w="med" len="med"/>
                    </a:lnT>
                    <a:lnB w="12700" cap="flat" cmpd="sng" algn="ctr">
                      <a:solidFill>
                        <a:srgbClr val="DEDEDE"/>
                      </a:solidFill>
                      <a:prstDash val="solid"/>
                      <a:round/>
                      <a:headEnd type="none" w="med" len="med"/>
                      <a:tailEnd type="none" w="med" len="med"/>
                    </a:lnB>
                    <a:solidFill>
                      <a:srgbClr val="F0F0F0"/>
                    </a:solidFill>
                  </a:tcPr>
                </a:tc>
                <a:tc>
                  <a:txBody>
                    <a:bodyPr/>
                    <a:lstStyle/>
                    <a:p>
                      <a:pPr marL="0" indent="0" algn="ctr">
                        <a:buNone/>
                      </a:pPr>
                      <a:r>
                        <a:rPr lang="en-US" sz="900" i="1" dirty="0">
                          <a:solidFill>
                            <a:srgbClr val="DEDEDE"/>
                          </a:solidFill>
                          <a:latin typeface="Calibri" pitchFamily="34" charset="0"/>
                          <a:ea typeface="Calibri" pitchFamily="34" charset="-122"/>
                          <a:cs typeface="Calibri" pitchFamily="34" charset="-120"/>
                        </a:rPr>
                        <a:t>[enter value]</a:t>
                      </a:r>
                      <a:endParaRPr lang="en-US" sz="900" dirty="0">
                        <a:latin typeface="Calibri" charset="0"/>
                        <a:ea typeface="Calibri" charset="0"/>
                        <a:cs typeface="Calibri" charset="0"/>
                      </a:endParaRPr>
                    </a:p>
                  </a:txBody>
                  <a:tcPr marL="38100" marR="38100" marT="38100" marB="38100">
                    <a:lnL w="12700" cap="flat" cmpd="sng" algn="ctr">
                      <a:solidFill>
                        <a:srgbClr val="DEDEDE"/>
                      </a:solidFill>
                      <a:prstDash val="solid"/>
                      <a:round/>
                      <a:headEnd type="none" w="med" len="med"/>
                      <a:tailEnd type="none" w="med" len="med"/>
                    </a:lnL>
                    <a:lnR w="12700" cap="flat" cmpd="sng" algn="ctr">
                      <a:solidFill>
                        <a:srgbClr val="DEDEDE"/>
                      </a:solidFill>
                      <a:prstDash val="solid"/>
                      <a:round/>
                      <a:headEnd type="none" w="med" len="med"/>
                      <a:tailEnd type="none" w="med" len="med"/>
                    </a:lnR>
                    <a:lnT w="12700" cap="flat" cmpd="sng" algn="ctr">
                      <a:solidFill>
                        <a:srgbClr val="DEDEDE"/>
                      </a:solidFill>
                      <a:prstDash val="solid"/>
                      <a:round/>
                      <a:headEnd type="none" w="med" len="med"/>
                      <a:tailEnd type="none" w="med" len="med"/>
                    </a:lnT>
                    <a:lnB w="12700" cap="flat" cmpd="sng" algn="ctr">
                      <a:solidFill>
                        <a:srgbClr val="DEDEDE"/>
                      </a:solidFill>
                      <a:prstDash val="solid"/>
                      <a:round/>
                      <a:headEnd type="none" w="med" len="med"/>
                      <a:tailEnd type="none" w="med" len="med"/>
                    </a:lnB>
                    <a:solidFill>
                      <a:srgbClr val="F0F0F0"/>
                    </a:solidFill>
                  </a:tcPr>
                </a:tc>
                <a:tc>
                  <a:txBody>
                    <a:bodyPr/>
                    <a:lstStyle/>
                    <a:p>
                      <a:pPr marL="0" indent="0" algn="ctr">
                        <a:buNone/>
                      </a:pPr>
                      <a:r>
                        <a:rPr lang="en-US" sz="900" i="1" dirty="0">
                          <a:solidFill>
                            <a:srgbClr val="DEDEDE"/>
                          </a:solidFill>
                          <a:latin typeface="Calibri" pitchFamily="34" charset="0"/>
                          <a:ea typeface="Calibri" pitchFamily="34" charset="-122"/>
                          <a:cs typeface="Calibri" pitchFamily="34" charset="-120"/>
                        </a:rPr>
                        <a:t>[enter value]</a:t>
                      </a:r>
                      <a:endParaRPr lang="en-US" sz="900" dirty="0">
                        <a:latin typeface="Calibri" charset="0"/>
                        <a:ea typeface="Calibri" charset="0"/>
                        <a:cs typeface="Calibri" charset="0"/>
                      </a:endParaRPr>
                    </a:p>
                  </a:txBody>
                  <a:tcPr marL="38100" marR="38100" marT="38100" marB="38100">
                    <a:lnL w="12700" cap="flat" cmpd="sng" algn="ctr">
                      <a:solidFill>
                        <a:srgbClr val="DEDEDE"/>
                      </a:solidFill>
                      <a:prstDash val="solid"/>
                      <a:round/>
                      <a:headEnd type="none" w="med" len="med"/>
                      <a:tailEnd type="none" w="med" len="med"/>
                    </a:lnL>
                    <a:lnR w="12700" cap="flat" cmpd="sng" algn="ctr">
                      <a:solidFill>
                        <a:srgbClr val="DEDEDE"/>
                      </a:solidFill>
                      <a:prstDash val="solid"/>
                      <a:round/>
                      <a:headEnd type="none" w="med" len="med"/>
                      <a:tailEnd type="none" w="med" len="med"/>
                    </a:lnR>
                    <a:lnT w="12700" cap="flat" cmpd="sng" algn="ctr">
                      <a:solidFill>
                        <a:srgbClr val="DEDEDE"/>
                      </a:solidFill>
                      <a:prstDash val="solid"/>
                      <a:round/>
                      <a:headEnd type="none" w="med" len="med"/>
                      <a:tailEnd type="none" w="med" len="med"/>
                    </a:lnT>
                    <a:lnB w="12700" cap="flat" cmpd="sng" algn="ctr">
                      <a:solidFill>
                        <a:srgbClr val="DEDEDE"/>
                      </a:solidFill>
                      <a:prstDash val="solid"/>
                      <a:round/>
                      <a:headEnd type="none" w="med" len="med"/>
                      <a:tailEnd type="none" w="med" len="med"/>
                    </a:lnB>
                    <a:solidFill>
                      <a:srgbClr val="F0F0F0"/>
                    </a:solidFill>
                  </a:tcPr>
                </a:tc>
                <a:tc>
                  <a:txBody>
                    <a:bodyPr/>
                    <a:lstStyle/>
                    <a:p>
                      <a:pPr marL="0" indent="0" algn="ctr">
                        <a:buNone/>
                      </a:pPr>
                      <a:r>
                        <a:rPr lang="en-US" sz="900" i="1" dirty="0">
                          <a:solidFill>
                            <a:srgbClr val="DEDEDE"/>
                          </a:solidFill>
                          <a:latin typeface="Calibri" pitchFamily="34" charset="0"/>
                          <a:ea typeface="Calibri" pitchFamily="34" charset="-122"/>
                          <a:cs typeface="Calibri" pitchFamily="34" charset="-120"/>
                        </a:rPr>
                        <a:t>[enter value]</a:t>
                      </a:r>
                      <a:endParaRPr lang="en-US" sz="900" dirty="0">
                        <a:latin typeface="Calibri" charset="0"/>
                        <a:ea typeface="Calibri" charset="0"/>
                        <a:cs typeface="Calibri" charset="0"/>
                      </a:endParaRPr>
                    </a:p>
                  </a:txBody>
                  <a:tcPr marL="38100" marR="38100" marT="38100" marB="38100">
                    <a:lnL w="12700" cap="flat" cmpd="sng" algn="ctr">
                      <a:solidFill>
                        <a:srgbClr val="DEDEDE"/>
                      </a:solidFill>
                      <a:prstDash val="solid"/>
                      <a:round/>
                      <a:headEnd type="none" w="med" len="med"/>
                      <a:tailEnd type="none" w="med" len="med"/>
                    </a:lnL>
                    <a:lnR w="12700" cap="flat" cmpd="sng" algn="ctr">
                      <a:solidFill>
                        <a:srgbClr val="DEDEDE"/>
                      </a:solidFill>
                      <a:prstDash val="solid"/>
                      <a:round/>
                      <a:headEnd type="none" w="med" len="med"/>
                      <a:tailEnd type="none" w="med" len="med"/>
                    </a:lnR>
                    <a:lnT w="12700" cap="flat" cmpd="sng" algn="ctr">
                      <a:solidFill>
                        <a:srgbClr val="DEDEDE"/>
                      </a:solidFill>
                      <a:prstDash val="solid"/>
                      <a:round/>
                      <a:headEnd type="none" w="med" len="med"/>
                      <a:tailEnd type="none" w="med" len="med"/>
                    </a:lnT>
                    <a:lnB w="12700" cap="flat" cmpd="sng" algn="ctr">
                      <a:solidFill>
                        <a:srgbClr val="DEDEDE"/>
                      </a:solidFill>
                      <a:prstDash val="solid"/>
                      <a:round/>
                      <a:headEnd type="none" w="med" len="med"/>
                      <a:tailEnd type="none" w="med" len="med"/>
                    </a:lnB>
                    <a:solidFill>
                      <a:srgbClr val="F0F0F0"/>
                    </a:solidFill>
                  </a:tcPr>
                </a:tc>
                <a:tc>
                  <a:txBody>
                    <a:bodyPr/>
                    <a:lstStyle/>
                    <a:p>
                      <a:pPr marL="0" indent="0" algn="ctr">
                        <a:buNone/>
                      </a:pPr>
                      <a:r>
                        <a:rPr lang="en-US" sz="900" i="1" dirty="0">
                          <a:solidFill>
                            <a:srgbClr val="DEDEDE"/>
                          </a:solidFill>
                          <a:latin typeface="Calibri" pitchFamily="34" charset="0"/>
                          <a:ea typeface="Calibri" pitchFamily="34" charset="-122"/>
                          <a:cs typeface="Calibri" pitchFamily="34" charset="-120"/>
                        </a:rPr>
                        <a:t>[enter value]</a:t>
                      </a:r>
                      <a:endParaRPr lang="en-US" sz="900" dirty="0">
                        <a:latin typeface="Calibri" charset="0"/>
                        <a:ea typeface="Calibri" charset="0"/>
                        <a:cs typeface="Calibri" charset="0"/>
                      </a:endParaRPr>
                    </a:p>
                  </a:txBody>
                  <a:tcPr marL="38100" marR="38100" marT="38100" marB="38100">
                    <a:lnL w="12700" cap="flat" cmpd="sng" algn="ctr">
                      <a:solidFill>
                        <a:srgbClr val="DEDEDE"/>
                      </a:solidFill>
                      <a:prstDash val="solid"/>
                      <a:round/>
                      <a:headEnd type="none" w="med" len="med"/>
                      <a:tailEnd type="none" w="med" len="med"/>
                    </a:lnL>
                    <a:lnR w="12700" cap="flat" cmpd="sng" algn="ctr">
                      <a:solidFill>
                        <a:srgbClr val="DEDEDE"/>
                      </a:solidFill>
                      <a:prstDash val="solid"/>
                      <a:round/>
                      <a:headEnd type="none" w="med" len="med"/>
                      <a:tailEnd type="none" w="med" len="med"/>
                    </a:lnR>
                    <a:lnT w="12700" cap="flat" cmpd="sng" algn="ctr">
                      <a:solidFill>
                        <a:srgbClr val="DEDEDE"/>
                      </a:solidFill>
                      <a:prstDash val="solid"/>
                      <a:round/>
                      <a:headEnd type="none" w="med" len="med"/>
                      <a:tailEnd type="none" w="med" len="med"/>
                    </a:lnT>
                    <a:lnB w="12700" cap="flat" cmpd="sng" algn="ctr">
                      <a:solidFill>
                        <a:srgbClr val="DEDEDE"/>
                      </a:solidFill>
                      <a:prstDash val="solid"/>
                      <a:round/>
                      <a:headEnd type="none" w="med" len="med"/>
                      <a:tailEnd type="none" w="med" len="med"/>
                    </a:lnB>
                    <a:solidFill>
                      <a:srgbClr val="F0F0F0"/>
                    </a:solidFill>
                  </a:tcPr>
                </a:tc>
                <a:tc>
                  <a:txBody>
                    <a:bodyPr/>
                    <a:lstStyle/>
                    <a:p>
                      <a:pPr marL="0" indent="0" algn="ctr">
                        <a:buNone/>
                      </a:pPr>
                      <a:r>
                        <a:rPr lang="en-US" sz="900" i="1" dirty="0">
                          <a:solidFill>
                            <a:srgbClr val="DEDEDE"/>
                          </a:solidFill>
                          <a:latin typeface="Calibri" pitchFamily="34" charset="0"/>
                          <a:ea typeface="Calibri" pitchFamily="34" charset="-122"/>
                          <a:cs typeface="Calibri" pitchFamily="34" charset="-120"/>
                        </a:rPr>
                        <a:t>[enter value]</a:t>
                      </a:r>
                      <a:endParaRPr lang="en-US" sz="900" dirty="0">
                        <a:latin typeface="Calibri" charset="0"/>
                        <a:ea typeface="Calibri" charset="0"/>
                        <a:cs typeface="Calibri" charset="0"/>
                      </a:endParaRPr>
                    </a:p>
                  </a:txBody>
                  <a:tcPr marL="38100" marR="38100" marT="38100" marB="38100">
                    <a:lnL w="12700" cap="flat" cmpd="sng" algn="ctr">
                      <a:solidFill>
                        <a:srgbClr val="DEDEDE"/>
                      </a:solidFill>
                      <a:prstDash val="solid"/>
                      <a:round/>
                      <a:headEnd type="none" w="med" len="med"/>
                      <a:tailEnd type="none" w="med" len="med"/>
                    </a:lnL>
                    <a:lnR w="12700" cap="flat" cmpd="sng" algn="ctr">
                      <a:solidFill>
                        <a:srgbClr val="DEDEDE"/>
                      </a:solidFill>
                      <a:prstDash val="solid"/>
                      <a:round/>
                      <a:headEnd type="none" w="med" len="med"/>
                      <a:tailEnd type="none" w="med" len="med"/>
                    </a:lnR>
                    <a:lnT w="12700" cap="flat" cmpd="sng" algn="ctr">
                      <a:solidFill>
                        <a:srgbClr val="DEDEDE"/>
                      </a:solidFill>
                      <a:prstDash val="solid"/>
                      <a:round/>
                      <a:headEnd type="none" w="med" len="med"/>
                      <a:tailEnd type="none" w="med" len="med"/>
                    </a:lnT>
                    <a:lnB w="12700" cap="flat" cmpd="sng" algn="ctr">
                      <a:solidFill>
                        <a:srgbClr val="DEDEDE"/>
                      </a:solidFill>
                      <a:prstDash val="solid"/>
                      <a:round/>
                      <a:headEnd type="none" w="med" len="med"/>
                      <a:tailEnd type="none" w="med" len="med"/>
                    </a:lnB>
                    <a:solidFill>
                      <a:srgbClr val="F0F0F0"/>
                    </a:solidFill>
                  </a:tcPr>
                </a:tc>
                <a:extLst>
                  <a:ext uri="{0D108BD9-81ED-4DB2-BD59-A6C34878D82A}">
                    <a16:rowId xmlns:a16="http://schemas.microsoft.com/office/drawing/2014/main" val="10005"/>
                  </a:ext>
                </a:extLst>
              </a:tr>
            </a:tbl>
          </a:graphicData>
        </a:graphic>
      </p:graphicFrame>
      <p:sp>
        <p:nvSpPr>
          <p:cNvPr id="9" name="Text 6"/>
          <p:cNvSpPr/>
          <p:nvPr/>
        </p:nvSpPr>
        <p:spPr>
          <a:xfrm>
            <a:off x="228600" y="4114800"/>
            <a:ext cx="1828800" cy="228600"/>
          </a:xfrm>
          <a:prstGeom prst="rect">
            <a:avLst/>
          </a:prstGeom>
          <a:noFill/>
          <a:ln/>
        </p:spPr>
        <p:txBody>
          <a:bodyPr wrap="square" lIns="0" tIns="0" rIns="0" bIns="0" rtlCol="0" anchor="ctr"/>
          <a:lstStyle/>
          <a:p>
            <a:pPr marL="0" indent="0">
              <a:buNone/>
            </a:pPr>
            <a:r>
              <a:rPr lang="en-US" sz="1050" b="1" dirty="0">
                <a:solidFill>
                  <a:srgbClr val="FF6500"/>
                </a:solidFill>
                <a:latin typeface="Arial" pitchFamily="34" charset="0"/>
                <a:ea typeface="Arial" pitchFamily="34" charset="-122"/>
                <a:cs typeface="Arial" pitchFamily="34" charset="-120"/>
              </a:rPr>
              <a:t>Field Descriptions:</a:t>
            </a:r>
            <a:endParaRPr lang="en-US" sz="1050" dirty="0"/>
          </a:p>
        </p:txBody>
      </p:sp>
      <p:sp>
        <p:nvSpPr>
          <p:cNvPr id="10" name="Text 7"/>
          <p:cNvSpPr/>
          <p:nvPr/>
        </p:nvSpPr>
        <p:spPr>
          <a:xfrm>
            <a:off x="228600" y="4370832"/>
            <a:ext cx="8732520" cy="365760"/>
          </a:xfrm>
          <a:prstGeom prst="rect">
            <a:avLst/>
          </a:prstGeom>
          <a:noFill/>
          <a:ln/>
        </p:spPr>
        <p:txBody>
          <a:bodyPr wrap="square" lIns="0" tIns="0" rIns="0" bIns="0" rtlCol="0" anchor="t"/>
          <a:lstStyle/>
          <a:p>
            <a:pPr marL="0" indent="0">
              <a:buNone/>
            </a:pPr>
            <a:r>
              <a:rPr lang="en-US" sz="900" dirty="0">
                <a:solidFill>
                  <a:srgbClr val="5A5A5A"/>
                </a:solidFill>
                <a:latin typeface="Calibri" pitchFamily="34" charset="0"/>
                <a:ea typeface="Calibri" pitchFamily="34" charset="-122"/>
                <a:cs typeface="Calibri" pitchFamily="34" charset="-120"/>
              </a:rPr>
              <a:t>Test Case ID: Unique identifier (TC_MODULE_001) | Test Scenario: High-level feature area | Preconditions: Setup required before execution | Test Steps: Numbered sequential actions | Test Data: Specific input values | Expected Result: What SHOULD happen | Status: Pass/Fail/Blocked/Not Run | Priority: High/Med/Low | Severity: Critical/Major/Minor/Trivial</a:t>
            </a:r>
            <a:endParaRPr lang="en-US" sz="9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30">
    <p:bg>
      <p:bgPr>
        <a:solidFill>
          <a:srgbClr val="F5F5F5"/>
        </a:solidFill>
        <a:effectLst/>
      </p:bgPr>
    </p:bg>
    <p:spTree>
      <p:nvGrpSpPr>
        <p:cNvPr id="1" name=""/>
        <p:cNvGrpSpPr/>
        <p:nvPr/>
      </p:nvGrpSpPr>
      <p:grpSpPr>
        <a:xfrm>
          <a:off x="0" y="0"/>
          <a:ext cx="0" cy="0"/>
          <a:chOff x="0" y="0"/>
          <a:chExt cx="0" cy="0"/>
        </a:xfrm>
      </p:grpSpPr>
      <p:sp>
        <p:nvSpPr>
          <p:cNvPr id="2" name="Shape 0"/>
          <p:cNvSpPr/>
          <p:nvPr/>
        </p:nvSpPr>
        <p:spPr>
          <a:xfrm>
            <a:off x="0" y="0"/>
            <a:ext cx="9144000" cy="621792"/>
          </a:xfrm>
          <a:prstGeom prst="rect">
            <a:avLst/>
          </a:prstGeom>
          <a:solidFill>
            <a:srgbClr val="0D0D0D"/>
          </a:solidFill>
          <a:ln w="12700">
            <a:solidFill>
              <a:srgbClr val="0D0D0D"/>
            </a:solidFill>
            <a:prstDash val="solid"/>
          </a:ln>
        </p:spPr>
      </p:sp>
      <p:sp>
        <p:nvSpPr>
          <p:cNvPr id="3" name="Shape 1"/>
          <p:cNvSpPr/>
          <p:nvPr/>
        </p:nvSpPr>
        <p:spPr>
          <a:xfrm>
            <a:off x="0" y="0"/>
            <a:ext cx="64008" cy="621792"/>
          </a:xfrm>
          <a:prstGeom prst="rect">
            <a:avLst/>
          </a:prstGeom>
          <a:solidFill>
            <a:srgbClr val="FF6500"/>
          </a:solidFill>
          <a:ln w="12700">
            <a:solidFill>
              <a:srgbClr val="FF6500"/>
            </a:solidFill>
            <a:prstDash val="solid"/>
          </a:ln>
        </p:spPr>
      </p:sp>
      <p:sp>
        <p:nvSpPr>
          <p:cNvPr id="4" name="Text 2"/>
          <p:cNvSpPr/>
          <p:nvPr/>
        </p:nvSpPr>
        <p:spPr>
          <a:xfrm>
            <a:off x="201168" y="64008"/>
            <a:ext cx="8503920" cy="493776"/>
          </a:xfrm>
          <a:prstGeom prst="rect">
            <a:avLst/>
          </a:prstGeom>
          <a:noFill/>
          <a:ln/>
        </p:spPr>
        <p:txBody>
          <a:bodyPr wrap="square" lIns="0" tIns="0" rIns="0" bIns="0" rtlCol="0" anchor="ctr"/>
          <a:lstStyle/>
          <a:p>
            <a:pPr marL="0" indent="0">
              <a:buNone/>
            </a:pPr>
            <a:r>
              <a:rPr lang="en-US" sz="1900" b="1" dirty="0">
                <a:solidFill>
                  <a:srgbClr val="FFFFFF"/>
                </a:solidFill>
                <a:latin typeface="Arial" pitchFamily="34" charset="0"/>
                <a:ea typeface="Arial" pitchFamily="34" charset="-122"/>
                <a:cs typeface="Arial" pitchFamily="34" charset="-120"/>
              </a:rPr>
              <a:t>Sample Test Cases — Login Functionality (Fully Completed Real-World Example)</a:t>
            </a:r>
            <a:endParaRPr lang="en-US" sz="1900" dirty="0"/>
          </a:p>
        </p:txBody>
      </p:sp>
      <p:sp>
        <p:nvSpPr>
          <p:cNvPr id="5" name="Shape 3"/>
          <p:cNvSpPr/>
          <p:nvPr/>
        </p:nvSpPr>
        <p:spPr>
          <a:xfrm>
            <a:off x="0" y="4828032"/>
            <a:ext cx="9144000" cy="315468"/>
          </a:xfrm>
          <a:prstGeom prst="rect">
            <a:avLst/>
          </a:prstGeom>
          <a:solidFill>
            <a:srgbClr val="0D0D0D"/>
          </a:solidFill>
          <a:ln w="12700">
            <a:solidFill>
              <a:srgbClr val="0D0D0D"/>
            </a:solidFill>
            <a:prstDash val="solid"/>
          </a:ln>
        </p:spPr>
      </p:sp>
      <p:sp>
        <p:nvSpPr>
          <p:cNvPr id="6" name="Text 4"/>
          <p:cNvSpPr/>
          <p:nvPr/>
        </p:nvSpPr>
        <p:spPr>
          <a:xfrm>
            <a:off x="182880" y="4855464"/>
            <a:ext cx="7315200" cy="228600"/>
          </a:xfrm>
          <a:prstGeom prst="rect">
            <a:avLst/>
          </a:prstGeom>
          <a:noFill/>
          <a:ln/>
        </p:spPr>
        <p:txBody>
          <a:bodyPr wrap="square" lIns="0" tIns="0" rIns="0" bIns="0" rtlCol="0" anchor="ctr"/>
          <a:lstStyle/>
          <a:p>
            <a:pPr marL="0" indent="0">
              <a:buNone/>
            </a:pPr>
            <a:r>
              <a:rPr lang="en-US" sz="850" dirty="0">
                <a:solidFill>
                  <a:srgbClr val="999999"/>
                </a:solidFill>
                <a:latin typeface="Calibri" pitchFamily="34" charset="0"/>
                <a:ea typeface="Calibri" pitchFamily="34" charset="-122"/>
                <a:cs typeface="Calibri" pitchFamily="34" charset="-120"/>
              </a:rPr>
              <a:t>Quality Engineering | Test Case Development in STLC</a:t>
            </a:r>
            <a:endParaRPr lang="en-US" sz="850" dirty="0"/>
          </a:p>
        </p:txBody>
      </p:sp>
      <p:sp>
        <p:nvSpPr>
          <p:cNvPr id="7" name="Text 5"/>
          <p:cNvSpPr/>
          <p:nvPr/>
        </p:nvSpPr>
        <p:spPr>
          <a:xfrm>
            <a:off x="7406640" y="4855464"/>
            <a:ext cx="1554480" cy="228600"/>
          </a:xfrm>
          <a:prstGeom prst="rect">
            <a:avLst/>
          </a:prstGeom>
          <a:noFill/>
          <a:ln/>
        </p:spPr>
        <p:txBody>
          <a:bodyPr wrap="square" lIns="0" tIns="0" rIns="0" bIns="0" rtlCol="0" anchor="ctr"/>
          <a:lstStyle/>
          <a:p>
            <a:pPr marL="0" indent="0" algn="r">
              <a:buNone/>
            </a:pPr>
            <a:r>
              <a:rPr lang="en-US" sz="850" b="1" dirty="0">
                <a:solidFill>
                  <a:srgbClr val="FF6500"/>
                </a:solidFill>
                <a:latin typeface="Calibri" pitchFamily="34" charset="0"/>
                <a:ea typeface="Calibri" pitchFamily="34" charset="-122"/>
                <a:cs typeface="Calibri" pitchFamily="34" charset="-120"/>
              </a:rPr>
              <a:t>INTERNAL TRAINING</a:t>
            </a:r>
            <a:endParaRPr lang="en-US" sz="850" dirty="0"/>
          </a:p>
        </p:txBody>
      </p:sp>
      <p:graphicFrame>
        <p:nvGraphicFramePr>
          <p:cNvPr id="31" name="Table 0"/>
          <p:cNvGraphicFramePr>
            <a:graphicFrameLocks noGrp="1"/>
          </p:cNvGraphicFramePr>
          <p:nvPr>
            <p:extLst>
              <p:ext uri="{D42A27DB-BD31-4B8C-83A1-F6EECF244321}">
                <p14:modId xmlns:p14="http://schemas.microsoft.com/office/powerpoint/2010/main" val="1579011935"/>
              </p:ext>
            </p:extLst>
          </p:nvPr>
        </p:nvGraphicFramePr>
        <p:xfrm>
          <a:off x="137160" y="758952"/>
          <a:ext cx="8549640" cy="4416552"/>
        </p:xfrm>
        <a:graphic>
          <a:graphicData uri="http://schemas.openxmlformats.org/drawingml/2006/table">
            <a:tbl>
              <a:tblPr/>
              <a:tblGrid>
                <a:gridCol w="804672">
                  <a:extLst>
                    <a:ext uri="{9D8B030D-6E8A-4147-A177-3AD203B41FA5}">
                      <a16:colId xmlns:a16="http://schemas.microsoft.com/office/drawing/2014/main" val="20000"/>
                    </a:ext>
                  </a:extLst>
                </a:gridCol>
                <a:gridCol w="1234440">
                  <a:extLst>
                    <a:ext uri="{9D8B030D-6E8A-4147-A177-3AD203B41FA5}">
                      <a16:colId xmlns:a16="http://schemas.microsoft.com/office/drawing/2014/main" val="20001"/>
                    </a:ext>
                  </a:extLst>
                </a:gridCol>
                <a:gridCol w="1371600">
                  <a:extLst>
                    <a:ext uri="{9D8B030D-6E8A-4147-A177-3AD203B41FA5}">
                      <a16:colId xmlns:a16="http://schemas.microsoft.com/office/drawing/2014/main" val="20002"/>
                    </a:ext>
                  </a:extLst>
                </a:gridCol>
                <a:gridCol w="2011680">
                  <a:extLst>
                    <a:ext uri="{9D8B030D-6E8A-4147-A177-3AD203B41FA5}">
                      <a16:colId xmlns:a16="http://schemas.microsoft.com/office/drawing/2014/main" val="20003"/>
                    </a:ext>
                  </a:extLst>
                </a:gridCol>
                <a:gridCol w="1097280">
                  <a:extLst>
                    <a:ext uri="{9D8B030D-6E8A-4147-A177-3AD203B41FA5}">
                      <a16:colId xmlns:a16="http://schemas.microsoft.com/office/drawing/2014/main" val="20004"/>
                    </a:ext>
                  </a:extLst>
                </a:gridCol>
                <a:gridCol w="1463040">
                  <a:extLst>
                    <a:ext uri="{9D8B030D-6E8A-4147-A177-3AD203B41FA5}">
                      <a16:colId xmlns:a16="http://schemas.microsoft.com/office/drawing/2014/main" val="20005"/>
                    </a:ext>
                  </a:extLst>
                </a:gridCol>
                <a:gridCol w="566928">
                  <a:extLst>
                    <a:ext uri="{9D8B030D-6E8A-4147-A177-3AD203B41FA5}">
                      <a16:colId xmlns:a16="http://schemas.microsoft.com/office/drawing/2014/main" val="20006"/>
                    </a:ext>
                  </a:extLst>
                </a:gridCol>
              </a:tblGrid>
              <a:tr h="630936">
                <a:tc>
                  <a:txBody>
                    <a:bodyPr/>
                    <a:lstStyle/>
                    <a:p>
                      <a:pPr marL="0" indent="0" algn="ctr">
                        <a:buNone/>
                      </a:pPr>
                      <a:r>
                        <a:rPr lang="en-US" sz="850" b="1" dirty="0">
                          <a:solidFill>
                            <a:srgbClr val="FF6500"/>
                          </a:solidFill>
                          <a:latin typeface="Arial" pitchFamily="34" charset="0"/>
                          <a:ea typeface="Arial" pitchFamily="34" charset="-122"/>
                          <a:cs typeface="Arial" pitchFamily="34" charset="-120"/>
                        </a:rPr>
                        <a:t>TC ID</a:t>
                      </a:r>
                      <a:endParaRPr lang="en-US" sz="850" dirty="0">
                        <a:latin typeface="Arial" charset="0"/>
                        <a:ea typeface="Arial" charset="0"/>
                        <a:cs typeface="Arial" charset="0"/>
                      </a:endParaRPr>
                    </a:p>
                  </a:txBody>
                  <a:tcPr marL="38100" marR="38100" marT="38100" marB="38100">
                    <a:lnL w="12700" cap="flat" cmpd="sng" algn="ctr">
                      <a:solidFill>
                        <a:srgbClr val="DEDEDE"/>
                      </a:solidFill>
                      <a:prstDash val="solid"/>
                      <a:round/>
                      <a:headEnd type="none" w="med" len="med"/>
                      <a:tailEnd type="none" w="med" len="med"/>
                    </a:lnL>
                    <a:lnR w="12700" cap="flat" cmpd="sng" algn="ctr">
                      <a:solidFill>
                        <a:srgbClr val="DEDEDE"/>
                      </a:solidFill>
                      <a:prstDash val="solid"/>
                      <a:round/>
                      <a:headEnd type="none" w="med" len="med"/>
                      <a:tailEnd type="none" w="med" len="med"/>
                    </a:lnR>
                    <a:lnT w="12700" cap="flat" cmpd="sng" algn="ctr">
                      <a:solidFill>
                        <a:srgbClr val="DEDEDE"/>
                      </a:solidFill>
                      <a:prstDash val="solid"/>
                      <a:round/>
                      <a:headEnd type="none" w="med" len="med"/>
                      <a:tailEnd type="none" w="med" len="med"/>
                    </a:lnT>
                    <a:lnB w="12700" cap="flat" cmpd="sng" algn="ctr">
                      <a:solidFill>
                        <a:srgbClr val="DEDEDE"/>
                      </a:solidFill>
                      <a:prstDash val="solid"/>
                      <a:round/>
                      <a:headEnd type="none" w="med" len="med"/>
                      <a:tailEnd type="none" w="med" len="med"/>
                    </a:lnB>
                    <a:solidFill>
                      <a:srgbClr val="0D0D0D"/>
                    </a:solidFill>
                  </a:tcPr>
                </a:tc>
                <a:tc>
                  <a:txBody>
                    <a:bodyPr/>
                    <a:lstStyle/>
                    <a:p>
                      <a:pPr marL="0" indent="0" algn="ctr">
                        <a:buNone/>
                      </a:pPr>
                      <a:r>
                        <a:rPr lang="en-US" sz="850" b="1" dirty="0">
                          <a:solidFill>
                            <a:srgbClr val="FF6500"/>
                          </a:solidFill>
                          <a:latin typeface="Arial" pitchFamily="34" charset="0"/>
                          <a:ea typeface="Arial" pitchFamily="34" charset="-122"/>
                          <a:cs typeface="Arial" pitchFamily="34" charset="-120"/>
                        </a:rPr>
                        <a:t>Scenario</a:t>
                      </a:r>
                      <a:endParaRPr lang="en-US" sz="850" dirty="0">
                        <a:latin typeface="Arial" charset="0"/>
                        <a:ea typeface="Arial" charset="0"/>
                        <a:cs typeface="Arial" charset="0"/>
                      </a:endParaRPr>
                    </a:p>
                  </a:txBody>
                  <a:tcPr marL="38100" marR="38100" marT="38100" marB="38100">
                    <a:lnL w="12700" cap="flat" cmpd="sng" algn="ctr">
                      <a:solidFill>
                        <a:srgbClr val="DEDEDE"/>
                      </a:solidFill>
                      <a:prstDash val="solid"/>
                      <a:round/>
                      <a:headEnd type="none" w="med" len="med"/>
                      <a:tailEnd type="none" w="med" len="med"/>
                    </a:lnL>
                    <a:lnR w="12700" cap="flat" cmpd="sng" algn="ctr">
                      <a:solidFill>
                        <a:srgbClr val="DEDEDE"/>
                      </a:solidFill>
                      <a:prstDash val="solid"/>
                      <a:round/>
                      <a:headEnd type="none" w="med" len="med"/>
                      <a:tailEnd type="none" w="med" len="med"/>
                    </a:lnR>
                    <a:lnT w="12700" cap="flat" cmpd="sng" algn="ctr">
                      <a:solidFill>
                        <a:srgbClr val="DEDEDE"/>
                      </a:solidFill>
                      <a:prstDash val="solid"/>
                      <a:round/>
                      <a:headEnd type="none" w="med" len="med"/>
                      <a:tailEnd type="none" w="med" len="med"/>
                    </a:lnT>
                    <a:lnB w="12700" cap="flat" cmpd="sng" algn="ctr">
                      <a:solidFill>
                        <a:srgbClr val="DEDEDE"/>
                      </a:solidFill>
                      <a:prstDash val="solid"/>
                      <a:round/>
                      <a:headEnd type="none" w="med" len="med"/>
                      <a:tailEnd type="none" w="med" len="med"/>
                    </a:lnB>
                    <a:solidFill>
                      <a:srgbClr val="0D0D0D"/>
                    </a:solidFill>
                  </a:tcPr>
                </a:tc>
                <a:tc>
                  <a:txBody>
                    <a:bodyPr/>
                    <a:lstStyle/>
                    <a:p>
                      <a:pPr marL="0" indent="0" algn="ctr">
                        <a:buNone/>
                      </a:pPr>
                      <a:r>
                        <a:rPr lang="en-US" sz="850" b="1" dirty="0">
                          <a:solidFill>
                            <a:srgbClr val="FF6500"/>
                          </a:solidFill>
                          <a:latin typeface="Arial" pitchFamily="34" charset="0"/>
                          <a:ea typeface="Arial" pitchFamily="34" charset="-122"/>
                          <a:cs typeface="Arial" pitchFamily="34" charset="-120"/>
                        </a:rPr>
                        <a:t>Preconditions</a:t>
                      </a:r>
                      <a:endParaRPr lang="en-US" sz="850" dirty="0">
                        <a:latin typeface="Arial" charset="0"/>
                        <a:ea typeface="Arial" charset="0"/>
                        <a:cs typeface="Arial" charset="0"/>
                      </a:endParaRPr>
                    </a:p>
                  </a:txBody>
                  <a:tcPr marL="38100" marR="38100" marT="38100" marB="38100">
                    <a:lnL w="12700" cap="flat" cmpd="sng" algn="ctr">
                      <a:solidFill>
                        <a:srgbClr val="DEDEDE"/>
                      </a:solidFill>
                      <a:prstDash val="solid"/>
                      <a:round/>
                      <a:headEnd type="none" w="med" len="med"/>
                      <a:tailEnd type="none" w="med" len="med"/>
                    </a:lnL>
                    <a:lnR w="12700" cap="flat" cmpd="sng" algn="ctr">
                      <a:solidFill>
                        <a:srgbClr val="DEDEDE"/>
                      </a:solidFill>
                      <a:prstDash val="solid"/>
                      <a:round/>
                      <a:headEnd type="none" w="med" len="med"/>
                      <a:tailEnd type="none" w="med" len="med"/>
                    </a:lnR>
                    <a:lnT w="12700" cap="flat" cmpd="sng" algn="ctr">
                      <a:solidFill>
                        <a:srgbClr val="DEDEDE"/>
                      </a:solidFill>
                      <a:prstDash val="solid"/>
                      <a:round/>
                      <a:headEnd type="none" w="med" len="med"/>
                      <a:tailEnd type="none" w="med" len="med"/>
                    </a:lnT>
                    <a:lnB w="12700" cap="flat" cmpd="sng" algn="ctr">
                      <a:solidFill>
                        <a:srgbClr val="DEDEDE"/>
                      </a:solidFill>
                      <a:prstDash val="solid"/>
                      <a:round/>
                      <a:headEnd type="none" w="med" len="med"/>
                      <a:tailEnd type="none" w="med" len="med"/>
                    </a:lnB>
                    <a:solidFill>
                      <a:srgbClr val="0D0D0D"/>
                    </a:solidFill>
                  </a:tcPr>
                </a:tc>
                <a:tc>
                  <a:txBody>
                    <a:bodyPr/>
                    <a:lstStyle/>
                    <a:p>
                      <a:pPr marL="0" indent="0" algn="ctr">
                        <a:buNone/>
                      </a:pPr>
                      <a:r>
                        <a:rPr lang="en-US" sz="850" b="1" dirty="0">
                          <a:solidFill>
                            <a:srgbClr val="FF6500"/>
                          </a:solidFill>
                          <a:latin typeface="Arial" pitchFamily="34" charset="0"/>
                          <a:ea typeface="Arial" pitchFamily="34" charset="-122"/>
                          <a:cs typeface="Arial" pitchFamily="34" charset="-120"/>
                        </a:rPr>
                        <a:t>Test Steps</a:t>
                      </a:r>
                      <a:endParaRPr lang="en-US" sz="850" dirty="0">
                        <a:latin typeface="Arial" charset="0"/>
                        <a:ea typeface="Arial" charset="0"/>
                        <a:cs typeface="Arial" charset="0"/>
                      </a:endParaRPr>
                    </a:p>
                  </a:txBody>
                  <a:tcPr marL="38100" marR="38100" marT="38100" marB="38100">
                    <a:lnL w="12700" cap="flat" cmpd="sng" algn="ctr">
                      <a:solidFill>
                        <a:srgbClr val="DEDEDE"/>
                      </a:solidFill>
                      <a:prstDash val="solid"/>
                      <a:round/>
                      <a:headEnd type="none" w="med" len="med"/>
                      <a:tailEnd type="none" w="med" len="med"/>
                    </a:lnL>
                    <a:lnR w="12700" cap="flat" cmpd="sng" algn="ctr">
                      <a:solidFill>
                        <a:srgbClr val="DEDEDE"/>
                      </a:solidFill>
                      <a:prstDash val="solid"/>
                      <a:round/>
                      <a:headEnd type="none" w="med" len="med"/>
                      <a:tailEnd type="none" w="med" len="med"/>
                    </a:lnR>
                    <a:lnT w="12700" cap="flat" cmpd="sng" algn="ctr">
                      <a:solidFill>
                        <a:srgbClr val="DEDEDE"/>
                      </a:solidFill>
                      <a:prstDash val="solid"/>
                      <a:round/>
                      <a:headEnd type="none" w="med" len="med"/>
                      <a:tailEnd type="none" w="med" len="med"/>
                    </a:lnT>
                    <a:lnB w="12700" cap="flat" cmpd="sng" algn="ctr">
                      <a:solidFill>
                        <a:srgbClr val="DEDEDE"/>
                      </a:solidFill>
                      <a:prstDash val="solid"/>
                      <a:round/>
                      <a:headEnd type="none" w="med" len="med"/>
                      <a:tailEnd type="none" w="med" len="med"/>
                    </a:lnB>
                    <a:solidFill>
                      <a:srgbClr val="0D0D0D"/>
                    </a:solidFill>
                  </a:tcPr>
                </a:tc>
                <a:tc>
                  <a:txBody>
                    <a:bodyPr/>
                    <a:lstStyle/>
                    <a:p>
                      <a:pPr marL="0" indent="0" algn="ctr">
                        <a:buNone/>
                      </a:pPr>
                      <a:r>
                        <a:rPr lang="en-US" sz="850" b="1" dirty="0">
                          <a:solidFill>
                            <a:srgbClr val="FF6500"/>
                          </a:solidFill>
                          <a:latin typeface="Arial" pitchFamily="34" charset="0"/>
                          <a:ea typeface="Arial" pitchFamily="34" charset="-122"/>
                          <a:cs typeface="Arial" pitchFamily="34" charset="-120"/>
                        </a:rPr>
                        <a:t>Test Data</a:t>
                      </a:r>
                      <a:endParaRPr lang="en-US" sz="850" dirty="0">
                        <a:latin typeface="Arial" charset="0"/>
                        <a:ea typeface="Arial" charset="0"/>
                        <a:cs typeface="Arial" charset="0"/>
                      </a:endParaRPr>
                    </a:p>
                  </a:txBody>
                  <a:tcPr marL="38100" marR="38100" marT="38100" marB="38100">
                    <a:lnL w="12700" cap="flat" cmpd="sng" algn="ctr">
                      <a:solidFill>
                        <a:srgbClr val="DEDEDE"/>
                      </a:solidFill>
                      <a:prstDash val="solid"/>
                      <a:round/>
                      <a:headEnd type="none" w="med" len="med"/>
                      <a:tailEnd type="none" w="med" len="med"/>
                    </a:lnL>
                    <a:lnR w="12700" cap="flat" cmpd="sng" algn="ctr">
                      <a:solidFill>
                        <a:srgbClr val="DEDEDE"/>
                      </a:solidFill>
                      <a:prstDash val="solid"/>
                      <a:round/>
                      <a:headEnd type="none" w="med" len="med"/>
                      <a:tailEnd type="none" w="med" len="med"/>
                    </a:lnR>
                    <a:lnT w="12700" cap="flat" cmpd="sng" algn="ctr">
                      <a:solidFill>
                        <a:srgbClr val="DEDEDE"/>
                      </a:solidFill>
                      <a:prstDash val="solid"/>
                      <a:round/>
                      <a:headEnd type="none" w="med" len="med"/>
                      <a:tailEnd type="none" w="med" len="med"/>
                    </a:lnT>
                    <a:lnB w="12700" cap="flat" cmpd="sng" algn="ctr">
                      <a:solidFill>
                        <a:srgbClr val="DEDEDE"/>
                      </a:solidFill>
                      <a:prstDash val="solid"/>
                      <a:round/>
                      <a:headEnd type="none" w="med" len="med"/>
                      <a:tailEnd type="none" w="med" len="med"/>
                    </a:lnB>
                    <a:solidFill>
                      <a:srgbClr val="0D0D0D"/>
                    </a:solidFill>
                  </a:tcPr>
                </a:tc>
                <a:tc>
                  <a:txBody>
                    <a:bodyPr/>
                    <a:lstStyle/>
                    <a:p>
                      <a:pPr marL="0" indent="0" algn="ctr">
                        <a:buNone/>
                      </a:pPr>
                      <a:r>
                        <a:rPr lang="en-US" sz="850" b="1" dirty="0">
                          <a:solidFill>
                            <a:srgbClr val="FF6500"/>
                          </a:solidFill>
                          <a:latin typeface="Arial" pitchFamily="34" charset="0"/>
                          <a:ea typeface="Arial" pitchFamily="34" charset="-122"/>
                          <a:cs typeface="Arial" pitchFamily="34" charset="-120"/>
                        </a:rPr>
                        <a:t>Expected Result</a:t>
                      </a:r>
                      <a:endParaRPr lang="en-US" sz="850" dirty="0">
                        <a:latin typeface="Arial" charset="0"/>
                        <a:ea typeface="Arial" charset="0"/>
                        <a:cs typeface="Arial" charset="0"/>
                      </a:endParaRPr>
                    </a:p>
                  </a:txBody>
                  <a:tcPr marL="38100" marR="38100" marT="38100" marB="38100">
                    <a:lnL w="12700" cap="flat" cmpd="sng" algn="ctr">
                      <a:solidFill>
                        <a:srgbClr val="DEDEDE"/>
                      </a:solidFill>
                      <a:prstDash val="solid"/>
                      <a:round/>
                      <a:headEnd type="none" w="med" len="med"/>
                      <a:tailEnd type="none" w="med" len="med"/>
                    </a:lnL>
                    <a:lnR w="12700" cap="flat" cmpd="sng" algn="ctr">
                      <a:solidFill>
                        <a:srgbClr val="DEDEDE"/>
                      </a:solidFill>
                      <a:prstDash val="solid"/>
                      <a:round/>
                      <a:headEnd type="none" w="med" len="med"/>
                      <a:tailEnd type="none" w="med" len="med"/>
                    </a:lnR>
                    <a:lnT w="12700" cap="flat" cmpd="sng" algn="ctr">
                      <a:solidFill>
                        <a:srgbClr val="DEDEDE"/>
                      </a:solidFill>
                      <a:prstDash val="solid"/>
                      <a:round/>
                      <a:headEnd type="none" w="med" len="med"/>
                      <a:tailEnd type="none" w="med" len="med"/>
                    </a:lnT>
                    <a:lnB w="12700" cap="flat" cmpd="sng" algn="ctr">
                      <a:solidFill>
                        <a:srgbClr val="DEDEDE"/>
                      </a:solidFill>
                      <a:prstDash val="solid"/>
                      <a:round/>
                      <a:headEnd type="none" w="med" len="med"/>
                      <a:tailEnd type="none" w="med" len="med"/>
                    </a:lnB>
                    <a:solidFill>
                      <a:srgbClr val="0D0D0D"/>
                    </a:solidFill>
                  </a:tcPr>
                </a:tc>
                <a:tc>
                  <a:txBody>
                    <a:bodyPr/>
                    <a:lstStyle/>
                    <a:p>
                      <a:pPr marL="0" indent="0" algn="ctr">
                        <a:buNone/>
                      </a:pPr>
                      <a:r>
                        <a:rPr lang="en-US" sz="850" b="1" dirty="0">
                          <a:solidFill>
                            <a:srgbClr val="FF6500"/>
                          </a:solidFill>
                          <a:latin typeface="Arial" pitchFamily="34" charset="0"/>
                          <a:ea typeface="Arial" pitchFamily="34" charset="-122"/>
                          <a:cs typeface="Arial" pitchFamily="34" charset="-120"/>
                        </a:rPr>
                        <a:t>Status</a:t>
                      </a:r>
                      <a:endParaRPr lang="en-US" sz="850" dirty="0">
                        <a:latin typeface="Arial" charset="0"/>
                        <a:ea typeface="Arial" charset="0"/>
                        <a:cs typeface="Arial" charset="0"/>
                      </a:endParaRPr>
                    </a:p>
                  </a:txBody>
                  <a:tcPr marL="38100" marR="38100" marT="38100" marB="38100">
                    <a:lnL w="12700" cap="flat" cmpd="sng" algn="ctr">
                      <a:solidFill>
                        <a:srgbClr val="DEDEDE"/>
                      </a:solidFill>
                      <a:prstDash val="solid"/>
                      <a:round/>
                      <a:headEnd type="none" w="med" len="med"/>
                      <a:tailEnd type="none" w="med" len="med"/>
                    </a:lnL>
                    <a:lnR w="12700" cap="flat" cmpd="sng" algn="ctr">
                      <a:solidFill>
                        <a:srgbClr val="DEDEDE"/>
                      </a:solidFill>
                      <a:prstDash val="solid"/>
                      <a:round/>
                      <a:headEnd type="none" w="med" len="med"/>
                      <a:tailEnd type="none" w="med" len="med"/>
                    </a:lnR>
                    <a:lnT w="12700" cap="flat" cmpd="sng" algn="ctr">
                      <a:solidFill>
                        <a:srgbClr val="DEDEDE"/>
                      </a:solidFill>
                      <a:prstDash val="solid"/>
                      <a:round/>
                      <a:headEnd type="none" w="med" len="med"/>
                      <a:tailEnd type="none" w="med" len="med"/>
                    </a:lnT>
                    <a:lnB w="12700" cap="flat" cmpd="sng" algn="ctr">
                      <a:solidFill>
                        <a:srgbClr val="DEDEDE"/>
                      </a:solidFill>
                      <a:prstDash val="solid"/>
                      <a:round/>
                      <a:headEnd type="none" w="med" len="med"/>
                      <a:tailEnd type="none" w="med" len="med"/>
                    </a:lnB>
                    <a:solidFill>
                      <a:srgbClr val="0D0D0D"/>
                    </a:solidFill>
                  </a:tcPr>
                </a:tc>
                <a:extLst>
                  <a:ext uri="{0D108BD9-81ED-4DB2-BD59-A6C34878D82A}">
                    <a16:rowId xmlns:a16="http://schemas.microsoft.com/office/drawing/2014/main" val="10000"/>
                  </a:ext>
                </a:extLst>
              </a:tr>
              <a:tr h="630936">
                <a:tc>
                  <a:txBody>
                    <a:bodyPr/>
                    <a:lstStyle/>
                    <a:p>
                      <a:pPr marL="0" indent="0">
                        <a:buNone/>
                      </a:pPr>
                      <a:r>
                        <a:rPr lang="en-US" sz="850" b="1" dirty="0">
                          <a:solidFill>
                            <a:srgbClr val="FF6500"/>
                          </a:solidFill>
                          <a:latin typeface="Calibri" pitchFamily="34" charset="0"/>
                          <a:ea typeface="Calibri" pitchFamily="34" charset="-122"/>
                          <a:cs typeface="Calibri" pitchFamily="34" charset="-120"/>
                        </a:rPr>
                        <a:t>TC_LOGIN_001</a:t>
                      </a:r>
                      <a:endParaRPr lang="en-US" sz="850" dirty="0">
                        <a:latin typeface="Calibri" charset="0"/>
                        <a:ea typeface="Calibri" charset="0"/>
                        <a:cs typeface="Calibri" charset="0"/>
                      </a:endParaRPr>
                    </a:p>
                  </a:txBody>
                  <a:tcPr marL="38100" marR="38100" marT="38100" marB="38100">
                    <a:lnL w="12700" cap="flat" cmpd="sng" algn="ctr">
                      <a:solidFill>
                        <a:srgbClr val="DEDEDE"/>
                      </a:solidFill>
                      <a:prstDash val="solid"/>
                      <a:round/>
                      <a:headEnd type="none" w="med" len="med"/>
                      <a:tailEnd type="none" w="med" len="med"/>
                    </a:lnL>
                    <a:lnR w="12700" cap="flat" cmpd="sng" algn="ctr">
                      <a:solidFill>
                        <a:srgbClr val="DEDEDE"/>
                      </a:solidFill>
                      <a:prstDash val="solid"/>
                      <a:round/>
                      <a:headEnd type="none" w="med" len="med"/>
                      <a:tailEnd type="none" w="med" len="med"/>
                    </a:lnR>
                    <a:lnT w="12700" cap="flat" cmpd="sng" algn="ctr">
                      <a:solidFill>
                        <a:srgbClr val="DEDEDE"/>
                      </a:solidFill>
                      <a:prstDash val="solid"/>
                      <a:round/>
                      <a:headEnd type="none" w="med" len="med"/>
                      <a:tailEnd type="none" w="med" len="med"/>
                    </a:lnT>
                    <a:lnB w="12700" cap="flat" cmpd="sng" algn="ctr">
                      <a:solidFill>
                        <a:srgbClr val="DEDEDE"/>
                      </a:solidFill>
                      <a:prstDash val="solid"/>
                      <a:round/>
                      <a:headEnd type="none" w="med" len="med"/>
                      <a:tailEnd type="none" w="med" len="med"/>
                    </a:lnB>
                    <a:solidFill>
                      <a:srgbClr val="F0F0F0"/>
                    </a:solidFill>
                  </a:tcPr>
                </a:tc>
                <a:tc>
                  <a:txBody>
                    <a:bodyPr/>
                    <a:lstStyle/>
                    <a:p>
                      <a:pPr marL="0" indent="0">
                        <a:buNone/>
                      </a:pPr>
                      <a:r>
                        <a:rPr lang="en-US" sz="850" dirty="0">
                          <a:solidFill>
                            <a:srgbClr val="2C2C2C"/>
                          </a:solidFill>
                          <a:latin typeface="Calibri" pitchFamily="34" charset="0"/>
                          <a:ea typeface="Calibri" pitchFamily="34" charset="-122"/>
                          <a:cs typeface="Calibri" pitchFamily="34" charset="-120"/>
                        </a:rPr>
                        <a:t>Valid Login</a:t>
                      </a:r>
                      <a:endParaRPr lang="en-US" sz="850" dirty="0">
                        <a:latin typeface="Calibri" charset="0"/>
                        <a:ea typeface="Calibri" charset="0"/>
                        <a:cs typeface="Calibri" charset="0"/>
                      </a:endParaRPr>
                    </a:p>
                  </a:txBody>
                  <a:tcPr marL="38100" marR="38100" marT="38100" marB="38100">
                    <a:lnL w="12700" cap="flat" cmpd="sng" algn="ctr">
                      <a:solidFill>
                        <a:srgbClr val="DEDEDE"/>
                      </a:solidFill>
                      <a:prstDash val="solid"/>
                      <a:round/>
                      <a:headEnd type="none" w="med" len="med"/>
                      <a:tailEnd type="none" w="med" len="med"/>
                    </a:lnL>
                    <a:lnR w="12700" cap="flat" cmpd="sng" algn="ctr">
                      <a:solidFill>
                        <a:srgbClr val="DEDEDE"/>
                      </a:solidFill>
                      <a:prstDash val="solid"/>
                      <a:round/>
                      <a:headEnd type="none" w="med" len="med"/>
                      <a:tailEnd type="none" w="med" len="med"/>
                    </a:lnR>
                    <a:lnT w="12700" cap="flat" cmpd="sng" algn="ctr">
                      <a:solidFill>
                        <a:srgbClr val="DEDEDE"/>
                      </a:solidFill>
                      <a:prstDash val="solid"/>
                      <a:round/>
                      <a:headEnd type="none" w="med" len="med"/>
                      <a:tailEnd type="none" w="med" len="med"/>
                    </a:lnT>
                    <a:lnB w="12700" cap="flat" cmpd="sng" algn="ctr">
                      <a:solidFill>
                        <a:srgbClr val="DEDEDE"/>
                      </a:solidFill>
                      <a:prstDash val="solid"/>
                      <a:round/>
                      <a:headEnd type="none" w="med" len="med"/>
                      <a:tailEnd type="none" w="med" len="med"/>
                    </a:lnB>
                    <a:solidFill>
                      <a:srgbClr val="F0F0F0"/>
                    </a:solidFill>
                  </a:tcPr>
                </a:tc>
                <a:tc>
                  <a:txBody>
                    <a:bodyPr/>
                    <a:lstStyle/>
                    <a:p>
                      <a:pPr marL="0" indent="0">
                        <a:buNone/>
                      </a:pPr>
                      <a:r>
                        <a:rPr lang="en-US" sz="850" dirty="0">
                          <a:solidFill>
                            <a:srgbClr val="2C2C2C"/>
                          </a:solidFill>
                          <a:latin typeface="Calibri" pitchFamily="34" charset="0"/>
                          <a:ea typeface="Calibri" pitchFamily="34" charset="-122"/>
                          <a:cs typeface="Calibri" pitchFamily="34" charset="-120"/>
                        </a:rPr>
                        <a:t>App running; account exists</a:t>
                      </a:r>
                      <a:endParaRPr lang="en-US" sz="850" dirty="0">
                        <a:latin typeface="Calibri" charset="0"/>
                        <a:ea typeface="Calibri" charset="0"/>
                        <a:cs typeface="Calibri" charset="0"/>
                      </a:endParaRPr>
                    </a:p>
                  </a:txBody>
                  <a:tcPr marL="38100" marR="38100" marT="38100" marB="38100">
                    <a:lnL w="12700" cap="flat" cmpd="sng" algn="ctr">
                      <a:solidFill>
                        <a:srgbClr val="DEDEDE"/>
                      </a:solidFill>
                      <a:prstDash val="solid"/>
                      <a:round/>
                      <a:headEnd type="none" w="med" len="med"/>
                      <a:tailEnd type="none" w="med" len="med"/>
                    </a:lnL>
                    <a:lnR w="12700" cap="flat" cmpd="sng" algn="ctr">
                      <a:solidFill>
                        <a:srgbClr val="DEDEDE"/>
                      </a:solidFill>
                      <a:prstDash val="solid"/>
                      <a:round/>
                      <a:headEnd type="none" w="med" len="med"/>
                      <a:tailEnd type="none" w="med" len="med"/>
                    </a:lnR>
                    <a:lnT w="12700" cap="flat" cmpd="sng" algn="ctr">
                      <a:solidFill>
                        <a:srgbClr val="DEDEDE"/>
                      </a:solidFill>
                      <a:prstDash val="solid"/>
                      <a:round/>
                      <a:headEnd type="none" w="med" len="med"/>
                      <a:tailEnd type="none" w="med" len="med"/>
                    </a:lnT>
                    <a:lnB w="12700" cap="flat" cmpd="sng" algn="ctr">
                      <a:solidFill>
                        <a:srgbClr val="DEDEDE"/>
                      </a:solidFill>
                      <a:prstDash val="solid"/>
                      <a:round/>
                      <a:headEnd type="none" w="med" len="med"/>
                      <a:tailEnd type="none" w="med" len="med"/>
                    </a:lnB>
                    <a:solidFill>
                      <a:srgbClr val="F0F0F0"/>
                    </a:solidFill>
                  </a:tcPr>
                </a:tc>
                <a:tc>
                  <a:txBody>
                    <a:bodyPr/>
                    <a:lstStyle/>
                    <a:p>
                      <a:pPr marL="0" indent="0">
                        <a:buNone/>
                      </a:pPr>
                      <a:r>
                        <a:rPr lang="en-US" sz="850" dirty="0">
                          <a:solidFill>
                            <a:srgbClr val="2C2C2C"/>
                          </a:solidFill>
                          <a:latin typeface="Calibri" pitchFamily="34" charset="0"/>
                          <a:ea typeface="Calibri" pitchFamily="34" charset="-122"/>
                          <a:cs typeface="Calibri" pitchFamily="34" charset="-120"/>
                        </a:rPr>
                        <a:t>1. Go to /login</a:t>
                      </a:r>
                      <a:endParaRPr lang="en-US" sz="850" dirty="0">
                        <a:latin typeface="Calibri" charset="0"/>
                        <a:ea typeface="Calibri" charset="0"/>
                        <a:cs typeface="Calibri" charset="0"/>
                      </a:endParaRPr>
                    </a:p>
                    <a:p>
                      <a:pPr marL="0" indent="0">
                        <a:buNone/>
                      </a:pPr>
                      <a:r>
                        <a:rPr lang="en-US" sz="850" dirty="0">
                          <a:solidFill>
                            <a:srgbClr val="2C2C2C"/>
                          </a:solidFill>
                          <a:latin typeface="Calibri" pitchFamily="34" charset="0"/>
                          <a:ea typeface="Calibri" pitchFamily="34" charset="-122"/>
                          <a:cs typeface="Calibri" pitchFamily="34" charset="-120"/>
                        </a:rPr>
                        <a:t>2. Enter email</a:t>
                      </a:r>
                      <a:endParaRPr lang="en-US" sz="850" dirty="0">
                        <a:latin typeface="Calibri" charset="0"/>
                        <a:ea typeface="Calibri" charset="0"/>
                        <a:cs typeface="Calibri" charset="0"/>
                      </a:endParaRPr>
                    </a:p>
                    <a:p>
                      <a:pPr marL="0" indent="0">
                        <a:buNone/>
                      </a:pPr>
                      <a:r>
                        <a:rPr lang="en-US" sz="850" dirty="0">
                          <a:solidFill>
                            <a:srgbClr val="2C2C2C"/>
                          </a:solidFill>
                          <a:latin typeface="Calibri" pitchFamily="34" charset="0"/>
                          <a:ea typeface="Calibri" pitchFamily="34" charset="-122"/>
                          <a:cs typeface="Calibri" pitchFamily="34" charset="-120"/>
                        </a:rPr>
                        <a:t>3. Enter password</a:t>
                      </a:r>
                      <a:endParaRPr lang="en-US" sz="850" dirty="0">
                        <a:latin typeface="Calibri" charset="0"/>
                        <a:ea typeface="Calibri" charset="0"/>
                        <a:cs typeface="Calibri" charset="0"/>
                      </a:endParaRPr>
                    </a:p>
                    <a:p>
                      <a:pPr marL="0" indent="0">
                        <a:buNone/>
                      </a:pPr>
                      <a:r>
                        <a:rPr lang="en-US" sz="850" dirty="0">
                          <a:solidFill>
                            <a:srgbClr val="2C2C2C"/>
                          </a:solidFill>
                          <a:latin typeface="Calibri" pitchFamily="34" charset="0"/>
                          <a:ea typeface="Calibri" pitchFamily="34" charset="-122"/>
                          <a:cs typeface="Calibri" pitchFamily="34" charset="-120"/>
                        </a:rPr>
                        <a:t>4. Click Login</a:t>
                      </a:r>
                      <a:endParaRPr lang="en-US" sz="850" dirty="0">
                        <a:latin typeface="Calibri" charset="0"/>
                        <a:ea typeface="Calibri" charset="0"/>
                        <a:cs typeface="Calibri" charset="0"/>
                      </a:endParaRPr>
                    </a:p>
                  </a:txBody>
                  <a:tcPr marL="38100" marR="38100" marT="38100" marB="38100">
                    <a:lnL w="12700" cap="flat" cmpd="sng" algn="ctr">
                      <a:solidFill>
                        <a:srgbClr val="DEDEDE"/>
                      </a:solidFill>
                      <a:prstDash val="solid"/>
                      <a:round/>
                      <a:headEnd type="none" w="med" len="med"/>
                      <a:tailEnd type="none" w="med" len="med"/>
                    </a:lnL>
                    <a:lnR w="12700" cap="flat" cmpd="sng" algn="ctr">
                      <a:solidFill>
                        <a:srgbClr val="DEDEDE"/>
                      </a:solidFill>
                      <a:prstDash val="solid"/>
                      <a:round/>
                      <a:headEnd type="none" w="med" len="med"/>
                      <a:tailEnd type="none" w="med" len="med"/>
                    </a:lnR>
                    <a:lnT w="12700" cap="flat" cmpd="sng" algn="ctr">
                      <a:solidFill>
                        <a:srgbClr val="DEDEDE"/>
                      </a:solidFill>
                      <a:prstDash val="solid"/>
                      <a:round/>
                      <a:headEnd type="none" w="med" len="med"/>
                      <a:tailEnd type="none" w="med" len="med"/>
                    </a:lnT>
                    <a:lnB w="12700" cap="flat" cmpd="sng" algn="ctr">
                      <a:solidFill>
                        <a:srgbClr val="DEDEDE"/>
                      </a:solidFill>
                      <a:prstDash val="solid"/>
                      <a:round/>
                      <a:headEnd type="none" w="med" len="med"/>
                      <a:tailEnd type="none" w="med" len="med"/>
                    </a:lnB>
                    <a:solidFill>
                      <a:srgbClr val="F0F0F0"/>
                    </a:solidFill>
                  </a:tcPr>
                </a:tc>
                <a:tc>
                  <a:txBody>
                    <a:bodyPr/>
                    <a:lstStyle/>
                    <a:p>
                      <a:pPr marL="0" indent="0">
                        <a:buNone/>
                      </a:pPr>
                      <a:r>
                        <a:rPr lang="en-US" sz="850" dirty="0">
                          <a:solidFill>
                            <a:srgbClr val="2C2C2C"/>
                          </a:solidFill>
                          <a:latin typeface="Calibri" pitchFamily="34" charset="0"/>
                          <a:ea typeface="Calibri" pitchFamily="34" charset="-122"/>
                          <a:cs typeface="Calibri" pitchFamily="34" charset="-120"/>
                        </a:rPr>
                        <a:t>john@example.com</a:t>
                      </a:r>
                      <a:endParaRPr lang="en-US" sz="850" dirty="0">
                        <a:latin typeface="Calibri" charset="0"/>
                        <a:ea typeface="Calibri" charset="0"/>
                        <a:cs typeface="Calibri" charset="0"/>
                      </a:endParaRPr>
                    </a:p>
                    <a:p>
                      <a:pPr marL="0" indent="0">
                        <a:buNone/>
                      </a:pPr>
                      <a:r>
                        <a:rPr lang="en-US" sz="850" dirty="0">
                          <a:solidFill>
                            <a:srgbClr val="2C2C2C"/>
                          </a:solidFill>
                          <a:latin typeface="Calibri" pitchFamily="34" charset="0"/>
                          <a:ea typeface="Calibri" pitchFamily="34" charset="-122"/>
                          <a:cs typeface="Calibri" pitchFamily="34" charset="-120"/>
                        </a:rPr>
                        <a:t>SecurePass@123</a:t>
                      </a:r>
                      <a:endParaRPr lang="en-US" sz="850" dirty="0">
                        <a:latin typeface="Calibri" charset="0"/>
                        <a:ea typeface="Calibri" charset="0"/>
                        <a:cs typeface="Calibri" charset="0"/>
                      </a:endParaRPr>
                    </a:p>
                  </a:txBody>
                  <a:tcPr marL="38100" marR="38100" marT="38100" marB="38100">
                    <a:lnL w="12700" cap="flat" cmpd="sng" algn="ctr">
                      <a:solidFill>
                        <a:srgbClr val="DEDEDE"/>
                      </a:solidFill>
                      <a:prstDash val="solid"/>
                      <a:round/>
                      <a:headEnd type="none" w="med" len="med"/>
                      <a:tailEnd type="none" w="med" len="med"/>
                    </a:lnL>
                    <a:lnR w="12700" cap="flat" cmpd="sng" algn="ctr">
                      <a:solidFill>
                        <a:srgbClr val="DEDEDE"/>
                      </a:solidFill>
                      <a:prstDash val="solid"/>
                      <a:round/>
                      <a:headEnd type="none" w="med" len="med"/>
                      <a:tailEnd type="none" w="med" len="med"/>
                    </a:lnR>
                    <a:lnT w="12700" cap="flat" cmpd="sng" algn="ctr">
                      <a:solidFill>
                        <a:srgbClr val="DEDEDE"/>
                      </a:solidFill>
                      <a:prstDash val="solid"/>
                      <a:round/>
                      <a:headEnd type="none" w="med" len="med"/>
                      <a:tailEnd type="none" w="med" len="med"/>
                    </a:lnT>
                    <a:lnB w="12700" cap="flat" cmpd="sng" algn="ctr">
                      <a:solidFill>
                        <a:srgbClr val="DEDEDE"/>
                      </a:solidFill>
                      <a:prstDash val="solid"/>
                      <a:round/>
                      <a:headEnd type="none" w="med" len="med"/>
                      <a:tailEnd type="none" w="med" len="med"/>
                    </a:lnB>
                    <a:solidFill>
                      <a:srgbClr val="F0F0F0"/>
                    </a:solidFill>
                  </a:tcPr>
                </a:tc>
                <a:tc>
                  <a:txBody>
                    <a:bodyPr/>
                    <a:lstStyle/>
                    <a:p>
                      <a:pPr marL="0" indent="0">
                        <a:buNone/>
                      </a:pPr>
                      <a:r>
                        <a:rPr lang="en-US" sz="850" dirty="0">
                          <a:solidFill>
                            <a:srgbClr val="2C2C2C"/>
                          </a:solidFill>
                          <a:latin typeface="Calibri" pitchFamily="34" charset="0"/>
                          <a:ea typeface="Calibri" pitchFamily="34" charset="-122"/>
                          <a:cs typeface="Calibri" pitchFamily="34" charset="-120"/>
                        </a:rPr>
                        <a:t>Redirected to Dashboard. 'Welcome, John!' shown.</a:t>
                      </a:r>
                      <a:endParaRPr lang="en-US" sz="850" dirty="0">
                        <a:latin typeface="Calibri" charset="0"/>
                        <a:ea typeface="Calibri" charset="0"/>
                        <a:cs typeface="Calibri" charset="0"/>
                      </a:endParaRPr>
                    </a:p>
                  </a:txBody>
                  <a:tcPr marL="38100" marR="38100" marT="38100" marB="38100">
                    <a:lnL w="12700" cap="flat" cmpd="sng" algn="ctr">
                      <a:solidFill>
                        <a:srgbClr val="DEDEDE"/>
                      </a:solidFill>
                      <a:prstDash val="solid"/>
                      <a:round/>
                      <a:headEnd type="none" w="med" len="med"/>
                      <a:tailEnd type="none" w="med" len="med"/>
                    </a:lnL>
                    <a:lnR w="12700" cap="flat" cmpd="sng" algn="ctr">
                      <a:solidFill>
                        <a:srgbClr val="DEDEDE"/>
                      </a:solidFill>
                      <a:prstDash val="solid"/>
                      <a:round/>
                      <a:headEnd type="none" w="med" len="med"/>
                      <a:tailEnd type="none" w="med" len="med"/>
                    </a:lnR>
                    <a:lnT w="12700" cap="flat" cmpd="sng" algn="ctr">
                      <a:solidFill>
                        <a:srgbClr val="DEDEDE"/>
                      </a:solidFill>
                      <a:prstDash val="solid"/>
                      <a:round/>
                      <a:headEnd type="none" w="med" len="med"/>
                      <a:tailEnd type="none" w="med" len="med"/>
                    </a:lnT>
                    <a:lnB w="12700" cap="flat" cmpd="sng" algn="ctr">
                      <a:solidFill>
                        <a:srgbClr val="DEDEDE"/>
                      </a:solidFill>
                      <a:prstDash val="solid"/>
                      <a:round/>
                      <a:headEnd type="none" w="med" len="med"/>
                      <a:tailEnd type="none" w="med" len="med"/>
                    </a:lnB>
                    <a:solidFill>
                      <a:srgbClr val="F0F0F0"/>
                    </a:solidFill>
                  </a:tcPr>
                </a:tc>
                <a:tc>
                  <a:txBody>
                    <a:bodyPr/>
                    <a:lstStyle/>
                    <a:p>
                      <a:pPr marL="0" indent="0">
                        <a:buNone/>
                      </a:pPr>
                      <a:r>
                        <a:rPr lang="en-US" sz="850" b="1" dirty="0">
                          <a:solidFill>
                            <a:srgbClr val="27AE60"/>
                          </a:solidFill>
                          <a:latin typeface="Calibri" pitchFamily="34" charset="0"/>
                          <a:ea typeface="Calibri" pitchFamily="34" charset="-122"/>
                          <a:cs typeface="Calibri" pitchFamily="34" charset="-120"/>
                        </a:rPr>
                        <a:t>Pass</a:t>
                      </a:r>
                      <a:endParaRPr lang="en-US" sz="850" dirty="0">
                        <a:latin typeface="Calibri" charset="0"/>
                        <a:ea typeface="Calibri" charset="0"/>
                        <a:cs typeface="Calibri" charset="0"/>
                      </a:endParaRPr>
                    </a:p>
                  </a:txBody>
                  <a:tcPr marL="38100" marR="38100" marT="38100" marB="38100">
                    <a:lnL w="12700" cap="flat" cmpd="sng" algn="ctr">
                      <a:solidFill>
                        <a:srgbClr val="DEDEDE"/>
                      </a:solidFill>
                      <a:prstDash val="solid"/>
                      <a:round/>
                      <a:headEnd type="none" w="med" len="med"/>
                      <a:tailEnd type="none" w="med" len="med"/>
                    </a:lnL>
                    <a:lnR w="12700" cap="flat" cmpd="sng" algn="ctr">
                      <a:solidFill>
                        <a:srgbClr val="DEDEDE"/>
                      </a:solidFill>
                      <a:prstDash val="solid"/>
                      <a:round/>
                      <a:headEnd type="none" w="med" len="med"/>
                      <a:tailEnd type="none" w="med" len="med"/>
                    </a:lnR>
                    <a:lnT w="12700" cap="flat" cmpd="sng" algn="ctr">
                      <a:solidFill>
                        <a:srgbClr val="DEDEDE"/>
                      </a:solidFill>
                      <a:prstDash val="solid"/>
                      <a:round/>
                      <a:headEnd type="none" w="med" len="med"/>
                      <a:tailEnd type="none" w="med" len="med"/>
                    </a:lnT>
                    <a:lnB w="12700" cap="flat" cmpd="sng" algn="ctr">
                      <a:solidFill>
                        <a:srgbClr val="DEDEDE"/>
                      </a:solidFill>
                      <a:prstDash val="solid"/>
                      <a:round/>
                      <a:headEnd type="none" w="med" len="med"/>
                      <a:tailEnd type="none" w="med" len="med"/>
                    </a:lnB>
                    <a:solidFill>
                      <a:srgbClr val="F0F0F0"/>
                    </a:solidFill>
                  </a:tcPr>
                </a:tc>
                <a:extLst>
                  <a:ext uri="{0D108BD9-81ED-4DB2-BD59-A6C34878D82A}">
                    <a16:rowId xmlns:a16="http://schemas.microsoft.com/office/drawing/2014/main" val="10001"/>
                  </a:ext>
                </a:extLst>
              </a:tr>
              <a:tr h="630936">
                <a:tc>
                  <a:txBody>
                    <a:bodyPr/>
                    <a:lstStyle/>
                    <a:p>
                      <a:pPr marL="0" indent="0">
                        <a:buNone/>
                      </a:pPr>
                      <a:r>
                        <a:rPr lang="en-US" sz="850" b="1" dirty="0">
                          <a:solidFill>
                            <a:srgbClr val="FF6500"/>
                          </a:solidFill>
                          <a:latin typeface="Calibri" pitchFamily="34" charset="0"/>
                          <a:ea typeface="Calibri" pitchFamily="34" charset="-122"/>
                          <a:cs typeface="Calibri" pitchFamily="34" charset="-120"/>
                        </a:rPr>
                        <a:t>TC_LOGIN_002</a:t>
                      </a:r>
                      <a:endParaRPr lang="en-US" sz="850" dirty="0">
                        <a:latin typeface="Calibri" charset="0"/>
                        <a:ea typeface="Calibri" charset="0"/>
                        <a:cs typeface="Calibri" charset="0"/>
                      </a:endParaRPr>
                    </a:p>
                  </a:txBody>
                  <a:tcPr marL="38100" marR="38100" marT="38100" marB="38100">
                    <a:lnL w="12700" cap="flat" cmpd="sng" algn="ctr">
                      <a:solidFill>
                        <a:srgbClr val="DEDEDE"/>
                      </a:solidFill>
                      <a:prstDash val="solid"/>
                      <a:round/>
                      <a:headEnd type="none" w="med" len="med"/>
                      <a:tailEnd type="none" w="med" len="med"/>
                    </a:lnL>
                    <a:lnR w="12700" cap="flat" cmpd="sng" algn="ctr">
                      <a:solidFill>
                        <a:srgbClr val="DEDEDE"/>
                      </a:solidFill>
                      <a:prstDash val="solid"/>
                      <a:round/>
                      <a:headEnd type="none" w="med" len="med"/>
                      <a:tailEnd type="none" w="med" len="med"/>
                    </a:lnR>
                    <a:lnT w="12700" cap="flat" cmpd="sng" algn="ctr">
                      <a:solidFill>
                        <a:srgbClr val="DEDEDE"/>
                      </a:solidFill>
                      <a:prstDash val="solid"/>
                      <a:round/>
                      <a:headEnd type="none" w="med" len="med"/>
                      <a:tailEnd type="none" w="med" len="med"/>
                    </a:lnT>
                    <a:lnB w="12700" cap="flat" cmpd="sng" algn="ctr">
                      <a:solidFill>
                        <a:srgbClr val="DEDEDE"/>
                      </a:solidFill>
                      <a:prstDash val="solid"/>
                      <a:round/>
                      <a:headEnd type="none" w="med" len="med"/>
                      <a:tailEnd type="none" w="med" len="med"/>
                    </a:lnB>
                    <a:solidFill>
                      <a:srgbClr val="FFFFFF"/>
                    </a:solidFill>
                  </a:tcPr>
                </a:tc>
                <a:tc>
                  <a:txBody>
                    <a:bodyPr/>
                    <a:lstStyle/>
                    <a:p>
                      <a:pPr marL="0" indent="0">
                        <a:buNone/>
                      </a:pPr>
                      <a:r>
                        <a:rPr lang="en-US" sz="850" dirty="0">
                          <a:solidFill>
                            <a:srgbClr val="2C2C2C"/>
                          </a:solidFill>
                          <a:latin typeface="Calibri" pitchFamily="34" charset="0"/>
                          <a:ea typeface="Calibri" pitchFamily="34" charset="-122"/>
                          <a:cs typeface="Calibri" pitchFamily="34" charset="-120"/>
                        </a:rPr>
                        <a:t>Invalid Password</a:t>
                      </a:r>
                      <a:endParaRPr lang="en-US" sz="850" dirty="0">
                        <a:latin typeface="Calibri" charset="0"/>
                        <a:ea typeface="Calibri" charset="0"/>
                        <a:cs typeface="Calibri" charset="0"/>
                      </a:endParaRPr>
                    </a:p>
                  </a:txBody>
                  <a:tcPr marL="38100" marR="38100" marT="38100" marB="38100">
                    <a:lnL w="12700" cap="flat" cmpd="sng" algn="ctr">
                      <a:solidFill>
                        <a:srgbClr val="DEDEDE"/>
                      </a:solidFill>
                      <a:prstDash val="solid"/>
                      <a:round/>
                      <a:headEnd type="none" w="med" len="med"/>
                      <a:tailEnd type="none" w="med" len="med"/>
                    </a:lnL>
                    <a:lnR w="12700" cap="flat" cmpd="sng" algn="ctr">
                      <a:solidFill>
                        <a:srgbClr val="DEDEDE"/>
                      </a:solidFill>
                      <a:prstDash val="solid"/>
                      <a:round/>
                      <a:headEnd type="none" w="med" len="med"/>
                      <a:tailEnd type="none" w="med" len="med"/>
                    </a:lnR>
                    <a:lnT w="12700" cap="flat" cmpd="sng" algn="ctr">
                      <a:solidFill>
                        <a:srgbClr val="DEDEDE"/>
                      </a:solidFill>
                      <a:prstDash val="solid"/>
                      <a:round/>
                      <a:headEnd type="none" w="med" len="med"/>
                      <a:tailEnd type="none" w="med" len="med"/>
                    </a:lnT>
                    <a:lnB w="12700" cap="flat" cmpd="sng" algn="ctr">
                      <a:solidFill>
                        <a:srgbClr val="DEDEDE"/>
                      </a:solidFill>
                      <a:prstDash val="solid"/>
                      <a:round/>
                      <a:headEnd type="none" w="med" len="med"/>
                      <a:tailEnd type="none" w="med" len="med"/>
                    </a:lnB>
                    <a:solidFill>
                      <a:srgbClr val="FFFFFF"/>
                    </a:solidFill>
                  </a:tcPr>
                </a:tc>
                <a:tc>
                  <a:txBody>
                    <a:bodyPr/>
                    <a:lstStyle/>
                    <a:p>
                      <a:pPr marL="0" indent="0">
                        <a:buNone/>
                      </a:pPr>
                      <a:r>
                        <a:rPr lang="en-US" sz="850" dirty="0">
                          <a:solidFill>
                            <a:srgbClr val="2C2C2C"/>
                          </a:solidFill>
                          <a:latin typeface="Calibri" pitchFamily="34" charset="0"/>
                          <a:ea typeface="Calibri" pitchFamily="34" charset="-122"/>
                          <a:cs typeface="Calibri" pitchFamily="34" charset="-120"/>
                        </a:rPr>
                        <a:t>App running; account exists</a:t>
                      </a:r>
                      <a:endParaRPr lang="en-US" sz="850" dirty="0">
                        <a:latin typeface="Calibri" charset="0"/>
                        <a:ea typeface="Calibri" charset="0"/>
                        <a:cs typeface="Calibri" charset="0"/>
                      </a:endParaRPr>
                    </a:p>
                  </a:txBody>
                  <a:tcPr marL="38100" marR="38100" marT="38100" marB="38100">
                    <a:lnL w="12700" cap="flat" cmpd="sng" algn="ctr">
                      <a:solidFill>
                        <a:srgbClr val="DEDEDE"/>
                      </a:solidFill>
                      <a:prstDash val="solid"/>
                      <a:round/>
                      <a:headEnd type="none" w="med" len="med"/>
                      <a:tailEnd type="none" w="med" len="med"/>
                    </a:lnL>
                    <a:lnR w="12700" cap="flat" cmpd="sng" algn="ctr">
                      <a:solidFill>
                        <a:srgbClr val="DEDEDE"/>
                      </a:solidFill>
                      <a:prstDash val="solid"/>
                      <a:round/>
                      <a:headEnd type="none" w="med" len="med"/>
                      <a:tailEnd type="none" w="med" len="med"/>
                    </a:lnR>
                    <a:lnT w="12700" cap="flat" cmpd="sng" algn="ctr">
                      <a:solidFill>
                        <a:srgbClr val="DEDEDE"/>
                      </a:solidFill>
                      <a:prstDash val="solid"/>
                      <a:round/>
                      <a:headEnd type="none" w="med" len="med"/>
                      <a:tailEnd type="none" w="med" len="med"/>
                    </a:lnT>
                    <a:lnB w="12700" cap="flat" cmpd="sng" algn="ctr">
                      <a:solidFill>
                        <a:srgbClr val="DEDEDE"/>
                      </a:solidFill>
                      <a:prstDash val="solid"/>
                      <a:round/>
                      <a:headEnd type="none" w="med" len="med"/>
                      <a:tailEnd type="none" w="med" len="med"/>
                    </a:lnB>
                    <a:solidFill>
                      <a:srgbClr val="FFFFFF"/>
                    </a:solidFill>
                  </a:tcPr>
                </a:tc>
                <a:tc>
                  <a:txBody>
                    <a:bodyPr/>
                    <a:lstStyle/>
                    <a:p>
                      <a:pPr marL="0" indent="0">
                        <a:buNone/>
                      </a:pPr>
                      <a:r>
                        <a:rPr lang="en-US" sz="850" dirty="0">
                          <a:solidFill>
                            <a:srgbClr val="2C2C2C"/>
                          </a:solidFill>
                          <a:latin typeface="Calibri" pitchFamily="34" charset="0"/>
                          <a:ea typeface="Calibri" pitchFamily="34" charset="-122"/>
                          <a:cs typeface="Calibri" pitchFamily="34" charset="-120"/>
                        </a:rPr>
                        <a:t>1. Go to /login</a:t>
                      </a:r>
                      <a:endParaRPr lang="en-US" sz="850" dirty="0">
                        <a:latin typeface="Calibri" charset="0"/>
                        <a:ea typeface="Calibri" charset="0"/>
                        <a:cs typeface="Calibri" charset="0"/>
                      </a:endParaRPr>
                    </a:p>
                    <a:p>
                      <a:pPr marL="0" indent="0">
                        <a:buNone/>
                      </a:pPr>
                      <a:r>
                        <a:rPr lang="en-US" sz="850" dirty="0">
                          <a:solidFill>
                            <a:srgbClr val="2C2C2C"/>
                          </a:solidFill>
                          <a:latin typeface="Calibri" pitchFamily="34" charset="0"/>
                          <a:ea typeface="Calibri" pitchFamily="34" charset="-122"/>
                          <a:cs typeface="Calibri" pitchFamily="34" charset="-120"/>
                        </a:rPr>
                        <a:t>2. Enter email</a:t>
                      </a:r>
                      <a:endParaRPr lang="en-US" sz="850" dirty="0">
                        <a:latin typeface="Calibri" charset="0"/>
                        <a:ea typeface="Calibri" charset="0"/>
                        <a:cs typeface="Calibri" charset="0"/>
                      </a:endParaRPr>
                    </a:p>
                    <a:p>
                      <a:pPr marL="0" indent="0">
                        <a:buNone/>
                      </a:pPr>
                      <a:r>
                        <a:rPr lang="en-US" sz="850" dirty="0">
                          <a:solidFill>
                            <a:srgbClr val="2C2C2C"/>
                          </a:solidFill>
                          <a:latin typeface="Calibri" pitchFamily="34" charset="0"/>
                          <a:ea typeface="Calibri" pitchFamily="34" charset="-122"/>
                          <a:cs typeface="Calibri" pitchFamily="34" charset="-120"/>
                        </a:rPr>
                        <a:t>3. Enter wrong password</a:t>
                      </a:r>
                      <a:endParaRPr lang="en-US" sz="850" dirty="0">
                        <a:latin typeface="Calibri" charset="0"/>
                        <a:ea typeface="Calibri" charset="0"/>
                        <a:cs typeface="Calibri" charset="0"/>
                      </a:endParaRPr>
                    </a:p>
                    <a:p>
                      <a:pPr marL="0" indent="0">
                        <a:buNone/>
                      </a:pPr>
                      <a:r>
                        <a:rPr lang="en-US" sz="850" dirty="0">
                          <a:solidFill>
                            <a:srgbClr val="2C2C2C"/>
                          </a:solidFill>
                          <a:latin typeface="Calibri" pitchFamily="34" charset="0"/>
                          <a:ea typeface="Calibri" pitchFamily="34" charset="-122"/>
                          <a:cs typeface="Calibri" pitchFamily="34" charset="-120"/>
                        </a:rPr>
                        <a:t>4. Click Login</a:t>
                      </a:r>
                      <a:endParaRPr lang="en-US" sz="850" dirty="0">
                        <a:latin typeface="Calibri" charset="0"/>
                        <a:ea typeface="Calibri" charset="0"/>
                        <a:cs typeface="Calibri" charset="0"/>
                      </a:endParaRPr>
                    </a:p>
                  </a:txBody>
                  <a:tcPr marL="38100" marR="38100" marT="38100" marB="38100">
                    <a:lnL w="12700" cap="flat" cmpd="sng" algn="ctr">
                      <a:solidFill>
                        <a:srgbClr val="DEDEDE"/>
                      </a:solidFill>
                      <a:prstDash val="solid"/>
                      <a:round/>
                      <a:headEnd type="none" w="med" len="med"/>
                      <a:tailEnd type="none" w="med" len="med"/>
                    </a:lnL>
                    <a:lnR w="12700" cap="flat" cmpd="sng" algn="ctr">
                      <a:solidFill>
                        <a:srgbClr val="DEDEDE"/>
                      </a:solidFill>
                      <a:prstDash val="solid"/>
                      <a:round/>
                      <a:headEnd type="none" w="med" len="med"/>
                      <a:tailEnd type="none" w="med" len="med"/>
                    </a:lnR>
                    <a:lnT w="12700" cap="flat" cmpd="sng" algn="ctr">
                      <a:solidFill>
                        <a:srgbClr val="DEDEDE"/>
                      </a:solidFill>
                      <a:prstDash val="solid"/>
                      <a:round/>
                      <a:headEnd type="none" w="med" len="med"/>
                      <a:tailEnd type="none" w="med" len="med"/>
                    </a:lnT>
                    <a:lnB w="12700" cap="flat" cmpd="sng" algn="ctr">
                      <a:solidFill>
                        <a:srgbClr val="DEDEDE"/>
                      </a:solidFill>
                      <a:prstDash val="solid"/>
                      <a:round/>
                      <a:headEnd type="none" w="med" len="med"/>
                      <a:tailEnd type="none" w="med" len="med"/>
                    </a:lnB>
                    <a:solidFill>
                      <a:srgbClr val="FFFFFF"/>
                    </a:solidFill>
                  </a:tcPr>
                </a:tc>
                <a:tc>
                  <a:txBody>
                    <a:bodyPr/>
                    <a:lstStyle/>
                    <a:p>
                      <a:pPr marL="0" indent="0">
                        <a:buNone/>
                      </a:pPr>
                      <a:r>
                        <a:rPr lang="en-US" sz="850" dirty="0">
                          <a:solidFill>
                            <a:srgbClr val="2C2C2C"/>
                          </a:solidFill>
                          <a:latin typeface="Calibri" pitchFamily="34" charset="0"/>
                          <a:ea typeface="Calibri" pitchFamily="34" charset="-122"/>
                          <a:cs typeface="Calibri" pitchFamily="34" charset="-120"/>
                        </a:rPr>
                        <a:t>john@example.com</a:t>
                      </a:r>
                      <a:endParaRPr lang="en-US" sz="850" dirty="0">
                        <a:latin typeface="Calibri" charset="0"/>
                        <a:ea typeface="Calibri" charset="0"/>
                        <a:cs typeface="Calibri" charset="0"/>
                      </a:endParaRPr>
                    </a:p>
                    <a:p>
                      <a:pPr marL="0" indent="0">
                        <a:buNone/>
                      </a:pPr>
                      <a:r>
                        <a:rPr lang="en-US" sz="850" dirty="0">
                          <a:solidFill>
                            <a:srgbClr val="2C2C2C"/>
                          </a:solidFill>
                          <a:latin typeface="Calibri" pitchFamily="34" charset="0"/>
                          <a:ea typeface="Calibri" pitchFamily="34" charset="-122"/>
                          <a:cs typeface="Calibri" pitchFamily="34" charset="-120"/>
                        </a:rPr>
                        <a:t>WrongPass999</a:t>
                      </a:r>
                      <a:endParaRPr lang="en-US" sz="850" dirty="0">
                        <a:latin typeface="Calibri" charset="0"/>
                        <a:ea typeface="Calibri" charset="0"/>
                        <a:cs typeface="Calibri" charset="0"/>
                      </a:endParaRPr>
                    </a:p>
                  </a:txBody>
                  <a:tcPr marL="38100" marR="38100" marT="38100" marB="38100">
                    <a:lnL w="12700" cap="flat" cmpd="sng" algn="ctr">
                      <a:solidFill>
                        <a:srgbClr val="DEDEDE"/>
                      </a:solidFill>
                      <a:prstDash val="solid"/>
                      <a:round/>
                      <a:headEnd type="none" w="med" len="med"/>
                      <a:tailEnd type="none" w="med" len="med"/>
                    </a:lnL>
                    <a:lnR w="12700" cap="flat" cmpd="sng" algn="ctr">
                      <a:solidFill>
                        <a:srgbClr val="DEDEDE"/>
                      </a:solidFill>
                      <a:prstDash val="solid"/>
                      <a:round/>
                      <a:headEnd type="none" w="med" len="med"/>
                      <a:tailEnd type="none" w="med" len="med"/>
                    </a:lnR>
                    <a:lnT w="12700" cap="flat" cmpd="sng" algn="ctr">
                      <a:solidFill>
                        <a:srgbClr val="DEDEDE"/>
                      </a:solidFill>
                      <a:prstDash val="solid"/>
                      <a:round/>
                      <a:headEnd type="none" w="med" len="med"/>
                      <a:tailEnd type="none" w="med" len="med"/>
                    </a:lnT>
                    <a:lnB w="12700" cap="flat" cmpd="sng" algn="ctr">
                      <a:solidFill>
                        <a:srgbClr val="DEDEDE"/>
                      </a:solidFill>
                      <a:prstDash val="solid"/>
                      <a:round/>
                      <a:headEnd type="none" w="med" len="med"/>
                      <a:tailEnd type="none" w="med" len="med"/>
                    </a:lnB>
                    <a:solidFill>
                      <a:srgbClr val="FFFFFF"/>
                    </a:solidFill>
                  </a:tcPr>
                </a:tc>
                <a:tc>
                  <a:txBody>
                    <a:bodyPr/>
                    <a:lstStyle/>
                    <a:p>
                      <a:pPr marL="0" indent="0">
                        <a:buNone/>
                      </a:pPr>
                      <a:r>
                        <a:rPr lang="en-US" sz="850" dirty="0">
                          <a:solidFill>
                            <a:srgbClr val="2C2C2C"/>
                          </a:solidFill>
                          <a:latin typeface="Calibri" pitchFamily="34" charset="0"/>
                          <a:ea typeface="Calibri" pitchFamily="34" charset="-122"/>
                          <a:cs typeface="Calibri" pitchFamily="34" charset="-120"/>
                        </a:rPr>
                        <a:t>Error: 'Invalid email or password'. User stays on login page.</a:t>
                      </a:r>
                      <a:endParaRPr lang="en-US" sz="850" dirty="0">
                        <a:latin typeface="Calibri" charset="0"/>
                        <a:ea typeface="Calibri" charset="0"/>
                        <a:cs typeface="Calibri" charset="0"/>
                      </a:endParaRPr>
                    </a:p>
                  </a:txBody>
                  <a:tcPr marL="38100" marR="38100" marT="38100" marB="38100">
                    <a:lnL w="12700" cap="flat" cmpd="sng" algn="ctr">
                      <a:solidFill>
                        <a:srgbClr val="DEDEDE"/>
                      </a:solidFill>
                      <a:prstDash val="solid"/>
                      <a:round/>
                      <a:headEnd type="none" w="med" len="med"/>
                      <a:tailEnd type="none" w="med" len="med"/>
                    </a:lnL>
                    <a:lnR w="12700" cap="flat" cmpd="sng" algn="ctr">
                      <a:solidFill>
                        <a:srgbClr val="DEDEDE"/>
                      </a:solidFill>
                      <a:prstDash val="solid"/>
                      <a:round/>
                      <a:headEnd type="none" w="med" len="med"/>
                      <a:tailEnd type="none" w="med" len="med"/>
                    </a:lnR>
                    <a:lnT w="12700" cap="flat" cmpd="sng" algn="ctr">
                      <a:solidFill>
                        <a:srgbClr val="DEDEDE"/>
                      </a:solidFill>
                      <a:prstDash val="solid"/>
                      <a:round/>
                      <a:headEnd type="none" w="med" len="med"/>
                      <a:tailEnd type="none" w="med" len="med"/>
                    </a:lnT>
                    <a:lnB w="12700" cap="flat" cmpd="sng" algn="ctr">
                      <a:solidFill>
                        <a:srgbClr val="DEDEDE"/>
                      </a:solidFill>
                      <a:prstDash val="solid"/>
                      <a:round/>
                      <a:headEnd type="none" w="med" len="med"/>
                      <a:tailEnd type="none" w="med" len="med"/>
                    </a:lnB>
                    <a:solidFill>
                      <a:srgbClr val="FFFFFF"/>
                    </a:solidFill>
                  </a:tcPr>
                </a:tc>
                <a:tc>
                  <a:txBody>
                    <a:bodyPr/>
                    <a:lstStyle/>
                    <a:p>
                      <a:pPr marL="0" indent="0">
                        <a:buNone/>
                      </a:pPr>
                      <a:r>
                        <a:rPr lang="en-US" sz="850" b="1" dirty="0">
                          <a:solidFill>
                            <a:srgbClr val="27AE60"/>
                          </a:solidFill>
                          <a:latin typeface="Calibri" pitchFamily="34" charset="0"/>
                          <a:ea typeface="Calibri" pitchFamily="34" charset="-122"/>
                          <a:cs typeface="Calibri" pitchFamily="34" charset="-120"/>
                        </a:rPr>
                        <a:t>Pass</a:t>
                      </a:r>
                      <a:endParaRPr lang="en-US" sz="850" dirty="0">
                        <a:latin typeface="Calibri" charset="0"/>
                        <a:ea typeface="Calibri" charset="0"/>
                        <a:cs typeface="Calibri" charset="0"/>
                      </a:endParaRPr>
                    </a:p>
                  </a:txBody>
                  <a:tcPr marL="38100" marR="38100" marT="38100" marB="38100">
                    <a:lnL w="12700" cap="flat" cmpd="sng" algn="ctr">
                      <a:solidFill>
                        <a:srgbClr val="DEDEDE"/>
                      </a:solidFill>
                      <a:prstDash val="solid"/>
                      <a:round/>
                      <a:headEnd type="none" w="med" len="med"/>
                      <a:tailEnd type="none" w="med" len="med"/>
                    </a:lnL>
                    <a:lnR w="12700" cap="flat" cmpd="sng" algn="ctr">
                      <a:solidFill>
                        <a:srgbClr val="DEDEDE"/>
                      </a:solidFill>
                      <a:prstDash val="solid"/>
                      <a:round/>
                      <a:headEnd type="none" w="med" len="med"/>
                      <a:tailEnd type="none" w="med" len="med"/>
                    </a:lnR>
                    <a:lnT w="12700" cap="flat" cmpd="sng" algn="ctr">
                      <a:solidFill>
                        <a:srgbClr val="DEDEDE"/>
                      </a:solidFill>
                      <a:prstDash val="solid"/>
                      <a:round/>
                      <a:headEnd type="none" w="med" len="med"/>
                      <a:tailEnd type="none" w="med" len="med"/>
                    </a:lnT>
                    <a:lnB w="12700" cap="flat" cmpd="sng" algn="ctr">
                      <a:solidFill>
                        <a:srgbClr val="DEDEDE"/>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630936">
                <a:tc>
                  <a:txBody>
                    <a:bodyPr/>
                    <a:lstStyle/>
                    <a:p>
                      <a:pPr marL="0" indent="0">
                        <a:buNone/>
                      </a:pPr>
                      <a:r>
                        <a:rPr lang="en-US" sz="850" b="1" dirty="0">
                          <a:solidFill>
                            <a:srgbClr val="FF6500"/>
                          </a:solidFill>
                          <a:latin typeface="Calibri" pitchFamily="34" charset="0"/>
                          <a:ea typeface="Calibri" pitchFamily="34" charset="-122"/>
                          <a:cs typeface="Calibri" pitchFamily="34" charset="-120"/>
                        </a:rPr>
                        <a:t>TC_LOGIN_003</a:t>
                      </a:r>
                      <a:endParaRPr lang="en-US" sz="850" dirty="0">
                        <a:latin typeface="Calibri" charset="0"/>
                        <a:ea typeface="Calibri" charset="0"/>
                        <a:cs typeface="Calibri" charset="0"/>
                      </a:endParaRPr>
                    </a:p>
                  </a:txBody>
                  <a:tcPr marL="38100" marR="38100" marT="38100" marB="38100">
                    <a:lnL w="12700" cap="flat" cmpd="sng" algn="ctr">
                      <a:solidFill>
                        <a:srgbClr val="DEDEDE"/>
                      </a:solidFill>
                      <a:prstDash val="solid"/>
                      <a:round/>
                      <a:headEnd type="none" w="med" len="med"/>
                      <a:tailEnd type="none" w="med" len="med"/>
                    </a:lnL>
                    <a:lnR w="12700" cap="flat" cmpd="sng" algn="ctr">
                      <a:solidFill>
                        <a:srgbClr val="DEDEDE"/>
                      </a:solidFill>
                      <a:prstDash val="solid"/>
                      <a:round/>
                      <a:headEnd type="none" w="med" len="med"/>
                      <a:tailEnd type="none" w="med" len="med"/>
                    </a:lnR>
                    <a:lnT w="12700" cap="flat" cmpd="sng" algn="ctr">
                      <a:solidFill>
                        <a:srgbClr val="DEDEDE"/>
                      </a:solidFill>
                      <a:prstDash val="solid"/>
                      <a:round/>
                      <a:headEnd type="none" w="med" len="med"/>
                      <a:tailEnd type="none" w="med" len="med"/>
                    </a:lnT>
                    <a:lnB w="12700" cap="flat" cmpd="sng" algn="ctr">
                      <a:solidFill>
                        <a:srgbClr val="DEDEDE"/>
                      </a:solidFill>
                      <a:prstDash val="solid"/>
                      <a:round/>
                      <a:headEnd type="none" w="med" len="med"/>
                      <a:tailEnd type="none" w="med" len="med"/>
                    </a:lnB>
                    <a:solidFill>
                      <a:srgbClr val="F0F0F0"/>
                    </a:solidFill>
                  </a:tcPr>
                </a:tc>
                <a:tc>
                  <a:txBody>
                    <a:bodyPr/>
                    <a:lstStyle/>
                    <a:p>
                      <a:pPr marL="0" indent="0">
                        <a:buNone/>
                      </a:pPr>
                      <a:r>
                        <a:rPr lang="en-US" sz="850" dirty="0">
                          <a:solidFill>
                            <a:srgbClr val="2C2C2C"/>
                          </a:solidFill>
                          <a:latin typeface="Calibri" pitchFamily="34" charset="0"/>
                          <a:ea typeface="Calibri" pitchFamily="34" charset="-122"/>
                          <a:cs typeface="Calibri" pitchFamily="34" charset="-120"/>
                        </a:rPr>
                        <a:t>Empty Email</a:t>
                      </a:r>
                      <a:endParaRPr lang="en-US" sz="850" dirty="0">
                        <a:latin typeface="Calibri" charset="0"/>
                        <a:ea typeface="Calibri" charset="0"/>
                        <a:cs typeface="Calibri" charset="0"/>
                      </a:endParaRPr>
                    </a:p>
                  </a:txBody>
                  <a:tcPr marL="38100" marR="38100" marT="38100" marB="38100">
                    <a:lnL w="12700" cap="flat" cmpd="sng" algn="ctr">
                      <a:solidFill>
                        <a:srgbClr val="DEDEDE"/>
                      </a:solidFill>
                      <a:prstDash val="solid"/>
                      <a:round/>
                      <a:headEnd type="none" w="med" len="med"/>
                      <a:tailEnd type="none" w="med" len="med"/>
                    </a:lnL>
                    <a:lnR w="12700" cap="flat" cmpd="sng" algn="ctr">
                      <a:solidFill>
                        <a:srgbClr val="DEDEDE"/>
                      </a:solidFill>
                      <a:prstDash val="solid"/>
                      <a:round/>
                      <a:headEnd type="none" w="med" len="med"/>
                      <a:tailEnd type="none" w="med" len="med"/>
                    </a:lnR>
                    <a:lnT w="12700" cap="flat" cmpd="sng" algn="ctr">
                      <a:solidFill>
                        <a:srgbClr val="DEDEDE"/>
                      </a:solidFill>
                      <a:prstDash val="solid"/>
                      <a:round/>
                      <a:headEnd type="none" w="med" len="med"/>
                      <a:tailEnd type="none" w="med" len="med"/>
                    </a:lnT>
                    <a:lnB w="12700" cap="flat" cmpd="sng" algn="ctr">
                      <a:solidFill>
                        <a:srgbClr val="DEDEDE"/>
                      </a:solidFill>
                      <a:prstDash val="solid"/>
                      <a:round/>
                      <a:headEnd type="none" w="med" len="med"/>
                      <a:tailEnd type="none" w="med" len="med"/>
                    </a:lnB>
                    <a:solidFill>
                      <a:srgbClr val="F0F0F0"/>
                    </a:solidFill>
                  </a:tcPr>
                </a:tc>
                <a:tc>
                  <a:txBody>
                    <a:bodyPr/>
                    <a:lstStyle/>
                    <a:p>
                      <a:pPr marL="0" indent="0">
                        <a:buNone/>
                      </a:pPr>
                      <a:r>
                        <a:rPr lang="en-US" sz="850" dirty="0">
                          <a:solidFill>
                            <a:srgbClr val="2C2C2C"/>
                          </a:solidFill>
                          <a:latin typeface="Calibri" pitchFamily="34" charset="0"/>
                          <a:ea typeface="Calibri" pitchFamily="34" charset="-122"/>
                          <a:cs typeface="Calibri" pitchFamily="34" charset="-120"/>
                        </a:rPr>
                        <a:t>App running; user on login page</a:t>
                      </a:r>
                      <a:endParaRPr lang="en-US" sz="850" dirty="0">
                        <a:latin typeface="Calibri" charset="0"/>
                        <a:ea typeface="Calibri" charset="0"/>
                        <a:cs typeface="Calibri" charset="0"/>
                      </a:endParaRPr>
                    </a:p>
                  </a:txBody>
                  <a:tcPr marL="38100" marR="38100" marT="38100" marB="38100">
                    <a:lnL w="12700" cap="flat" cmpd="sng" algn="ctr">
                      <a:solidFill>
                        <a:srgbClr val="DEDEDE"/>
                      </a:solidFill>
                      <a:prstDash val="solid"/>
                      <a:round/>
                      <a:headEnd type="none" w="med" len="med"/>
                      <a:tailEnd type="none" w="med" len="med"/>
                    </a:lnL>
                    <a:lnR w="12700" cap="flat" cmpd="sng" algn="ctr">
                      <a:solidFill>
                        <a:srgbClr val="DEDEDE"/>
                      </a:solidFill>
                      <a:prstDash val="solid"/>
                      <a:round/>
                      <a:headEnd type="none" w="med" len="med"/>
                      <a:tailEnd type="none" w="med" len="med"/>
                    </a:lnR>
                    <a:lnT w="12700" cap="flat" cmpd="sng" algn="ctr">
                      <a:solidFill>
                        <a:srgbClr val="DEDEDE"/>
                      </a:solidFill>
                      <a:prstDash val="solid"/>
                      <a:round/>
                      <a:headEnd type="none" w="med" len="med"/>
                      <a:tailEnd type="none" w="med" len="med"/>
                    </a:lnT>
                    <a:lnB w="12700" cap="flat" cmpd="sng" algn="ctr">
                      <a:solidFill>
                        <a:srgbClr val="DEDEDE"/>
                      </a:solidFill>
                      <a:prstDash val="solid"/>
                      <a:round/>
                      <a:headEnd type="none" w="med" len="med"/>
                      <a:tailEnd type="none" w="med" len="med"/>
                    </a:lnB>
                    <a:solidFill>
                      <a:srgbClr val="F0F0F0"/>
                    </a:solidFill>
                  </a:tcPr>
                </a:tc>
                <a:tc>
                  <a:txBody>
                    <a:bodyPr/>
                    <a:lstStyle/>
                    <a:p>
                      <a:pPr marL="0" indent="0">
                        <a:buNone/>
                      </a:pPr>
                      <a:r>
                        <a:rPr lang="en-US" sz="850" dirty="0">
                          <a:solidFill>
                            <a:srgbClr val="2C2C2C"/>
                          </a:solidFill>
                          <a:latin typeface="Calibri" pitchFamily="34" charset="0"/>
                          <a:ea typeface="Calibri" pitchFamily="34" charset="-122"/>
                          <a:cs typeface="Calibri" pitchFamily="34" charset="-120"/>
                        </a:rPr>
                        <a:t>1. Go to /login</a:t>
                      </a:r>
                      <a:endParaRPr lang="en-US" sz="850" dirty="0">
                        <a:latin typeface="Calibri" charset="0"/>
                        <a:ea typeface="Calibri" charset="0"/>
                        <a:cs typeface="Calibri" charset="0"/>
                      </a:endParaRPr>
                    </a:p>
                    <a:p>
                      <a:pPr marL="0" indent="0">
                        <a:buNone/>
                      </a:pPr>
                      <a:r>
                        <a:rPr lang="en-US" sz="850" dirty="0">
                          <a:solidFill>
                            <a:srgbClr val="2C2C2C"/>
                          </a:solidFill>
                          <a:latin typeface="Calibri" pitchFamily="34" charset="0"/>
                          <a:ea typeface="Calibri" pitchFamily="34" charset="-122"/>
                          <a:cs typeface="Calibri" pitchFamily="34" charset="-120"/>
                        </a:rPr>
                        <a:t>2. Leave email blank</a:t>
                      </a:r>
                      <a:endParaRPr lang="en-US" sz="850" dirty="0">
                        <a:latin typeface="Calibri" charset="0"/>
                        <a:ea typeface="Calibri" charset="0"/>
                        <a:cs typeface="Calibri" charset="0"/>
                      </a:endParaRPr>
                    </a:p>
                    <a:p>
                      <a:pPr marL="0" indent="0">
                        <a:buNone/>
                      </a:pPr>
                      <a:r>
                        <a:rPr lang="en-US" sz="850" dirty="0">
                          <a:solidFill>
                            <a:srgbClr val="2C2C2C"/>
                          </a:solidFill>
                          <a:latin typeface="Calibri" pitchFamily="34" charset="0"/>
                          <a:ea typeface="Calibri" pitchFamily="34" charset="-122"/>
                          <a:cs typeface="Calibri" pitchFamily="34" charset="-120"/>
                        </a:rPr>
                        <a:t>3. Enter password</a:t>
                      </a:r>
                      <a:endParaRPr lang="en-US" sz="850" dirty="0">
                        <a:latin typeface="Calibri" charset="0"/>
                        <a:ea typeface="Calibri" charset="0"/>
                        <a:cs typeface="Calibri" charset="0"/>
                      </a:endParaRPr>
                    </a:p>
                    <a:p>
                      <a:pPr marL="0" indent="0">
                        <a:buNone/>
                      </a:pPr>
                      <a:r>
                        <a:rPr lang="en-US" sz="850" dirty="0">
                          <a:solidFill>
                            <a:srgbClr val="2C2C2C"/>
                          </a:solidFill>
                          <a:latin typeface="Calibri" pitchFamily="34" charset="0"/>
                          <a:ea typeface="Calibri" pitchFamily="34" charset="-122"/>
                          <a:cs typeface="Calibri" pitchFamily="34" charset="-120"/>
                        </a:rPr>
                        <a:t>4. Click Login</a:t>
                      </a:r>
                      <a:endParaRPr lang="en-US" sz="850" dirty="0">
                        <a:latin typeface="Calibri" charset="0"/>
                        <a:ea typeface="Calibri" charset="0"/>
                        <a:cs typeface="Calibri" charset="0"/>
                      </a:endParaRPr>
                    </a:p>
                  </a:txBody>
                  <a:tcPr marL="38100" marR="38100" marT="38100" marB="38100">
                    <a:lnL w="12700" cap="flat" cmpd="sng" algn="ctr">
                      <a:solidFill>
                        <a:srgbClr val="DEDEDE"/>
                      </a:solidFill>
                      <a:prstDash val="solid"/>
                      <a:round/>
                      <a:headEnd type="none" w="med" len="med"/>
                      <a:tailEnd type="none" w="med" len="med"/>
                    </a:lnL>
                    <a:lnR w="12700" cap="flat" cmpd="sng" algn="ctr">
                      <a:solidFill>
                        <a:srgbClr val="DEDEDE"/>
                      </a:solidFill>
                      <a:prstDash val="solid"/>
                      <a:round/>
                      <a:headEnd type="none" w="med" len="med"/>
                      <a:tailEnd type="none" w="med" len="med"/>
                    </a:lnR>
                    <a:lnT w="12700" cap="flat" cmpd="sng" algn="ctr">
                      <a:solidFill>
                        <a:srgbClr val="DEDEDE"/>
                      </a:solidFill>
                      <a:prstDash val="solid"/>
                      <a:round/>
                      <a:headEnd type="none" w="med" len="med"/>
                      <a:tailEnd type="none" w="med" len="med"/>
                    </a:lnT>
                    <a:lnB w="12700" cap="flat" cmpd="sng" algn="ctr">
                      <a:solidFill>
                        <a:srgbClr val="DEDEDE"/>
                      </a:solidFill>
                      <a:prstDash val="solid"/>
                      <a:round/>
                      <a:headEnd type="none" w="med" len="med"/>
                      <a:tailEnd type="none" w="med" len="med"/>
                    </a:lnB>
                    <a:solidFill>
                      <a:srgbClr val="F0F0F0"/>
                    </a:solidFill>
                  </a:tcPr>
                </a:tc>
                <a:tc>
                  <a:txBody>
                    <a:bodyPr/>
                    <a:lstStyle/>
                    <a:p>
                      <a:pPr marL="0" indent="0">
                        <a:buNone/>
                      </a:pPr>
                      <a:r>
                        <a:rPr lang="en-US" sz="850" dirty="0">
                          <a:solidFill>
                            <a:srgbClr val="2C2C2C"/>
                          </a:solidFill>
                          <a:latin typeface="Calibri" pitchFamily="34" charset="0"/>
                          <a:ea typeface="Calibri" pitchFamily="34" charset="-122"/>
                          <a:cs typeface="Calibri" pitchFamily="34" charset="-120"/>
                        </a:rPr>
                        <a:t>Email: (blank)</a:t>
                      </a:r>
                      <a:endParaRPr lang="en-US" sz="850" dirty="0">
                        <a:latin typeface="Calibri" charset="0"/>
                        <a:ea typeface="Calibri" charset="0"/>
                        <a:cs typeface="Calibri" charset="0"/>
                      </a:endParaRPr>
                    </a:p>
                    <a:p>
                      <a:pPr marL="0" indent="0">
                        <a:buNone/>
                      </a:pPr>
                      <a:r>
                        <a:rPr lang="en-US" sz="850" dirty="0">
                          <a:solidFill>
                            <a:srgbClr val="2C2C2C"/>
                          </a:solidFill>
                          <a:latin typeface="Calibri" pitchFamily="34" charset="0"/>
                          <a:ea typeface="Calibri" pitchFamily="34" charset="-122"/>
                          <a:cs typeface="Calibri" pitchFamily="34" charset="-120"/>
                        </a:rPr>
                        <a:t>SecurePass@123</a:t>
                      </a:r>
                      <a:endParaRPr lang="en-US" sz="850" dirty="0">
                        <a:latin typeface="Calibri" charset="0"/>
                        <a:ea typeface="Calibri" charset="0"/>
                        <a:cs typeface="Calibri" charset="0"/>
                      </a:endParaRPr>
                    </a:p>
                  </a:txBody>
                  <a:tcPr marL="38100" marR="38100" marT="38100" marB="38100">
                    <a:lnL w="12700" cap="flat" cmpd="sng" algn="ctr">
                      <a:solidFill>
                        <a:srgbClr val="DEDEDE"/>
                      </a:solidFill>
                      <a:prstDash val="solid"/>
                      <a:round/>
                      <a:headEnd type="none" w="med" len="med"/>
                      <a:tailEnd type="none" w="med" len="med"/>
                    </a:lnL>
                    <a:lnR w="12700" cap="flat" cmpd="sng" algn="ctr">
                      <a:solidFill>
                        <a:srgbClr val="DEDEDE"/>
                      </a:solidFill>
                      <a:prstDash val="solid"/>
                      <a:round/>
                      <a:headEnd type="none" w="med" len="med"/>
                      <a:tailEnd type="none" w="med" len="med"/>
                    </a:lnR>
                    <a:lnT w="12700" cap="flat" cmpd="sng" algn="ctr">
                      <a:solidFill>
                        <a:srgbClr val="DEDEDE"/>
                      </a:solidFill>
                      <a:prstDash val="solid"/>
                      <a:round/>
                      <a:headEnd type="none" w="med" len="med"/>
                      <a:tailEnd type="none" w="med" len="med"/>
                    </a:lnT>
                    <a:lnB w="12700" cap="flat" cmpd="sng" algn="ctr">
                      <a:solidFill>
                        <a:srgbClr val="DEDEDE"/>
                      </a:solidFill>
                      <a:prstDash val="solid"/>
                      <a:round/>
                      <a:headEnd type="none" w="med" len="med"/>
                      <a:tailEnd type="none" w="med" len="med"/>
                    </a:lnB>
                    <a:solidFill>
                      <a:srgbClr val="F0F0F0"/>
                    </a:solidFill>
                  </a:tcPr>
                </a:tc>
                <a:tc>
                  <a:txBody>
                    <a:bodyPr/>
                    <a:lstStyle/>
                    <a:p>
                      <a:pPr marL="0" indent="0">
                        <a:buNone/>
                      </a:pPr>
                      <a:r>
                        <a:rPr lang="en-US" sz="850" dirty="0">
                          <a:solidFill>
                            <a:srgbClr val="2C2C2C"/>
                          </a:solidFill>
                          <a:latin typeface="Calibri" pitchFamily="34" charset="0"/>
                          <a:ea typeface="Calibri" pitchFamily="34" charset="-122"/>
                          <a:cs typeface="Calibri" pitchFamily="34" charset="-120"/>
                        </a:rPr>
                        <a:t>Validation error: 'Email is required'. Login disabled.</a:t>
                      </a:r>
                      <a:endParaRPr lang="en-US" sz="850" dirty="0">
                        <a:latin typeface="Calibri" charset="0"/>
                        <a:ea typeface="Calibri" charset="0"/>
                        <a:cs typeface="Calibri" charset="0"/>
                      </a:endParaRPr>
                    </a:p>
                  </a:txBody>
                  <a:tcPr marL="38100" marR="38100" marT="38100" marB="38100">
                    <a:lnL w="12700" cap="flat" cmpd="sng" algn="ctr">
                      <a:solidFill>
                        <a:srgbClr val="DEDEDE"/>
                      </a:solidFill>
                      <a:prstDash val="solid"/>
                      <a:round/>
                      <a:headEnd type="none" w="med" len="med"/>
                      <a:tailEnd type="none" w="med" len="med"/>
                    </a:lnL>
                    <a:lnR w="12700" cap="flat" cmpd="sng" algn="ctr">
                      <a:solidFill>
                        <a:srgbClr val="DEDEDE"/>
                      </a:solidFill>
                      <a:prstDash val="solid"/>
                      <a:round/>
                      <a:headEnd type="none" w="med" len="med"/>
                      <a:tailEnd type="none" w="med" len="med"/>
                    </a:lnR>
                    <a:lnT w="12700" cap="flat" cmpd="sng" algn="ctr">
                      <a:solidFill>
                        <a:srgbClr val="DEDEDE"/>
                      </a:solidFill>
                      <a:prstDash val="solid"/>
                      <a:round/>
                      <a:headEnd type="none" w="med" len="med"/>
                      <a:tailEnd type="none" w="med" len="med"/>
                    </a:lnT>
                    <a:lnB w="12700" cap="flat" cmpd="sng" algn="ctr">
                      <a:solidFill>
                        <a:srgbClr val="DEDEDE"/>
                      </a:solidFill>
                      <a:prstDash val="solid"/>
                      <a:round/>
                      <a:headEnd type="none" w="med" len="med"/>
                      <a:tailEnd type="none" w="med" len="med"/>
                    </a:lnB>
                    <a:solidFill>
                      <a:srgbClr val="F0F0F0"/>
                    </a:solidFill>
                  </a:tcPr>
                </a:tc>
                <a:tc>
                  <a:txBody>
                    <a:bodyPr/>
                    <a:lstStyle/>
                    <a:p>
                      <a:pPr marL="0" indent="0">
                        <a:buNone/>
                      </a:pPr>
                      <a:r>
                        <a:rPr lang="en-US" sz="850" b="1" dirty="0">
                          <a:solidFill>
                            <a:srgbClr val="27AE60"/>
                          </a:solidFill>
                          <a:latin typeface="Calibri" pitchFamily="34" charset="0"/>
                          <a:ea typeface="Calibri" pitchFamily="34" charset="-122"/>
                          <a:cs typeface="Calibri" pitchFamily="34" charset="-120"/>
                        </a:rPr>
                        <a:t>Pass</a:t>
                      </a:r>
                      <a:endParaRPr lang="en-US" sz="850" dirty="0">
                        <a:latin typeface="Calibri" charset="0"/>
                        <a:ea typeface="Calibri" charset="0"/>
                        <a:cs typeface="Calibri" charset="0"/>
                      </a:endParaRPr>
                    </a:p>
                  </a:txBody>
                  <a:tcPr marL="38100" marR="38100" marT="38100" marB="38100">
                    <a:lnL w="12700" cap="flat" cmpd="sng" algn="ctr">
                      <a:solidFill>
                        <a:srgbClr val="DEDEDE"/>
                      </a:solidFill>
                      <a:prstDash val="solid"/>
                      <a:round/>
                      <a:headEnd type="none" w="med" len="med"/>
                      <a:tailEnd type="none" w="med" len="med"/>
                    </a:lnL>
                    <a:lnR w="12700" cap="flat" cmpd="sng" algn="ctr">
                      <a:solidFill>
                        <a:srgbClr val="DEDEDE"/>
                      </a:solidFill>
                      <a:prstDash val="solid"/>
                      <a:round/>
                      <a:headEnd type="none" w="med" len="med"/>
                      <a:tailEnd type="none" w="med" len="med"/>
                    </a:lnR>
                    <a:lnT w="12700" cap="flat" cmpd="sng" algn="ctr">
                      <a:solidFill>
                        <a:srgbClr val="DEDEDE"/>
                      </a:solidFill>
                      <a:prstDash val="solid"/>
                      <a:round/>
                      <a:headEnd type="none" w="med" len="med"/>
                      <a:tailEnd type="none" w="med" len="med"/>
                    </a:lnT>
                    <a:lnB w="12700" cap="flat" cmpd="sng" algn="ctr">
                      <a:solidFill>
                        <a:srgbClr val="DEDEDE"/>
                      </a:solidFill>
                      <a:prstDash val="solid"/>
                      <a:round/>
                      <a:headEnd type="none" w="med" len="med"/>
                      <a:tailEnd type="none" w="med" len="med"/>
                    </a:lnB>
                    <a:solidFill>
                      <a:srgbClr val="F0F0F0"/>
                    </a:solidFill>
                  </a:tcPr>
                </a:tc>
                <a:extLst>
                  <a:ext uri="{0D108BD9-81ED-4DB2-BD59-A6C34878D82A}">
                    <a16:rowId xmlns:a16="http://schemas.microsoft.com/office/drawing/2014/main" val="10003"/>
                  </a:ext>
                </a:extLst>
              </a:tr>
              <a:tr h="630936">
                <a:tc>
                  <a:txBody>
                    <a:bodyPr/>
                    <a:lstStyle/>
                    <a:p>
                      <a:pPr marL="0" indent="0">
                        <a:buNone/>
                      </a:pPr>
                      <a:r>
                        <a:rPr lang="en-US" sz="850" b="1" dirty="0">
                          <a:solidFill>
                            <a:srgbClr val="FF6500"/>
                          </a:solidFill>
                          <a:latin typeface="Calibri" pitchFamily="34" charset="0"/>
                          <a:ea typeface="Calibri" pitchFamily="34" charset="-122"/>
                          <a:cs typeface="Calibri" pitchFamily="34" charset="-120"/>
                        </a:rPr>
                        <a:t>TC_LOGIN_004</a:t>
                      </a:r>
                      <a:endParaRPr lang="en-US" sz="850" dirty="0">
                        <a:latin typeface="Calibri" charset="0"/>
                        <a:ea typeface="Calibri" charset="0"/>
                        <a:cs typeface="Calibri" charset="0"/>
                      </a:endParaRPr>
                    </a:p>
                  </a:txBody>
                  <a:tcPr marL="38100" marR="38100" marT="38100" marB="38100">
                    <a:lnL w="12700" cap="flat" cmpd="sng" algn="ctr">
                      <a:solidFill>
                        <a:srgbClr val="DEDEDE"/>
                      </a:solidFill>
                      <a:prstDash val="solid"/>
                      <a:round/>
                      <a:headEnd type="none" w="med" len="med"/>
                      <a:tailEnd type="none" w="med" len="med"/>
                    </a:lnL>
                    <a:lnR w="12700" cap="flat" cmpd="sng" algn="ctr">
                      <a:solidFill>
                        <a:srgbClr val="DEDEDE"/>
                      </a:solidFill>
                      <a:prstDash val="solid"/>
                      <a:round/>
                      <a:headEnd type="none" w="med" len="med"/>
                      <a:tailEnd type="none" w="med" len="med"/>
                    </a:lnR>
                    <a:lnT w="12700" cap="flat" cmpd="sng" algn="ctr">
                      <a:solidFill>
                        <a:srgbClr val="DEDEDE"/>
                      </a:solidFill>
                      <a:prstDash val="solid"/>
                      <a:round/>
                      <a:headEnd type="none" w="med" len="med"/>
                      <a:tailEnd type="none" w="med" len="med"/>
                    </a:lnT>
                    <a:lnB w="12700" cap="flat" cmpd="sng" algn="ctr">
                      <a:solidFill>
                        <a:srgbClr val="DEDEDE"/>
                      </a:solidFill>
                      <a:prstDash val="solid"/>
                      <a:round/>
                      <a:headEnd type="none" w="med" len="med"/>
                      <a:tailEnd type="none" w="med" len="med"/>
                    </a:lnB>
                    <a:solidFill>
                      <a:srgbClr val="FFFFFF"/>
                    </a:solidFill>
                  </a:tcPr>
                </a:tc>
                <a:tc>
                  <a:txBody>
                    <a:bodyPr/>
                    <a:lstStyle/>
                    <a:p>
                      <a:pPr marL="0" indent="0">
                        <a:buNone/>
                      </a:pPr>
                      <a:r>
                        <a:rPr lang="en-US" sz="850" dirty="0">
                          <a:solidFill>
                            <a:srgbClr val="2C2C2C"/>
                          </a:solidFill>
                          <a:latin typeface="Calibri" pitchFamily="34" charset="0"/>
                          <a:ea typeface="Calibri" pitchFamily="34" charset="-122"/>
                          <a:cs typeface="Calibri" pitchFamily="34" charset="-120"/>
                        </a:rPr>
                        <a:t>Account Lockout</a:t>
                      </a:r>
                      <a:endParaRPr lang="en-US" sz="850" dirty="0">
                        <a:latin typeface="Calibri" charset="0"/>
                        <a:ea typeface="Calibri" charset="0"/>
                        <a:cs typeface="Calibri" charset="0"/>
                      </a:endParaRPr>
                    </a:p>
                  </a:txBody>
                  <a:tcPr marL="38100" marR="38100" marT="38100" marB="38100">
                    <a:lnL w="12700" cap="flat" cmpd="sng" algn="ctr">
                      <a:solidFill>
                        <a:srgbClr val="DEDEDE"/>
                      </a:solidFill>
                      <a:prstDash val="solid"/>
                      <a:round/>
                      <a:headEnd type="none" w="med" len="med"/>
                      <a:tailEnd type="none" w="med" len="med"/>
                    </a:lnL>
                    <a:lnR w="12700" cap="flat" cmpd="sng" algn="ctr">
                      <a:solidFill>
                        <a:srgbClr val="DEDEDE"/>
                      </a:solidFill>
                      <a:prstDash val="solid"/>
                      <a:round/>
                      <a:headEnd type="none" w="med" len="med"/>
                      <a:tailEnd type="none" w="med" len="med"/>
                    </a:lnR>
                    <a:lnT w="12700" cap="flat" cmpd="sng" algn="ctr">
                      <a:solidFill>
                        <a:srgbClr val="DEDEDE"/>
                      </a:solidFill>
                      <a:prstDash val="solid"/>
                      <a:round/>
                      <a:headEnd type="none" w="med" len="med"/>
                      <a:tailEnd type="none" w="med" len="med"/>
                    </a:lnT>
                    <a:lnB w="12700" cap="flat" cmpd="sng" algn="ctr">
                      <a:solidFill>
                        <a:srgbClr val="DEDEDE"/>
                      </a:solidFill>
                      <a:prstDash val="solid"/>
                      <a:round/>
                      <a:headEnd type="none" w="med" len="med"/>
                      <a:tailEnd type="none" w="med" len="med"/>
                    </a:lnB>
                    <a:solidFill>
                      <a:srgbClr val="FFFFFF"/>
                    </a:solidFill>
                  </a:tcPr>
                </a:tc>
                <a:tc>
                  <a:txBody>
                    <a:bodyPr/>
                    <a:lstStyle/>
                    <a:p>
                      <a:pPr marL="0" indent="0">
                        <a:buNone/>
                      </a:pPr>
                      <a:r>
                        <a:rPr lang="en-US" sz="850" dirty="0">
                          <a:solidFill>
                            <a:srgbClr val="2C2C2C"/>
                          </a:solidFill>
                          <a:latin typeface="Calibri" pitchFamily="34" charset="0"/>
                          <a:ea typeface="Calibri" pitchFamily="34" charset="-122"/>
                          <a:cs typeface="Calibri" pitchFamily="34" charset="-120"/>
                        </a:rPr>
                        <a:t>Account exists; 0 failed attempts</a:t>
                      </a:r>
                      <a:endParaRPr lang="en-US" sz="850" dirty="0">
                        <a:latin typeface="Calibri" charset="0"/>
                        <a:ea typeface="Calibri" charset="0"/>
                        <a:cs typeface="Calibri" charset="0"/>
                      </a:endParaRPr>
                    </a:p>
                  </a:txBody>
                  <a:tcPr marL="38100" marR="38100" marT="38100" marB="38100">
                    <a:lnL w="12700" cap="flat" cmpd="sng" algn="ctr">
                      <a:solidFill>
                        <a:srgbClr val="DEDEDE"/>
                      </a:solidFill>
                      <a:prstDash val="solid"/>
                      <a:round/>
                      <a:headEnd type="none" w="med" len="med"/>
                      <a:tailEnd type="none" w="med" len="med"/>
                    </a:lnL>
                    <a:lnR w="12700" cap="flat" cmpd="sng" algn="ctr">
                      <a:solidFill>
                        <a:srgbClr val="DEDEDE"/>
                      </a:solidFill>
                      <a:prstDash val="solid"/>
                      <a:round/>
                      <a:headEnd type="none" w="med" len="med"/>
                      <a:tailEnd type="none" w="med" len="med"/>
                    </a:lnR>
                    <a:lnT w="12700" cap="flat" cmpd="sng" algn="ctr">
                      <a:solidFill>
                        <a:srgbClr val="DEDEDE"/>
                      </a:solidFill>
                      <a:prstDash val="solid"/>
                      <a:round/>
                      <a:headEnd type="none" w="med" len="med"/>
                      <a:tailEnd type="none" w="med" len="med"/>
                    </a:lnT>
                    <a:lnB w="12700" cap="flat" cmpd="sng" algn="ctr">
                      <a:solidFill>
                        <a:srgbClr val="DEDEDE"/>
                      </a:solidFill>
                      <a:prstDash val="solid"/>
                      <a:round/>
                      <a:headEnd type="none" w="med" len="med"/>
                      <a:tailEnd type="none" w="med" len="med"/>
                    </a:lnB>
                    <a:solidFill>
                      <a:srgbClr val="FFFFFF"/>
                    </a:solidFill>
                  </a:tcPr>
                </a:tc>
                <a:tc>
                  <a:txBody>
                    <a:bodyPr/>
                    <a:lstStyle/>
                    <a:p>
                      <a:pPr marL="0" indent="0">
                        <a:buNone/>
                      </a:pPr>
                      <a:r>
                        <a:rPr lang="en-US" sz="850" dirty="0">
                          <a:solidFill>
                            <a:srgbClr val="2C2C2C"/>
                          </a:solidFill>
                          <a:latin typeface="Calibri" pitchFamily="34" charset="0"/>
                          <a:ea typeface="Calibri" pitchFamily="34" charset="-122"/>
                          <a:cs typeface="Calibri" pitchFamily="34" charset="-120"/>
                        </a:rPr>
                        <a:t>1. Enter wrong password</a:t>
                      </a:r>
                      <a:endParaRPr lang="en-US" sz="850" dirty="0">
                        <a:latin typeface="Calibri" charset="0"/>
                        <a:ea typeface="Calibri" charset="0"/>
                        <a:cs typeface="Calibri" charset="0"/>
                      </a:endParaRPr>
                    </a:p>
                    <a:p>
                      <a:pPr marL="0" indent="0">
                        <a:buNone/>
                      </a:pPr>
                      <a:r>
                        <a:rPr lang="en-US" sz="850" dirty="0">
                          <a:solidFill>
                            <a:srgbClr val="2C2C2C"/>
                          </a:solidFill>
                          <a:latin typeface="Calibri" pitchFamily="34" charset="0"/>
                          <a:ea typeface="Calibri" pitchFamily="34" charset="-122"/>
                          <a:cs typeface="Calibri" pitchFamily="34" charset="-120"/>
                        </a:rPr>
                        <a:t>2. Repeat 2 more times</a:t>
                      </a:r>
                      <a:endParaRPr lang="en-US" sz="850" dirty="0">
                        <a:latin typeface="Calibri" charset="0"/>
                        <a:ea typeface="Calibri" charset="0"/>
                        <a:cs typeface="Calibri" charset="0"/>
                      </a:endParaRPr>
                    </a:p>
                    <a:p>
                      <a:pPr marL="0" indent="0">
                        <a:buNone/>
                      </a:pPr>
                      <a:r>
                        <a:rPr lang="en-US" sz="850" dirty="0">
                          <a:solidFill>
                            <a:srgbClr val="2C2C2C"/>
                          </a:solidFill>
                          <a:latin typeface="Calibri" pitchFamily="34" charset="0"/>
                          <a:ea typeface="Calibri" pitchFamily="34" charset="-122"/>
                          <a:cs typeface="Calibri" pitchFamily="34" charset="-120"/>
                        </a:rPr>
                        <a:t>3. Attempt 4th login</a:t>
                      </a:r>
                      <a:endParaRPr lang="en-US" sz="850" dirty="0">
                        <a:latin typeface="Calibri" charset="0"/>
                        <a:ea typeface="Calibri" charset="0"/>
                        <a:cs typeface="Calibri" charset="0"/>
                      </a:endParaRPr>
                    </a:p>
                  </a:txBody>
                  <a:tcPr marL="38100" marR="38100" marT="38100" marB="38100">
                    <a:lnL w="12700" cap="flat" cmpd="sng" algn="ctr">
                      <a:solidFill>
                        <a:srgbClr val="DEDEDE"/>
                      </a:solidFill>
                      <a:prstDash val="solid"/>
                      <a:round/>
                      <a:headEnd type="none" w="med" len="med"/>
                      <a:tailEnd type="none" w="med" len="med"/>
                    </a:lnL>
                    <a:lnR w="12700" cap="flat" cmpd="sng" algn="ctr">
                      <a:solidFill>
                        <a:srgbClr val="DEDEDE"/>
                      </a:solidFill>
                      <a:prstDash val="solid"/>
                      <a:round/>
                      <a:headEnd type="none" w="med" len="med"/>
                      <a:tailEnd type="none" w="med" len="med"/>
                    </a:lnR>
                    <a:lnT w="12700" cap="flat" cmpd="sng" algn="ctr">
                      <a:solidFill>
                        <a:srgbClr val="DEDEDE"/>
                      </a:solidFill>
                      <a:prstDash val="solid"/>
                      <a:round/>
                      <a:headEnd type="none" w="med" len="med"/>
                      <a:tailEnd type="none" w="med" len="med"/>
                    </a:lnT>
                    <a:lnB w="12700" cap="flat" cmpd="sng" algn="ctr">
                      <a:solidFill>
                        <a:srgbClr val="DEDEDE"/>
                      </a:solidFill>
                      <a:prstDash val="solid"/>
                      <a:round/>
                      <a:headEnd type="none" w="med" len="med"/>
                      <a:tailEnd type="none" w="med" len="med"/>
                    </a:lnB>
                    <a:solidFill>
                      <a:srgbClr val="FFFFFF"/>
                    </a:solidFill>
                  </a:tcPr>
                </a:tc>
                <a:tc>
                  <a:txBody>
                    <a:bodyPr/>
                    <a:lstStyle/>
                    <a:p>
                      <a:pPr marL="0" indent="0">
                        <a:buNone/>
                      </a:pPr>
                      <a:r>
                        <a:rPr lang="en-US" sz="850" dirty="0">
                          <a:solidFill>
                            <a:srgbClr val="2C2C2C"/>
                          </a:solidFill>
                          <a:latin typeface="Calibri" pitchFamily="34" charset="0"/>
                          <a:ea typeface="Calibri" pitchFamily="34" charset="-122"/>
                          <a:cs typeface="Calibri" pitchFamily="34" charset="-120"/>
                        </a:rPr>
                        <a:t>Incorrect password used 3 times</a:t>
                      </a:r>
                      <a:endParaRPr lang="en-US" sz="850" dirty="0">
                        <a:latin typeface="Calibri" charset="0"/>
                        <a:ea typeface="Calibri" charset="0"/>
                        <a:cs typeface="Calibri" charset="0"/>
                      </a:endParaRPr>
                    </a:p>
                  </a:txBody>
                  <a:tcPr marL="38100" marR="38100" marT="38100" marB="38100">
                    <a:lnL w="12700" cap="flat" cmpd="sng" algn="ctr">
                      <a:solidFill>
                        <a:srgbClr val="DEDEDE"/>
                      </a:solidFill>
                      <a:prstDash val="solid"/>
                      <a:round/>
                      <a:headEnd type="none" w="med" len="med"/>
                      <a:tailEnd type="none" w="med" len="med"/>
                    </a:lnL>
                    <a:lnR w="12700" cap="flat" cmpd="sng" algn="ctr">
                      <a:solidFill>
                        <a:srgbClr val="DEDEDE"/>
                      </a:solidFill>
                      <a:prstDash val="solid"/>
                      <a:round/>
                      <a:headEnd type="none" w="med" len="med"/>
                      <a:tailEnd type="none" w="med" len="med"/>
                    </a:lnR>
                    <a:lnT w="12700" cap="flat" cmpd="sng" algn="ctr">
                      <a:solidFill>
                        <a:srgbClr val="DEDEDE"/>
                      </a:solidFill>
                      <a:prstDash val="solid"/>
                      <a:round/>
                      <a:headEnd type="none" w="med" len="med"/>
                      <a:tailEnd type="none" w="med" len="med"/>
                    </a:lnT>
                    <a:lnB w="12700" cap="flat" cmpd="sng" algn="ctr">
                      <a:solidFill>
                        <a:srgbClr val="DEDEDE"/>
                      </a:solidFill>
                      <a:prstDash val="solid"/>
                      <a:round/>
                      <a:headEnd type="none" w="med" len="med"/>
                      <a:tailEnd type="none" w="med" len="med"/>
                    </a:lnB>
                    <a:solidFill>
                      <a:srgbClr val="FFFFFF"/>
                    </a:solidFill>
                  </a:tcPr>
                </a:tc>
                <a:tc>
                  <a:txBody>
                    <a:bodyPr/>
                    <a:lstStyle/>
                    <a:p>
                      <a:pPr marL="0" indent="0">
                        <a:buNone/>
                      </a:pPr>
                      <a:r>
                        <a:rPr lang="en-US" sz="850" dirty="0">
                          <a:solidFill>
                            <a:srgbClr val="2C2C2C"/>
                          </a:solidFill>
                          <a:latin typeface="Calibri" pitchFamily="34" charset="0"/>
                          <a:ea typeface="Calibri" pitchFamily="34" charset="-122"/>
                          <a:cs typeface="Calibri" pitchFamily="34" charset="-120"/>
                        </a:rPr>
                        <a:t>Account locked after 3rd attempt. Message: 'Account locked. Contact support.'</a:t>
                      </a:r>
                      <a:endParaRPr lang="en-US" sz="850" dirty="0">
                        <a:latin typeface="Calibri" charset="0"/>
                        <a:ea typeface="Calibri" charset="0"/>
                        <a:cs typeface="Calibri" charset="0"/>
                      </a:endParaRPr>
                    </a:p>
                  </a:txBody>
                  <a:tcPr marL="38100" marR="38100" marT="38100" marB="38100">
                    <a:lnL w="12700" cap="flat" cmpd="sng" algn="ctr">
                      <a:solidFill>
                        <a:srgbClr val="DEDEDE"/>
                      </a:solidFill>
                      <a:prstDash val="solid"/>
                      <a:round/>
                      <a:headEnd type="none" w="med" len="med"/>
                      <a:tailEnd type="none" w="med" len="med"/>
                    </a:lnL>
                    <a:lnR w="12700" cap="flat" cmpd="sng" algn="ctr">
                      <a:solidFill>
                        <a:srgbClr val="DEDEDE"/>
                      </a:solidFill>
                      <a:prstDash val="solid"/>
                      <a:round/>
                      <a:headEnd type="none" w="med" len="med"/>
                      <a:tailEnd type="none" w="med" len="med"/>
                    </a:lnR>
                    <a:lnT w="12700" cap="flat" cmpd="sng" algn="ctr">
                      <a:solidFill>
                        <a:srgbClr val="DEDEDE"/>
                      </a:solidFill>
                      <a:prstDash val="solid"/>
                      <a:round/>
                      <a:headEnd type="none" w="med" len="med"/>
                      <a:tailEnd type="none" w="med" len="med"/>
                    </a:lnT>
                    <a:lnB w="12700" cap="flat" cmpd="sng" algn="ctr">
                      <a:solidFill>
                        <a:srgbClr val="DEDEDE"/>
                      </a:solidFill>
                      <a:prstDash val="solid"/>
                      <a:round/>
                      <a:headEnd type="none" w="med" len="med"/>
                      <a:tailEnd type="none" w="med" len="med"/>
                    </a:lnB>
                    <a:solidFill>
                      <a:srgbClr val="FFFFFF"/>
                    </a:solidFill>
                  </a:tcPr>
                </a:tc>
                <a:tc>
                  <a:txBody>
                    <a:bodyPr/>
                    <a:lstStyle/>
                    <a:p>
                      <a:pPr marL="0" indent="0">
                        <a:buNone/>
                      </a:pPr>
                      <a:r>
                        <a:rPr lang="en-US" sz="850" b="1" dirty="0">
                          <a:solidFill>
                            <a:srgbClr val="27AE60"/>
                          </a:solidFill>
                          <a:latin typeface="Calibri" pitchFamily="34" charset="0"/>
                          <a:ea typeface="Calibri" pitchFamily="34" charset="-122"/>
                          <a:cs typeface="Calibri" pitchFamily="34" charset="-120"/>
                        </a:rPr>
                        <a:t>Pass</a:t>
                      </a:r>
                      <a:endParaRPr lang="en-US" sz="850" dirty="0">
                        <a:latin typeface="Calibri" charset="0"/>
                        <a:ea typeface="Calibri" charset="0"/>
                        <a:cs typeface="Calibri" charset="0"/>
                      </a:endParaRPr>
                    </a:p>
                  </a:txBody>
                  <a:tcPr marL="38100" marR="38100" marT="38100" marB="38100">
                    <a:lnL w="12700" cap="flat" cmpd="sng" algn="ctr">
                      <a:solidFill>
                        <a:srgbClr val="DEDEDE"/>
                      </a:solidFill>
                      <a:prstDash val="solid"/>
                      <a:round/>
                      <a:headEnd type="none" w="med" len="med"/>
                      <a:tailEnd type="none" w="med" len="med"/>
                    </a:lnL>
                    <a:lnR w="12700" cap="flat" cmpd="sng" algn="ctr">
                      <a:solidFill>
                        <a:srgbClr val="DEDEDE"/>
                      </a:solidFill>
                      <a:prstDash val="solid"/>
                      <a:round/>
                      <a:headEnd type="none" w="med" len="med"/>
                      <a:tailEnd type="none" w="med" len="med"/>
                    </a:lnR>
                    <a:lnT w="12700" cap="flat" cmpd="sng" algn="ctr">
                      <a:solidFill>
                        <a:srgbClr val="DEDEDE"/>
                      </a:solidFill>
                      <a:prstDash val="solid"/>
                      <a:round/>
                      <a:headEnd type="none" w="med" len="med"/>
                      <a:tailEnd type="none" w="med" len="med"/>
                    </a:lnT>
                    <a:lnB w="12700" cap="flat" cmpd="sng" algn="ctr">
                      <a:solidFill>
                        <a:srgbClr val="DEDEDE"/>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630936">
                <a:tc>
                  <a:txBody>
                    <a:bodyPr/>
                    <a:lstStyle/>
                    <a:p>
                      <a:pPr marL="0" indent="0">
                        <a:buNone/>
                      </a:pPr>
                      <a:r>
                        <a:rPr lang="en-US" sz="850" b="1" dirty="0">
                          <a:solidFill>
                            <a:srgbClr val="FF6500"/>
                          </a:solidFill>
                          <a:latin typeface="Calibri" pitchFamily="34" charset="0"/>
                          <a:ea typeface="Calibri" pitchFamily="34" charset="-122"/>
                          <a:cs typeface="Calibri" pitchFamily="34" charset="-120"/>
                        </a:rPr>
                        <a:t>TC_LOGIN_005</a:t>
                      </a:r>
                      <a:endParaRPr lang="en-US" sz="850" dirty="0">
                        <a:latin typeface="Calibri" charset="0"/>
                        <a:ea typeface="Calibri" charset="0"/>
                        <a:cs typeface="Calibri" charset="0"/>
                      </a:endParaRPr>
                    </a:p>
                  </a:txBody>
                  <a:tcPr marL="38100" marR="38100" marT="38100" marB="38100">
                    <a:lnL w="12700" cap="flat" cmpd="sng" algn="ctr">
                      <a:solidFill>
                        <a:srgbClr val="DEDEDE"/>
                      </a:solidFill>
                      <a:prstDash val="solid"/>
                      <a:round/>
                      <a:headEnd type="none" w="med" len="med"/>
                      <a:tailEnd type="none" w="med" len="med"/>
                    </a:lnL>
                    <a:lnR w="12700" cap="flat" cmpd="sng" algn="ctr">
                      <a:solidFill>
                        <a:srgbClr val="DEDEDE"/>
                      </a:solidFill>
                      <a:prstDash val="solid"/>
                      <a:round/>
                      <a:headEnd type="none" w="med" len="med"/>
                      <a:tailEnd type="none" w="med" len="med"/>
                    </a:lnR>
                    <a:lnT w="12700" cap="flat" cmpd="sng" algn="ctr">
                      <a:solidFill>
                        <a:srgbClr val="DEDEDE"/>
                      </a:solidFill>
                      <a:prstDash val="solid"/>
                      <a:round/>
                      <a:headEnd type="none" w="med" len="med"/>
                      <a:tailEnd type="none" w="med" len="med"/>
                    </a:lnT>
                    <a:lnB w="12700" cap="flat" cmpd="sng" algn="ctr">
                      <a:solidFill>
                        <a:srgbClr val="DEDEDE"/>
                      </a:solidFill>
                      <a:prstDash val="solid"/>
                      <a:round/>
                      <a:headEnd type="none" w="med" len="med"/>
                      <a:tailEnd type="none" w="med" len="med"/>
                    </a:lnB>
                    <a:solidFill>
                      <a:srgbClr val="F0F0F0"/>
                    </a:solidFill>
                  </a:tcPr>
                </a:tc>
                <a:tc>
                  <a:txBody>
                    <a:bodyPr/>
                    <a:lstStyle/>
                    <a:p>
                      <a:pPr marL="0" indent="0">
                        <a:buNone/>
                      </a:pPr>
                      <a:r>
                        <a:rPr lang="en-US" sz="850" dirty="0">
                          <a:solidFill>
                            <a:srgbClr val="2C2C2C"/>
                          </a:solidFill>
                          <a:latin typeface="Calibri" pitchFamily="34" charset="0"/>
                          <a:ea typeface="Calibri" pitchFamily="34" charset="-122"/>
                          <a:cs typeface="Calibri" pitchFamily="34" charset="-120"/>
                        </a:rPr>
                        <a:t>SQL Injection</a:t>
                      </a:r>
                      <a:endParaRPr lang="en-US" sz="850" dirty="0">
                        <a:latin typeface="Calibri" charset="0"/>
                        <a:ea typeface="Calibri" charset="0"/>
                        <a:cs typeface="Calibri" charset="0"/>
                      </a:endParaRPr>
                    </a:p>
                  </a:txBody>
                  <a:tcPr marL="38100" marR="38100" marT="38100" marB="38100">
                    <a:lnL w="12700" cap="flat" cmpd="sng" algn="ctr">
                      <a:solidFill>
                        <a:srgbClr val="DEDEDE"/>
                      </a:solidFill>
                      <a:prstDash val="solid"/>
                      <a:round/>
                      <a:headEnd type="none" w="med" len="med"/>
                      <a:tailEnd type="none" w="med" len="med"/>
                    </a:lnL>
                    <a:lnR w="12700" cap="flat" cmpd="sng" algn="ctr">
                      <a:solidFill>
                        <a:srgbClr val="DEDEDE"/>
                      </a:solidFill>
                      <a:prstDash val="solid"/>
                      <a:round/>
                      <a:headEnd type="none" w="med" len="med"/>
                      <a:tailEnd type="none" w="med" len="med"/>
                    </a:lnR>
                    <a:lnT w="12700" cap="flat" cmpd="sng" algn="ctr">
                      <a:solidFill>
                        <a:srgbClr val="DEDEDE"/>
                      </a:solidFill>
                      <a:prstDash val="solid"/>
                      <a:round/>
                      <a:headEnd type="none" w="med" len="med"/>
                      <a:tailEnd type="none" w="med" len="med"/>
                    </a:lnT>
                    <a:lnB w="12700" cap="flat" cmpd="sng" algn="ctr">
                      <a:solidFill>
                        <a:srgbClr val="DEDEDE"/>
                      </a:solidFill>
                      <a:prstDash val="solid"/>
                      <a:round/>
                      <a:headEnd type="none" w="med" len="med"/>
                      <a:tailEnd type="none" w="med" len="med"/>
                    </a:lnB>
                    <a:solidFill>
                      <a:srgbClr val="F0F0F0"/>
                    </a:solidFill>
                  </a:tcPr>
                </a:tc>
                <a:tc>
                  <a:txBody>
                    <a:bodyPr/>
                    <a:lstStyle/>
                    <a:p>
                      <a:pPr marL="0" indent="0">
                        <a:buNone/>
                      </a:pPr>
                      <a:r>
                        <a:rPr lang="en-US" sz="850" dirty="0">
                          <a:solidFill>
                            <a:srgbClr val="2C2C2C"/>
                          </a:solidFill>
                          <a:latin typeface="Calibri" pitchFamily="34" charset="0"/>
                          <a:ea typeface="Calibri" pitchFamily="34" charset="-122"/>
                          <a:cs typeface="Calibri" pitchFamily="34" charset="-120"/>
                        </a:rPr>
                        <a:t>App running; user on login page</a:t>
                      </a:r>
                      <a:endParaRPr lang="en-US" sz="850" dirty="0">
                        <a:latin typeface="Calibri" charset="0"/>
                        <a:ea typeface="Calibri" charset="0"/>
                        <a:cs typeface="Calibri" charset="0"/>
                      </a:endParaRPr>
                    </a:p>
                  </a:txBody>
                  <a:tcPr marL="38100" marR="38100" marT="38100" marB="38100">
                    <a:lnL w="12700" cap="flat" cmpd="sng" algn="ctr">
                      <a:solidFill>
                        <a:srgbClr val="DEDEDE"/>
                      </a:solidFill>
                      <a:prstDash val="solid"/>
                      <a:round/>
                      <a:headEnd type="none" w="med" len="med"/>
                      <a:tailEnd type="none" w="med" len="med"/>
                    </a:lnL>
                    <a:lnR w="12700" cap="flat" cmpd="sng" algn="ctr">
                      <a:solidFill>
                        <a:srgbClr val="DEDEDE"/>
                      </a:solidFill>
                      <a:prstDash val="solid"/>
                      <a:round/>
                      <a:headEnd type="none" w="med" len="med"/>
                      <a:tailEnd type="none" w="med" len="med"/>
                    </a:lnR>
                    <a:lnT w="12700" cap="flat" cmpd="sng" algn="ctr">
                      <a:solidFill>
                        <a:srgbClr val="DEDEDE"/>
                      </a:solidFill>
                      <a:prstDash val="solid"/>
                      <a:round/>
                      <a:headEnd type="none" w="med" len="med"/>
                      <a:tailEnd type="none" w="med" len="med"/>
                    </a:lnT>
                    <a:lnB w="12700" cap="flat" cmpd="sng" algn="ctr">
                      <a:solidFill>
                        <a:srgbClr val="DEDEDE"/>
                      </a:solidFill>
                      <a:prstDash val="solid"/>
                      <a:round/>
                      <a:headEnd type="none" w="med" len="med"/>
                      <a:tailEnd type="none" w="med" len="med"/>
                    </a:lnB>
                    <a:solidFill>
                      <a:srgbClr val="F0F0F0"/>
                    </a:solidFill>
                  </a:tcPr>
                </a:tc>
                <a:tc>
                  <a:txBody>
                    <a:bodyPr/>
                    <a:lstStyle/>
                    <a:p>
                      <a:pPr marL="0" indent="0">
                        <a:buNone/>
                      </a:pPr>
                      <a:r>
                        <a:rPr lang="en-US" sz="850" dirty="0">
                          <a:solidFill>
                            <a:srgbClr val="2C2C2C"/>
                          </a:solidFill>
                          <a:latin typeface="Calibri" pitchFamily="34" charset="0"/>
                          <a:ea typeface="Calibri" pitchFamily="34" charset="-122"/>
                          <a:cs typeface="Calibri" pitchFamily="34" charset="-120"/>
                        </a:rPr>
                        <a:t>1. Enter SQL payload in email</a:t>
                      </a:r>
                      <a:endParaRPr lang="en-US" sz="850" dirty="0">
                        <a:latin typeface="Calibri" charset="0"/>
                        <a:ea typeface="Calibri" charset="0"/>
                        <a:cs typeface="Calibri" charset="0"/>
                      </a:endParaRPr>
                    </a:p>
                    <a:p>
                      <a:pPr marL="0" indent="0">
                        <a:buNone/>
                      </a:pPr>
                      <a:r>
                        <a:rPr lang="en-US" sz="850" dirty="0">
                          <a:solidFill>
                            <a:srgbClr val="2C2C2C"/>
                          </a:solidFill>
                          <a:latin typeface="Calibri" pitchFamily="34" charset="0"/>
                          <a:ea typeface="Calibri" pitchFamily="34" charset="-122"/>
                          <a:cs typeface="Calibri" pitchFamily="34" charset="-120"/>
                        </a:rPr>
                        <a:t>2. Enter any password</a:t>
                      </a:r>
                      <a:endParaRPr lang="en-US" sz="850" dirty="0">
                        <a:latin typeface="Calibri" charset="0"/>
                        <a:ea typeface="Calibri" charset="0"/>
                        <a:cs typeface="Calibri" charset="0"/>
                      </a:endParaRPr>
                    </a:p>
                    <a:p>
                      <a:pPr marL="0" indent="0">
                        <a:buNone/>
                      </a:pPr>
                      <a:r>
                        <a:rPr lang="en-US" sz="850" dirty="0">
                          <a:solidFill>
                            <a:srgbClr val="2C2C2C"/>
                          </a:solidFill>
                          <a:latin typeface="Calibri" pitchFamily="34" charset="0"/>
                          <a:ea typeface="Calibri" pitchFamily="34" charset="-122"/>
                          <a:cs typeface="Calibri" pitchFamily="34" charset="-120"/>
                        </a:rPr>
                        <a:t>3. Click Login</a:t>
                      </a:r>
                      <a:endParaRPr lang="en-US" sz="850" dirty="0">
                        <a:latin typeface="Calibri" charset="0"/>
                        <a:ea typeface="Calibri" charset="0"/>
                        <a:cs typeface="Calibri" charset="0"/>
                      </a:endParaRPr>
                    </a:p>
                  </a:txBody>
                  <a:tcPr marL="38100" marR="38100" marT="38100" marB="38100">
                    <a:lnL w="12700" cap="flat" cmpd="sng" algn="ctr">
                      <a:solidFill>
                        <a:srgbClr val="DEDEDE"/>
                      </a:solidFill>
                      <a:prstDash val="solid"/>
                      <a:round/>
                      <a:headEnd type="none" w="med" len="med"/>
                      <a:tailEnd type="none" w="med" len="med"/>
                    </a:lnL>
                    <a:lnR w="12700" cap="flat" cmpd="sng" algn="ctr">
                      <a:solidFill>
                        <a:srgbClr val="DEDEDE"/>
                      </a:solidFill>
                      <a:prstDash val="solid"/>
                      <a:round/>
                      <a:headEnd type="none" w="med" len="med"/>
                      <a:tailEnd type="none" w="med" len="med"/>
                    </a:lnR>
                    <a:lnT w="12700" cap="flat" cmpd="sng" algn="ctr">
                      <a:solidFill>
                        <a:srgbClr val="DEDEDE"/>
                      </a:solidFill>
                      <a:prstDash val="solid"/>
                      <a:round/>
                      <a:headEnd type="none" w="med" len="med"/>
                      <a:tailEnd type="none" w="med" len="med"/>
                    </a:lnT>
                    <a:lnB w="12700" cap="flat" cmpd="sng" algn="ctr">
                      <a:solidFill>
                        <a:srgbClr val="DEDEDE"/>
                      </a:solidFill>
                      <a:prstDash val="solid"/>
                      <a:round/>
                      <a:headEnd type="none" w="med" len="med"/>
                      <a:tailEnd type="none" w="med" len="med"/>
                    </a:lnB>
                    <a:solidFill>
                      <a:srgbClr val="F0F0F0"/>
                    </a:solidFill>
                  </a:tcPr>
                </a:tc>
                <a:tc>
                  <a:txBody>
                    <a:bodyPr/>
                    <a:lstStyle/>
                    <a:p>
                      <a:pPr marL="0" indent="0">
                        <a:buNone/>
                      </a:pPr>
                      <a:r>
                        <a:rPr lang="en-US" sz="850" dirty="0">
                          <a:solidFill>
                            <a:srgbClr val="2C2C2C"/>
                          </a:solidFill>
                          <a:latin typeface="Calibri" pitchFamily="34" charset="0"/>
                          <a:ea typeface="Calibri" pitchFamily="34" charset="-122"/>
                          <a:cs typeface="Calibri" pitchFamily="34" charset="-120"/>
                        </a:rPr>
                        <a:t>Email: admin'--</a:t>
                      </a:r>
                      <a:endParaRPr lang="en-US" sz="850" dirty="0">
                        <a:latin typeface="Calibri" charset="0"/>
                        <a:ea typeface="Calibri" charset="0"/>
                        <a:cs typeface="Calibri" charset="0"/>
                      </a:endParaRPr>
                    </a:p>
                    <a:p>
                      <a:pPr marL="0" indent="0">
                        <a:buNone/>
                      </a:pPr>
                      <a:r>
                        <a:rPr lang="en-US" sz="850" dirty="0">
                          <a:solidFill>
                            <a:srgbClr val="2C2C2C"/>
                          </a:solidFill>
                          <a:latin typeface="Calibri" pitchFamily="34" charset="0"/>
                          <a:ea typeface="Calibri" pitchFamily="34" charset="-122"/>
                          <a:cs typeface="Calibri" pitchFamily="34" charset="-120"/>
                        </a:rPr>
                        <a:t>Pass: anything</a:t>
                      </a:r>
                      <a:endParaRPr lang="en-US" sz="850" dirty="0">
                        <a:latin typeface="Calibri" charset="0"/>
                        <a:ea typeface="Calibri" charset="0"/>
                        <a:cs typeface="Calibri" charset="0"/>
                      </a:endParaRPr>
                    </a:p>
                  </a:txBody>
                  <a:tcPr marL="38100" marR="38100" marT="38100" marB="38100">
                    <a:lnL w="12700" cap="flat" cmpd="sng" algn="ctr">
                      <a:solidFill>
                        <a:srgbClr val="DEDEDE"/>
                      </a:solidFill>
                      <a:prstDash val="solid"/>
                      <a:round/>
                      <a:headEnd type="none" w="med" len="med"/>
                      <a:tailEnd type="none" w="med" len="med"/>
                    </a:lnL>
                    <a:lnR w="12700" cap="flat" cmpd="sng" algn="ctr">
                      <a:solidFill>
                        <a:srgbClr val="DEDEDE"/>
                      </a:solidFill>
                      <a:prstDash val="solid"/>
                      <a:round/>
                      <a:headEnd type="none" w="med" len="med"/>
                      <a:tailEnd type="none" w="med" len="med"/>
                    </a:lnR>
                    <a:lnT w="12700" cap="flat" cmpd="sng" algn="ctr">
                      <a:solidFill>
                        <a:srgbClr val="DEDEDE"/>
                      </a:solidFill>
                      <a:prstDash val="solid"/>
                      <a:round/>
                      <a:headEnd type="none" w="med" len="med"/>
                      <a:tailEnd type="none" w="med" len="med"/>
                    </a:lnT>
                    <a:lnB w="12700" cap="flat" cmpd="sng" algn="ctr">
                      <a:solidFill>
                        <a:srgbClr val="DEDEDE"/>
                      </a:solidFill>
                      <a:prstDash val="solid"/>
                      <a:round/>
                      <a:headEnd type="none" w="med" len="med"/>
                      <a:tailEnd type="none" w="med" len="med"/>
                    </a:lnB>
                    <a:solidFill>
                      <a:srgbClr val="F0F0F0"/>
                    </a:solidFill>
                  </a:tcPr>
                </a:tc>
                <a:tc>
                  <a:txBody>
                    <a:bodyPr/>
                    <a:lstStyle/>
                    <a:p>
                      <a:pPr marL="0" indent="0">
                        <a:buNone/>
                      </a:pPr>
                      <a:r>
                        <a:rPr lang="en-US" sz="850" dirty="0">
                          <a:solidFill>
                            <a:srgbClr val="2C2C2C"/>
                          </a:solidFill>
                          <a:latin typeface="Calibri" pitchFamily="34" charset="0"/>
                          <a:ea typeface="Calibri" pitchFamily="34" charset="-122"/>
                          <a:cs typeface="Calibri" pitchFamily="34" charset="-120"/>
                        </a:rPr>
                        <a:t>Login rejected. No DB error exposed. Generic error shown.</a:t>
                      </a:r>
                      <a:endParaRPr lang="en-US" sz="850" dirty="0">
                        <a:latin typeface="Calibri" charset="0"/>
                        <a:ea typeface="Calibri" charset="0"/>
                        <a:cs typeface="Calibri" charset="0"/>
                      </a:endParaRPr>
                    </a:p>
                  </a:txBody>
                  <a:tcPr marL="38100" marR="38100" marT="38100" marB="38100">
                    <a:lnL w="12700" cap="flat" cmpd="sng" algn="ctr">
                      <a:solidFill>
                        <a:srgbClr val="DEDEDE"/>
                      </a:solidFill>
                      <a:prstDash val="solid"/>
                      <a:round/>
                      <a:headEnd type="none" w="med" len="med"/>
                      <a:tailEnd type="none" w="med" len="med"/>
                    </a:lnL>
                    <a:lnR w="12700" cap="flat" cmpd="sng" algn="ctr">
                      <a:solidFill>
                        <a:srgbClr val="DEDEDE"/>
                      </a:solidFill>
                      <a:prstDash val="solid"/>
                      <a:round/>
                      <a:headEnd type="none" w="med" len="med"/>
                      <a:tailEnd type="none" w="med" len="med"/>
                    </a:lnR>
                    <a:lnT w="12700" cap="flat" cmpd="sng" algn="ctr">
                      <a:solidFill>
                        <a:srgbClr val="DEDEDE"/>
                      </a:solidFill>
                      <a:prstDash val="solid"/>
                      <a:round/>
                      <a:headEnd type="none" w="med" len="med"/>
                      <a:tailEnd type="none" w="med" len="med"/>
                    </a:lnT>
                    <a:lnB w="12700" cap="flat" cmpd="sng" algn="ctr">
                      <a:solidFill>
                        <a:srgbClr val="DEDEDE"/>
                      </a:solidFill>
                      <a:prstDash val="solid"/>
                      <a:round/>
                      <a:headEnd type="none" w="med" len="med"/>
                      <a:tailEnd type="none" w="med" len="med"/>
                    </a:lnB>
                    <a:solidFill>
                      <a:srgbClr val="F0F0F0"/>
                    </a:solidFill>
                  </a:tcPr>
                </a:tc>
                <a:tc>
                  <a:txBody>
                    <a:bodyPr/>
                    <a:lstStyle/>
                    <a:p>
                      <a:pPr marL="0" indent="0">
                        <a:buNone/>
                      </a:pPr>
                      <a:r>
                        <a:rPr lang="en-US" sz="850" b="1" dirty="0">
                          <a:solidFill>
                            <a:srgbClr val="27AE60"/>
                          </a:solidFill>
                          <a:latin typeface="Calibri" pitchFamily="34" charset="0"/>
                          <a:ea typeface="Calibri" pitchFamily="34" charset="-122"/>
                          <a:cs typeface="Calibri" pitchFamily="34" charset="-120"/>
                        </a:rPr>
                        <a:t>Pass</a:t>
                      </a:r>
                      <a:endParaRPr lang="en-US" sz="850" dirty="0">
                        <a:latin typeface="Calibri" charset="0"/>
                        <a:ea typeface="Calibri" charset="0"/>
                        <a:cs typeface="Calibri" charset="0"/>
                      </a:endParaRPr>
                    </a:p>
                  </a:txBody>
                  <a:tcPr marL="38100" marR="38100" marT="38100" marB="38100">
                    <a:lnL w="12700" cap="flat" cmpd="sng" algn="ctr">
                      <a:solidFill>
                        <a:srgbClr val="DEDEDE"/>
                      </a:solidFill>
                      <a:prstDash val="solid"/>
                      <a:round/>
                      <a:headEnd type="none" w="med" len="med"/>
                      <a:tailEnd type="none" w="med" len="med"/>
                    </a:lnL>
                    <a:lnR w="12700" cap="flat" cmpd="sng" algn="ctr">
                      <a:solidFill>
                        <a:srgbClr val="DEDEDE"/>
                      </a:solidFill>
                      <a:prstDash val="solid"/>
                      <a:round/>
                      <a:headEnd type="none" w="med" len="med"/>
                      <a:tailEnd type="none" w="med" len="med"/>
                    </a:lnR>
                    <a:lnT w="12700" cap="flat" cmpd="sng" algn="ctr">
                      <a:solidFill>
                        <a:srgbClr val="DEDEDE"/>
                      </a:solidFill>
                      <a:prstDash val="solid"/>
                      <a:round/>
                      <a:headEnd type="none" w="med" len="med"/>
                      <a:tailEnd type="none" w="med" len="med"/>
                    </a:lnT>
                    <a:lnB w="12700" cap="flat" cmpd="sng" algn="ctr">
                      <a:solidFill>
                        <a:srgbClr val="DEDEDE"/>
                      </a:solidFill>
                      <a:prstDash val="solid"/>
                      <a:round/>
                      <a:headEnd type="none" w="med" len="med"/>
                      <a:tailEnd type="none" w="med" len="med"/>
                    </a:lnB>
                    <a:solidFill>
                      <a:srgbClr val="F0F0F0"/>
                    </a:solidFill>
                  </a:tcPr>
                </a:tc>
                <a:extLst>
                  <a:ext uri="{0D108BD9-81ED-4DB2-BD59-A6C34878D82A}">
                    <a16:rowId xmlns:a16="http://schemas.microsoft.com/office/drawing/2014/main" val="10005"/>
                  </a:ext>
                </a:extLst>
              </a:tr>
              <a:tr h="630936">
                <a:tc>
                  <a:txBody>
                    <a:bodyPr/>
                    <a:lstStyle/>
                    <a:p>
                      <a:pPr marL="0" indent="0">
                        <a:buNone/>
                      </a:pPr>
                      <a:r>
                        <a:rPr lang="en-US" sz="850" b="1" dirty="0">
                          <a:solidFill>
                            <a:srgbClr val="FF6500"/>
                          </a:solidFill>
                          <a:latin typeface="Calibri" pitchFamily="34" charset="0"/>
                          <a:ea typeface="Calibri" pitchFamily="34" charset="-122"/>
                          <a:cs typeface="Calibri" pitchFamily="34" charset="-120"/>
                        </a:rPr>
                        <a:t>TC_LOGIN_006</a:t>
                      </a:r>
                      <a:endParaRPr lang="en-US" sz="850" dirty="0">
                        <a:latin typeface="Calibri" charset="0"/>
                        <a:ea typeface="Calibri" charset="0"/>
                        <a:cs typeface="Calibri" charset="0"/>
                      </a:endParaRPr>
                    </a:p>
                  </a:txBody>
                  <a:tcPr marL="38100" marR="38100" marT="38100" marB="38100">
                    <a:lnL w="12700" cap="flat" cmpd="sng" algn="ctr">
                      <a:solidFill>
                        <a:srgbClr val="DEDEDE"/>
                      </a:solidFill>
                      <a:prstDash val="solid"/>
                      <a:round/>
                      <a:headEnd type="none" w="med" len="med"/>
                      <a:tailEnd type="none" w="med" len="med"/>
                    </a:lnL>
                    <a:lnR w="12700" cap="flat" cmpd="sng" algn="ctr">
                      <a:solidFill>
                        <a:srgbClr val="DEDEDE"/>
                      </a:solidFill>
                      <a:prstDash val="solid"/>
                      <a:round/>
                      <a:headEnd type="none" w="med" len="med"/>
                      <a:tailEnd type="none" w="med" len="med"/>
                    </a:lnR>
                    <a:lnT w="12700" cap="flat" cmpd="sng" algn="ctr">
                      <a:solidFill>
                        <a:srgbClr val="DEDEDE"/>
                      </a:solidFill>
                      <a:prstDash val="solid"/>
                      <a:round/>
                      <a:headEnd type="none" w="med" len="med"/>
                      <a:tailEnd type="none" w="med" len="med"/>
                    </a:lnT>
                    <a:lnB w="12700" cap="flat" cmpd="sng" algn="ctr">
                      <a:solidFill>
                        <a:srgbClr val="DEDEDE"/>
                      </a:solidFill>
                      <a:prstDash val="solid"/>
                      <a:round/>
                      <a:headEnd type="none" w="med" len="med"/>
                      <a:tailEnd type="none" w="med" len="med"/>
                    </a:lnB>
                    <a:solidFill>
                      <a:srgbClr val="FFFFFF"/>
                    </a:solidFill>
                  </a:tcPr>
                </a:tc>
                <a:tc>
                  <a:txBody>
                    <a:bodyPr/>
                    <a:lstStyle/>
                    <a:p>
                      <a:pPr marL="0" indent="0">
                        <a:buNone/>
                      </a:pPr>
                      <a:r>
                        <a:rPr lang="en-US" sz="850" dirty="0">
                          <a:solidFill>
                            <a:srgbClr val="2C2C2C"/>
                          </a:solidFill>
                          <a:latin typeface="Calibri" pitchFamily="34" charset="0"/>
                          <a:ea typeface="Calibri" pitchFamily="34" charset="-122"/>
                          <a:cs typeface="Calibri" pitchFamily="34" charset="-120"/>
                        </a:rPr>
                        <a:t>Password Reset</a:t>
                      </a:r>
                      <a:endParaRPr lang="en-US" sz="850" dirty="0">
                        <a:latin typeface="Calibri" charset="0"/>
                        <a:ea typeface="Calibri" charset="0"/>
                        <a:cs typeface="Calibri" charset="0"/>
                      </a:endParaRPr>
                    </a:p>
                  </a:txBody>
                  <a:tcPr marL="38100" marR="38100" marT="38100" marB="38100">
                    <a:lnL w="12700" cap="flat" cmpd="sng" algn="ctr">
                      <a:solidFill>
                        <a:srgbClr val="DEDEDE"/>
                      </a:solidFill>
                      <a:prstDash val="solid"/>
                      <a:round/>
                      <a:headEnd type="none" w="med" len="med"/>
                      <a:tailEnd type="none" w="med" len="med"/>
                    </a:lnL>
                    <a:lnR w="12700" cap="flat" cmpd="sng" algn="ctr">
                      <a:solidFill>
                        <a:srgbClr val="DEDEDE"/>
                      </a:solidFill>
                      <a:prstDash val="solid"/>
                      <a:round/>
                      <a:headEnd type="none" w="med" len="med"/>
                      <a:tailEnd type="none" w="med" len="med"/>
                    </a:lnR>
                    <a:lnT w="12700" cap="flat" cmpd="sng" algn="ctr">
                      <a:solidFill>
                        <a:srgbClr val="DEDEDE"/>
                      </a:solidFill>
                      <a:prstDash val="solid"/>
                      <a:round/>
                      <a:headEnd type="none" w="med" len="med"/>
                      <a:tailEnd type="none" w="med" len="med"/>
                    </a:lnT>
                    <a:lnB w="12700" cap="flat" cmpd="sng" algn="ctr">
                      <a:solidFill>
                        <a:srgbClr val="DEDEDE"/>
                      </a:solidFill>
                      <a:prstDash val="solid"/>
                      <a:round/>
                      <a:headEnd type="none" w="med" len="med"/>
                      <a:tailEnd type="none" w="med" len="med"/>
                    </a:lnB>
                    <a:solidFill>
                      <a:srgbClr val="FFFFFF"/>
                    </a:solidFill>
                  </a:tcPr>
                </a:tc>
                <a:tc>
                  <a:txBody>
                    <a:bodyPr/>
                    <a:lstStyle/>
                    <a:p>
                      <a:pPr marL="0" indent="0">
                        <a:buNone/>
                      </a:pPr>
                      <a:r>
                        <a:rPr lang="en-US" sz="850" dirty="0">
                          <a:solidFill>
                            <a:srgbClr val="2C2C2C"/>
                          </a:solidFill>
                          <a:latin typeface="Calibri" pitchFamily="34" charset="0"/>
                          <a:ea typeface="Calibri" pitchFamily="34" charset="-122"/>
                          <a:cs typeface="Calibri" pitchFamily="34" charset="-120"/>
                        </a:rPr>
                        <a:t>Account exists; user on login page</a:t>
                      </a:r>
                      <a:endParaRPr lang="en-US" sz="850" dirty="0">
                        <a:latin typeface="Calibri" charset="0"/>
                        <a:ea typeface="Calibri" charset="0"/>
                        <a:cs typeface="Calibri" charset="0"/>
                      </a:endParaRPr>
                    </a:p>
                  </a:txBody>
                  <a:tcPr marL="38100" marR="38100" marT="38100" marB="38100">
                    <a:lnL w="12700" cap="flat" cmpd="sng" algn="ctr">
                      <a:solidFill>
                        <a:srgbClr val="DEDEDE"/>
                      </a:solidFill>
                      <a:prstDash val="solid"/>
                      <a:round/>
                      <a:headEnd type="none" w="med" len="med"/>
                      <a:tailEnd type="none" w="med" len="med"/>
                    </a:lnL>
                    <a:lnR w="12700" cap="flat" cmpd="sng" algn="ctr">
                      <a:solidFill>
                        <a:srgbClr val="DEDEDE"/>
                      </a:solidFill>
                      <a:prstDash val="solid"/>
                      <a:round/>
                      <a:headEnd type="none" w="med" len="med"/>
                      <a:tailEnd type="none" w="med" len="med"/>
                    </a:lnR>
                    <a:lnT w="12700" cap="flat" cmpd="sng" algn="ctr">
                      <a:solidFill>
                        <a:srgbClr val="DEDEDE"/>
                      </a:solidFill>
                      <a:prstDash val="solid"/>
                      <a:round/>
                      <a:headEnd type="none" w="med" len="med"/>
                      <a:tailEnd type="none" w="med" len="med"/>
                    </a:lnT>
                    <a:lnB w="12700" cap="flat" cmpd="sng" algn="ctr">
                      <a:solidFill>
                        <a:srgbClr val="DEDEDE"/>
                      </a:solidFill>
                      <a:prstDash val="solid"/>
                      <a:round/>
                      <a:headEnd type="none" w="med" len="med"/>
                      <a:tailEnd type="none" w="med" len="med"/>
                    </a:lnB>
                    <a:solidFill>
                      <a:srgbClr val="FFFFFF"/>
                    </a:solidFill>
                  </a:tcPr>
                </a:tc>
                <a:tc>
                  <a:txBody>
                    <a:bodyPr/>
                    <a:lstStyle/>
                    <a:p>
                      <a:pPr marL="0" indent="0">
                        <a:buNone/>
                      </a:pPr>
                      <a:r>
                        <a:rPr lang="en-US" sz="850" dirty="0">
                          <a:solidFill>
                            <a:srgbClr val="2C2C2C"/>
                          </a:solidFill>
                          <a:latin typeface="Calibri" pitchFamily="34" charset="0"/>
                          <a:ea typeface="Calibri" pitchFamily="34" charset="-122"/>
                          <a:cs typeface="Calibri" pitchFamily="34" charset="-120"/>
                        </a:rPr>
                        <a:t>1. Click 'Forgot Password'</a:t>
                      </a:r>
                      <a:endParaRPr lang="en-US" sz="850" dirty="0">
                        <a:latin typeface="Calibri" charset="0"/>
                        <a:ea typeface="Calibri" charset="0"/>
                        <a:cs typeface="Calibri" charset="0"/>
                      </a:endParaRPr>
                    </a:p>
                    <a:p>
                      <a:pPr marL="0" indent="0">
                        <a:buNone/>
                      </a:pPr>
                      <a:r>
                        <a:rPr lang="en-US" sz="850" dirty="0">
                          <a:solidFill>
                            <a:srgbClr val="2C2C2C"/>
                          </a:solidFill>
                          <a:latin typeface="Calibri" pitchFamily="34" charset="0"/>
                          <a:ea typeface="Calibri" pitchFamily="34" charset="-122"/>
                          <a:cs typeface="Calibri" pitchFamily="34" charset="-120"/>
                        </a:rPr>
                        <a:t>2. Enter registered email</a:t>
                      </a:r>
                      <a:endParaRPr lang="en-US" sz="850" dirty="0">
                        <a:latin typeface="Calibri" charset="0"/>
                        <a:ea typeface="Calibri" charset="0"/>
                        <a:cs typeface="Calibri" charset="0"/>
                      </a:endParaRPr>
                    </a:p>
                    <a:p>
                      <a:pPr marL="0" indent="0">
                        <a:buNone/>
                      </a:pPr>
                      <a:r>
                        <a:rPr lang="en-US" sz="850" dirty="0">
                          <a:solidFill>
                            <a:srgbClr val="2C2C2C"/>
                          </a:solidFill>
                          <a:latin typeface="Calibri" pitchFamily="34" charset="0"/>
                          <a:ea typeface="Calibri" pitchFamily="34" charset="-122"/>
                          <a:cs typeface="Calibri" pitchFamily="34" charset="-120"/>
                        </a:rPr>
                        <a:t>3. Click 'Send Reset Link'</a:t>
                      </a:r>
                      <a:endParaRPr lang="en-US" sz="850" dirty="0">
                        <a:latin typeface="Calibri" charset="0"/>
                        <a:ea typeface="Calibri" charset="0"/>
                        <a:cs typeface="Calibri" charset="0"/>
                      </a:endParaRPr>
                    </a:p>
                  </a:txBody>
                  <a:tcPr marL="38100" marR="38100" marT="38100" marB="38100">
                    <a:lnL w="12700" cap="flat" cmpd="sng" algn="ctr">
                      <a:solidFill>
                        <a:srgbClr val="DEDEDE"/>
                      </a:solidFill>
                      <a:prstDash val="solid"/>
                      <a:round/>
                      <a:headEnd type="none" w="med" len="med"/>
                      <a:tailEnd type="none" w="med" len="med"/>
                    </a:lnL>
                    <a:lnR w="12700" cap="flat" cmpd="sng" algn="ctr">
                      <a:solidFill>
                        <a:srgbClr val="DEDEDE"/>
                      </a:solidFill>
                      <a:prstDash val="solid"/>
                      <a:round/>
                      <a:headEnd type="none" w="med" len="med"/>
                      <a:tailEnd type="none" w="med" len="med"/>
                    </a:lnR>
                    <a:lnT w="12700" cap="flat" cmpd="sng" algn="ctr">
                      <a:solidFill>
                        <a:srgbClr val="DEDEDE"/>
                      </a:solidFill>
                      <a:prstDash val="solid"/>
                      <a:round/>
                      <a:headEnd type="none" w="med" len="med"/>
                      <a:tailEnd type="none" w="med" len="med"/>
                    </a:lnT>
                    <a:lnB w="12700" cap="flat" cmpd="sng" algn="ctr">
                      <a:solidFill>
                        <a:srgbClr val="DEDEDE"/>
                      </a:solidFill>
                      <a:prstDash val="solid"/>
                      <a:round/>
                      <a:headEnd type="none" w="med" len="med"/>
                      <a:tailEnd type="none" w="med" len="med"/>
                    </a:lnB>
                    <a:solidFill>
                      <a:srgbClr val="FFFFFF"/>
                    </a:solidFill>
                  </a:tcPr>
                </a:tc>
                <a:tc>
                  <a:txBody>
                    <a:bodyPr/>
                    <a:lstStyle/>
                    <a:p>
                      <a:pPr marL="0" indent="0">
                        <a:buNone/>
                      </a:pPr>
                      <a:r>
                        <a:rPr lang="en-US" sz="850" dirty="0">
                          <a:solidFill>
                            <a:srgbClr val="2C2C2C"/>
                          </a:solidFill>
                          <a:latin typeface="Calibri" pitchFamily="34" charset="0"/>
                          <a:ea typeface="Calibri" pitchFamily="34" charset="-122"/>
                          <a:cs typeface="Calibri" pitchFamily="34" charset="-120"/>
                        </a:rPr>
                        <a:t>john@example.com</a:t>
                      </a:r>
                      <a:endParaRPr lang="en-US" sz="850" dirty="0">
                        <a:latin typeface="Calibri" charset="0"/>
                        <a:ea typeface="Calibri" charset="0"/>
                        <a:cs typeface="Calibri" charset="0"/>
                      </a:endParaRPr>
                    </a:p>
                  </a:txBody>
                  <a:tcPr marL="38100" marR="38100" marT="38100" marB="38100">
                    <a:lnL w="12700" cap="flat" cmpd="sng" algn="ctr">
                      <a:solidFill>
                        <a:srgbClr val="DEDEDE"/>
                      </a:solidFill>
                      <a:prstDash val="solid"/>
                      <a:round/>
                      <a:headEnd type="none" w="med" len="med"/>
                      <a:tailEnd type="none" w="med" len="med"/>
                    </a:lnL>
                    <a:lnR w="12700" cap="flat" cmpd="sng" algn="ctr">
                      <a:solidFill>
                        <a:srgbClr val="DEDEDE"/>
                      </a:solidFill>
                      <a:prstDash val="solid"/>
                      <a:round/>
                      <a:headEnd type="none" w="med" len="med"/>
                      <a:tailEnd type="none" w="med" len="med"/>
                    </a:lnR>
                    <a:lnT w="12700" cap="flat" cmpd="sng" algn="ctr">
                      <a:solidFill>
                        <a:srgbClr val="DEDEDE"/>
                      </a:solidFill>
                      <a:prstDash val="solid"/>
                      <a:round/>
                      <a:headEnd type="none" w="med" len="med"/>
                      <a:tailEnd type="none" w="med" len="med"/>
                    </a:lnT>
                    <a:lnB w="12700" cap="flat" cmpd="sng" algn="ctr">
                      <a:solidFill>
                        <a:srgbClr val="DEDEDE"/>
                      </a:solidFill>
                      <a:prstDash val="solid"/>
                      <a:round/>
                      <a:headEnd type="none" w="med" len="med"/>
                      <a:tailEnd type="none" w="med" len="med"/>
                    </a:lnB>
                    <a:solidFill>
                      <a:srgbClr val="FFFFFF"/>
                    </a:solidFill>
                  </a:tcPr>
                </a:tc>
                <a:tc>
                  <a:txBody>
                    <a:bodyPr/>
                    <a:lstStyle/>
                    <a:p>
                      <a:pPr marL="0" indent="0">
                        <a:buNone/>
                      </a:pPr>
                      <a:r>
                        <a:rPr lang="en-US" sz="850" dirty="0">
                          <a:solidFill>
                            <a:srgbClr val="2C2C2C"/>
                          </a:solidFill>
                          <a:latin typeface="Calibri" pitchFamily="34" charset="0"/>
                          <a:ea typeface="Calibri" pitchFamily="34" charset="-122"/>
                          <a:cs typeface="Calibri" pitchFamily="34" charset="-120"/>
                        </a:rPr>
                        <a:t>Success message: 'Reset link sent to john@example.com'. Email received within 60s.</a:t>
                      </a:r>
                      <a:endParaRPr lang="en-US" sz="850" dirty="0">
                        <a:latin typeface="Calibri" charset="0"/>
                        <a:ea typeface="Calibri" charset="0"/>
                        <a:cs typeface="Calibri" charset="0"/>
                      </a:endParaRPr>
                    </a:p>
                  </a:txBody>
                  <a:tcPr marL="38100" marR="38100" marT="38100" marB="38100">
                    <a:lnL w="12700" cap="flat" cmpd="sng" algn="ctr">
                      <a:solidFill>
                        <a:srgbClr val="DEDEDE"/>
                      </a:solidFill>
                      <a:prstDash val="solid"/>
                      <a:round/>
                      <a:headEnd type="none" w="med" len="med"/>
                      <a:tailEnd type="none" w="med" len="med"/>
                    </a:lnL>
                    <a:lnR w="12700" cap="flat" cmpd="sng" algn="ctr">
                      <a:solidFill>
                        <a:srgbClr val="DEDEDE"/>
                      </a:solidFill>
                      <a:prstDash val="solid"/>
                      <a:round/>
                      <a:headEnd type="none" w="med" len="med"/>
                      <a:tailEnd type="none" w="med" len="med"/>
                    </a:lnR>
                    <a:lnT w="12700" cap="flat" cmpd="sng" algn="ctr">
                      <a:solidFill>
                        <a:srgbClr val="DEDEDE"/>
                      </a:solidFill>
                      <a:prstDash val="solid"/>
                      <a:round/>
                      <a:headEnd type="none" w="med" len="med"/>
                      <a:tailEnd type="none" w="med" len="med"/>
                    </a:lnT>
                    <a:lnB w="12700" cap="flat" cmpd="sng" algn="ctr">
                      <a:solidFill>
                        <a:srgbClr val="DEDEDE"/>
                      </a:solidFill>
                      <a:prstDash val="solid"/>
                      <a:round/>
                      <a:headEnd type="none" w="med" len="med"/>
                      <a:tailEnd type="none" w="med" len="med"/>
                    </a:lnB>
                    <a:solidFill>
                      <a:srgbClr val="FFFFFF"/>
                    </a:solidFill>
                  </a:tcPr>
                </a:tc>
                <a:tc>
                  <a:txBody>
                    <a:bodyPr/>
                    <a:lstStyle/>
                    <a:p>
                      <a:pPr marL="0" indent="0">
                        <a:buNone/>
                      </a:pPr>
                      <a:r>
                        <a:rPr lang="en-US" sz="850" b="1" dirty="0">
                          <a:solidFill>
                            <a:srgbClr val="C0392B"/>
                          </a:solidFill>
                          <a:latin typeface="Calibri" pitchFamily="34" charset="0"/>
                          <a:ea typeface="Calibri" pitchFamily="34" charset="-122"/>
                          <a:cs typeface="Calibri" pitchFamily="34" charset="-120"/>
                        </a:rPr>
                        <a:t>Fail</a:t>
                      </a:r>
                      <a:endParaRPr lang="en-US" sz="850" dirty="0">
                        <a:latin typeface="Calibri" charset="0"/>
                        <a:ea typeface="Calibri" charset="0"/>
                        <a:cs typeface="Calibri" charset="0"/>
                      </a:endParaRPr>
                    </a:p>
                  </a:txBody>
                  <a:tcPr marL="38100" marR="38100" marT="38100" marB="38100">
                    <a:lnL w="12700" cap="flat" cmpd="sng" algn="ctr">
                      <a:solidFill>
                        <a:srgbClr val="DEDEDE"/>
                      </a:solidFill>
                      <a:prstDash val="solid"/>
                      <a:round/>
                      <a:headEnd type="none" w="med" len="med"/>
                      <a:tailEnd type="none" w="med" len="med"/>
                    </a:lnL>
                    <a:lnR w="12700" cap="flat" cmpd="sng" algn="ctr">
                      <a:solidFill>
                        <a:srgbClr val="DEDEDE"/>
                      </a:solidFill>
                      <a:prstDash val="solid"/>
                      <a:round/>
                      <a:headEnd type="none" w="med" len="med"/>
                      <a:tailEnd type="none" w="med" len="med"/>
                    </a:lnR>
                    <a:lnT w="12700" cap="flat" cmpd="sng" algn="ctr">
                      <a:solidFill>
                        <a:srgbClr val="DEDEDE"/>
                      </a:solidFill>
                      <a:prstDash val="solid"/>
                      <a:round/>
                      <a:headEnd type="none" w="med" len="med"/>
                      <a:tailEnd type="none" w="med" len="med"/>
                    </a:lnT>
                    <a:lnB w="12700" cap="flat" cmpd="sng" algn="ctr">
                      <a:solidFill>
                        <a:srgbClr val="DEDEDE"/>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bl>
          </a:graphicData>
        </a:graphic>
      </p:graphicFrame>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1">
    <p:bg>
      <p:bgPr>
        <a:solidFill>
          <a:srgbClr val="F5F5F5"/>
        </a:solidFill>
        <a:effectLst/>
      </p:bgPr>
    </p:bg>
    <p:spTree>
      <p:nvGrpSpPr>
        <p:cNvPr id="1" name=""/>
        <p:cNvGrpSpPr/>
        <p:nvPr/>
      </p:nvGrpSpPr>
      <p:grpSpPr>
        <a:xfrm>
          <a:off x="0" y="0"/>
          <a:ext cx="0" cy="0"/>
          <a:chOff x="0" y="0"/>
          <a:chExt cx="0" cy="0"/>
        </a:xfrm>
      </p:grpSpPr>
      <p:sp>
        <p:nvSpPr>
          <p:cNvPr id="2" name="Shape 0"/>
          <p:cNvSpPr/>
          <p:nvPr/>
        </p:nvSpPr>
        <p:spPr>
          <a:xfrm>
            <a:off x="0" y="0"/>
            <a:ext cx="9144000" cy="621792"/>
          </a:xfrm>
          <a:prstGeom prst="rect">
            <a:avLst/>
          </a:prstGeom>
          <a:solidFill>
            <a:srgbClr val="0D0D0D"/>
          </a:solidFill>
          <a:ln w="12700">
            <a:solidFill>
              <a:srgbClr val="0D0D0D"/>
            </a:solidFill>
            <a:prstDash val="solid"/>
          </a:ln>
        </p:spPr>
      </p:sp>
      <p:sp>
        <p:nvSpPr>
          <p:cNvPr id="3" name="Shape 1"/>
          <p:cNvSpPr/>
          <p:nvPr/>
        </p:nvSpPr>
        <p:spPr>
          <a:xfrm>
            <a:off x="0" y="0"/>
            <a:ext cx="64008" cy="621792"/>
          </a:xfrm>
          <a:prstGeom prst="rect">
            <a:avLst/>
          </a:prstGeom>
          <a:solidFill>
            <a:srgbClr val="FF6500"/>
          </a:solidFill>
          <a:ln w="12700">
            <a:solidFill>
              <a:srgbClr val="FF6500"/>
            </a:solidFill>
            <a:prstDash val="solid"/>
          </a:ln>
        </p:spPr>
      </p:sp>
      <p:sp>
        <p:nvSpPr>
          <p:cNvPr id="4" name="Text 2"/>
          <p:cNvSpPr/>
          <p:nvPr/>
        </p:nvSpPr>
        <p:spPr>
          <a:xfrm>
            <a:off x="201168" y="64008"/>
            <a:ext cx="8503920" cy="493776"/>
          </a:xfrm>
          <a:prstGeom prst="rect">
            <a:avLst/>
          </a:prstGeom>
          <a:noFill/>
          <a:ln/>
        </p:spPr>
        <p:txBody>
          <a:bodyPr wrap="square" lIns="0" tIns="0" rIns="0" bIns="0" rtlCol="0" anchor="ctr"/>
          <a:lstStyle/>
          <a:p>
            <a:pPr marL="0" indent="0">
              <a:buNone/>
            </a:pPr>
            <a:r>
              <a:rPr lang="en-US" sz="1900" b="1" dirty="0">
                <a:solidFill>
                  <a:srgbClr val="FFFFFF"/>
                </a:solidFill>
                <a:latin typeface="Arial" pitchFamily="34" charset="0"/>
                <a:ea typeface="Arial" pitchFamily="34" charset="-122"/>
                <a:cs typeface="Arial" pitchFamily="34" charset="-120"/>
              </a:rPr>
              <a:t>Sample Defect / Bug Report — Real-World Example</a:t>
            </a:r>
            <a:endParaRPr lang="en-US" sz="1900" dirty="0"/>
          </a:p>
        </p:txBody>
      </p:sp>
      <p:sp>
        <p:nvSpPr>
          <p:cNvPr id="5" name="Shape 3"/>
          <p:cNvSpPr/>
          <p:nvPr/>
        </p:nvSpPr>
        <p:spPr>
          <a:xfrm>
            <a:off x="0" y="4828032"/>
            <a:ext cx="9144000" cy="315468"/>
          </a:xfrm>
          <a:prstGeom prst="rect">
            <a:avLst/>
          </a:prstGeom>
          <a:solidFill>
            <a:srgbClr val="0D0D0D"/>
          </a:solidFill>
          <a:ln w="12700">
            <a:solidFill>
              <a:srgbClr val="0D0D0D"/>
            </a:solidFill>
            <a:prstDash val="solid"/>
          </a:ln>
        </p:spPr>
      </p:sp>
      <p:sp>
        <p:nvSpPr>
          <p:cNvPr id="6" name="Text 4"/>
          <p:cNvSpPr/>
          <p:nvPr/>
        </p:nvSpPr>
        <p:spPr>
          <a:xfrm>
            <a:off x="182880" y="4855464"/>
            <a:ext cx="7315200" cy="228600"/>
          </a:xfrm>
          <a:prstGeom prst="rect">
            <a:avLst/>
          </a:prstGeom>
          <a:noFill/>
          <a:ln/>
        </p:spPr>
        <p:txBody>
          <a:bodyPr wrap="square" lIns="0" tIns="0" rIns="0" bIns="0" rtlCol="0" anchor="ctr"/>
          <a:lstStyle/>
          <a:p>
            <a:pPr marL="0" indent="0">
              <a:buNone/>
            </a:pPr>
            <a:r>
              <a:rPr lang="en-US" sz="850" dirty="0">
                <a:solidFill>
                  <a:srgbClr val="999999"/>
                </a:solidFill>
                <a:latin typeface="Calibri" pitchFamily="34" charset="0"/>
                <a:ea typeface="Calibri" pitchFamily="34" charset="-122"/>
                <a:cs typeface="Calibri" pitchFamily="34" charset="-120"/>
              </a:rPr>
              <a:t>Quality Engineering | Test Case Development in STLC</a:t>
            </a:r>
            <a:endParaRPr lang="en-US" sz="850" dirty="0"/>
          </a:p>
        </p:txBody>
      </p:sp>
      <p:sp>
        <p:nvSpPr>
          <p:cNvPr id="7" name="Text 5"/>
          <p:cNvSpPr/>
          <p:nvPr/>
        </p:nvSpPr>
        <p:spPr>
          <a:xfrm>
            <a:off x="7406640" y="4855464"/>
            <a:ext cx="1554480" cy="228600"/>
          </a:xfrm>
          <a:prstGeom prst="rect">
            <a:avLst/>
          </a:prstGeom>
          <a:noFill/>
          <a:ln/>
        </p:spPr>
        <p:txBody>
          <a:bodyPr wrap="square" lIns="0" tIns="0" rIns="0" bIns="0" rtlCol="0" anchor="ctr"/>
          <a:lstStyle/>
          <a:p>
            <a:pPr marL="0" indent="0" algn="r">
              <a:buNone/>
            </a:pPr>
            <a:r>
              <a:rPr lang="en-US" sz="850" b="1" dirty="0">
                <a:solidFill>
                  <a:srgbClr val="FF6500"/>
                </a:solidFill>
                <a:latin typeface="Calibri" pitchFamily="34" charset="0"/>
                <a:ea typeface="Calibri" pitchFamily="34" charset="-122"/>
                <a:cs typeface="Calibri" pitchFamily="34" charset="-120"/>
              </a:rPr>
              <a:t>INTERNAL TRAINING</a:t>
            </a:r>
            <a:endParaRPr lang="en-US" sz="850" dirty="0"/>
          </a:p>
        </p:txBody>
      </p:sp>
      <p:sp>
        <p:nvSpPr>
          <p:cNvPr id="8" name="Text 6"/>
          <p:cNvSpPr/>
          <p:nvPr/>
        </p:nvSpPr>
        <p:spPr>
          <a:xfrm>
            <a:off x="228600" y="758952"/>
            <a:ext cx="8732520" cy="548640"/>
          </a:xfrm>
          <a:prstGeom prst="rect">
            <a:avLst/>
          </a:prstGeom>
          <a:noFill/>
          <a:ln/>
        </p:spPr>
        <p:txBody>
          <a:bodyPr wrap="square" lIns="0" tIns="0" rIns="0" bIns="0" rtlCol="0" anchor="ctr"/>
          <a:lstStyle/>
          <a:p>
            <a:pPr marL="0" indent="0">
              <a:buNone/>
            </a:pPr>
            <a:r>
              <a:rPr lang="en-US" sz="1150" dirty="0">
                <a:solidFill>
                  <a:srgbClr val="2C2C2C"/>
                </a:solidFill>
                <a:latin typeface="Calibri" pitchFamily="34" charset="0"/>
                <a:ea typeface="Calibri" pitchFamily="34" charset="-122"/>
                <a:cs typeface="Calibri" pitchFamily="34" charset="-120"/>
              </a:rPr>
              <a:t>When a test case FAILS, a defect report must be immediately logged in the defect tracking system (Jira). A complete, accurate bug report is critical for fast resolution.</a:t>
            </a:r>
            <a:endParaRPr lang="en-US" sz="1150" dirty="0"/>
          </a:p>
        </p:txBody>
      </p:sp>
      <p:graphicFrame>
        <p:nvGraphicFramePr>
          <p:cNvPr id="32" name="Table 0"/>
          <p:cNvGraphicFramePr>
            <a:graphicFrameLocks noGrp="1"/>
          </p:cNvGraphicFramePr>
          <p:nvPr>
            <p:extLst>
              <p:ext uri="{D42A27DB-BD31-4B8C-83A1-F6EECF244321}">
                <p14:modId xmlns:p14="http://schemas.microsoft.com/office/powerpoint/2010/main" val="1579011935"/>
              </p:ext>
            </p:extLst>
          </p:nvPr>
        </p:nvGraphicFramePr>
        <p:xfrm>
          <a:off x="228600" y="1371600"/>
          <a:ext cx="8732520" cy="4047744"/>
        </p:xfrm>
        <a:graphic>
          <a:graphicData uri="http://schemas.openxmlformats.org/drawingml/2006/table">
            <a:tbl>
              <a:tblPr/>
              <a:tblGrid>
                <a:gridCol w="1828800">
                  <a:extLst>
                    <a:ext uri="{9D8B030D-6E8A-4147-A177-3AD203B41FA5}">
                      <a16:colId xmlns:a16="http://schemas.microsoft.com/office/drawing/2014/main" val="20000"/>
                    </a:ext>
                  </a:extLst>
                </a:gridCol>
                <a:gridCol w="6903720">
                  <a:extLst>
                    <a:ext uri="{9D8B030D-6E8A-4147-A177-3AD203B41FA5}">
                      <a16:colId xmlns:a16="http://schemas.microsoft.com/office/drawing/2014/main" val="20001"/>
                    </a:ext>
                  </a:extLst>
                </a:gridCol>
              </a:tblGrid>
              <a:tr h="246888">
                <a:tc>
                  <a:txBody>
                    <a:bodyPr/>
                    <a:lstStyle/>
                    <a:p>
                      <a:pPr marL="0" indent="0">
                        <a:buNone/>
                      </a:pPr>
                      <a:r>
                        <a:rPr lang="en-US" sz="1000" b="1" dirty="0">
                          <a:solidFill>
                            <a:srgbClr val="FF6500"/>
                          </a:solidFill>
                          <a:latin typeface="Arial" pitchFamily="34" charset="0"/>
                          <a:ea typeface="Arial" pitchFamily="34" charset="-122"/>
                          <a:cs typeface="Arial" pitchFamily="34" charset="-120"/>
                        </a:rPr>
                        <a:t>Field</a:t>
                      </a:r>
                      <a:endParaRPr lang="en-US" sz="1000" dirty="0">
                        <a:latin typeface="Arial" charset="0"/>
                        <a:ea typeface="Arial" charset="0"/>
                        <a:cs typeface="Arial" charset="0"/>
                      </a:endParaRPr>
                    </a:p>
                  </a:txBody>
                  <a:tcPr marL="38100" marR="38100" marT="38100" marB="38100">
                    <a:lnL w="12700" cap="flat" cmpd="sng" algn="ctr">
                      <a:solidFill>
                        <a:srgbClr val="DEDEDE"/>
                      </a:solidFill>
                      <a:prstDash val="solid"/>
                      <a:round/>
                      <a:headEnd type="none" w="med" len="med"/>
                      <a:tailEnd type="none" w="med" len="med"/>
                    </a:lnL>
                    <a:lnR w="12700" cap="flat" cmpd="sng" algn="ctr">
                      <a:solidFill>
                        <a:srgbClr val="DEDEDE"/>
                      </a:solidFill>
                      <a:prstDash val="solid"/>
                      <a:round/>
                      <a:headEnd type="none" w="med" len="med"/>
                      <a:tailEnd type="none" w="med" len="med"/>
                    </a:lnR>
                    <a:lnT w="12700" cap="flat" cmpd="sng" algn="ctr">
                      <a:solidFill>
                        <a:srgbClr val="DEDEDE"/>
                      </a:solidFill>
                      <a:prstDash val="solid"/>
                      <a:round/>
                      <a:headEnd type="none" w="med" len="med"/>
                      <a:tailEnd type="none" w="med" len="med"/>
                    </a:lnT>
                    <a:lnB w="12700" cap="flat" cmpd="sng" algn="ctr">
                      <a:solidFill>
                        <a:srgbClr val="DEDEDE"/>
                      </a:solidFill>
                      <a:prstDash val="solid"/>
                      <a:round/>
                      <a:headEnd type="none" w="med" len="med"/>
                      <a:tailEnd type="none" w="med" len="med"/>
                    </a:lnB>
                    <a:solidFill>
                      <a:srgbClr val="0D0D0D"/>
                    </a:solidFill>
                  </a:tcPr>
                </a:tc>
                <a:tc>
                  <a:txBody>
                    <a:bodyPr/>
                    <a:lstStyle/>
                    <a:p>
                      <a:pPr marL="0" indent="0">
                        <a:buNone/>
                      </a:pPr>
                      <a:r>
                        <a:rPr lang="en-US" sz="1000" b="1" dirty="0">
                          <a:solidFill>
                            <a:srgbClr val="FF6500"/>
                          </a:solidFill>
                          <a:latin typeface="Arial" pitchFamily="34" charset="0"/>
                          <a:ea typeface="Arial" pitchFamily="34" charset="-122"/>
                          <a:cs typeface="Arial" pitchFamily="34" charset="-120"/>
                        </a:rPr>
                        <a:t>Details</a:t>
                      </a:r>
                      <a:endParaRPr lang="en-US" sz="1000" dirty="0">
                        <a:latin typeface="Arial" charset="0"/>
                        <a:ea typeface="Arial" charset="0"/>
                        <a:cs typeface="Arial" charset="0"/>
                      </a:endParaRPr>
                    </a:p>
                  </a:txBody>
                  <a:tcPr marL="38100" marR="38100" marT="38100" marB="38100">
                    <a:lnL w="12700" cap="flat" cmpd="sng" algn="ctr">
                      <a:solidFill>
                        <a:srgbClr val="DEDEDE"/>
                      </a:solidFill>
                      <a:prstDash val="solid"/>
                      <a:round/>
                      <a:headEnd type="none" w="med" len="med"/>
                      <a:tailEnd type="none" w="med" len="med"/>
                    </a:lnL>
                    <a:lnR w="12700" cap="flat" cmpd="sng" algn="ctr">
                      <a:solidFill>
                        <a:srgbClr val="DEDEDE"/>
                      </a:solidFill>
                      <a:prstDash val="solid"/>
                      <a:round/>
                      <a:headEnd type="none" w="med" len="med"/>
                      <a:tailEnd type="none" w="med" len="med"/>
                    </a:lnR>
                    <a:lnT w="12700" cap="flat" cmpd="sng" algn="ctr">
                      <a:solidFill>
                        <a:srgbClr val="DEDEDE"/>
                      </a:solidFill>
                      <a:prstDash val="solid"/>
                      <a:round/>
                      <a:headEnd type="none" w="med" len="med"/>
                      <a:tailEnd type="none" w="med" len="med"/>
                    </a:lnT>
                    <a:lnB w="12700" cap="flat" cmpd="sng" algn="ctr">
                      <a:solidFill>
                        <a:srgbClr val="DEDEDE"/>
                      </a:solidFill>
                      <a:prstDash val="solid"/>
                      <a:round/>
                      <a:headEnd type="none" w="med" len="med"/>
                      <a:tailEnd type="none" w="med" len="med"/>
                    </a:lnB>
                    <a:solidFill>
                      <a:srgbClr val="0D0D0D"/>
                    </a:solidFill>
                  </a:tcPr>
                </a:tc>
                <a:extLst>
                  <a:ext uri="{0D108BD9-81ED-4DB2-BD59-A6C34878D82A}">
                    <a16:rowId xmlns:a16="http://schemas.microsoft.com/office/drawing/2014/main" val="10000"/>
                  </a:ext>
                </a:extLst>
              </a:tr>
              <a:tr h="246888">
                <a:tc>
                  <a:txBody>
                    <a:bodyPr/>
                    <a:lstStyle/>
                    <a:p>
                      <a:pPr marL="0" indent="0">
                        <a:buNone/>
                      </a:pPr>
                      <a:r>
                        <a:rPr lang="en-US" sz="1000" dirty="0">
                          <a:solidFill>
                            <a:srgbClr val="2C2C2C"/>
                          </a:solidFill>
                          <a:latin typeface="Arial" pitchFamily="34" charset="0"/>
                          <a:ea typeface="Arial" pitchFamily="34" charset="-122"/>
                          <a:cs typeface="Arial" pitchFamily="34" charset="-120"/>
                        </a:rPr>
                        <a:t>Bug ID</a:t>
                      </a:r>
                      <a:endParaRPr lang="en-US" sz="1000" dirty="0">
                        <a:latin typeface="Arial" charset="0"/>
                        <a:ea typeface="Arial" charset="0"/>
                        <a:cs typeface="Arial" charset="0"/>
                      </a:endParaRPr>
                    </a:p>
                  </a:txBody>
                  <a:tcPr marL="38100" marR="38100" marT="38100" marB="38100" anchor="ctr">
                    <a:lnL w="12700" cap="flat" cmpd="sng" algn="ctr">
                      <a:solidFill>
                        <a:srgbClr val="DEDEDE"/>
                      </a:solidFill>
                      <a:prstDash val="solid"/>
                      <a:round/>
                      <a:headEnd type="none" w="med" len="med"/>
                      <a:tailEnd type="none" w="med" len="med"/>
                    </a:lnL>
                    <a:lnR w="12700" cap="flat" cmpd="sng" algn="ctr">
                      <a:solidFill>
                        <a:srgbClr val="DEDEDE"/>
                      </a:solidFill>
                      <a:prstDash val="solid"/>
                      <a:round/>
                      <a:headEnd type="none" w="med" len="med"/>
                      <a:tailEnd type="none" w="med" len="med"/>
                    </a:lnR>
                    <a:lnT w="12700" cap="flat" cmpd="sng" algn="ctr">
                      <a:solidFill>
                        <a:srgbClr val="DEDEDE"/>
                      </a:solidFill>
                      <a:prstDash val="solid"/>
                      <a:round/>
                      <a:headEnd type="none" w="med" len="med"/>
                      <a:tailEnd type="none" w="med" len="med"/>
                    </a:lnT>
                    <a:lnB w="12700" cap="flat" cmpd="sng" algn="ctr">
                      <a:solidFill>
                        <a:srgbClr val="DEDEDE"/>
                      </a:solidFill>
                      <a:prstDash val="solid"/>
                      <a:round/>
                      <a:headEnd type="none" w="med" len="med"/>
                      <a:tailEnd type="none" w="med" len="med"/>
                    </a:lnB>
                    <a:solidFill>
                      <a:srgbClr val="F0F0F0"/>
                    </a:solidFill>
                  </a:tcPr>
                </a:tc>
                <a:tc>
                  <a:txBody>
                    <a:bodyPr/>
                    <a:lstStyle/>
                    <a:p>
                      <a:pPr marL="0" indent="0">
                        <a:buNone/>
                      </a:pPr>
                      <a:r>
                        <a:rPr lang="en-US" sz="1000" dirty="0">
                          <a:solidFill>
                            <a:srgbClr val="2C2C2C"/>
                          </a:solidFill>
                          <a:latin typeface="Calibri" pitchFamily="34" charset="0"/>
                          <a:ea typeface="Calibri" pitchFamily="34" charset="-122"/>
                          <a:cs typeface="Calibri" pitchFamily="34" charset="-120"/>
                        </a:rPr>
                        <a:t>BUG-00147</a:t>
                      </a:r>
                      <a:endParaRPr lang="en-US" sz="1000" dirty="0">
                        <a:latin typeface="Calibri" charset="0"/>
                        <a:ea typeface="Calibri" charset="0"/>
                        <a:cs typeface="Calibri" charset="0"/>
                      </a:endParaRPr>
                    </a:p>
                  </a:txBody>
                  <a:tcPr marL="38100" marR="38100" marT="38100" marB="38100" anchor="ctr">
                    <a:lnL w="12700" cap="flat" cmpd="sng" algn="ctr">
                      <a:solidFill>
                        <a:srgbClr val="DEDEDE"/>
                      </a:solidFill>
                      <a:prstDash val="solid"/>
                      <a:round/>
                      <a:headEnd type="none" w="med" len="med"/>
                      <a:tailEnd type="none" w="med" len="med"/>
                    </a:lnL>
                    <a:lnR w="12700" cap="flat" cmpd="sng" algn="ctr">
                      <a:solidFill>
                        <a:srgbClr val="DEDEDE"/>
                      </a:solidFill>
                      <a:prstDash val="solid"/>
                      <a:round/>
                      <a:headEnd type="none" w="med" len="med"/>
                      <a:tailEnd type="none" w="med" len="med"/>
                    </a:lnR>
                    <a:lnT w="12700" cap="flat" cmpd="sng" algn="ctr">
                      <a:solidFill>
                        <a:srgbClr val="DEDEDE"/>
                      </a:solidFill>
                      <a:prstDash val="solid"/>
                      <a:round/>
                      <a:headEnd type="none" w="med" len="med"/>
                      <a:tailEnd type="none" w="med" len="med"/>
                    </a:lnT>
                    <a:lnB w="12700" cap="flat" cmpd="sng" algn="ctr">
                      <a:solidFill>
                        <a:srgbClr val="DEDEDE"/>
                      </a:solidFill>
                      <a:prstDash val="solid"/>
                      <a:round/>
                      <a:headEnd type="none" w="med" len="med"/>
                      <a:tailEnd type="none" w="med" len="med"/>
                    </a:lnB>
                    <a:solidFill>
                      <a:srgbClr val="F0F0F0"/>
                    </a:solidFill>
                  </a:tcPr>
                </a:tc>
                <a:extLst>
                  <a:ext uri="{0D108BD9-81ED-4DB2-BD59-A6C34878D82A}">
                    <a16:rowId xmlns:a16="http://schemas.microsoft.com/office/drawing/2014/main" val="10001"/>
                  </a:ext>
                </a:extLst>
              </a:tr>
              <a:tr h="246888">
                <a:tc>
                  <a:txBody>
                    <a:bodyPr/>
                    <a:lstStyle/>
                    <a:p>
                      <a:pPr marL="0" indent="0">
                        <a:buNone/>
                      </a:pPr>
                      <a:r>
                        <a:rPr lang="en-US" sz="1000" dirty="0">
                          <a:solidFill>
                            <a:srgbClr val="2C2C2C"/>
                          </a:solidFill>
                          <a:latin typeface="Arial" pitchFamily="34" charset="0"/>
                          <a:ea typeface="Arial" pitchFamily="34" charset="-122"/>
                          <a:cs typeface="Arial" pitchFamily="34" charset="-120"/>
                        </a:rPr>
                        <a:t>Title / Summary</a:t>
                      </a:r>
                      <a:endParaRPr lang="en-US" sz="1000" dirty="0">
                        <a:latin typeface="Arial" charset="0"/>
                        <a:ea typeface="Arial" charset="0"/>
                        <a:cs typeface="Arial" charset="0"/>
                      </a:endParaRPr>
                    </a:p>
                  </a:txBody>
                  <a:tcPr marL="38100" marR="38100" marT="38100" marB="38100" anchor="ctr">
                    <a:lnL w="12700" cap="flat" cmpd="sng" algn="ctr">
                      <a:solidFill>
                        <a:srgbClr val="DEDEDE"/>
                      </a:solidFill>
                      <a:prstDash val="solid"/>
                      <a:round/>
                      <a:headEnd type="none" w="med" len="med"/>
                      <a:tailEnd type="none" w="med" len="med"/>
                    </a:lnL>
                    <a:lnR w="12700" cap="flat" cmpd="sng" algn="ctr">
                      <a:solidFill>
                        <a:srgbClr val="DEDEDE"/>
                      </a:solidFill>
                      <a:prstDash val="solid"/>
                      <a:round/>
                      <a:headEnd type="none" w="med" len="med"/>
                      <a:tailEnd type="none" w="med" len="med"/>
                    </a:lnR>
                    <a:lnT w="12700" cap="flat" cmpd="sng" algn="ctr">
                      <a:solidFill>
                        <a:srgbClr val="DEDEDE"/>
                      </a:solidFill>
                      <a:prstDash val="solid"/>
                      <a:round/>
                      <a:headEnd type="none" w="med" len="med"/>
                      <a:tailEnd type="none" w="med" len="med"/>
                    </a:lnT>
                    <a:lnB w="12700" cap="flat" cmpd="sng" algn="ctr">
                      <a:solidFill>
                        <a:srgbClr val="DEDEDE"/>
                      </a:solidFill>
                      <a:prstDash val="solid"/>
                      <a:round/>
                      <a:headEnd type="none" w="med" len="med"/>
                      <a:tailEnd type="none" w="med" len="med"/>
                    </a:lnB>
                    <a:solidFill>
                      <a:srgbClr val="FFFFFF"/>
                    </a:solidFill>
                  </a:tcPr>
                </a:tc>
                <a:tc>
                  <a:txBody>
                    <a:bodyPr/>
                    <a:lstStyle/>
                    <a:p>
                      <a:pPr marL="0" indent="0">
                        <a:buNone/>
                      </a:pPr>
                      <a:r>
                        <a:rPr lang="en-US" sz="1000" dirty="0">
                          <a:solidFill>
                            <a:srgbClr val="2C2C2C"/>
                          </a:solidFill>
                          <a:latin typeface="Calibri" pitchFamily="34" charset="0"/>
                          <a:ea typeface="Calibri" pitchFamily="34" charset="-122"/>
                          <a:cs typeface="Calibri" pitchFamily="34" charset="-120"/>
                        </a:rPr>
                        <a:t>Password Reset email not delivered — TC_LOGIN_006 FAILED</a:t>
                      </a:r>
                      <a:endParaRPr lang="en-US" sz="1000" dirty="0">
                        <a:latin typeface="Calibri" charset="0"/>
                        <a:ea typeface="Calibri" charset="0"/>
                        <a:cs typeface="Calibri" charset="0"/>
                      </a:endParaRPr>
                    </a:p>
                  </a:txBody>
                  <a:tcPr marL="38100" marR="38100" marT="38100" marB="38100" anchor="ctr">
                    <a:lnL w="12700" cap="flat" cmpd="sng" algn="ctr">
                      <a:solidFill>
                        <a:srgbClr val="DEDEDE"/>
                      </a:solidFill>
                      <a:prstDash val="solid"/>
                      <a:round/>
                      <a:headEnd type="none" w="med" len="med"/>
                      <a:tailEnd type="none" w="med" len="med"/>
                    </a:lnL>
                    <a:lnR w="12700" cap="flat" cmpd="sng" algn="ctr">
                      <a:solidFill>
                        <a:srgbClr val="DEDEDE"/>
                      </a:solidFill>
                      <a:prstDash val="solid"/>
                      <a:round/>
                      <a:headEnd type="none" w="med" len="med"/>
                      <a:tailEnd type="none" w="med" len="med"/>
                    </a:lnR>
                    <a:lnT w="12700" cap="flat" cmpd="sng" algn="ctr">
                      <a:solidFill>
                        <a:srgbClr val="DEDEDE"/>
                      </a:solidFill>
                      <a:prstDash val="solid"/>
                      <a:round/>
                      <a:headEnd type="none" w="med" len="med"/>
                      <a:tailEnd type="none" w="med" len="med"/>
                    </a:lnT>
                    <a:lnB w="12700" cap="flat" cmpd="sng" algn="ctr">
                      <a:solidFill>
                        <a:srgbClr val="DEDEDE"/>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246888">
                <a:tc>
                  <a:txBody>
                    <a:bodyPr/>
                    <a:lstStyle/>
                    <a:p>
                      <a:pPr marL="0" indent="0">
                        <a:buNone/>
                      </a:pPr>
                      <a:r>
                        <a:rPr lang="en-US" sz="1000" dirty="0">
                          <a:solidFill>
                            <a:srgbClr val="2C2C2C"/>
                          </a:solidFill>
                          <a:latin typeface="Arial" pitchFamily="34" charset="0"/>
                          <a:ea typeface="Arial" pitchFamily="34" charset="-122"/>
                          <a:cs typeface="Arial" pitchFamily="34" charset="-120"/>
                        </a:rPr>
                        <a:t>Module</a:t>
                      </a:r>
                      <a:endParaRPr lang="en-US" sz="1000" dirty="0">
                        <a:latin typeface="Arial" charset="0"/>
                        <a:ea typeface="Arial" charset="0"/>
                        <a:cs typeface="Arial" charset="0"/>
                      </a:endParaRPr>
                    </a:p>
                  </a:txBody>
                  <a:tcPr marL="38100" marR="38100" marT="38100" marB="38100" anchor="ctr">
                    <a:lnL w="12700" cap="flat" cmpd="sng" algn="ctr">
                      <a:solidFill>
                        <a:srgbClr val="DEDEDE"/>
                      </a:solidFill>
                      <a:prstDash val="solid"/>
                      <a:round/>
                      <a:headEnd type="none" w="med" len="med"/>
                      <a:tailEnd type="none" w="med" len="med"/>
                    </a:lnL>
                    <a:lnR w="12700" cap="flat" cmpd="sng" algn="ctr">
                      <a:solidFill>
                        <a:srgbClr val="DEDEDE"/>
                      </a:solidFill>
                      <a:prstDash val="solid"/>
                      <a:round/>
                      <a:headEnd type="none" w="med" len="med"/>
                      <a:tailEnd type="none" w="med" len="med"/>
                    </a:lnR>
                    <a:lnT w="12700" cap="flat" cmpd="sng" algn="ctr">
                      <a:solidFill>
                        <a:srgbClr val="DEDEDE"/>
                      </a:solidFill>
                      <a:prstDash val="solid"/>
                      <a:round/>
                      <a:headEnd type="none" w="med" len="med"/>
                      <a:tailEnd type="none" w="med" len="med"/>
                    </a:lnT>
                    <a:lnB w="12700" cap="flat" cmpd="sng" algn="ctr">
                      <a:solidFill>
                        <a:srgbClr val="DEDEDE"/>
                      </a:solidFill>
                      <a:prstDash val="solid"/>
                      <a:round/>
                      <a:headEnd type="none" w="med" len="med"/>
                      <a:tailEnd type="none" w="med" len="med"/>
                    </a:lnB>
                    <a:solidFill>
                      <a:srgbClr val="F0F0F0"/>
                    </a:solidFill>
                  </a:tcPr>
                </a:tc>
                <a:tc>
                  <a:txBody>
                    <a:bodyPr/>
                    <a:lstStyle/>
                    <a:p>
                      <a:pPr marL="0" indent="0">
                        <a:buNone/>
                      </a:pPr>
                      <a:r>
                        <a:rPr lang="en-US" sz="1000" dirty="0">
                          <a:solidFill>
                            <a:srgbClr val="2C2C2C"/>
                          </a:solidFill>
                          <a:latin typeface="Calibri" pitchFamily="34" charset="0"/>
                          <a:ea typeface="Calibri" pitchFamily="34" charset="-122"/>
                          <a:cs typeface="Calibri" pitchFamily="34" charset="-120"/>
                        </a:rPr>
                        <a:t>Authentication — Password Reset</a:t>
                      </a:r>
                      <a:endParaRPr lang="en-US" sz="1000" dirty="0">
                        <a:latin typeface="Calibri" charset="0"/>
                        <a:ea typeface="Calibri" charset="0"/>
                        <a:cs typeface="Calibri" charset="0"/>
                      </a:endParaRPr>
                    </a:p>
                  </a:txBody>
                  <a:tcPr marL="38100" marR="38100" marT="38100" marB="38100" anchor="ctr">
                    <a:lnL w="12700" cap="flat" cmpd="sng" algn="ctr">
                      <a:solidFill>
                        <a:srgbClr val="DEDEDE"/>
                      </a:solidFill>
                      <a:prstDash val="solid"/>
                      <a:round/>
                      <a:headEnd type="none" w="med" len="med"/>
                      <a:tailEnd type="none" w="med" len="med"/>
                    </a:lnL>
                    <a:lnR w="12700" cap="flat" cmpd="sng" algn="ctr">
                      <a:solidFill>
                        <a:srgbClr val="DEDEDE"/>
                      </a:solidFill>
                      <a:prstDash val="solid"/>
                      <a:round/>
                      <a:headEnd type="none" w="med" len="med"/>
                      <a:tailEnd type="none" w="med" len="med"/>
                    </a:lnR>
                    <a:lnT w="12700" cap="flat" cmpd="sng" algn="ctr">
                      <a:solidFill>
                        <a:srgbClr val="DEDEDE"/>
                      </a:solidFill>
                      <a:prstDash val="solid"/>
                      <a:round/>
                      <a:headEnd type="none" w="med" len="med"/>
                      <a:tailEnd type="none" w="med" len="med"/>
                    </a:lnT>
                    <a:lnB w="12700" cap="flat" cmpd="sng" algn="ctr">
                      <a:solidFill>
                        <a:srgbClr val="DEDEDE"/>
                      </a:solidFill>
                      <a:prstDash val="solid"/>
                      <a:round/>
                      <a:headEnd type="none" w="med" len="med"/>
                      <a:tailEnd type="none" w="med" len="med"/>
                    </a:lnB>
                    <a:solidFill>
                      <a:srgbClr val="F0F0F0"/>
                    </a:solidFill>
                  </a:tcPr>
                </a:tc>
                <a:extLst>
                  <a:ext uri="{0D108BD9-81ED-4DB2-BD59-A6C34878D82A}">
                    <a16:rowId xmlns:a16="http://schemas.microsoft.com/office/drawing/2014/main" val="10003"/>
                  </a:ext>
                </a:extLst>
              </a:tr>
              <a:tr h="246888">
                <a:tc>
                  <a:txBody>
                    <a:bodyPr/>
                    <a:lstStyle/>
                    <a:p>
                      <a:pPr marL="0" indent="0">
                        <a:buNone/>
                      </a:pPr>
                      <a:r>
                        <a:rPr lang="en-US" sz="1000" dirty="0">
                          <a:solidFill>
                            <a:srgbClr val="2C2C2C"/>
                          </a:solidFill>
                          <a:latin typeface="Arial" pitchFamily="34" charset="0"/>
                          <a:ea typeface="Arial" pitchFamily="34" charset="-122"/>
                          <a:cs typeface="Arial" pitchFamily="34" charset="-120"/>
                        </a:rPr>
                        <a:t>Environment</a:t>
                      </a:r>
                      <a:endParaRPr lang="en-US" sz="1000" dirty="0">
                        <a:latin typeface="Arial" charset="0"/>
                        <a:ea typeface="Arial" charset="0"/>
                        <a:cs typeface="Arial" charset="0"/>
                      </a:endParaRPr>
                    </a:p>
                  </a:txBody>
                  <a:tcPr marL="38100" marR="38100" marT="38100" marB="38100" anchor="ctr">
                    <a:lnL w="12700" cap="flat" cmpd="sng" algn="ctr">
                      <a:solidFill>
                        <a:srgbClr val="DEDEDE"/>
                      </a:solidFill>
                      <a:prstDash val="solid"/>
                      <a:round/>
                      <a:headEnd type="none" w="med" len="med"/>
                      <a:tailEnd type="none" w="med" len="med"/>
                    </a:lnL>
                    <a:lnR w="12700" cap="flat" cmpd="sng" algn="ctr">
                      <a:solidFill>
                        <a:srgbClr val="DEDEDE"/>
                      </a:solidFill>
                      <a:prstDash val="solid"/>
                      <a:round/>
                      <a:headEnd type="none" w="med" len="med"/>
                      <a:tailEnd type="none" w="med" len="med"/>
                    </a:lnR>
                    <a:lnT w="12700" cap="flat" cmpd="sng" algn="ctr">
                      <a:solidFill>
                        <a:srgbClr val="DEDEDE"/>
                      </a:solidFill>
                      <a:prstDash val="solid"/>
                      <a:round/>
                      <a:headEnd type="none" w="med" len="med"/>
                      <a:tailEnd type="none" w="med" len="med"/>
                    </a:lnT>
                    <a:lnB w="12700" cap="flat" cmpd="sng" algn="ctr">
                      <a:solidFill>
                        <a:srgbClr val="DEDEDE"/>
                      </a:solidFill>
                      <a:prstDash val="solid"/>
                      <a:round/>
                      <a:headEnd type="none" w="med" len="med"/>
                      <a:tailEnd type="none" w="med" len="med"/>
                    </a:lnB>
                    <a:solidFill>
                      <a:srgbClr val="FFFFFF"/>
                    </a:solidFill>
                  </a:tcPr>
                </a:tc>
                <a:tc>
                  <a:txBody>
                    <a:bodyPr/>
                    <a:lstStyle/>
                    <a:p>
                      <a:pPr marL="0" indent="0">
                        <a:buNone/>
                      </a:pPr>
                      <a:r>
                        <a:rPr lang="en-US" sz="1000" dirty="0">
                          <a:solidFill>
                            <a:srgbClr val="2C2C2C"/>
                          </a:solidFill>
                          <a:latin typeface="Calibri" pitchFamily="34" charset="0"/>
                          <a:ea typeface="Calibri" pitchFamily="34" charset="-122"/>
                          <a:cs typeface="Calibri" pitchFamily="34" charset="-120"/>
                        </a:rPr>
                        <a:t>QA Environment | Chrome 124 | Windows 11 | App v2.3.1-RC1</a:t>
                      </a:r>
                      <a:endParaRPr lang="en-US" sz="1000" dirty="0">
                        <a:latin typeface="Calibri" charset="0"/>
                        <a:ea typeface="Calibri" charset="0"/>
                        <a:cs typeface="Calibri" charset="0"/>
                      </a:endParaRPr>
                    </a:p>
                  </a:txBody>
                  <a:tcPr marL="38100" marR="38100" marT="38100" marB="38100" anchor="ctr">
                    <a:lnL w="12700" cap="flat" cmpd="sng" algn="ctr">
                      <a:solidFill>
                        <a:srgbClr val="DEDEDE"/>
                      </a:solidFill>
                      <a:prstDash val="solid"/>
                      <a:round/>
                      <a:headEnd type="none" w="med" len="med"/>
                      <a:tailEnd type="none" w="med" len="med"/>
                    </a:lnL>
                    <a:lnR w="12700" cap="flat" cmpd="sng" algn="ctr">
                      <a:solidFill>
                        <a:srgbClr val="DEDEDE"/>
                      </a:solidFill>
                      <a:prstDash val="solid"/>
                      <a:round/>
                      <a:headEnd type="none" w="med" len="med"/>
                      <a:tailEnd type="none" w="med" len="med"/>
                    </a:lnR>
                    <a:lnT w="12700" cap="flat" cmpd="sng" algn="ctr">
                      <a:solidFill>
                        <a:srgbClr val="DEDEDE"/>
                      </a:solidFill>
                      <a:prstDash val="solid"/>
                      <a:round/>
                      <a:headEnd type="none" w="med" len="med"/>
                      <a:tailEnd type="none" w="med" len="med"/>
                    </a:lnT>
                    <a:lnB w="12700" cap="flat" cmpd="sng" algn="ctr">
                      <a:solidFill>
                        <a:srgbClr val="DEDEDE"/>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246888">
                <a:tc>
                  <a:txBody>
                    <a:bodyPr/>
                    <a:lstStyle/>
                    <a:p>
                      <a:pPr marL="0" indent="0">
                        <a:buNone/>
                      </a:pPr>
                      <a:r>
                        <a:rPr lang="en-US" sz="1000" dirty="0">
                          <a:solidFill>
                            <a:srgbClr val="2C2C2C"/>
                          </a:solidFill>
                          <a:latin typeface="Arial" pitchFamily="34" charset="0"/>
                          <a:ea typeface="Arial" pitchFamily="34" charset="-122"/>
                          <a:cs typeface="Arial" pitchFamily="34" charset="-120"/>
                        </a:rPr>
                        <a:t>Reported By</a:t>
                      </a:r>
                      <a:endParaRPr lang="en-US" sz="1000" dirty="0">
                        <a:latin typeface="Arial" charset="0"/>
                        <a:ea typeface="Arial" charset="0"/>
                        <a:cs typeface="Arial" charset="0"/>
                      </a:endParaRPr>
                    </a:p>
                  </a:txBody>
                  <a:tcPr marL="38100" marR="38100" marT="38100" marB="38100" anchor="ctr">
                    <a:lnL w="12700" cap="flat" cmpd="sng" algn="ctr">
                      <a:solidFill>
                        <a:srgbClr val="DEDEDE"/>
                      </a:solidFill>
                      <a:prstDash val="solid"/>
                      <a:round/>
                      <a:headEnd type="none" w="med" len="med"/>
                      <a:tailEnd type="none" w="med" len="med"/>
                    </a:lnL>
                    <a:lnR w="12700" cap="flat" cmpd="sng" algn="ctr">
                      <a:solidFill>
                        <a:srgbClr val="DEDEDE"/>
                      </a:solidFill>
                      <a:prstDash val="solid"/>
                      <a:round/>
                      <a:headEnd type="none" w="med" len="med"/>
                      <a:tailEnd type="none" w="med" len="med"/>
                    </a:lnR>
                    <a:lnT w="12700" cap="flat" cmpd="sng" algn="ctr">
                      <a:solidFill>
                        <a:srgbClr val="DEDEDE"/>
                      </a:solidFill>
                      <a:prstDash val="solid"/>
                      <a:round/>
                      <a:headEnd type="none" w="med" len="med"/>
                      <a:tailEnd type="none" w="med" len="med"/>
                    </a:lnT>
                    <a:lnB w="12700" cap="flat" cmpd="sng" algn="ctr">
                      <a:solidFill>
                        <a:srgbClr val="DEDEDE"/>
                      </a:solidFill>
                      <a:prstDash val="solid"/>
                      <a:round/>
                      <a:headEnd type="none" w="med" len="med"/>
                      <a:tailEnd type="none" w="med" len="med"/>
                    </a:lnB>
                    <a:solidFill>
                      <a:srgbClr val="F0F0F0"/>
                    </a:solidFill>
                  </a:tcPr>
                </a:tc>
                <a:tc>
                  <a:txBody>
                    <a:bodyPr/>
                    <a:lstStyle/>
                    <a:p>
                      <a:pPr marL="0" indent="0">
                        <a:buNone/>
                      </a:pPr>
                      <a:r>
                        <a:rPr lang="en-US" sz="1000" dirty="0">
                          <a:solidFill>
                            <a:srgbClr val="2C2C2C"/>
                          </a:solidFill>
                          <a:latin typeface="Calibri" pitchFamily="34" charset="0"/>
                          <a:ea typeface="Calibri" pitchFamily="34" charset="-122"/>
                          <a:cs typeface="Calibri" pitchFamily="34" charset="-120"/>
                        </a:rPr>
                        <a:t>Jane Doe (QA Engineer) — 2025-08-14 09:32</a:t>
                      </a:r>
                      <a:endParaRPr lang="en-US" sz="1000" dirty="0">
                        <a:latin typeface="Calibri" charset="0"/>
                        <a:ea typeface="Calibri" charset="0"/>
                        <a:cs typeface="Calibri" charset="0"/>
                      </a:endParaRPr>
                    </a:p>
                  </a:txBody>
                  <a:tcPr marL="38100" marR="38100" marT="38100" marB="38100" anchor="ctr">
                    <a:lnL w="12700" cap="flat" cmpd="sng" algn="ctr">
                      <a:solidFill>
                        <a:srgbClr val="DEDEDE"/>
                      </a:solidFill>
                      <a:prstDash val="solid"/>
                      <a:round/>
                      <a:headEnd type="none" w="med" len="med"/>
                      <a:tailEnd type="none" w="med" len="med"/>
                    </a:lnL>
                    <a:lnR w="12700" cap="flat" cmpd="sng" algn="ctr">
                      <a:solidFill>
                        <a:srgbClr val="DEDEDE"/>
                      </a:solidFill>
                      <a:prstDash val="solid"/>
                      <a:round/>
                      <a:headEnd type="none" w="med" len="med"/>
                      <a:tailEnd type="none" w="med" len="med"/>
                    </a:lnR>
                    <a:lnT w="12700" cap="flat" cmpd="sng" algn="ctr">
                      <a:solidFill>
                        <a:srgbClr val="DEDEDE"/>
                      </a:solidFill>
                      <a:prstDash val="solid"/>
                      <a:round/>
                      <a:headEnd type="none" w="med" len="med"/>
                      <a:tailEnd type="none" w="med" len="med"/>
                    </a:lnT>
                    <a:lnB w="12700" cap="flat" cmpd="sng" algn="ctr">
                      <a:solidFill>
                        <a:srgbClr val="DEDEDE"/>
                      </a:solidFill>
                      <a:prstDash val="solid"/>
                      <a:round/>
                      <a:headEnd type="none" w="med" len="med"/>
                      <a:tailEnd type="none" w="med" len="med"/>
                    </a:lnB>
                    <a:solidFill>
                      <a:srgbClr val="F0F0F0"/>
                    </a:solidFill>
                  </a:tcPr>
                </a:tc>
                <a:extLst>
                  <a:ext uri="{0D108BD9-81ED-4DB2-BD59-A6C34878D82A}">
                    <a16:rowId xmlns:a16="http://schemas.microsoft.com/office/drawing/2014/main" val="10005"/>
                  </a:ext>
                </a:extLst>
              </a:tr>
              <a:tr h="246888">
                <a:tc>
                  <a:txBody>
                    <a:bodyPr/>
                    <a:lstStyle/>
                    <a:p>
                      <a:pPr marL="0" indent="0">
                        <a:buNone/>
                      </a:pPr>
                      <a:r>
                        <a:rPr lang="en-US" sz="1000" dirty="0">
                          <a:solidFill>
                            <a:srgbClr val="2C2C2C"/>
                          </a:solidFill>
                          <a:latin typeface="Arial" pitchFamily="34" charset="0"/>
                          <a:ea typeface="Arial" pitchFamily="34" charset="-122"/>
                          <a:cs typeface="Arial" pitchFamily="34" charset="-120"/>
                        </a:rPr>
                        <a:t>Assigned To</a:t>
                      </a:r>
                      <a:endParaRPr lang="en-US" sz="1000" dirty="0">
                        <a:latin typeface="Arial" charset="0"/>
                        <a:ea typeface="Arial" charset="0"/>
                        <a:cs typeface="Arial" charset="0"/>
                      </a:endParaRPr>
                    </a:p>
                  </a:txBody>
                  <a:tcPr marL="38100" marR="38100" marT="38100" marB="38100" anchor="ctr">
                    <a:lnL w="12700" cap="flat" cmpd="sng" algn="ctr">
                      <a:solidFill>
                        <a:srgbClr val="DEDEDE"/>
                      </a:solidFill>
                      <a:prstDash val="solid"/>
                      <a:round/>
                      <a:headEnd type="none" w="med" len="med"/>
                      <a:tailEnd type="none" w="med" len="med"/>
                    </a:lnL>
                    <a:lnR w="12700" cap="flat" cmpd="sng" algn="ctr">
                      <a:solidFill>
                        <a:srgbClr val="DEDEDE"/>
                      </a:solidFill>
                      <a:prstDash val="solid"/>
                      <a:round/>
                      <a:headEnd type="none" w="med" len="med"/>
                      <a:tailEnd type="none" w="med" len="med"/>
                    </a:lnR>
                    <a:lnT w="12700" cap="flat" cmpd="sng" algn="ctr">
                      <a:solidFill>
                        <a:srgbClr val="DEDEDE"/>
                      </a:solidFill>
                      <a:prstDash val="solid"/>
                      <a:round/>
                      <a:headEnd type="none" w="med" len="med"/>
                      <a:tailEnd type="none" w="med" len="med"/>
                    </a:lnT>
                    <a:lnB w="12700" cap="flat" cmpd="sng" algn="ctr">
                      <a:solidFill>
                        <a:srgbClr val="DEDEDE"/>
                      </a:solidFill>
                      <a:prstDash val="solid"/>
                      <a:round/>
                      <a:headEnd type="none" w="med" len="med"/>
                      <a:tailEnd type="none" w="med" len="med"/>
                    </a:lnB>
                    <a:solidFill>
                      <a:srgbClr val="FFFFFF"/>
                    </a:solidFill>
                  </a:tcPr>
                </a:tc>
                <a:tc>
                  <a:txBody>
                    <a:bodyPr/>
                    <a:lstStyle/>
                    <a:p>
                      <a:pPr marL="0" indent="0">
                        <a:buNone/>
                      </a:pPr>
                      <a:r>
                        <a:rPr lang="en-US" sz="1000" dirty="0">
                          <a:solidFill>
                            <a:srgbClr val="2C2C2C"/>
                          </a:solidFill>
                          <a:latin typeface="Calibri" pitchFamily="34" charset="0"/>
                          <a:ea typeface="Calibri" pitchFamily="34" charset="-122"/>
                          <a:cs typeface="Calibri" pitchFamily="34" charset="-120"/>
                        </a:rPr>
                        <a:t>Mark Smith (Backend Developer)</a:t>
                      </a:r>
                      <a:endParaRPr lang="en-US" sz="1000" dirty="0">
                        <a:latin typeface="Calibri" charset="0"/>
                        <a:ea typeface="Calibri" charset="0"/>
                        <a:cs typeface="Calibri" charset="0"/>
                      </a:endParaRPr>
                    </a:p>
                  </a:txBody>
                  <a:tcPr marL="38100" marR="38100" marT="38100" marB="38100" anchor="ctr">
                    <a:lnL w="12700" cap="flat" cmpd="sng" algn="ctr">
                      <a:solidFill>
                        <a:srgbClr val="DEDEDE"/>
                      </a:solidFill>
                      <a:prstDash val="solid"/>
                      <a:round/>
                      <a:headEnd type="none" w="med" len="med"/>
                      <a:tailEnd type="none" w="med" len="med"/>
                    </a:lnL>
                    <a:lnR w="12700" cap="flat" cmpd="sng" algn="ctr">
                      <a:solidFill>
                        <a:srgbClr val="DEDEDE"/>
                      </a:solidFill>
                      <a:prstDash val="solid"/>
                      <a:round/>
                      <a:headEnd type="none" w="med" len="med"/>
                      <a:tailEnd type="none" w="med" len="med"/>
                    </a:lnR>
                    <a:lnT w="12700" cap="flat" cmpd="sng" algn="ctr">
                      <a:solidFill>
                        <a:srgbClr val="DEDEDE"/>
                      </a:solidFill>
                      <a:prstDash val="solid"/>
                      <a:round/>
                      <a:headEnd type="none" w="med" len="med"/>
                      <a:tailEnd type="none" w="med" len="med"/>
                    </a:lnT>
                    <a:lnB w="12700" cap="flat" cmpd="sng" algn="ctr">
                      <a:solidFill>
                        <a:srgbClr val="DEDEDE"/>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r h="246888">
                <a:tc>
                  <a:txBody>
                    <a:bodyPr/>
                    <a:lstStyle/>
                    <a:p>
                      <a:pPr marL="0" indent="0">
                        <a:buNone/>
                      </a:pPr>
                      <a:r>
                        <a:rPr lang="en-US" sz="1000" dirty="0">
                          <a:solidFill>
                            <a:srgbClr val="2C2C2C"/>
                          </a:solidFill>
                          <a:latin typeface="Arial" pitchFamily="34" charset="0"/>
                          <a:ea typeface="Arial" pitchFamily="34" charset="-122"/>
                          <a:cs typeface="Arial" pitchFamily="34" charset="-120"/>
                        </a:rPr>
                        <a:t>Steps to Reproduce</a:t>
                      </a:r>
                      <a:endParaRPr lang="en-US" sz="1000" dirty="0">
                        <a:latin typeface="Arial" charset="0"/>
                        <a:ea typeface="Arial" charset="0"/>
                        <a:cs typeface="Arial" charset="0"/>
                      </a:endParaRPr>
                    </a:p>
                  </a:txBody>
                  <a:tcPr marL="38100" marR="38100" marT="38100" marB="38100" anchor="ctr">
                    <a:lnL w="12700" cap="flat" cmpd="sng" algn="ctr">
                      <a:solidFill>
                        <a:srgbClr val="DEDEDE"/>
                      </a:solidFill>
                      <a:prstDash val="solid"/>
                      <a:round/>
                      <a:headEnd type="none" w="med" len="med"/>
                      <a:tailEnd type="none" w="med" len="med"/>
                    </a:lnL>
                    <a:lnR w="12700" cap="flat" cmpd="sng" algn="ctr">
                      <a:solidFill>
                        <a:srgbClr val="DEDEDE"/>
                      </a:solidFill>
                      <a:prstDash val="solid"/>
                      <a:round/>
                      <a:headEnd type="none" w="med" len="med"/>
                      <a:tailEnd type="none" w="med" len="med"/>
                    </a:lnR>
                    <a:lnT w="12700" cap="flat" cmpd="sng" algn="ctr">
                      <a:solidFill>
                        <a:srgbClr val="DEDEDE"/>
                      </a:solidFill>
                      <a:prstDash val="solid"/>
                      <a:round/>
                      <a:headEnd type="none" w="med" len="med"/>
                      <a:tailEnd type="none" w="med" len="med"/>
                    </a:lnT>
                    <a:lnB w="12700" cap="flat" cmpd="sng" algn="ctr">
                      <a:solidFill>
                        <a:srgbClr val="DEDEDE"/>
                      </a:solidFill>
                      <a:prstDash val="solid"/>
                      <a:round/>
                      <a:headEnd type="none" w="med" len="med"/>
                      <a:tailEnd type="none" w="med" len="med"/>
                    </a:lnB>
                    <a:solidFill>
                      <a:srgbClr val="F0F0F0"/>
                    </a:solidFill>
                  </a:tcPr>
                </a:tc>
                <a:tc>
                  <a:txBody>
                    <a:bodyPr/>
                    <a:lstStyle/>
                    <a:p>
                      <a:pPr marL="0" indent="0">
                        <a:buNone/>
                      </a:pPr>
                      <a:r>
                        <a:rPr lang="en-US" sz="1000" dirty="0">
                          <a:solidFill>
                            <a:srgbClr val="2C2C2C"/>
                          </a:solidFill>
                          <a:latin typeface="Calibri" pitchFamily="34" charset="0"/>
                          <a:ea typeface="Calibri" pitchFamily="34" charset="-122"/>
                          <a:cs typeface="Calibri" pitchFamily="34" charset="-120"/>
                        </a:rPr>
                        <a:t>1. Navigate to https://qa.app.example.com/login</a:t>
                      </a:r>
                      <a:endParaRPr lang="en-US" sz="1000" dirty="0">
                        <a:latin typeface="Calibri" charset="0"/>
                        <a:ea typeface="Calibri" charset="0"/>
                        <a:cs typeface="Calibri" charset="0"/>
                      </a:endParaRPr>
                    </a:p>
                    <a:p>
                      <a:pPr marL="0" indent="0">
                        <a:buNone/>
                      </a:pPr>
                      <a:r>
                        <a:rPr lang="en-US" sz="1000" dirty="0">
                          <a:solidFill>
                            <a:srgbClr val="2C2C2C"/>
                          </a:solidFill>
                          <a:latin typeface="Calibri" pitchFamily="34" charset="0"/>
                          <a:ea typeface="Calibri" pitchFamily="34" charset="-122"/>
                          <a:cs typeface="Calibri" pitchFamily="34" charset="-120"/>
                        </a:rPr>
                        <a:t>2. Click 'Forgot Password'</a:t>
                      </a:r>
                      <a:endParaRPr lang="en-US" sz="1000" dirty="0">
                        <a:latin typeface="Calibri" charset="0"/>
                        <a:ea typeface="Calibri" charset="0"/>
                        <a:cs typeface="Calibri" charset="0"/>
                      </a:endParaRPr>
                    </a:p>
                    <a:p>
                      <a:pPr marL="0" indent="0">
                        <a:buNone/>
                      </a:pPr>
                      <a:r>
                        <a:rPr lang="en-US" sz="1000" dirty="0">
                          <a:solidFill>
                            <a:srgbClr val="2C2C2C"/>
                          </a:solidFill>
                          <a:latin typeface="Calibri" pitchFamily="34" charset="0"/>
                          <a:ea typeface="Calibri" pitchFamily="34" charset="-122"/>
                          <a:cs typeface="Calibri" pitchFamily="34" charset="-120"/>
                        </a:rPr>
                        <a:t>3. Enter john@example.com in the email field</a:t>
                      </a:r>
                      <a:endParaRPr lang="en-US" sz="1000" dirty="0">
                        <a:latin typeface="Calibri" charset="0"/>
                        <a:ea typeface="Calibri" charset="0"/>
                        <a:cs typeface="Calibri" charset="0"/>
                      </a:endParaRPr>
                    </a:p>
                    <a:p>
                      <a:pPr marL="0" indent="0">
                        <a:buNone/>
                      </a:pPr>
                      <a:r>
                        <a:rPr lang="en-US" sz="1000" dirty="0">
                          <a:solidFill>
                            <a:srgbClr val="2C2C2C"/>
                          </a:solidFill>
                          <a:latin typeface="Calibri" pitchFamily="34" charset="0"/>
                          <a:ea typeface="Calibri" pitchFamily="34" charset="-122"/>
                          <a:cs typeface="Calibri" pitchFamily="34" charset="-120"/>
                        </a:rPr>
                        <a:t>4. Click 'Send Reset Link'</a:t>
                      </a:r>
                      <a:endParaRPr lang="en-US" sz="1000" dirty="0">
                        <a:latin typeface="Calibri" charset="0"/>
                        <a:ea typeface="Calibri" charset="0"/>
                        <a:cs typeface="Calibri" charset="0"/>
                      </a:endParaRPr>
                    </a:p>
                    <a:p>
                      <a:pPr marL="0" indent="0">
                        <a:buNone/>
                      </a:pPr>
                      <a:r>
                        <a:rPr lang="en-US" sz="1000" dirty="0">
                          <a:solidFill>
                            <a:srgbClr val="2C2C2C"/>
                          </a:solidFill>
                          <a:latin typeface="Calibri" pitchFamily="34" charset="0"/>
                          <a:ea typeface="Calibri" pitchFamily="34" charset="-122"/>
                          <a:cs typeface="Calibri" pitchFamily="34" charset="-120"/>
                        </a:rPr>
                        <a:t>5. Wait 5 minutes and check email inbox</a:t>
                      </a:r>
                      <a:endParaRPr lang="en-US" sz="1000" dirty="0">
                        <a:latin typeface="Calibri" charset="0"/>
                        <a:ea typeface="Calibri" charset="0"/>
                        <a:cs typeface="Calibri" charset="0"/>
                      </a:endParaRPr>
                    </a:p>
                  </a:txBody>
                  <a:tcPr marL="38100" marR="38100" marT="38100" marB="38100" anchor="ctr">
                    <a:lnL w="12700" cap="flat" cmpd="sng" algn="ctr">
                      <a:solidFill>
                        <a:srgbClr val="DEDEDE"/>
                      </a:solidFill>
                      <a:prstDash val="solid"/>
                      <a:round/>
                      <a:headEnd type="none" w="med" len="med"/>
                      <a:tailEnd type="none" w="med" len="med"/>
                    </a:lnL>
                    <a:lnR w="12700" cap="flat" cmpd="sng" algn="ctr">
                      <a:solidFill>
                        <a:srgbClr val="DEDEDE"/>
                      </a:solidFill>
                      <a:prstDash val="solid"/>
                      <a:round/>
                      <a:headEnd type="none" w="med" len="med"/>
                      <a:tailEnd type="none" w="med" len="med"/>
                    </a:lnR>
                    <a:lnT w="12700" cap="flat" cmpd="sng" algn="ctr">
                      <a:solidFill>
                        <a:srgbClr val="DEDEDE"/>
                      </a:solidFill>
                      <a:prstDash val="solid"/>
                      <a:round/>
                      <a:headEnd type="none" w="med" len="med"/>
                      <a:tailEnd type="none" w="med" len="med"/>
                    </a:lnT>
                    <a:lnB w="12700" cap="flat" cmpd="sng" algn="ctr">
                      <a:solidFill>
                        <a:srgbClr val="DEDEDE"/>
                      </a:solidFill>
                      <a:prstDash val="solid"/>
                      <a:round/>
                      <a:headEnd type="none" w="med" len="med"/>
                      <a:tailEnd type="none" w="med" len="med"/>
                    </a:lnB>
                    <a:solidFill>
                      <a:srgbClr val="F0F0F0"/>
                    </a:solidFill>
                  </a:tcPr>
                </a:tc>
                <a:extLst>
                  <a:ext uri="{0D108BD9-81ED-4DB2-BD59-A6C34878D82A}">
                    <a16:rowId xmlns:a16="http://schemas.microsoft.com/office/drawing/2014/main" val="10007"/>
                  </a:ext>
                </a:extLst>
              </a:tr>
              <a:tr h="246888">
                <a:tc>
                  <a:txBody>
                    <a:bodyPr/>
                    <a:lstStyle/>
                    <a:p>
                      <a:pPr marL="0" indent="0">
                        <a:buNone/>
                      </a:pPr>
                      <a:r>
                        <a:rPr lang="en-US" sz="1000" dirty="0">
                          <a:solidFill>
                            <a:srgbClr val="2C2C2C"/>
                          </a:solidFill>
                          <a:latin typeface="Arial" pitchFamily="34" charset="0"/>
                          <a:ea typeface="Arial" pitchFamily="34" charset="-122"/>
                          <a:cs typeface="Arial" pitchFamily="34" charset="-120"/>
                        </a:rPr>
                        <a:t>Expected Result</a:t>
                      </a:r>
                      <a:endParaRPr lang="en-US" sz="1000" dirty="0">
                        <a:latin typeface="Arial" charset="0"/>
                        <a:ea typeface="Arial" charset="0"/>
                        <a:cs typeface="Arial" charset="0"/>
                      </a:endParaRPr>
                    </a:p>
                  </a:txBody>
                  <a:tcPr marL="38100" marR="38100" marT="38100" marB="38100" anchor="ctr">
                    <a:lnL w="12700" cap="flat" cmpd="sng" algn="ctr">
                      <a:solidFill>
                        <a:srgbClr val="DEDEDE"/>
                      </a:solidFill>
                      <a:prstDash val="solid"/>
                      <a:round/>
                      <a:headEnd type="none" w="med" len="med"/>
                      <a:tailEnd type="none" w="med" len="med"/>
                    </a:lnL>
                    <a:lnR w="12700" cap="flat" cmpd="sng" algn="ctr">
                      <a:solidFill>
                        <a:srgbClr val="DEDEDE"/>
                      </a:solidFill>
                      <a:prstDash val="solid"/>
                      <a:round/>
                      <a:headEnd type="none" w="med" len="med"/>
                      <a:tailEnd type="none" w="med" len="med"/>
                    </a:lnR>
                    <a:lnT w="12700" cap="flat" cmpd="sng" algn="ctr">
                      <a:solidFill>
                        <a:srgbClr val="DEDEDE"/>
                      </a:solidFill>
                      <a:prstDash val="solid"/>
                      <a:round/>
                      <a:headEnd type="none" w="med" len="med"/>
                      <a:tailEnd type="none" w="med" len="med"/>
                    </a:lnT>
                    <a:lnB w="12700" cap="flat" cmpd="sng" algn="ctr">
                      <a:solidFill>
                        <a:srgbClr val="DEDEDE"/>
                      </a:solidFill>
                      <a:prstDash val="solid"/>
                      <a:round/>
                      <a:headEnd type="none" w="med" len="med"/>
                      <a:tailEnd type="none" w="med" len="med"/>
                    </a:lnB>
                    <a:solidFill>
                      <a:srgbClr val="FFFFFF"/>
                    </a:solidFill>
                  </a:tcPr>
                </a:tc>
                <a:tc>
                  <a:txBody>
                    <a:bodyPr/>
                    <a:lstStyle/>
                    <a:p>
                      <a:pPr marL="0" indent="0">
                        <a:buNone/>
                      </a:pPr>
                      <a:r>
                        <a:rPr lang="en-US" sz="1000" dirty="0">
                          <a:solidFill>
                            <a:srgbClr val="2C2C2C"/>
                          </a:solidFill>
                          <a:latin typeface="Calibri" pitchFamily="34" charset="0"/>
                          <a:ea typeface="Calibri" pitchFamily="34" charset="-122"/>
                          <a:cs typeface="Calibri" pitchFamily="34" charset="-120"/>
                        </a:rPr>
                        <a:t>User receives password reset email within 60 seconds containing a valid reset link</a:t>
                      </a:r>
                      <a:endParaRPr lang="en-US" sz="1000" dirty="0">
                        <a:latin typeface="Calibri" charset="0"/>
                        <a:ea typeface="Calibri" charset="0"/>
                        <a:cs typeface="Calibri" charset="0"/>
                      </a:endParaRPr>
                    </a:p>
                  </a:txBody>
                  <a:tcPr marL="38100" marR="38100" marT="38100" marB="38100" anchor="ctr">
                    <a:lnL w="12700" cap="flat" cmpd="sng" algn="ctr">
                      <a:solidFill>
                        <a:srgbClr val="DEDEDE"/>
                      </a:solidFill>
                      <a:prstDash val="solid"/>
                      <a:round/>
                      <a:headEnd type="none" w="med" len="med"/>
                      <a:tailEnd type="none" w="med" len="med"/>
                    </a:lnL>
                    <a:lnR w="12700" cap="flat" cmpd="sng" algn="ctr">
                      <a:solidFill>
                        <a:srgbClr val="DEDEDE"/>
                      </a:solidFill>
                      <a:prstDash val="solid"/>
                      <a:round/>
                      <a:headEnd type="none" w="med" len="med"/>
                      <a:tailEnd type="none" w="med" len="med"/>
                    </a:lnR>
                    <a:lnT w="12700" cap="flat" cmpd="sng" algn="ctr">
                      <a:solidFill>
                        <a:srgbClr val="DEDEDE"/>
                      </a:solidFill>
                      <a:prstDash val="solid"/>
                      <a:round/>
                      <a:headEnd type="none" w="med" len="med"/>
                      <a:tailEnd type="none" w="med" len="med"/>
                    </a:lnT>
                    <a:lnB w="12700" cap="flat" cmpd="sng" algn="ctr">
                      <a:solidFill>
                        <a:srgbClr val="DEDEDE"/>
                      </a:solidFill>
                      <a:prstDash val="solid"/>
                      <a:round/>
                      <a:headEnd type="none" w="med" len="med"/>
                      <a:tailEnd type="none" w="med" len="med"/>
                    </a:lnB>
                    <a:solidFill>
                      <a:srgbClr val="FFFFFF"/>
                    </a:solidFill>
                  </a:tcPr>
                </a:tc>
                <a:extLst>
                  <a:ext uri="{0D108BD9-81ED-4DB2-BD59-A6C34878D82A}">
                    <a16:rowId xmlns:a16="http://schemas.microsoft.com/office/drawing/2014/main" val="10008"/>
                  </a:ext>
                </a:extLst>
              </a:tr>
              <a:tr h="246888">
                <a:tc>
                  <a:txBody>
                    <a:bodyPr/>
                    <a:lstStyle/>
                    <a:p>
                      <a:pPr marL="0" indent="0">
                        <a:buNone/>
                      </a:pPr>
                      <a:r>
                        <a:rPr lang="en-US" sz="1000" dirty="0">
                          <a:solidFill>
                            <a:srgbClr val="2C2C2C"/>
                          </a:solidFill>
                          <a:latin typeface="Arial" pitchFamily="34" charset="0"/>
                          <a:ea typeface="Arial" pitchFamily="34" charset="-122"/>
                          <a:cs typeface="Arial" pitchFamily="34" charset="-120"/>
                        </a:rPr>
                        <a:t>Actual Result</a:t>
                      </a:r>
                      <a:endParaRPr lang="en-US" sz="1000" dirty="0">
                        <a:latin typeface="Arial" charset="0"/>
                        <a:ea typeface="Arial" charset="0"/>
                        <a:cs typeface="Arial" charset="0"/>
                      </a:endParaRPr>
                    </a:p>
                  </a:txBody>
                  <a:tcPr marL="38100" marR="38100" marT="38100" marB="38100" anchor="ctr">
                    <a:lnL w="12700" cap="flat" cmpd="sng" algn="ctr">
                      <a:solidFill>
                        <a:srgbClr val="DEDEDE"/>
                      </a:solidFill>
                      <a:prstDash val="solid"/>
                      <a:round/>
                      <a:headEnd type="none" w="med" len="med"/>
                      <a:tailEnd type="none" w="med" len="med"/>
                    </a:lnL>
                    <a:lnR w="12700" cap="flat" cmpd="sng" algn="ctr">
                      <a:solidFill>
                        <a:srgbClr val="DEDEDE"/>
                      </a:solidFill>
                      <a:prstDash val="solid"/>
                      <a:round/>
                      <a:headEnd type="none" w="med" len="med"/>
                      <a:tailEnd type="none" w="med" len="med"/>
                    </a:lnR>
                    <a:lnT w="12700" cap="flat" cmpd="sng" algn="ctr">
                      <a:solidFill>
                        <a:srgbClr val="DEDEDE"/>
                      </a:solidFill>
                      <a:prstDash val="solid"/>
                      <a:round/>
                      <a:headEnd type="none" w="med" len="med"/>
                      <a:tailEnd type="none" w="med" len="med"/>
                    </a:lnT>
                    <a:lnB w="12700" cap="flat" cmpd="sng" algn="ctr">
                      <a:solidFill>
                        <a:srgbClr val="DEDEDE"/>
                      </a:solidFill>
                      <a:prstDash val="solid"/>
                      <a:round/>
                      <a:headEnd type="none" w="med" len="med"/>
                      <a:tailEnd type="none" w="med" len="med"/>
                    </a:lnB>
                    <a:solidFill>
                      <a:srgbClr val="F0F0F0"/>
                    </a:solidFill>
                  </a:tcPr>
                </a:tc>
                <a:tc>
                  <a:txBody>
                    <a:bodyPr/>
                    <a:lstStyle/>
                    <a:p>
                      <a:pPr marL="0" indent="0">
                        <a:buNone/>
                      </a:pPr>
                      <a:r>
                        <a:rPr lang="en-US" sz="1000" b="1" dirty="0">
                          <a:solidFill>
                            <a:srgbClr val="C0392B"/>
                          </a:solidFill>
                          <a:latin typeface="Calibri" pitchFamily="34" charset="0"/>
                          <a:ea typeface="Calibri" pitchFamily="34" charset="-122"/>
                          <a:cs typeface="Calibri" pitchFamily="34" charset="-120"/>
                        </a:rPr>
                        <a:t>No email received after 5 minutes. No error message shown on screen. UI shows 'Reset link sent' success message incorrectly.</a:t>
                      </a:r>
                      <a:endParaRPr lang="en-US" sz="1000" dirty="0">
                        <a:latin typeface="Calibri" charset="0"/>
                        <a:ea typeface="Calibri" charset="0"/>
                        <a:cs typeface="Calibri" charset="0"/>
                      </a:endParaRPr>
                    </a:p>
                  </a:txBody>
                  <a:tcPr marL="38100" marR="38100" marT="38100" marB="38100" anchor="ctr">
                    <a:lnL w="12700" cap="flat" cmpd="sng" algn="ctr">
                      <a:solidFill>
                        <a:srgbClr val="DEDEDE"/>
                      </a:solidFill>
                      <a:prstDash val="solid"/>
                      <a:round/>
                      <a:headEnd type="none" w="med" len="med"/>
                      <a:tailEnd type="none" w="med" len="med"/>
                    </a:lnL>
                    <a:lnR w="12700" cap="flat" cmpd="sng" algn="ctr">
                      <a:solidFill>
                        <a:srgbClr val="DEDEDE"/>
                      </a:solidFill>
                      <a:prstDash val="solid"/>
                      <a:round/>
                      <a:headEnd type="none" w="med" len="med"/>
                      <a:tailEnd type="none" w="med" len="med"/>
                    </a:lnR>
                    <a:lnT w="12700" cap="flat" cmpd="sng" algn="ctr">
                      <a:solidFill>
                        <a:srgbClr val="DEDEDE"/>
                      </a:solidFill>
                      <a:prstDash val="solid"/>
                      <a:round/>
                      <a:headEnd type="none" w="med" len="med"/>
                      <a:tailEnd type="none" w="med" len="med"/>
                    </a:lnT>
                    <a:lnB w="12700" cap="flat" cmpd="sng" algn="ctr">
                      <a:solidFill>
                        <a:srgbClr val="DEDEDE"/>
                      </a:solidFill>
                      <a:prstDash val="solid"/>
                      <a:round/>
                      <a:headEnd type="none" w="med" len="med"/>
                      <a:tailEnd type="none" w="med" len="med"/>
                    </a:lnB>
                    <a:solidFill>
                      <a:srgbClr val="F0F0F0"/>
                    </a:solidFill>
                  </a:tcPr>
                </a:tc>
                <a:extLst>
                  <a:ext uri="{0D108BD9-81ED-4DB2-BD59-A6C34878D82A}">
                    <a16:rowId xmlns:a16="http://schemas.microsoft.com/office/drawing/2014/main" val="10009"/>
                  </a:ext>
                </a:extLst>
              </a:tr>
              <a:tr h="246888">
                <a:tc>
                  <a:txBody>
                    <a:bodyPr/>
                    <a:lstStyle/>
                    <a:p>
                      <a:pPr marL="0" indent="0">
                        <a:buNone/>
                      </a:pPr>
                      <a:r>
                        <a:rPr lang="en-US" sz="1000" b="1" dirty="0">
                          <a:solidFill>
                            <a:srgbClr val="C0392B"/>
                          </a:solidFill>
                          <a:latin typeface="Arial" pitchFamily="34" charset="0"/>
                          <a:ea typeface="Arial" pitchFamily="34" charset="-122"/>
                          <a:cs typeface="Arial" pitchFamily="34" charset="-120"/>
                        </a:rPr>
                        <a:t>Severity</a:t>
                      </a:r>
                      <a:endParaRPr lang="en-US" sz="1000" dirty="0">
                        <a:latin typeface="Arial" charset="0"/>
                        <a:ea typeface="Arial" charset="0"/>
                        <a:cs typeface="Arial" charset="0"/>
                      </a:endParaRPr>
                    </a:p>
                  </a:txBody>
                  <a:tcPr marL="38100" marR="38100" marT="38100" marB="38100" anchor="ctr">
                    <a:lnL w="12700" cap="flat" cmpd="sng" algn="ctr">
                      <a:solidFill>
                        <a:srgbClr val="DEDEDE"/>
                      </a:solidFill>
                      <a:prstDash val="solid"/>
                      <a:round/>
                      <a:headEnd type="none" w="med" len="med"/>
                      <a:tailEnd type="none" w="med" len="med"/>
                    </a:lnL>
                    <a:lnR w="12700" cap="flat" cmpd="sng" algn="ctr">
                      <a:solidFill>
                        <a:srgbClr val="DEDEDE"/>
                      </a:solidFill>
                      <a:prstDash val="solid"/>
                      <a:round/>
                      <a:headEnd type="none" w="med" len="med"/>
                      <a:tailEnd type="none" w="med" len="med"/>
                    </a:lnR>
                    <a:lnT w="12700" cap="flat" cmpd="sng" algn="ctr">
                      <a:solidFill>
                        <a:srgbClr val="DEDEDE"/>
                      </a:solidFill>
                      <a:prstDash val="solid"/>
                      <a:round/>
                      <a:headEnd type="none" w="med" len="med"/>
                      <a:tailEnd type="none" w="med" len="med"/>
                    </a:lnT>
                    <a:lnB w="12700" cap="flat" cmpd="sng" algn="ctr">
                      <a:solidFill>
                        <a:srgbClr val="DEDEDE"/>
                      </a:solidFill>
                      <a:prstDash val="solid"/>
                      <a:round/>
                      <a:headEnd type="none" w="med" len="med"/>
                      <a:tailEnd type="none" w="med" len="med"/>
                    </a:lnB>
                    <a:solidFill>
                      <a:srgbClr val="FFFFFF"/>
                    </a:solidFill>
                  </a:tcPr>
                </a:tc>
                <a:tc>
                  <a:txBody>
                    <a:bodyPr/>
                    <a:lstStyle/>
                    <a:p>
                      <a:pPr marL="0" indent="0">
                        <a:buNone/>
                      </a:pPr>
                      <a:r>
                        <a:rPr lang="en-US" sz="1000" b="1" dirty="0">
                          <a:solidFill>
                            <a:srgbClr val="C0392B"/>
                          </a:solidFill>
                          <a:latin typeface="Calibri" pitchFamily="34" charset="0"/>
                          <a:ea typeface="Calibri" pitchFamily="34" charset="-122"/>
                          <a:cs typeface="Calibri" pitchFamily="34" charset="-120"/>
                        </a:rPr>
                        <a:t>CRITICAL — Core authentication feature broken; users cannot recover accounts</a:t>
                      </a:r>
                      <a:endParaRPr lang="en-US" sz="1000" dirty="0">
                        <a:latin typeface="Calibri" charset="0"/>
                        <a:ea typeface="Calibri" charset="0"/>
                        <a:cs typeface="Calibri" charset="0"/>
                      </a:endParaRPr>
                    </a:p>
                  </a:txBody>
                  <a:tcPr marL="38100" marR="38100" marT="38100" marB="38100" anchor="ctr">
                    <a:lnL w="12700" cap="flat" cmpd="sng" algn="ctr">
                      <a:solidFill>
                        <a:srgbClr val="DEDEDE"/>
                      </a:solidFill>
                      <a:prstDash val="solid"/>
                      <a:round/>
                      <a:headEnd type="none" w="med" len="med"/>
                      <a:tailEnd type="none" w="med" len="med"/>
                    </a:lnL>
                    <a:lnR w="12700" cap="flat" cmpd="sng" algn="ctr">
                      <a:solidFill>
                        <a:srgbClr val="DEDEDE"/>
                      </a:solidFill>
                      <a:prstDash val="solid"/>
                      <a:round/>
                      <a:headEnd type="none" w="med" len="med"/>
                      <a:tailEnd type="none" w="med" len="med"/>
                    </a:lnR>
                    <a:lnT w="12700" cap="flat" cmpd="sng" algn="ctr">
                      <a:solidFill>
                        <a:srgbClr val="DEDEDE"/>
                      </a:solidFill>
                      <a:prstDash val="solid"/>
                      <a:round/>
                      <a:headEnd type="none" w="med" len="med"/>
                      <a:tailEnd type="none" w="med" len="med"/>
                    </a:lnT>
                    <a:lnB w="12700" cap="flat" cmpd="sng" algn="ctr">
                      <a:solidFill>
                        <a:srgbClr val="DEDEDE"/>
                      </a:solidFill>
                      <a:prstDash val="solid"/>
                      <a:round/>
                      <a:headEnd type="none" w="med" len="med"/>
                      <a:tailEnd type="none" w="med" len="med"/>
                    </a:lnB>
                    <a:solidFill>
                      <a:srgbClr val="FFFFFF"/>
                    </a:solidFill>
                  </a:tcPr>
                </a:tc>
                <a:extLst>
                  <a:ext uri="{0D108BD9-81ED-4DB2-BD59-A6C34878D82A}">
                    <a16:rowId xmlns:a16="http://schemas.microsoft.com/office/drawing/2014/main" val="10010"/>
                  </a:ext>
                </a:extLst>
              </a:tr>
              <a:tr h="246888">
                <a:tc>
                  <a:txBody>
                    <a:bodyPr/>
                    <a:lstStyle/>
                    <a:p>
                      <a:pPr marL="0" indent="0">
                        <a:buNone/>
                      </a:pPr>
                      <a:r>
                        <a:rPr lang="en-US" sz="1000" b="1" dirty="0">
                          <a:solidFill>
                            <a:srgbClr val="FF6500"/>
                          </a:solidFill>
                          <a:latin typeface="Arial" pitchFamily="34" charset="0"/>
                          <a:ea typeface="Arial" pitchFamily="34" charset="-122"/>
                          <a:cs typeface="Arial" pitchFamily="34" charset="-120"/>
                        </a:rPr>
                        <a:t>Priority</a:t>
                      </a:r>
                      <a:endParaRPr lang="en-US" sz="1000" dirty="0">
                        <a:latin typeface="Arial" charset="0"/>
                        <a:ea typeface="Arial" charset="0"/>
                        <a:cs typeface="Arial" charset="0"/>
                      </a:endParaRPr>
                    </a:p>
                  </a:txBody>
                  <a:tcPr marL="38100" marR="38100" marT="38100" marB="38100" anchor="ctr">
                    <a:lnL w="12700" cap="flat" cmpd="sng" algn="ctr">
                      <a:solidFill>
                        <a:srgbClr val="DEDEDE"/>
                      </a:solidFill>
                      <a:prstDash val="solid"/>
                      <a:round/>
                      <a:headEnd type="none" w="med" len="med"/>
                      <a:tailEnd type="none" w="med" len="med"/>
                    </a:lnL>
                    <a:lnR w="12700" cap="flat" cmpd="sng" algn="ctr">
                      <a:solidFill>
                        <a:srgbClr val="DEDEDE"/>
                      </a:solidFill>
                      <a:prstDash val="solid"/>
                      <a:round/>
                      <a:headEnd type="none" w="med" len="med"/>
                      <a:tailEnd type="none" w="med" len="med"/>
                    </a:lnR>
                    <a:lnT w="12700" cap="flat" cmpd="sng" algn="ctr">
                      <a:solidFill>
                        <a:srgbClr val="DEDEDE"/>
                      </a:solidFill>
                      <a:prstDash val="solid"/>
                      <a:round/>
                      <a:headEnd type="none" w="med" len="med"/>
                      <a:tailEnd type="none" w="med" len="med"/>
                    </a:lnT>
                    <a:lnB w="12700" cap="flat" cmpd="sng" algn="ctr">
                      <a:solidFill>
                        <a:srgbClr val="DEDEDE"/>
                      </a:solidFill>
                      <a:prstDash val="solid"/>
                      <a:round/>
                      <a:headEnd type="none" w="med" len="med"/>
                      <a:tailEnd type="none" w="med" len="med"/>
                    </a:lnB>
                    <a:solidFill>
                      <a:srgbClr val="F0F0F0"/>
                    </a:solidFill>
                  </a:tcPr>
                </a:tc>
                <a:tc>
                  <a:txBody>
                    <a:bodyPr/>
                    <a:lstStyle/>
                    <a:p>
                      <a:pPr marL="0" indent="0">
                        <a:buNone/>
                      </a:pPr>
                      <a:r>
                        <a:rPr lang="en-US" sz="1000" b="1" dirty="0">
                          <a:solidFill>
                            <a:srgbClr val="FF6500"/>
                          </a:solidFill>
                          <a:latin typeface="Calibri" pitchFamily="34" charset="0"/>
                          <a:ea typeface="Calibri" pitchFamily="34" charset="-122"/>
                          <a:cs typeface="Calibri" pitchFamily="34" charset="-120"/>
                        </a:rPr>
                        <a:t>HIGH — Must be resolved before next sprint release (Release v2.3.1)</a:t>
                      </a:r>
                      <a:endParaRPr lang="en-US" sz="1000" dirty="0">
                        <a:latin typeface="Calibri" charset="0"/>
                        <a:ea typeface="Calibri" charset="0"/>
                        <a:cs typeface="Calibri" charset="0"/>
                      </a:endParaRPr>
                    </a:p>
                  </a:txBody>
                  <a:tcPr marL="38100" marR="38100" marT="38100" marB="38100" anchor="ctr">
                    <a:lnL w="12700" cap="flat" cmpd="sng" algn="ctr">
                      <a:solidFill>
                        <a:srgbClr val="DEDEDE"/>
                      </a:solidFill>
                      <a:prstDash val="solid"/>
                      <a:round/>
                      <a:headEnd type="none" w="med" len="med"/>
                      <a:tailEnd type="none" w="med" len="med"/>
                    </a:lnL>
                    <a:lnR w="12700" cap="flat" cmpd="sng" algn="ctr">
                      <a:solidFill>
                        <a:srgbClr val="DEDEDE"/>
                      </a:solidFill>
                      <a:prstDash val="solid"/>
                      <a:round/>
                      <a:headEnd type="none" w="med" len="med"/>
                      <a:tailEnd type="none" w="med" len="med"/>
                    </a:lnR>
                    <a:lnT w="12700" cap="flat" cmpd="sng" algn="ctr">
                      <a:solidFill>
                        <a:srgbClr val="DEDEDE"/>
                      </a:solidFill>
                      <a:prstDash val="solid"/>
                      <a:round/>
                      <a:headEnd type="none" w="med" len="med"/>
                      <a:tailEnd type="none" w="med" len="med"/>
                    </a:lnT>
                    <a:lnB w="12700" cap="flat" cmpd="sng" algn="ctr">
                      <a:solidFill>
                        <a:srgbClr val="DEDEDE"/>
                      </a:solidFill>
                      <a:prstDash val="solid"/>
                      <a:round/>
                      <a:headEnd type="none" w="med" len="med"/>
                      <a:tailEnd type="none" w="med" len="med"/>
                    </a:lnB>
                    <a:solidFill>
                      <a:srgbClr val="F0F0F0"/>
                    </a:solidFill>
                  </a:tcPr>
                </a:tc>
                <a:extLst>
                  <a:ext uri="{0D108BD9-81ED-4DB2-BD59-A6C34878D82A}">
                    <a16:rowId xmlns:a16="http://schemas.microsoft.com/office/drawing/2014/main" val="10011"/>
                  </a:ext>
                </a:extLst>
              </a:tr>
              <a:tr h="246888">
                <a:tc>
                  <a:txBody>
                    <a:bodyPr/>
                    <a:lstStyle/>
                    <a:p>
                      <a:pPr marL="0" indent="0">
                        <a:buNone/>
                      </a:pPr>
                      <a:r>
                        <a:rPr lang="en-US" sz="1000" dirty="0">
                          <a:solidFill>
                            <a:srgbClr val="2C2C2C"/>
                          </a:solidFill>
                          <a:latin typeface="Arial" pitchFamily="34" charset="0"/>
                          <a:ea typeface="Arial" pitchFamily="34" charset="-122"/>
                          <a:cs typeface="Arial" pitchFamily="34" charset="-120"/>
                        </a:rPr>
                        <a:t>Status</a:t>
                      </a:r>
                      <a:endParaRPr lang="en-US" sz="1000" dirty="0">
                        <a:latin typeface="Arial" charset="0"/>
                        <a:ea typeface="Arial" charset="0"/>
                        <a:cs typeface="Arial" charset="0"/>
                      </a:endParaRPr>
                    </a:p>
                  </a:txBody>
                  <a:tcPr marL="38100" marR="38100" marT="38100" marB="38100" anchor="ctr">
                    <a:lnL w="12700" cap="flat" cmpd="sng" algn="ctr">
                      <a:solidFill>
                        <a:srgbClr val="DEDEDE"/>
                      </a:solidFill>
                      <a:prstDash val="solid"/>
                      <a:round/>
                      <a:headEnd type="none" w="med" len="med"/>
                      <a:tailEnd type="none" w="med" len="med"/>
                    </a:lnL>
                    <a:lnR w="12700" cap="flat" cmpd="sng" algn="ctr">
                      <a:solidFill>
                        <a:srgbClr val="DEDEDE"/>
                      </a:solidFill>
                      <a:prstDash val="solid"/>
                      <a:round/>
                      <a:headEnd type="none" w="med" len="med"/>
                      <a:tailEnd type="none" w="med" len="med"/>
                    </a:lnR>
                    <a:lnT w="12700" cap="flat" cmpd="sng" algn="ctr">
                      <a:solidFill>
                        <a:srgbClr val="DEDEDE"/>
                      </a:solidFill>
                      <a:prstDash val="solid"/>
                      <a:round/>
                      <a:headEnd type="none" w="med" len="med"/>
                      <a:tailEnd type="none" w="med" len="med"/>
                    </a:lnT>
                    <a:lnB w="12700" cap="flat" cmpd="sng" algn="ctr">
                      <a:solidFill>
                        <a:srgbClr val="DEDEDE"/>
                      </a:solidFill>
                      <a:prstDash val="solid"/>
                      <a:round/>
                      <a:headEnd type="none" w="med" len="med"/>
                      <a:tailEnd type="none" w="med" len="med"/>
                    </a:lnB>
                    <a:solidFill>
                      <a:srgbClr val="FFFFFF"/>
                    </a:solidFill>
                  </a:tcPr>
                </a:tc>
                <a:tc>
                  <a:txBody>
                    <a:bodyPr/>
                    <a:lstStyle/>
                    <a:p>
                      <a:pPr marL="0" indent="0">
                        <a:buNone/>
                      </a:pPr>
                      <a:r>
                        <a:rPr lang="en-US" sz="1000" dirty="0">
                          <a:solidFill>
                            <a:srgbClr val="2C2C2C"/>
                          </a:solidFill>
                          <a:latin typeface="Calibri" pitchFamily="34" charset="0"/>
                          <a:ea typeface="Calibri" pitchFamily="34" charset="-122"/>
                          <a:cs typeface="Calibri" pitchFamily="34" charset="-120"/>
                        </a:rPr>
                        <a:t>OPEN — Awaiting developer investigation</a:t>
                      </a:r>
                      <a:endParaRPr lang="en-US" sz="1000" dirty="0">
                        <a:latin typeface="Calibri" charset="0"/>
                        <a:ea typeface="Calibri" charset="0"/>
                        <a:cs typeface="Calibri" charset="0"/>
                      </a:endParaRPr>
                    </a:p>
                  </a:txBody>
                  <a:tcPr marL="38100" marR="38100" marT="38100" marB="38100" anchor="ctr">
                    <a:lnL w="12700" cap="flat" cmpd="sng" algn="ctr">
                      <a:solidFill>
                        <a:srgbClr val="DEDEDE"/>
                      </a:solidFill>
                      <a:prstDash val="solid"/>
                      <a:round/>
                      <a:headEnd type="none" w="med" len="med"/>
                      <a:tailEnd type="none" w="med" len="med"/>
                    </a:lnL>
                    <a:lnR w="12700" cap="flat" cmpd="sng" algn="ctr">
                      <a:solidFill>
                        <a:srgbClr val="DEDEDE"/>
                      </a:solidFill>
                      <a:prstDash val="solid"/>
                      <a:round/>
                      <a:headEnd type="none" w="med" len="med"/>
                      <a:tailEnd type="none" w="med" len="med"/>
                    </a:lnR>
                    <a:lnT w="12700" cap="flat" cmpd="sng" algn="ctr">
                      <a:solidFill>
                        <a:srgbClr val="DEDEDE"/>
                      </a:solidFill>
                      <a:prstDash val="solid"/>
                      <a:round/>
                      <a:headEnd type="none" w="med" len="med"/>
                      <a:tailEnd type="none" w="med" len="med"/>
                    </a:lnT>
                    <a:lnB w="12700" cap="flat" cmpd="sng" algn="ctr">
                      <a:solidFill>
                        <a:srgbClr val="DEDEDE"/>
                      </a:solidFill>
                      <a:prstDash val="solid"/>
                      <a:round/>
                      <a:headEnd type="none" w="med" len="med"/>
                      <a:tailEnd type="none" w="med" len="med"/>
                    </a:lnB>
                    <a:solidFill>
                      <a:srgbClr val="FFFFFF"/>
                    </a:solidFill>
                  </a:tcPr>
                </a:tc>
                <a:extLst>
                  <a:ext uri="{0D108BD9-81ED-4DB2-BD59-A6C34878D82A}">
                    <a16:rowId xmlns:a16="http://schemas.microsoft.com/office/drawing/2014/main" val="10012"/>
                  </a:ext>
                </a:extLst>
              </a:tr>
              <a:tr h="246888">
                <a:tc>
                  <a:txBody>
                    <a:bodyPr/>
                    <a:lstStyle/>
                    <a:p>
                      <a:pPr marL="0" indent="0">
                        <a:buNone/>
                      </a:pPr>
                      <a:r>
                        <a:rPr lang="en-US" sz="1000" dirty="0">
                          <a:solidFill>
                            <a:srgbClr val="2C2C2C"/>
                          </a:solidFill>
                          <a:latin typeface="Arial" pitchFamily="34" charset="0"/>
                          <a:ea typeface="Arial" pitchFamily="34" charset="-122"/>
                          <a:cs typeface="Arial" pitchFamily="34" charset="-120"/>
                        </a:rPr>
                        <a:t>Attachments</a:t>
                      </a:r>
                      <a:endParaRPr lang="en-US" sz="1000" dirty="0">
                        <a:latin typeface="Arial" charset="0"/>
                        <a:ea typeface="Arial" charset="0"/>
                        <a:cs typeface="Arial" charset="0"/>
                      </a:endParaRPr>
                    </a:p>
                  </a:txBody>
                  <a:tcPr marL="38100" marR="38100" marT="38100" marB="38100" anchor="ctr">
                    <a:lnL w="12700" cap="flat" cmpd="sng" algn="ctr">
                      <a:solidFill>
                        <a:srgbClr val="DEDEDE"/>
                      </a:solidFill>
                      <a:prstDash val="solid"/>
                      <a:round/>
                      <a:headEnd type="none" w="med" len="med"/>
                      <a:tailEnd type="none" w="med" len="med"/>
                    </a:lnL>
                    <a:lnR w="12700" cap="flat" cmpd="sng" algn="ctr">
                      <a:solidFill>
                        <a:srgbClr val="DEDEDE"/>
                      </a:solidFill>
                      <a:prstDash val="solid"/>
                      <a:round/>
                      <a:headEnd type="none" w="med" len="med"/>
                      <a:tailEnd type="none" w="med" len="med"/>
                    </a:lnR>
                    <a:lnT w="12700" cap="flat" cmpd="sng" algn="ctr">
                      <a:solidFill>
                        <a:srgbClr val="DEDEDE"/>
                      </a:solidFill>
                      <a:prstDash val="solid"/>
                      <a:round/>
                      <a:headEnd type="none" w="med" len="med"/>
                      <a:tailEnd type="none" w="med" len="med"/>
                    </a:lnT>
                    <a:lnB w="12700" cap="flat" cmpd="sng" algn="ctr">
                      <a:solidFill>
                        <a:srgbClr val="DEDEDE"/>
                      </a:solidFill>
                      <a:prstDash val="solid"/>
                      <a:round/>
                      <a:headEnd type="none" w="med" len="med"/>
                      <a:tailEnd type="none" w="med" len="med"/>
                    </a:lnB>
                    <a:solidFill>
                      <a:srgbClr val="F0F0F0"/>
                    </a:solidFill>
                  </a:tcPr>
                </a:tc>
                <a:tc>
                  <a:txBody>
                    <a:bodyPr/>
                    <a:lstStyle/>
                    <a:p>
                      <a:pPr marL="0" indent="0">
                        <a:buNone/>
                      </a:pPr>
                      <a:r>
                        <a:rPr lang="en-US" sz="1000" dirty="0">
                          <a:solidFill>
                            <a:srgbClr val="2C2C2C"/>
                          </a:solidFill>
                          <a:latin typeface="Calibri" pitchFamily="34" charset="0"/>
                          <a:ea typeface="Calibri" pitchFamily="34" charset="-122"/>
                          <a:cs typeface="Calibri" pitchFamily="34" charset="-120"/>
                        </a:rPr>
                        <a:t>Screenshots: reset_fail_01.png | Network HAR log: network_trace.har | Test log: TC_LOGIN_006_run.log</a:t>
                      </a:r>
                      <a:endParaRPr lang="en-US" sz="1000" dirty="0">
                        <a:latin typeface="Calibri" charset="0"/>
                        <a:ea typeface="Calibri" charset="0"/>
                        <a:cs typeface="Calibri" charset="0"/>
                      </a:endParaRPr>
                    </a:p>
                  </a:txBody>
                  <a:tcPr marL="38100" marR="38100" marT="38100" marB="38100" anchor="ctr">
                    <a:lnL w="12700" cap="flat" cmpd="sng" algn="ctr">
                      <a:solidFill>
                        <a:srgbClr val="DEDEDE"/>
                      </a:solidFill>
                      <a:prstDash val="solid"/>
                      <a:round/>
                      <a:headEnd type="none" w="med" len="med"/>
                      <a:tailEnd type="none" w="med" len="med"/>
                    </a:lnL>
                    <a:lnR w="12700" cap="flat" cmpd="sng" algn="ctr">
                      <a:solidFill>
                        <a:srgbClr val="DEDEDE"/>
                      </a:solidFill>
                      <a:prstDash val="solid"/>
                      <a:round/>
                      <a:headEnd type="none" w="med" len="med"/>
                      <a:tailEnd type="none" w="med" len="med"/>
                    </a:lnR>
                    <a:lnT w="12700" cap="flat" cmpd="sng" algn="ctr">
                      <a:solidFill>
                        <a:srgbClr val="DEDEDE"/>
                      </a:solidFill>
                      <a:prstDash val="solid"/>
                      <a:round/>
                      <a:headEnd type="none" w="med" len="med"/>
                      <a:tailEnd type="none" w="med" len="med"/>
                    </a:lnT>
                    <a:lnB w="12700" cap="flat" cmpd="sng" algn="ctr">
                      <a:solidFill>
                        <a:srgbClr val="DEDEDE"/>
                      </a:solidFill>
                      <a:prstDash val="solid"/>
                      <a:round/>
                      <a:headEnd type="none" w="med" len="med"/>
                      <a:tailEnd type="none" w="med" len="med"/>
                    </a:lnB>
                    <a:solidFill>
                      <a:srgbClr val="F0F0F0"/>
                    </a:solidFill>
                  </a:tcPr>
                </a:tc>
                <a:extLst>
                  <a:ext uri="{0D108BD9-81ED-4DB2-BD59-A6C34878D82A}">
                    <a16:rowId xmlns:a16="http://schemas.microsoft.com/office/drawing/2014/main" val="10013"/>
                  </a:ext>
                </a:extLst>
              </a:tr>
            </a:tbl>
          </a:graphicData>
        </a:graphic>
      </p:graphicFrame>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2">
    <p:bg>
      <p:bgPr>
        <a:solidFill>
          <a:srgbClr val="F5F5F5"/>
        </a:solidFill>
        <a:effectLst/>
      </p:bgPr>
    </p:bg>
    <p:spTree>
      <p:nvGrpSpPr>
        <p:cNvPr id="1" name=""/>
        <p:cNvGrpSpPr/>
        <p:nvPr/>
      </p:nvGrpSpPr>
      <p:grpSpPr>
        <a:xfrm>
          <a:off x="0" y="0"/>
          <a:ext cx="0" cy="0"/>
          <a:chOff x="0" y="0"/>
          <a:chExt cx="0" cy="0"/>
        </a:xfrm>
      </p:grpSpPr>
      <p:sp>
        <p:nvSpPr>
          <p:cNvPr id="2" name="Shape 0"/>
          <p:cNvSpPr/>
          <p:nvPr/>
        </p:nvSpPr>
        <p:spPr>
          <a:xfrm>
            <a:off x="0" y="0"/>
            <a:ext cx="9144000" cy="621792"/>
          </a:xfrm>
          <a:prstGeom prst="rect">
            <a:avLst/>
          </a:prstGeom>
          <a:solidFill>
            <a:srgbClr val="0D0D0D"/>
          </a:solidFill>
          <a:ln w="12700">
            <a:solidFill>
              <a:srgbClr val="0D0D0D"/>
            </a:solidFill>
            <a:prstDash val="solid"/>
          </a:ln>
        </p:spPr>
      </p:sp>
      <p:sp>
        <p:nvSpPr>
          <p:cNvPr id="3" name="Shape 1"/>
          <p:cNvSpPr/>
          <p:nvPr/>
        </p:nvSpPr>
        <p:spPr>
          <a:xfrm>
            <a:off x="0" y="0"/>
            <a:ext cx="64008" cy="621792"/>
          </a:xfrm>
          <a:prstGeom prst="rect">
            <a:avLst/>
          </a:prstGeom>
          <a:solidFill>
            <a:srgbClr val="FF6500"/>
          </a:solidFill>
          <a:ln w="12700">
            <a:solidFill>
              <a:srgbClr val="FF6500"/>
            </a:solidFill>
            <a:prstDash val="solid"/>
          </a:ln>
        </p:spPr>
      </p:sp>
      <p:sp>
        <p:nvSpPr>
          <p:cNvPr id="4" name="Text 2"/>
          <p:cNvSpPr/>
          <p:nvPr/>
        </p:nvSpPr>
        <p:spPr>
          <a:xfrm>
            <a:off x="201168" y="64008"/>
            <a:ext cx="8503920" cy="493776"/>
          </a:xfrm>
          <a:prstGeom prst="rect">
            <a:avLst/>
          </a:prstGeom>
          <a:noFill/>
          <a:ln/>
        </p:spPr>
        <p:txBody>
          <a:bodyPr wrap="square" lIns="0" tIns="0" rIns="0" bIns="0" rtlCol="0" anchor="ctr"/>
          <a:lstStyle/>
          <a:p>
            <a:pPr marL="0" indent="0">
              <a:buNone/>
            </a:pPr>
            <a:r>
              <a:rPr lang="en-US" sz="1900" b="1" dirty="0">
                <a:solidFill>
                  <a:srgbClr val="FFFFFF"/>
                </a:solidFill>
                <a:latin typeface="Arial" pitchFamily="34" charset="0"/>
                <a:ea typeface="Arial" pitchFamily="34" charset="-122"/>
                <a:cs typeface="Arial" pitchFamily="34" charset="-120"/>
              </a:rPr>
              <a:t>Real-World Workflow — From Requirements to Defect Logging</a:t>
            </a:r>
            <a:endParaRPr lang="en-US" sz="1900" dirty="0"/>
          </a:p>
        </p:txBody>
      </p:sp>
      <p:sp>
        <p:nvSpPr>
          <p:cNvPr id="5" name="Shape 3"/>
          <p:cNvSpPr/>
          <p:nvPr/>
        </p:nvSpPr>
        <p:spPr>
          <a:xfrm>
            <a:off x="0" y="4828032"/>
            <a:ext cx="9144000" cy="315468"/>
          </a:xfrm>
          <a:prstGeom prst="rect">
            <a:avLst/>
          </a:prstGeom>
          <a:solidFill>
            <a:srgbClr val="0D0D0D"/>
          </a:solidFill>
          <a:ln w="12700">
            <a:solidFill>
              <a:srgbClr val="0D0D0D"/>
            </a:solidFill>
            <a:prstDash val="solid"/>
          </a:ln>
        </p:spPr>
      </p:sp>
      <p:sp>
        <p:nvSpPr>
          <p:cNvPr id="6" name="Text 4"/>
          <p:cNvSpPr/>
          <p:nvPr/>
        </p:nvSpPr>
        <p:spPr>
          <a:xfrm>
            <a:off x="182880" y="4855464"/>
            <a:ext cx="7315200" cy="228600"/>
          </a:xfrm>
          <a:prstGeom prst="rect">
            <a:avLst/>
          </a:prstGeom>
          <a:noFill/>
          <a:ln/>
        </p:spPr>
        <p:txBody>
          <a:bodyPr wrap="square" lIns="0" tIns="0" rIns="0" bIns="0" rtlCol="0" anchor="ctr"/>
          <a:lstStyle/>
          <a:p>
            <a:pPr marL="0" indent="0">
              <a:buNone/>
            </a:pPr>
            <a:r>
              <a:rPr lang="en-US" sz="850" dirty="0">
                <a:solidFill>
                  <a:srgbClr val="999999"/>
                </a:solidFill>
                <a:latin typeface="Calibri" pitchFamily="34" charset="0"/>
                <a:ea typeface="Calibri" pitchFamily="34" charset="-122"/>
                <a:cs typeface="Calibri" pitchFamily="34" charset="-120"/>
              </a:rPr>
              <a:t>Quality Engineering | Test Case Development in STLC</a:t>
            </a:r>
            <a:endParaRPr lang="en-US" sz="850" dirty="0"/>
          </a:p>
        </p:txBody>
      </p:sp>
      <p:sp>
        <p:nvSpPr>
          <p:cNvPr id="7" name="Text 5"/>
          <p:cNvSpPr/>
          <p:nvPr/>
        </p:nvSpPr>
        <p:spPr>
          <a:xfrm>
            <a:off x="7406640" y="4855464"/>
            <a:ext cx="1554480" cy="228600"/>
          </a:xfrm>
          <a:prstGeom prst="rect">
            <a:avLst/>
          </a:prstGeom>
          <a:noFill/>
          <a:ln/>
        </p:spPr>
        <p:txBody>
          <a:bodyPr wrap="square" lIns="0" tIns="0" rIns="0" bIns="0" rtlCol="0" anchor="ctr"/>
          <a:lstStyle/>
          <a:p>
            <a:pPr marL="0" indent="0" algn="r">
              <a:buNone/>
            </a:pPr>
            <a:r>
              <a:rPr lang="en-US" sz="850" b="1" dirty="0">
                <a:solidFill>
                  <a:srgbClr val="FF6500"/>
                </a:solidFill>
                <a:latin typeface="Calibri" pitchFamily="34" charset="0"/>
                <a:ea typeface="Calibri" pitchFamily="34" charset="-122"/>
                <a:cs typeface="Calibri" pitchFamily="34" charset="-120"/>
              </a:rPr>
              <a:t>INTERNAL TRAINING</a:t>
            </a:r>
            <a:endParaRPr lang="en-US" sz="850" dirty="0"/>
          </a:p>
        </p:txBody>
      </p:sp>
      <p:sp>
        <p:nvSpPr>
          <p:cNvPr id="8" name="Shape 6"/>
          <p:cNvSpPr/>
          <p:nvPr/>
        </p:nvSpPr>
        <p:spPr>
          <a:xfrm>
            <a:off x="137160" y="758952"/>
            <a:ext cx="2084832" cy="1938528"/>
          </a:xfrm>
          <a:prstGeom prst="rect">
            <a:avLst/>
          </a:prstGeom>
          <a:solidFill>
            <a:srgbClr val="FFFFFF"/>
          </a:solidFill>
          <a:ln w="12700">
            <a:solidFill>
              <a:srgbClr val="DEDEDE"/>
            </a:solidFill>
            <a:prstDash val="solid"/>
          </a:ln>
          <a:effectLst>
            <a:outerShdw blurRad="76200" dist="25400" dir="8100000" algn="bl" rotWithShape="0">
              <a:srgbClr val="000000">
                <a:alpha val="13000"/>
              </a:srgbClr>
            </a:outerShdw>
          </a:effectLst>
        </p:spPr>
      </p:sp>
      <p:sp>
        <p:nvSpPr>
          <p:cNvPr id="9" name="Shape 7"/>
          <p:cNvSpPr/>
          <p:nvPr/>
        </p:nvSpPr>
        <p:spPr>
          <a:xfrm>
            <a:off x="137160" y="758952"/>
            <a:ext cx="2084832" cy="384048"/>
          </a:xfrm>
          <a:prstGeom prst="rect">
            <a:avLst/>
          </a:prstGeom>
          <a:solidFill>
            <a:srgbClr val="FF6500"/>
          </a:solidFill>
          <a:ln w="12700">
            <a:solidFill>
              <a:srgbClr val="FF6500"/>
            </a:solidFill>
            <a:prstDash val="solid"/>
          </a:ln>
        </p:spPr>
      </p:sp>
      <p:sp>
        <p:nvSpPr>
          <p:cNvPr id="10" name="Text 8"/>
          <p:cNvSpPr/>
          <p:nvPr/>
        </p:nvSpPr>
        <p:spPr>
          <a:xfrm>
            <a:off x="137160" y="758952"/>
            <a:ext cx="365760" cy="384048"/>
          </a:xfrm>
          <a:prstGeom prst="rect">
            <a:avLst/>
          </a:prstGeom>
          <a:noFill/>
          <a:ln/>
        </p:spPr>
        <p:txBody>
          <a:bodyPr wrap="square" lIns="0" tIns="0" rIns="0" bIns="0" rtlCol="0" anchor="ctr"/>
          <a:lstStyle/>
          <a:p>
            <a:pPr marL="0" indent="0" algn="ctr">
              <a:buNone/>
            </a:pPr>
            <a:r>
              <a:rPr lang="en-US" sz="1400" b="1" dirty="0">
                <a:solidFill>
                  <a:srgbClr val="FFFFFF"/>
                </a:solidFill>
                <a:latin typeface="Arial Black" pitchFamily="34" charset="0"/>
                <a:ea typeface="Arial Black" pitchFamily="34" charset="-122"/>
                <a:cs typeface="Arial Black" pitchFamily="34" charset="-120"/>
              </a:rPr>
              <a:t>1</a:t>
            </a:r>
            <a:endParaRPr lang="en-US" sz="1400" dirty="0"/>
          </a:p>
        </p:txBody>
      </p:sp>
      <p:sp>
        <p:nvSpPr>
          <p:cNvPr id="11" name="Text 9"/>
          <p:cNvSpPr/>
          <p:nvPr/>
        </p:nvSpPr>
        <p:spPr>
          <a:xfrm>
            <a:off x="548640" y="813816"/>
            <a:ext cx="1609344" cy="274320"/>
          </a:xfrm>
          <a:prstGeom prst="rect">
            <a:avLst/>
          </a:prstGeom>
          <a:noFill/>
          <a:ln/>
        </p:spPr>
        <p:txBody>
          <a:bodyPr wrap="square" lIns="0" tIns="0" rIns="0" bIns="0" rtlCol="0" anchor="ctr"/>
          <a:lstStyle/>
          <a:p>
            <a:pPr marL="0" indent="0">
              <a:buNone/>
            </a:pPr>
            <a:r>
              <a:rPr lang="en-US" sz="1000" b="1" dirty="0">
                <a:solidFill>
                  <a:srgbClr val="FFFFFF"/>
                </a:solidFill>
                <a:latin typeface="Arial" pitchFamily="34" charset="0"/>
                <a:ea typeface="Arial" pitchFamily="34" charset="-122"/>
                <a:cs typeface="Arial" pitchFamily="34" charset="-120"/>
              </a:rPr>
              <a:t>Receive Requirements</a:t>
            </a:r>
            <a:endParaRPr lang="en-US" sz="1000" dirty="0"/>
          </a:p>
        </p:txBody>
      </p:sp>
      <p:sp>
        <p:nvSpPr>
          <p:cNvPr id="12" name="Text 10"/>
          <p:cNvSpPr/>
          <p:nvPr/>
        </p:nvSpPr>
        <p:spPr>
          <a:xfrm>
            <a:off x="201168" y="1207008"/>
            <a:ext cx="1956816" cy="1408176"/>
          </a:xfrm>
          <a:prstGeom prst="rect">
            <a:avLst/>
          </a:prstGeom>
          <a:noFill/>
          <a:ln/>
        </p:spPr>
        <p:txBody>
          <a:bodyPr wrap="square" lIns="0" tIns="0" rIns="0" bIns="0" rtlCol="0" anchor="t"/>
          <a:lstStyle/>
          <a:p>
            <a:pPr marL="0" indent="0">
              <a:buNone/>
            </a:pPr>
            <a:r>
              <a:rPr lang="en-US" sz="900" dirty="0">
                <a:solidFill>
                  <a:srgbClr val="2C2C2C"/>
                </a:solidFill>
                <a:latin typeface="Calibri" pitchFamily="34" charset="0"/>
                <a:ea typeface="Calibri" pitchFamily="34" charset="-122"/>
                <a:cs typeface="Calibri" pitchFamily="34" charset="-120"/>
              </a:rPr>
              <a:t>QA team receives BRD + SRS documents. QA Lead schedules a requirements walkthrough meeting with BA and developers to clarify ambiguities and identify testable requirements.</a:t>
            </a:r>
            <a:endParaRPr lang="en-US" sz="900" dirty="0"/>
          </a:p>
        </p:txBody>
      </p:sp>
      <p:sp>
        <p:nvSpPr>
          <p:cNvPr id="13" name="Shape 11"/>
          <p:cNvSpPr/>
          <p:nvPr/>
        </p:nvSpPr>
        <p:spPr>
          <a:xfrm>
            <a:off x="2350008" y="758952"/>
            <a:ext cx="2084832" cy="1938528"/>
          </a:xfrm>
          <a:prstGeom prst="rect">
            <a:avLst/>
          </a:prstGeom>
          <a:solidFill>
            <a:srgbClr val="FFFFFF"/>
          </a:solidFill>
          <a:ln w="12700">
            <a:solidFill>
              <a:srgbClr val="DEDEDE"/>
            </a:solidFill>
            <a:prstDash val="solid"/>
          </a:ln>
          <a:effectLst>
            <a:outerShdw blurRad="76200" dist="25400" dir="8100000" algn="bl" rotWithShape="0">
              <a:srgbClr val="000000">
                <a:alpha val="13000"/>
              </a:srgbClr>
            </a:outerShdw>
          </a:effectLst>
        </p:spPr>
      </p:sp>
      <p:sp>
        <p:nvSpPr>
          <p:cNvPr id="14" name="Shape 12"/>
          <p:cNvSpPr/>
          <p:nvPr/>
        </p:nvSpPr>
        <p:spPr>
          <a:xfrm>
            <a:off x="2350008" y="758952"/>
            <a:ext cx="2084832" cy="384048"/>
          </a:xfrm>
          <a:prstGeom prst="rect">
            <a:avLst/>
          </a:prstGeom>
          <a:solidFill>
            <a:srgbClr val="2980B9"/>
          </a:solidFill>
          <a:ln w="12700">
            <a:solidFill>
              <a:srgbClr val="2980B9"/>
            </a:solidFill>
            <a:prstDash val="solid"/>
          </a:ln>
        </p:spPr>
      </p:sp>
      <p:sp>
        <p:nvSpPr>
          <p:cNvPr id="15" name="Text 13"/>
          <p:cNvSpPr/>
          <p:nvPr/>
        </p:nvSpPr>
        <p:spPr>
          <a:xfrm>
            <a:off x="2350008" y="758952"/>
            <a:ext cx="365760" cy="384048"/>
          </a:xfrm>
          <a:prstGeom prst="rect">
            <a:avLst/>
          </a:prstGeom>
          <a:noFill/>
          <a:ln/>
        </p:spPr>
        <p:txBody>
          <a:bodyPr wrap="square" lIns="0" tIns="0" rIns="0" bIns="0" rtlCol="0" anchor="ctr"/>
          <a:lstStyle/>
          <a:p>
            <a:pPr marL="0" indent="0" algn="ctr">
              <a:buNone/>
            </a:pPr>
            <a:r>
              <a:rPr lang="en-US" sz="1400" b="1" dirty="0">
                <a:solidFill>
                  <a:srgbClr val="FFFFFF"/>
                </a:solidFill>
                <a:latin typeface="Arial Black" pitchFamily="34" charset="0"/>
                <a:ea typeface="Arial Black" pitchFamily="34" charset="-122"/>
                <a:cs typeface="Arial Black" pitchFamily="34" charset="-120"/>
              </a:rPr>
              <a:t>2</a:t>
            </a:r>
            <a:endParaRPr lang="en-US" sz="1400" dirty="0"/>
          </a:p>
        </p:txBody>
      </p:sp>
      <p:sp>
        <p:nvSpPr>
          <p:cNvPr id="16" name="Text 14"/>
          <p:cNvSpPr/>
          <p:nvPr/>
        </p:nvSpPr>
        <p:spPr>
          <a:xfrm>
            <a:off x="2761488" y="813816"/>
            <a:ext cx="1609344" cy="274320"/>
          </a:xfrm>
          <a:prstGeom prst="rect">
            <a:avLst/>
          </a:prstGeom>
          <a:noFill/>
          <a:ln/>
        </p:spPr>
        <p:txBody>
          <a:bodyPr wrap="square" lIns="0" tIns="0" rIns="0" bIns="0" rtlCol="0" anchor="ctr"/>
          <a:lstStyle/>
          <a:p>
            <a:pPr marL="0" indent="0">
              <a:buNone/>
            </a:pPr>
            <a:r>
              <a:rPr lang="en-US" sz="1000" b="1" dirty="0">
                <a:solidFill>
                  <a:srgbClr val="FFFFFF"/>
                </a:solidFill>
                <a:latin typeface="Arial" pitchFamily="34" charset="0"/>
                <a:ea typeface="Arial" pitchFamily="34" charset="-122"/>
                <a:cs typeface="Arial" pitchFamily="34" charset="-120"/>
              </a:rPr>
              <a:t>Create RTM</a:t>
            </a:r>
            <a:endParaRPr lang="en-US" sz="1000" dirty="0"/>
          </a:p>
        </p:txBody>
      </p:sp>
      <p:sp>
        <p:nvSpPr>
          <p:cNvPr id="17" name="Text 15"/>
          <p:cNvSpPr/>
          <p:nvPr/>
        </p:nvSpPr>
        <p:spPr>
          <a:xfrm>
            <a:off x="2414016" y="1207008"/>
            <a:ext cx="1956816" cy="1408176"/>
          </a:xfrm>
          <a:prstGeom prst="rect">
            <a:avLst/>
          </a:prstGeom>
          <a:noFill/>
          <a:ln/>
        </p:spPr>
        <p:txBody>
          <a:bodyPr wrap="square" lIns="0" tIns="0" rIns="0" bIns="0" rtlCol="0" anchor="t"/>
          <a:lstStyle/>
          <a:p>
            <a:pPr marL="0" indent="0">
              <a:buNone/>
            </a:pPr>
            <a:r>
              <a:rPr lang="en-US" sz="900" dirty="0">
                <a:solidFill>
                  <a:srgbClr val="2C2C2C"/>
                </a:solidFill>
                <a:latin typeface="Calibri" pitchFamily="34" charset="0"/>
                <a:ea typeface="Calibri" pitchFamily="34" charset="-122"/>
                <a:cs typeface="Calibri" pitchFamily="34" charset="-120"/>
              </a:rPr>
              <a:t>QA Analyst creates the initial RTM — listing every requirement ID and description. Test Case ID columns are left blank and populated as test cases are written.</a:t>
            </a:r>
            <a:endParaRPr lang="en-US" sz="900" dirty="0"/>
          </a:p>
        </p:txBody>
      </p:sp>
      <p:sp>
        <p:nvSpPr>
          <p:cNvPr id="18" name="Shape 16"/>
          <p:cNvSpPr/>
          <p:nvPr/>
        </p:nvSpPr>
        <p:spPr>
          <a:xfrm>
            <a:off x="4562856" y="758952"/>
            <a:ext cx="2084832" cy="1938528"/>
          </a:xfrm>
          <a:prstGeom prst="rect">
            <a:avLst/>
          </a:prstGeom>
          <a:solidFill>
            <a:srgbClr val="FFFFFF"/>
          </a:solidFill>
          <a:ln w="12700">
            <a:solidFill>
              <a:srgbClr val="DEDEDE"/>
            </a:solidFill>
            <a:prstDash val="solid"/>
          </a:ln>
          <a:effectLst>
            <a:outerShdw blurRad="76200" dist="25400" dir="8100000" algn="bl" rotWithShape="0">
              <a:srgbClr val="000000">
                <a:alpha val="13000"/>
              </a:srgbClr>
            </a:outerShdw>
          </a:effectLst>
        </p:spPr>
      </p:sp>
      <p:sp>
        <p:nvSpPr>
          <p:cNvPr id="19" name="Shape 17"/>
          <p:cNvSpPr/>
          <p:nvPr/>
        </p:nvSpPr>
        <p:spPr>
          <a:xfrm>
            <a:off x="4562856" y="758952"/>
            <a:ext cx="2084832" cy="384048"/>
          </a:xfrm>
          <a:prstGeom prst="rect">
            <a:avLst/>
          </a:prstGeom>
          <a:solidFill>
            <a:srgbClr val="27AE60"/>
          </a:solidFill>
          <a:ln w="12700">
            <a:solidFill>
              <a:srgbClr val="27AE60"/>
            </a:solidFill>
            <a:prstDash val="solid"/>
          </a:ln>
        </p:spPr>
      </p:sp>
      <p:sp>
        <p:nvSpPr>
          <p:cNvPr id="20" name="Text 18"/>
          <p:cNvSpPr/>
          <p:nvPr/>
        </p:nvSpPr>
        <p:spPr>
          <a:xfrm>
            <a:off x="4562856" y="758952"/>
            <a:ext cx="365760" cy="384048"/>
          </a:xfrm>
          <a:prstGeom prst="rect">
            <a:avLst/>
          </a:prstGeom>
          <a:noFill/>
          <a:ln/>
        </p:spPr>
        <p:txBody>
          <a:bodyPr wrap="square" lIns="0" tIns="0" rIns="0" bIns="0" rtlCol="0" anchor="ctr"/>
          <a:lstStyle/>
          <a:p>
            <a:pPr marL="0" indent="0" algn="ctr">
              <a:buNone/>
            </a:pPr>
            <a:r>
              <a:rPr lang="en-US" sz="1400" b="1" dirty="0">
                <a:solidFill>
                  <a:srgbClr val="FFFFFF"/>
                </a:solidFill>
                <a:latin typeface="Arial Black" pitchFamily="34" charset="0"/>
                <a:ea typeface="Arial Black" pitchFamily="34" charset="-122"/>
                <a:cs typeface="Arial Black" pitchFamily="34" charset="-120"/>
              </a:rPr>
              <a:t>3</a:t>
            </a:r>
            <a:endParaRPr lang="en-US" sz="1400" dirty="0"/>
          </a:p>
        </p:txBody>
      </p:sp>
      <p:sp>
        <p:nvSpPr>
          <p:cNvPr id="21" name="Text 19"/>
          <p:cNvSpPr/>
          <p:nvPr/>
        </p:nvSpPr>
        <p:spPr>
          <a:xfrm>
            <a:off x="4974336" y="813816"/>
            <a:ext cx="1609344" cy="274320"/>
          </a:xfrm>
          <a:prstGeom prst="rect">
            <a:avLst/>
          </a:prstGeom>
          <a:noFill/>
          <a:ln/>
        </p:spPr>
        <p:txBody>
          <a:bodyPr wrap="square" lIns="0" tIns="0" rIns="0" bIns="0" rtlCol="0" anchor="ctr"/>
          <a:lstStyle/>
          <a:p>
            <a:pPr marL="0" indent="0">
              <a:buNone/>
            </a:pPr>
            <a:r>
              <a:rPr lang="en-US" sz="1000" b="1" dirty="0">
                <a:solidFill>
                  <a:srgbClr val="FFFFFF"/>
                </a:solidFill>
                <a:latin typeface="Arial" pitchFamily="34" charset="0"/>
                <a:ea typeface="Arial" pitchFamily="34" charset="-122"/>
                <a:cs typeface="Arial" pitchFamily="34" charset="-120"/>
              </a:rPr>
              <a:t>Write Test Cases</a:t>
            </a:r>
            <a:endParaRPr lang="en-US" sz="1000" dirty="0"/>
          </a:p>
        </p:txBody>
      </p:sp>
      <p:sp>
        <p:nvSpPr>
          <p:cNvPr id="22" name="Text 20"/>
          <p:cNvSpPr/>
          <p:nvPr/>
        </p:nvSpPr>
        <p:spPr>
          <a:xfrm>
            <a:off x="4626864" y="1207008"/>
            <a:ext cx="1956816" cy="1408176"/>
          </a:xfrm>
          <a:prstGeom prst="rect">
            <a:avLst/>
          </a:prstGeom>
          <a:noFill/>
          <a:ln/>
        </p:spPr>
        <p:txBody>
          <a:bodyPr wrap="square" lIns="0" tIns="0" rIns="0" bIns="0" rtlCol="0" anchor="t"/>
          <a:lstStyle/>
          <a:p>
            <a:pPr marL="0" indent="0">
              <a:buNone/>
            </a:pPr>
            <a:r>
              <a:rPr lang="en-US" sz="900" dirty="0">
                <a:solidFill>
                  <a:srgbClr val="2C2C2C"/>
                </a:solidFill>
                <a:latin typeface="Calibri" pitchFamily="34" charset="0"/>
                <a:ea typeface="Calibri" pitchFamily="34" charset="-122"/>
                <a:cs typeface="Calibri" pitchFamily="34" charset="-120"/>
              </a:rPr>
              <a:t>QA Engineer writes detailed test cases using the standard template. Covers positive, negative, edge, and boundary scenarios for all testable requirements. Uses BVA, EP, and Decision Tables.</a:t>
            </a:r>
            <a:endParaRPr lang="en-US" sz="900" dirty="0"/>
          </a:p>
        </p:txBody>
      </p:sp>
      <p:sp>
        <p:nvSpPr>
          <p:cNvPr id="23" name="Shape 21"/>
          <p:cNvSpPr/>
          <p:nvPr/>
        </p:nvSpPr>
        <p:spPr>
          <a:xfrm>
            <a:off x="6775704" y="758952"/>
            <a:ext cx="2084832" cy="1938528"/>
          </a:xfrm>
          <a:prstGeom prst="rect">
            <a:avLst/>
          </a:prstGeom>
          <a:solidFill>
            <a:srgbClr val="FFFFFF"/>
          </a:solidFill>
          <a:ln w="12700">
            <a:solidFill>
              <a:srgbClr val="DEDEDE"/>
            </a:solidFill>
            <a:prstDash val="solid"/>
          </a:ln>
          <a:effectLst>
            <a:outerShdw blurRad="76200" dist="25400" dir="8100000" algn="bl" rotWithShape="0">
              <a:srgbClr val="000000">
                <a:alpha val="13000"/>
              </a:srgbClr>
            </a:outerShdw>
          </a:effectLst>
        </p:spPr>
      </p:sp>
      <p:sp>
        <p:nvSpPr>
          <p:cNvPr id="24" name="Shape 22"/>
          <p:cNvSpPr/>
          <p:nvPr/>
        </p:nvSpPr>
        <p:spPr>
          <a:xfrm>
            <a:off x="6775704" y="758952"/>
            <a:ext cx="2084832" cy="384048"/>
          </a:xfrm>
          <a:prstGeom prst="rect">
            <a:avLst/>
          </a:prstGeom>
          <a:solidFill>
            <a:srgbClr val="8E44AD"/>
          </a:solidFill>
          <a:ln w="12700">
            <a:solidFill>
              <a:srgbClr val="8E44AD"/>
            </a:solidFill>
            <a:prstDash val="solid"/>
          </a:ln>
        </p:spPr>
      </p:sp>
      <p:sp>
        <p:nvSpPr>
          <p:cNvPr id="25" name="Text 23"/>
          <p:cNvSpPr/>
          <p:nvPr/>
        </p:nvSpPr>
        <p:spPr>
          <a:xfrm>
            <a:off x="6775704" y="758952"/>
            <a:ext cx="365760" cy="384048"/>
          </a:xfrm>
          <a:prstGeom prst="rect">
            <a:avLst/>
          </a:prstGeom>
          <a:noFill/>
          <a:ln/>
        </p:spPr>
        <p:txBody>
          <a:bodyPr wrap="square" lIns="0" tIns="0" rIns="0" bIns="0" rtlCol="0" anchor="ctr"/>
          <a:lstStyle/>
          <a:p>
            <a:pPr marL="0" indent="0" algn="ctr">
              <a:buNone/>
            </a:pPr>
            <a:r>
              <a:rPr lang="en-US" sz="1400" b="1" dirty="0">
                <a:solidFill>
                  <a:srgbClr val="FFFFFF"/>
                </a:solidFill>
                <a:latin typeface="Arial Black" pitchFamily="34" charset="0"/>
                <a:ea typeface="Arial Black" pitchFamily="34" charset="-122"/>
                <a:cs typeface="Arial Black" pitchFamily="34" charset="-120"/>
              </a:rPr>
              <a:t>4</a:t>
            </a:r>
            <a:endParaRPr lang="en-US" sz="1400" dirty="0"/>
          </a:p>
        </p:txBody>
      </p:sp>
      <p:sp>
        <p:nvSpPr>
          <p:cNvPr id="26" name="Text 24"/>
          <p:cNvSpPr/>
          <p:nvPr/>
        </p:nvSpPr>
        <p:spPr>
          <a:xfrm>
            <a:off x="7187184" y="813816"/>
            <a:ext cx="1609344" cy="274320"/>
          </a:xfrm>
          <a:prstGeom prst="rect">
            <a:avLst/>
          </a:prstGeom>
          <a:noFill/>
          <a:ln/>
        </p:spPr>
        <p:txBody>
          <a:bodyPr wrap="square" lIns="0" tIns="0" rIns="0" bIns="0" rtlCol="0" anchor="ctr"/>
          <a:lstStyle/>
          <a:p>
            <a:pPr marL="0" indent="0">
              <a:buNone/>
            </a:pPr>
            <a:r>
              <a:rPr lang="en-US" sz="1000" b="1" dirty="0">
                <a:solidFill>
                  <a:srgbClr val="FFFFFF"/>
                </a:solidFill>
                <a:latin typeface="Arial" pitchFamily="34" charset="0"/>
                <a:ea typeface="Arial" pitchFamily="34" charset="-122"/>
                <a:cs typeface="Arial" pitchFamily="34" charset="-120"/>
              </a:rPr>
              <a:t>Review &amp; Approval</a:t>
            </a:r>
            <a:endParaRPr lang="en-US" sz="1000" dirty="0"/>
          </a:p>
        </p:txBody>
      </p:sp>
      <p:sp>
        <p:nvSpPr>
          <p:cNvPr id="27" name="Text 25"/>
          <p:cNvSpPr/>
          <p:nvPr/>
        </p:nvSpPr>
        <p:spPr>
          <a:xfrm>
            <a:off x="6839712" y="1207008"/>
            <a:ext cx="1956816" cy="1408176"/>
          </a:xfrm>
          <a:prstGeom prst="rect">
            <a:avLst/>
          </a:prstGeom>
          <a:noFill/>
          <a:ln/>
        </p:spPr>
        <p:txBody>
          <a:bodyPr wrap="square" lIns="0" tIns="0" rIns="0" bIns="0" rtlCol="0" anchor="t"/>
          <a:lstStyle/>
          <a:p>
            <a:pPr marL="0" indent="0">
              <a:buNone/>
            </a:pPr>
            <a:r>
              <a:rPr lang="en-US" sz="900" dirty="0">
                <a:solidFill>
                  <a:srgbClr val="2C2C2C"/>
                </a:solidFill>
                <a:latin typeface="Calibri" pitchFamily="34" charset="0"/>
                <a:ea typeface="Calibri" pitchFamily="34" charset="-122"/>
                <a:cs typeface="Calibri" pitchFamily="34" charset="-120"/>
              </a:rPr>
              <a:t>Peer review → QA Lead sign-off → Update RTM with TC IDs and coverage percentage. Any issues flagged during review are fixed before approval.</a:t>
            </a:r>
            <a:endParaRPr lang="en-US" sz="900" dirty="0"/>
          </a:p>
        </p:txBody>
      </p:sp>
      <p:sp>
        <p:nvSpPr>
          <p:cNvPr id="28" name="Shape 26"/>
          <p:cNvSpPr/>
          <p:nvPr/>
        </p:nvSpPr>
        <p:spPr>
          <a:xfrm>
            <a:off x="137160" y="2880360"/>
            <a:ext cx="2816352" cy="1828800"/>
          </a:xfrm>
          <a:prstGeom prst="rect">
            <a:avLst/>
          </a:prstGeom>
          <a:solidFill>
            <a:srgbClr val="FFFFFF"/>
          </a:solidFill>
          <a:ln w="12700">
            <a:solidFill>
              <a:srgbClr val="DEDEDE"/>
            </a:solidFill>
            <a:prstDash val="solid"/>
          </a:ln>
          <a:effectLst>
            <a:outerShdw blurRad="76200" dist="25400" dir="8100000" algn="bl" rotWithShape="0">
              <a:srgbClr val="000000">
                <a:alpha val="13000"/>
              </a:srgbClr>
            </a:outerShdw>
          </a:effectLst>
        </p:spPr>
      </p:sp>
      <p:sp>
        <p:nvSpPr>
          <p:cNvPr id="29" name="Shape 27"/>
          <p:cNvSpPr/>
          <p:nvPr/>
        </p:nvSpPr>
        <p:spPr>
          <a:xfrm>
            <a:off x="137160" y="2880360"/>
            <a:ext cx="2816352" cy="384048"/>
          </a:xfrm>
          <a:prstGeom prst="rect">
            <a:avLst/>
          </a:prstGeom>
          <a:solidFill>
            <a:srgbClr val="E67E22"/>
          </a:solidFill>
          <a:ln w="12700">
            <a:solidFill>
              <a:srgbClr val="E67E22"/>
            </a:solidFill>
            <a:prstDash val="solid"/>
          </a:ln>
        </p:spPr>
      </p:sp>
      <p:sp>
        <p:nvSpPr>
          <p:cNvPr id="30" name="Text 28"/>
          <p:cNvSpPr/>
          <p:nvPr/>
        </p:nvSpPr>
        <p:spPr>
          <a:xfrm>
            <a:off x="137160" y="2880360"/>
            <a:ext cx="365760" cy="384048"/>
          </a:xfrm>
          <a:prstGeom prst="rect">
            <a:avLst/>
          </a:prstGeom>
          <a:noFill/>
          <a:ln/>
        </p:spPr>
        <p:txBody>
          <a:bodyPr wrap="square" lIns="0" tIns="0" rIns="0" bIns="0" rtlCol="0" anchor="ctr"/>
          <a:lstStyle/>
          <a:p>
            <a:pPr marL="0" indent="0" algn="ctr">
              <a:buNone/>
            </a:pPr>
            <a:r>
              <a:rPr lang="en-US" sz="1400" b="1" dirty="0">
                <a:solidFill>
                  <a:srgbClr val="FFFFFF"/>
                </a:solidFill>
                <a:latin typeface="Arial Black" pitchFamily="34" charset="0"/>
                <a:ea typeface="Arial Black" pitchFamily="34" charset="-122"/>
                <a:cs typeface="Arial Black" pitchFamily="34" charset="-120"/>
              </a:rPr>
              <a:t>5</a:t>
            </a:r>
            <a:endParaRPr lang="en-US" sz="1400" dirty="0"/>
          </a:p>
        </p:txBody>
      </p:sp>
      <p:sp>
        <p:nvSpPr>
          <p:cNvPr id="31" name="Text 29"/>
          <p:cNvSpPr/>
          <p:nvPr/>
        </p:nvSpPr>
        <p:spPr>
          <a:xfrm>
            <a:off x="548640" y="2935224"/>
            <a:ext cx="2340864" cy="274320"/>
          </a:xfrm>
          <a:prstGeom prst="rect">
            <a:avLst/>
          </a:prstGeom>
          <a:noFill/>
          <a:ln/>
        </p:spPr>
        <p:txBody>
          <a:bodyPr wrap="square" lIns="0" tIns="0" rIns="0" bIns="0" rtlCol="0" anchor="ctr"/>
          <a:lstStyle/>
          <a:p>
            <a:pPr marL="0" indent="0">
              <a:buNone/>
            </a:pPr>
            <a:r>
              <a:rPr lang="en-US" sz="1100" b="1" dirty="0">
                <a:solidFill>
                  <a:srgbClr val="FFFFFF"/>
                </a:solidFill>
                <a:latin typeface="Arial" pitchFamily="34" charset="0"/>
                <a:ea typeface="Arial" pitchFamily="34" charset="-122"/>
                <a:cs typeface="Arial" pitchFamily="34" charset="-120"/>
              </a:rPr>
              <a:t>Execute Test Cases</a:t>
            </a:r>
            <a:endParaRPr lang="en-US" sz="1100" dirty="0"/>
          </a:p>
        </p:txBody>
      </p:sp>
      <p:sp>
        <p:nvSpPr>
          <p:cNvPr id="32" name="Text 30"/>
          <p:cNvSpPr/>
          <p:nvPr/>
        </p:nvSpPr>
        <p:spPr>
          <a:xfrm>
            <a:off x="201168" y="3328416"/>
            <a:ext cx="2688336" cy="1298448"/>
          </a:xfrm>
          <a:prstGeom prst="rect">
            <a:avLst/>
          </a:prstGeom>
          <a:noFill/>
          <a:ln/>
        </p:spPr>
        <p:txBody>
          <a:bodyPr wrap="square" lIns="0" tIns="0" rIns="0" bIns="0" rtlCol="0" anchor="t"/>
          <a:lstStyle/>
          <a:p>
            <a:pPr marL="0" indent="0">
              <a:buNone/>
            </a:pPr>
            <a:r>
              <a:rPr lang="en-US" sz="950" dirty="0">
                <a:solidFill>
                  <a:srgbClr val="2C2C2C"/>
                </a:solidFill>
                <a:latin typeface="Calibri" pitchFamily="34" charset="0"/>
                <a:ea typeface="Calibri" pitchFamily="34" charset="-122"/>
                <a:cs typeface="Calibri" pitchFamily="34" charset="-120"/>
              </a:rPr>
              <a:t>QA team executes test cases in the test environment. Actual results are recorded for each TC. Automation scripts (Selenium/Playwright) run as part of the CI/CD pipeline.</a:t>
            </a:r>
            <a:endParaRPr lang="en-US" sz="950" dirty="0"/>
          </a:p>
        </p:txBody>
      </p:sp>
      <p:sp>
        <p:nvSpPr>
          <p:cNvPr id="33" name="Shape 31"/>
          <p:cNvSpPr/>
          <p:nvPr/>
        </p:nvSpPr>
        <p:spPr>
          <a:xfrm>
            <a:off x="3081528" y="2880360"/>
            <a:ext cx="2816352" cy="1828800"/>
          </a:xfrm>
          <a:prstGeom prst="rect">
            <a:avLst/>
          </a:prstGeom>
          <a:solidFill>
            <a:srgbClr val="FFFFFF"/>
          </a:solidFill>
          <a:ln w="12700">
            <a:solidFill>
              <a:srgbClr val="DEDEDE"/>
            </a:solidFill>
            <a:prstDash val="solid"/>
          </a:ln>
          <a:effectLst>
            <a:outerShdw blurRad="76200" dist="25400" dir="8100000" algn="bl" rotWithShape="0">
              <a:srgbClr val="000000">
                <a:alpha val="13000"/>
              </a:srgbClr>
            </a:outerShdw>
          </a:effectLst>
        </p:spPr>
      </p:sp>
      <p:sp>
        <p:nvSpPr>
          <p:cNvPr id="34" name="Shape 32"/>
          <p:cNvSpPr/>
          <p:nvPr/>
        </p:nvSpPr>
        <p:spPr>
          <a:xfrm>
            <a:off x="3081528" y="2880360"/>
            <a:ext cx="2816352" cy="384048"/>
          </a:xfrm>
          <a:prstGeom prst="rect">
            <a:avLst/>
          </a:prstGeom>
          <a:solidFill>
            <a:srgbClr val="C0392B"/>
          </a:solidFill>
          <a:ln w="12700">
            <a:solidFill>
              <a:srgbClr val="C0392B"/>
            </a:solidFill>
            <a:prstDash val="solid"/>
          </a:ln>
        </p:spPr>
      </p:sp>
      <p:sp>
        <p:nvSpPr>
          <p:cNvPr id="35" name="Text 33"/>
          <p:cNvSpPr/>
          <p:nvPr/>
        </p:nvSpPr>
        <p:spPr>
          <a:xfrm>
            <a:off x="3081528" y="2880360"/>
            <a:ext cx="365760" cy="384048"/>
          </a:xfrm>
          <a:prstGeom prst="rect">
            <a:avLst/>
          </a:prstGeom>
          <a:noFill/>
          <a:ln/>
        </p:spPr>
        <p:txBody>
          <a:bodyPr wrap="square" lIns="0" tIns="0" rIns="0" bIns="0" rtlCol="0" anchor="ctr"/>
          <a:lstStyle/>
          <a:p>
            <a:pPr marL="0" indent="0" algn="ctr">
              <a:buNone/>
            </a:pPr>
            <a:r>
              <a:rPr lang="en-US" sz="1400" b="1" dirty="0">
                <a:solidFill>
                  <a:srgbClr val="FFFFFF"/>
                </a:solidFill>
                <a:latin typeface="Arial Black" pitchFamily="34" charset="0"/>
                <a:ea typeface="Arial Black" pitchFamily="34" charset="-122"/>
                <a:cs typeface="Arial Black" pitchFamily="34" charset="-120"/>
              </a:rPr>
              <a:t>6</a:t>
            </a:r>
            <a:endParaRPr lang="en-US" sz="1400" dirty="0"/>
          </a:p>
        </p:txBody>
      </p:sp>
      <p:sp>
        <p:nvSpPr>
          <p:cNvPr id="36" name="Text 34"/>
          <p:cNvSpPr/>
          <p:nvPr/>
        </p:nvSpPr>
        <p:spPr>
          <a:xfrm>
            <a:off x="3493008" y="2935224"/>
            <a:ext cx="2340864" cy="274320"/>
          </a:xfrm>
          <a:prstGeom prst="rect">
            <a:avLst/>
          </a:prstGeom>
          <a:noFill/>
          <a:ln/>
        </p:spPr>
        <p:txBody>
          <a:bodyPr wrap="square" lIns="0" tIns="0" rIns="0" bIns="0" rtlCol="0" anchor="ctr"/>
          <a:lstStyle/>
          <a:p>
            <a:pPr marL="0" indent="0">
              <a:buNone/>
            </a:pPr>
            <a:r>
              <a:rPr lang="en-US" sz="1100" b="1" dirty="0">
                <a:solidFill>
                  <a:srgbClr val="FFFFFF"/>
                </a:solidFill>
                <a:latin typeface="Arial" pitchFamily="34" charset="0"/>
                <a:ea typeface="Arial" pitchFamily="34" charset="-122"/>
                <a:cs typeface="Arial" pitchFamily="34" charset="-120"/>
              </a:rPr>
              <a:t>Log Defects</a:t>
            </a:r>
            <a:endParaRPr lang="en-US" sz="1100" dirty="0"/>
          </a:p>
        </p:txBody>
      </p:sp>
      <p:sp>
        <p:nvSpPr>
          <p:cNvPr id="37" name="Text 35"/>
          <p:cNvSpPr/>
          <p:nvPr/>
        </p:nvSpPr>
        <p:spPr>
          <a:xfrm>
            <a:off x="3145536" y="3328416"/>
            <a:ext cx="2688336" cy="1298448"/>
          </a:xfrm>
          <a:prstGeom prst="rect">
            <a:avLst/>
          </a:prstGeom>
          <a:noFill/>
          <a:ln/>
        </p:spPr>
        <p:txBody>
          <a:bodyPr wrap="square" lIns="0" tIns="0" rIns="0" bIns="0" rtlCol="0" anchor="t"/>
          <a:lstStyle/>
          <a:p>
            <a:pPr marL="0" indent="0">
              <a:buNone/>
            </a:pPr>
            <a:r>
              <a:rPr lang="en-US" sz="950" dirty="0">
                <a:solidFill>
                  <a:srgbClr val="2C2C2C"/>
                </a:solidFill>
                <a:latin typeface="Calibri" pitchFamily="34" charset="0"/>
                <a:ea typeface="Calibri" pitchFamily="34" charset="-122"/>
                <a:cs typeface="Calibri" pitchFamily="34" charset="-120"/>
              </a:rPr>
              <a:t>Any TC that FAILS immediately triggers a defect report in Jira. Report includes: Bug ID, reproduction steps, severity, priority, screenshots, and logs. Developer is assigned and notified.</a:t>
            </a:r>
            <a:endParaRPr lang="en-US" sz="950" dirty="0"/>
          </a:p>
        </p:txBody>
      </p:sp>
      <p:sp>
        <p:nvSpPr>
          <p:cNvPr id="38" name="Shape 36"/>
          <p:cNvSpPr/>
          <p:nvPr/>
        </p:nvSpPr>
        <p:spPr>
          <a:xfrm>
            <a:off x="6025896" y="2880360"/>
            <a:ext cx="2816352" cy="1828800"/>
          </a:xfrm>
          <a:prstGeom prst="rect">
            <a:avLst/>
          </a:prstGeom>
          <a:solidFill>
            <a:srgbClr val="FFFFFF"/>
          </a:solidFill>
          <a:ln w="12700">
            <a:solidFill>
              <a:srgbClr val="DEDEDE"/>
            </a:solidFill>
            <a:prstDash val="solid"/>
          </a:ln>
          <a:effectLst>
            <a:outerShdw blurRad="76200" dist="25400" dir="8100000" algn="bl" rotWithShape="0">
              <a:srgbClr val="000000">
                <a:alpha val="13000"/>
              </a:srgbClr>
            </a:outerShdw>
          </a:effectLst>
        </p:spPr>
      </p:sp>
      <p:sp>
        <p:nvSpPr>
          <p:cNvPr id="39" name="Shape 37"/>
          <p:cNvSpPr/>
          <p:nvPr/>
        </p:nvSpPr>
        <p:spPr>
          <a:xfrm>
            <a:off x="6025896" y="2880360"/>
            <a:ext cx="2816352" cy="384048"/>
          </a:xfrm>
          <a:prstGeom prst="rect">
            <a:avLst/>
          </a:prstGeom>
          <a:solidFill>
            <a:srgbClr val="17A589"/>
          </a:solidFill>
          <a:ln w="12700">
            <a:solidFill>
              <a:srgbClr val="17A589"/>
            </a:solidFill>
            <a:prstDash val="solid"/>
          </a:ln>
        </p:spPr>
      </p:sp>
      <p:sp>
        <p:nvSpPr>
          <p:cNvPr id="40" name="Text 38"/>
          <p:cNvSpPr/>
          <p:nvPr/>
        </p:nvSpPr>
        <p:spPr>
          <a:xfrm>
            <a:off x="6025896" y="2880360"/>
            <a:ext cx="365760" cy="384048"/>
          </a:xfrm>
          <a:prstGeom prst="rect">
            <a:avLst/>
          </a:prstGeom>
          <a:noFill/>
          <a:ln/>
        </p:spPr>
        <p:txBody>
          <a:bodyPr wrap="square" lIns="0" tIns="0" rIns="0" bIns="0" rtlCol="0" anchor="ctr"/>
          <a:lstStyle/>
          <a:p>
            <a:pPr marL="0" indent="0" algn="ctr">
              <a:buNone/>
            </a:pPr>
            <a:r>
              <a:rPr lang="en-US" sz="1400" b="1" dirty="0">
                <a:solidFill>
                  <a:srgbClr val="FFFFFF"/>
                </a:solidFill>
                <a:latin typeface="Arial Black" pitchFamily="34" charset="0"/>
                <a:ea typeface="Arial Black" pitchFamily="34" charset="-122"/>
                <a:cs typeface="Arial Black" pitchFamily="34" charset="-120"/>
              </a:rPr>
              <a:t>7</a:t>
            </a:r>
            <a:endParaRPr lang="en-US" sz="1400" dirty="0"/>
          </a:p>
        </p:txBody>
      </p:sp>
      <p:sp>
        <p:nvSpPr>
          <p:cNvPr id="41" name="Text 39"/>
          <p:cNvSpPr/>
          <p:nvPr/>
        </p:nvSpPr>
        <p:spPr>
          <a:xfrm>
            <a:off x="6437376" y="2935224"/>
            <a:ext cx="2340864" cy="274320"/>
          </a:xfrm>
          <a:prstGeom prst="rect">
            <a:avLst/>
          </a:prstGeom>
          <a:noFill/>
          <a:ln/>
        </p:spPr>
        <p:txBody>
          <a:bodyPr wrap="square" lIns="0" tIns="0" rIns="0" bIns="0" rtlCol="0" anchor="ctr"/>
          <a:lstStyle/>
          <a:p>
            <a:pPr marL="0" indent="0">
              <a:buNone/>
            </a:pPr>
            <a:r>
              <a:rPr lang="en-US" sz="1100" b="1" dirty="0">
                <a:solidFill>
                  <a:srgbClr val="FFFFFF"/>
                </a:solidFill>
                <a:latin typeface="Arial" pitchFamily="34" charset="0"/>
                <a:ea typeface="Arial" pitchFamily="34" charset="-122"/>
                <a:cs typeface="Arial" pitchFamily="34" charset="-120"/>
              </a:rPr>
              <a:t>Retest &amp; Close</a:t>
            </a:r>
            <a:endParaRPr lang="en-US" sz="1100" dirty="0"/>
          </a:p>
        </p:txBody>
      </p:sp>
      <p:sp>
        <p:nvSpPr>
          <p:cNvPr id="42" name="Text 40"/>
          <p:cNvSpPr/>
          <p:nvPr/>
        </p:nvSpPr>
        <p:spPr>
          <a:xfrm>
            <a:off x="6089904" y="3328416"/>
            <a:ext cx="2688336" cy="1298448"/>
          </a:xfrm>
          <a:prstGeom prst="rect">
            <a:avLst/>
          </a:prstGeom>
          <a:noFill/>
          <a:ln/>
        </p:spPr>
        <p:txBody>
          <a:bodyPr wrap="square" lIns="0" tIns="0" rIns="0" bIns="0" rtlCol="0" anchor="t"/>
          <a:lstStyle/>
          <a:p>
            <a:pPr marL="0" indent="0">
              <a:buNone/>
            </a:pPr>
            <a:r>
              <a:rPr lang="en-US" sz="950" dirty="0">
                <a:solidFill>
                  <a:srgbClr val="2C2C2C"/>
                </a:solidFill>
                <a:latin typeface="Calibri" pitchFamily="34" charset="0"/>
                <a:ea typeface="Calibri" pitchFamily="34" charset="-122"/>
                <a:cs typeface="Calibri" pitchFamily="34" charset="-120"/>
              </a:rPr>
              <a:t>After developer fixes the defect, QA retests using the same TC that originally failed. If retest passes, bug is closed and TC status updated to Pass. RTM is updated accordingly.</a:t>
            </a:r>
            <a:endParaRPr lang="en-US" sz="95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3">
    <p:bg>
      <p:bgPr>
        <a:solidFill>
          <a:srgbClr val="0D0D0D"/>
        </a:solidFill>
        <a:effectLst/>
      </p:bgPr>
    </p:bg>
    <p:spTree>
      <p:nvGrpSpPr>
        <p:cNvPr id="1" name=""/>
        <p:cNvGrpSpPr/>
        <p:nvPr/>
      </p:nvGrpSpPr>
      <p:grpSpPr>
        <a:xfrm>
          <a:off x="0" y="0"/>
          <a:ext cx="0" cy="0"/>
          <a:chOff x="0" y="0"/>
          <a:chExt cx="0" cy="0"/>
        </a:xfrm>
      </p:grpSpPr>
      <p:sp>
        <p:nvSpPr>
          <p:cNvPr id="2" name="Shape 0"/>
          <p:cNvSpPr/>
          <p:nvPr/>
        </p:nvSpPr>
        <p:spPr>
          <a:xfrm>
            <a:off x="0" y="0"/>
            <a:ext cx="64008" cy="5143500"/>
          </a:xfrm>
          <a:prstGeom prst="rect">
            <a:avLst/>
          </a:prstGeom>
          <a:solidFill>
            <a:srgbClr val="FF6500"/>
          </a:solidFill>
          <a:ln w="12700">
            <a:solidFill>
              <a:srgbClr val="FF6500"/>
            </a:solidFill>
            <a:prstDash val="solid"/>
          </a:ln>
        </p:spPr>
      </p:sp>
      <p:sp>
        <p:nvSpPr>
          <p:cNvPr id="3" name="Shape 1"/>
          <p:cNvSpPr/>
          <p:nvPr/>
        </p:nvSpPr>
        <p:spPr>
          <a:xfrm>
            <a:off x="0" y="4828032"/>
            <a:ext cx="9144000" cy="315468"/>
          </a:xfrm>
          <a:prstGeom prst="rect">
            <a:avLst/>
          </a:prstGeom>
          <a:solidFill>
            <a:srgbClr val="FF6500"/>
          </a:solidFill>
          <a:ln w="12700">
            <a:solidFill>
              <a:srgbClr val="FF6500"/>
            </a:solidFill>
            <a:prstDash val="solid"/>
          </a:ln>
        </p:spPr>
      </p:sp>
      <p:sp>
        <p:nvSpPr>
          <p:cNvPr id="4" name="Shape 2"/>
          <p:cNvSpPr/>
          <p:nvPr/>
        </p:nvSpPr>
        <p:spPr>
          <a:xfrm>
            <a:off x="228600" y="365760"/>
            <a:ext cx="640080" cy="640080"/>
          </a:xfrm>
          <a:prstGeom prst="rect">
            <a:avLst/>
          </a:prstGeom>
          <a:solidFill>
            <a:srgbClr val="FF6500"/>
          </a:solidFill>
          <a:ln w="12700">
            <a:solidFill>
              <a:srgbClr val="FF6500"/>
            </a:solidFill>
            <a:prstDash val="solid"/>
          </a:ln>
        </p:spPr>
      </p:sp>
      <p:sp>
        <p:nvSpPr>
          <p:cNvPr id="5" name="Text 3"/>
          <p:cNvSpPr/>
          <p:nvPr/>
        </p:nvSpPr>
        <p:spPr>
          <a:xfrm>
            <a:off x="228600" y="365760"/>
            <a:ext cx="640080" cy="640080"/>
          </a:xfrm>
          <a:prstGeom prst="rect">
            <a:avLst/>
          </a:prstGeom>
          <a:noFill/>
          <a:ln/>
        </p:spPr>
        <p:txBody>
          <a:bodyPr wrap="square" lIns="0" tIns="0" rIns="0" bIns="0" rtlCol="0" anchor="ctr"/>
          <a:lstStyle/>
          <a:p>
            <a:pPr marL="0" indent="0" algn="ctr">
              <a:buNone/>
            </a:pPr>
            <a:r>
              <a:rPr lang="en-US" sz="2600" b="1" dirty="0">
                <a:solidFill>
                  <a:srgbClr val="FFFFFF"/>
                </a:solidFill>
                <a:latin typeface="Arial Black" pitchFamily="34" charset="0"/>
                <a:ea typeface="Arial Black" pitchFamily="34" charset="-122"/>
                <a:cs typeface="Arial Black" pitchFamily="34" charset="-120"/>
              </a:rPr>
              <a:t>16</a:t>
            </a:r>
            <a:endParaRPr lang="en-US" sz="2600" dirty="0"/>
          </a:p>
        </p:txBody>
      </p:sp>
      <p:sp>
        <p:nvSpPr>
          <p:cNvPr id="6" name="Text 4"/>
          <p:cNvSpPr/>
          <p:nvPr/>
        </p:nvSpPr>
        <p:spPr>
          <a:xfrm>
            <a:off x="1005840" y="475488"/>
            <a:ext cx="4572000" cy="420624"/>
          </a:xfrm>
          <a:prstGeom prst="rect">
            <a:avLst/>
          </a:prstGeom>
          <a:noFill/>
          <a:ln/>
        </p:spPr>
        <p:txBody>
          <a:bodyPr wrap="square" lIns="0" tIns="0" rIns="0" bIns="0" rtlCol="0" anchor="ctr"/>
          <a:lstStyle/>
          <a:p>
            <a:pPr marL="0" indent="0">
              <a:buNone/>
            </a:pPr>
            <a:r>
              <a:rPr lang="en-US" sz="1200" dirty="0">
                <a:solidFill>
                  <a:srgbClr val="AAAAAA"/>
                </a:solidFill>
                <a:latin typeface="Calibri" pitchFamily="34" charset="0"/>
                <a:ea typeface="Calibri" pitchFamily="34" charset="-122"/>
                <a:cs typeface="Calibri" pitchFamily="34" charset="-120"/>
              </a:rPr>
              <a:t>SECTION SIXTEEN</a:t>
            </a:r>
            <a:endParaRPr lang="en-US" sz="1200" dirty="0"/>
          </a:p>
        </p:txBody>
      </p:sp>
      <p:sp>
        <p:nvSpPr>
          <p:cNvPr id="7" name="Text 5"/>
          <p:cNvSpPr/>
          <p:nvPr/>
        </p:nvSpPr>
        <p:spPr>
          <a:xfrm>
            <a:off x="228600" y="1005840"/>
            <a:ext cx="8503920" cy="777240"/>
          </a:xfrm>
          <a:prstGeom prst="rect">
            <a:avLst/>
          </a:prstGeom>
          <a:noFill/>
          <a:ln/>
        </p:spPr>
        <p:txBody>
          <a:bodyPr wrap="square" lIns="0" tIns="0" rIns="0" bIns="0" rtlCol="0" anchor="ctr"/>
          <a:lstStyle/>
          <a:p>
            <a:pPr marL="0" indent="0">
              <a:buNone/>
            </a:pPr>
            <a:r>
              <a:rPr lang="en-US" sz="3200" b="1" dirty="0">
                <a:solidFill>
                  <a:srgbClr val="FFFFFF"/>
                </a:solidFill>
                <a:latin typeface="Arial Black" pitchFamily="34" charset="0"/>
                <a:ea typeface="Arial Black" pitchFamily="34" charset="-122"/>
                <a:cs typeface="Arial Black" pitchFamily="34" charset="-120"/>
              </a:rPr>
              <a:t>Common Mistakes in Test Case Development</a:t>
            </a:r>
            <a:endParaRPr lang="en-US" sz="3200" dirty="0"/>
          </a:p>
        </p:txBody>
      </p:sp>
      <p:sp>
        <p:nvSpPr>
          <p:cNvPr id="8" name="Text 6"/>
          <p:cNvSpPr/>
          <p:nvPr/>
        </p:nvSpPr>
        <p:spPr>
          <a:xfrm>
            <a:off x="228600" y="1828800"/>
            <a:ext cx="8503920" cy="365760"/>
          </a:xfrm>
          <a:prstGeom prst="rect">
            <a:avLst/>
          </a:prstGeom>
          <a:noFill/>
          <a:ln/>
        </p:spPr>
        <p:txBody>
          <a:bodyPr wrap="square" lIns="0" tIns="0" rIns="0" bIns="0" rtlCol="0" anchor="ctr"/>
          <a:lstStyle/>
          <a:p>
            <a:pPr marL="0" indent="0">
              <a:buNone/>
            </a:pPr>
            <a:r>
              <a:rPr lang="en-US" sz="1300" i="1" dirty="0">
                <a:solidFill>
                  <a:srgbClr val="AAAAAA"/>
                </a:solidFill>
                <a:latin typeface="Calibri" pitchFamily="34" charset="0"/>
                <a:ea typeface="Calibri" pitchFamily="34" charset="-122"/>
                <a:cs typeface="Calibri" pitchFamily="34" charset="-120"/>
              </a:rPr>
              <a:t>Avoid these pitfalls — they are the most common causes of defect escapes and release failures</a:t>
            </a:r>
            <a:endParaRPr lang="en-US" sz="1300" dirty="0"/>
          </a:p>
        </p:txBody>
      </p:sp>
      <p:sp>
        <p:nvSpPr>
          <p:cNvPr id="9" name="Shape 7"/>
          <p:cNvSpPr/>
          <p:nvPr/>
        </p:nvSpPr>
        <p:spPr>
          <a:xfrm>
            <a:off x="228600" y="2395728"/>
            <a:ext cx="2084832" cy="1115568"/>
          </a:xfrm>
          <a:prstGeom prst="rect">
            <a:avLst/>
          </a:prstGeom>
          <a:solidFill>
            <a:srgbClr val="1A0000"/>
          </a:solidFill>
          <a:ln w="12700">
            <a:solidFill>
              <a:srgbClr val="C0392B"/>
            </a:solidFill>
            <a:prstDash val="solid"/>
          </a:ln>
        </p:spPr>
      </p:sp>
      <p:sp>
        <p:nvSpPr>
          <p:cNvPr id="10" name="Shape 8"/>
          <p:cNvSpPr/>
          <p:nvPr/>
        </p:nvSpPr>
        <p:spPr>
          <a:xfrm>
            <a:off x="228600" y="2395728"/>
            <a:ext cx="347472" cy="1115568"/>
          </a:xfrm>
          <a:prstGeom prst="rect">
            <a:avLst/>
          </a:prstGeom>
          <a:solidFill>
            <a:srgbClr val="C0392B"/>
          </a:solidFill>
          <a:ln w="12700">
            <a:solidFill>
              <a:srgbClr val="C0392B"/>
            </a:solidFill>
            <a:prstDash val="solid"/>
          </a:ln>
        </p:spPr>
      </p:sp>
      <p:sp>
        <p:nvSpPr>
          <p:cNvPr id="11" name="Text 9"/>
          <p:cNvSpPr/>
          <p:nvPr/>
        </p:nvSpPr>
        <p:spPr>
          <a:xfrm>
            <a:off x="228600" y="2395728"/>
            <a:ext cx="347472" cy="384048"/>
          </a:xfrm>
          <a:prstGeom prst="rect">
            <a:avLst/>
          </a:prstGeom>
          <a:noFill/>
          <a:ln/>
        </p:spPr>
        <p:txBody>
          <a:bodyPr wrap="square" lIns="0" tIns="0" rIns="0" bIns="0" rtlCol="0" anchor="ctr"/>
          <a:lstStyle/>
          <a:p>
            <a:pPr marL="0" indent="0" algn="ctr">
              <a:buNone/>
            </a:pPr>
            <a:r>
              <a:rPr lang="en-US" sz="1800" b="1" dirty="0">
                <a:solidFill>
                  <a:srgbClr val="FFFFFF"/>
                </a:solidFill>
                <a:latin typeface="Arial Black" pitchFamily="34" charset="0"/>
                <a:ea typeface="Arial Black" pitchFamily="34" charset="-122"/>
                <a:cs typeface="Arial Black" pitchFamily="34" charset="-120"/>
              </a:rPr>
              <a:t>✗</a:t>
            </a:r>
            <a:endParaRPr lang="en-US" sz="1800" dirty="0"/>
          </a:p>
        </p:txBody>
      </p:sp>
      <p:sp>
        <p:nvSpPr>
          <p:cNvPr id="12" name="Text 10"/>
          <p:cNvSpPr/>
          <p:nvPr/>
        </p:nvSpPr>
        <p:spPr>
          <a:xfrm>
            <a:off x="630936" y="2432304"/>
            <a:ext cx="1627632" cy="274320"/>
          </a:xfrm>
          <a:prstGeom prst="rect">
            <a:avLst/>
          </a:prstGeom>
          <a:noFill/>
          <a:ln/>
        </p:spPr>
        <p:txBody>
          <a:bodyPr wrap="square" lIns="0" tIns="0" rIns="0" bIns="0" rtlCol="0" anchor="ctr"/>
          <a:lstStyle/>
          <a:p>
            <a:pPr marL="0" indent="0">
              <a:buNone/>
            </a:pPr>
            <a:r>
              <a:rPr lang="en-US" sz="1000" b="1" dirty="0">
                <a:solidFill>
                  <a:srgbClr val="FFFFFF"/>
                </a:solidFill>
                <a:latin typeface="Arial" pitchFamily="34" charset="0"/>
                <a:ea typeface="Arial" pitchFamily="34" charset="-122"/>
                <a:cs typeface="Arial" pitchFamily="34" charset="-120"/>
              </a:rPr>
              <a:t>Missing Edge Cases</a:t>
            </a:r>
            <a:endParaRPr lang="en-US" sz="1000" dirty="0"/>
          </a:p>
        </p:txBody>
      </p:sp>
      <p:sp>
        <p:nvSpPr>
          <p:cNvPr id="13" name="Text 11"/>
          <p:cNvSpPr/>
          <p:nvPr/>
        </p:nvSpPr>
        <p:spPr>
          <a:xfrm>
            <a:off x="630936" y="2724912"/>
            <a:ext cx="1627632" cy="749808"/>
          </a:xfrm>
          <a:prstGeom prst="rect">
            <a:avLst/>
          </a:prstGeom>
          <a:noFill/>
          <a:ln/>
        </p:spPr>
        <p:txBody>
          <a:bodyPr wrap="square" lIns="0" tIns="0" rIns="0" bIns="0" rtlCol="0" anchor="t"/>
          <a:lstStyle/>
          <a:p>
            <a:pPr marL="0" indent="0">
              <a:buNone/>
            </a:pPr>
            <a:r>
              <a:rPr lang="en-US" sz="850" dirty="0">
                <a:solidFill>
                  <a:srgbClr val="BBBBBB"/>
                </a:solidFill>
                <a:latin typeface="Calibri" pitchFamily="34" charset="0"/>
                <a:ea typeface="Calibri" pitchFamily="34" charset="-122"/>
                <a:cs typeface="Calibri" pitchFamily="34" charset="-120"/>
              </a:rPr>
              <a:t>Only testing the 'happy path'. Always ask: what happens at extremes? What if the field is empty, max length, or contains special characters?</a:t>
            </a:r>
            <a:endParaRPr lang="en-US" sz="850" dirty="0"/>
          </a:p>
        </p:txBody>
      </p:sp>
      <p:sp>
        <p:nvSpPr>
          <p:cNvPr id="14" name="Shape 12"/>
          <p:cNvSpPr/>
          <p:nvPr/>
        </p:nvSpPr>
        <p:spPr>
          <a:xfrm>
            <a:off x="2450592" y="2395728"/>
            <a:ext cx="2084832" cy="1115568"/>
          </a:xfrm>
          <a:prstGeom prst="rect">
            <a:avLst/>
          </a:prstGeom>
          <a:solidFill>
            <a:srgbClr val="1A0000"/>
          </a:solidFill>
          <a:ln w="12700">
            <a:solidFill>
              <a:srgbClr val="C0392B"/>
            </a:solidFill>
            <a:prstDash val="solid"/>
          </a:ln>
        </p:spPr>
      </p:sp>
      <p:sp>
        <p:nvSpPr>
          <p:cNvPr id="15" name="Shape 13"/>
          <p:cNvSpPr/>
          <p:nvPr/>
        </p:nvSpPr>
        <p:spPr>
          <a:xfrm>
            <a:off x="2450592" y="2395728"/>
            <a:ext cx="347472" cy="1115568"/>
          </a:xfrm>
          <a:prstGeom prst="rect">
            <a:avLst/>
          </a:prstGeom>
          <a:solidFill>
            <a:srgbClr val="C0392B"/>
          </a:solidFill>
          <a:ln w="12700">
            <a:solidFill>
              <a:srgbClr val="C0392B"/>
            </a:solidFill>
            <a:prstDash val="solid"/>
          </a:ln>
        </p:spPr>
      </p:sp>
      <p:sp>
        <p:nvSpPr>
          <p:cNvPr id="16" name="Text 14"/>
          <p:cNvSpPr/>
          <p:nvPr/>
        </p:nvSpPr>
        <p:spPr>
          <a:xfrm>
            <a:off x="2450592" y="2395728"/>
            <a:ext cx="347472" cy="384048"/>
          </a:xfrm>
          <a:prstGeom prst="rect">
            <a:avLst/>
          </a:prstGeom>
          <a:noFill/>
          <a:ln/>
        </p:spPr>
        <p:txBody>
          <a:bodyPr wrap="square" lIns="0" tIns="0" rIns="0" bIns="0" rtlCol="0" anchor="ctr"/>
          <a:lstStyle/>
          <a:p>
            <a:pPr marL="0" indent="0" algn="ctr">
              <a:buNone/>
            </a:pPr>
            <a:r>
              <a:rPr lang="en-US" sz="1800" b="1" dirty="0">
                <a:solidFill>
                  <a:srgbClr val="FFFFFF"/>
                </a:solidFill>
                <a:latin typeface="Arial Black" pitchFamily="34" charset="0"/>
                <a:ea typeface="Arial Black" pitchFamily="34" charset="-122"/>
                <a:cs typeface="Arial Black" pitchFamily="34" charset="-120"/>
              </a:rPr>
              <a:t>✗</a:t>
            </a:r>
            <a:endParaRPr lang="en-US" sz="1800" dirty="0"/>
          </a:p>
        </p:txBody>
      </p:sp>
      <p:sp>
        <p:nvSpPr>
          <p:cNvPr id="17" name="Text 15"/>
          <p:cNvSpPr/>
          <p:nvPr/>
        </p:nvSpPr>
        <p:spPr>
          <a:xfrm>
            <a:off x="2852928" y="2432304"/>
            <a:ext cx="1627632" cy="274320"/>
          </a:xfrm>
          <a:prstGeom prst="rect">
            <a:avLst/>
          </a:prstGeom>
          <a:noFill/>
          <a:ln/>
        </p:spPr>
        <p:txBody>
          <a:bodyPr wrap="square" lIns="0" tIns="0" rIns="0" bIns="0" rtlCol="0" anchor="ctr"/>
          <a:lstStyle/>
          <a:p>
            <a:pPr marL="0" indent="0">
              <a:buNone/>
            </a:pPr>
            <a:r>
              <a:rPr lang="en-US" sz="1000" b="1" dirty="0">
                <a:solidFill>
                  <a:srgbClr val="FFFFFF"/>
                </a:solidFill>
                <a:latin typeface="Arial" pitchFamily="34" charset="0"/>
                <a:ea typeface="Arial" pitchFamily="34" charset="-122"/>
                <a:cs typeface="Arial" pitchFamily="34" charset="-120"/>
              </a:rPr>
              <a:t>Vague Test Steps</a:t>
            </a:r>
            <a:endParaRPr lang="en-US" sz="1000" dirty="0"/>
          </a:p>
        </p:txBody>
      </p:sp>
      <p:sp>
        <p:nvSpPr>
          <p:cNvPr id="18" name="Text 16"/>
          <p:cNvSpPr/>
          <p:nvPr/>
        </p:nvSpPr>
        <p:spPr>
          <a:xfrm>
            <a:off x="2852928" y="2724912"/>
            <a:ext cx="1627632" cy="749808"/>
          </a:xfrm>
          <a:prstGeom prst="rect">
            <a:avLst/>
          </a:prstGeom>
          <a:noFill/>
          <a:ln/>
        </p:spPr>
        <p:txBody>
          <a:bodyPr wrap="square" lIns="0" tIns="0" rIns="0" bIns="0" rtlCol="0" anchor="t"/>
          <a:lstStyle/>
          <a:p>
            <a:pPr marL="0" indent="0">
              <a:buNone/>
            </a:pPr>
            <a:r>
              <a:rPr lang="en-US" sz="850" dirty="0">
                <a:solidFill>
                  <a:srgbClr val="BBBBBB"/>
                </a:solidFill>
                <a:latin typeface="Calibri" pitchFamily="34" charset="0"/>
                <a:ea typeface="Calibri" pitchFamily="34" charset="-122"/>
                <a:cs typeface="Calibri" pitchFamily="34" charset="-120"/>
              </a:rPr>
              <a:t>Steps like 'verify login works' are untestable. Use specific actions: Navigate to /login, Enter 'john@example.com', Click '#loginBtn', Assert page title = 'Dashboard'.</a:t>
            </a:r>
            <a:endParaRPr lang="en-US" sz="850" dirty="0"/>
          </a:p>
        </p:txBody>
      </p:sp>
      <p:sp>
        <p:nvSpPr>
          <p:cNvPr id="19" name="Shape 17"/>
          <p:cNvSpPr/>
          <p:nvPr/>
        </p:nvSpPr>
        <p:spPr>
          <a:xfrm>
            <a:off x="4672584" y="2395728"/>
            <a:ext cx="2084832" cy="1115568"/>
          </a:xfrm>
          <a:prstGeom prst="rect">
            <a:avLst/>
          </a:prstGeom>
          <a:solidFill>
            <a:srgbClr val="1A0000"/>
          </a:solidFill>
          <a:ln w="12700">
            <a:solidFill>
              <a:srgbClr val="C0392B"/>
            </a:solidFill>
            <a:prstDash val="solid"/>
          </a:ln>
        </p:spPr>
      </p:sp>
      <p:sp>
        <p:nvSpPr>
          <p:cNvPr id="20" name="Shape 18"/>
          <p:cNvSpPr/>
          <p:nvPr/>
        </p:nvSpPr>
        <p:spPr>
          <a:xfrm>
            <a:off x="4672584" y="2395728"/>
            <a:ext cx="347472" cy="1115568"/>
          </a:xfrm>
          <a:prstGeom prst="rect">
            <a:avLst/>
          </a:prstGeom>
          <a:solidFill>
            <a:srgbClr val="C0392B"/>
          </a:solidFill>
          <a:ln w="12700">
            <a:solidFill>
              <a:srgbClr val="C0392B"/>
            </a:solidFill>
            <a:prstDash val="solid"/>
          </a:ln>
        </p:spPr>
      </p:sp>
      <p:sp>
        <p:nvSpPr>
          <p:cNvPr id="21" name="Text 19"/>
          <p:cNvSpPr/>
          <p:nvPr/>
        </p:nvSpPr>
        <p:spPr>
          <a:xfrm>
            <a:off x="4672584" y="2395728"/>
            <a:ext cx="347472" cy="384048"/>
          </a:xfrm>
          <a:prstGeom prst="rect">
            <a:avLst/>
          </a:prstGeom>
          <a:noFill/>
          <a:ln/>
        </p:spPr>
        <p:txBody>
          <a:bodyPr wrap="square" lIns="0" tIns="0" rIns="0" bIns="0" rtlCol="0" anchor="ctr"/>
          <a:lstStyle/>
          <a:p>
            <a:pPr marL="0" indent="0" algn="ctr">
              <a:buNone/>
            </a:pPr>
            <a:r>
              <a:rPr lang="en-US" sz="1800" b="1" dirty="0">
                <a:solidFill>
                  <a:srgbClr val="FFFFFF"/>
                </a:solidFill>
                <a:latin typeface="Arial Black" pitchFamily="34" charset="0"/>
                <a:ea typeface="Arial Black" pitchFamily="34" charset="-122"/>
                <a:cs typeface="Arial Black" pitchFamily="34" charset="-120"/>
              </a:rPr>
              <a:t>✗</a:t>
            </a:r>
            <a:endParaRPr lang="en-US" sz="1800" dirty="0"/>
          </a:p>
        </p:txBody>
      </p:sp>
      <p:sp>
        <p:nvSpPr>
          <p:cNvPr id="22" name="Text 20"/>
          <p:cNvSpPr/>
          <p:nvPr/>
        </p:nvSpPr>
        <p:spPr>
          <a:xfrm>
            <a:off x="5074920" y="2432304"/>
            <a:ext cx="1627632" cy="274320"/>
          </a:xfrm>
          <a:prstGeom prst="rect">
            <a:avLst/>
          </a:prstGeom>
          <a:noFill/>
          <a:ln/>
        </p:spPr>
        <p:txBody>
          <a:bodyPr wrap="square" lIns="0" tIns="0" rIns="0" bIns="0" rtlCol="0" anchor="ctr"/>
          <a:lstStyle/>
          <a:p>
            <a:pPr marL="0" indent="0">
              <a:buNone/>
            </a:pPr>
            <a:r>
              <a:rPr lang="en-US" sz="1000" b="1" dirty="0">
                <a:solidFill>
                  <a:srgbClr val="FFFFFF"/>
                </a:solidFill>
                <a:latin typeface="Arial" pitchFamily="34" charset="0"/>
                <a:ea typeface="Arial" pitchFamily="34" charset="-122"/>
                <a:cs typeface="Arial" pitchFamily="34" charset="-120"/>
              </a:rPr>
              <a:t>No Preconditions</a:t>
            </a:r>
            <a:endParaRPr lang="en-US" sz="1000" dirty="0"/>
          </a:p>
        </p:txBody>
      </p:sp>
      <p:sp>
        <p:nvSpPr>
          <p:cNvPr id="23" name="Text 21"/>
          <p:cNvSpPr/>
          <p:nvPr/>
        </p:nvSpPr>
        <p:spPr>
          <a:xfrm>
            <a:off x="5074920" y="2724912"/>
            <a:ext cx="1627632" cy="749808"/>
          </a:xfrm>
          <a:prstGeom prst="rect">
            <a:avLst/>
          </a:prstGeom>
          <a:noFill/>
          <a:ln/>
        </p:spPr>
        <p:txBody>
          <a:bodyPr wrap="square" lIns="0" tIns="0" rIns="0" bIns="0" rtlCol="0" anchor="t"/>
          <a:lstStyle/>
          <a:p>
            <a:pPr marL="0" indent="0">
              <a:buNone/>
            </a:pPr>
            <a:r>
              <a:rPr lang="en-US" sz="850" dirty="0">
                <a:solidFill>
                  <a:srgbClr val="BBBBBB"/>
                </a:solidFill>
                <a:latin typeface="Calibri" pitchFamily="34" charset="0"/>
                <a:ea typeface="Calibri" pitchFamily="34" charset="-122"/>
                <a:cs typeface="Calibri" pitchFamily="34" charset="-120"/>
              </a:rPr>
              <a:t>Assuming the environment will always be in the right state. Missing preconditions cause false failures and wasted time debugging test setup.</a:t>
            </a:r>
            <a:endParaRPr lang="en-US" sz="850" dirty="0"/>
          </a:p>
        </p:txBody>
      </p:sp>
      <p:sp>
        <p:nvSpPr>
          <p:cNvPr id="24" name="Shape 22"/>
          <p:cNvSpPr/>
          <p:nvPr/>
        </p:nvSpPr>
        <p:spPr>
          <a:xfrm>
            <a:off x="6894576" y="2395728"/>
            <a:ext cx="2084832" cy="1115568"/>
          </a:xfrm>
          <a:prstGeom prst="rect">
            <a:avLst/>
          </a:prstGeom>
          <a:solidFill>
            <a:srgbClr val="1A0000"/>
          </a:solidFill>
          <a:ln w="12700">
            <a:solidFill>
              <a:srgbClr val="C0392B"/>
            </a:solidFill>
            <a:prstDash val="solid"/>
          </a:ln>
        </p:spPr>
      </p:sp>
      <p:sp>
        <p:nvSpPr>
          <p:cNvPr id="25" name="Shape 23"/>
          <p:cNvSpPr/>
          <p:nvPr/>
        </p:nvSpPr>
        <p:spPr>
          <a:xfrm>
            <a:off x="6894576" y="2395728"/>
            <a:ext cx="347472" cy="1115568"/>
          </a:xfrm>
          <a:prstGeom prst="rect">
            <a:avLst/>
          </a:prstGeom>
          <a:solidFill>
            <a:srgbClr val="C0392B"/>
          </a:solidFill>
          <a:ln w="12700">
            <a:solidFill>
              <a:srgbClr val="C0392B"/>
            </a:solidFill>
            <a:prstDash val="solid"/>
          </a:ln>
        </p:spPr>
      </p:sp>
      <p:sp>
        <p:nvSpPr>
          <p:cNvPr id="26" name="Text 24"/>
          <p:cNvSpPr/>
          <p:nvPr/>
        </p:nvSpPr>
        <p:spPr>
          <a:xfrm>
            <a:off x="6894576" y="2395728"/>
            <a:ext cx="347472" cy="384048"/>
          </a:xfrm>
          <a:prstGeom prst="rect">
            <a:avLst/>
          </a:prstGeom>
          <a:noFill/>
          <a:ln/>
        </p:spPr>
        <p:txBody>
          <a:bodyPr wrap="square" lIns="0" tIns="0" rIns="0" bIns="0" rtlCol="0" anchor="ctr"/>
          <a:lstStyle/>
          <a:p>
            <a:pPr marL="0" indent="0" algn="ctr">
              <a:buNone/>
            </a:pPr>
            <a:r>
              <a:rPr lang="en-US" sz="1800" b="1" dirty="0">
                <a:solidFill>
                  <a:srgbClr val="FFFFFF"/>
                </a:solidFill>
                <a:latin typeface="Arial Black" pitchFamily="34" charset="0"/>
                <a:ea typeface="Arial Black" pitchFamily="34" charset="-122"/>
                <a:cs typeface="Arial Black" pitchFamily="34" charset="-120"/>
              </a:rPr>
              <a:t>✗</a:t>
            </a:r>
            <a:endParaRPr lang="en-US" sz="1800" dirty="0"/>
          </a:p>
        </p:txBody>
      </p:sp>
      <p:sp>
        <p:nvSpPr>
          <p:cNvPr id="27" name="Text 25"/>
          <p:cNvSpPr/>
          <p:nvPr/>
        </p:nvSpPr>
        <p:spPr>
          <a:xfrm>
            <a:off x="7296912" y="2432304"/>
            <a:ext cx="1627632" cy="274320"/>
          </a:xfrm>
          <a:prstGeom prst="rect">
            <a:avLst/>
          </a:prstGeom>
          <a:noFill/>
          <a:ln/>
        </p:spPr>
        <p:txBody>
          <a:bodyPr wrap="square" lIns="0" tIns="0" rIns="0" bIns="0" rtlCol="0" anchor="ctr"/>
          <a:lstStyle/>
          <a:p>
            <a:pPr marL="0" indent="0">
              <a:buNone/>
            </a:pPr>
            <a:r>
              <a:rPr lang="en-US" sz="1000" b="1" dirty="0">
                <a:solidFill>
                  <a:srgbClr val="FFFFFF"/>
                </a:solidFill>
                <a:latin typeface="Arial" pitchFamily="34" charset="0"/>
                <a:ea typeface="Arial" pitchFamily="34" charset="-122"/>
                <a:cs typeface="Arial" pitchFamily="34" charset="-120"/>
              </a:rPr>
              <a:t>No Requirement Traceability</a:t>
            </a:r>
            <a:endParaRPr lang="en-US" sz="1000" dirty="0"/>
          </a:p>
        </p:txBody>
      </p:sp>
      <p:sp>
        <p:nvSpPr>
          <p:cNvPr id="28" name="Text 26"/>
          <p:cNvSpPr/>
          <p:nvPr/>
        </p:nvSpPr>
        <p:spPr>
          <a:xfrm>
            <a:off x="7296912" y="2724912"/>
            <a:ext cx="1627632" cy="749808"/>
          </a:xfrm>
          <a:prstGeom prst="rect">
            <a:avLst/>
          </a:prstGeom>
          <a:noFill/>
          <a:ln/>
        </p:spPr>
        <p:txBody>
          <a:bodyPr wrap="square" lIns="0" tIns="0" rIns="0" bIns="0" rtlCol="0" anchor="t"/>
          <a:lstStyle/>
          <a:p>
            <a:pPr marL="0" indent="0">
              <a:buNone/>
            </a:pPr>
            <a:r>
              <a:rPr lang="en-US" sz="850" dirty="0">
                <a:solidFill>
                  <a:srgbClr val="BBBBBB"/>
                </a:solidFill>
                <a:latin typeface="Calibri" pitchFamily="34" charset="0"/>
                <a:ea typeface="Calibri" pitchFamily="34" charset="-122"/>
                <a:cs typeface="Calibri" pitchFamily="34" charset="-120"/>
              </a:rPr>
              <a:t>Test cases that cannot be mapped to a requirement are wasteful. Every TC must reference at least one Req ID — without traceability you cannot prove coverage.</a:t>
            </a:r>
            <a:endParaRPr lang="en-US" sz="850" dirty="0"/>
          </a:p>
        </p:txBody>
      </p:sp>
      <p:sp>
        <p:nvSpPr>
          <p:cNvPr id="29" name="Shape 27"/>
          <p:cNvSpPr/>
          <p:nvPr/>
        </p:nvSpPr>
        <p:spPr>
          <a:xfrm>
            <a:off x="228600" y="3602736"/>
            <a:ext cx="2084832" cy="1115568"/>
          </a:xfrm>
          <a:prstGeom prst="rect">
            <a:avLst/>
          </a:prstGeom>
          <a:solidFill>
            <a:srgbClr val="1A0000"/>
          </a:solidFill>
          <a:ln w="12700">
            <a:solidFill>
              <a:srgbClr val="C0392B"/>
            </a:solidFill>
            <a:prstDash val="solid"/>
          </a:ln>
        </p:spPr>
      </p:sp>
      <p:sp>
        <p:nvSpPr>
          <p:cNvPr id="30" name="Shape 28"/>
          <p:cNvSpPr/>
          <p:nvPr/>
        </p:nvSpPr>
        <p:spPr>
          <a:xfrm>
            <a:off x="228600" y="3602736"/>
            <a:ext cx="347472" cy="1115568"/>
          </a:xfrm>
          <a:prstGeom prst="rect">
            <a:avLst/>
          </a:prstGeom>
          <a:solidFill>
            <a:srgbClr val="C0392B"/>
          </a:solidFill>
          <a:ln w="12700">
            <a:solidFill>
              <a:srgbClr val="C0392B"/>
            </a:solidFill>
            <a:prstDash val="solid"/>
          </a:ln>
        </p:spPr>
      </p:sp>
      <p:sp>
        <p:nvSpPr>
          <p:cNvPr id="31" name="Text 29"/>
          <p:cNvSpPr/>
          <p:nvPr/>
        </p:nvSpPr>
        <p:spPr>
          <a:xfrm>
            <a:off x="228600" y="3602736"/>
            <a:ext cx="347472" cy="384048"/>
          </a:xfrm>
          <a:prstGeom prst="rect">
            <a:avLst/>
          </a:prstGeom>
          <a:noFill/>
          <a:ln/>
        </p:spPr>
        <p:txBody>
          <a:bodyPr wrap="square" lIns="0" tIns="0" rIns="0" bIns="0" rtlCol="0" anchor="ctr"/>
          <a:lstStyle/>
          <a:p>
            <a:pPr marL="0" indent="0" algn="ctr">
              <a:buNone/>
            </a:pPr>
            <a:r>
              <a:rPr lang="en-US" sz="1800" b="1" dirty="0">
                <a:solidFill>
                  <a:srgbClr val="FFFFFF"/>
                </a:solidFill>
                <a:latin typeface="Arial Black" pitchFamily="34" charset="0"/>
                <a:ea typeface="Arial Black" pitchFamily="34" charset="-122"/>
                <a:cs typeface="Arial Black" pitchFamily="34" charset="-120"/>
              </a:rPr>
              <a:t>✗</a:t>
            </a:r>
            <a:endParaRPr lang="en-US" sz="1800" dirty="0"/>
          </a:p>
        </p:txBody>
      </p:sp>
      <p:sp>
        <p:nvSpPr>
          <p:cNvPr id="32" name="Text 30"/>
          <p:cNvSpPr/>
          <p:nvPr/>
        </p:nvSpPr>
        <p:spPr>
          <a:xfrm>
            <a:off x="630936" y="3639312"/>
            <a:ext cx="1627632" cy="274320"/>
          </a:xfrm>
          <a:prstGeom prst="rect">
            <a:avLst/>
          </a:prstGeom>
          <a:noFill/>
          <a:ln/>
        </p:spPr>
        <p:txBody>
          <a:bodyPr wrap="square" lIns="0" tIns="0" rIns="0" bIns="0" rtlCol="0" anchor="ctr"/>
          <a:lstStyle/>
          <a:p>
            <a:pPr marL="0" indent="0">
              <a:buNone/>
            </a:pPr>
            <a:r>
              <a:rPr lang="en-US" sz="1000" b="1" dirty="0">
                <a:solidFill>
                  <a:srgbClr val="FFFFFF"/>
                </a:solidFill>
                <a:latin typeface="Arial" pitchFamily="34" charset="0"/>
                <a:ea typeface="Arial" pitchFamily="34" charset="-122"/>
                <a:cs typeface="Arial" pitchFamily="34" charset="-120"/>
              </a:rPr>
              <a:t>Redundant Test Cases</a:t>
            </a:r>
            <a:endParaRPr lang="en-US" sz="1000" dirty="0"/>
          </a:p>
        </p:txBody>
      </p:sp>
      <p:sp>
        <p:nvSpPr>
          <p:cNvPr id="33" name="Text 31"/>
          <p:cNvSpPr/>
          <p:nvPr/>
        </p:nvSpPr>
        <p:spPr>
          <a:xfrm>
            <a:off x="630936" y="3931920"/>
            <a:ext cx="1627632" cy="749808"/>
          </a:xfrm>
          <a:prstGeom prst="rect">
            <a:avLst/>
          </a:prstGeom>
          <a:noFill/>
          <a:ln/>
        </p:spPr>
        <p:txBody>
          <a:bodyPr wrap="square" lIns="0" tIns="0" rIns="0" bIns="0" rtlCol="0" anchor="t"/>
          <a:lstStyle/>
          <a:p>
            <a:pPr marL="0" indent="0">
              <a:buNone/>
            </a:pPr>
            <a:r>
              <a:rPr lang="en-US" sz="850" dirty="0">
                <a:solidFill>
                  <a:srgbClr val="BBBBBB"/>
                </a:solidFill>
                <a:latin typeface="Calibri" pitchFamily="34" charset="0"/>
                <a:ea typeface="Calibri" pitchFamily="34" charset="-122"/>
                <a:cs typeface="Calibri" pitchFamily="34" charset="-120"/>
              </a:rPr>
              <a:t>Duplicate TCs bloat the test suite and slow execution. Regularly review and merge overlapping cases. Each TC must add unique value.</a:t>
            </a:r>
            <a:endParaRPr lang="en-US" sz="850" dirty="0"/>
          </a:p>
        </p:txBody>
      </p:sp>
      <p:sp>
        <p:nvSpPr>
          <p:cNvPr id="34" name="Shape 32"/>
          <p:cNvSpPr/>
          <p:nvPr/>
        </p:nvSpPr>
        <p:spPr>
          <a:xfrm>
            <a:off x="2450592" y="3602736"/>
            <a:ext cx="2084832" cy="1115568"/>
          </a:xfrm>
          <a:prstGeom prst="rect">
            <a:avLst/>
          </a:prstGeom>
          <a:solidFill>
            <a:srgbClr val="1A0000"/>
          </a:solidFill>
          <a:ln w="12700">
            <a:solidFill>
              <a:srgbClr val="C0392B"/>
            </a:solidFill>
            <a:prstDash val="solid"/>
          </a:ln>
        </p:spPr>
      </p:sp>
      <p:sp>
        <p:nvSpPr>
          <p:cNvPr id="35" name="Shape 33"/>
          <p:cNvSpPr/>
          <p:nvPr/>
        </p:nvSpPr>
        <p:spPr>
          <a:xfrm>
            <a:off x="2450592" y="3602736"/>
            <a:ext cx="347472" cy="1115568"/>
          </a:xfrm>
          <a:prstGeom prst="rect">
            <a:avLst/>
          </a:prstGeom>
          <a:solidFill>
            <a:srgbClr val="C0392B"/>
          </a:solidFill>
          <a:ln w="12700">
            <a:solidFill>
              <a:srgbClr val="C0392B"/>
            </a:solidFill>
            <a:prstDash val="solid"/>
          </a:ln>
        </p:spPr>
      </p:sp>
      <p:sp>
        <p:nvSpPr>
          <p:cNvPr id="36" name="Text 34"/>
          <p:cNvSpPr/>
          <p:nvPr/>
        </p:nvSpPr>
        <p:spPr>
          <a:xfrm>
            <a:off x="2450592" y="3602736"/>
            <a:ext cx="347472" cy="384048"/>
          </a:xfrm>
          <a:prstGeom prst="rect">
            <a:avLst/>
          </a:prstGeom>
          <a:noFill/>
          <a:ln/>
        </p:spPr>
        <p:txBody>
          <a:bodyPr wrap="square" lIns="0" tIns="0" rIns="0" bIns="0" rtlCol="0" anchor="ctr"/>
          <a:lstStyle/>
          <a:p>
            <a:pPr marL="0" indent="0" algn="ctr">
              <a:buNone/>
            </a:pPr>
            <a:r>
              <a:rPr lang="en-US" sz="1800" b="1" dirty="0">
                <a:solidFill>
                  <a:srgbClr val="FFFFFF"/>
                </a:solidFill>
                <a:latin typeface="Arial Black" pitchFamily="34" charset="0"/>
                <a:ea typeface="Arial Black" pitchFamily="34" charset="-122"/>
                <a:cs typeface="Arial Black" pitchFamily="34" charset="-120"/>
              </a:rPr>
              <a:t>✗</a:t>
            </a:r>
            <a:endParaRPr lang="en-US" sz="1800" dirty="0"/>
          </a:p>
        </p:txBody>
      </p:sp>
      <p:sp>
        <p:nvSpPr>
          <p:cNvPr id="37" name="Text 35"/>
          <p:cNvSpPr/>
          <p:nvPr/>
        </p:nvSpPr>
        <p:spPr>
          <a:xfrm>
            <a:off x="2852928" y="3639312"/>
            <a:ext cx="1627632" cy="274320"/>
          </a:xfrm>
          <a:prstGeom prst="rect">
            <a:avLst/>
          </a:prstGeom>
          <a:noFill/>
          <a:ln/>
        </p:spPr>
        <p:txBody>
          <a:bodyPr wrap="square" lIns="0" tIns="0" rIns="0" bIns="0" rtlCol="0" anchor="ctr"/>
          <a:lstStyle/>
          <a:p>
            <a:pPr marL="0" indent="0">
              <a:buNone/>
            </a:pPr>
            <a:r>
              <a:rPr lang="en-US" sz="1000" b="1" dirty="0">
                <a:solidFill>
                  <a:srgbClr val="FFFFFF"/>
                </a:solidFill>
                <a:latin typeface="Arial" pitchFamily="34" charset="0"/>
                <a:ea typeface="Arial" pitchFamily="34" charset="-122"/>
                <a:cs typeface="Arial" pitchFamily="34" charset="-120"/>
              </a:rPr>
              <a:t>Ignoring Negative Scenarios</a:t>
            </a:r>
            <a:endParaRPr lang="en-US" sz="1000" dirty="0"/>
          </a:p>
        </p:txBody>
      </p:sp>
      <p:sp>
        <p:nvSpPr>
          <p:cNvPr id="38" name="Text 36"/>
          <p:cNvSpPr/>
          <p:nvPr/>
        </p:nvSpPr>
        <p:spPr>
          <a:xfrm>
            <a:off x="2852928" y="3931920"/>
            <a:ext cx="1627632" cy="749808"/>
          </a:xfrm>
          <a:prstGeom prst="rect">
            <a:avLst/>
          </a:prstGeom>
          <a:noFill/>
          <a:ln/>
        </p:spPr>
        <p:txBody>
          <a:bodyPr wrap="square" lIns="0" tIns="0" rIns="0" bIns="0" rtlCol="0" anchor="t"/>
          <a:lstStyle/>
          <a:p>
            <a:pPr marL="0" indent="0">
              <a:buNone/>
            </a:pPr>
            <a:r>
              <a:rPr lang="en-US" sz="850" dirty="0">
                <a:solidFill>
                  <a:srgbClr val="BBBBBB"/>
                </a:solidFill>
                <a:latin typeface="Calibri" pitchFamily="34" charset="0"/>
                <a:ea typeface="Calibri" pitchFamily="34" charset="-122"/>
                <a:cs typeface="Calibri" pitchFamily="34" charset="-120"/>
              </a:rPr>
              <a:t>Only writing positive (happy path) TCs. Defects hide in error handling, invalid input processing, and boundary breaches — all negative scenarios.</a:t>
            </a:r>
            <a:endParaRPr lang="en-US" sz="850" dirty="0"/>
          </a:p>
        </p:txBody>
      </p:sp>
      <p:sp>
        <p:nvSpPr>
          <p:cNvPr id="39" name="Shape 37"/>
          <p:cNvSpPr/>
          <p:nvPr/>
        </p:nvSpPr>
        <p:spPr>
          <a:xfrm>
            <a:off x="4672584" y="3602736"/>
            <a:ext cx="2084832" cy="1115568"/>
          </a:xfrm>
          <a:prstGeom prst="rect">
            <a:avLst/>
          </a:prstGeom>
          <a:solidFill>
            <a:srgbClr val="1A0000"/>
          </a:solidFill>
          <a:ln w="12700">
            <a:solidFill>
              <a:srgbClr val="C0392B"/>
            </a:solidFill>
            <a:prstDash val="solid"/>
          </a:ln>
        </p:spPr>
      </p:sp>
      <p:sp>
        <p:nvSpPr>
          <p:cNvPr id="40" name="Shape 38"/>
          <p:cNvSpPr/>
          <p:nvPr/>
        </p:nvSpPr>
        <p:spPr>
          <a:xfrm>
            <a:off x="4672584" y="3602736"/>
            <a:ext cx="347472" cy="1115568"/>
          </a:xfrm>
          <a:prstGeom prst="rect">
            <a:avLst/>
          </a:prstGeom>
          <a:solidFill>
            <a:srgbClr val="C0392B"/>
          </a:solidFill>
          <a:ln w="12700">
            <a:solidFill>
              <a:srgbClr val="C0392B"/>
            </a:solidFill>
            <a:prstDash val="solid"/>
          </a:ln>
        </p:spPr>
      </p:sp>
      <p:sp>
        <p:nvSpPr>
          <p:cNvPr id="41" name="Text 39"/>
          <p:cNvSpPr/>
          <p:nvPr/>
        </p:nvSpPr>
        <p:spPr>
          <a:xfrm>
            <a:off x="4672584" y="3602736"/>
            <a:ext cx="347472" cy="384048"/>
          </a:xfrm>
          <a:prstGeom prst="rect">
            <a:avLst/>
          </a:prstGeom>
          <a:noFill/>
          <a:ln/>
        </p:spPr>
        <p:txBody>
          <a:bodyPr wrap="square" lIns="0" tIns="0" rIns="0" bIns="0" rtlCol="0" anchor="ctr"/>
          <a:lstStyle/>
          <a:p>
            <a:pPr marL="0" indent="0" algn="ctr">
              <a:buNone/>
            </a:pPr>
            <a:r>
              <a:rPr lang="en-US" sz="1800" b="1" dirty="0">
                <a:solidFill>
                  <a:srgbClr val="FFFFFF"/>
                </a:solidFill>
                <a:latin typeface="Arial Black" pitchFamily="34" charset="0"/>
                <a:ea typeface="Arial Black" pitchFamily="34" charset="-122"/>
                <a:cs typeface="Arial Black" pitchFamily="34" charset="-120"/>
              </a:rPr>
              <a:t>✗</a:t>
            </a:r>
            <a:endParaRPr lang="en-US" sz="1800" dirty="0"/>
          </a:p>
        </p:txBody>
      </p:sp>
      <p:sp>
        <p:nvSpPr>
          <p:cNvPr id="42" name="Text 40"/>
          <p:cNvSpPr/>
          <p:nvPr/>
        </p:nvSpPr>
        <p:spPr>
          <a:xfrm>
            <a:off x="5074920" y="3639312"/>
            <a:ext cx="1627632" cy="274320"/>
          </a:xfrm>
          <a:prstGeom prst="rect">
            <a:avLst/>
          </a:prstGeom>
          <a:noFill/>
          <a:ln/>
        </p:spPr>
        <p:txBody>
          <a:bodyPr wrap="square" lIns="0" tIns="0" rIns="0" bIns="0" rtlCol="0" anchor="ctr"/>
          <a:lstStyle/>
          <a:p>
            <a:pPr marL="0" indent="0">
              <a:buNone/>
            </a:pPr>
            <a:r>
              <a:rPr lang="en-US" sz="1000" b="1" dirty="0">
                <a:solidFill>
                  <a:srgbClr val="FFFFFF"/>
                </a:solidFill>
                <a:latin typeface="Arial" pitchFamily="34" charset="0"/>
                <a:ea typeface="Arial" pitchFamily="34" charset="-122"/>
                <a:cs typeface="Arial" pitchFamily="34" charset="-120"/>
              </a:rPr>
              <a:t>Outdated Test Cases</a:t>
            </a:r>
            <a:endParaRPr lang="en-US" sz="1000" dirty="0"/>
          </a:p>
        </p:txBody>
      </p:sp>
      <p:sp>
        <p:nvSpPr>
          <p:cNvPr id="43" name="Text 41"/>
          <p:cNvSpPr/>
          <p:nvPr/>
        </p:nvSpPr>
        <p:spPr>
          <a:xfrm>
            <a:off x="5074920" y="3931920"/>
            <a:ext cx="1627632" cy="749808"/>
          </a:xfrm>
          <a:prstGeom prst="rect">
            <a:avLst/>
          </a:prstGeom>
          <a:noFill/>
          <a:ln/>
        </p:spPr>
        <p:txBody>
          <a:bodyPr wrap="square" lIns="0" tIns="0" rIns="0" bIns="0" rtlCol="0" anchor="t"/>
          <a:lstStyle/>
          <a:p>
            <a:pPr marL="0" indent="0">
              <a:buNone/>
            </a:pPr>
            <a:r>
              <a:rPr lang="en-US" sz="850" dirty="0">
                <a:solidFill>
                  <a:srgbClr val="BBBBBB"/>
                </a:solidFill>
                <a:latin typeface="Calibri" pitchFamily="34" charset="0"/>
                <a:ea typeface="Calibri" pitchFamily="34" charset="-122"/>
                <a:cs typeface="Calibri" pitchFamily="34" charset="-120"/>
              </a:rPr>
              <a:t>Failing to update TCs when requirements change. Stale test cases produce misleading Pass results. Assign a TC owner responsible for maintenance.</a:t>
            </a:r>
            <a:endParaRPr lang="en-US" sz="850" dirty="0"/>
          </a:p>
        </p:txBody>
      </p:sp>
      <p:sp>
        <p:nvSpPr>
          <p:cNvPr id="44" name="Shape 42"/>
          <p:cNvSpPr/>
          <p:nvPr/>
        </p:nvSpPr>
        <p:spPr>
          <a:xfrm>
            <a:off x="6894576" y="3602736"/>
            <a:ext cx="2084832" cy="1115568"/>
          </a:xfrm>
          <a:prstGeom prst="rect">
            <a:avLst/>
          </a:prstGeom>
          <a:solidFill>
            <a:srgbClr val="1A0000"/>
          </a:solidFill>
          <a:ln w="12700">
            <a:solidFill>
              <a:srgbClr val="C0392B"/>
            </a:solidFill>
            <a:prstDash val="solid"/>
          </a:ln>
        </p:spPr>
      </p:sp>
      <p:sp>
        <p:nvSpPr>
          <p:cNvPr id="45" name="Shape 43"/>
          <p:cNvSpPr/>
          <p:nvPr/>
        </p:nvSpPr>
        <p:spPr>
          <a:xfrm>
            <a:off x="6894576" y="3602736"/>
            <a:ext cx="347472" cy="1115568"/>
          </a:xfrm>
          <a:prstGeom prst="rect">
            <a:avLst/>
          </a:prstGeom>
          <a:solidFill>
            <a:srgbClr val="C0392B"/>
          </a:solidFill>
          <a:ln w="12700">
            <a:solidFill>
              <a:srgbClr val="C0392B"/>
            </a:solidFill>
            <a:prstDash val="solid"/>
          </a:ln>
        </p:spPr>
      </p:sp>
      <p:sp>
        <p:nvSpPr>
          <p:cNvPr id="46" name="Text 44"/>
          <p:cNvSpPr/>
          <p:nvPr/>
        </p:nvSpPr>
        <p:spPr>
          <a:xfrm>
            <a:off x="6894576" y="3602736"/>
            <a:ext cx="347472" cy="384048"/>
          </a:xfrm>
          <a:prstGeom prst="rect">
            <a:avLst/>
          </a:prstGeom>
          <a:noFill/>
          <a:ln/>
        </p:spPr>
        <p:txBody>
          <a:bodyPr wrap="square" lIns="0" tIns="0" rIns="0" bIns="0" rtlCol="0" anchor="ctr"/>
          <a:lstStyle/>
          <a:p>
            <a:pPr marL="0" indent="0" algn="ctr">
              <a:buNone/>
            </a:pPr>
            <a:r>
              <a:rPr lang="en-US" sz="1800" b="1" dirty="0">
                <a:solidFill>
                  <a:srgbClr val="FFFFFF"/>
                </a:solidFill>
                <a:latin typeface="Arial Black" pitchFamily="34" charset="0"/>
                <a:ea typeface="Arial Black" pitchFamily="34" charset="-122"/>
                <a:cs typeface="Arial Black" pitchFamily="34" charset="-120"/>
              </a:rPr>
              <a:t>✗</a:t>
            </a:r>
            <a:endParaRPr lang="en-US" sz="1800" dirty="0"/>
          </a:p>
        </p:txBody>
      </p:sp>
      <p:sp>
        <p:nvSpPr>
          <p:cNvPr id="47" name="Text 45"/>
          <p:cNvSpPr/>
          <p:nvPr/>
        </p:nvSpPr>
        <p:spPr>
          <a:xfrm>
            <a:off x="7296912" y="3639312"/>
            <a:ext cx="1627632" cy="274320"/>
          </a:xfrm>
          <a:prstGeom prst="rect">
            <a:avLst/>
          </a:prstGeom>
          <a:noFill/>
          <a:ln/>
        </p:spPr>
        <p:txBody>
          <a:bodyPr wrap="square" lIns="0" tIns="0" rIns="0" bIns="0" rtlCol="0" anchor="ctr"/>
          <a:lstStyle/>
          <a:p>
            <a:pPr marL="0" indent="0">
              <a:buNone/>
            </a:pPr>
            <a:r>
              <a:rPr lang="en-US" sz="1000" b="1" dirty="0">
                <a:solidFill>
                  <a:srgbClr val="FFFFFF"/>
                </a:solidFill>
                <a:latin typeface="Arial" pitchFamily="34" charset="0"/>
                <a:ea typeface="Arial" pitchFamily="34" charset="-122"/>
                <a:cs typeface="Arial" pitchFamily="34" charset="-120"/>
              </a:rPr>
              <a:t>Poor Test Data Selection</a:t>
            </a:r>
            <a:endParaRPr lang="en-US" sz="1000" dirty="0"/>
          </a:p>
        </p:txBody>
      </p:sp>
      <p:sp>
        <p:nvSpPr>
          <p:cNvPr id="48" name="Text 46"/>
          <p:cNvSpPr/>
          <p:nvPr/>
        </p:nvSpPr>
        <p:spPr>
          <a:xfrm>
            <a:off x="7296912" y="3931920"/>
            <a:ext cx="1627632" cy="749808"/>
          </a:xfrm>
          <a:prstGeom prst="rect">
            <a:avLst/>
          </a:prstGeom>
          <a:noFill/>
          <a:ln/>
        </p:spPr>
        <p:txBody>
          <a:bodyPr wrap="square" lIns="0" tIns="0" rIns="0" bIns="0" rtlCol="0" anchor="t"/>
          <a:lstStyle/>
          <a:p>
            <a:pPr marL="0" indent="0">
              <a:buNone/>
            </a:pPr>
            <a:r>
              <a:rPr lang="en-US" sz="850" dirty="0">
                <a:solidFill>
                  <a:srgbClr val="BBBBBB"/>
                </a:solidFill>
                <a:latin typeface="Calibri" pitchFamily="34" charset="0"/>
                <a:ea typeface="Calibri" pitchFamily="34" charset="-122"/>
                <a:cs typeface="Calibri" pitchFamily="34" charset="-120"/>
              </a:rPr>
              <a:t>Using only one or two test values. Select data that covers valid, invalid, edge, and boundary cases. Use realistic data that mirrors production patterns.</a:t>
            </a:r>
            <a:endParaRPr lang="en-US" sz="85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4">
    <p:bg>
      <p:bgPr>
        <a:solidFill>
          <a:srgbClr val="0D0D0D"/>
        </a:solidFill>
        <a:effectLst/>
      </p:bgPr>
    </p:bg>
    <p:spTree>
      <p:nvGrpSpPr>
        <p:cNvPr id="1" name=""/>
        <p:cNvGrpSpPr/>
        <p:nvPr/>
      </p:nvGrpSpPr>
      <p:grpSpPr>
        <a:xfrm>
          <a:off x="0" y="0"/>
          <a:ext cx="0" cy="0"/>
          <a:chOff x="0" y="0"/>
          <a:chExt cx="0" cy="0"/>
        </a:xfrm>
      </p:grpSpPr>
      <p:sp>
        <p:nvSpPr>
          <p:cNvPr id="2" name="Shape 0"/>
          <p:cNvSpPr/>
          <p:nvPr/>
        </p:nvSpPr>
        <p:spPr>
          <a:xfrm>
            <a:off x="0" y="0"/>
            <a:ext cx="64008" cy="5143500"/>
          </a:xfrm>
          <a:prstGeom prst="rect">
            <a:avLst/>
          </a:prstGeom>
          <a:solidFill>
            <a:srgbClr val="FF6500"/>
          </a:solidFill>
          <a:ln w="12700">
            <a:solidFill>
              <a:srgbClr val="FF6500"/>
            </a:solidFill>
            <a:prstDash val="solid"/>
          </a:ln>
        </p:spPr>
      </p:sp>
      <p:sp>
        <p:nvSpPr>
          <p:cNvPr id="3" name="Shape 1"/>
          <p:cNvSpPr/>
          <p:nvPr/>
        </p:nvSpPr>
        <p:spPr>
          <a:xfrm>
            <a:off x="0" y="4828032"/>
            <a:ext cx="9144000" cy="315468"/>
          </a:xfrm>
          <a:prstGeom prst="rect">
            <a:avLst/>
          </a:prstGeom>
          <a:solidFill>
            <a:srgbClr val="FF6500"/>
          </a:solidFill>
          <a:ln w="12700">
            <a:solidFill>
              <a:srgbClr val="FF6500"/>
            </a:solidFill>
            <a:prstDash val="solid"/>
          </a:ln>
        </p:spPr>
      </p:sp>
      <p:sp>
        <p:nvSpPr>
          <p:cNvPr id="4" name="Shape 2"/>
          <p:cNvSpPr/>
          <p:nvPr/>
        </p:nvSpPr>
        <p:spPr>
          <a:xfrm>
            <a:off x="228600" y="365760"/>
            <a:ext cx="640080" cy="640080"/>
          </a:xfrm>
          <a:prstGeom prst="rect">
            <a:avLst/>
          </a:prstGeom>
          <a:solidFill>
            <a:srgbClr val="FF6500"/>
          </a:solidFill>
          <a:ln w="12700">
            <a:solidFill>
              <a:srgbClr val="FF6500"/>
            </a:solidFill>
            <a:prstDash val="solid"/>
          </a:ln>
        </p:spPr>
      </p:sp>
      <p:sp>
        <p:nvSpPr>
          <p:cNvPr id="5" name="Text 3"/>
          <p:cNvSpPr/>
          <p:nvPr/>
        </p:nvSpPr>
        <p:spPr>
          <a:xfrm>
            <a:off x="228600" y="365760"/>
            <a:ext cx="640080" cy="640080"/>
          </a:xfrm>
          <a:prstGeom prst="rect">
            <a:avLst/>
          </a:prstGeom>
          <a:noFill/>
          <a:ln/>
        </p:spPr>
        <p:txBody>
          <a:bodyPr wrap="square" lIns="0" tIns="0" rIns="0" bIns="0" rtlCol="0" anchor="ctr"/>
          <a:lstStyle/>
          <a:p>
            <a:pPr marL="0" indent="0" algn="ctr">
              <a:buNone/>
            </a:pPr>
            <a:r>
              <a:rPr lang="en-US" sz="2600" b="1" dirty="0">
                <a:solidFill>
                  <a:srgbClr val="FFFFFF"/>
                </a:solidFill>
                <a:latin typeface="Arial Black" pitchFamily="34" charset="0"/>
                <a:ea typeface="Arial Black" pitchFamily="34" charset="-122"/>
                <a:cs typeface="Arial Black" pitchFamily="34" charset="-120"/>
              </a:rPr>
              <a:t>✓</a:t>
            </a:r>
            <a:endParaRPr lang="en-US" sz="2600" dirty="0"/>
          </a:p>
        </p:txBody>
      </p:sp>
      <p:sp>
        <p:nvSpPr>
          <p:cNvPr id="6" name="Text 4"/>
          <p:cNvSpPr/>
          <p:nvPr/>
        </p:nvSpPr>
        <p:spPr>
          <a:xfrm>
            <a:off x="1005840" y="475488"/>
            <a:ext cx="4572000" cy="420624"/>
          </a:xfrm>
          <a:prstGeom prst="rect">
            <a:avLst/>
          </a:prstGeom>
          <a:noFill/>
          <a:ln/>
        </p:spPr>
        <p:txBody>
          <a:bodyPr wrap="square" lIns="0" tIns="0" rIns="0" bIns="0" rtlCol="0" anchor="ctr"/>
          <a:lstStyle/>
          <a:p>
            <a:pPr marL="0" indent="0">
              <a:buNone/>
            </a:pPr>
            <a:r>
              <a:rPr lang="en-US" sz="1200" dirty="0">
                <a:solidFill>
                  <a:srgbClr val="AAAAAA"/>
                </a:solidFill>
                <a:latin typeface="Calibri" pitchFamily="34" charset="0"/>
                <a:ea typeface="Calibri" pitchFamily="34" charset="-122"/>
                <a:cs typeface="Calibri" pitchFamily="34" charset="-120"/>
              </a:rPr>
              <a:t>SUMMARY</a:t>
            </a:r>
            <a:endParaRPr lang="en-US" sz="1200" dirty="0"/>
          </a:p>
        </p:txBody>
      </p:sp>
      <p:sp>
        <p:nvSpPr>
          <p:cNvPr id="7" name="Text 5"/>
          <p:cNvSpPr/>
          <p:nvPr/>
        </p:nvSpPr>
        <p:spPr>
          <a:xfrm>
            <a:off x="228600" y="1051560"/>
            <a:ext cx="8503920" cy="685800"/>
          </a:xfrm>
          <a:prstGeom prst="rect">
            <a:avLst/>
          </a:prstGeom>
          <a:noFill/>
          <a:ln/>
        </p:spPr>
        <p:txBody>
          <a:bodyPr wrap="square" lIns="0" tIns="0" rIns="0" bIns="0" rtlCol="0" anchor="ctr"/>
          <a:lstStyle/>
          <a:p>
            <a:pPr marL="0" indent="0">
              <a:buNone/>
            </a:pPr>
            <a:r>
              <a:rPr lang="en-US" sz="4200" b="1" dirty="0">
                <a:solidFill>
                  <a:srgbClr val="FFFFFF"/>
                </a:solidFill>
                <a:latin typeface="Arial Black" pitchFamily="34" charset="0"/>
                <a:ea typeface="Arial Black" pitchFamily="34" charset="-122"/>
                <a:cs typeface="Arial Black" pitchFamily="34" charset="-120"/>
              </a:rPr>
              <a:t>Key Takeaways</a:t>
            </a:r>
            <a:endParaRPr lang="en-US" sz="4200" dirty="0"/>
          </a:p>
        </p:txBody>
      </p:sp>
      <p:sp>
        <p:nvSpPr>
          <p:cNvPr id="8" name="Text 6"/>
          <p:cNvSpPr/>
          <p:nvPr/>
        </p:nvSpPr>
        <p:spPr>
          <a:xfrm>
            <a:off x="228600" y="1874520"/>
            <a:ext cx="8686800" cy="2788920"/>
          </a:xfrm>
          <a:prstGeom prst="rect">
            <a:avLst/>
          </a:prstGeom>
          <a:noFill/>
          <a:ln/>
        </p:spPr>
        <p:txBody>
          <a:bodyPr wrap="square" lIns="0" tIns="0" rIns="0" bIns="0" rtlCol="0" anchor="t"/>
          <a:lstStyle/>
          <a:p>
            <a:pPr marL="342900" indent="-342900">
              <a:spcAft>
                <a:spcPts val="600"/>
              </a:spcAft>
              <a:buSzPct val="100000"/>
              <a:buChar char="•"/>
            </a:pPr>
            <a:r>
              <a:rPr lang="en-US" sz="1150" dirty="0">
                <a:solidFill>
                  <a:srgbClr val="FFFFFF"/>
                </a:solidFill>
                <a:latin typeface="Calibri" pitchFamily="34" charset="0"/>
                <a:ea typeface="Calibri" pitchFamily="34" charset="-122"/>
                <a:cs typeface="Calibri" pitchFamily="34" charset="-120"/>
              </a:rPr>
              <a:t>Test cases are the backbone of structured quality assurance — without them, testing is guesswork</a:t>
            </a:r>
            <a:endParaRPr lang="en-US" sz="1150" dirty="0"/>
          </a:p>
          <a:p>
            <a:pPr marL="342900" indent="-342900">
              <a:spcAft>
                <a:spcPts val="600"/>
              </a:spcAft>
              <a:buSzPct val="100000"/>
              <a:buChar char="•"/>
            </a:pPr>
            <a:r>
              <a:rPr lang="en-US" sz="1150" dirty="0">
                <a:solidFill>
                  <a:srgbClr val="CCCCCC"/>
                </a:solidFill>
                <a:latin typeface="Calibri" pitchFamily="34" charset="0"/>
                <a:ea typeface="Calibri" pitchFamily="34" charset="-122"/>
                <a:cs typeface="Calibri" pitchFamily="34" charset="-120"/>
              </a:rPr>
              <a:t>Every test case must be traceable to a business or functional requirement via the RTM</a:t>
            </a:r>
            <a:endParaRPr lang="en-US" sz="1150" dirty="0"/>
          </a:p>
          <a:p>
            <a:pPr marL="342900" indent="-342900">
              <a:spcAft>
                <a:spcPts val="600"/>
              </a:spcAft>
              <a:buSzPct val="100000"/>
              <a:buChar char="•"/>
            </a:pPr>
            <a:r>
              <a:rPr lang="en-US" sz="1150" dirty="0">
                <a:solidFill>
                  <a:srgbClr val="FFFFFF"/>
                </a:solidFill>
                <a:latin typeface="Calibri" pitchFamily="34" charset="0"/>
                <a:ea typeface="Calibri" pitchFamily="34" charset="-122"/>
                <a:cs typeface="Calibri" pitchFamily="34" charset="-120"/>
              </a:rPr>
              <a:t>A complete test case has 11 fields: ID, Scenario, Description, Preconditions, Steps, Data, Expected, Actual, Status, Priority, Severity</a:t>
            </a:r>
            <a:endParaRPr lang="en-US" sz="1150" dirty="0"/>
          </a:p>
          <a:p>
            <a:pPr marL="342900" indent="-342900">
              <a:spcAft>
                <a:spcPts val="600"/>
              </a:spcAft>
              <a:buSzPct val="100000"/>
              <a:buChar char="•"/>
            </a:pPr>
            <a:r>
              <a:rPr lang="en-US" sz="1150" dirty="0">
                <a:solidFill>
                  <a:srgbClr val="CCCCCC"/>
                </a:solidFill>
                <a:latin typeface="Calibri" pitchFamily="34" charset="0"/>
                <a:ea typeface="Calibri" pitchFamily="34" charset="-122"/>
                <a:cs typeface="Calibri" pitchFamily="34" charset="-120"/>
              </a:rPr>
              <a:t>Use design techniques (EP, BVA, Decision Tables, State Transition, Use Cases) to maximize coverage with minimum test cases</a:t>
            </a:r>
            <a:endParaRPr lang="en-US" sz="1150" dirty="0"/>
          </a:p>
          <a:p>
            <a:pPr marL="342900" indent="-342900">
              <a:spcAft>
                <a:spcPts val="600"/>
              </a:spcAft>
              <a:buSzPct val="100000"/>
              <a:buChar char="•"/>
            </a:pPr>
            <a:r>
              <a:rPr lang="en-US" sz="1150" dirty="0">
                <a:solidFill>
                  <a:srgbClr val="FFFFFF"/>
                </a:solidFill>
                <a:latin typeface="Calibri" pitchFamily="34" charset="0"/>
                <a:ea typeface="Calibri" pitchFamily="34" charset="-122"/>
                <a:cs typeface="Calibri" pitchFamily="34" charset="-120"/>
              </a:rPr>
              <a:t>Always write positive AND negative test cases — defects hide in error handling and boundary conditions</a:t>
            </a:r>
            <a:endParaRPr lang="en-US" sz="1150" dirty="0"/>
          </a:p>
          <a:p>
            <a:pPr marL="342900" indent="-342900">
              <a:spcAft>
                <a:spcPts val="600"/>
              </a:spcAft>
              <a:buSzPct val="100000"/>
              <a:buChar char="•"/>
            </a:pPr>
            <a:r>
              <a:rPr lang="en-US" sz="1150" dirty="0">
                <a:solidFill>
                  <a:srgbClr val="CCCCCC"/>
                </a:solidFill>
                <a:latin typeface="Calibri" pitchFamily="34" charset="0"/>
                <a:ea typeface="Calibri" pitchFamily="34" charset="-122"/>
                <a:cs typeface="Calibri" pitchFamily="34" charset="-120"/>
              </a:rPr>
              <a:t>Well-written manual test cases translate directly into automated scripts (Selenium/Playwright)</a:t>
            </a:r>
            <a:endParaRPr lang="en-US" sz="1150" dirty="0"/>
          </a:p>
          <a:p>
            <a:pPr marL="342900" indent="-342900">
              <a:spcAft>
                <a:spcPts val="600"/>
              </a:spcAft>
              <a:buSzPct val="100000"/>
              <a:buChar char="•"/>
            </a:pPr>
            <a:r>
              <a:rPr lang="en-US" sz="1150" dirty="0">
                <a:solidFill>
                  <a:srgbClr val="FFFFFF"/>
                </a:solidFill>
                <a:latin typeface="Calibri" pitchFamily="34" charset="0"/>
                <a:ea typeface="Calibri" pitchFamily="34" charset="-122"/>
                <a:cs typeface="Calibri" pitchFamily="34" charset="-120"/>
              </a:rPr>
              <a:t>Test cases must be reviewed, approved, and maintained — they are living documents that evolve with the software</a:t>
            </a:r>
            <a:endParaRPr lang="en-US" sz="1150" dirty="0"/>
          </a:p>
          <a:p>
            <a:pPr marL="342900" indent="-342900">
              <a:spcAft>
                <a:spcPts val="600"/>
              </a:spcAft>
              <a:buSzPct val="100000"/>
              <a:buChar char="•"/>
            </a:pPr>
            <a:r>
              <a:rPr lang="en-US" sz="1150" dirty="0">
                <a:solidFill>
                  <a:srgbClr val="CCCCCC"/>
                </a:solidFill>
                <a:latin typeface="Calibri" pitchFamily="34" charset="0"/>
                <a:ea typeface="Calibri" pitchFamily="34" charset="-122"/>
                <a:cs typeface="Calibri" pitchFamily="34" charset="-120"/>
              </a:rPr>
              <a:t>A failed test case = a defect report in Jira — complete, accurate bug reports drive fast resolution</a:t>
            </a:r>
            <a:endParaRPr lang="en-US" sz="1150" dirty="0"/>
          </a:p>
          <a:p>
            <a:pPr marL="342900" indent="-342900">
              <a:spcAft>
                <a:spcPts val="600"/>
              </a:spcAft>
              <a:buSzPct val="100000"/>
              <a:buChar char="•"/>
            </a:pPr>
            <a:r>
              <a:rPr lang="en-US" sz="1150" dirty="0">
                <a:solidFill>
                  <a:srgbClr val="FFFFFF"/>
                </a:solidFill>
                <a:latin typeface="Calibri" pitchFamily="34" charset="0"/>
                <a:ea typeface="Calibri" pitchFamily="34" charset="-122"/>
                <a:cs typeface="Calibri" pitchFamily="34" charset="-120"/>
              </a:rPr>
              <a:t>Coverage quality matters more than quantity — fewer precise test cases &gt; many vague ones</a:t>
            </a:r>
            <a:endParaRPr lang="en-US" sz="11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4223</TotalTime>
  <Words>7114</Words>
  <Application>Microsoft Office PowerPoint</Application>
  <PresentationFormat>On-screen Show (16:9)</PresentationFormat>
  <Paragraphs>1095</Paragraphs>
  <Slides>33</Slides>
  <Notes>33</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33</vt:i4>
      </vt:variant>
    </vt:vector>
  </HeadingPairs>
  <TitlesOfParts>
    <vt:vector size="38" baseType="lpstr">
      <vt:lpstr>Arial</vt:lpstr>
      <vt:lpstr>Arial Black</vt:lpstr>
      <vt:lpstr>Calibri</vt:lpstr>
      <vt:lpstr>Courier New</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Test Case Development — STLC Training Guide</dc:title>
  <dc:subject>PptxGenJS Presentation</dc:subject>
  <dc:creator>Quality Engineering Department</dc:creator>
  <cp:lastModifiedBy>Isaac Mahlangu (Lubanzi ICT Consulting)</cp:lastModifiedBy>
  <cp:revision>5</cp:revision>
  <dcterms:created xsi:type="dcterms:W3CDTF">2026-04-12T18:10:03Z</dcterms:created>
  <dcterms:modified xsi:type="dcterms:W3CDTF">2026-04-20T09:49:00Z</dcterms:modified>
</cp:coreProperties>
</file>