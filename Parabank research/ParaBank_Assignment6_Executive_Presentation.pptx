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Test Execution Results (50 Total)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Cases</c:v>
                </c:pt>
              </c:strCache>
            </c:strRef>
          </c:tx>
          <c:spPr>
            <a:solidFill>
              <a:srgbClr val="1F6F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6F6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3382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962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Pass</c:v>
                  </c:pt>
                  <c:pt idx="1">
                    <c:v>Fail</c:v>
                  </c:pt>
                  <c:pt idx="2">
                    <c:v>Blocked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</c:v>
                </c:pt>
                <c:pt idx="1">
                  <c:v>7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Defects by Severity (11 total)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Severity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3382C"/>
              </a:solidFill>
              <a:effectLst/>
            </c:spPr>
          </c:dPt>
          <c:dPt>
            <c:idx val="1"/>
            <c:bubble3D val="0"/>
            <c:spPr>
              <a:solidFill>
                <a:srgbClr val="C9962C"/>
              </a:solidFill>
              <a:effectLst/>
            </c:spPr>
          </c:dPt>
          <c:dPt>
            <c:idx val="2"/>
            <c:bubble3D val="0"/>
            <c:spPr>
              <a:solidFill>
                <a:srgbClr val="1F6F6F"/>
              </a:solidFill>
              <a:effectLst/>
            </c:spPr>
          </c:dPt>
          <c:dPt>
            <c:idx val="3"/>
            <c:bubble3D val="0"/>
            <c:spPr>
              <a:solidFill>
                <a:srgbClr val="9FB3C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Major</c:v>
                </c:pt>
                <c:pt idx="2">
                  <c:v>Minor</c:v>
                </c:pt>
                <c:pt idx="3">
                  <c:v>Trivial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</c:v>
                </c:pt>
                <c:pt idx="1">
                  <c:v>5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Defects</c:v>
                </c:pt>
              </c:strCache>
            </c:strRef>
          </c:tx>
          <c:spPr>
            <a:solidFill>
              <a:srgbClr val="1F6F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Transfer Funds</c:v>
                  </c:pt>
                  <c:pt idx="1">
                    <c:v>Login</c:v>
                  </c:pt>
                  <c:pt idx="2">
                    <c:v>Registration</c:v>
                  </c:pt>
                  <c:pt idx="3">
                    <c:v>Bill Pay</c:v>
                  </c:pt>
                  <c:pt idx="4">
                    <c:v>Open New Acct</c:v>
                  </c:pt>
                  <c:pt idx="5">
                    <c:v>Request Loan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ParaBank QA Engagement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9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Testing Summary &amp; Release Recommendation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0"/>
                </a:solidFill>
              </a:rPr>
              <a:t>Prepared by Nick  |  Junior QA Analyst, ABC Consulting  |  12 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6F"/>
                </a:solidFill>
              </a:rPr>
              <a:t>SLIDE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Engagement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6F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2"/>
                </a:solidFill>
              </a:rPr>
              <a:t>STLC phases completed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33756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3"/>
                </a:solidFill>
              </a:rPr>
              <a:t>Discovery through Release Decision, following a full Software Testing Life Cycle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66160" y="17373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9659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6F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weeks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749040" y="27889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2"/>
                </a:solidFill>
              </a:rPr>
              <a:t>engagement duration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49040" y="333756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3"/>
                </a:solidFill>
              </a:rPr>
              <a:t>10 working days, from Requirements Analysis through Test Closure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17373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9659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6F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583680" y="27889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2"/>
                </a:solidFill>
              </a:rPr>
              <a:t>QA analyst resourced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333756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3"/>
                </a:solidFill>
              </a:rPr>
              <a:t>Single-tester engagement; all planning, design, execution, and reporting by one person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235440" y="17373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19659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6F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418320" y="27889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2"/>
                </a:solidFill>
              </a:rPr>
              <a:t>modules tested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418320" y="333756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3"/>
                </a:solidFill>
              </a:rPr>
              <a:t>Registration, Login, Open New Account, Transfer Funds, Bill Pay, Request Loan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3"/>
                </a:solidFill>
              </a:rPr>
              <a:t>System Under Test: ParaBank Online Banking Application (parabank.parasoft.com)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6F"/>
                </a:solidFill>
              </a:rPr>
              <a:t>SLIDE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&amp; Approach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6F"/>
                </a:solidFill>
              </a:rPr>
              <a:t>In Scope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B2A32"/>
                </a:solidFill>
              </a:rPr>
              <a:t>Registration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B2A32"/>
                </a:solidFill>
              </a:rPr>
              <a:t>Login / Logout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B2A32"/>
                </a:solidFill>
              </a:rPr>
              <a:t>Open New Account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B2A32"/>
                </a:solidFill>
              </a:rPr>
              <a:t>Transfer Funds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B2A32"/>
                </a:solidFill>
              </a:rPr>
              <a:t>Bill Pay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B2A32"/>
                </a:solidFill>
              </a:rPr>
              <a:t>Request Loan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936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6B73"/>
                </a:solidFill>
              </a:rPr>
              <a:t>Out of Scope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09360" y="210312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○"/>
            </a:pPr>
            <a:r>
              <a:rPr lang="en-US" sz="1300" dirty="0">
                <a:solidFill>
                  <a:srgbClr val="5C6B73"/>
                </a:solidFill>
              </a:rPr>
              <a:t>Find Transactions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○"/>
            </a:pPr>
            <a:r>
              <a:rPr lang="en-US" sz="1300" dirty="0">
                <a:solidFill>
                  <a:srgbClr val="5C6B73"/>
                </a:solidFill>
              </a:rPr>
              <a:t>Update Contact Information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○"/>
            </a:pPr>
            <a:r>
              <a:rPr lang="en-US" sz="1300" dirty="0">
                <a:solidFill>
                  <a:srgbClr val="5C6B73"/>
                </a:solidFill>
              </a:rPr>
              <a:t>Admin / data-reset interface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○"/>
            </a:pPr>
            <a:r>
              <a:rPr lang="en-US" sz="1300" dirty="0">
                <a:solidFill>
                  <a:srgbClr val="5C6B73"/>
                </a:solidFill>
              </a:rPr>
              <a:t>SOAP / REST API layer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○"/>
            </a:pPr>
            <a:r>
              <a:rPr lang="en-US" sz="1300" dirty="0">
                <a:solidFill>
                  <a:srgbClr val="5C6B73"/>
                </a:solidFill>
              </a:rPr>
              <a:t>Full-scale performance &amp; load testing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○"/>
            </a:pPr>
            <a:r>
              <a:rPr lang="en-US" sz="1300" dirty="0">
                <a:solidFill>
                  <a:srgbClr val="5C6B73"/>
                </a:solidFill>
              </a:rPr>
              <a:t>Formal penetration testing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525780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525780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Approach: risk-based prioritization — the highest financial- and security-impact features (Login, Transfer Funds, Bill Pay) received the deepest test coverage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6F"/>
                </a:solidFill>
              </a:rPr>
              <a:t>SLIDE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Metrics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6F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29260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32"/>
                </a:solidFill>
              </a:rPr>
              <a:t>Test Pass Rate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566160" y="17373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92024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6F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703320" y="29260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32"/>
                </a:solidFill>
              </a:rPr>
              <a:t>Requirements Coverage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92024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9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537960" y="29260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32"/>
                </a:solidFill>
              </a:rPr>
              <a:t>Defect Density / TC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235440" y="17373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192024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338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372600" y="29260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32"/>
                </a:solidFill>
              </a:rPr>
              <a:t>Open Critical Defect</a:t>
            </a:r>
            <a:endParaRPr lang="en-US" sz="12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731520" y="4114800"/>
          <a:ext cx="1069848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6F"/>
                </a:solidFill>
              </a:rPr>
              <a:t>SLIDE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Defect Summary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737360"/>
          <a:ext cx="49377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035040" y="1783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2"/>
                </a:solidFill>
              </a:rPr>
              <a:t>11 defects raised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035040" y="2286000"/>
            <a:ext cx="53949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B2A32"/>
                </a:solidFill>
              </a:rPr>
              <a:t>3 Critical — 2 now Closed and retested (DEF-007, DEF-008); 1 remains Open (DEF-005)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B2A32"/>
                </a:solidFill>
              </a:rPr>
              <a:t>5 Major, 2 Minor, 1 Trivial — accepted as known issues with a remediation timeline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B2A32"/>
                </a:solidFill>
              </a:rPr>
              <a:t>Highest concentration: Transfer Funds (3 defects) — matches the module ranked highest-risk since Phase 2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B2A32"/>
                </a:solidFill>
              </a:rPr>
              <a:t>4 of 11 defects trace directly to requirement gaps flagged as early as Phase 1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6F"/>
                </a:solidFill>
              </a:rPr>
              <a:t>SLIDE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Defect Distribution by Module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737360"/>
          <a:ext cx="106984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6F"/>
                </a:solidFill>
              </a:rPr>
              <a:t>SLIDE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Remaining Risks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109728" cy="777240"/>
          </a:xfrm>
          <a:prstGeom prst="roundRect">
            <a:avLst/>
          </a:prstGeom>
          <a:solidFill>
            <a:srgbClr val="B3382C"/>
          </a:solidFill>
          <a:ln w="12700">
            <a:solidFill>
              <a:srgbClr val="B338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3736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2"/>
                </a:solidFill>
              </a:rPr>
              <a:t>DEF-005 remains Open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212080" y="173736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</a:rPr>
              <a:t>Loan approval logic can be bypassed; blocks release until fixed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109728" cy="777240"/>
          </a:xfrm>
          <a:prstGeom prst="roundRect">
            <a:avLst/>
          </a:prstGeom>
          <a:solidFill>
            <a:srgbClr val="C9962C"/>
          </a:solidFill>
          <a:ln w="12700">
            <a:solidFill>
              <a:srgbClr val="C996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65176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2"/>
                </a:solidFill>
              </a:rPr>
              <a:t>2 modules untested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212080" y="265176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</a:rPr>
              <a:t>Find Transactions &amp; Update Contact Info were out of this engagement's scope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109728" cy="777240"/>
          </a:xfrm>
          <a:prstGeom prst="roundRect">
            <a:avLst/>
          </a:prstGeom>
          <a:solidFill>
            <a:srgbClr val="C9962C"/>
          </a:solidFill>
          <a:ln w="12700">
            <a:solidFill>
              <a:srgbClr val="C996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56616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2"/>
                </a:solidFill>
              </a:rPr>
              <a:t>Unconfirmed requirement gaps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212080" y="356616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</a:rPr>
              <a:t>Loan threshold &amp; transfer boundary rules never formally confirmed by client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480560"/>
            <a:ext cx="109728" cy="777240"/>
          </a:xfrm>
          <a:prstGeom prst="roundRect">
            <a:avLst/>
          </a:prstGeom>
          <a:solidFill>
            <a:srgbClr val="5C6B73"/>
          </a:solidFill>
          <a:ln w="12700">
            <a:solidFill>
              <a:srgbClr val="5C6B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48056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2"/>
                </a:solidFill>
              </a:rPr>
              <a:t>No performance testing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212080" y="448056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</a:rPr>
              <a:t>No evidence response-time targets are met under real load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5394960"/>
            <a:ext cx="109728" cy="777240"/>
          </a:xfrm>
          <a:prstGeom prst="roundRect">
            <a:avLst/>
          </a:prstGeom>
          <a:solidFill>
            <a:srgbClr val="5C6B73"/>
          </a:solidFill>
          <a:ln w="12700">
            <a:solidFill>
              <a:srgbClr val="5C6B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539496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2"/>
                </a:solidFill>
              </a:rPr>
              <a:t>Single-tester coverage limits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212080" y="539496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</a:rPr>
              <a:t>Some lower-priority validation gaps may exist but were not exhaustively searched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C"/>
                </a:solidFill>
              </a:rPr>
              <a:t>SLIDE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Release Recommendation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10698480" cy="1188720"/>
          </a:xfrm>
          <a:prstGeom prst="roundRect">
            <a:avLst>
              <a:gd name="adj" fmla="val 6154"/>
            </a:avLst>
          </a:prstGeom>
          <a:solidFill>
            <a:srgbClr val="B3382C"/>
          </a:solidFill>
          <a:ln w="12700">
            <a:solidFill>
              <a:srgbClr val="B338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37360"/>
            <a:ext cx="10149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NO-GO — Conditional on One Remaining Defect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10698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</a:rPr>
              <a:t>82% test pass rate — every core workflow functions correctly on its main path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</a:rPr>
              <a:t>2 of 3 Critical defects already fixed and retested (DEF-007, DEF-008)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</a:rPr>
              <a:t>1 Critical defect remains Open (DEF-005): loan approval logic can be bypassed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</a:rPr>
              <a:t>Expected to move to GO once DEF-005 is fixed and retested — not a broad quality failure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6F"/>
                </a:solidFill>
              </a:rPr>
              <a:t>SLIDE 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 &amp; Conditions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502920" cy="502920"/>
          </a:xfrm>
          <a:prstGeom prst="ellipse">
            <a:avLst/>
          </a:prstGeom>
          <a:solidFill>
            <a:srgbClr val="1F6F6F"/>
          </a:solidFill>
          <a:ln w="12700">
            <a:solidFill>
              <a:srgbClr val="1F6F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73736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2"/>
                </a:solidFill>
              </a:rPr>
              <a:t>Fix DEF-005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577840" y="1737360"/>
            <a:ext cx="5852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</a:rPr>
              <a:t>Development team corrects the loan approval logic to reject any down payment exceeding the requested amount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502920" cy="502920"/>
          </a:xfrm>
          <a:prstGeom prst="ellipse">
            <a:avLst/>
          </a:prstGeom>
          <a:solidFill>
            <a:srgbClr val="1F6F6F"/>
          </a:solidFill>
          <a:ln w="12700">
            <a:solidFill>
              <a:srgbClr val="1F6F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78892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2"/>
                </a:solidFill>
              </a:rPr>
              <a:t>Retest boundary set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77840" y="2788920"/>
            <a:ext cx="5852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</a:rPr>
              <a:t>QA retests the full Phase 3 loan boundary suite (TC-044–TC-050), not just the single failing case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886200"/>
            <a:ext cx="502920" cy="502920"/>
          </a:xfrm>
          <a:prstGeom prst="ellipse">
            <a:avLst/>
          </a:prstGeom>
          <a:solidFill>
            <a:srgbClr val="1F6F6F"/>
          </a:solidFill>
          <a:ln w="12700">
            <a:solidFill>
              <a:srgbClr val="1F6F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84048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2"/>
                </a:solidFill>
              </a:rPr>
              <a:t>Client accepts known issues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77840" y="3840480"/>
            <a:ext cx="5852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</a:rPr>
              <a:t>6 remaining Open Major/Minor/Trivial defects accepted with a committed post-release remediation timeline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937760"/>
            <a:ext cx="502920" cy="502920"/>
          </a:xfrm>
          <a:prstGeom prst="ellipse">
            <a:avLst/>
          </a:prstGeom>
          <a:solidFill>
            <a:srgbClr val="1F6F6F"/>
          </a:solidFill>
          <a:ln w="12700">
            <a:solidFill>
              <a:srgbClr val="1F6F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937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489204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2"/>
                </a:solidFill>
              </a:rPr>
              <a:t>Revisit recommendation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77840" y="4892040"/>
            <a:ext cx="5852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</a:rPr>
              <a:t>Once DEF-005 is Closed, this recommendation is expected to move to GO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35661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0"/>
                </a:solidFill>
              </a:rPr>
              <a:t>Full findings: Phase 5 Quality Investigation Report  |  Phase 6 Test Summary &amp; Closure Report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962C"/>
                </a:solidFill>
              </a:rPr>
              <a:t>Nick — Junior QA Analyst, ABC Consulting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2026-07-26T04:05:34Z</dcterms:created>
  <dcterms:modified xsi:type="dcterms:W3CDTF">2026-07-26T04:05:34Z</dcterms:modified>
</cp:coreProperties>
</file>