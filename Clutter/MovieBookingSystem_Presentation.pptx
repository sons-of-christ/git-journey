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Briefly introduce the assignment: a C# OOP console app for a cinema booking system. Estimated: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tour of what the app actually does from a user perspective. Approx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architecture. Theater is the central class that owns and coordinates everything else.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Movie.cs is a pure data model. It stores film details and tracks seats.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Snack.cs is the item data model. SnackOrder is the line-item helper that lives inside Booking.cs.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Booking.cs is the data model that holds a complete reservation including snacks, payment and discount. 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Theater is the most complex class. It owns all data structures and contains every feature method. Approx 75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Program.cs is deliberately thin — it has one job: run the loop and delegate everything to Theater.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modifier with where exactly it appears in this project. Approx 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covers the 4 required control statements and both data structure types with specific examples from the code. 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composition vs inheritance. References vs copies. Encapsulation. This is the most conceptual slide — give it 75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8-step booking flow. This makes the code tangible for the audience. Approx 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Wrap-up. Recap the 6 key achievements of the project. End on time — aim for under 10 minutes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37160"/>
            <a:ext cx="1005840" cy="1005840"/>
          </a:xfrm>
          <a:prstGeom prst="ellipse">
            <a:avLst/>
          </a:prstGeom>
          <a:solidFill>
            <a:srgbClr val="E8612A">
              <a:alpha val="30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731520"/>
            <a:ext cx="1645920" cy="1645920"/>
          </a:xfrm>
          <a:prstGeom prst="ellipse">
            <a:avLst/>
          </a:prstGeom>
          <a:solidFill>
            <a:srgbClr val="E8612A">
              <a:alpha val="20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914400"/>
            <a:ext cx="640080" cy="640080"/>
          </a:xfrm>
          <a:prstGeom prst="ellipse">
            <a:avLst/>
          </a:prstGeom>
          <a:solidFill>
            <a:srgbClr val="E8612A">
              <a:alpha val="25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4114800"/>
            <a:ext cx="2011680" cy="2011680"/>
          </a:xfrm>
          <a:prstGeom prst="ellipse">
            <a:avLst/>
          </a:prstGeom>
          <a:solidFill>
            <a:srgbClr val="E8612A">
              <a:alpha val="18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1280160" cy="1280160"/>
          </a:xfrm>
          <a:prstGeom prst="ellipse">
            <a:avLst/>
          </a:prstGeom>
          <a:solidFill>
            <a:srgbClr val="E8612A">
              <a:alpha val="25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LUB-AC-003  ·  Software Development Assessment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Ticket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6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System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 ·  C# Console Application  ·  OOP Assignment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14630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4564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6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7200" y="40416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21408" y="3383280"/>
            <a:ext cx="14630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21408" y="34564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6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121408" y="40416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85616" y="3383280"/>
            <a:ext cx="14630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85616" y="34564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6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785616" y="40416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9824" y="3383280"/>
            <a:ext cx="14630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49824" y="34564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6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449824" y="40416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14032" y="3383280"/>
            <a:ext cx="14630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14032" y="34564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6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114032" y="40416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Items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E8612A">
              <a:alpha val="22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App Do?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interactive cinema booking console app with real-world features.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69080" cy="877824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965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6642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Movies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96596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films across Action, Sci-Fi, Romance, Horror and Drama with live seat counts.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624328"/>
            <a:ext cx="4069080" cy="877824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8437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6883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Tickets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51560" y="299008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movie, choose seats, apply a discount and pay — all in one flow.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648456"/>
            <a:ext cx="4069080" cy="877824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6791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37124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Snack Bar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51560" y="4014216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items across Popcorn, Drinks and Snacks added to any booking.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00600" y="1600200"/>
            <a:ext cx="4069080" cy="877824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819656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94960" y="16642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Methods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394960" y="196596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(with change), Card or Crypto — selected by the customer at checkout.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800600" y="2624328"/>
            <a:ext cx="4069080" cy="877824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843784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94960" y="26883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 Bookings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394960" y="299008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booking can be cancelled; seats are restored and history is kept.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0EA5A0">
              <a:alpha val="22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Structure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1828800"/>
            <a:ext cx="27432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19933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94760" y="19385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Theater.cs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37560" y="23042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logic &amp; data hub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097280"/>
            <a:ext cx="2423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41832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Program.cs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41832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menu loop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3017520"/>
            <a:ext cx="2423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9184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41832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Movie.cs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41832" y="3401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seat count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126480" y="1097280"/>
            <a:ext cx="2423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7160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02552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Booking.cs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702552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SnackOrder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126480" y="3017520"/>
            <a:ext cx="2423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291840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02552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Snack.cs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702552" y="3401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bar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data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3200400" y="2084832"/>
            <a:ext cx="-411480" cy="-512064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26" name="Shape 19"/>
          <p:cNvSpPr/>
          <p:nvPr/>
        </p:nvSpPr>
        <p:spPr>
          <a:xfrm>
            <a:off x="3200400" y="2084832"/>
            <a:ext cx="-411480" cy="1408176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27" name="Shape 20"/>
          <p:cNvSpPr/>
          <p:nvPr/>
        </p:nvSpPr>
        <p:spPr>
          <a:xfrm>
            <a:off x="5943600" y="2084832"/>
            <a:ext cx="182880" cy="-512064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28" name="Shape 21"/>
          <p:cNvSpPr/>
          <p:nvPr/>
        </p:nvSpPr>
        <p:spPr>
          <a:xfrm>
            <a:off x="5943600" y="2084832"/>
            <a:ext cx="182880" cy="1408176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E8612A">
              <a:alpha val="22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Movie.cs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one film showing at the cinema.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393192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 (private)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title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genre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626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duration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13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availableSeats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572768"/>
            <a:ext cx="411480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029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DisplayInfo()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304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movie to console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 HasSeatsAvailable()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2186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seat count (used by Theater)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 GetMovieSummary()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4133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subclassing (e.g. PremiumMovie)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0EA5A0">
              <a:alpha val="22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Snack.cs  &amp;  SnackOrder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Snack.cs models each item. SnackOrder pairs a snack with a quantity on a booking.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39319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Snack.cs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Fields: snackID, name, category, price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963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Categories: Popcorn / Drinks / Snacks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352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13 items pre-loaded in Theater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741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public  DisplayInfo()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130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internal  IsInCategory()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protected virtual  GetSnackLabel()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572768"/>
            <a:ext cx="411480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SnackOrder  (in Booking.cs)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Links a Snack to a quantity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496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Booking holds an ArrayList of these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9352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LineTotal() = snack.Price × qty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3741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Created by Booking.AddSnack()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8130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4251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Large Popcorn  ×  2  =  R110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D4A017">
              <a:alpha val="22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Booking.cs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data-rich class. Holds everything about one reservation.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393192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 (private)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bookingID, customerName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414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movie  (Movie reference)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numberOfTickets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644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paymentMethod  (Cash/Card/Crypto)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758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discountPercent  (0–20%)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0873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snackItems  (ArrayList)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4988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isCancelled  (bool)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572768"/>
            <a:ext cx="411480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AddSnack(snack, qty)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20848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SnackOrder to snackItems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GrandTotal()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2587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+ snacks − discount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2834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 TicketSubtotal()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3090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movie.Price × numberOfTickets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337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 SnackSubtotal()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0" y="35935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over snackItems ArrayList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3840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DisplayInfo()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0" y="40965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formatted receipt to console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4343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 GetBookingType()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0" y="45994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'Standard Booking'; overridable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E8612A">
              <a:alpha val="22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4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Theater.cs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the application. Owns all data and drives all features.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393192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64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(private fields)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568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Movie[]  movies  — fixed array, 7 films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Snack[]  snacks  — fixed array, 13 items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ArrayList  bookings  — grows at runtime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249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ArrayList  cancelledBookings  — history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39319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218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Menu Methods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DisplayAllMovies()  ·  BookTickets()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ViewAllBookings()  ·  CancelBooking()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SearchByGenre()  ·  ViewSnackMenu()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ViewCancelledBookings()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572768"/>
            <a:ext cx="4114800" cy="315468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664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Helper Methods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19385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InitialiseMovies()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21305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the Movie[] array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286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InitialiseSnacks()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24780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the Snack[] array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6334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LoadPreloadedBookings()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282549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5 active bookings at startup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29809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LoadCancelledBookings()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31729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3 cancelled bookings to history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33284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DetermineDiscount()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35204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switch: Student 15%, Senior 20%, Group 10%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3675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CollectPaymentMethod()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386791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switch: Cash / Card / Crypto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40233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OrderSnacks()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0" y="421538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 — add snacks by ID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43708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GenerateBookingID()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45628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unique BK1001, BK1002…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D4A017">
              <a:alpha val="22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5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Program.cs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point. Creates Theater and drives the main menu loop.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11480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64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8-Option Menu  (switch statement)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View All Movies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Book Tickets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7066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View Active Bookings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0540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Cancel Booking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401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Search Movies by Genre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View Snack Bar Menu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0965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View Cancelled Bookings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4439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Exit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572768"/>
            <a:ext cx="393192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664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011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Theater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2402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 that seeds all data.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4871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while(running) loop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7157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program alive until Exit.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9626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DisplayMenu()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1912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helper prints the 8 options.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438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user input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6667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Console.ReadLine() gets the choice.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9136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switch(input)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41422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the correct Theater method.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43891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+ Console.Clear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46177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screen between operations.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0EA5A0">
              <a:alpha val="22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4 Access Modifiers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modifier appears at least once across the five classes.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0690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700784"/>
            <a:ext cx="1005840" cy="256032"/>
          </a:xfrm>
          <a:prstGeom prst="rect">
            <a:avLst/>
          </a:prstGeom>
          <a:solidFill>
            <a:srgbClr val="0EA5A0">
              <a:alpha val="25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007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17007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 class, anywhere.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0482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properties (Title, Price, BookingID…)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3042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Movie.DisplayInfo()  •  Booking.GrandTotal()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Theater menu methods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8163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Booking.AddSnack()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1572768"/>
            <a:ext cx="40690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700784"/>
            <a:ext cx="1005840" cy="256032"/>
          </a:xfrm>
          <a:prstGeom prst="rect">
            <a:avLst/>
          </a:prstGeom>
          <a:solidFill>
            <a:srgbClr val="E8612A">
              <a:alpha val="25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7007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17007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accessible inside the same class.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0482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backing fields in every class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3042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Booking.TicketSubtotal()  •  SnackSubtotal()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5603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Theater.DetermineDiscount()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8163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Theater.CollectPaymentMethod()  •  OrderSnacks()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64408"/>
            <a:ext cx="40690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392424"/>
            <a:ext cx="1005840" cy="256032"/>
          </a:xfrm>
          <a:prstGeom prst="rect">
            <a:avLst/>
          </a:prstGeom>
          <a:solidFill>
            <a:srgbClr val="D4A017">
              <a:alpha val="25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3924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91640" y="33924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inside the class and any subclass.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7398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Movie.GetMovieSummary()  — for PremiumMovie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39959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Snack.GetSnackLabel()  — virtual, overridable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42519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Booking.GetBookingType()  — virtual, overridable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45079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Exists to enable future inheritance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264408"/>
            <a:ext cx="40690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6E8EC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3392424"/>
            <a:ext cx="1005840" cy="256032"/>
          </a:xfrm>
          <a:prstGeom prst="rect">
            <a:avLst/>
          </a:prstGeom>
          <a:solidFill>
            <a:srgbClr val="6E8ECC">
              <a:alpha val="25000"/>
            </a:srgbClr>
          </a:solidFill>
          <a:ln w="12700">
            <a:solidFill>
              <a:srgbClr val="6E8E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3924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8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33924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anywhere in the same assembly.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7398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Movie.HasSeatsAvailable()  — used by Theater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39959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Snack.IsInCategory()  — for Theater filtering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42519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Booking.BelongsTo()  — for customer lookup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45079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Theater.GenerateBookingID()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D4A017">
              <a:alpha val="22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Statements &amp; Data Structures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control statements and both data structure types are used.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02336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93392"/>
            <a:ext cx="868680" cy="228600"/>
          </a:xfrm>
          <a:prstGeom prst="rect">
            <a:avLst/>
          </a:prstGeom>
          <a:solidFill>
            <a:srgbClr val="E8612A">
              <a:alpha val="28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933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00200" y="196596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availability, input validation,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amount check, discount eligibility.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724912"/>
            <a:ext cx="868680" cy="228600"/>
          </a:xfrm>
          <a:prstGeom prst="rect">
            <a:avLst/>
          </a:prstGeom>
          <a:solidFill>
            <a:srgbClr val="E8612A">
              <a:alpha val="28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2491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00200" y="269748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(Program), discount menu,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payment method selection (Theater).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456432"/>
            <a:ext cx="868680" cy="228600"/>
          </a:xfrm>
          <a:prstGeom prst="rect">
            <a:avLst/>
          </a:prstGeom>
          <a:solidFill>
            <a:srgbClr val="E8612A">
              <a:alpha val="28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564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00200" y="342900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movies[], snacks[], bookings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ArrayList, snackItems in Booking.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868680" cy="228600"/>
          </a:xfrm>
          <a:prstGeom prst="rect">
            <a:avLst/>
          </a:prstGeom>
          <a:solidFill>
            <a:srgbClr val="E8612A">
              <a:alpha val="28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879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416052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 loop in Program.cs 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ordering loop in Theater.cs.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572768"/>
            <a:ext cx="402336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01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 [ ]  — Fixed Size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286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size is known and constant: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542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Movie[]  movies  — 7 films, never changes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2816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Snack[]  snacks  — 13 items, catalog is fixed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 —  Dynamic Size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items are added or removed at runtime: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685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bookings  — grows when booked, shrinks on cancel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959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cancelledBookings  — grows as bookings cancelled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42336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snackItems  in Booking — built up per reservation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E8612A">
              <a:alpha val="22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Information Flows &amp; Is Shared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communicate by passing object references, not by copying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229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  →  Movie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 owns Movie[] array and creates all Movie objects.   ·   When a booking is made: movie.AvailableSeats -= ticketCount   ·   When cancelled: foundBooking.Movie.AvailableSeats += tickets   ·   Booking holds a Movie reference, so Theater can reach it through the Booking.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8229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6517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  →  Booking  →  Snack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 creates a Booking and passes it a Movie reference.   ·   Theater calls booking.AddSnack(snack, qty) — passing the Snack object in.   ·   Booking wraps it in a SnackOrder and stores it in snackItems ArrayList.   ·   booking.GrandTotal() loops through snackItems to total the cost.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584448"/>
            <a:ext cx="8229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6576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 →  Theater  (one direction only)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creates one Theater instance and calls its public methods.   ·   Program never talks to Movie, Snack, or Booking directly.   ·   All complexity is hidden inside Theater — this is encapsulation.   ·   Program only ever sees what Theater exposes as public.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544568"/>
            <a:ext cx="822960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6E8EC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456285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 Movie, Snack and Booking each have protected virtual methods (GetMovieSummary, GetSnackLabel, GetBookingType) ready for subclasses. No inheritance is active yet — but a PremiumMovie or VIPBooking class could extend them using  ': BaseClass'  and  'override'.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0EA5A0">
              <a:alpha val="22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Booking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option 2 — Book Tickets — from keypress to receipt.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0690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755648"/>
            <a:ext cx="329184" cy="329184"/>
          </a:xfrm>
          <a:prstGeom prst="ellipse">
            <a:avLst/>
          </a:prstGeom>
          <a:solidFill>
            <a:srgbClr val="E8612A">
              <a:alpha val="40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6642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presses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938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Program.Main() switch routes to theater.BookTickets()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572768"/>
            <a:ext cx="40690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9472" y="1755648"/>
            <a:ext cx="329184" cy="329184"/>
          </a:xfrm>
          <a:prstGeom prst="ellipse">
            <a:avLst/>
          </a:prstGeom>
          <a:solidFill>
            <a:srgbClr val="D4A017">
              <a:alpha val="4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9240" y="16642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displayed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1938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over movies[] array → movie.DisplayInfo()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14016"/>
            <a:ext cx="40690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" y="2596896"/>
            <a:ext cx="329184" cy="329184"/>
          </a:xfrm>
          <a:prstGeom prst="ellipse">
            <a:avLst/>
          </a:prstGeom>
          <a:solidFill>
            <a:srgbClr val="0EA5A0">
              <a:alpha val="40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5054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validation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779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+ movie.HasSeatsAvailable() (internal method)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414016"/>
            <a:ext cx="40690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19472" y="2596896"/>
            <a:ext cx="329184" cy="329184"/>
          </a:xfrm>
          <a:prstGeom prst="ellipse">
            <a:avLst/>
          </a:prstGeom>
          <a:solidFill>
            <a:srgbClr val="E8612A">
              <a:alpha val="40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25054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selected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2779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DetermineDiscount() switch → returns 0/10/15/20%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255264"/>
            <a:ext cx="40690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6072" y="3438144"/>
            <a:ext cx="329184" cy="329184"/>
          </a:xfrm>
          <a:prstGeom prst="ellipse">
            <a:avLst/>
          </a:prstGeom>
          <a:solidFill>
            <a:srgbClr val="D4A017">
              <a:alpha val="4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346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object created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36210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Booking(id, movie, name, tickets, method, discount)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255264"/>
            <a:ext cx="40690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19472" y="3438144"/>
            <a:ext cx="329184" cy="329184"/>
          </a:xfrm>
          <a:prstGeom prst="ellipse">
            <a:avLst/>
          </a:prstGeom>
          <a:solidFill>
            <a:srgbClr val="0EA5A0">
              <a:alpha val="40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3346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 added (optional)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36210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 → for search → booking.AddSnack(snack, qty)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096512"/>
            <a:ext cx="40690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76072" y="4279392"/>
            <a:ext cx="329184" cy="329184"/>
          </a:xfrm>
          <a:prstGeom prst="ellipse">
            <a:avLst/>
          </a:prstGeom>
          <a:solidFill>
            <a:srgbClr val="E8612A">
              <a:alpha val="40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05840" y="4187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collected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" y="44622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CollectPaymentMethod(booking.GrandTotal()) switch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4096512"/>
            <a:ext cx="40690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919472" y="4279392"/>
            <a:ext cx="329184" cy="329184"/>
          </a:xfrm>
          <a:prstGeom prst="ellipse">
            <a:avLst/>
          </a:prstGeom>
          <a:solidFill>
            <a:srgbClr val="D4A017">
              <a:alpha val="4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49240" y="4187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&amp; receipt printed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49240" y="44622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bookings.Add(booking) → booking.DisplayInfo()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91440"/>
            <a:ext cx="1097280" cy="1097280"/>
          </a:xfrm>
          <a:prstGeom prst="ellipse">
            <a:avLst/>
          </a:prstGeom>
          <a:solidFill>
            <a:srgbClr val="0EA5A0">
              <a:alpha val="28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640080"/>
            <a:ext cx="1828800" cy="1828800"/>
          </a:xfrm>
          <a:prstGeom prst="ellipse">
            <a:avLst/>
          </a:prstGeom>
          <a:solidFill>
            <a:srgbClr val="0EA5A0">
              <a:alpha val="20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74720"/>
            <a:ext cx="1463040" cy="1463040"/>
          </a:xfrm>
          <a:prstGeom prst="ellipse">
            <a:avLst/>
          </a:prstGeom>
          <a:solidFill>
            <a:srgbClr val="0EA5A0">
              <a:alpha val="25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0690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205740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920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Classes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24128" y="22128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· Snack · Booking · Theater · Program, each in its own .cs file.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00600" y="1828800"/>
            <a:ext cx="40690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05740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7528" y="1920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4 Access Modifiers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367528" y="22128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private, protected and internal appear with purpose in every class.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834640"/>
            <a:ext cx="40690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06324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Control Statements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24128" y="32186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if-else, switch, for loop and while loop each used meaningfully.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00600" y="2834640"/>
            <a:ext cx="40690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063240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67528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+ ArrayList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367528" y="32186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for fixed catalogs; ArrayLists for dynamic bookings and snack orders.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3840480"/>
            <a:ext cx="40690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4069080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24128" y="3931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 over Inheritance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024128" y="4224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share data by passing references. Protected virtual methods enable future inheritance.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800600" y="3840480"/>
            <a:ext cx="40690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616" y="4069080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67528" y="3931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Features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5367528" y="4224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· Book · Snacks · Pay · Discount · Cancel · Search · History.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Ticket Booking System — Assignment Presentation</dc:title>
  <dc:subject>PptxGenJS Presentation</dc:subject>
  <dc:creator>PptxGenJS</dc:creator>
  <cp:lastModifiedBy>PptxGenJS</cp:lastModifiedBy>
  <cp:revision>1</cp:revision>
  <dcterms:created xsi:type="dcterms:W3CDTF">2026-06-09T10:55:59Z</dcterms:created>
  <dcterms:modified xsi:type="dcterms:W3CDTF">2026-06-09T10:55:59Z</dcterms:modified>
</cp:coreProperties>
</file>